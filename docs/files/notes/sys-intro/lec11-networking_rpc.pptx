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86"/>
  </p:handoutMasterIdLst>
  <p:sldIdLst>
    <p:sldId id="449" r:id="rId3"/>
    <p:sldId id="401" r:id="rId5"/>
    <p:sldId id="1566" r:id="rId6"/>
    <p:sldId id="1151" r:id="rId7"/>
    <p:sldId id="1578" r:id="rId8"/>
    <p:sldId id="261" r:id="rId9"/>
    <p:sldId id="262" r:id="rId10"/>
    <p:sldId id="263" r:id="rId11"/>
    <p:sldId id="264" r:id="rId12"/>
    <p:sldId id="285" r:id="rId13"/>
    <p:sldId id="279" r:id="rId14"/>
    <p:sldId id="1582" r:id="rId15"/>
    <p:sldId id="1583" r:id="rId16"/>
    <p:sldId id="1107" r:id="rId17"/>
    <p:sldId id="1076" r:id="rId18"/>
    <p:sldId id="1078" r:id="rId19"/>
    <p:sldId id="1079" r:id="rId20"/>
    <p:sldId id="1149" r:id="rId21"/>
    <p:sldId id="1574" r:id="rId22"/>
    <p:sldId id="308" r:id="rId23"/>
    <p:sldId id="1097" r:id="rId24"/>
    <p:sldId id="1101" r:id="rId25"/>
    <p:sldId id="1104" r:id="rId26"/>
    <p:sldId id="1106" r:id="rId27"/>
    <p:sldId id="1103" r:id="rId28"/>
    <p:sldId id="1586" r:id="rId29"/>
    <p:sldId id="1585" r:id="rId30"/>
    <p:sldId id="271" r:id="rId31"/>
    <p:sldId id="1584" r:id="rId32"/>
    <p:sldId id="273" r:id="rId33"/>
    <p:sldId id="1587" r:id="rId34"/>
    <p:sldId id="1576" r:id="rId35"/>
    <p:sldId id="278" r:id="rId36"/>
    <p:sldId id="291" r:id="rId37"/>
    <p:sldId id="290" r:id="rId38"/>
    <p:sldId id="292" r:id="rId39"/>
    <p:sldId id="280" r:id="rId40"/>
    <p:sldId id="346" r:id="rId41"/>
    <p:sldId id="344" r:id="rId42"/>
    <p:sldId id="272" r:id="rId43"/>
    <p:sldId id="305" r:id="rId44"/>
    <p:sldId id="306" r:id="rId45"/>
    <p:sldId id="328" r:id="rId46"/>
    <p:sldId id="1573" r:id="rId47"/>
    <p:sldId id="1567" r:id="rId48"/>
    <p:sldId id="1165" r:id="rId49"/>
    <p:sldId id="1166" r:id="rId50"/>
    <p:sldId id="1167" r:id="rId51"/>
    <p:sldId id="1169" r:id="rId52"/>
    <p:sldId id="1085" r:id="rId53"/>
    <p:sldId id="1170" r:id="rId54"/>
    <p:sldId id="1096" r:id="rId55"/>
    <p:sldId id="1086" r:id="rId56"/>
    <p:sldId id="1087" r:id="rId57"/>
    <p:sldId id="1088" r:id="rId58"/>
    <p:sldId id="1089" r:id="rId59"/>
    <p:sldId id="1105" r:id="rId60"/>
    <p:sldId id="1135" r:id="rId61"/>
    <p:sldId id="1094" r:id="rId62"/>
    <p:sldId id="1110" r:id="rId63"/>
    <p:sldId id="1112" r:id="rId64"/>
    <p:sldId id="1122" r:id="rId65"/>
    <p:sldId id="1095" r:id="rId66"/>
    <p:sldId id="996" r:id="rId67"/>
    <p:sldId id="1001" r:id="rId68"/>
    <p:sldId id="1002" r:id="rId69"/>
    <p:sldId id="1143" r:id="rId70"/>
    <p:sldId id="352" r:id="rId71"/>
    <p:sldId id="1569" r:id="rId72"/>
    <p:sldId id="1560" r:id="rId73"/>
    <p:sldId id="1575" r:id="rId74"/>
    <p:sldId id="1161" r:id="rId75"/>
    <p:sldId id="1163" r:id="rId76"/>
    <p:sldId id="1156" r:id="rId77"/>
    <p:sldId id="1553" r:id="rId78"/>
    <p:sldId id="1554" r:id="rId79"/>
    <p:sldId id="1555" r:id="rId80"/>
    <p:sldId id="1561" r:id="rId81"/>
    <p:sldId id="1562" r:id="rId82"/>
    <p:sldId id="1563" r:id="rId83"/>
    <p:sldId id="1558" r:id="rId84"/>
    <p:sldId id="1559" r:id="rId85"/>
  </p:sldIdLst>
  <p:sldSz cx="9144000" cy="6858000" type="screen4x3"/>
  <p:notesSz cx="9601200" cy="7315200"/>
  <p:kinsoku lang="zh-CN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panose="030F0702030302020204" charset="0"/>
        <a:ea typeface="MS PGothic" panose="020B0600070205080204" charset="-128"/>
        <a:cs typeface="MS PGothic" panose="020B0600070205080204" charset="-128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panose="030F0702030302020204" charset="0"/>
        <a:ea typeface="MS PGothic" panose="020B0600070205080204" charset="-128"/>
        <a:cs typeface="MS PGothic" panose="020B0600070205080204" charset="-128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panose="030F0702030302020204" charset="0"/>
        <a:ea typeface="MS PGothic" panose="020B0600070205080204" charset="-128"/>
        <a:cs typeface="MS PGothic" panose="020B0600070205080204" charset="-128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panose="030F0702030302020204" charset="0"/>
        <a:ea typeface="MS PGothic" panose="020B0600070205080204" charset="-128"/>
        <a:cs typeface="MS PGothic" panose="020B0600070205080204" charset="-128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panose="030F0702030302020204" charset="0"/>
        <a:ea typeface="MS PGothic" panose="020B0600070205080204" charset="-128"/>
        <a:cs typeface="MS PGothic" panose="020B0600070205080204" charset="-128"/>
      </a:defRPr>
    </a:lvl5pPr>
    <a:lvl6pPr marL="2286000" algn="l" defTabSz="457200" rtl="0" eaLnBrk="1" latinLnBrk="0" hangingPunct="1">
      <a:defRPr b="1" kern="1200">
        <a:solidFill>
          <a:schemeClr val="tx1"/>
        </a:solidFill>
        <a:latin typeface="Comic Sans MS" panose="030F0702030302020204" charset="0"/>
        <a:ea typeface="MS PGothic" panose="020B0600070205080204" charset="-128"/>
        <a:cs typeface="MS PGothic" panose="020B0600070205080204" charset="-128"/>
      </a:defRPr>
    </a:lvl6pPr>
    <a:lvl7pPr marL="2743200" algn="l" defTabSz="457200" rtl="0" eaLnBrk="1" latinLnBrk="0" hangingPunct="1">
      <a:defRPr b="1" kern="1200">
        <a:solidFill>
          <a:schemeClr val="tx1"/>
        </a:solidFill>
        <a:latin typeface="Comic Sans MS" panose="030F0702030302020204" charset="0"/>
        <a:ea typeface="MS PGothic" panose="020B0600070205080204" charset="-128"/>
        <a:cs typeface="MS PGothic" panose="020B0600070205080204" charset="-128"/>
      </a:defRPr>
    </a:lvl7pPr>
    <a:lvl8pPr marL="3200400" algn="l" defTabSz="457200" rtl="0" eaLnBrk="1" latinLnBrk="0" hangingPunct="1">
      <a:defRPr b="1" kern="1200">
        <a:solidFill>
          <a:schemeClr val="tx1"/>
        </a:solidFill>
        <a:latin typeface="Comic Sans MS" panose="030F0702030302020204" charset="0"/>
        <a:ea typeface="MS PGothic" panose="020B0600070205080204" charset="-128"/>
        <a:cs typeface="MS PGothic" panose="020B0600070205080204" charset="-128"/>
      </a:defRPr>
    </a:lvl8pPr>
    <a:lvl9pPr marL="3657600" algn="l" defTabSz="457200" rtl="0" eaLnBrk="1" latinLnBrk="0" hangingPunct="1">
      <a:defRPr b="1" kern="1200">
        <a:solidFill>
          <a:schemeClr val="tx1"/>
        </a:solidFill>
        <a:latin typeface="Comic Sans MS" panose="030F0702030302020204" charset="0"/>
        <a:ea typeface="MS PGothic" panose="020B0600070205080204" charset="-128"/>
        <a:cs typeface="MS PGothic" panose="020B060007020508020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hiddenSlides="1" frameSlides="1"/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700"/>
  </p:normalViewPr>
  <p:slideViewPr>
    <p:cSldViewPr showGuides="1">
      <p:cViewPr>
        <p:scale>
          <a:sx n="75" d="100"/>
          <a:sy n="75" d="100"/>
        </p:scale>
        <p:origin x="2872" y="10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39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9" Type="http://schemas.openxmlformats.org/officeDocument/2006/relationships/tableStyles" Target="tableStyles.xml"/><Relationship Id="rId88" Type="http://schemas.openxmlformats.org/officeDocument/2006/relationships/viewProps" Target="viewProps.xml"/><Relationship Id="rId87" Type="http://schemas.openxmlformats.org/officeDocument/2006/relationships/presProps" Target="presProps.xml"/><Relationship Id="rId86" Type="http://schemas.openxmlformats.org/officeDocument/2006/relationships/handoutMaster" Target="handoutMasters/handoutMaster1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4405313" y="6956425"/>
            <a:ext cx="792162" cy="271463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none" lIns="92315" tIns="46997" rIns="92315" bIns="46997">
            <a:spAutoFit/>
          </a:bodyPr>
          <a:lstStyle>
            <a:lvl1pPr defTabSz="917575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1pPr>
            <a:lvl2pPr marL="742950" indent="-285750" defTabSz="917575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2pPr>
            <a:lvl3pPr marL="1143000" indent="-228600" defTabSz="917575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3pPr>
            <a:lvl4pPr marL="1600200" indent="-228600" defTabSz="917575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4pPr>
            <a:lvl5pPr marL="2057400" indent="-228600" defTabSz="917575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5pPr>
            <a:lvl6pPr marL="25146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6pPr>
            <a:lvl7pPr marL="29718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7pPr>
            <a:lvl8pPr marL="34290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8pPr>
            <a:lvl9pPr marL="38862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zh-CN" sz="1300" b="0"/>
              <a:t>Page </a:t>
            </a:r>
            <a:fld id="{ED1CB255-028B-0947-A6A7-F9B73D3B5669}" type="slidenum">
              <a:rPr lang="en-US" altLang="zh-CN" sz="1300" b="0"/>
            </a:fld>
            <a:endParaRPr lang="en-US" altLang="zh-CN" sz="1300" b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4405313" y="6956425"/>
            <a:ext cx="792162" cy="271463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none" lIns="92315" tIns="46997" rIns="92315" bIns="46997">
            <a:spAutoFit/>
          </a:bodyPr>
          <a:lstStyle>
            <a:lvl1pPr defTabSz="917575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1pPr>
            <a:lvl2pPr marL="742950" indent="-285750" defTabSz="917575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2pPr>
            <a:lvl3pPr marL="1143000" indent="-228600" defTabSz="917575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3pPr>
            <a:lvl4pPr marL="1600200" indent="-228600" defTabSz="917575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4pPr>
            <a:lvl5pPr marL="2057400" indent="-228600" defTabSz="917575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5pPr>
            <a:lvl6pPr marL="25146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6pPr>
            <a:lvl7pPr marL="29718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7pPr>
            <a:lvl8pPr marL="34290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8pPr>
            <a:lvl9pPr marL="38862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zh-CN" sz="1300" b="0"/>
              <a:t>Page </a:t>
            </a:r>
            <a:fld id="{247FC3C1-0E12-004A-8847-DFA79F7280F6}" type="slidenum">
              <a:rPr lang="en-US" altLang="zh-CN" sz="1300" b="0"/>
            </a:fld>
            <a:endParaRPr lang="en-US" altLang="zh-CN" sz="1300" b="0"/>
          </a:p>
        </p:txBody>
      </p:sp>
      <p:sp>
        <p:nvSpPr>
          <p:cNvPr id="26627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71800" y="547688"/>
            <a:ext cx="3659188" cy="27447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1113" y="3475038"/>
            <a:ext cx="7038975" cy="329247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5672" tIns="46997" rIns="95672" bIns="46997" numCol="1" anchor="t" anchorCtr="0" compatLnSpc="1"/>
          <a:lstStyle/>
          <a:p>
            <a:pPr lvl="0"/>
            <a:r>
              <a:rPr lang="en-US" noProof="0"/>
              <a:t>Body Text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anose="030F0702030302020204" charset="0"/>
        <a:ea typeface="MS PGothic" panose="020B0600070205080204" charset="-128"/>
        <a:cs typeface="MS PGothic" panose="020B0600070205080204" charset="-128"/>
      </a:defRPr>
    </a:lvl1pPr>
    <a:lvl2pPr marL="4572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anose="030F0702030302020204" charset="0"/>
        <a:ea typeface="MS PGothic" panose="020B0600070205080204" charset="-128"/>
        <a:cs typeface="+mn-cs"/>
      </a:defRPr>
    </a:lvl2pPr>
    <a:lvl3pPr marL="9144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anose="030F0702030302020204" charset="0"/>
        <a:ea typeface="MS PGothic" panose="020B0600070205080204" charset="-128"/>
        <a:cs typeface="+mn-cs"/>
      </a:defRPr>
    </a:lvl3pPr>
    <a:lvl4pPr marL="13716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anose="030F0702030302020204" charset="0"/>
        <a:ea typeface="MS PGothic" panose="020B0600070205080204" charset="-128"/>
        <a:cs typeface="+mn-cs"/>
      </a:defRPr>
    </a:lvl4pPr>
    <a:lvl5pPr marL="18288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anose="030F0702030302020204" charset="0"/>
        <a:ea typeface="MS PGothic" panose="020B060007020508020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71800" y="547688"/>
            <a:ext cx="3659188" cy="2744787"/>
          </a:xfrm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Comic Sans MS" panose="030F070203030202020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71800" y="547688"/>
            <a:ext cx="3659188" cy="2744787"/>
          </a:xfrm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Comic Sans MS" panose="030F070203030202020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438775" y="6948489"/>
            <a:ext cx="4160838" cy="365125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fld id="{9B07098F-C9ED-7241-904A-F86B390E1E90}" type="slidenum">
              <a:rPr lang="en-US">
                <a:latin typeface="Times New Roman" panose="02020603050405020304" charset="0"/>
              </a:rPr>
            </a:fld>
            <a:endParaRPr lang="en-US">
              <a:latin typeface="Times New Roman" panose="02020603050405020304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71800" y="547688"/>
            <a:ext cx="3659188" cy="2744787"/>
          </a:xfrm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dirty="0">
                <a:latin typeface="Times New Roman" panose="02020603050405020304" charset="0"/>
                <a:ea typeface="MS PGothic" panose="020B0600070205080204" charset="-128"/>
              </a:rPr>
              <a:t>How is networking possible? It is made possible</a:t>
            </a:r>
            <a:r>
              <a:rPr lang="en-US" baseline="0" dirty="0">
                <a:latin typeface="Times New Roman" panose="02020603050405020304" charset="0"/>
                <a:ea typeface="MS PGothic" panose="020B0600070205080204" charset="-128"/>
              </a:rPr>
              <a:t> via the use of protocols.</a:t>
            </a:r>
            <a:endParaRPr lang="en-US" dirty="0">
              <a:latin typeface="Times New Roman" panose="02020603050405020304" charset="0"/>
              <a:ea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7688"/>
            <a:ext cx="3659188" cy="27447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Packet switching </a:t>
            </a:r>
            <a:r>
              <a:rPr lang="en-US" altLang="zh-CN" dirty="0" err="1"/>
              <a:t>vs</a:t>
            </a:r>
            <a:r>
              <a:rPr lang="en-US" altLang="zh-CN" dirty="0"/>
              <a:t> circuit</a:t>
            </a:r>
            <a:r>
              <a:rPr lang="en-US" altLang="zh-CN" baseline="0" dirty="0"/>
              <a:t> switching. Efficiency vs. </a:t>
            </a:r>
            <a:r>
              <a:rPr lang="en-US" altLang="zh-CN" baseline="0" dirty="0" err="1"/>
              <a:t>QoS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Lte</a:t>
            </a:r>
            <a:r>
              <a:rPr lang="en-US" altLang="zh-CN" dirty="0"/>
              <a:t>: about 25MB/s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If we overflow the routers, they will drop packets. And we have to retransmit. Then get dropped. Bad</a:t>
            </a:r>
            <a:r>
              <a:rPr lang="en-US" altLang="zh-CN" baseline="0" dirty="0"/>
              <a:t> circle. Nothing get through. So sending data as fast as you could actually h</a:t>
            </a:r>
            <a:r>
              <a:rPr lang="en-US" altLang="zh-CN" dirty="0"/>
              <a:t>urts throughput.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7688"/>
            <a:ext cx="3659188" cy="27447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Switches operate</a:t>
            </a:r>
            <a:r>
              <a:rPr lang="en-US" altLang="zh-CN" baseline="0" dirty="0"/>
              <a:t> at </a:t>
            </a:r>
            <a:r>
              <a:rPr lang="en-US" altLang="zh-CN" baseline="0" dirty="0" err="1"/>
              <a:t>datalink</a:t>
            </a:r>
            <a:r>
              <a:rPr lang="en-US" altLang="zh-CN" baseline="0" dirty="0"/>
              <a:t> layer. Routers operate at network layer.</a:t>
            </a:r>
            <a:endParaRPr lang="en-US" altLang="zh-CN" baseline="0" dirty="0"/>
          </a:p>
          <a:p>
            <a:endParaRPr lang="en-US" altLang="zh-CN" baseline="0" dirty="0"/>
          </a:p>
          <a:p>
            <a:r>
              <a:rPr lang="en-US" altLang="zh-CN" baseline="0" dirty="0" err="1"/>
              <a:t>Ip</a:t>
            </a:r>
            <a:r>
              <a:rPr lang="en-US" altLang="zh-CN" baseline="0" dirty="0"/>
              <a:t> addresses are another example of another level of indirection.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7688"/>
            <a:ext cx="3659188" cy="27447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When should we use a fixed</a:t>
            </a:r>
            <a:r>
              <a:rPr lang="en-US" altLang="zh-CN" baseline="0" dirty="0"/>
              <a:t> </a:t>
            </a:r>
            <a:r>
              <a:rPr lang="en-US" altLang="zh-CN" baseline="0" dirty="0" err="1"/>
              <a:t>ip</a:t>
            </a:r>
            <a:r>
              <a:rPr lang="en-US" altLang="zh-CN" baseline="0" dirty="0"/>
              <a:t>? – server</a:t>
            </a:r>
            <a:endParaRPr lang="en-US" altLang="zh-CN" baseline="0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7688"/>
            <a:ext cx="3659188" cy="27447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 connection is on the software level and is something that you can write code to manipulate. It is between two processes on two machines.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3efede99fd_1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3efede99fd_1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7688"/>
            <a:ext cx="3659188" cy="27447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LAN</a:t>
            </a:r>
            <a:r>
              <a:rPr lang="en-US" altLang="zh-CN" baseline="0" dirty="0"/>
              <a:t> shares the same </a:t>
            </a:r>
            <a:r>
              <a:rPr lang="en-US" altLang="zh-CN" baseline="0" dirty="0" err="1"/>
              <a:t>datalink</a:t>
            </a:r>
            <a:r>
              <a:rPr lang="en-US" altLang="zh-CN" baseline="0" dirty="0"/>
              <a:t> layer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7688"/>
            <a:ext cx="3659188" cy="27447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More efficient. In a broadcast network,</a:t>
            </a:r>
            <a:r>
              <a:rPr lang="en-US" altLang="zh-CN" baseline="0" dirty="0"/>
              <a:t> if one is transmitting, no one else can transmit. It is also safer. You don’t see other’s traffic. So your roommate can’t see what movies you are watching, if your </a:t>
            </a:r>
            <a:r>
              <a:rPr lang="en-US" altLang="zh-CN" baseline="0" dirty="0" err="1"/>
              <a:t>lan</a:t>
            </a:r>
            <a:r>
              <a:rPr lang="en-US" altLang="zh-CN" baseline="0" dirty="0"/>
              <a:t> is switched. </a:t>
            </a:r>
            <a:r>
              <a:rPr lang="en-US" altLang="zh-CN" dirty="0"/>
              <a:t>Now most </a:t>
            </a:r>
            <a:r>
              <a:rPr lang="en-US" altLang="zh-CN" dirty="0" err="1"/>
              <a:t>ethernets</a:t>
            </a:r>
            <a:r>
              <a:rPr lang="en-US" altLang="zh-CN" baseline="0" dirty="0"/>
              <a:t> are switched.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438775" y="6948488"/>
            <a:ext cx="4160838" cy="365125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fld id="{7C8505E0-770F-364C-A3A3-6A0B703F190B}" type="slidenum">
              <a:rPr lang="en-US">
                <a:latin typeface="Times New Roman" panose="02020603050405020304" charset="0"/>
              </a:rPr>
            </a:fld>
            <a:endParaRPr lang="en-US">
              <a:latin typeface="Times New Roman" panose="02020603050405020304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71800" y="547688"/>
            <a:ext cx="3659188" cy="2744787"/>
          </a:xfrm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>
              <a:latin typeface="Times New Roman" panose="02020603050405020304" charset="0"/>
              <a:ea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ef6c69730_2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74975" y="554038"/>
            <a:ext cx="3652838" cy="27384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07" name="Google Shape;507;g3ef6c69730_2_3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ef6c69730_2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74975" y="554038"/>
            <a:ext cx="3652838" cy="27384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27" name="Google Shape;527;g3ef6c69730_2_3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ef6c69730_2_3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54" name="Google Shape;654;g3ef6c69730_2_3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ef6c69730_0_3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ef6c69730_0_3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40b2ca9be6_1_752:notes"/>
          <p:cNvSpPr txBox="1">
            <a:spLocks noGrp="1"/>
          </p:cNvSpPr>
          <p:nvPr>
            <p:ph type="body" idx="1"/>
          </p:nvPr>
        </p:nvSpPr>
        <p:spPr>
          <a:xfrm>
            <a:off x="915080" y="4343796"/>
            <a:ext cx="5027839" cy="41155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6" name="Google Shape;626;g40b2ca9be6_1_7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1413" y="684213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438775" y="6948489"/>
            <a:ext cx="4160838" cy="365125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fld id="{4D5DBAD3-C391-6849-80EA-28024AB98BF5}" type="slidenum">
              <a:rPr lang="en-US"/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71800" y="547688"/>
            <a:ext cx="3659188" cy="2744787"/>
          </a:xfrm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>
              <a:ea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438775" y="6948489"/>
            <a:ext cx="4160838" cy="365125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fld id="{D5DDD132-6659-CA42-AE2A-D19777E3F0A9}" type="slidenum">
              <a:rPr lang="en-US"/>
            </a:fld>
            <a:endParaRPr lang="en-US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71800" y="547688"/>
            <a:ext cx="3659188" cy="2744787"/>
          </a:xfrm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dirty="0">
                <a:ea typeface="MS PGothic" panose="020B0600070205080204" charset="-128"/>
              </a:rPr>
              <a:t>Adding another level of indirection</a:t>
            </a:r>
            <a:r>
              <a:rPr lang="en-US" baseline="0" dirty="0">
                <a:ea typeface="MS PGothic" panose="020B0600070205080204" charset="-128"/>
              </a:rPr>
              <a:t> turns an </a:t>
            </a:r>
            <a:r>
              <a:rPr lang="en-US" baseline="0" dirty="0" err="1">
                <a:ea typeface="MS PGothic" panose="020B0600070205080204" charset="-128"/>
              </a:rPr>
              <a:t>nxm</a:t>
            </a:r>
            <a:r>
              <a:rPr lang="en-US" baseline="0" dirty="0">
                <a:ea typeface="MS PGothic" panose="020B0600070205080204" charset="-128"/>
              </a:rPr>
              <a:t> problem into an </a:t>
            </a:r>
            <a:r>
              <a:rPr lang="en-US" baseline="0" dirty="0" err="1">
                <a:ea typeface="MS PGothic" panose="020B0600070205080204" charset="-128"/>
              </a:rPr>
              <a:t>n+m</a:t>
            </a:r>
            <a:r>
              <a:rPr lang="en-US" baseline="0" dirty="0">
                <a:ea typeface="MS PGothic" panose="020B0600070205080204" charset="-128"/>
              </a:rPr>
              <a:t> one.</a:t>
            </a:r>
            <a:endParaRPr lang="en-US" dirty="0">
              <a:ea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438775" y="6948489"/>
            <a:ext cx="4160838" cy="365125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fld id="{8BD82709-FFA1-5E47-AD2E-5F5043C5290F}" type="slidenum">
              <a:rPr lang="en-US"/>
            </a:fld>
            <a:endParaRPr lang="en-US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71800" y="547688"/>
            <a:ext cx="3659188" cy="2744787"/>
          </a:xfrm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>
              <a:ea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438775" y="6948489"/>
            <a:ext cx="4160838" cy="365125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fld id="{8FAF965F-0764-744F-88E6-DAEAB10B3378}" type="slidenum">
              <a:rPr lang="en-US"/>
            </a:fld>
            <a:endParaRPr lang="en-US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71800" y="547688"/>
            <a:ext cx="3659188" cy="2744787"/>
          </a:xfrm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dirty="0">
                <a:ea typeface="MS PGothic" panose="020B0600070205080204" charset="-128"/>
              </a:rPr>
              <a:t>Each layer should provide</a:t>
            </a:r>
            <a:r>
              <a:rPr lang="en-US" baseline="0" dirty="0">
                <a:ea typeface="MS PGothic" panose="020B0600070205080204" charset="-128"/>
              </a:rPr>
              <a:t> complete end to end communication.</a:t>
            </a:r>
            <a:endParaRPr lang="en-US" dirty="0">
              <a:ea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438775" y="6948488"/>
            <a:ext cx="4160838" cy="365125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fld id="{F750C53C-4F18-FB44-930E-BA1F025ADF3A}" type="slidenum">
              <a:rPr lang="en-US"/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71800" y="547688"/>
            <a:ext cx="3659188" cy="2744787"/>
          </a:xfrm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>
              <a:ea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438775" y="6948489"/>
            <a:ext cx="4160838" cy="365125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fld id="{17DE7A6E-50EC-2241-8AFE-46959D95C692}" type="slidenum">
              <a:rPr lang="en-US">
                <a:latin typeface="Times New Roman" panose="02020603050405020304" charset="0"/>
              </a:rPr>
            </a:fld>
            <a:endParaRPr lang="en-US">
              <a:latin typeface="Times New Roman" panose="02020603050405020304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71800" y="547688"/>
            <a:ext cx="3659188" cy="2744787"/>
          </a:xfrm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dirty="0">
                <a:latin typeface="Times New Roman" panose="02020603050405020304" charset="0"/>
                <a:ea typeface="MS PGothic" panose="020B0600070205080204" charset="-128"/>
              </a:rPr>
              <a:t>Protocols are conventions. They need to have commonly agreed means. When I say</a:t>
            </a:r>
            <a:r>
              <a:rPr lang="en-US" baseline="0" dirty="0">
                <a:latin typeface="Times New Roman" panose="02020603050405020304" charset="0"/>
                <a:ea typeface="MS PGothic" panose="020B0600070205080204" charset="-128"/>
              </a:rPr>
              <a:t> </a:t>
            </a:r>
            <a:r>
              <a:rPr lang="en-US" baseline="0" dirty="0" err="1">
                <a:latin typeface="Times New Roman" panose="02020603050405020304" charset="0"/>
                <a:ea typeface="MS PGothic" panose="020B0600070205080204" charset="-128"/>
              </a:rPr>
              <a:t>chilema</a:t>
            </a:r>
            <a:r>
              <a:rPr lang="en-US" baseline="0" dirty="0">
                <a:latin typeface="Times New Roman" panose="02020603050405020304" charset="0"/>
                <a:ea typeface="MS PGothic" panose="020B0600070205080204" charset="-128"/>
              </a:rPr>
              <a:t>? I didn’t mean to take you to dinner. It is kind of a greeting. Who assign meanings to messages and signals that are commonly understood across the global? We need some standardization. </a:t>
            </a:r>
            <a:endParaRPr lang="en-US" baseline="0" dirty="0">
              <a:latin typeface="Times New Roman" panose="02020603050405020304" charset="0"/>
              <a:ea typeface="MS PGothic" panose="020B0600070205080204" charset="-128"/>
            </a:endParaRPr>
          </a:p>
          <a:p>
            <a:r>
              <a:rPr lang="en-US" baseline="0" dirty="0">
                <a:latin typeface="Times New Roman" panose="02020603050405020304" charset="0"/>
                <a:ea typeface="MS PGothic" panose="020B0600070205080204" charset="-128"/>
              </a:rPr>
              <a:t> </a:t>
            </a:r>
            <a:endParaRPr lang="en-US" baseline="0" dirty="0">
              <a:latin typeface="Times New Roman" panose="02020603050405020304" charset="0"/>
              <a:ea typeface="MS PGothic" panose="020B0600070205080204" charset="-128"/>
            </a:endParaRPr>
          </a:p>
          <a:p>
            <a:r>
              <a:rPr lang="en-US" baseline="0" dirty="0">
                <a:latin typeface="Times New Roman" panose="02020603050405020304" charset="0"/>
                <a:ea typeface="MS PGothic" panose="020B0600070205080204" charset="-128"/>
              </a:rPr>
              <a:t>There are also some de facto standards. De facto means, it just happened, I wrote an application and it became </a:t>
            </a:r>
            <a:r>
              <a:rPr lang="en-US" baseline="0" dirty="0" err="1">
                <a:latin typeface="Times New Roman" panose="02020603050405020304" charset="0"/>
                <a:ea typeface="MS PGothic" panose="020B0600070205080204" charset="-128"/>
              </a:rPr>
              <a:t>pupolar</a:t>
            </a:r>
            <a:r>
              <a:rPr lang="en-US" baseline="0" dirty="0">
                <a:latin typeface="Times New Roman" panose="02020603050405020304" charset="0"/>
                <a:ea typeface="MS PGothic" panose="020B0600070205080204" charset="-128"/>
              </a:rPr>
              <a:t> and the convention I choose became standard.</a:t>
            </a:r>
            <a:endParaRPr lang="en-US" dirty="0">
              <a:latin typeface="Times New Roman" panose="02020603050405020304" charset="0"/>
              <a:ea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7688"/>
            <a:ext cx="3659188" cy="27447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There are basically</a:t>
            </a:r>
            <a:r>
              <a:rPr lang="en-US" altLang="zh-CN" baseline="0" dirty="0"/>
              <a:t> t</a:t>
            </a:r>
            <a:r>
              <a:rPr lang="en-US" altLang="zh-CN" dirty="0"/>
              <a:t>wo competing models. </a:t>
            </a:r>
            <a:r>
              <a:rPr lang="en-US" altLang="zh-CN" dirty="0" err="1"/>
              <a:t>Osi</a:t>
            </a:r>
            <a:r>
              <a:rPr lang="en-US" altLang="zh-CN" dirty="0"/>
              <a:t> model defined by</a:t>
            </a:r>
            <a:r>
              <a:rPr lang="en-US" altLang="zh-CN" baseline="0" dirty="0"/>
              <a:t> ISO. ISO standardizes everything, from food quality to how you build your factory. One of them won,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438775" y="6948488"/>
            <a:ext cx="4160838" cy="365125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fld id="{FD4DE00C-DA7B-3F44-BA65-141F273F6FB8}" type="slidenum">
              <a:rPr lang="en-US"/>
            </a:fld>
            <a:endParaRPr 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71800" y="547688"/>
            <a:ext cx="3659188" cy="2744787"/>
          </a:xfrm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dirty="0">
                <a:ea typeface="MS PGothic" panose="020B0600070205080204" charset="-128"/>
              </a:rPr>
              <a:t>Protocol: specifies how to encode the information using signals, duration,</a:t>
            </a:r>
            <a:r>
              <a:rPr lang="en-US" baseline="0" dirty="0">
                <a:ea typeface="MS PGothic" panose="020B0600070205080204" charset="-128"/>
              </a:rPr>
              <a:t> </a:t>
            </a:r>
            <a:r>
              <a:rPr lang="en-US" dirty="0">
                <a:ea typeface="MS PGothic" panose="020B0600070205080204" charset="-128"/>
              </a:rPr>
              <a:t>wavelength,</a:t>
            </a:r>
            <a:r>
              <a:rPr lang="en-US" baseline="0" dirty="0">
                <a:ea typeface="MS PGothic" panose="020B0600070205080204" charset="-128"/>
              </a:rPr>
              <a:t> voltages, etc</a:t>
            </a:r>
            <a:r>
              <a:rPr lang="en-US" dirty="0">
                <a:ea typeface="MS PGothic" panose="020B0600070205080204" charset="-128"/>
              </a:rPr>
              <a:t> </a:t>
            </a:r>
            <a:endParaRPr lang="en-US" dirty="0">
              <a:ea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438775" y="6948488"/>
            <a:ext cx="4160838" cy="365125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fld id="{2249F00C-9EDA-174C-8962-CCD2F52D25A7}" type="slidenum">
              <a:rPr lang="en-US"/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71800" y="547688"/>
            <a:ext cx="3659188" cy="2744787"/>
          </a:xfrm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dirty="0">
                <a:ea typeface="MS PGothic" panose="020B0600070205080204" charset="-128"/>
              </a:rPr>
              <a:t>Physical layer deals</a:t>
            </a:r>
            <a:r>
              <a:rPr lang="en-US" baseline="0" dirty="0">
                <a:ea typeface="MS PGothic" panose="020B0600070205080204" charset="-128"/>
              </a:rPr>
              <a:t> with transmitting bits, </a:t>
            </a:r>
            <a:r>
              <a:rPr lang="en-US" baseline="0" dirty="0" err="1">
                <a:ea typeface="MS PGothic" panose="020B0600070205080204" charset="-128"/>
              </a:rPr>
              <a:t>datalink</a:t>
            </a:r>
            <a:r>
              <a:rPr lang="en-US" baseline="0" dirty="0">
                <a:ea typeface="MS PGothic" panose="020B0600070205080204" charset="-128"/>
              </a:rPr>
              <a:t> deals with transmitting frames. And the hosts must be on the same physical line or wireless link.</a:t>
            </a:r>
            <a:endParaRPr lang="en-US" dirty="0">
              <a:ea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438775" y="6948488"/>
            <a:ext cx="4160838" cy="365125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fld id="{AC1BCCEE-E8BE-924C-B9BF-E2ED3FF9A374}" type="slidenum">
              <a:rPr lang="en-US"/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71800" y="547688"/>
            <a:ext cx="3659188" cy="2744787"/>
          </a:xfrm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>
              <a:ea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438775" y="6948488"/>
            <a:ext cx="4160838" cy="365125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fld id="{C7E955BA-49CB-A744-B5EA-B30D99391B62}" type="slidenum">
              <a:rPr lang="en-US">
                <a:latin typeface="Times New Roman" panose="02020603050405020304" charset="0"/>
              </a:rPr>
            </a:fld>
            <a:endParaRPr lang="en-US">
              <a:latin typeface="Times New Roman" panose="02020603050405020304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71800" y="547688"/>
            <a:ext cx="3659188" cy="2744787"/>
          </a:xfrm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>
              <a:latin typeface="Times New Roman" panose="02020603050405020304" charset="0"/>
              <a:ea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438775" y="6948488"/>
            <a:ext cx="4160838" cy="365125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fld id="{AB974EE3-7238-4946-BF93-507AD0448D64}" type="slidenum">
              <a:rPr lang="en-US"/>
            </a:fld>
            <a:endParaRPr 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71800" y="547688"/>
            <a:ext cx="3659188" cy="2744787"/>
          </a:xfrm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dirty="0" err="1">
                <a:ea typeface="MS PGothic" panose="020B0600070205080204" charset="-128"/>
              </a:rPr>
              <a:t>Ip</a:t>
            </a:r>
            <a:r>
              <a:rPr lang="en-US" dirty="0">
                <a:ea typeface="MS PGothic" panose="020B0600070205080204" charset="-128"/>
              </a:rPr>
              <a:t> is end-to-end communication between hosts</a:t>
            </a:r>
            <a:endParaRPr lang="en-US" dirty="0">
              <a:ea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438775" y="6948488"/>
            <a:ext cx="4160838" cy="365125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fld id="{A8AA52C7-8A70-E64C-8579-72189030C778}" type="slidenum">
              <a:rPr lang="en-US"/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71800" y="547688"/>
            <a:ext cx="3659188" cy="2744787"/>
          </a:xfrm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dirty="0">
                <a:ea typeface="MS PGothic" panose="020B0600070205080204" charset="-128"/>
              </a:rPr>
              <a:t>Port number identifies</a:t>
            </a:r>
            <a:r>
              <a:rPr lang="en-US" baseline="0" dirty="0">
                <a:ea typeface="MS PGothic" panose="020B0600070205080204" charset="-128"/>
              </a:rPr>
              <a:t> a process. Can be assigned by the </a:t>
            </a:r>
            <a:r>
              <a:rPr lang="en-US" baseline="0" dirty="0" err="1">
                <a:ea typeface="MS PGothic" panose="020B0600070205080204" charset="-128"/>
              </a:rPr>
              <a:t>os</a:t>
            </a:r>
            <a:r>
              <a:rPr lang="en-US" baseline="0" dirty="0">
                <a:ea typeface="MS PGothic" panose="020B0600070205080204" charset="-128"/>
              </a:rPr>
              <a:t> or requested by the application.</a:t>
            </a:r>
            <a:endParaRPr lang="en-US" dirty="0">
              <a:ea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438775" y="6948488"/>
            <a:ext cx="4160838" cy="365125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fld id="{C86B3526-60AC-314B-9F5C-535DE0AB4D63}" type="slidenum">
              <a:rPr lang="en-US">
                <a:latin typeface="Times New Roman" panose="02020603050405020304" charset="0"/>
              </a:rPr>
            </a:fld>
            <a:endParaRPr lang="en-US">
              <a:latin typeface="Times New Roman" panose="02020603050405020304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71800" y="547688"/>
            <a:ext cx="3659188" cy="2744787"/>
          </a:xfrm>
          <a:solidFill>
            <a:srgbClr val="FFFFFF"/>
          </a:solidFill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dirty="0" err="1">
                <a:latin typeface="Times New Roman" panose="02020603050405020304" charset="0"/>
                <a:ea typeface="MS PGothic" panose="020B0600070205080204" charset="-128"/>
              </a:rPr>
              <a:t>Udp</a:t>
            </a:r>
            <a:r>
              <a:rPr lang="en-US" baseline="0" dirty="0">
                <a:latin typeface="Times New Roman" panose="02020603050405020304" charset="0"/>
                <a:ea typeface="MS PGothic" panose="020B0600070205080204" charset="-128"/>
              </a:rPr>
              <a:t> is basically IP between processes. It does multiplexing/</a:t>
            </a:r>
            <a:r>
              <a:rPr lang="en-US" baseline="0" dirty="0" err="1">
                <a:latin typeface="Times New Roman" panose="02020603050405020304" charset="0"/>
                <a:ea typeface="MS PGothic" panose="020B0600070205080204" charset="-128"/>
              </a:rPr>
              <a:t>demultiplexing</a:t>
            </a:r>
            <a:r>
              <a:rPr lang="en-US" baseline="0" dirty="0">
                <a:latin typeface="Times New Roman" panose="02020603050405020304" charset="0"/>
                <a:ea typeface="MS PGothic" panose="020B0600070205080204" charset="-128"/>
              </a:rPr>
              <a:t>.</a:t>
            </a:r>
            <a:endParaRPr lang="en-US" baseline="0" dirty="0">
              <a:latin typeface="Times New Roman" panose="02020603050405020304" charset="0"/>
              <a:ea typeface="MS PGothic" panose="020B0600070205080204" charset="-128"/>
            </a:endParaRPr>
          </a:p>
          <a:p>
            <a:endParaRPr lang="en-US" baseline="0" dirty="0">
              <a:latin typeface="Times New Roman" panose="02020603050405020304" charset="0"/>
              <a:ea typeface="MS PGothic" panose="020B0600070205080204" charset="-128"/>
            </a:endParaRPr>
          </a:p>
          <a:p>
            <a:r>
              <a:rPr lang="en-US" baseline="0" dirty="0">
                <a:latin typeface="Times New Roman" panose="02020603050405020304" charset="0"/>
                <a:ea typeface="MS PGothic" panose="020B0600070205080204" charset="-128"/>
              </a:rPr>
              <a:t>Mobile </a:t>
            </a:r>
            <a:r>
              <a:rPr lang="en-US" baseline="0" dirty="0" err="1">
                <a:latin typeface="Times New Roman" panose="02020603050405020304" charset="0"/>
                <a:ea typeface="MS PGothic" panose="020B0600070205080204" charset="-128"/>
              </a:rPr>
              <a:t>ip</a:t>
            </a:r>
            <a:r>
              <a:rPr lang="en-US" baseline="0" dirty="0">
                <a:latin typeface="Times New Roman" panose="02020603050405020304" charset="0"/>
                <a:ea typeface="MS PGothic" panose="020B0600070205080204" charset="-128"/>
              </a:rPr>
              <a:t> protocol supports change of </a:t>
            </a:r>
            <a:r>
              <a:rPr lang="en-US" baseline="0" dirty="0" err="1">
                <a:latin typeface="Times New Roman" panose="02020603050405020304" charset="0"/>
                <a:ea typeface="MS PGothic" panose="020B0600070205080204" charset="-128"/>
              </a:rPr>
              <a:t>ip</a:t>
            </a:r>
            <a:r>
              <a:rPr lang="en-US" baseline="0" dirty="0">
                <a:latin typeface="Times New Roman" panose="02020603050405020304" charset="0"/>
                <a:ea typeface="MS PGothic" panose="020B0600070205080204" charset="-128"/>
              </a:rPr>
              <a:t> addresses. But it is not used very widely.</a:t>
            </a:r>
            <a:endParaRPr lang="en-US" dirty="0">
              <a:latin typeface="Times New Roman" panose="02020603050405020304" charset="0"/>
              <a:ea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438775" y="6948488"/>
            <a:ext cx="4160838" cy="365125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fld id="{5C24E4B2-9AE1-C142-B685-1C6EFB8295FB}" type="slidenum">
              <a:rPr lang="en-US"/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71800" y="547688"/>
            <a:ext cx="3659188" cy="2744787"/>
          </a:xfrm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>
              <a:ea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438775" y="6948488"/>
            <a:ext cx="4160838" cy="365125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fld id="{BD33E2F5-4CF8-D34E-86C5-660E7F9B006D}" type="slidenum">
              <a:rPr lang="en-US"/>
            </a:fld>
            <a:endParaRPr 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71800" y="547688"/>
            <a:ext cx="3659188" cy="2744787"/>
          </a:xfrm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>
              <a:ea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438775" y="6948488"/>
            <a:ext cx="4160838" cy="365125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fld id="{B842B2BB-01EF-A84D-9E8C-8A5254AA0A99}" type="slidenum">
              <a:rPr lang="en-US"/>
            </a:fld>
            <a:endParaRPr lang="en-US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79738" y="555625"/>
            <a:ext cx="3648075" cy="2736850"/>
          </a:xfrm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7938" y="3475038"/>
            <a:ext cx="7043737" cy="3289300"/>
          </a:xfrm>
          <a:noFill/>
          <a:ln w="9525"/>
        </p:spPr>
        <p:txBody>
          <a:bodyPr/>
          <a:lstStyle/>
          <a:p>
            <a:r>
              <a:rPr lang="en-US" dirty="0">
                <a:ea typeface="MS PGothic" panose="020B0600070205080204" charset="-128"/>
              </a:rPr>
              <a:t>It’s like everyone speaks the same language.</a:t>
            </a:r>
            <a:endParaRPr lang="en-US" dirty="0">
              <a:ea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438775" y="6948488"/>
            <a:ext cx="4160838" cy="365125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fld id="{022DCF2C-A557-EA41-93CA-E2861D215A4D}" type="slidenum">
              <a:rPr lang="en-US"/>
            </a:fld>
            <a:endParaRPr lang="en-US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71800" y="547688"/>
            <a:ext cx="3659188" cy="2744787"/>
          </a:xfrm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dirty="0">
                <a:ea typeface="MS PGothic" panose="020B0600070205080204" charset="-128"/>
              </a:rPr>
              <a:t>Downside: if you need to change the waist, it is really hard. You need to change everything. </a:t>
            </a:r>
            <a:endParaRPr lang="en-US" dirty="0">
              <a:ea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438775" y="6948488"/>
            <a:ext cx="4160838" cy="365125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fld id="{9B0D18A8-EAE5-7C45-B5FA-FF3ABCF72659}" type="slidenum">
              <a:rPr lang="en-US"/>
            </a:fld>
            <a:endParaRPr lang="en-US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71800" y="547688"/>
            <a:ext cx="3659188" cy="2744787"/>
          </a:xfrm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dirty="0">
                <a:ea typeface="MS PGothic" panose="020B0600070205080204" charset="-128"/>
              </a:rPr>
              <a:t>Video: compressed</a:t>
            </a:r>
            <a:r>
              <a:rPr lang="en-US" baseline="0" dirty="0">
                <a:ea typeface="MS PGothic" panose="020B0600070205080204" charset="-128"/>
              </a:rPr>
              <a:t> using codec which often supports error recovery. If we are using a network that drops corrupted packets, you will never have a chance to do this recovery.</a:t>
            </a:r>
            <a:endParaRPr lang="en-US" baseline="0" dirty="0">
              <a:ea typeface="MS PGothic" panose="020B0600070205080204" charset="-128"/>
            </a:endParaRPr>
          </a:p>
          <a:p>
            <a:endParaRPr lang="en-US" baseline="0" dirty="0">
              <a:ea typeface="MS PGothic" panose="020B0600070205080204" charset="-128"/>
            </a:endParaRPr>
          </a:p>
          <a:p>
            <a:r>
              <a:rPr lang="en-US" baseline="0" dirty="0">
                <a:ea typeface="MS PGothic" panose="020B0600070205080204" charset="-128"/>
              </a:rPr>
              <a:t>Question: can you think of a better solution than layering? With systems, you need to make tradeoffs. It is impossible to have everything,</a:t>
            </a:r>
            <a:endParaRPr lang="en-US" baseline="0" dirty="0">
              <a:ea typeface="MS PGothic" panose="020B0600070205080204" charset="-128"/>
            </a:endParaRPr>
          </a:p>
          <a:p>
            <a:r>
              <a:rPr lang="en-US" baseline="0" dirty="0">
                <a:ea typeface="MS PGothic" panose="020B0600070205080204" charset="-128"/>
              </a:rPr>
              <a:t>Internet spans multiple entities, there may not be a better way,</a:t>
            </a:r>
            <a:endParaRPr lang="en-US" baseline="0" dirty="0">
              <a:ea typeface="MS PGothic" panose="020B0600070205080204" charset="-128"/>
            </a:endParaRPr>
          </a:p>
          <a:p>
            <a:endParaRPr lang="en-US" baseline="0" dirty="0">
              <a:ea typeface="MS PGothic" panose="020B0600070205080204" charset="-128"/>
            </a:endParaRPr>
          </a:p>
          <a:p>
            <a:endParaRPr lang="en-US" baseline="0" dirty="0">
              <a:ea typeface="MS PGothic" panose="020B0600070205080204" charset="-128"/>
            </a:endParaRPr>
          </a:p>
          <a:p>
            <a:r>
              <a:rPr lang="en-US" baseline="0" dirty="0">
                <a:ea typeface="MS PGothic" panose="020B0600070205080204" charset="-128"/>
              </a:rPr>
              <a:t> </a:t>
            </a:r>
            <a:endParaRPr lang="en-US" dirty="0">
              <a:ea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40b2ca9be6_1_1054:notes"/>
          <p:cNvSpPr txBox="1">
            <a:spLocks noGrp="1"/>
          </p:cNvSpPr>
          <p:nvPr>
            <p:ph type="body" idx="1"/>
          </p:nvPr>
        </p:nvSpPr>
        <p:spPr>
          <a:xfrm>
            <a:off x="915080" y="4343796"/>
            <a:ext cx="5027839" cy="41155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5" name="Google Shape;925;g40b2ca9be6_1_10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1413" y="684213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438775" y="6948489"/>
            <a:ext cx="4160838" cy="365125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fld id="{CB7F1ADC-52FC-3247-9545-DC6E75731C93}" type="slidenum">
              <a:rPr lang="en-US"/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71800" y="547688"/>
            <a:ext cx="3659188" cy="2744787"/>
          </a:xfrm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>
              <a:ea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438775" y="6948489"/>
            <a:ext cx="4160838" cy="365125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fld id="{35C5D710-2887-F242-81C4-6BE6DD82A57F}" type="slidenum">
              <a:rPr lang="en-US"/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71800" y="547688"/>
            <a:ext cx="3659188" cy="2744787"/>
          </a:xfrm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>
              <a:ea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5438775" y="6948489"/>
            <a:ext cx="4160838" cy="365125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fld id="{9B07098F-C9ED-7241-904A-F86B390E1E90}" type="slidenum">
              <a:rPr lang="en-US">
                <a:latin typeface="Times New Roman" panose="02020603050405020304" charset="0"/>
              </a:rPr>
            </a:fld>
            <a:endParaRPr lang="en-US">
              <a:latin typeface="Times New Roman" panose="02020603050405020304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71800" y="547688"/>
            <a:ext cx="3659188" cy="2744787"/>
          </a:xfrm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dirty="0">
                <a:latin typeface="Times New Roman" panose="02020603050405020304" charset="0"/>
                <a:ea typeface="MS PGothic" panose="020B0600070205080204" charset="-128"/>
              </a:rPr>
              <a:t>How is networking possible? It is made possible</a:t>
            </a:r>
            <a:r>
              <a:rPr lang="en-US" baseline="0" dirty="0">
                <a:latin typeface="Times New Roman" panose="02020603050405020304" charset="0"/>
                <a:ea typeface="MS PGothic" panose="020B0600070205080204" charset="-128"/>
              </a:rPr>
              <a:t> via the use of protocols.</a:t>
            </a:r>
            <a:endParaRPr lang="en-US" dirty="0">
              <a:latin typeface="Times New Roman" panose="02020603050405020304" charset="0"/>
              <a:ea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71800" y="547688"/>
            <a:ext cx="3659188" cy="2744787"/>
          </a:xfrm>
        </p:spPr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zh-CN">
              <a:ea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71800" y="547688"/>
            <a:ext cx="3659188" cy="2744787"/>
          </a:xfrm>
        </p:spPr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zh-CN" dirty="0">
              <a:ea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71800" y="547688"/>
            <a:ext cx="3659188" cy="2744787"/>
          </a:xfrm>
        </p:spPr>
      </p:sp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zh-CN">
              <a:ea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71800" y="547688"/>
            <a:ext cx="3659188" cy="2744787"/>
          </a:xfrm>
        </p:spPr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zh-CN">
              <a:ea typeface="MS PGothic" panose="020B060007020508020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pic>
        <p:nvPicPr>
          <p:cNvPr id="4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200"/>
            <a:ext cx="1270000" cy="97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</p:spTree>
  </p:cSld>
  <p:clrMapOvr>
    <a:masterClrMapping/>
  </p:clrMapOvr>
  <p:transition/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/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914400"/>
            <a:ext cx="38862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38862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</p:spTree>
  </p:cSld>
  <p:clrMapOvr>
    <a:masterClrMapping/>
  </p:clrMapOvr>
  <p:transition/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</p:spTree>
  </p:cSld>
  <p:clrMapOvr>
    <a:masterClrMapping/>
  </p:clrMapOvr>
  <p:transition/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  <p:transition/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/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/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</p:spTree>
  </p:cSld>
  <p:clrMapOvr>
    <a:masterClrMapping/>
  </p:clrMapOvr>
  <p:transition/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152400"/>
            <a:ext cx="1981200" cy="5867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52400"/>
            <a:ext cx="5791200" cy="5867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</p:spTree>
  </p:cSld>
  <p:clrMapOvr>
    <a:masterClrMapping/>
  </p:clrMapOvr>
  <p:transition/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914400"/>
            <a:ext cx="3886200" cy="5105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3886200" cy="5105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</p:spTree>
  </p:cSld>
  <p:clrMapOvr>
    <a:masterClrMapping/>
  </p:clrMapOvr>
  <p:transition/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7924800" cy="5105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5410200" y="6367665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/>
              <a:t>  </a:t>
            </a:r>
            <a:endParaRPr kumimoji="1" lang="zh-CN" alt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152400"/>
            <a:ext cx="7162800" cy="53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478" tIns="44445" rIns="90478" bIns="44445" numCol="1" anchor="ctr" anchorCtr="0" compatLnSpc="1"/>
          <a:lstStyle/>
          <a:p>
            <a:pPr lvl="0"/>
            <a:r>
              <a:rPr lang="en-US"/>
              <a:t>Slide Title</a:t>
            </a: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914400"/>
            <a:ext cx="7924800" cy="51054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478" tIns="44445" rIns="90478" bIns="44445" numCol="1" anchor="t" anchorCtr="0" compatLnSpc="1"/>
          <a:lstStyle/>
          <a:p>
            <a:pPr lvl="0"/>
            <a:r>
              <a:rPr lang="en-US"/>
              <a:t>Body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8034790" y="6397625"/>
            <a:ext cx="400732" cy="305202"/>
          </a:xfrm>
          <a:prstGeom prst="rect">
            <a:avLst/>
          </a:prstGeom>
          <a:noFill/>
          <a:ln>
            <a:noFill/>
          </a:ln>
        </p:spPr>
        <p:txBody>
          <a:bodyPr wrap="none" lIns="90478" tIns="44445" rIns="90478" bIns="44445">
            <a:spAutoFit/>
          </a:bodyPr>
          <a:lstStyle/>
          <a:p>
            <a:pPr algn="ctr"/>
            <a:fld id="{223A0746-0397-CE44-BE95-6B0EE6063BB3}" type="slidenum">
              <a:rPr lang="en-US" sz="1400" b="0" smtClean="0">
                <a:solidFill>
                  <a:srgbClr val="2A40E2"/>
                </a:solidFill>
                <a:latin typeface="Helvetica" charset="0"/>
              </a:rPr>
            </a:fld>
            <a:endParaRPr lang="en-US" sz="1400" b="0" dirty="0">
              <a:solidFill>
                <a:srgbClr val="2A40E2"/>
              </a:solidFill>
              <a:latin typeface="Helvetica" charset="0"/>
            </a:endParaRPr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25" r="75185"/>
          <a:stretch>
            <a:fillRect/>
          </a:stretch>
        </p:blipFill>
        <p:spPr bwMode="auto">
          <a:xfrm>
            <a:off x="38100" y="76200"/>
            <a:ext cx="794266" cy="609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/>
  <p:hf hdr="0" ftr="0" dt="0"/>
  <p:txStyles>
    <p:titleStyle>
      <a:lvl1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2A40E2"/>
          </a:solidFill>
          <a:latin typeface="Helvetica"/>
          <a:ea typeface="MS PGothic" panose="020B0600070205080204" charset="-128"/>
          <a:cs typeface="MS PGothic" panose="020B0600070205080204" charset="-128"/>
        </a:defRPr>
      </a:lvl1pPr>
      <a:lvl2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2A40E2"/>
          </a:solidFill>
          <a:latin typeface="Helvetica" charset="0"/>
          <a:ea typeface="MS PGothic" panose="020B0600070205080204" charset="-128"/>
          <a:cs typeface="MS PGothic" panose="020B0600070205080204" charset="-128"/>
        </a:defRPr>
      </a:lvl2pPr>
      <a:lvl3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2A40E2"/>
          </a:solidFill>
          <a:latin typeface="Helvetica" charset="0"/>
          <a:ea typeface="MS PGothic" panose="020B0600070205080204" charset="-128"/>
          <a:cs typeface="MS PGothic" panose="020B0600070205080204" charset="-128"/>
        </a:defRPr>
      </a:lvl3pPr>
      <a:lvl4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2A40E2"/>
          </a:solidFill>
          <a:latin typeface="Helvetica" charset="0"/>
          <a:ea typeface="MS PGothic" panose="020B0600070205080204" charset="-128"/>
          <a:cs typeface="MS PGothic" panose="020B0600070205080204" charset="-128"/>
        </a:defRPr>
      </a:lvl4pPr>
      <a:lvl5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2A40E2"/>
          </a:solidFill>
          <a:latin typeface="Helvetica" charset="0"/>
          <a:ea typeface="MS PGothic" panose="020B0600070205080204" charset="-128"/>
          <a:cs typeface="MS PGothic" panose="020B0600070205080204" charset="-128"/>
        </a:defRPr>
      </a:lvl5pPr>
      <a:lvl6pPr marL="4572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anose="030F0702030302020204" charset="0"/>
        </a:defRPr>
      </a:lvl6pPr>
      <a:lvl7pPr marL="9144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anose="030F0702030302020204" charset="0"/>
        </a:defRPr>
      </a:lvl7pPr>
      <a:lvl8pPr marL="13716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anose="030F0702030302020204" charset="0"/>
        </a:defRPr>
      </a:lvl8pPr>
      <a:lvl9pPr marL="18288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anose="030F0702030302020204" charset="0"/>
        </a:defRPr>
      </a:lvl9pPr>
    </p:titleStyle>
    <p:bodyStyle>
      <a:lvl1pPr marL="285750" indent="-28575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400">
          <a:solidFill>
            <a:schemeClr val="tx1"/>
          </a:solidFill>
          <a:latin typeface="Helvetica"/>
          <a:ea typeface="MS PGothic" panose="020B0600070205080204" charset="-128"/>
          <a:cs typeface="MS PGothic" panose="020B0600070205080204" charset="-128"/>
        </a:defRPr>
      </a:lvl1pPr>
      <a:lvl2pPr marL="685800" indent="-22860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200">
          <a:solidFill>
            <a:schemeClr val="tx1"/>
          </a:solidFill>
          <a:latin typeface="Helvetica"/>
          <a:ea typeface="MS PGothic" panose="020B0600070205080204" charset="-128"/>
        </a:defRPr>
      </a:lvl2pPr>
      <a:lvl3pPr marL="1143000" indent="-22860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SzPct val="100000"/>
        <a:buChar char="»"/>
        <a:defRPr sz="2000">
          <a:solidFill>
            <a:schemeClr val="tx1"/>
          </a:solidFill>
          <a:latin typeface="Helvetica"/>
          <a:ea typeface="MS PGothic" panose="020B0600070205080204" charset="-128"/>
        </a:defRPr>
      </a:lvl3pPr>
      <a:lvl4pPr marL="1543050" indent="-17145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Helvetica"/>
          <a:ea typeface="MS PGothic" panose="020B0600070205080204" charset="-128"/>
        </a:defRPr>
      </a:lvl4pPr>
      <a:lvl5pPr marL="2000250" indent="-17145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Helvetica"/>
          <a:ea typeface="MS PGothic" panose="020B0600070205080204" charset="-128"/>
        </a:defRPr>
      </a:lvl5pPr>
      <a:lvl6pPr marL="2457450" indent="-17145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  <a:ea typeface="MS PGothic" panose="020B0600070205080204" charset="-128"/>
        </a:defRPr>
      </a:lvl6pPr>
      <a:lvl7pPr marL="2914650" indent="-17145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  <a:ea typeface="MS PGothic" panose="020B0600070205080204" charset="-128"/>
        </a:defRPr>
      </a:lvl7pPr>
      <a:lvl8pPr marL="3371850" indent="-17145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  <a:ea typeface="MS PGothic" panose="020B0600070205080204" charset="-128"/>
        </a:defRPr>
      </a:lvl8pPr>
      <a:lvl9pPr marL="3829050" indent="-17145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  <a:ea typeface="MS PGothic" panose="020B060007020508020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15.png"/><Relationship Id="rId4" Type="http://schemas.openxmlformats.org/officeDocument/2006/relationships/image" Target="../media/image9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24.png"/><Relationship Id="rId4" Type="http://schemas.openxmlformats.org/officeDocument/2006/relationships/image" Target="../media/image22.png"/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3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3.xml"/><Relationship Id="rId2" Type="http://schemas.openxmlformats.org/officeDocument/2006/relationships/hyperlink" Target="http://www.rfc-editor.org/" TargetMode="External"/><Relationship Id="rId1" Type="http://schemas.openxmlformats.org/officeDocument/2006/relationships/hyperlink" Target="http://www.ietf.org/" TargetMode="Externa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7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39.png"/><Relationship Id="rId3" Type="http://schemas.openxmlformats.org/officeDocument/2006/relationships/oleObject" Target="../embeddings/oleObject1.bin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7.wmf"/><Relationship Id="rId1" Type="http://schemas.openxmlformats.org/officeDocument/2006/relationships/image" Target="../media/image40.wmf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1.wmf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2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3"/>
          <p:cNvSpPr txBox="1">
            <a:spLocks noChangeArrowheads="1"/>
          </p:cNvSpPr>
          <p:nvPr/>
        </p:nvSpPr>
        <p:spPr bwMode="auto">
          <a:xfrm>
            <a:off x="8720140" y="4368800"/>
            <a:ext cx="1857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9pPr>
          </a:lstStyle>
          <a:p>
            <a:pPr eaLnBrk="1" hangingPunct="1"/>
            <a:endParaRPr lang="zh-CN" altLang="zh-CN" sz="2000" b="0">
              <a:latin typeface="Helvetica" charset="0"/>
            </a:endParaRPr>
          </a:p>
        </p:txBody>
      </p:sp>
      <p:sp>
        <p:nvSpPr>
          <p:cNvPr id="3075" name="Text Box 4"/>
          <p:cNvSpPr txBox="1">
            <a:spLocks noChangeArrowheads="1"/>
          </p:cNvSpPr>
          <p:nvPr/>
        </p:nvSpPr>
        <p:spPr bwMode="auto">
          <a:xfrm>
            <a:off x="381000" y="5791200"/>
            <a:ext cx="83820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4" rIns="91429" bIns="45714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9pPr>
          </a:lstStyle>
          <a:p>
            <a:pPr eaLnBrk="1" hangingPunct="1"/>
            <a:r>
              <a:rPr lang="en-US" altLang="zh-CN" sz="1400" b="0" dirty="0">
                <a:latin typeface="Helvetica" charset="0"/>
              </a:rPr>
              <a:t>Note: Some slides and/or pictures in the following are adapted from slides ©2005-2023 </a:t>
            </a:r>
            <a:r>
              <a:rPr lang="en-US" altLang="zh-CN" sz="1400" b="0" dirty="0" err="1">
                <a:latin typeface="Helvetica" charset="0"/>
              </a:rPr>
              <a:t>Silberschatz</a:t>
            </a:r>
            <a:r>
              <a:rPr lang="en-US" altLang="zh-CN" sz="1400" b="0" dirty="0">
                <a:latin typeface="Helvetica" charset="0"/>
              </a:rPr>
              <a:t>, Galvin, and Gagne. Slides courtesy of Anthony D. Joseph, John </a:t>
            </a:r>
            <a:r>
              <a:rPr lang="en-US" altLang="zh-CN" sz="1400" b="0" dirty="0" err="1">
                <a:latin typeface="Helvetica" charset="0"/>
              </a:rPr>
              <a:t>Kubiatowicz</a:t>
            </a:r>
            <a:r>
              <a:rPr lang="en-US" altLang="zh-CN" sz="1400" b="0" dirty="0">
                <a:latin typeface="Helvetica" charset="0"/>
              </a:rPr>
              <a:t>, AJ Shankar, George </a:t>
            </a:r>
            <a:r>
              <a:rPr lang="en-US" altLang="zh-CN" sz="1400" b="0" dirty="0" err="1">
                <a:latin typeface="Helvetica" charset="0"/>
              </a:rPr>
              <a:t>Necula</a:t>
            </a:r>
            <a:r>
              <a:rPr lang="en-US" altLang="zh-CN" sz="1400" b="0" dirty="0">
                <a:latin typeface="Helvetica" charset="0"/>
              </a:rPr>
              <a:t>, Alex Aiken, Eric Brewer, Ras </a:t>
            </a:r>
            <a:r>
              <a:rPr lang="en-US" altLang="zh-CN" sz="1400" b="0" dirty="0" err="1">
                <a:latin typeface="Helvetica" charset="0"/>
              </a:rPr>
              <a:t>Bodik</a:t>
            </a:r>
            <a:r>
              <a:rPr lang="en-US" altLang="zh-CN" sz="1400" b="0" dirty="0">
                <a:latin typeface="Helvetica" charset="0"/>
              </a:rPr>
              <a:t>, Ion </a:t>
            </a:r>
            <a:r>
              <a:rPr lang="en-US" altLang="zh-CN" sz="1400" b="0" dirty="0" err="1">
                <a:latin typeface="Helvetica" charset="0"/>
              </a:rPr>
              <a:t>Stoica</a:t>
            </a:r>
            <a:r>
              <a:rPr lang="en-US" altLang="zh-CN" sz="1400" b="0" dirty="0">
                <a:latin typeface="Helvetica" charset="0"/>
              </a:rPr>
              <a:t>, Doug </a:t>
            </a:r>
            <a:r>
              <a:rPr lang="en-US" altLang="zh-CN" sz="1400" b="0" dirty="0" err="1">
                <a:latin typeface="Helvetica" charset="0"/>
              </a:rPr>
              <a:t>Tygar</a:t>
            </a:r>
            <a:r>
              <a:rPr lang="en-US" altLang="zh-CN" sz="1400" b="0" dirty="0">
                <a:latin typeface="Helvetica" charset="0"/>
              </a:rPr>
              <a:t>, David Wagner, and John Canny .</a:t>
            </a:r>
            <a:endParaRPr lang="en-US" altLang="zh-CN" sz="1400" b="0" dirty="0">
              <a:latin typeface="Helvetica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09600" y="4572000"/>
            <a:ext cx="8001000" cy="10668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lIns="90478" tIns="44445" rIns="90478" bIns="44445"/>
          <a:lstStyle/>
          <a:p>
            <a:pPr marL="285750" indent="-285750" algn="ctr">
              <a:lnSpc>
                <a:spcPct val="90000"/>
              </a:lnSpc>
              <a:spcBef>
                <a:spcPct val="30000"/>
              </a:spcBef>
              <a:buSzPct val="100000"/>
              <a:defRPr/>
            </a:pPr>
            <a:r>
              <a:rPr lang="en-US" altLang="zh-CN" b="0" kern="0" dirty="0">
                <a:latin typeface="Helvetica" charset="0"/>
                <a:ea typeface="MS PGothic" panose="020B0600070205080204" charset="-128"/>
                <a:cs typeface="MS PGothic" panose="020B0600070205080204" charset="-128"/>
              </a:rPr>
              <a:t>Wei</a:t>
            </a:r>
            <a:r>
              <a:rPr lang="zh-CN" altLang="en-US" b="0" kern="0" dirty="0">
                <a:latin typeface="Helvetica" charset="0"/>
                <a:ea typeface="MS PGothic" panose="020B0600070205080204" charset="-128"/>
                <a:cs typeface="MS PGothic" panose="020B0600070205080204" charset="-128"/>
              </a:rPr>
              <a:t> </a:t>
            </a:r>
            <a:r>
              <a:rPr lang="en-US" altLang="zh-CN" b="0" kern="0" dirty="0">
                <a:latin typeface="Helvetica" charset="0"/>
                <a:ea typeface="MS PGothic" panose="020B0600070205080204" charset="-128"/>
                <a:cs typeface="MS PGothic" panose="020B0600070205080204" charset="-128"/>
              </a:rPr>
              <a:t>Xu</a:t>
            </a:r>
            <a:endParaRPr lang="en-US" b="0" kern="0" dirty="0">
              <a:latin typeface="Helvetica" charset="0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307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990600"/>
            <a:ext cx="7848600" cy="2895600"/>
          </a:xfrm>
        </p:spPr>
        <p:txBody>
          <a:bodyPr>
            <a:normAutofit/>
          </a:bodyPr>
          <a:lstStyle/>
          <a:p>
            <a:br>
              <a:rPr lang="en-US" altLang="zh-CN" sz="3000" dirty="0">
                <a:latin typeface="Helvetica" charset="0"/>
                <a:ea typeface="MS PGothic" panose="020B0600070205080204" charset="-128"/>
                <a:cs typeface="MS PGothic" panose="020B0600070205080204" charset="-128"/>
              </a:rPr>
            </a:br>
            <a:r>
              <a:rPr lang="en-US" altLang="zh-CN" sz="3000" dirty="0">
                <a:latin typeface="Helvetica" charset="0"/>
                <a:ea typeface="MS PGothic" panose="020B0600070205080204" charset="-128"/>
                <a:cs typeface="MS PGothic" panose="020B0600070205080204" charset="-128"/>
              </a:rPr>
              <a:t>Introduction</a:t>
            </a:r>
            <a:r>
              <a:rPr lang="zh-CN" altLang="en-US" sz="3000" dirty="0">
                <a:latin typeface="Helvetica" charset="0"/>
                <a:ea typeface="MS PGothic" panose="020B0600070205080204" charset="-128"/>
                <a:cs typeface="MS PGothic" panose="020B0600070205080204" charset="-128"/>
              </a:rPr>
              <a:t> </a:t>
            </a:r>
            <a:r>
              <a:rPr lang="en-US" altLang="zh-CN" sz="3000" dirty="0">
                <a:latin typeface="Helvetica" charset="0"/>
                <a:ea typeface="MS PGothic" panose="020B0600070205080204" charset="-128"/>
                <a:cs typeface="MS PGothic" panose="020B0600070205080204" charset="-128"/>
              </a:rPr>
              <a:t>to</a:t>
            </a:r>
            <a:r>
              <a:rPr lang="zh-CN" altLang="en-US" sz="3000" dirty="0">
                <a:latin typeface="Helvetica" charset="0"/>
                <a:ea typeface="MS PGothic" panose="020B0600070205080204" charset="-128"/>
                <a:cs typeface="MS PGothic" panose="020B0600070205080204" charset="-128"/>
              </a:rPr>
              <a:t> </a:t>
            </a:r>
            <a:r>
              <a:rPr lang="en-US" altLang="zh-CN" sz="3000" dirty="0">
                <a:latin typeface="Helvetica" charset="0"/>
                <a:ea typeface="MS PGothic" panose="020B0600070205080204" charset="-128"/>
                <a:cs typeface="MS PGothic" panose="020B0600070205080204" charset="-128"/>
              </a:rPr>
              <a:t>Computer Systems </a:t>
            </a:r>
            <a:br>
              <a:rPr lang="en-US" altLang="zh-CN" sz="3000" dirty="0">
                <a:latin typeface="Helvetica" charset="0"/>
              </a:rPr>
            </a:br>
            <a:br>
              <a:rPr lang="en-US" altLang="zh-CN" sz="3000" dirty="0">
                <a:latin typeface="Helvetica" charset="0"/>
              </a:rPr>
            </a:br>
            <a:r>
              <a:rPr lang="en-US" altLang="zh-CN" sz="3000">
                <a:latin typeface="Helvetica" charset="0"/>
              </a:rPr>
              <a:t>Lecture 11</a:t>
            </a:r>
            <a:br>
              <a:rPr lang="en-US" altLang="zh-CN" sz="3000" dirty="0">
                <a:latin typeface="Helvetica" charset="0"/>
              </a:rPr>
            </a:br>
            <a:br>
              <a:rPr lang="en-US" altLang="zh-CN" sz="3000" dirty="0">
                <a:latin typeface="Helvetica" charset="0"/>
              </a:rPr>
            </a:br>
            <a:r>
              <a:rPr lang="en-US" altLang="zh-CN" sz="3000" dirty="0">
                <a:latin typeface="Helvetica" charset="0"/>
              </a:rPr>
              <a:t>Networking</a:t>
            </a:r>
            <a:endParaRPr lang="en-US" altLang="zh-CN" sz="3000" dirty="0">
              <a:latin typeface="Helvetica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7086600" y="6356352"/>
            <a:ext cx="2057400" cy="365125"/>
          </a:xfrm>
          <a:prstGeom prst="rect">
            <a:avLst/>
          </a:prstGeom>
        </p:spPr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(Takes</a:t>
            </a:r>
            <a:r>
              <a:rPr lang="zh-CN" altLang="en-US" dirty="0">
                <a:latin typeface="Helvetica" charset="0"/>
                <a:ea typeface="Gulim" panose="020B0600000101010101" pitchFamily="34" charset="-127"/>
              </a:rPr>
              <a:t> </a:t>
            </a:r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about</a:t>
            </a:r>
            <a:r>
              <a:rPr lang="zh-CN" altLang="en-US" dirty="0">
                <a:latin typeface="Helvetica" charset="0"/>
                <a:ea typeface="Gulim" panose="020B0600000101010101" pitchFamily="34" charset="-127"/>
              </a:rPr>
              <a:t> </a:t>
            </a:r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1.5</a:t>
            </a:r>
            <a:r>
              <a:rPr lang="zh-CN" altLang="en-US" dirty="0">
                <a:latin typeface="Helvetica" charset="0"/>
                <a:ea typeface="Gulim" panose="020B0600000101010101" pitchFamily="34" charset="-127"/>
              </a:rPr>
              <a:t> </a:t>
            </a:r>
            <a:r>
              <a:rPr lang="en-US" altLang="zh-CN">
                <a:latin typeface="Helvetica" charset="0"/>
                <a:ea typeface="Gulim" panose="020B0600000101010101" pitchFamily="34" charset="-127"/>
              </a:rPr>
              <a:t>lectures)</a:t>
            </a:r>
            <a:endParaRPr lang="en-US" altLang="zh-CN" dirty="0">
              <a:latin typeface="Helvetica" charset="0"/>
              <a:ea typeface="Gulim" panose="020B0600000101010101" pitchFamily="34" charset="-127"/>
            </a:endParaRPr>
          </a:p>
          <a:p>
            <a:endParaRPr lang="en-US" altLang="zh-CN" dirty="0">
              <a:latin typeface="Helvetica" charset="0"/>
              <a:ea typeface="Gulim" panose="020B0600000101010101" pitchFamily="34" charset="-127"/>
            </a:endParaRPr>
          </a:p>
          <a:p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Key</a:t>
            </a:r>
            <a:r>
              <a:rPr lang="zh-CN" altLang="en-US" dirty="0">
                <a:latin typeface="Helvetica" charset="0"/>
                <a:ea typeface="Gulim" panose="020B0600000101010101" pitchFamily="34" charset="-127"/>
              </a:rPr>
              <a:t> </a:t>
            </a:r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ideas</a:t>
            </a:r>
            <a:r>
              <a:rPr lang="zh-CN" altLang="en-US" dirty="0">
                <a:latin typeface="Helvetica" charset="0"/>
                <a:ea typeface="Gulim" panose="020B0600000101010101" pitchFamily="34" charset="-127"/>
              </a:rPr>
              <a:t> </a:t>
            </a:r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in</a:t>
            </a:r>
            <a:r>
              <a:rPr lang="zh-CN" altLang="en-US" dirty="0">
                <a:latin typeface="Helvetica" charset="0"/>
                <a:ea typeface="Gulim" panose="020B0600000101010101" pitchFamily="34" charset="-127"/>
              </a:rPr>
              <a:t> </a:t>
            </a:r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computer</a:t>
            </a:r>
            <a:r>
              <a:rPr lang="zh-CN" altLang="en-US" dirty="0">
                <a:latin typeface="Helvetica" charset="0"/>
                <a:ea typeface="Gulim" panose="020B0600000101010101" pitchFamily="34" charset="-127"/>
              </a:rPr>
              <a:t> </a:t>
            </a:r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networking</a:t>
            </a:r>
            <a:endParaRPr lang="en-US" altLang="ko-KR" dirty="0">
              <a:latin typeface="Helvetica" charset="0"/>
              <a:ea typeface="Gulim" panose="020B0600000101010101" pitchFamily="34" charset="-127"/>
            </a:endParaRPr>
          </a:p>
          <a:p>
            <a:pPr lvl="1"/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Efficiently</a:t>
            </a:r>
            <a:r>
              <a:rPr lang="zh-CN" altLang="en-US" dirty="0">
                <a:latin typeface="Helvetica" charset="0"/>
                <a:ea typeface="Gulim" panose="020B0600000101010101" pitchFamily="34" charset="-127"/>
              </a:rPr>
              <a:t> </a:t>
            </a:r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utilizing</a:t>
            </a:r>
            <a:r>
              <a:rPr lang="zh-CN" altLang="en-US" dirty="0">
                <a:latin typeface="Helvetica" charset="0"/>
                <a:ea typeface="Gulim" panose="020B0600000101010101" pitchFamily="34" charset="-127"/>
              </a:rPr>
              <a:t> </a:t>
            </a:r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the</a:t>
            </a:r>
            <a:r>
              <a:rPr lang="zh-CN" altLang="en-US" dirty="0">
                <a:latin typeface="Helvetica" charset="0"/>
                <a:ea typeface="Gulim" panose="020B0600000101010101" pitchFamily="34" charset="-127"/>
              </a:rPr>
              <a:t> </a:t>
            </a:r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wires:</a:t>
            </a:r>
            <a:r>
              <a:rPr lang="zh-CN" altLang="en-US" dirty="0">
                <a:latin typeface="Helvetica" charset="0"/>
                <a:ea typeface="Gulim" panose="020B0600000101010101" pitchFamily="34" charset="-127"/>
              </a:rPr>
              <a:t> </a:t>
            </a:r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Multiplexing</a:t>
            </a:r>
            <a:endParaRPr lang="en-US" altLang="zh-CN" dirty="0">
              <a:latin typeface="Helvetica" charset="0"/>
              <a:ea typeface="Gulim" panose="020B0600000101010101" pitchFamily="34" charset="-127"/>
            </a:endParaRPr>
          </a:p>
          <a:p>
            <a:pPr lvl="1"/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Finding</a:t>
            </a:r>
            <a:r>
              <a:rPr lang="zh-CN" altLang="en-US" dirty="0">
                <a:latin typeface="Helvetica" charset="0"/>
                <a:ea typeface="Gulim" panose="020B0600000101010101" pitchFamily="34" charset="-127"/>
              </a:rPr>
              <a:t> </a:t>
            </a:r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the</a:t>
            </a:r>
            <a:r>
              <a:rPr lang="zh-CN" altLang="en-US" dirty="0">
                <a:latin typeface="Helvetica" charset="0"/>
                <a:ea typeface="Gulim" panose="020B0600000101010101" pitchFamily="34" charset="-127"/>
              </a:rPr>
              <a:t> </a:t>
            </a:r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destinations:</a:t>
            </a:r>
            <a:r>
              <a:rPr lang="zh-CN" altLang="en-US" dirty="0">
                <a:latin typeface="Helvetica" charset="0"/>
                <a:ea typeface="Gulim" panose="020B0600000101010101" pitchFamily="34" charset="-127"/>
              </a:rPr>
              <a:t> </a:t>
            </a:r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Addressing</a:t>
            </a:r>
            <a:endParaRPr lang="en-US" altLang="zh-CN" dirty="0">
              <a:latin typeface="Helvetica" charset="0"/>
              <a:ea typeface="Gulim" panose="020B0600000101010101" pitchFamily="34" charset="-127"/>
            </a:endParaRPr>
          </a:p>
          <a:p>
            <a:pPr lvl="1"/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Getting</a:t>
            </a:r>
            <a:r>
              <a:rPr lang="zh-CN" altLang="en-US" dirty="0">
                <a:latin typeface="Helvetica" charset="0"/>
                <a:ea typeface="Gulim" panose="020B0600000101010101" pitchFamily="34" charset="-127"/>
              </a:rPr>
              <a:t> </a:t>
            </a:r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data</a:t>
            </a:r>
            <a:r>
              <a:rPr lang="zh-CN" altLang="en-US" dirty="0">
                <a:latin typeface="Helvetica" charset="0"/>
                <a:ea typeface="Gulim" panose="020B0600000101010101" pitchFamily="34" charset="-127"/>
              </a:rPr>
              <a:t> </a:t>
            </a:r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through:</a:t>
            </a:r>
            <a:r>
              <a:rPr lang="zh-CN" altLang="en-US" dirty="0">
                <a:latin typeface="Helvetica" charset="0"/>
                <a:ea typeface="Gulim" panose="020B0600000101010101" pitchFamily="34" charset="-127"/>
              </a:rPr>
              <a:t> </a:t>
            </a:r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Reliability</a:t>
            </a:r>
            <a:r>
              <a:rPr lang="zh-CN" altLang="en-US" dirty="0">
                <a:latin typeface="Helvetica" charset="0"/>
                <a:ea typeface="Gulim" panose="020B0600000101010101" pitchFamily="34" charset="-127"/>
              </a:rPr>
              <a:t> </a:t>
            </a:r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and</a:t>
            </a:r>
            <a:r>
              <a:rPr lang="zh-CN" altLang="en-US" dirty="0">
                <a:latin typeface="Helvetica" charset="0"/>
                <a:ea typeface="Gulim" panose="020B0600000101010101" pitchFamily="34" charset="-127"/>
              </a:rPr>
              <a:t> </a:t>
            </a:r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Flow</a:t>
            </a:r>
            <a:r>
              <a:rPr lang="zh-CN" altLang="en-US" dirty="0">
                <a:latin typeface="Helvetica" charset="0"/>
                <a:ea typeface="Gulim" panose="020B0600000101010101" pitchFamily="34" charset="-127"/>
              </a:rPr>
              <a:t> </a:t>
            </a:r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control</a:t>
            </a:r>
            <a:endParaRPr lang="en-US" altLang="zh-CN" dirty="0">
              <a:latin typeface="Helvetica" charset="0"/>
              <a:ea typeface="Gulim" panose="020B0600000101010101" pitchFamily="34" charset="-127"/>
            </a:endParaRPr>
          </a:p>
          <a:p>
            <a:pPr lvl="1"/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Adapting</a:t>
            </a:r>
            <a:r>
              <a:rPr lang="zh-CN" altLang="en-US" dirty="0">
                <a:latin typeface="Helvetica" charset="0"/>
                <a:ea typeface="Gulim" panose="020B0600000101010101" pitchFamily="34" charset="-127"/>
              </a:rPr>
              <a:t> </a:t>
            </a:r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to</a:t>
            </a:r>
            <a:r>
              <a:rPr lang="zh-CN" altLang="en-US" dirty="0">
                <a:latin typeface="Helvetica" charset="0"/>
                <a:ea typeface="Gulim" panose="020B0600000101010101" pitchFamily="34" charset="-127"/>
              </a:rPr>
              <a:t> </a:t>
            </a:r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different</a:t>
            </a:r>
            <a:r>
              <a:rPr lang="zh-CN" altLang="en-US" dirty="0">
                <a:latin typeface="Helvetica" charset="0"/>
                <a:ea typeface="Gulim" panose="020B0600000101010101" pitchFamily="34" charset="-127"/>
              </a:rPr>
              <a:t> </a:t>
            </a:r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applications:</a:t>
            </a:r>
            <a:r>
              <a:rPr lang="zh-CN" altLang="en-US" dirty="0">
                <a:latin typeface="Helvetica" charset="0"/>
                <a:ea typeface="Gulim" panose="020B0600000101010101" pitchFamily="34" charset="-127"/>
              </a:rPr>
              <a:t> </a:t>
            </a:r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Layering</a:t>
            </a:r>
            <a:endParaRPr lang="en-US" altLang="ko-KR" dirty="0">
              <a:latin typeface="Helvetica" charset="0"/>
              <a:ea typeface="Gulim" panose="020B0600000101010101" pitchFamily="34" charset="-127"/>
            </a:endParaRPr>
          </a:p>
          <a:p>
            <a:endParaRPr lang="en-US" altLang="ko-KR" dirty="0">
              <a:latin typeface="Helvetica" charset="0"/>
              <a:ea typeface="Gulim" panose="020B0600000101010101" pitchFamily="34" charset="-127"/>
            </a:endParaRPr>
          </a:p>
          <a:p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Interface</a:t>
            </a:r>
            <a:r>
              <a:rPr lang="zh-CN" altLang="en-US" dirty="0">
                <a:latin typeface="Helvetica" charset="0"/>
                <a:ea typeface="Gulim" panose="020B0600000101010101" pitchFamily="34" charset="-127"/>
              </a:rPr>
              <a:t> </a:t>
            </a:r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to</a:t>
            </a:r>
            <a:r>
              <a:rPr lang="zh-CN" altLang="en-US" dirty="0">
                <a:latin typeface="Helvetica" charset="0"/>
                <a:ea typeface="Gulim" panose="020B0600000101010101" pitchFamily="34" charset="-127"/>
              </a:rPr>
              <a:t> </a:t>
            </a:r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networking</a:t>
            </a:r>
            <a:r>
              <a:rPr lang="zh-CN" altLang="en-US" dirty="0">
                <a:latin typeface="Helvetica" charset="0"/>
                <a:ea typeface="Gulim" panose="020B0600000101010101" pitchFamily="34" charset="-127"/>
              </a:rPr>
              <a:t> </a:t>
            </a:r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from</a:t>
            </a:r>
            <a:r>
              <a:rPr lang="zh-CN" altLang="en-US" dirty="0">
                <a:latin typeface="Helvetica" charset="0"/>
                <a:ea typeface="Gulim" panose="020B0600000101010101" pitchFamily="34" charset="-127"/>
              </a:rPr>
              <a:t> </a:t>
            </a:r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software:</a:t>
            </a:r>
            <a:r>
              <a:rPr lang="zh-CN" altLang="en-US" dirty="0">
                <a:latin typeface="Helvetica" charset="0"/>
                <a:ea typeface="Gulim" panose="020B0600000101010101" pitchFamily="34" charset="-127"/>
              </a:rPr>
              <a:t> </a:t>
            </a:r>
            <a:r>
              <a:rPr lang="en-US" altLang="ko-KR" dirty="0">
                <a:latin typeface="Helvetica" charset="0"/>
                <a:ea typeface="Gulim" panose="020B0600000101010101" pitchFamily="34" charset="-127"/>
              </a:rPr>
              <a:t>Remote </a:t>
            </a:r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p</a:t>
            </a:r>
            <a:r>
              <a:rPr lang="en-US" altLang="ko-KR" dirty="0">
                <a:latin typeface="Helvetica" charset="0"/>
                <a:ea typeface="Gulim" panose="020B0600000101010101" pitchFamily="34" charset="-127"/>
              </a:rPr>
              <a:t>rocedure </a:t>
            </a:r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c</a:t>
            </a:r>
            <a:r>
              <a:rPr lang="en-US" altLang="ko-KR" dirty="0">
                <a:latin typeface="Helvetica" charset="0"/>
                <a:ea typeface="Gulim" panose="020B0600000101010101" pitchFamily="34" charset="-127"/>
              </a:rPr>
              <a:t>all</a:t>
            </a:r>
            <a:r>
              <a:rPr lang="en-US" altLang="zh-CN" dirty="0">
                <a:latin typeface="Helvetica" charset="0"/>
                <a:ea typeface="Gulim" panose="020B0600000101010101" pitchFamily="34" charset="-127"/>
              </a:rPr>
              <a:t>s</a:t>
            </a:r>
            <a:endParaRPr lang="en-US" altLang="ko-KR" dirty="0">
              <a:latin typeface="Helvetica" charset="0"/>
              <a:ea typeface="Gulim" panose="020B0600000101010101" pitchFamily="34" charset="-127"/>
            </a:endParaRPr>
          </a:p>
          <a:p>
            <a:endParaRPr lang="en-US" altLang="ko-KR" dirty="0">
              <a:latin typeface="Helvetica" charset="0"/>
              <a:ea typeface="Gulim" panose="020B0600000101010101" pitchFamily="34" charset="-127"/>
            </a:endParaRPr>
          </a:p>
          <a:p>
            <a:endParaRPr lang="en-US" altLang="ko-KR" dirty="0">
              <a:latin typeface="Helvetica" charset="0"/>
              <a:ea typeface="Gulim" panose="020B0600000101010101" pitchFamily="34" charset="-127"/>
            </a:endParaRP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Gulim" panose="020B0600000101010101" pitchFamily="34" charset="-127"/>
              </a:rPr>
              <a:t>Goals for Today</a:t>
            </a:r>
            <a:endParaRPr lang="en-US" altLang="ko-KR">
              <a:latin typeface="Helvetica" charset="0"/>
              <a:ea typeface="Gulim" panose="020B0600000101010101" pitchFamily="34" charset="-127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914400"/>
            <a:ext cx="3200400" cy="5105400"/>
          </a:xfrm>
        </p:spPr>
        <p:txBody>
          <a:bodyPr/>
          <a:lstStyle/>
          <a:p>
            <a:pPr eaLnBrk="1" hangingPunct="1"/>
            <a:endParaRPr lang="en-US" dirty="0">
              <a:latin typeface="Helvetica" charset="0"/>
              <a:ea typeface="MS PGothic" panose="020B0600070205080204" charset="-128"/>
            </a:endParaRPr>
          </a:p>
          <a:p>
            <a:pPr eaLnBrk="1" hangingPunct="1"/>
            <a:r>
              <a:rPr lang="en-US" altLang="zh-CN" dirty="0">
                <a:latin typeface="Helvetica" charset="0"/>
                <a:ea typeface="MS PGothic" panose="020B0600070205080204" charset="-128"/>
              </a:rPr>
              <a:t>Why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buy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a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computer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/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phone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…</a:t>
            </a:r>
            <a:endParaRPr lang="en-US" altLang="zh-CN" dirty="0">
              <a:latin typeface="Helvetica" charset="0"/>
              <a:ea typeface="MS PGothic" panose="020B0600070205080204" charset="-128"/>
            </a:endParaRPr>
          </a:p>
          <a:p>
            <a:pPr lvl="1" eaLnBrk="1" hangingPunct="1"/>
            <a:r>
              <a:rPr lang="en-US" altLang="zh-CN" dirty="0">
                <a:latin typeface="Helvetica" charset="0"/>
                <a:ea typeface="MS PGothic" panose="020B0600070205080204" charset="-128"/>
              </a:rPr>
              <a:t>Before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you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purchase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…</a:t>
            </a:r>
            <a:endParaRPr lang="en-US" altLang="zh-CN" dirty="0">
              <a:latin typeface="Helvetica" charset="0"/>
              <a:ea typeface="MS PGothic" panose="020B0600070205080204" charset="-128"/>
            </a:endParaRPr>
          </a:p>
          <a:p>
            <a:pPr lvl="1" eaLnBrk="1" hangingPunct="1"/>
            <a:r>
              <a:rPr lang="en-US" altLang="zh-CN" dirty="0">
                <a:latin typeface="Helvetica" charset="0"/>
                <a:ea typeface="MS PGothic" panose="020B0600070205080204" charset="-128"/>
              </a:rPr>
              <a:t>After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you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purchase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…</a:t>
            </a:r>
            <a:endParaRPr lang="en-US" altLang="zh-CN" dirty="0">
              <a:latin typeface="Helvetica" charset="0"/>
              <a:ea typeface="MS PGothic" panose="020B0600070205080204" charset="-128"/>
            </a:endParaRPr>
          </a:p>
          <a:p>
            <a:endParaRPr lang="en-US" dirty="0">
              <a:latin typeface="Helvetica" charset="0"/>
              <a:ea typeface="MS PGothic" panose="020B0600070205080204" charset="-128"/>
            </a:endParaRPr>
          </a:p>
          <a:p>
            <a:r>
              <a:rPr lang="en-US" altLang="zh-CN" dirty="0">
                <a:latin typeface="Helvetica" charset="0"/>
                <a:ea typeface="MS PGothic" panose="020B0600070205080204" charset="-128"/>
              </a:rPr>
              <a:t>When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AI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agents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failed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to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work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…</a:t>
            </a:r>
            <a:endParaRPr lang="en-US" altLang="zh-CN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altLang="zh-CN" dirty="0">
                <a:latin typeface="Helvetica" charset="0"/>
                <a:ea typeface="MS PGothic" panose="020B0600070205080204" charset="-128"/>
              </a:rPr>
              <a:t>Get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get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messy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endParaRPr lang="en-US" altLang="zh-CN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pPr eaLnBrk="1" hangingPunct="1"/>
            <a:r>
              <a:rPr lang="en-US" dirty="0">
                <a:latin typeface="Helvetica" charset="0"/>
                <a:ea typeface="MS PGothic" panose="020B0600070205080204" charset="-128"/>
              </a:rPr>
              <a:t>Wh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y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networking?</a:t>
            </a:r>
            <a:endParaRPr lang="en-US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4" name="圆角矩形 3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  <p:pic>
        <p:nvPicPr>
          <p:cNvPr id="1026" name="Picture 2" descr="Every time I see this picture I cannot stop thinking about how fragile our  “modern digital infrastructure” really is. | Daniele Salvatore Albano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800" y="712865"/>
            <a:ext cx="4800600" cy="6090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Every time I see this picture I cannot stop thinking about how fragile our  “modern digital infrastructure” really is. | Daniele Salvatore Albano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1200" y="865265"/>
            <a:ext cx="4800600" cy="6090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458200" cy="5791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b="1" dirty="0">
                <a:latin typeface="Helvetica" charset="0"/>
                <a:ea typeface="MS PGothic" panose="020B0600070205080204" charset="-128"/>
              </a:rPr>
              <a:t>Delivery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: deliver packets between to any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two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 host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s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 in the Internet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without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a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large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number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of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physical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wires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r>
              <a:rPr lang="en-US" dirty="0">
                <a:latin typeface="Helvetica" charset="0"/>
                <a:ea typeface="MS PGothic" panose="020B0600070205080204" charset="-128"/>
              </a:rPr>
              <a:t>E.g., deliver a packet from a host in Beijing to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a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host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in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LA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?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>
              <a:lnSpc>
                <a:spcPct val="100000"/>
              </a:lnSpc>
            </a:pPr>
            <a:r>
              <a:rPr lang="en-US" b="1" dirty="0">
                <a:latin typeface="Helvetica" charset="0"/>
                <a:ea typeface="MS PGothic" panose="020B0600070205080204" charset="-128"/>
              </a:rPr>
              <a:t>Reliability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: tolerate packet losses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r>
              <a:rPr lang="en-US" dirty="0">
                <a:latin typeface="Helvetica" charset="0"/>
                <a:ea typeface="MS PGothic" panose="020B0600070205080204" charset="-128"/>
              </a:rPr>
              <a:t>E.g., how do you ensure all bits of a file are delivered in the presence of packet loses?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>
              <a:lnSpc>
                <a:spcPct val="100000"/>
              </a:lnSpc>
            </a:pPr>
            <a:r>
              <a:rPr lang="en-US" b="1" dirty="0">
                <a:latin typeface="Helvetica" charset="0"/>
                <a:ea typeface="MS PGothic" panose="020B0600070205080204" charset="-128"/>
              </a:rPr>
              <a:t>Flow control</a:t>
            </a:r>
            <a:r>
              <a:rPr lang="zh-CN" altLang="en-US" b="1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b="1" dirty="0">
                <a:latin typeface="Helvetica" charset="0"/>
                <a:ea typeface="MS PGothic" panose="020B0600070205080204" charset="-128"/>
              </a:rPr>
              <a:t>and</a:t>
            </a:r>
            <a:r>
              <a:rPr lang="zh-CN" altLang="en-US" b="1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b="1" dirty="0">
                <a:latin typeface="Helvetica" charset="0"/>
                <a:ea typeface="MS PGothic" panose="020B0600070205080204" charset="-128"/>
              </a:rPr>
              <a:t>congestion</a:t>
            </a:r>
            <a:r>
              <a:rPr lang="zh-CN" altLang="en-US" b="1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b="1" dirty="0">
                <a:latin typeface="Helvetica" charset="0"/>
                <a:ea typeface="MS PGothic" panose="020B0600070205080204" charset="-128"/>
              </a:rPr>
              <a:t>control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: avoid overflowing the receiver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+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avoid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overflowing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the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routers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r>
              <a:rPr lang="en-US" dirty="0">
                <a:latin typeface="Helvetica" charset="0"/>
                <a:ea typeface="MS PGothic" panose="020B0600070205080204" charset="-128"/>
              </a:rPr>
              <a:t>E.g., how do you ensure that a server that can send at 10Gbps doesn’</a:t>
            </a:r>
            <a:r>
              <a:rPr lang="en-US" altLang="ja-JP" dirty="0">
                <a:latin typeface="Helvetica" charset="0"/>
                <a:ea typeface="MS PGothic" panose="020B0600070205080204" charset="-128"/>
              </a:rPr>
              <a:t>t overwhelm a LTE phone?</a:t>
            </a:r>
            <a:endParaRPr lang="en-US" altLang="ja-JP" dirty="0">
              <a:latin typeface="Helvetica" charset="0"/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Flow</a:t>
            </a:r>
            <a:r>
              <a:rPr lang="zh-CN" altLang="en-US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control</a:t>
            </a:r>
            <a:r>
              <a:rPr lang="zh-CN" altLang="en-US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is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for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your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data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transfer</a:t>
            </a:r>
            <a:endParaRPr lang="en-US" altLang="zh-CN" dirty="0">
              <a:latin typeface="Helvetica" charset="0"/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Congestion</a:t>
            </a:r>
            <a:r>
              <a:rPr lang="zh-CN" altLang="en-US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control</a:t>
            </a:r>
            <a:r>
              <a:rPr lang="zh-CN" altLang="en-US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is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for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the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general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good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of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the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entire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network</a:t>
            </a:r>
            <a:endParaRPr lang="en-US" altLang="ja-JP" dirty="0">
              <a:latin typeface="Helvetica" charset="0"/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endParaRPr lang="en-US" altLang="ja-JP" dirty="0">
              <a:latin typeface="Helvetica" charset="0"/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  <a:buFontTx/>
              <a:buNone/>
            </a:pP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endParaRPr lang="en-US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162800" cy="838200"/>
          </a:xfrm>
        </p:spPr>
        <p:txBody>
          <a:bodyPr/>
          <a:lstStyle/>
          <a:p>
            <a:r>
              <a:rPr lang="en-US" altLang="zh-CN" dirty="0">
                <a:latin typeface="Helvetica" charset="0"/>
                <a:ea typeface="MS PGothic" panose="020B0600070205080204" charset="-128"/>
              </a:rPr>
              <a:t>Basic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 Network Functionalities</a:t>
            </a:r>
            <a:endParaRPr lang="en-US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4" name="圆角矩形 3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multiplexing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3146059"/>
            <a:ext cx="7886700" cy="3138365"/>
          </a:xfrm>
        </p:spPr>
        <p:txBody>
          <a:bodyPr/>
          <a:lstStyle/>
          <a:p>
            <a:r>
              <a:rPr lang="en-US" dirty="0"/>
              <a:t>Electrical questions</a:t>
            </a:r>
            <a:endParaRPr lang="en-US" dirty="0"/>
          </a:p>
          <a:p>
            <a:pPr lvl="1"/>
            <a:r>
              <a:rPr lang="en-US" dirty="0"/>
              <a:t>Voltage, frequency, …</a:t>
            </a:r>
            <a:endParaRPr lang="en-US" dirty="0"/>
          </a:p>
          <a:p>
            <a:pPr lvl="1"/>
            <a:r>
              <a:rPr lang="en-US" dirty="0"/>
              <a:t>Wired or wireless?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Link-layer issues: How to send data?</a:t>
            </a:r>
            <a:endParaRPr lang="en-US" dirty="0"/>
          </a:p>
          <a:p>
            <a:pPr lvl="1"/>
            <a:r>
              <a:rPr lang="en-US" dirty="0"/>
              <a:t>When to talk — can either side talk at once?</a:t>
            </a:r>
            <a:endParaRPr lang="en-US" dirty="0"/>
          </a:p>
          <a:p>
            <a:pPr lvl="1"/>
            <a:r>
              <a:rPr lang="en-US" dirty="0"/>
              <a:t>What to say — low-level format?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 dirty="0"/>
              <a:t>Basic Building Block: Links</a:t>
            </a:r>
            <a:endParaRPr 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5649" y="1408084"/>
            <a:ext cx="4716336" cy="146812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125267"/>
            <a:ext cx="7886700" cy="3364706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When to send?</a:t>
            </a:r>
            <a:endParaRPr lang="en-US" dirty="0"/>
          </a:p>
          <a:p>
            <a:r>
              <a:rPr lang="en-US" dirty="0"/>
              <a:t>Who should receive?</a:t>
            </a:r>
            <a:endParaRPr lang="en-US" dirty="0"/>
          </a:p>
          <a:p>
            <a:r>
              <a:rPr lang="en-US" dirty="0"/>
              <a:t>Scalability?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 dirty="0"/>
              <a:t>What if we want more hosts?</a:t>
            </a:r>
            <a:endParaRPr lang="en-US" dirty="0"/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1710575"/>
            <a:ext cx="2800004" cy="1972730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222" y="1277747"/>
            <a:ext cx="2927654" cy="25298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926" y="1068186"/>
            <a:ext cx="7924800" cy="5105400"/>
          </a:xfrm>
        </p:spPr>
        <p:txBody>
          <a:bodyPr/>
          <a:lstStyle/>
          <a:p>
            <a:r>
              <a:rPr lang="en-US" dirty="0"/>
              <a:t>Need to share network resources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altLang="zh-CN" dirty="0"/>
              <a:t>Multiplexing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analogous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“time</a:t>
            </a:r>
            <a:r>
              <a:rPr lang="zh-CN" altLang="en-US" dirty="0"/>
              <a:t> </a:t>
            </a:r>
            <a:r>
              <a:rPr lang="en-US" altLang="zh-CN" dirty="0"/>
              <a:t>sharing”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OS</a:t>
            </a:r>
            <a:endParaRPr lang="en-US" altLang="zh-CN" dirty="0"/>
          </a:p>
          <a:p>
            <a:pPr lvl="1"/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share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time,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may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things</a:t>
            </a:r>
            <a:endParaRPr lang="en-US" dirty="0"/>
          </a:p>
          <a:p>
            <a:r>
              <a:rPr lang="en-US"/>
              <a:t>How</a:t>
            </a:r>
            <a:r>
              <a:rPr lang="en-US" dirty="0"/>
              <a:t>? Switched network</a:t>
            </a:r>
            <a:endParaRPr lang="en-US" dirty="0"/>
          </a:p>
          <a:p>
            <a:pPr lvl="1"/>
            <a:r>
              <a:rPr lang="en-US" dirty="0"/>
              <a:t>Party “A” gets resources sometimes</a:t>
            </a:r>
            <a:endParaRPr lang="en-US" dirty="0"/>
          </a:p>
          <a:p>
            <a:pPr lvl="1"/>
            <a:r>
              <a:rPr lang="en-US" dirty="0"/>
              <a:t>Party “B” gets them sometimes</a:t>
            </a:r>
            <a:endParaRPr lang="en-US" dirty="0"/>
          </a:p>
          <a:p>
            <a:r>
              <a:rPr lang="en-US" dirty="0"/>
              <a:t>Interior nodes act as “</a:t>
            </a:r>
            <a:r>
              <a:rPr lang="en-US"/>
              <a:t>Switches”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 dirty="0"/>
              <a:t>Multiplexing</a:t>
            </a:r>
            <a:endParaRPr lang="en-US" dirty="0"/>
          </a:p>
        </p:txBody>
      </p:sp>
      <p:grpSp>
        <p:nvGrpSpPr>
          <p:cNvPr id="25" name="Group 24"/>
          <p:cNvGrpSpPr/>
          <p:nvPr/>
        </p:nvGrpSpPr>
        <p:grpSpPr>
          <a:xfrm>
            <a:off x="2762910" y="1651268"/>
            <a:ext cx="3104490" cy="1549133"/>
            <a:chOff x="2470150" y="2363788"/>
            <a:chExt cx="3538538" cy="1265237"/>
          </a:xfrm>
        </p:grpSpPr>
        <p:sp>
          <p:nvSpPr>
            <p:cNvPr id="4" name="Line 17"/>
            <p:cNvSpPr>
              <a:spLocks noChangeShapeType="1"/>
            </p:cNvSpPr>
            <p:nvPr/>
          </p:nvSpPr>
          <p:spPr bwMode="auto">
            <a:xfrm flipH="1">
              <a:off x="5002213" y="2954338"/>
              <a:ext cx="5318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 anchor="ctr"/>
            <a:lstStyle/>
            <a:p>
              <a:endParaRPr lang="en-US"/>
            </a:p>
          </p:txBody>
        </p:sp>
        <p:sp>
          <p:nvSpPr>
            <p:cNvPr id="5" name="Line 25"/>
            <p:cNvSpPr>
              <a:spLocks noChangeShapeType="1"/>
            </p:cNvSpPr>
            <p:nvPr/>
          </p:nvSpPr>
          <p:spPr bwMode="auto">
            <a:xfrm>
              <a:off x="3181350" y="2711450"/>
              <a:ext cx="306388" cy="2270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 anchor="ctr"/>
            <a:lstStyle/>
            <a:p>
              <a:endParaRPr lang="en-US"/>
            </a:p>
          </p:txBody>
        </p:sp>
        <p:sp>
          <p:nvSpPr>
            <p:cNvPr id="6" name="Line 26"/>
            <p:cNvSpPr>
              <a:spLocks noChangeShapeType="1"/>
            </p:cNvSpPr>
            <p:nvPr/>
          </p:nvSpPr>
          <p:spPr bwMode="auto">
            <a:xfrm flipH="1">
              <a:off x="3135313" y="2952750"/>
              <a:ext cx="449262" cy="4762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 anchor="ctr"/>
            <a:lstStyle/>
            <a:p>
              <a:endParaRPr lang="en-US"/>
            </a:p>
          </p:txBody>
        </p:sp>
        <p:sp>
          <p:nvSpPr>
            <p:cNvPr id="7" name="Line 29"/>
            <p:cNvSpPr>
              <a:spLocks noChangeShapeType="1"/>
            </p:cNvSpPr>
            <p:nvPr/>
          </p:nvSpPr>
          <p:spPr bwMode="auto">
            <a:xfrm>
              <a:off x="3584575" y="2952750"/>
              <a:ext cx="542925" cy="4714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 anchor="ctr"/>
            <a:lstStyle/>
            <a:p>
              <a:endParaRPr lang="en-US"/>
            </a:p>
          </p:txBody>
        </p:sp>
        <p:sp>
          <p:nvSpPr>
            <p:cNvPr id="8" name="Line 30"/>
            <p:cNvSpPr>
              <a:spLocks noChangeShapeType="1"/>
            </p:cNvSpPr>
            <p:nvPr/>
          </p:nvSpPr>
          <p:spPr bwMode="auto">
            <a:xfrm flipH="1">
              <a:off x="3648075" y="2944813"/>
              <a:ext cx="10572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 anchor="ctr"/>
            <a:lstStyle/>
            <a:p>
              <a:endParaRPr lang="en-US"/>
            </a:p>
          </p:txBody>
        </p:sp>
        <p:sp>
          <p:nvSpPr>
            <p:cNvPr id="9" name="Line 31"/>
            <p:cNvSpPr>
              <a:spLocks noChangeShapeType="1"/>
            </p:cNvSpPr>
            <p:nvPr/>
          </p:nvSpPr>
          <p:spPr bwMode="auto">
            <a:xfrm flipH="1">
              <a:off x="4127500" y="2955925"/>
              <a:ext cx="654050" cy="4683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 anchor="ctr"/>
            <a:lstStyle/>
            <a:p>
              <a:endParaRPr lang="en-US"/>
            </a:p>
          </p:txBody>
        </p:sp>
        <p:sp>
          <p:nvSpPr>
            <p:cNvPr id="10" name="Line 34"/>
            <p:cNvSpPr>
              <a:spLocks noChangeShapeType="1"/>
            </p:cNvSpPr>
            <p:nvPr/>
          </p:nvSpPr>
          <p:spPr bwMode="auto">
            <a:xfrm flipV="1">
              <a:off x="3543300" y="2489200"/>
              <a:ext cx="825500" cy="4079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 anchor="ctr"/>
            <a:lstStyle/>
            <a:p>
              <a:endParaRPr lang="en-US"/>
            </a:p>
          </p:txBody>
        </p:sp>
        <p:sp>
          <p:nvSpPr>
            <p:cNvPr id="11" name="Line 36"/>
            <p:cNvSpPr>
              <a:spLocks noChangeShapeType="1"/>
            </p:cNvSpPr>
            <p:nvPr/>
          </p:nvSpPr>
          <p:spPr bwMode="auto">
            <a:xfrm flipH="1">
              <a:off x="2736850" y="2997200"/>
              <a:ext cx="831850" cy="1651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 anchor="ctr"/>
            <a:lstStyle/>
            <a:p>
              <a:endParaRPr lang="en-US"/>
            </a:p>
          </p:txBody>
        </p:sp>
        <p:sp>
          <p:nvSpPr>
            <p:cNvPr id="12" name="Line 39"/>
            <p:cNvSpPr>
              <a:spLocks noChangeShapeType="1"/>
            </p:cNvSpPr>
            <p:nvPr/>
          </p:nvSpPr>
          <p:spPr bwMode="auto">
            <a:xfrm>
              <a:off x="4368800" y="2489200"/>
              <a:ext cx="360363" cy="4524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 anchor="ctr"/>
            <a:lstStyle/>
            <a:p>
              <a:endParaRPr lang="en-US"/>
            </a:p>
          </p:txBody>
        </p:sp>
        <p:sp>
          <p:nvSpPr>
            <p:cNvPr id="13" name="Rectangle 41"/>
            <p:cNvSpPr>
              <a:spLocks noChangeArrowheads="1"/>
            </p:cNvSpPr>
            <p:nvPr/>
          </p:nvSpPr>
          <p:spPr bwMode="auto">
            <a:xfrm>
              <a:off x="3268663" y="2897188"/>
              <a:ext cx="427037" cy="220662"/>
            </a:xfrm>
            <a:prstGeom prst="rect">
              <a:avLst/>
            </a:prstGeom>
            <a:solidFill>
              <a:srgbClr val="618F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58" tIns="34281" rIns="68558" bIns="34281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4" name="Oval 42"/>
            <p:cNvSpPr>
              <a:spLocks noChangeArrowheads="1"/>
            </p:cNvSpPr>
            <p:nvPr/>
          </p:nvSpPr>
          <p:spPr bwMode="auto">
            <a:xfrm>
              <a:off x="4849813" y="3333750"/>
              <a:ext cx="473075" cy="295275"/>
            </a:xfrm>
            <a:prstGeom prst="ellipse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lIns="68558" tIns="34281" rIns="68558" bIns="34281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5" name="Rectangle 43"/>
            <p:cNvSpPr>
              <a:spLocks noChangeArrowheads="1"/>
            </p:cNvSpPr>
            <p:nvPr/>
          </p:nvSpPr>
          <p:spPr bwMode="auto">
            <a:xfrm>
              <a:off x="3933825" y="3295650"/>
              <a:ext cx="427038" cy="222250"/>
            </a:xfrm>
            <a:prstGeom prst="rect">
              <a:avLst/>
            </a:prstGeom>
            <a:solidFill>
              <a:srgbClr val="618F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58" tIns="34281" rIns="68558" bIns="34281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6" name="Rectangle 51"/>
            <p:cNvSpPr>
              <a:spLocks noChangeArrowheads="1"/>
            </p:cNvSpPr>
            <p:nvPr/>
          </p:nvSpPr>
          <p:spPr bwMode="auto">
            <a:xfrm>
              <a:off x="4572000" y="2808288"/>
              <a:ext cx="427038" cy="220662"/>
            </a:xfrm>
            <a:prstGeom prst="rect">
              <a:avLst/>
            </a:prstGeom>
            <a:solidFill>
              <a:srgbClr val="618F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58" tIns="34281" rIns="68558" bIns="34281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7" name="Rectangle 53"/>
            <p:cNvSpPr>
              <a:spLocks noChangeArrowheads="1"/>
            </p:cNvSpPr>
            <p:nvPr/>
          </p:nvSpPr>
          <p:spPr bwMode="auto">
            <a:xfrm>
              <a:off x="4065588" y="2363788"/>
              <a:ext cx="428625" cy="222250"/>
            </a:xfrm>
            <a:prstGeom prst="rect">
              <a:avLst/>
            </a:prstGeom>
            <a:solidFill>
              <a:srgbClr val="618F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58" tIns="34281" rIns="68558" bIns="34281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8" name="Oval 55"/>
            <p:cNvSpPr>
              <a:spLocks noChangeArrowheads="1"/>
            </p:cNvSpPr>
            <p:nvPr/>
          </p:nvSpPr>
          <p:spPr bwMode="auto">
            <a:xfrm>
              <a:off x="5534025" y="2497138"/>
              <a:ext cx="474663" cy="295275"/>
            </a:xfrm>
            <a:prstGeom prst="ellipse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lIns="68558" tIns="34281" rIns="68558" bIns="34281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9" name="Oval 56"/>
            <p:cNvSpPr>
              <a:spLocks noChangeArrowheads="1"/>
            </p:cNvSpPr>
            <p:nvPr/>
          </p:nvSpPr>
          <p:spPr bwMode="auto">
            <a:xfrm>
              <a:off x="5534025" y="2801938"/>
              <a:ext cx="474663" cy="293687"/>
            </a:xfrm>
            <a:prstGeom prst="ellipse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lIns="68558" tIns="34281" rIns="68558" bIns="34281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0" name="Oval 57"/>
            <p:cNvSpPr>
              <a:spLocks noChangeArrowheads="1"/>
            </p:cNvSpPr>
            <p:nvPr/>
          </p:nvSpPr>
          <p:spPr bwMode="auto">
            <a:xfrm>
              <a:off x="2927350" y="3295650"/>
              <a:ext cx="474663" cy="295275"/>
            </a:xfrm>
            <a:prstGeom prst="ellipse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lIns="68558" tIns="34281" rIns="68558" bIns="34281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1" name="Oval 58"/>
            <p:cNvSpPr>
              <a:spLocks noChangeArrowheads="1"/>
            </p:cNvSpPr>
            <p:nvPr/>
          </p:nvSpPr>
          <p:spPr bwMode="auto">
            <a:xfrm>
              <a:off x="2470150" y="3001963"/>
              <a:ext cx="473075" cy="293687"/>
            </a:xfrm>
            <a:prstGeom prst="ellipse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lIns="68558" tIns="34281" rIns="68558" bIns="34281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2" name="Oval 59"/>
            <p:cNvSpPr>
              <a:spLocks noChangeArrowheads="1"/>
            </p:cNvSpPr>
            <p:nvPr/>
          </p:nvSpPr>
          <p:spPr bwMode="auto">
            <a:xfrm>
              <a:off x="2795588" y="2497138"/>
              <a:ext cx="473075" cy="295275"/>
            </a:xfrm>
            <a:prstGeom prst="ellipse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lIns="68558" tIns="34281" rIns="68558" bIns="34281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3" name="Line 76"/>
            <p:cNvSpPr>
              <a:spLocks noChangeShapeType="1"/>
            </p:cNvSpPr>
            <p:nvPr/>
          </p:nvSpPr>
          <p:spPr bwMode="auto">
            <a:xfrm flipH="1">
              <a:off x="4316413" y="3409950"/>
              <a:ext cx="533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 anchor="ctr"/>
            <a:lstStyle/>
            <a:p>
              <a:endParaRPr lang="en-US"/>
            </a:p>
          </p:txBody>
        </p:sp>
        <p:sp>
          <p:nvSpPr>
            <p:cNvPr id="24" name="Line 77"/>
            <p:cNvSpPr>
              <a:spLocks noChangeShapeType="1"/>
            </p:cNvSpPr>
            <p:nvPr/>
          </p:nvSpPr>
          <p:spPr bwMode="auto">
            <a:xfrm flipH="1">
              <a:off x="5002213" y="2649538"/>
              <a:ext cx="531812" cy="228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 dirty="0"/>
              <a:t>In the Old Days… Circuit Switching</a:t>
            </a:r>
            <a:endParaRPr 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grpSp>
        <p:nvGrpSpPr>
          <p:cNvPr id="23" name="Group 22"/>
          <p:cNvGrpSpPr/>
          <p:nvPr/>
        </p:nvGrpSpPr>
        <p:grpSpPr>
          <a:xfrm>
            <a:off x="1543050" y="2200871"/>
            <a:ext cx="6057900" cy="3314700"/>
            <a:chOff x="1305560" y="1690688"/>
            <a:chExt cx="8077200" cy="4419600"/>
          </a:xfrm>
        </p:grpSpPr>
        <p:sp>
          <p:nvSpPr>
            <p:cNvPr id="4" name="Rectangle 2"/>
            <p:cNvSpPr>
              <a:spLocks noChangeArrowheads="1"/>
            </p:cNvSpPr>
            <p:nvPr/>
          </p:nvSpPr>
          <p:spPr bwMode="auto">
            <a:xfrm>
              <a:off x="1305560" y="1690688"/>
              <a:ext cx="8077200" cy="441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  <a:effectLst>
              <a:outerShdw blurRad="63500" dist="107763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lIns="68558" tIns="34281" rIns="68558" bIns="34281" anchor="ctr"/>
            <a:lstStyle/>
            <a:p>
              <a:pPr>
                <a:defRPr/>
              </a:pPr>
              <a:endParaRPr lang="en-US">
                <a:latin typeface="Times New Roman" panose="02020603050405020304" charset="0"/>
                <a:ea typeface="+mn-ea"/>
              </a:endParaRPr>
            </a:p>
          </p:txBody>
        </p:sp>
        <p:pic>
          <p:nvPicPr>
            <p:cNvPr id="5" name="Picture 4" descr="Click To Preview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34560" y="1843088"/>
              <a:ext cx="731838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5" descr="Click To Preview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40523" y="3519488"/>
              <a:ext cx="731837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6" descr="Click To Preview"/>
            <p:cNvPicPr>
              <a:picLocks noChangeAspect="1" noChangeArrowheads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4485" y="4281488"/>
              <a:ext cx="731838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7" descr="Click To Preview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40523" y="2681288"/>
              <a:ext cx="731837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Line 8"/>
            <p:cNvSpPr>
              <a:spLocks noChangeShapeType="1"/>
            </p:cNvSpPr>
            <p:nvPr/>
          </p:nvSpPr>
          <p:spPr bwMode="auto">
            <a:xfrm>
              <a:off x="2448560" y="3138488"/>
              <a:ext cx="5638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/>
            <a:lstStyle/>
            <a:p>
              <a:endParaRPr lang="en-US"/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2448560" y="3824288"/>
              <a:ext cx="5638800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/>
            <a:lstStyle/>
            <a:p>
              <a:endParaRPr lang="en-US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2448560" y="4586288"/>
              <a:ext cx="5638800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/>
            <a:lstStyle/>
            <a:p>
              <a:endParaRPr lang="en-US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2448560" y="5348288"/>
              <a:ext cx="563880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/>
            <a:lstStyle/>
            <a:p>
              <a:endParaRPr lang="en-US"/>
            </a:p>
          </p:txBody>
        </p:sp>
        <p:pic>
          <p:nvPicPr>
            <p:cNvPr id="13" name="Picture 12" descr="Click To Preview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39760" y="3443288"/>
              <a:ext cx="731838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13" descr="Click To Preview"/>
            <p:cNvPicPr>
              <a:picLocks noChangeAspect="1" noChangeArrowheads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39760" y="2681288"/>
              <a:ext cx="731838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" name="Picture 14" descr="Click To Preview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39760" y="4967288"/>
              <a:ext cx="731838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15" descr="Click To Preview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34160" y="5043488"/>
              <a:ext cx="731838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16" descr="Click To Preview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39760" y="4205288"/>
              <a:ext cx="731838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4429760" y="2833688"/>
              <a:ext cx="1524000" cy="3048000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68558" tIns="34281" rIns="68558" bIns="34281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4734560" y="3824288"/>
              <a:ext cx="8382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/>
            <a:lstStyle/>
            <a:p>
              <a:endParaRPr lang="en-US"/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>
              <a:off x="4734560" y="4586288"/>
              <a:ext cx="8382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/>
            <a:lstStyle/>
            <a:p>
              <a:endParaRPr lang="en-US"/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>
              <a:off x="4734560" y="5348288"/>
              <a:ext cx="8382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/>
            <a:lstStyle/>
            <a:p>
              <a:endParaRPr lang="en-US"/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4734560" y="3138488"/>
              <a:ext cx="8382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/>
            <a:lstStyle/>
            <a:p>
              <a:endParaRPr lang="en-US"/>
            </a:p>
          </p:txBody>
        </p:sp>
      </p:grpSp>
      <p:pic>
        <p:nvPicPr>
          <p:cNvPr id="24" name="图片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550" y="2978350"/>
            <a:ext cx="2120900" cy="27305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Source sends information as self-contained packets that have an address</a:t>
            </a:r>
            <a:endParaRPr lang="en-US" dirty="0"/>
          </a:p>
          <a:p>
            <a:pPr lvl="1"/>
            <a:r>
              <a:rPr lang="en-US" dirty="0"/>
              <a:t>Source may have to break up single message into multiple</a:t>
            </a: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Each </a:t>
            </a:r>
            <a:r>
              <a:rPr lang="en-US">
                <a:solidFill>
                  <a:srgbClr val="FF0000"/>
                </a:solidFill>
              </a:rPr>
              <a:t>packet trav</a:t>
            </a:r>
            <a:r>
              <a:rPr lang="en-US" altLang="zh-CN" dirty="0">
                <a:solidFill>
                  <a:srgbClr val="FF0000"/>
                </a:solidFill>
              </a:rPr>
              <a:t>e</a:t>
            </a:r>
            <a:r>
              <a:rPr lang="en-US">
                <a:solidFill>
                  <a:srgbClr val="FF0000"/>
                </a:solidFill>
              </a:rPr>
              <a:t>ls </a:t>
            </a:r>
            <a:r>
              <a:rPr lang="en-US" dirty="0">
                <a:solidFill>
                  <a:srgbClr val="FF0000"/>
                </a:solidFill>
              </a:rPr>
              <a:t>independently to the destination host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solidFill>
                  <a:srgbClr val="FF0000"/>
                </a:solidFill>
              </a:rPr>
              <a:t>Switches use the address in the packet to detmerine how to forward the packets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dirty="0">
                <a:solidFill>
                  <a:srgbClr val="FF0000"/>
                </a:solidFill>
              </a:rPr>
              <a:t>ore and forward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Analogy: a letter in surface mail.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 dirty="0"/>
              <a:t>Packet Switching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70" name="Line 4"/>
          <p:cNvSpPr>
            <a:spLocks noChangeShapeType="1"/>
          </p:cNvSpPr>
          <p:nvPr/>
        </p:nvSpPr>
        <p:spPr bwMode="auto">
          <a:xfrm flipH="1">
            <a:off x="3511153" y="4854417"/>
            <a:ext cx="285750" cy="34171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71" name="Line 5"/>
          <p:cNvSpPr>
            <a:spLocks noChangeShapeType="1"/>
          </p:cNvSpPr>
          <p:nvPr/>
        </p:nvSpPr>
        <p:spPr bwMode="auto">
          <a:xfrm flipH="1">
            <a:off x="3796903" y="5367578"/>
            <a:ext cx="228600" cy="39885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72" name="Line 6"/>
          <p:cNvSpPr>
            <a:spLocks noChangeShapeType="1"/>
          </p:cNvSpPr>
          <p:nvPr/>
        </p:nvSpPr>
        <p:spPr bwMode="auto">
          <a:xfrm flipH="1">
            <a:off x="5737624" y="4968717"/>
            <a:ext cx="341709" cy="28456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73" name="Line 7"/>
          <p:cNvSpPr>
            <a:spLocks noChangeShapeType="1"/>
          </p:cNvSpPr>
          <p:nvPr/>
        </p:nvSpPr>
        <p:spPr bwMode="auto">
          <a:xfrm>
            <a:off x="6459140" y="5579509"/>
            <a:ext cx="585788" cy="10834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74" name="Line 8"/>
          <p:cNvSpPr>
            <a:spLocks noChangeShapeType="1"/>
          </p:cNvSpPr>
          <p:nvPr/>
        </p:nvSpPr>
        <p:spPr bwMode="auto">
          <a:xfrm flipV="1">
            <a:off x="6640118" y="5142550"/>
            <a:ext cx="467915" cy="13454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75" name="Line 9"/>
          <p:cNvSpPr>
            <a:spLocks noChangeShapeType="1"/>
          </p:cNvSpPr>
          <p:nvPr/>
        </p:nvSpPr>
        <p:spPr bwMode="auto">
          <a:xfrm>
            <a:off x="6581777" y="5277090"/>
            <a:ext cx="607219" cy="1190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76" name="Line 10"/>
          <p:cNvSpPr>
            <a:spLocks noChangeShapeType="1"/>
          </p:cNvSpPr>
          <p:nvPr/>
        </p:nvSpPr>
        <p:spPr bwMode="auto">
          <a:xfrm>
            <a:off x="4046934" y="5378294"/>
            <a:ext cx="407194" cy="35123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77" name="Line 11"/>
          <p:cNvSpPr>
            <a:spLocks noChangeShapeType="1"/>
          </p:cNvSpPr>
          <p:nvPr/>
        </p:nvSpPr>
        <p:spPr bwMode="auto">
          <a:xfrm flipH="1">
            <a:off x="4095749" y="5371148"/>
            <a:ext cx="79176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78" name="Line 12"/>
          <p:cNvSpPr>
            <a:spLocks noChangeShapeType="1"/>
          </p:cNvSpPr>
          <p:nvPr/>
        </p:nvSpPr>
        <p:spPr bwMode="auto">
          <a:xfrm flipH="1">
            <a:off x="4454128" y="5378294"/>
            <a:ext cx="491728" cy="35123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79" name="Line 13"/>
          <p:cNvSpPr>
            <a:spLocks noChangeShapeType="1"/>
          </p:cNvSpPr>
          <p:nvPr/>
        </p:nvSpPr>
        <p:spPr bwMode="auto">
          <a:xfrm flipV="1">
            <a:off x="4467224" y="5271137"/>
            <a:ext cx="1301354" cy="47267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80" name="Line 14"/>
          <p:cNvSpPr>
            <a:spLocks noChangeShapeType="1"/>
          </p:cNvSpPr>
          <p:nvPr/>
        </p:nvSpPr>
        <p:spPr bwMode="auto">
          <a:xfrm>
            <a:off x="5800725" y="5271135"/>
            <a:ext cx="769144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81" name="Line 15"/>
          <p:cNvSpPr>
            <a:spLocks noChangeShapeType="1"/>
          </p:cNvSpPr>
          <p:nvPr/>
        </p:nvSpPr>
        <p:spPr bwMode="auto">
          <a:xfrm>
            <a:off x="5800724" y="5277089"/>
            <a:ext cx="647700" cy="29289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82" name="Line 16"/>
          <p:cNvSpPr>
            <a:spLocks noChangeShapeType="1"/>
          </p:cNvSpPr>
          <p:nvPr/>
        </p:nvSpPr>
        <p:spPr bwMode="auto">
          <a:xfrm flipV="1">
            <a:off x="5800725" y="5265182"/>
            <a:ext cx="769144" cy="44172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83" name="Line 17"/>
          <p:cNvSpPr>
            <a:spLocks noChangeShapeType="1"/>
          </p:cNvSpPr>
          <p:nvPr/>
        </p:nvSpPr>
        <p:spPr bwMode="auto">
          <a:xfrm flipV="1">
            <a:off x="5856686" y="5567604"/>
            <a:ext cx="532209" cy="13573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84" name="Line 18"/>
          <p:cNvSpPr>
            <a:spLocks noChangeShapeType="1"/>
          </p:cNvSpPr>
          <p:nvPr/>
        </p:nvSpPr>
        <p:spPr bwMode="auto">
          <a:xfrm flipH="1">
            <a:off x="3492103" y="4897279"/>
            <a:ext cx="1101328" cy="31551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85" name="Line 19"/>
          <p:cNvSpPr>
            <a:spLocks noChangeShapeType="1"/>
          </p:cNvSpPr>
          <p:nvPr/>
        </p:nvSpPr>
        <p:spPr bwMode="auto">
          <a:xfrm>
            <a:off x="2333624" y="5058016"/>
            <a:ext cx="228600" cy="16906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86" name="Line 20"/>
          <p:cNvSpPr>
            <a:spLocks noChangeShapeType="1"/>
          </p:cNvSpPr>
          <p:nvPr/>
        </p:nvSpPr>
        <p:spPr bwMode="auto">
          <a:xfrm flipH="1">
            <a:off x="2299097" y="5237799"/>
            <a:ext cx="335756" cy="35837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87" name="Line 21"/>
          <p:cNvSpPr>
            <a:spLocks noChangeShapeType="1"/>
          </p:cNvSpPr>
          <p:nvPr/>
        </p:nvSpPr>
        <p:spPr bwMode="auto">
          <a:xfrm>
            <a:off x="5394724" y="5018723"/>
            <a:ext cx="448865" cy="24646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88" name="Line 22"/>
          <p:cNvSpPr>
            <a:spLocks noChangeShapeType="1"/>
          </p:cNvSpPr>
          <p:nvPr/>
        </p:nvSpPr>
        <p:spPr bwMode="auto">
          <a:xfrm>
            <a:off x="4493420" y="4897279"/>
            <a:ext cx="976313" cy="13930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89" name="Line 23"/>
          <p:cNvSpPr>
            <a:spLocks noChangeShapeType="1"/>
          </p:cNvSpPr>
          <p:nvPr/>
        </p:nvSpPr>
        <p:spPr bwMode="auto">
          <a:xfrm>
            <a:off x="2634853" y="5237798"/>
            <a:ext cx="408384" cy="35480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90" name="Line 24"/>
          <p:cNvSpPr>
            <a:spLocks noChangeShapeType="1"/>
          </p:cNvSpPr>
          <p:nvPr/>
        </p:nvSpPr>
        <p:spPr bwMode="auto">
          <a:xfrm flipH="1">
            <a:off x="2682478" y="5231845"/>
            <a:ext cx="79295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91" name="Line 25"/>
          <p:cNvSpPr>
            <a:spLocks noChangeShapeType="1"/>
          </p:cNvSpPr>
          <p:nvPr/>
        </p:nvSpPr>
        <p:spPr bwMode="auto">
          <a:xfrm flipH="1">
            <a:off x="3043239" y="5240181"/>
            <a:ext cx="489347" cy="3524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92" name="Line 26"/>
          <p:cNvSpPr>
            <a:spLocks noChangeShapeType="1"/>
          </p:cNvSpPr>
          <p:nvPr/>
        </p:nvSpPr>
        <p:spPr bwMode="auto">
          <a:xfrm>
            <a:off x="3532586" y="5240181"/>
            <a:ext cx="466725" cy="10834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93" name="Line 27"/>
          <p:cNvSpPr>
            <a:spLocks noChangeShapeType="1"/>
          </p:cNvSpPr>
          <p:nvPr/>
        </p:nvSpPr>
        <p:spPr bwMode="auto">
          <a:xfrm flipV="1">
            <a:off x="3055143" y="5348529"/>
            <a:ext cx="1065610" cy="25836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94" name="Line 28"/>
          <p:cNvSpPr>
            <a:spLocks noChangeShapeType="1"/>
          </p:cNvSpPr>
          <p:nvPr/>
        </p:nvSpPr>
        <p:spPr bwMode="auto">
          <a:xfrm flipV="1">
            <a:off x="2603899" y="4891326"/>
            <a:ext cx="620315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95" name="Line 29"/>
          <p:cNvSpPr>
            <a:spLocks noChangeShapeType="1"/>
          </p:cNvSpPr>
          <p:nvPr/>
        </p:nvSpPr>
        <p:spPr bwMode="auto">
          <a:xfrm flipV="1">
            <a:off x="4004071" y="4968718"/>
            <a:ext cx="547688" cy="36314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96" name="Line 30"/>
          <p:cNvSpPr>
            <a:spLocks noChangeShapeType="1"/>
          </p:cNvSpPr>
          <p:nvPr/>
        </p:nvSpPr>
        <p:spPr bwMode="auto">
          <a:xfrm flipH="1">
            <a:off x="1999059" y="5271135"/>
            <a:ext cx="623888" cy="12501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97" name="Line 31"/>
          <p:cNvSpPr>
            <a:spLocks noChangeShapeType="1"/>
          </p:cNvSpPr>
          <p:nvPr/>
        </p:nvSpPr>
        <p:spPr bwMode="auto">
          <a:xfrm>
            <a:off x="4573191" y="4944904"/>
            <a:ext cx="330994" cy="40362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98" name="Line 32"/>
          <p:cNvSpPr>
            <a:spLocks noChangeShapeType="1"/>
          </p:cNvSpPr>
          <p:nvPr/>
        </p:nvSpPr>
        <p:spPr bwMode="auto">
          <a:xfrm>
            <a:off x="4893468" y="5296140"/>
            <a:ext cx="875110" cy="43219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99" name="Line 33"/>
          <p:cNvSpPr>
            <a:spLocks noChangeShapeType="1"/>
          </p:cNvSpPr>
          <p:nvPr/>
        </p:nvSpPr>
        <p:spPr bwMode="auto">
          <a:xfrm>
            <a:off x="3224214" y="4891326"/>
            <a:ext cx="269081" cy="3381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100" name="Line 34"/>
          <p:cNvSpPr>
            <a:spLocks noChangeShapeType="1"/>
          </p:cNvSpPr>
          <p:nvPr/>
        </p:nvSpPr>
        <p:spPr bwMode="auto">
          <a:xfrm flipV="1">
            <a:off x="5020867" y="5265184"/>
            <a:ext cx="766763" cy="7500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101" name="Rectangle 35"/>
          <p:cNvSpPr>
            <a:spLocks noChangeArrowheads="1"/>
          </p:cNvSpPr>
          <p:nvPr/>
        </p:nvSpPr>
        <p:spPr bwMode="auto">
          <a:xfrm>
            <a:off x="2399109" y="5196126"/>
            <a:ext cx="319088" cy="166688"/>
          </a:xfrm>
          <a:prstGeom prst="rect">
            <a:avLst/>
          </a:prstGeom>
          <a:solidFill>
            <a:srgbClr val="618FF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58" tIns="34281" rIns="68558" bIns="34281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02" name="Oval 36"/>
          <p:cNvSpPr>
            <a:spLocks noChangeArrowheads="1"/>
          </p:cNvSpPr>
          <p:nvPr/>
        </p:nvSpPr>
        <p:spPr bwMode="auto">
          <a:xfrm>
            <a:off x="6888958" y="5596179"/>
            <a:ext cx="355997" cy="220265"/>
          </a:xfrm>
          <a:prstGeom prst="ellipse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68558" tIns="34281" rIns="68558" bIns="34281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03" name="Rectangle 37"/>
          <p:cNvSpPr>
            <a:spLocks noChangeArrowheads="1"/>
          </p:cNvSpPr>
          <p:nvPr/>
        </p:nvSpPr>
        <p:spPr bwMode="auto">
          <a:xfrm>
            <a:off x="2896793" y="5496163"/>
            <a:ext cx="321469" cy="166688"/>
          </a:xfrm>
          <a:prstGeom prst="rect">
            <a:avLst/>
          </a:prstGeom>
          <a:solidFill>
            <a:srgbClr val="618FF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58" tIns="34281" rIns="68558" bIns="34281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04" name="Rectangle 38"/>
          <p:cNvSpPr>
            <a:spLocks noChangeArrowheads="1"/>
          </p:cNvSpPr>
          <p:nvPr/>
        </p:nvSpPr>
        <p:spPr bwMode="auto">
          <a:xfrm>
            <a:off x="6390086" y="5196126"/>
            <a:ext cx="321469" cy="166688"/>
          </a:xfrm>
          <a:prstGeom prst="rect">
            <a:avLst/>
          </a:prstGeom>
          <a:solidFill>
            <a:srgbClr val="618FF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58" tIns="34281" rIns="68558" bIns="34281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05" name="Rectangle 39"/>
          <p:cNvSpPr>
            <a:spLocks noChangeArrowheads="1"/>
          </p:cNvSpPr>
          <p:nvPr/>
        </p:nvSpPr>
        <p:spPr bwMode="auto">
          <a:xfrm>
            <a:off x="5592365" y="5196126"/>
            <a:ext cx="319088" cy="166688"/>
          </a:xfrm>
          <a:prstGeom prst="rect">
            <a:avLst/>
          </a:prstGeom>
          <a:solidFill>
            <a:srgbClr val="618FF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58" tIns="34281" rIns="68558" bIns="34281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06" name="Rectangle 40"/>
          <p:cNvSpPr>
            <a:spLocks noChangeArrowheads="1"/>
          </p:cNvSpPr>
          <p:nvPr/>
        </p:nvSpPr>
        <p:spPr bwMode="auto">
          <a:xfrm>
            <a:off x="5592365" y="5596178"/>
            <a:ext cx="319088" cy="165497"/>
          </a:xfrm>
          <a:prstGeom prst="rect">
            <a:avLst/>
          </a:prstGeom>
          <a:solidFill>
            <a:srgbClr val="618FF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58" tIns="34281" rIns="68558" bIns="34281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07" name="Rectangle 41"/>
          <p:cNvSpPr>
            <a:spLocks noChangeArrowheads="1"/>
          </p:cNvSpPr>
          <p:nvPr/>
        </p:nvSpPr>
        <p:spPr bwMode="auto">
          <a:xfrm>
            <a:off x="4793457" y="5229463"/>
            <a:ext cx="320279" cy="166688"/>
          </a:xfrm>
          <a:prstGeom prst="rect">
            <a:avLst/>
          </a:prstGeom>
          <a:solidFill>
            <a:srgbClr val="618FF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58" tIns="34281" rIns="68558" bIns="34281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08" name="Rectangle 42"/>
          <p:cNvSpPr>
            <a:spLocks noChangeArrowheads="1"/>
          </p:cNvSpPr>
          <p:nvPr/>
        </p:nvSpPr>
        <p:spPr bwMode="auto">
          <a:xfrm>
            <a:off x="4393408" y="4830604"/>
            <a:ext cx="321469" cy="166688"/>
          </a:xfrm>
          <a:prstGeom prst="rect">
            <a:avLst/>
          </a:prstGeom>
          <a:solidFill>
            <a:srgbClr val="618FF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58" tIns="34281" rIns="68558" bIns="34281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09" name="Rectangle 43"/>
          <p:cNvSpPr>
            <a:spLocks noChangeArrowheads="1"/>
          </p:cNvSpPr>
          <p:nvPr/>
        </p:nvSpPr>
        <p:spPr bwMode="auto">
          <a:xfrm>
            <a:off x="4294584" y="5596178"/>
            <a:ext cx="320278" cy="165497"/>
          </a:xfrm>
          <a:prstGeom prst="rect">
            <a:avLst/>
          </a:prstGeom>
          <a:solidFill>
            <a:srgbClr val="618FF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58" tIns="34281" rIns="68558" bIns="34281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10" name="Rectangle 44"/>
          <p:cNvSpPr>
            <a:spLocks noChangeArrowheads="1"/>
          </p:cNvSpPr>
          <p:nvPr/>
        </p:nvSpPr>
        <p:spPr bwMode="auto">
          <a:xfrm>
            <a:off x="5270899" y="4930616"/>
            <a:ext cx="321469" cy="166688"/>
          </a:xfrm>
          <a:prstGeom prst="rect">
            <a:avLst/>
          </a:prstGeom>
          <a:solidFill>
            <a:srgbClr val="618FF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58" tIns="34281" rIns="68558" bIns="34281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11" name="Rectangle 45"/>
          <p:cNvSpPr>
            <a:spLocks noChangeArrowheads="1"/>
          </p:cNvSpPr>
          <p:nvPr/>
        </p:nvSpPr>
        <p:spPr bwMode="auto">
          <a:xfrm>
            <a:off x="3375422" y="5129451"/>
            <a:ext cx="320278" cy="166688"/>
          </a:xfrm>
          <a:prstGeom prst="rect">
            <a:avLst/>
          </a:prstGeom>
          <a:solidFill>
            <a:srgbClr val="618FF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58" tIns="34281" rIns="68558" bIns="34281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12" name="Rectangle 46"/>
          <p:cNvSpPr>
            <a:spLocks noChangeArrowheads="1"/>
          </p:cNvSpPr>
          <p:nvPr/>
        </p:nvSpPr>
        <p:spPr bwMode="auto">
          <a:xfrm>
            <a:off x="3874295" y="5296138"/>
            <a:ext cx="320279" cy="166688"/>
          </a:xfrm>
          <a:prstGeom prst="rect">
            <a:avLst/>
          </a:prstGeom>
          <a:solidFill>
            <a:srgbClr val="618FF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58" tIns="34281" rIns="68558" bIns="34281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13" name="Rectangle 47"/>
          <p:cNvSpPr>
            <a:spLocks noChangeArrowheads="1"/>
          </p:cNvSpPr>
          <p:nvPr/>
        </p:nvSpPr>
        <p:spPr bwMode="auto">
          <a:xfrm>
            <a:off x="2996803" y="4797266"/>
            <a:ext cx="320278" cy="166688"/>
          </a:xfrm>
          <a:prstGeom prst="rect">
            <a:avLst/>
          </a:prstGeom>
          <a:solidFill>
            <a:srgbClr val="618FF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58" tIns="34281" rIns="68558" bIns="34281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14" name="Rectangle 48"/>
          <p:cNvSpPr>
            <a:spLocks noChangeArrowheads="1"/>
          </p:cNvSpPr>
          <p:nvPr/>
        </p:nvSpPr>
        <p:spPr bwMode="auto">
          <a:xfrm>
            <a:off x="6290074" y="5496163"/>
            <a:ext cx="321469" cy="166688"/>
          </a:xfrm>
          <a:prstGeom prst="rect">
            <a:avLst/>
          </a:prstGeom>
          <a:solidFill>
            <a:srgbClr val="618FF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58" tIns="34281" rIns="68558" bIns="34281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15" name="Oval 49"/>
          <p:cNvSpPr>
            <a:spLocks noChangeArrowheads="1"/>
          </p:cNvSpPr>
          <p:nvPr/>
        </p:nvSpPr>
        <p:spPr bwMode="auto">
          <a:xfrm>
            <a:off x="6988971" y="5296139"/>
            <a:ext cx="355997" cy="221456"/>
          </a:xfrm>
          <a:prstGeom prst="ellipse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68558" tIns="34281" rIns="68558" bIns="34281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16" name="Oval 50"/>
          <p:cNvSpPr>
            <a:spLocks noChangeArrowheads="1"/>
          </p:cNvSpPr>
          <p:nvPr/>
        </p:nvSpPr>
        <p:spPr bwMode="auto">
          <a:xfrm>
            <a:off x="6988971" y="4997291"/>
            <a:ext cx="355997" cy="220266"/>
          </a:xfrm>
          <a:prstGeom prst="ellipse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68558" tIns="34281" rIns="68558" bIns="34281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17" name="Oval 51"/>
          <p:cNvSpPr>
            <a:spLocks noChangeArrowheads="1"/>
          </p:cNvSpPr>
          <p:nvPr/>
        </p:nvSpPr>
        <p:spPr bwMode="auto">
          <a:xfrm>
            <a:off x="2143125" y="5496164"/>
            <a:ext cx="354806" cy="221456"/>
          </a:xfrm>
          <a:prstGeom prst="ellipse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68558" tIns="34281" rIns="68558" bIns="34281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18" name="Oval 52"/>
          <p:cNvSpPr>
            <a:spLocks noChangeArrowheads="1"/>
          </p:cNvSpPr>
          <p:nvPr/>
        </p:nvSpPr>
        <p:spPr bwMode="auto">
          <a:xfrm>
            <a:off x="1799036" y="5275898"/>
            <a:ext cx="355997" cy="220266"/>
          </a:xfrm>
          <a:prstGeom prst="ellipse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68558" tIns="34281" rIns="68558" bIns="34281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19" name="Oval 53"/>
          <p:cNvSpPr>
            <a:spLocks noChangeArrowheads="1"/>
          </p:cNvSpPr>
          <p:nvPr/>
        </p:nvSpPr>
        <p:spPr bwMode="auto">
          <a:xfrm>
            <a:off x="2043114" y="4897279"/>
            <a:ext cx="355997" cy="220266"/>
          </a:xfrm>
          <a:prstGeom prst="ellipse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68558" tIns="34281" rIns="68558" bIns="34281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20" name="Rectangle 54"/>
          <p:cNvSpPr>
            <a:spLocks noChangeArrowheads="1"/>
          </p:cNvSpPr>
          <p:nvPr/>
        </p:nvSpPr>
        <p:spPr bwMode="auto">
          <a:xfrm>
            <a:off x="2500312" y="5222320"/>
            <a:ext cx="114300" cy="1143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58" tIns="34281" rIns="68558" bIns="34281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21" name="Rectangle 55"/>
          <p:cNvSpPr>
            <a:spLocks noChangeArrowheads="1"/>
          </p:cNvSpPr>
          <p:nvPr/>
        </p:nvSpPr>
        <p:spPr bwMode="auto">
          <a:xfrm>
            <a:off x="5694759" y="5222320"/>
            <a:ext cx="114300" cy="1143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58" tIns="34281" rIns="68558" bIns="34281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22" name="Rectangle 56"/>
          <p:cNvSpPr>
            <a:spLocks noChangeArrowheads="1"/>
          </p:cNvSpPr>
          <p:nvPr/>
        </p:nvSpPr>
        <p:spPr bwMode="auto">
          <a:xfrm>
            <a:off x="4897040" y="5253276"/>
            <a:ext cx="114300" cy="1143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58" tIns="34281" rIns="68558" bIns="34281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23" name="Rectangle 57"/>
          <p:cNvSpPr>
            <a:spLocks noChangeArrowheads="1"/>
          </p:cNvSpPr>
          <p:nvPr/>
        </p:nvSpPr>
        <p:spPr bwMode="auto">
          <a:xfrm>
            <a:off x="3977878" y="5322332"/>
            <a:ext cx="114300" cy="1143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58" tIns="34281" rIns="68558" bIns="34281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24" name="Rectangle 58"/>
          <p:cNvSpPr>
            <a:spLocks noChangeArrowheads="1"/>
          </p:cNvSpPr>
          <p:nvPr/>
        </p:nvSpPr>
        <p:spPr bwMode="auto">
          <a:xfrm>
            <a:off x="3477815" y="5155645"/>
            <a:ext cx="114300" cy="1143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58" tIns="34281" rIns="68558" bIns="34281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25" name="Rectangle 59"/>
          <p:cNvSpPr>
            <a:spLocks noChangeArrowheads="1"/>
          </p:cNvSpPr>
          <p:nvPr/>
        </p:nvSpPr>
        <p:spPr bwMode="auto">
          <a:xfrm>
            <a:off x="6493668" y="5222320"/>
            <a:ext cx="114300" cy="1143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58" tIns="34281" rIns="68558" bIns="34281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26" name="Line 60"/>
          <p:cNvSpPr>
            <a:spLocks noChangeShapeType="1"/>
          </p:cNvSpPr>
          <p:nvPr/>
        </p:nvSpPr>
        <p:spPr bwMode="auto">
          <a:xfrm>
            <a:off x="2199086" y="5025867"/>
            <a:ext cx="341709" cy="22741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127" name="Line 61"/>
          <p:cNvSpPr>
            <a:spLocks noChangeShapeType="1"/>
          </p:cNvSpPr>
          <p:nvPr/>
        </p:nvSpPr>
        <p:spPr bwMode="auto">
          <a:xfrm flipV="1">
            <a:off x="2540793" y="5196126"/>
            <a:ext cx="970360" cy="5715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128" name="Line 62"/>
          <p:cNvSpPr>
            <a:spLocks noChangeShapeType="1"/>
          </p:cNvSpPr>
          <p:nvPr/>
        </p:nvSpPr>
        <p:spPr bwMode="auto">
          <a:xfrm>
            <a:off x="3511153" y="5196126"/>
            <a:ext cx="514350" cy="17145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129" name="Line 63"/>
          <p:cNvSpPr>
            <a:spLocks noChangeShapeType="1"/>
          </p:cNvSpPr>
          <p:nvPr/>
        </p:nvSpPr>
        <p:spPr bwMode="auto">
          <a:xfrm flipV="1">
            <a:off x="4025505" y="5310426"/>
            <a:ext cx="913209" cy="5715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130" name="Line 64"/>
          <p:cNvSpPr>
            <a:spLocks noChangeShapeType="1"/>
          </p:cNvSpPr>
          <p:nvPr/>
        </p:nvSpPr>
        <p:spPr bwMode="auto">
          <a:xfrm flipV="1">
            <a:off x="4938712" y="5253276"/>
            <a:ext cx="798910" cy="5715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131" name="Line 65"/>
          <p:cNvSpPr>
            <a:spLocks noChangeShapeType="1"/>
          </p:cNvSpPr>
          <p:nvPr/>
        </p:nvSpPr>
        <p:spPr bwMode="auto">
          <a:xfrm>
            <a:off x="5737624" y="5253276"/>
            <a:ext cx="798909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132" name="Line 66"/>
          <p:cNvSpPr>
            <a:spLocks noChangeShapeType="1"/>
          </p:cNvSpPr>
          <p:nvPr/>
        </p:nvSpPr>
        <p:spPr bwMode="auto">
          <a:xfrm flipV="1">
            <a:off x="6536531" y="5083017"/>
            <a:ext cx="627460" cy="17026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58" tIns="34281" rIns="68558" bIns="34281" anchor="ctr"/>
          <a:lstStyle/>
          <a:p>
            <a:endParaRPr lang="en-US"/>
          </a:p>
        </p:txBody>
      </p:sp>
      <p:sp>
        <p:nvSpPr>
          <p:cNvPr id="133" name="Oval 67"/>
          <p:cNvSpPr>
            <a:spLocks noChangeArrowheads="1"/>
          </p:cNvSpPr>
          <p:nvPr/>
        </p:nvSpPr>
        <p:spPr bwMode="auto">
          <a:xfrm>
            <a:off x="3625455" y="4740117"/>
            <a:ext cx="355997" cy="221456"/>
          </a:xfrm>
          <a:prstGeom prst="ellipse">
            <a:avLst/>
          </a:prstGeom>
          <a:solidFill>
            <a:srgbClr val="618FF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68558" tIns="34281" rIns="68558" bIns="34281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34" name="Oval 68"/>
          <p:cNvSpPr>
            <a:spLocks noChangeArrowheads="1"/>
          </p:cNvSpPr>
          <p:nvPr/>
        </p:nvSpPr>
        <p:spPr bwMode="auto">
          <a:xfrm>
            <a:off x="3625455" y="5653329"/>
            <a:ext cx="355997" cy="220265"/>
          </a:xfrm>
          <a:prstGeom prst="ellipse">
            <a:avLst/>
          </a:prstGeom>
          <a:solidFill>
            <a:srgbClr val="618FF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68558" tIns="34281" rIns="68558" bIns="34281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35" name="Oval 69"/>
          <p:cNvSpPr>
            <a:spLocks noChangeArrowheads="1"/>
          </p:cNvSpPr>
          <p:nvPr/>
        </p:nvSpPr>
        <p:spPr bwMode="auto">
          <a:xfrm>
            <a:off x="5907883" y="4854417"/>
            <a:ext cx="355997" cy="221456"/>
          </a:xfrm>
          <a:prstGeom prst="ellipse">
            <a:avLst/>
          </a:prstGeom>
          <a:solidFill>
            <a:srgbClr val="618FF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68558" tIns="34281" rIns="68558" bIns="34281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charset="0"/>
                <a:ea typeface="MS PGothic" panose="020B0600070205080204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226471"/>
            <a:ext cx="7886700" cy="3644741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Swtiches arbitrate between inputs</a:t>
            </a:r>
            <a:endParaRPr lang="en-US" dirty="0"/>
          </a:p>
          <a:p>
            <a:r>
              <a:rPr lang="en-US" dirty="0"/>
              <a:t>Can send from any input that’s ready</a:t>
            </a:r>
            <a:endParaRPr lang="en-US" dirty="0"/>
          </a:p>
          <a:p>
            <a:pPr lvl="1"/>
            <a:r>
              <a:rPr lang="en-US" dirty="0"/>
              <a:t>Links never idle </a:t>
            </a:r>
            <a:r>
              <a:rPr lang="en-US"/>
              <a:t>when </a:t>
            </a:r>
            <a:r>
              <a:rPr lang="en-US" altLang="zh-CN" dirty="0"/>
              <a:t>there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/>
              <a:t>traffic </a:t>
            </a:r>
            <a:r>
              <a:rPr lang="en-US" dirty="0"/>
              <a:t>to send</a:t>
            </a:r>
            <a:endParaRPr lang="en-US" dirty="0"/>
          </a:p>
          <a:p>
            <a:pPr lvl="1"/>
            <a:r>
              <a:rPr lang="en-US" dirty="0"/>
              <a:t>Efficiency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58367"/>
            <a:ext cx="71628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Packet Switching — Statistical Multiplexing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grpSp>
        <p:nvGrpSpPr>
          <p:cNvPr id="45" name="Group 44"/>
          <p:cNvGrpSpPr/>
          <p:nvPr/>
        </p:nvGrpSpPr>
        <p:grpSpPr>
          <a:xfrm>
            <a:off x="1400175" y="1593003"/>
            <a:ext cx="6343650" cy="2286000"/>
            <a:chOff x="457200" y="1600200"/>
            <a:chExt cx="8458200" cy="3048000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auto">
            <a:xfrm>
              <a:off x="457200" y="1600200"/>
              <a:ext cx="8458200" cy="3048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>
              <a:outerShdw blurRad="63500" dist="107763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lIns="68558" tIns="34281" rIns="68558" bIns="34281" anchor="ctr"/>
            <a:lstStyle/>
            <a:p>
              <a:pPr>
                <a:defRPr/>
              </a:pPr>
              <a:endParaRPr lang="en-US">
                <a:latin typeface="Times New Roman" panose="02020603050405020304" charset="0"/>
                <a:ea typeface="+mn-ea"/>
              </a:endParaRPr>
            </a:p>
          </p:txBody>
        </p:sp>
        <p:sp>
          <p:nvSpPr>
            <p:cNvPr id="6" name="Oval 4"/>
            <p:cNvSpPr>
              <a:spLocks noChangeArrowheads="1"/>
            </p:cNvSpPr>
            <p:nvPr/>
          </p:nvSpPr>
          <p:spPr bwMode="auto">
            <a:xfrm>
              <a:off x="1765300" y="2647950"/>
              <a:ext cx="990600" cy="914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68558" tIns="34281" rIns="68558" bIns="34281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7" name="Oval 5"/>
            <p:cNvSpPr>
              <a:spLocks noChangeArrowheads="1"/>
            </p:cNvSpPr>
            <p:nvPr/>
          </p:nvSpPr>
          <p:spPr bwMode="auto">
            <a:xfrm>
              <a:off x="6413500" y="2647950"/>
              <a:ext cx="990600" cy="914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68558" tIns="34281" rIns="68558" bIns="34281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>
              <a:off x="2568575" y="3087688"/>
              <a:ext cx="45720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 anchor="ctr"/>
            <a:lstStyle/>
            <a:p>
              <a:endParaRPr lang="en-US"/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6364288" y="3101975"/>
              <a:ext cx="45720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 anchor="ctr"/>
            <a:lstStyle/>
            <a:p>
              <a:endParaRPr lang="en-US"/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6261100" y="2876550"/>
              <a:ext cx="76200" cy="457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bg2"/>
              </a:solidFill>
              <a:miter lim="800000"/>
            </a:ln>
          </p:spPr>
          <p:txBody>
            <a:bodyPr wrap="none" lIns="68558" tIns="34281" rIns="68558" bIns="34281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3136900" y="2876550"/>
              <a:ext cx="76200" cy="457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68558" tIns="34281" rIns="68558" bIns="34281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3517900" y="2876550"/>
              <a:ext cx="228600" cy="45720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folHlink"/>
              </a:solidFill>
              <a:miter lim="800000"/>
            </a:ln>
          </p:spPr>
          <p:txBody>
            <a:bodyPr wrap="none" lIns="68558" tIns="34281" rIns="68558" bIns="34281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3975100" y="2876550"/>
              <a:ext cx="228600" cy="45720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68558" tIns="34281" rIns="68558" bIns="34281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4432300" y="2876550"/>
              <a:ext cx="76200" cy="457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bg2"/>
              </a:solidFill>
              <a:miter lim="800000"/>
            </a:ln>
          </p:spPr>
          <p:txBody>
            <a:bodyPr wrap="none" lIns="68558" tIns="34281" rIns="68558" bIns="34281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5" name="Rectangle 13"/>
            <p:cNvSpPr>
              <a:spLocks noChangeArrowheads="1"/>
            </p:cNvSpPr>
            <p:nvPr/>
          </p:nvSpPr>
          <p:spPr bwMode="auto">
            <a:xfrm>
              <a:off x="4584700" y="2876550"/>
              <a:ext cx="762000" cy="45720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68558" tIns="34281" rIns="68558" bIns="34281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6" name="Rectangle 14"/>
            <p:cNvSpPr>
              <a:spLocks noChangeArrowheads="1"/>
            </p:cNvSpPr>
            <p:nvPr/>
          </p:nvSpPr>
          <p:spPr bwMode="auto">
            <a:xfrm>
              <a:off x="5651500" y="2876550"/>
              <a:ext cx="76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68558" tIns="34281" rIns="68558" bIns="34281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7" name="Rectangle 15"/>
            <p:cNvSpPr>
              <a:spLocks noChangeArrowheads="1"/>
            </p:cNvSpPr>
            <p:nvPr/>
          </p:nvSpPr>
          <p:spPr bwMode="auto">
            <a:xfrm>
              <a:off x="5880100" y="2876550"/>
              <a:ext cx="228600" cy="45720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68558" tIns="34281" rIns="68558" bIns="34281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8" name="Rectangle 16"/>
            <p:cNvSpPr>
              <a:spLocks noChangeArrowheads="1"/>
            </p:cNvSpPr>
            <p:nvPr/>
          </p:nvSpPr>
          <p:spPr bwMode="auto">
            <a:xfrm>
              <a:off x="4279900" y="2876550"/>
              <a:ext cx="76200" cy="457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bg2"/>
              </a:solidFill>
              <a:miter lim="800000"/>
            </a:ln>
          </p:spPr>
          <p:txBody>
            <a:bodyPr wrap="none" lIns="68558" tIns="34281" rIns="68558" bIns="34281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grpSp>
          <p:nvGrpSpPr>
            <p:cNvPr id="19" name="Group 17"/>
            <p:cNvGrpSpPr/>
            <p:nvPr/>
          </p:nvGrpSpPr>
          <p:grpSpPr bwMode="auto">
            <a:xfrm>
              <a:off x="2039938" y="2928938"/>
              <a:ext cx="504825" cy="354012"/>
              <a:chOff x="1285" y="2229"/>
              <a:chExt cx="318" cy="223"/>
            </a:xfrm>
          </p:grpSpPr>
          <p:sp>
            <p:nvSpPr>
              <p:cNvPr id="20" name="Freeform 18"/>
              <p:cNvSpPr/>
              <p:nvPr/>
            </p:nvSpPr>
            <p:spPr bwMode="auto">
              <a:xfrm>
                <a:off x="1285" y="2229"/>
                <a:ext cx="318" cy="215"/>
              </a:xfrm>
              <a:custGeom>
                <a:avLst/>
                <a:gdLst>
                  <a:gd name="T0" fmla="*/ 0 w 1012"/>
                  <a:gd name="T1" fmla="*/ 0 h 292"/>
                  <a:gd name="T2" fmla="*/ 0 w 1012"/>
                  <a:gd name="T3" fmla="*/ 0 h 292"/>
                  <a:gd name="T4" fmla="*/ 0 w 1012"/>
                  <a:gd name="T5" fmla="*/ 34 h 292"/>
                  <a:gd name="T6" fmla="*/ 0 w 1012"/>
                  <a:gd name="T7" fmla="*/ 34 h 29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2"/>
                  <a:gd name="T13" fmla="*/ 0 h 292"/>
                  <a:gd name="T14" fmla="*/ 1012 w 1012"/>
                  <a:gd name="T15" fmla="*/ 292 h 29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2" h="292">
                    <a:moveTo>
                      <a:pt x="0" y="0"/>
                    </a:moveTo>
                    <a:lnTo>
                      <a:pt x="1009" y="0"/>
                    </a:lnTo>
                    <a:lnTo>
                      <a:pt x="1012" y="292"/>
                    </a:lnTo>
                    <a:lnTo>
                      <a:pt x="18" y="291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Line 19"/>
              <p:cNvSpPr>
                <a:spLocks noChangeShapeType="1"/>
              </p:cNvSpPr>
              <p:nvPr/>
            </p:nvSpPr>
            <p:spPr bwMode="auto">
              <a:xfrm>
                <a:off x="1500" y="2238"/>
                <a:ext cx="0" cy="21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" name="Line 20"/>
              <p:cNvSpPr>
                <a:spLocks noChangeShapeType="1"/>
              </p:cNvSpPr>
              <p:nvPr/>
            </p:nvSpPr>
            <p:spPr bwMode="auto">
              <a:xfrm>
                <a:off x="1431" y="2237"/>
                <a:ext cx="0" cy="21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3" name="Text Box 21"/>
            <p:cNvSpPr txBox="1">
              <a:spLocks noChangeArrowheads="1"/>
            </p:cNvSpPr>
            <p:nvPr/>
          </p:nvSpPr>
          <p:spPr bwMode="auto">
            <a:xfrm>
              <a:off x="3760788" y="1828800"/>
              <a:ext cx="1336579" cy="461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38" tIns="34272" rIns="68538" bIns="34272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+mn-lt"/>
                </a:rPr>
                <a:t>Packets</a:t>
              </a:r>
              <a:endParaRPr lang="en-US" altLang="en-US" sz="1800" dirty="0">
                <a:solidFill>
                  <a:srgbClr val="000000"/>
                </a:solidFill>
                <a:latin typeface="+mn-lt"/>
              </a:endParaRPr>
            </a:p>
          </p:txBody>
        </p:sp>
        <p:pic>
          <p:nvPicPr>
            <p:cNvPr id="24" name="Picture 22" descr="Click To Preview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01000" y="3886200"/>
              <a:ext cx="731838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" name="Picture 23" descr="Click To Preview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" y="3840163"/>
              <a:ext cx="731838" cy="731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Picture 24" descr="Click To Preview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9763" y="2743200"/>
              <a:ext cx="731837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" name="Picture 25" descr="Click To Preview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9763" y="1630363"/>
              <a:ext cx="731837" cy="731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" name="Picture 26" descr="Click To Preview"/>
            <p:cNvPicPr>
              <a:picLocks noChangeAspect="1" noChangeArrowheads="1"/>
            </p:cNvPicPr>
            <p:nvPr/>
          </p:nvPicPr>
          <p:blipFill>
            <a:blip r:embed="rId4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31163" y="1752600"/>
              <a:ext cx="731837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" name="Picture 27" descr="Click To Preview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01000" y="2773363"/>
              <a:ext cx="731838" cy="731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Line 28"/>
            <p:cNvSpPr>
              <a:spLocks noChangeShapeType="1"/>
            </p:cNvSpPr>
            <p:nvPr/>
          </p:nvSpPr>
          <p:spPr bwMode="auto">
            <a:xfrm>
              <a:off x="2679700" y="3333750"/>
              <a:ext cx="381000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 anchor="ctr"/>
            <a:lstStyle/>
            <a:p>
              <a:endParaRPr lang="en-US"/>
            </a:p>
          </p:txBody>
        </p:sp>
        <p:sp>
          <p:nvSpPr>
            <p:cNvPr id="31" name="Line 29"/>
            <p:cNvSpPr>
              <a:spLocks noChangeShapeType="1"/>
            </p:cNvSpPr>
            <p:nvPr/>
          </p:nvSpPr>
          <p:spPr bwMode="auto">
            <a:xfrm>
              <a:off x="2679700" y="2876550"/>
              <a:ext cx="381000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 anchor="ctr"/>
            <a:lstStyle/>
            <a:p>
              <a:endParaRPr lang="en-US"/>
            </a:p>
          </p:txBody>
        </p:sp>
        <p:sp>
          <p:nvSpPr>
            <p:cNvPr id="32" name="Line 30"/>
            <p:cNvSpPr>
              <a:spLocks noChangeShapeType="1"/>
            </p:cNvSpPr>
            <p:nvPr/>
          </p:nvSpPr>
          <p:spPr bwMode="auto">
            <a:xfrm>
              <a:off x="4343400" y="2209800"/>
              <a:ext cx="0" cy="533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/>
            <a:lstStyle/>
            <a:p>
              <a:endParaRPr lang="en-US"/>
            </a:p>
          </p:txBody>
        </p:sp>
        <p:grpSp>
          <p:nvGrpSpPr>
            <p:cNvPr id="33" name="Group 31"/>
            <p:cNvGrpSpPr/>
            <p:nvPr/>
          </p:nvGrpSpPr>
          <p:grpSpPr bwMode="auto">
            <a:xfrm>
              <a:off x="1371600" y="2133600"/>
              <a:ext cx="914400" cy="2057400"/>
              <a:chOff x="864" y="1728"/>
              <a:chExt cx="576" cy="1296"/>
            </a:xfrm>
          </p:grpSpPr>
          <p:sp>
            <p:nvSpPr>
              <p:cNvPr id="34" name="Line 32"/>
              <p:cNvSpPr>
                <a:spLocks noChangeShapeType="1"/>
              </p:cNvSpPr>
              <p:nvPr/>
            </p:nvSpPr>
            <p:spPr bwMode="auto">
              <a:xfrm>
                <a:off x="912" y="1728"/>
                <a:ext cx="528" cy="6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5" name="Line 33"/>
              <p:cNvSpPr>
                <a:spLocks noChangeShapeType="1"/>
              </p:cNvSpPr>
              <p:nvPr/>
            </p:nvSpPr>
            <p:spPr bwMode="auto">
              <a:xfrm>
                <a:off x="912" y="2352"/>
                <a:ext cx="528" cy="0"/>
              </a:xfrm>
              <a:prstGeom prst="line">
                <a:avLst/>
              </a:prstGeom>
              <a:noFill/>
              <a:ln w="38100">
                <a:solidFill>
                  <a:schemeClr val="hlink"/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6" name="Line 34"/>
              <p:cNvSpPr>
                <a:spLocks noChangeShapeType="1"/>
              </p:cNvSpPr>
              <p:nvPr/>
            </p:nvSpPr>
            <p:spPr bwMode="auto">
              <a:xfrm flipV="1">
                <a:off x="864" y="2352"/>
                <a:ext cx="576" cy="672"/>
              </a:xfrm>
              <a:prstGeom prst="line">
                <a:avLst/>
              </a:prstGeom>
              <a:noFill/>
              <a:ln w="38100">
                <a:solidFill>
                  <a:schemeClr val="folHlink"/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37" name="Group 35"/>
            <p:cNvGrpSpPr/>
            <p:nvPr/>
          </p:nvGrpSpPr>
          <p:grpSpPr bwMode="auto">
            <a:xfrm rot="10800000">
              <a:off x="7010400" y="2057400"/>
              <a:ext cx="914400" cy="2057400"/>
              <a:chOff x="864" y="1728"/>
              <a:chExt cx="576" cy="1296"/>
            </a:xfrm>
          </p:grpSpPr>
          <p:sp>
            <p:nvSpPr>
              <p:cNvPr id="38" name="Line 36"/>
              <p:cNvSpPr>
                <a:spLocks noChangeShapeType="1"/>
              </p:cNvSpPr>
              <p:nvPr/>
            </p:nvSpPr>
            <p:spPr bwMode="auto">
              <a:xfrm>
                <a:off x="912" y="1728"/>
                <a:ext cx="528" cy="6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9" name="Line 37"/>
              <p:cNvSpPr>
                <a:spLocks noChangeShapeType="1"/>
              </p:cNvSpPr>
              <p:nvPr/>
            </p:nvSpPr>
            <p:spPr bwMode="auto">
              <a:xfrm>
                <a:off x="912" y="2352"/>
                <a:ext cx="528" cy="0"/>
              </a:xfrm>
              <a:prstGeom prst="line">
                <a:avLst/>
              </a:prstGeom>
              <a:noFill/>
              <a:ln w="38100">
                <a:solidFill>
                  <a:schemeClr val="hlink"/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0" name="Line 38"/>
              <p:cNvSpPr>
                <a:spLocks noChangeShapeType="1"/>
              </p:cNvSpPr>
              <p:nvPr/>
            </p:nvSpPr>
            <p:spPr bwMode="auto">
              <a:xfrm flipV="1">
                <a:off x="864" y="2352"/>
                <a:ext cx="576" cy="672"/>
              </a:xfrm>
              <a:prstGeom prst="line">
                <a:avLst/>
              </a:prstGeom>
              <a:noFill/>
              <a:ln w="38100">
                <a:solidFill>
                  <a:schemeClr val="folHlink"/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41" name="Group 39"/>
            <p:cNvGrpSpPr/>
            <p:nvPr/>
          </p:nvGrpSpPr>
          <p:grpSpPr bwMode="auto">
            <a:xfrm>
              <a:off x="6781800" y="2928938"/>
              <a:ext cx="504825" cy="354012"/>
              <a:chOff x="1285" y="2229"/>
              <a:chExt cx="318" cy="223"/>
            </a:xfrm>
          </p:grpSpPr>
          <p:sp>
            <p:nvSpPr>
              <p:cNvPr id="42" name="Freeform 40"/>
              <p:cNvSpPr/>
              <p:nvPr/>
            </p:nvSpPr>
            <p:spPr bwMode="auto">
              <a:xfrm>
                <a:off x="1285" y="2229"/>
                <a:ext cx="318" cy="215"/>
              </a:xfrm>
              <a:custGeom>
                <a:avLst/>
                <a:gdLst>
                  <a:gd name="T0" fmla="*/ 0 w 1012"/>
                  <a:gd name="T1" fmla="*/ 0 h 292"/>
                  <a:gd name="T2" fmla="*/ 0 w 1012"/>
                  <a:gd name="T3" fmla="*/ 0 h 292"/>
                  <a:gd name="T4" fmla="*/ 0 w 1012"/>
                  <a:gd name="T5" fmla="*/ 34 h 292"/>
                  <a:gd name="T6" fmla="*/ 0 w 1012"/>
                  <a:gd name="T7" fmla="*/ 34 h 29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2"/>
                  <a:gd name="T13" fmla="*/ 0 h 292"/>
                  <a:gd name="T14" fmla="*/ 1012 w 1012"/>
                  <a:gd name="T15" fmla="*/ 292 h 29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2" h="292">
                    <a:moveTo>
                      <a:pt x="0" y="0"/>
                    </a:moveTo>
                    <a:lnTo>
                      <a:pt x="1009" y="0"/>
                    </a:lnTo>
                    <a:lnTo>
                      <a:pt x="1012" y="292"/>
                    </a:lnTo>
                    <a:lnTo>
                      <a:pt x="18" y="291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" name="Line 41"/>
              <p:cNvSpPr>
                <a:spLocks noChangeShapeType="1"/>
              </p:cNvSpPr>
              <p:nvPr/>
            </p:nvSpPr>
            <p:spPr bwMode="auto">
              <a:xfrm>
                <a:off x="1500" y="2238"/>
                <a:ext cx="0" cy="21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" name="Line 42"/>
              <p:cNvSpPr>
                <a:spLocks noChangeShapeType="1"/>
              </p:cNvSpPr>
              <p:nvPr/>
            </p:nvSpPr>
            <p:spPr bwMode="auto">
              <a:xfrm>
                <a:off x="1431" y="2237"/>
                <a:ext cx="0" cy="21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addresses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356352"/>
            <a:ext cx="2057400" cy="365125"/>
          </a:xfrm>
          <a:prstGeom prst="rect">
            <a:avLst/>
          </a:prstGeom>
        </p:spPr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16371"/>
            <a:ext cx="7772400" cy="3025257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 altLang="zh-CN" dirty="0">
                <a:latin typeface="Helvetica" charset="0"/>
                <a:ea typeface="MS PGothic" panose="020B0600070205080204" charset="-128"/>
              </a:rPr>
              <a:t>IP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addresses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and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 err="1">
                <a:latin typeface="Helvetica" charset="0"/>
                <a:ea typeface="MS PGothic" panose="020B0600070205080204" charset="-128"/>
              </a:rPr>
              <a:t>gaetway</a:t>
            </a:r>
            <a:endParaRPr lang="en-US" dirty="0">
              <a:latin typeface="Helvetica" charset="0"/>
              <a:ea typeface="MS PGothic" panose="020B0600070205080204" charset="-128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Content Placeholder 2"/>
          <p:cNvSpPr>
            <a:spLocks noGrp="1"/>
          </p:cNvSpPr>
          <p:nvPr>
            <p:ph idx="1"/>
          </p:nvPr>
        </p:nvSpPr>
        <p:spPr>
          <a:xfrm>
            <a:off x="179388" y="1143002"/>
            <a:ext cx="8915400" cy="4248955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Why not use MAC addresses for routing?</a:t>
            </a:r>
            <a:endParaRPr lang="en-US" dirty="0">
              <a:latin typeface="Arial" panose="020B0604020202020204" pitchFamily="34" charset="0"/>
              <a:ea typeface="MS PGothic" panose="020B0600070205080204" charset="-128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Doesn’</a:t>
            </a:r>
            <a:r>
              <a:rPr lang="en-US" altLang="ja-JP" dirty="0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t scale</a:t>
            </a:r>
            <a:endParaRPr lang="en-US" altLang="ja-JP" dirty="0">
              <a:latin typeface="Arial" panose="020B0604020202020204" pitchFamily="34" charset="0"/>
              <a:ea typeface="MS PGothic" panose="020B0600070205080204" charset="-128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ea typeface="MS PGothic" panose="020B0600070205080204" charset="-128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Analogy</a:t>
            </a:r>
            <a:endParaRPr lang="en-US" dirty="0">
              <a:latin typeface="Arial" panose="020B0604020202020204" pitchFamily="34" charset="0"/>
              <a:ea typeface="MS PGothic" panose="020B0600070205080204" charset="-128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MAC address </a:t>
            </a:r>
            <a:r>
              <a:rPr lang="en-US" dirty="0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  <a:sym typeface="Wingdings" panose="05000000000000000000" charset="0"/>
              </a:rPr>
              <a:t> </a:t>
            </a:r>
            <a:r>
              <a:rPr lang="en-US" altLang="zh-CN" dirty="0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  <a:sym typeface="Wingdings" panose="05000000000000000000" charset="0"/>
              </a:rPr>
              <a:t>Cell</a:t>
            </a:r>
            <a:r>
              <a:rPr lang="zh-CN" altLang="en-US" dirty="0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  <a:sym typeface="Wingdings" panose="05000000000000000000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  <a:sym typeface="Wingdings" panose="05000000000000000000" charset="0"/>
              </a:rPr>
              <a:t>phone</a:t>
            </a:r>
            <a:r>
              <a:rPr lang="zh-CN" altLang="en-US" dirty="0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  <a:sym typeface="Wingdings" panose="05000000000000000000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  <a:sym typeface="Wingdings" panose="05000000000000000000" charset="0"/>
              </a:rPr>
              <a:t>number</a:t>
            </a:r>
            <a:endParaRPr lang="en-US" dirty="0">
              <a:latin typeface="Arial" panose="020B0604020202020204" pitchFamily="34" charset="0"/>
              <a:ea typeface="MS PGothic" panose="020B0600070205080204" charset="-128"/>
              <a:cs typeface="Arial" panose="020B0604020202020204" pitchFamily="34" charset="0"/>
              <a:sym typeface="Wingdings" panose="05000000000000000000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  <a:sym typeface="Wingdings" panose="05000000000000000000" charset="0"/>
              </a:rPr>
              <a:t>IP address  (unreadable) home address</a:t>
            </a:r>
            <a:r>
              <a:rPr lang="zh-CN" altLang="en-US" dirty="0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  <a:sym typeface="Wingdings" panose="05000000000000000000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  <a:sym typeface="Wingdings" panose="05000000000000000000" charset="0"/>
              </a:rPr>
              <a:t>/</a:t>
            </a:r>
            <a:r>
              <a:rPr lang="zh-CN" altLang="en-US" dirty="0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  <a:sym typeface="Wingdings" panose="05000000000000000000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  <a:sym typeface="Wingdings" panose="05000000000000000000" charset="0"/>
              </a:rPr>
              <a:t>landline</a:t>
            </a:r>
            <a:r>
              <a:rPr lang="zh-CN" altLang="en-US" dirty="0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  <a:sym typeface="Wingdings" panose="05000000000000000000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  <a:sym typeface="Wingdings" panose="05000000000000000000" charset="0"/>
              </a:rPr>
              <a:t>number</a:t>
            </a:r>
            <a:endParaRPr lang="en-US" dirty="0">
              <a:latin typeface="Arial" panose="020B0604020202020204" pitchFamily="34" charset="0"/>
              <a:ea typeface="MS PGothic" panose="020B0600070205080204" charset="-128"/>
              <a:cs typeface="Arial" panose="020B0604020202020204" pitchFamily="34" charset="0"/>
              <a:sym typeface="Wingdings" panose="05000000000000000000" charset="0"/>
            </a:endParaRPr>
          </a:p>
          <a:p>
            <a:r>
              <a:rPr lang="en-US" dirty="0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  <a:sym typeface="Wingdings" panose="05000000000000000000" charset="0"/>
              </a:rPr>
              <a:t>MAC address: uniquely associated to the device for the entire lifetime of the device</a:t>
            </a:r>
            <a:endParaRPr lang="en-US" dirty="0">
              <a:latin typeface="Arial" panose="020B0604020202020204" pitchFamily="34" charset="0"/>
              <a:ea typeface="MS PGothic" panose="020B0600070205080204" charset="-128"/>
              <a:cs typeface="Arial" panose="020B0604020202020204" pitchFamily="34" charset="0"/>
              <a:sym typeface="Wingdings" panose="05000000000000000000" charset="0"/>
            </a:endParaRPr>
          </a:p>
          <a:p>
            <a:r>
              <a:rPr lang="en-US" dirty="0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  <a:sym typeface="Wingdings" panose="05000000000000000000" charset="0"/>
              </a:rPr>
              <a:t>IP address: changes as the device location changes</a:t>
            </a:r>
            <a:endParaRPr lang="en-US" dirty="0">
              <a:latin typeface="Arial" panose="020B0604020202020204" pitchFamily="34" charset="0"/>
              <a:ea typeface="MS PGothic" panose="020B0600070205080204" charset="-128"/>
              <a:cs typeface="Arial" panose="020B0604020202020204" pitchFamily="34" charset="0"/>
              <a:sym typeface="Wingdings" panose="05000000000000000000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  <a:sym typeface="Wingdings" panose="05000000000000000000" charset="0"/>
              </a:rPr>
              <a:t>Your notebook IP address at school is different from home</a:t>
            </a:r>
            <a:endParaRPr lang="en-US" altLang="ja-JP" dirty="0">
              <a:latin typeface="Arial" panose="020B0604020202020204" pitchFamily="34" charset="0"/>
              <a:ea typeface="MS PGothic" panose="020B0600070205080204" charset="-128"/>
              <a:cs typeface="Arial" panose="020B0604020202020204" pitchFamily="34" charset="0"/>
            </a:endParaRPr>
          </a:p>
        </p:txBody>
      </p:sp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685800" y="76200"/>
            <a:ext cx="7162800" cy="533400"/>
          </a:xfrm>
        </p:spPr>
        <p:txBody>
          <a:bodyPr>
            <a:normAutofit/>
          </a:bodyPr>
          <a:lstStyle/>
          <a:p>
            <a:r>
              <a:rPr lang="en-US">
                <a:latin typeface="Helvetica" charset="0"/>
                <a:ea typeface="MS PGothic" panose="020B0600070205080204" charset="-128"/>
              </a:rPr>
              <a:t>IP Addresses vs. MAC Addresses</a:t>
            </a:r>
            <a:endParaRPr lang="en-US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0" name="圆角矩形 19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5" name="Content Placeholder 2"/>
          <p:cNvSpPr>
            <a:spLocks noGrp="1"/>
          </p:cNvSpPr>
          <p:nvPr>
            <p:ph idx="1"/>
          </p:nvPr>
        </p:nvSpPr>
        <p:spPr>
          <a:xfrm>
            <a:off x="381000" y="685800"/>
            <a:ext cx="8610600" cy="1524000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Helvetica" charset="0"/>
                <a:ea typeface="MS PGothic" panose="020B0600070205080204" charset="-128"/>
              </a:rPr>
              <a:t>Network (interface) card/controller</a:t>
            </a:r>
            <a:r>
              <a:rPr lang="zh-CN" altLang="en-US" b="1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b="1" dirty="0">
                <a:latin typeface="Helvetica" charset="0"/>
                <a:ea typeface="MS PGothic" panose="020B0600070205080204" charset="-128"/>
              </a:rPr>
              <a:t>(NIC)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: hardware that physically connects a computer to the network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r>
              <a:rPr lang="en-US" dirty="0">
                <a:latin typeface="Helvetica" charset="0"/>
                <a:ea typeface="MS PGothic" panose="020B0600070205080204" charset="-128"/>
              </a:rPr>
              <a:t>A computer can have more than one networking cards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dirty="0">
                <a:latin typeface="Helvetica" charset="0"/>
                <a:ea typeface="MS PGothic" panose="020B0600070205080204" charset="-128"/>
              </a:rPr>
              <a:t>E.g., one card for wired network, and one for wireless network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endParaRPr lang="en-US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 altLang="zh-CN" dirty="0">
                <a:latin typeface="Helvetica" charset="0"/>
                <a:ea typeface="MS PGothic" panose="020B0600070205080204" charset="-128"/>
              </a:rPr>
              <a:t>Network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interface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cards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(NICs)</a:t>
            </a:r>
            <a:endParaRPr lang="en-US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8196" name="Rectangle 3"/>
          <p:cNvSpPr>
            <a:spLocks noChangeArrowheads="1"/>
          </p:cNvSpPr>
          <p:nvPr/>
        </p:nvSpPr>
        <p:spPr bwMode="auto">
          <a:xfrm>
            <a:off x="762000" y="2357438"/>
            <a:ext cx="2362200" cy="2362200"/>
          </a:xfrm>
          <a:prstGeom prst="rect">
            <a:avLst/>
          </a:prstGeom>
          <a:solidFill>
            <a:srgbClr val="FFFFAA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762000" y="3881438"/>
            <a:ext cx="2362200" cy="1524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b="0">
                <a:latin typeface="Helvetica" charset="0"/>
                <a:ea typeface="MS PGothic" panose="020B0600070205080204" charset="-128"/>
                <a:cs typeface="Helvetica" charset="0"/>
              </a:rPr>
              <a:t>       </a:t>
            </a:r>
            <a:endParaRPr lang="en-US" b="0">
              <a:latin typeface="Helvetica" charset="0"/>
              <a:ea typeface="MS PGothic" panose="020B0600070205080204" charset="-128"/>
              <a:cs typeface="Helvetica" charset="0"/>
            </a:endParaRPr>
          </a:p>
          <a:p>
            <a:pPr algn="ctr">
              <a:defRPr/>
            </a:pPr>
            <a:endParaRPr lang="en-US" b="0">
              <a:latin typeface="Helvetica" charset="0"/>
              <a:ea typeface="MS PGothic" panose="020B0600070205080204" charset="-128"/>
              <a:cs typeface="Helvetica" charset="0"/>
            </a:endParaRPr>
          </a:p>
          <a:p>
            <a:pPr algn="ctr">
              <a:defRPr/>
            </a:pPr>
            <a:endParaRPr lang="en-US" b="0">
              <a:latin typeface="Helvetica" charset="0"/>
              <a:ea typeface="MS PGothic" panose="020B0600070205080204" charset="-128"/>
              <a:cs typeface="Helvetica" charset="0"/>
            </a:endParaRPr>
          </a:p>
        </p:txBody>
      </p:sp>
      <p:pic>
        <p:nvPicPr>
          <p:cNvPr id="8198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4338638"/>
            <a:ext cx="1276350" cy="1276350"/>
          </a:xfrm>
          <a:prstGeom prst="rect">
            <a:avLst/>
          </a:prstGeom>
          <a:noFill/>
          <a:ln>
            <a:noFill/>
          </a:ln>
        </p:spPr>
      </p:pic>
      <p:sp>
        <p:nvSpPr>
          <p:cNvPr id="8199" name="Rectangle 6"/>
          <p:cNvSpPr>
            <a:spLocks noChangeArrowheads="1"/>
          </p:cNvSpPr>
          <p:nvPr/>
        </p:nvSpPr>
        <p:spPr bwMode="auto">
          <a:xfrm>
            <a:off x="762000" y="4186238"/>
            <a:ext cx="1066800" cy="762000"/>
          </a:xfrm>
          <a:prstGeom prst="rect">
            <a:avLst/>
          </a:prstGeom>
          <a:solidFill>
            <a:srgbClr val="A0BCFE"/>
          </a:solidFill>
          <a:ln>
            <a:noFill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pic>
        <p:nvPicPr>
          <p:cNvPr id="8200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350" y="4491038"/>
            <a:ext cx="1644650" cy="1155700"/>
          </a:xfrm>
          <a:prstGeom prst="rect">
            <a:avLst/>
          </a:prstGeom>
          <a:noFill/>
          <a:ln>
            <a:noFill/>
          </a:ln>
        </p:spPr>
      </p:pic>
      <p:sp>
        <p:nvSpPr>
          <p:cNvPr id="8201" name="Rectangle 8"/>
          <p:cNvSpPr>
            <a:spLocks noChangeArrowheads="1"/>
          </p:cNvSpPr>
          <p:nvPr/>
        </p:nvSpPr>
        <p:spPr bwMode="auto">
          <a:xfrm>
            <a:off x="1752600" y="4414838"/>
            <a:ext cx="1371600" cy="381000"/>
          </a:xfrm>
          <a:prstGeom prst="rect">
            <a:avLst/>
          </a:prstGeom>
          <a:solidFill>
            <a:srgbClr val="A0BCFE"/>
          </a:solidFill>
          <a:ln>
            <a:noFill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8202" name="Oval 9"/>
          <p:cNvSpPr>
            <a:spLocks noChangeArrowheads="1"/>
          </p:cNvSpPr>
          <p:nvPr/>
        </p:nvSpPr>
        <p:spPr bwMode="auto">
          <a:xfrm>
            <a:off x="1295400" y="2509838"/>
            <a:ext cx="1219200" cy="1143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8203" name="TextBox 10"/>
          <p:cNvSpPr txBox="1">
            <a:spLocks noChangeArrowheads="1"/>
          </p:cNvSpPr>
          <p:nvPr/>
        </p:nvSpPr>
        <p:spPr bwMode="auto">
          <a:xfrm>
            <a:off x="1295400" y="2738438"/>
            <a:ext cx="1295400" cy="8302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algn="ctr" eaLnBrk="1" hangingPunct="1"/>
            <a:r>
              <a:rPr lang="en-US" b="0">
                <a:latin typeface="Helvetica" charset="0"/>
              </a:rPr>
              <a:t>Process</a:t>
            </a:r>
            <a:endParaRPr lang="en-US" b="0">
              <a:latin typeface="Helvetica" charset="0"/>
            </a:endParaRPr>
          </a:p>
          <a:p>
            <a:pPr algn="ctr" eaLnBrk="1" hangingPunct="1"/>
            <a:r>
              <a:rPr lang="en-US" b="0">
                <a:latin typeface="Helvetica" charset="0"/>
              </a:rPr>
              <a:t>A</a:t>
            </a:r>
            <a:endParaRPr lang="en-US" b="0">
              <a:latin typeface="Helvetica" charset="0"/>
            </a:endParaRPr>
          </a:p>
        </p:txBody>
      </p:sp>
      <p:sp>
        <p:nvSpPr>
          <p:cNvPr id="8204" name="Oval 11"/>
          <p:cNvSpPr>
            <a:spLocks noChangeArrowheads="1"/>
          </p:cNvSpPr>
          <p:nvPr/>
        </p:nvSpPr>
        <p:spPr bwMode="auto">
          <a:xfrm>
            <a:off x="1905000" y="3576638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8205" name="TextBox 12"/>
          <p:cNvSpPr txBox="1">
            <a:spLocks noChangeArrowheads="1"/>
          </p:cNvSpPr>
          <p:nvPr/>
        </p:nvSpPr>
        <p:spPr bwMode="auto">
          <a:xfrm>
            <a:off x="1447802" y="4059238"/>
            <a:ext cx="777875" cy="584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r>
              <a:rPr lang="en-US" sz="3200" b="0">
                <a:latin typeface="Helvetica" charset="0"/>
              </a:rPr>
              <a:t>OS</a:t>
            </a:r>
            <a:endParaRPr lang="en-US" sz="3200" b="0">
              <a:latin typeface="Helvetica" charset="0"/>
            </a:endParaRPr>
          </a:p>
        </p:txBody>
      </p:sp>
      <p:sp>
        <p:nvSpPr>
          <p:cNvPr id="8206" name="Rectangle 13"/>
          <p:cNvSpPr>
            <a:spLocks noChangeArrowheads="1"/>
          </p:cNvSpPr>
          <p:nvPr/>
        </p:nvSpPr>
        <p:spPr bwMode="auto">
          <a:xfrm>
            <a:off x="6553200" y="2357438"/>
            <a:ext cx="2012950" cy="2362200"/>
          </a:xfrm>
          <a:prstGeom prst="rect">
            <a:avLst/>
          </a:prstGeom>
          <a:solidFill>
            <a:srgbClr val="FFFFAA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6553200" y="3881438"/>
            <a:ext cx="2012950" cy="1524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b="0">
                <a:latin typeface="Helvetica" charset="0"/>
                <a:ea typeface="MS PGothic" panose="020B0600070205080204" charset="-128"/>
                <a:cs typeface="Helvetica" charset="0"/>
              </a:rPr>
              <a:t>       </a:t>
            </a:r>
            <a:endParaRPr lang="en-US" b="0">
              <a:latin typeface="Helvetica" charset="0"/>
              <a:ea typeface="MS PGothic" panose="020B0600070205080204" charset="-128"/>
              <a:cs typeface="Helvetica" charset="0"/>
            </a:endParaRPr>
          </a:p>
          <a:p>
            <a:pPr algn="ctr">
              <a:defRPr/>
            </a:pPr>
            <a:endParaRPr lang="en-US" b="0">
              <a:latin typeface="Helvetica" charset="0"/>
              <a:ea typeface="MS PGothic" panose="020B0600070205080204" charset="-128"/>
              <a:cs typeface="Helvetica" charset="0"/>
            </a:endParaRPr>
          </a:p>
          <a:p>
            <a:pPr algn="ctr">
              <a:defRPr/>
            </a:pPr>
            <a:endParaRPr lang="en-US" b="0">
              <a:latin typeface="Helvetica" charset="0"/>
              <a:ea typeface="MS PGothic" panose="020B0600070205080204" charset="-128"/>
              <a:cs typeface="Helvetica" charset="0"/>
            </a:endParaRPr>
          </a:p>
        </p:txBody>
      </p:sp>
      <p:pic>
        <p:nvPicPr>
          <p:cNvPr id="8208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491038"/>
            <a:ext cx="1644650" cy="1155700"/>
          </a:xfrm>
          <a:prstGeom prst="rect">
            <a:avLst/>
          </a:prstGeom>
          <a:noFill/>
          <a:ln>
            <a:noFill/>
          </a:ln>
        </p:spPr>
      </p:pic>
      <p:sp>
        <p:nvSpPr>
          <p:cNvPr id="8209" name="Rectangle 16"/>
          <p:cNvSpPr>
            <a:spLocks noChangeArrowheads="1"/>
          </p:cNvSpPr>
          <p:nvPr/>
        </p:nvSpPr>
        <p:spPr bwMode="auto">
          <a:xfrm>
            <a:off x="6553200" y="4414838"/>
            <a:ext cx="1371600" cy="381000"/>
          </a:xfrm>
          <a:prstGeom prst="rect">
            <a:avLst/>
          </a:prstGeom>
          <a:solidFill>
            <a:srgbClr val="A0BCFE"/>
          </a:solidFill>
          <a:ln>
            <a:noFill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8210" name="Oval 17"/>
          <p:cNvSpPr>
            <a:spLocks noChangeArrowheads="1"/>
          </p:cNvSpPr>
          <p:nvPr/>
        </p:nvSpPr>
        <p:spPr bwMode="auto">
          <a:xfrm>
            <a:off x="6934200" y="2509838"/>
            <a:ext cx="1219200" cy="1143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8211" name="TextBox 18"/>
          <p:cNvSpPr txBox="1">
            <a:spLocks noChangeArrowheads="1"/>
          </p:cNvSpPr>
          <p:nvPr/>
        </p:nvSpPr>
        <p:spPr bwMode="auto">
          <a:xfrm>
            <a:off x="6934200" y="2746377"/>
            <a:ext cx="1295400" cy="8302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algn="ctr" eaLnBrk="1" hangingPunct="1"/>
            <a:r>
              <a:rPr lang="en-US" b="0">
                <a:latin typeface="Helvetica" charset="0"/>
              </a:rPr>
              <a:t>Process</a:t>
            </a:r>
            <a:endParaRPr lang="en-US" b="0">
              <a:latin typeface="Helvetica" charset="0"/>
            </a:endParaRPr>
          </a:p>
          <a:p>
            <a:pPr algn="ctr" eaLnBrk="1" hangingPunct="1"/>
            <a:r>
              <a:rPr lang="en-US" b="0">
                <a:latin typeface="Helvetica" charset="0"/>
              </a:rPr>
              <a:t>B</a:t>
            </a:r>
            <a:endParaRPr lang="en-US" b="0">
              <a:latin typeface="Helvetica" charset="0"/>
            </a:endParaRPr>
          </a:p>
        </p:txBody>
      </p:sp>
      <p:sp>
        <p:nvSpPr>
          <p:cNvPr id="8212" name="Oval 19"/>
          <p:cNvSpPr>
            <a:spLocks noChangeArrowheads="1"/>
          </p:cNvSpPr>
          <p:nvPr/>
        </p:nvSpPr>
        <p:spPr bwMode="auto">
          <a:xfrm>
            <a:off x="7543800" y="3576638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8213" name="TextBox 20"/>
          <p:cNvSpPr txBox="1">
            <a:spLocks noChangeArrowheads="1"/>
          </p:cNvSpPr>
          <p:nvPr/>
        </p:nvSpPr>
        <p:spPr bwMode="auto">
          <a:xfrm>
            <a:off x="7299327" y="4059238"/>
            <a:ext cx="777875" cy="584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r>
              <a:rPr lang="en-US" sz="3200" b="0">
                <a:latin typeface="Helvetica" charset="0"/>
              </a:rPr>
              <a:t>OS</a:t>
            </a:r>
            <a:endParaRPr lang="en-US" sz="3200" b="0">
              <a:latin typeface="Helvetica" charset="0"/>
            </a:endParaRPr>
          </a:p>
        </p:txBody>
      </p:sp>
      <p:cxnSp>
        <p:nvCxnSpPr>
          <p:cNvPr id="8214" name="Straight Arrow Connector 29"/>
          <p:cNvCxnSpPr>
            <a:cxnSpLocks noChangeShapeType="1"/>
            <a:stCxn id="8217" idx="1"/>
          </p:cNvCxnSpPr>
          <p:nvPr/>
        </p:nvCxnSpPr>
        <p:spPr bwMode="auto">
          <a:xfrm rot="10800000">
            <a:off x="1066800" y="5499102"/>
            <a:ext cx="2438400" cy="365125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tailEnd type="triangle" w="med" len="med"/>
          </a:ln>
        </p:spPr>
      </p:cxnSp>
      <p:cxnSp>
        <p:nvCxnSpPr>
          <p:cNvPr id="8215" name="Straight Arrow Connector 31"/>
          <p:cNvCxnSpPr>
            <a:cxnSpLocks noChangeShapeType="1"/>
            <a:stCxn id="8217" idx="1"/>
          </p:cNvCxnSpPr>
          <p:nvPr/>
        </p:nvCxnSpPr>
        <p:spPr bwMode="auto">
          <a:xfrm rot="10800000">
            <a:off x="2606677" y="5570540"/>
            <a:ext cx="898525" cy="293687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tailEnd type="triangle" w="med" len="med"/>
          </a:ln>
        </p:spPr>
      </p:cxnSp>
      <p:cxnSp>
        <p:nvCxnSpPr>
          <p:cNvPr id="8216" name="Straight Arrow Connector 36"/>
          <p:cNvCxnSpPr>
            <a:cxnSpLocks noChangeShapeType="1"/>
            <a:stCxn id="8217" idx="3"/>
          </p:cNvCxnSpPr>
          <p:nvPr/>
        </p:nvCxnSpPr>
        <p:spPr bwMode="auto">
          <a:xfrm flipV="1">
            <a:off x="5656263" y="5646740"/>
            <a:ext cx="1414462" cy="217487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tailEnd type="triangle" w="med" len="med"/>
          </a:ln>
        </p:spPr>
      </p:cxnSp>
      <p:sp>
        <p:nvSpPr>
          <p:cNvPr id="8217" name="TextBox 41"/>
          <p:cNvSpPr txBox="1">
            <a:spLocks noChangeArrowheads="1"/>
          </p:cNvSpPr>
          <p:nvPr/>
        </p:nvSpPr>
        <p:spPr bwMode="auto">
          <a:xfrm>
            <a:off x="3505202" y="5634038"/>
            <a:ext cx="2151063" cy="4619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r>
              <a:rPr lang="en-US" b="0">
                <a:latin typeface="Helvetica" charset="0"/>
              </a:rPr>
              <a:t>Network cards</a:t>
            </a:r>
            <a:endParaRPr lang="en-US" b="0">
              <a:latin typeface="Helvetica" charset="0"/>
            </a:endParaRPr>
          </a:p>
        </p:txBody>
      </p:sp>
      <p:sp>
        <p:nvSpPr>
          <p:cNvPr id="26" name="圆角矩形 25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5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1905000"/>
          </a:xfrm>
        </p:spPr>
        <p:txBody>
          <a:bodyPr/>
          <a:lstStyle/>
          <a:p>
            <a:r>
              <a:rPr lang="en-US" b="1">
                <a:latin typeface="Helvetica" charset="0"/>
                <a:ea typeface="MS PGothic" panose="020B0600070205080204" charset="-128"/>
              </a:rPr>
              <a:t>MAC address</a:t>
            </a:r>
            <a:r>
              <a:rPr lang="en-US">
                <a:latin typeface="Helvetica" charset="0"/>
                <a:ea typeface="MS PGothic" panose="020B0600070205080204" charset="-128"/>
              </a:rPr>
              <a:t>: 48-bit unique identifier assigned by card vendor</a:t>
            </a:r>
            <a:endParaRPr lang="en-US">
              <a:latin typeface="Helvetica" charset="0"/>
              <a:ea typeface="MS PGothic" panose="020B0600070205080204" charset="-128"/>
            </a:endParaRPr>
          </a:p>
          <a:p>
            <a:r>
              <a:rPr lang="en-US" b="1">
                <a:latin typeface="Helvetica" charset="0"/>
                <a:ea typeface="MS PGothic" panose="020B0600070205080204" charset="-128"/>
              </a:rPr>
              <a:t>IP Address</a:t>
            </a:r>
            <a:r>
              <a:rPr lang="en-US">
                <a:latin typeface="Helvetica" charset="0"/>
                <a:ea typeface="MS PGothic" panose="020B0600070205080204" charset="-128"/>
              </a:rPr>
              <a:t>: 32-bit (or 128-bit for IPv6) address assigned by network administrator or dynamically when computer connects to network</a:t>
            </a:r>
            <a:endParaRPr lang="en-US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 altLang="zh-CN" dirty="0">
                <a:latin typeface="Helvetica" charset="0"/>
                <a:ea typeface="MS PGothic" panose="020B0600070205080204" charset="-128"/>
              </a:rPr>
              <a:t>Addressing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to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a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NIC</a:t>
            </a:r>
            <a:endParaRPr lang="en-US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0244" name="Rectangle 3"/>
          <p:cNvSpPr>
            <a:spLocks noChangeArrowheads="1"/>
          </p:cNvSpPr>
          <p:nvPr/>
        </p:nvSpPr>
        <p:spPr bwMode="auto">
          <a:xfrm>
            <a:off x="762000" y="2357438"/>
            <a:ext cx="2362200" cy="2362200"/>
          </a:xfrm>
          <a:prstGeom prst="rect">
            <a:avLst/>
          </a:prstGeom>
          <a:solidFill>
            <a:srgbClr val="FFFFAA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762000" y="3881438"/>
            <a:ext cx="2362200" cy="1524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b="0">
                <a:latin typeface="Helvetica" charset="0"/>
                <a:ea typeface="MS PGothic" panose="020B0600070205080204" charset="-128"/>
                <a:cs typeface="Helvetica" charset="0"/>
              </a:rPr>
              <a:t>       </a:t>
            </a:r>
            <a:endParaRPr lang="en-US" b="0">
              <a:latin typeface="Helvetica" charset="0"/>
              <a:ea typeface="MS PGothic" panose="020B0600070205080204" charset="-128"/>
              <a:cs typeface="Helvetica" charset="0"/>
            </a:endParaRPr>
          </a:p>
          <a:p>
            <a:pPr algn="ctr">
              <a:defRPr/>
            </a:pPr>
            <a:endParaRPr lang="en-US" b="0">
              <a:latin typeface="Helvetica" charset="0"/>
              <a:ea typeface="MS PGothic" panose="020B0600070205080204" charset="-128"/>
              <a:cs typeface="Helvetica" charset="0"/>
            </a:endParaRPr>
          </a:p>
          <a:p>
            <a:pPr algn="ctr">
              <a:defRPr/>
            </a:pPr>
            <a:endParaRPr lang="en-US" b="0">
              <a:latin typeface="Helvetica" charset="0"/>
              <a:ea typeface="MS PGothic" panose="020B0600070205080204" charset="-128"/>
              <a:cs typeface="Helvetica" charset="0"/>
            </a:endParaRPr>
          </a:p>
        </p:txBody>
      </p:sp>
      <p:pic>
        <p:nvPicPr>
          <p:cNvPr id="1024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4338638"/>
            <a:ext cx="1276350" cy="127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47" name="Rectangle 6"/>
          <p:cNvSpPr>
            <a:spLocks noChangeArrowheads="1"/>
          </p:cNvSpPr>
          <p:nvPr/>
        </p:nvSpPr>
        <p:spPr bwMode="auto">
          <a:xfrm>
            <a:off x="762000" y="4186238"/>
            <a:ext cx="1066800" cy="762000"/>
          </a:xfrm>
          <a:prstGeom prst="rect">
            <a:avLst/>
          </a:prstGeom>
          <a:solidFill>
            <a:srgbClr val="A0BCFE"/>
          </a:solidFill>
          <a:ln>
            <a:noFill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pic>
        <p:nvPicPr>
          <p:cNvPr id="1024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350" y="4491038"/>
            <a:ext cx="1644650" cy="115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49" name="Rectangle 8"/>
          <p:cNvSpPr>
            <a:spLocks noChangeArrowheads="1"/>
          </p:cNvSpPr>
          <p:nvPr/>
        </p:nvSpPr>
        <p:spPr bwMode="auto">
          <a:xfrm>
            <a:off x="1752600" y="4414838"/>
            <a:ext cx="1371600" cy="381000"/>
          </a:xfrm>
          <a:prstGeom prst="rect">
            <a:avLst/>
          </a:prstGeom>
          <a:solidFill>
            <a:srgbClr val="A0BCFE"/>
          </a:solidFill>
          <a:ln>
            <a:noFill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10250" name="Oval 9"/>
          <p:cNvSpPr>
            <a:spLocks noChangeArrowheads="1"/>
          </p:cNvSpPr>
          <p:nvPr/>
        </p:nvSpPr>
        <p:spPr bwMode="auto">
          <a:xfrm>
            <a:off x="1295400" y="2509838"/>
            <a:ext cx="1219200" cy="1143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10251" name="TextBox 10"/>
          <p:cNvSpPr txBox="1">
            <a:spLocks noChangeArrowheads="1"/>
          </p:cNvSpPr>
          <p:nvPr/>
        </p:nvSpPr>
        <p:spPr bwMode="auto">
          <a:xfrm>
            <a:off x="1295400" y="2738438"/>
            <a:ext cx="1295400" cy="8302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algn="ctr" eaLnBrk="1" hangingPunct="1"/>
            <a:r>
              <a:rPr lang="en-US" b="0">
                <a:latin typeface="Helvetica" charset="0"/>
              </a:rPr>
              <a:t>Process</a:t>
            </a:r>
            <a:endParaRPr lang="en-US" b="0">
              <a:latin typeface="Helvetica" charset="0"/>
            </a:endParaRPr>
          </a:p>
          <a:p>
            <a:pPr algn="ctr" eaLnBrk="1" hangingPunct="1"/>
            <a:r>
              <a:rPr lang="en-US" b="0">
                <a:latin typeface="Helvetica" charset="0"/>
              </a:rPr>
              <a:t>A</a:t>
            </a:r>
            <a:endParaRPr lang="en-US" b="0">
              <a:latin typeface="Helvetica" charset="0"/>
            </a:endParaRPr>
          </a:p>
        </p:txBody>
      </p:sp>
      <p:sp>
        <p:nvSpPr>
          <p:cNvPr id="10252" name="Oval 11"/>
          <p:cNvSpPr>
            <a:spLocks noChangeArrowheads="1"/>
          </p:cNvSpPr>
          <p:nvPr/>
        </p:nvSpPr>
        <p:spPr bwMode="auto">
          <a:xfrm>
            <a:off x="1905000" y="3576638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10253" name="TextBox 12"/>
          <p:cNvSpPr txBox="1">
            <a:spLocks noChangeArrowheads="1"/>
          </p:cNvSpPr>
          <p:nvPr/>
        </p:nvSpPr>
        <p:spPr bwMode="auto">
          <a:xfrm>
            <a:off x="1447802" y="4059238"/>
            <a:ext cx="777875" cy="584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r>
              <a:rPr lang="en-US" sz="3200" b="0">
                <a:latin typeface="Helvetica" charset="0"/>
              </a:rPr>
              <a:t>OS</a:t>
            </a:r>
            <a:endParaRPr lang="en-US" sz="3200" b="0">
              <a:latin typeface="Helvetica" charset="0"/>
            </a:endParaRPr>
          </a:p>
        </p:txBody>
      </p:sp>
      <p:sp>
        <p:nvSpPr>
          <p:cNvPr id="10254" name="Rectangle 13"/>
          <p:cNvSpPr>
            <a:spLocks noChangeArrowheads="1"/>
          </p:cNvSpPr>
          <p:nvPr/>
        </p:nvSpPr>
        <p:spPr bwMode="auto">
          <a:xfrm>
            <a:off x="6553200" y="2357438"/>
            <a:ext cx="2012950" cy="2362200"/>
          </a:xfrm>
          <a:prstGeom prst="rect">
            <a:avLst/>
          </a:prstGeom>
          <a:solidFill>
            <a:srgbClr val="FFFFAA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6553200" y="3881438"/>
            <a:ext cx="2012950" cy="1524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b="0">
                <a:latin typeface="Helvetica" charset="0"/>
                <a:ea typeface="MS PGothic" panose="020B0600070205080204" charset="-128"/>
                <a:cs typeface="Helvetica" charset="0"/>
              </a:rPr>
              <a:t>       </a:t>
            </a:r>
            <a:endParaRPr lang="en-US" b="0">
              <a:latin typeface="Helvetica" charset="0"/>
              <a:ea typeface="MS PGothic" panose="020B0600070205080204" charset="-128"/>
              <a:cs typeface="Helvetica" charset="0"/>
            </a:endParaRPr>
          </a:p>
          <a:p>
            <a:pPr algn="ctr">
              <a:defRPr/>
            </a:pPr>
            <a:endParaRPr lang="en-US" b="0">
              <a:latin typeface="Helvetica" charset="0"/>
              <a:ea typeface="MS PGothic" panose="020B0600070205080204" charset="-128"/>
              <a:cs typeface="Helvetica" charset="0"/>
            </a:endParaRPr>
          </a:p>
          <a:p>
            <a:pPr algn="ctr">
              <a:defRPr/>
            </a:pPr>
            <a:endParaRPr lang="en-US" b="0">
              <a:latin typeface="Helvetica" charset="0"/>
              <a:ea typeface="MS PGothic" panose="020B0600070205080204" charset="-128"/>
              <a:cs typeface="Helvetica" charset="0"/>
            </a:endParaRPr>
          </a:p>
        </p:txBody>
      </p:sp>
      <p:pic>
        <p:nvPicPr>
          <p:cNvPr id="1025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491038"/>
            <a:ext cx="1644650" cy="115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57" name="Rectangle 16"/>
          <p:cNvSpPr>
            <a:spLocks noChangeArrowheads="1"/>
          </p:cNvSpPr>
          <p:nvPr/>
        </p:nvSpPr>
        <p:spPr bwMode="auto">
          <a:xfrm>
            <a:off x="6553200" y="4414838"/>
            <a:ext cx="1371600" cy="381000"/>
          </a:xfrm>
          <a:prstGeom prst="rect">
            <a:avLst/>
          </a:prstGeom>
          <a:solidFill>
            <a:srgbClr val="A0BCFE"/>
          </a:solidFill>
          <a:ln>
            <a:noFill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10258" name="Oval 17"/>
          <p:cNvSpPr>
            <a:spLocks noChangeArrowheads="1"/>
          </p:cNvSpPr>
          <p:nvPr/>
        </p:nvSpPr>
        <p:spPr bwMode="auto">
          <a:xfrm>
            <a:off x="6934200" y="2509838"/>
            <a:ext cx="1219200" cy="1143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10259" name="TextBox 18"/>
          <p:cNvSpPr txBox="1">
            <a:spLocks noChangeArrowheads="1"/>
          </p:cNvSpPr>
          <p:nvPr/>
        </p:nvSpPr>
        <p:spPr bwMode="auto">
          <a:xfrm>
            <a:off x="6934200" y="2746377"/>
            <a:ext cx="1295400" cy="8302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algn="ctr" eaLnBrk="1" hangingPunct="1"/>
            <a:r>
              <a:rPr lang="en-US" b="0">
                <a:latin typeface="Helvetica" charset="0"/>
              </a:rPr>
              <a:t>Process</a:t>
            </a:r>
            <a:endParaRPr lang="en-US" b="0">
              <a:latin typeface="Helvetica" charset="0"/>
            </a:endParaRPr>
          </a:p>
          <a:p>
            <a:pPr algn="ctr" eaLnBrk="1" hangingPunct="1"/>
            <a:r>
              <a:rPr lang="en-US" b="0">
                <a:latin typeface="Helvetica" charset="0"/>
              </a:rPr>
              <a:t>B</a:t>
            </a:r>
            <a:endParaRPr lang="en-US" b="0">
              <a:latin typeface="Helvetica" charset="0"/>
            </a:endParaRPr>
          </a:p>
        </p:txBody>
      </p:sp>
      <p:sp>
        <p:nvSpPr>
          <p:cNvPr id="10260" name="Oval 19"/>
          <p:cNvSpPr>
            <a:spLocks noChangeArrowheads="1"/>
          </p:cNvSpPr>
          <p:nvPr/>
        </p:nvSpPr>
        <p:spPr bwMode="auto">
          <a:xfrm>
            <a:off x="7543800" y="3576638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10261" name="TextBox 20"/>
          <p:cNvSpPr txBox="1">
            <a:spLocks noChangeArrowheads="1"/>
          </p:cNvSpPr>
          <p:nvPr/>
        </p:nvSpPr>
        <p:spPr bwMode="auto">
          <a:xfrm>
            <a:off x="7299327" y="4059238"/>
            <a:ext cx="777875" cy="584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r>
              <a:rPr lang="en-US" sz="3200" b="0">
                <a:latin typeface="Helvetica" charset="0"/>
              </a:rPr>
              <a:t>OS</a:t>
            </a:r>
            <a:endParaRPr lang="en-US" sz="3200" b="0">
              <a:latin typeface="Helvetica" charset="0"/>
            </a:endParaRPr>
          </a:p>
        </p:txBody>
      </p:sp>
      <p:cxnSp>
        <p:nvCxnSpPr>
          <p:cNvPr id="10262" name="Straight Arrow Connector 29"/>
          <p:cNvCxnSpPr>
            <a:cxnSpLocks noChangeShapeType="1"/>
            <a:stCxn id="10265" idx="1"/>
          </p:cNvCxnSpPr>
          <p:nvPr/>
        </p:nvCxnSpPr>
        <p:spPr bwMode="auto">
          <a:xfrm rot="10800000">
            <a:off x="1066800" y="5499102"/>
            <a:ext cx="2438400" cy="365125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tailEnd type="triangle" w="med" len="med"/>
          </a:ln>
        </p:spPr>
      </p:cxnSp>
      <p:cxnSp>
        <p:nvCxnSpPr>
          <p:cNvPr id="10263" name="Straight Arrow Connector 31"/>
          <p:cNvCxnSpPr>
            <a:cxnSpLocks noChangeShapeType="1"/>
            <a:stCxn id="10265" idx="1"/>
          </p:cNvCxnSpPr>
          <p:nvPr/>
        </p:nvCxnSpPr>
        <p:spPr bwMode="auto">
          <a:xfrm rot="10800000">
            <a:off x="2606677" y="5570540"/>
            <a:ext cx="898525" cy="293687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tailEnd type="triangle" w="med" len="med"/>
          </a:ln>
        </p:spPr>
      </p:cxnSp>
      <p:cxnSp>
        <p:nvCxnSpPr>
          <p:cNvPr id="10264" name="Straight Arrow Connector 36"/>
          <p:cNvCxnSpPr>
            <a:cxnSpLocks noChangeShapeType="1"/>
            <a:stCxn id="10265" idx="3"/>
          </p:cNvCxnSpPr>
          <p:nvPr/>
        </p:nvCxnSpPr>
        <p:spPr bwMode="auto">
          <a:xfrm flipV="1">
            <a:off x="5656263" y="5646740"/>
            <a:ext cx="1414462" cy="217487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tailEnd type="triangle" w="med" len="med"/>
          </a:ln>
        </p:spPr>
      </p:cxnSp>
      <p:sp>
        <p:nvSpPr>
          <p:cNvPr id="10265" name="TextBox 41"/>
          <p:cNvSpPr txBox="1">
            <a:spLocks noChangeArrowheads="1"/>
          </p:cNvSpPr>
          <p:nvPr/>
        </p:nvSpPr>
        <p:spPr bwMode="auto">
          <a:xfrm>
            <a:off x="3505202" y="5634038"/>
            <a:ext cx="2151063" cy="4619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r>
              <a:rPr lang="en-US" b="0">
                <a:latin typeface="Helvetica" charset="0"/>
              </a:rPr>
              <a:t>Network cards</a:t>
            </a:r>
            <a:endParaRPr lang="en-US" b="0">
              <a:latin typeface="Helvetica" charset="0"/>
            </a:endParaRPr>
          </a:p>
        </p:txBody>
      </p:sp>
      <p:sp>
        <p:nvSpPr>
          <p:cNvPr id="10266" name="Rounded Rectangular Callout 25"/>
          <p:cNvSpPr>
            <a:spLocks noChangeArrowheads="1"/>
          </p:cNvSpPr>
          <p:nvPr/>
        </p:nvSpPr>
        <p:spPr bwMode="auto">
          <a:xfrm>
            <a:off x="152400" y="5486400"/>
            <a:ext cx="1676400" cy="762000"/>
          </a:xfrm>
          <a:prstGeom prst="wedgeRoundRectCallout">
            <a:avLst>
              <a:gd name="adj1" fmla="val -18176"/>
              <a:gd name="adj2" fmla="val -97500"/>
              <a:gd name="adj3" fmla="val 16667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r>
              <a:rPr lang="en-US" sz="2000" b="0">
                <a:latin typeface="Helvetica" charset="0"/>
              </a:rPr>
              <a:t>IP Addr1</a:t>
            </a:r>
            <a:endParaRPr lang="en-US" sz="2000" b="0">
              <a:latin typeface="Helvetica" charset="0"/>
            </a:endParaRPr>
          </a:p>
          <a:p>
            <a:r>
              <a:rPr lang="en-US" sz="2000" b="0">
                <a:latin typeface="Helvetica" charset="0"/>
              </a:rPr>
              <a:t>MAC Addr1</a:t>
            </a:r>
            <a:endParaRPr lang="en-US" sz="2000" b="0">
              <a:latin typeface="Helvetica" charset="0"/>
            </a:endParaRPr>
          </a:p>
        </p:txBody>
      </p:sp>
      <p:sp>
        <p:nvSpPr>
          <p:cNvPr id="10267" name="Rounded Rectangular Callout 26"/>
          <p:cNvSpPr>
            <a:spLocks noChangeArrowheads="1"/>
          </p:cNvSpPr>
          <p:nvPr/>
        </p:nvSpPr>
        <p:spPr bwMode="auto">
          <a:xfrm>
            <a:off x="3200400" y="3886200"/>
            <a:ext cx="1676400" cy="762000"/>
          </a:xfrm>
          <a:prstGeom prst="wedgeRoundRectCallout">
            <a:avLst>
              <a:gd name="adj1" fmla="val -51509"/>
              <a:gd name="adj2" fmla="val 82500"/>
              <a:gd name="adj3" fmla="val 16667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r>
              <a:rPr lang="en-US" sz="2000" b="0">
                <a:latin typeface="Helvetica" charset="0"/>
              </a:rPr>
              <a:t>IP Addr2</a:t>
            </a:r>
            <a:endParaRPr lang="en-US" sz="2000" b="0">
              <a:latin typeface="Helvetica" charset="0"/>
            </a:endParaRPr>
          </a:p>
          <a:p>
            <a:r>
              <a:rPr lang="en-US" sz="2000" b="0">
                <a:latin typeface="Helvetica" charset="0"/>
              </a:rPr>
              <a:t>MAC Addr2</a:t>
            </a:r>
            <a:endParaRPr lang="en-US" sz="2000" b="0">
              <a:latin typeface="Helvetica" charset="0"/>
            </a:endParaRPr>
          </a:p>
        </p:txBody>
      </p:sp>
      <p:sp>
        <p:nvSpPr>
          <p:cNvPr id="10268" name="Rounded Rectangular Callout 27"/>
          <p:cNvSpPr>
            <a:spLocks noChangeArrowheads="1"/>
          </p:cNvSpPr>
          <p:nvPr/>
        </p:nvSpPr>
        <p:spPr bwMode="auto">
          <a:xfrm>
            <a:off x="5029200" y="3810000"/>
            <a:ext cx="1676400" cy="762000"/>
          </a:xfrm>
          <a:prstGeom prst="wedgeRoundRectCallout">
            <a:avLst>
              <a:gd name="adj1" fmla="val 36370"/>
              <a:gd name="adj2" fmla="val 93611"/>
              <a:gd name="adj3" fmla="val 16667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r>
              <a:rPr lang="en-US" sz="2000" b="0">
                <a:latin typeface="Helvetica" charset="0"/>
              </a:rPr>
              <a:t>IP Addr3</a:t>
            </a:r>
            <a:endParaRPr lang="en-US" sz="2000" b="0">
              <a:latin typeface="Helvetica" charset="0"/>
            </a:endParaRPr>
          </a:p>
          <a:p>
            <a:r>
              <a:rPr lang="en-US" sz="2000" b="0">
                <a:latin typeface="Helvetica" charset="0"/>
              </a:rPr>
              <a:t>MAC Addr3</a:t>
            </a:r>
            <a:endParaRPr lang="en-US" sz="2000" b="0">
              <a:latin typeface="Helvetica" charset="0"/>
            </a:endParaRPr>
          </a:p>
        </p:txBody>
      </p:sp>
      <p:sp>
        <p:nvSpPr>
          <p:cNvPr id="29" name="圆角矩形 28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5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1905000"/>
          </a:xfrm>
        </p:spPr>
        <p:txBody>
          <a:bodyPr/>
          <a:lstStyle/>
          <a:p>
            <a:r>
              <a:rPr lang="en-US" b="1">
                <a:latin typeface="Helvetica" charset="0"/>
                <a:ea typeface="MS PGothic" panose="020B0600070205080204" charset="-128"/>
              </a:rPr>
              <a:t>Connection</a:t>
            </a:r>
            <a:r>
              <a:rPr lang="en-US">
                <a:latin typeface="Helvetica" charset="0"/>
                <a:ea typeface="MS PGothic" panose="020B0600070205080204" charset="-128"/>
              </a:rPr>
              <a:t>: communication channel between two processes</a:t>
            </a:r>
            <a:endParaRPr lang="en-US">
              <a:latin typeface="Helvetica" charset="0"/>
              <a:ea typeface="MS PGothic" panose="020B0600070205080204" charset="-128"/>
            </a:endParaRPr>
          </a:p>
          <a:p>
            <a:r>
              <a:rPr lang="en-US">
                <a:latin typeface="Helvetica" charset="0"/>
                <a:ea typeface="MS PGothic" panose="020B0600070205080204" charset="-128"/>
              </a:rPr>
              <a:t>Each endpoint is identified by a </a:t>
            </a:r>
            <a:r>
              <a:rPr lang="en-US" b="1">
                <a:latin typeface="Helvetica" charset="0"/>
                <a:ea typeface="MS PGothic" panose="020B0600070205080204" charset="-128"/>
              </a:rPr>
              <a:t>port number</a:t>
            </a:r>
            <a:endParaRPr lang="en-US" b="1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b="1">
                <a:latin typeface="Helvetica" charset="0"/>
                <a:ea typeface="MS PGothic" panose="020B0600070205080204" charset="-128"/>
              </a:rPr>
              <a:t>Port number</a:t>
            </a:r>
            <a:r>
              <a:rPr lang="en-US">
                <a:latin typeface="Helvetica" charset="0"/>
                <a:ea typeface="MS PGothic" panose="020B0600070205080204" charset="-128"/>
              </a:rPr>
              <a:t>: 16-bit identifier assigned by app or OS</a:t>
            </a:r>
            <a:endParaRPr lang="en-US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>
                <a:latin typeface="Helvetica" charset="0"/>
                <a:ea typeface="MS PGothic" panose="020B0600070205080204" charset="-128"/>
              </a:rPr>
              <a:t>Globally, an endpoint is identified by (IP address, port number)</a:t>
            </a:r>
            <a:endParaRPr lang="en-US">
              <a:latin typeface="Helvetica" charset="0"/>
              <a:ea typeface="MS PGothic" panose="020B0600070205080204" charset="-128"/>
            </a:endParaRPr>
          </a:p>
          <a:p>
            <a:endParaRPr lang="en-US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 altLang="zh-CN" dirty="0">
                <a:latin typeface="Helvetica" charset="0"/>
                <a:ea typeface="MS PGothic" panose="020B0600070205080204" charset="-128"/>
              </a:rPr>
              <a:t>Addressing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into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a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process: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ports</a:t>
            </a:r>
            <a:endParaRPr lang="en-US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762000" y="2357438"/>
            <a:ext cx="2362200" cy="2362200"/>
          </a:xfrm>
          <a:prstGeom prst="rect">
            <a:avLst/>
          </a:prstGeom>
          <a:solidFill>
            <a:srgbClr val="FFFFAA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762000" y="3881438"/>
            <a:ext cx="2362200" cy="1524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b="0">
                <a:latin typeface="Helvetica" charset="0"/>
                <a:ea typeface="MS PGothic" panose="020B0600070205080204" charset="-128"/>
                <a:cs typeface="Helvetica" charset="0"/>
              </a:rPr>
              <a:t>       </a:t>
            </a:r>
            <a:endParaRPr lang="en-US" b="0">
              <a:latin typeface="Helvetica" charset="0"/>
              <a:ea typeface="MS PGothic" panose="020B0600070205080204" charset="-128"/>
              <a:cs typeface="Helvetica" charset="0"/>
            </a:endParaRPr>
          </a:p>
          <a:p>
            <a:pPr algn="ctr">
              <a:defRPr/>
            </a:pPr>
            <a:endParaRPr lang="en-US" b="0">
              <a:latin typeface="Helvetica" charset="0"/>
              <a:ea typeface="MS PGothic" panose="020B0600070205080204" charset="-128"/>
              <a:cs typeface="Helvetica" charset="0"/>
            </a:endParaRPr>
          </a:p>
          <a:p>
            <a:pPr algn="ctr">
              <a:defRPr/>
            </a:pPr>
            <a:endParaRPr lang="en-US" b="0">
              <a:latin typeface="Helvetica" charset="0"/>
              <a:ea typeface="MS PGothic" panose="020B0600070205080204" charset="-128"/>
              <a:cs typeface="Helvetica" charset="0"/>
            </a:endParaRPr>
          </a:p>
        </p:txBody>
      </p:sp>
      <p:pic>
        <p:nvPicPr>
          <p:cNvPr id="11270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4338638"/>
            <a:ext cx="1276350" cy="127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71" name="Rectangle 6"/>
          <p:cNvSpPr>
            <a:spLocks noChangeArrowheads="1"/>
          </p:cNvSpPr>
          <p:nvPr/>
        </p:nvSpPr>
        <p:spPr bwMode="auto">
          <a:xfrm>
            <a:off x="762000" y="4186238"/>
            <a:ext cx="1066800" cy="762000"/>
          </a:xfrm>
          <a:prstGeom prst="rect">
            <a:avLst/>
          </a:prstGeom>
          <a:solidFill>
            <a:srgbClr val="A0BCFE"/>
          </a:solidFill>
          <a:ln>
            <a:noFill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pic>
        <p:nvPicPr>
          <p:cNvPr id="11272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350" y="4491038"/>
            <a:ext cx="1644650" cy="115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73" name="Rectangle 8"/>
          <p:cNvSpPr>
            <a:spLocks noChangeArrowheads="1"/>
          </p:cNvSpPr>
          <p:nvPr/>
        </p:nvSpPr>
        <p:spPr bwMode="auto">
          <a:xfrm>
            <a:off x="1752600" y="4414838"/>
            <a:ext cx="1371600" cy="381000"/>
          </a:xfrm>
          <a:prstGeom prst="rect">
            <a:avLst/>
          </a:prstGeom>
          <a:solidFill>
            <a:srgbClr val="A0BCFE"/>
          </a:solidFill>
          <a:ln>
            <a:noFill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11274" name="Oval 9"/>
          <p:cNvSpPr>
            <a:spLocks noChangeArrowheads="1"/>
          </p:cNvSpPr>
          <p:nvPr/>
        </p:nvSpPr>
        <p:spPr bwMode="auto">
          <a:xfrm>
            <a:off x="1295400" y="2509838"/>
            <a:ext cx="1219200" cy="1143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11275" name="TextBox 10"/>
          <p:cNvSpPr txBox="1">
            <a:spLocks noChangeArrowheads="1"/>
          </p:cNvSpPr>
          <p:nvPr/>
        </p:nvSpPr>
        <p:spPr bwMode="auto">
          <a:xfrm>
            <a:off x="1295400" y="2738438"/>
            <a:ext cx="1295400" cy="8302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algn="ctr" eaLnBrk="1" hangingPunct="1"/>
            <a:r>
              <a:rPr lang="en-US" b="0">
                <a:latin typeface="Helvetica" charset="0"/>
              </a:rPr>
              <a:t>Process</a:t>
            </a:r>
            <a:endParaRPr lang="en-US" b="0">
              <a:latin typeface="Helvetica" charset="0"/>
            </a:endParaRPr>
          </a:p>
          <a:p>
            <a:pPr algn="ctr" eaLnBrk="1" hangingPunct="1"/>
            <a:r>
              <a:rPr lang="en-US" b="0">
                <a:latin typeface="Helvetica" charset="0"/>
              </a:rPr>
              <a:t>A</a:t>
            </a:r>
            <a:endParaRPr lang="en-US" b="0">
              <a:latin typeface="Helvetica" charset="0"/>
            </a:endParaRPr>
          </a:p>
        </p:txBody>
      </p:sp>
      <p:sp>
        <p:nvSpPr>
          <p:cNvPr id="11276" name="Oval 11"/>
          <p:cNvSpPr>
            <a:spLocks noChangeArrowheads="1"/>
          </p:cNvSpPr>
          <p:nvPr/>
        </p:nvSpPr>
        <p:spPr bwMode="auto">
          <a:xfrm>
            <a:off x="1905000" y="3576638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11277" name="TextBox 12"/>
          <p:cNvSpPr txBox="1">
            <a:spLocks noChangeArrowheads="1"/>
          </p:cNvSpPr>
          <p:nvPr/>
        </p:nvSpPr>
        <p:spPr bwMode="auto">
          <a:xfrm>
            <a:off x="1447802" y="4059238"/>
            <a:ext cx="777875" cy="584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r>
              <a:rPr lang="en-US" sz="3200" b="0">
                <a:latin typeface="Helvetica" charset="0"/>
              </a:rPr>
              <a:t>OS</a:t>
            </a:r>
            <a:endParaRPr lang="en-US" sz="3200" b="0">
              <a:latin typeface="Helvetica" charset="0"/>
            </a:endParaRPr>
          </a:p>
        </p:txBody>
      </p:sp>
      <p:sp>
        <p:nvSpPr>
          <p:cNvPr id="11278" name="Rectangle 13"/>
          <p:cNvSpPr>
            <a:spLocks noChangeArrowheads="1"/>
          </p:cNvSpPr>
          <p:nvPr/>
        </p:nvSpPr>
        <p:spPr bwMode="auto">
          <a:xfrm>
            <a:off x="6553200" y="2357438"/>
            <a:ext cx="2012950" cy="2362200"/>
          </a:xfrm>
          <a:prstGeom prst="rect">
            <a:avLst/>
          </a:prstGeom>
          <a:solidFill>
            <a:srgbClr val="FFFFAA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6553200" y="3881438"/>
            <a:ext cx="2012950" cy="1524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b="0">
                <a:latin typeface="Helvetica" charset="0"/>
                <a:ea typeface="MS PGothic" panose="020B0600070205080204" charset="-128"/>
                <a:cs typeface="Helvetica" charset="0"/>
              </a:rPr>
              <a:t>       </a:t>
            </a:r>
            <a:endParaRPr lang="en-US" b="0">
              <a:latin typeface="Helvetica" charset="0"/>
              <a:ea typeface="MS PGothic" panose="020B0600070205080204" charset="-128"/>
              <a:cs typeface="Helvetica" charset="0"/>
            </a:endParaRPr>
          </a:p>
          <a:p>
            <a:pPr algn="ctr">
              <a:defRPr/>
            </a:pPr>
            <a:endParaRPr lang="en-US" b="0">
              <a:latin typeface="Helvetica" charset="0"/>
              <a:ea typeface="MS PGothic" panose="020B0600070205080204" charset="-128"/>
              <a:cs typeface="Helvetica" charset="0"/>
            </a:endParaRPr>
          </a:p>
          <a:p>
            <a:pPr algn="ctr">
              <a:defRPr/>
            </a:pPr>
            <a:endParaRPr lang="en-US" b="0">
              <a:latin typeface="Helvetica" charset="0"/>
              <a:ea typeface="MS PGothic" panose="020B0600070205080204" charset="-128"/>
              <a:cs typeface="Helvetica" charset="0"/>
            </a:endParaRPr>
          </a:p>
        </p:txBody>
      </p:sp>
      <p:pic>
        <p:nvPicPr>
          <p:cNvPr id="11280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491038"/>
            <a:ext cx="1644650" cy="115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81" name="Rectangle 16"/>
          <p:cNvSpPr>
            <a:spLocks noChangeArrowheads="1"/>
          </p:cNvSpPr>
          <p:nvPr/>
        </p:nvSpPr>
        <p:spPr bwMode="auto">
          <a:xfrm>
            <a:off x="6553200" y="4414838"/>
            <a:ext cx="1371600" cy="381000"/>
          </a:xfrm>
          <a:prstGeom prst="rect">
            <a:avLst/>
          </a:prstGeom>
          <a:solidFill>
            <a:srgbClr val="A0BCFE"/>
          </a:solidFill>
          <a:ln>
            <a:noFill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11282" name="Oval 17"/>
          <p:cNvSpPr>
            <a:spLocks noChangeArrowheads="1"/>
          </p:cNvSpPr>
          <p:nvPr/>
        </p:nvSpPr>
        <p:spPr bwMode="auto">
          <a:xfrm>
            <a:off x="6934200" y="2509838"/>
            <a:ext cx="1219200" cy="1143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11283" name="TextBox 18"/>
          <p:cNvSpPr txBox="1">
            <a:spLocks noChangeArrowheads="1"/>
          </p:cNvSpPr>
          <p:nvPr/>
        </p:nvSpPr>
        <p:spPr bwMode="auto">
          <a:xfrm>
            <a:off x="6934200" y="2746377"/>
            <a:ext cx="1295400" cy="8302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algn="ctr" eaLnBrk="1" hangingPunct="1"/>
            <a:r>
              <a:rPr lang="en-US" b="0">
                <a:latin typeface="Helvetica" charset="0"/>
              </a:rPr>
              <a:t>Process</a:t>
            </a:r>
            <a:endParaRPr lang="en-US" b="0">
              <a:latin typeface="Helvetica" charset="0"/>
            </a:endParaRPr>
          </a:p>
          <a:p>
            <a:pPr algn="ctr" eaLnBrk="1" hangingPunct="1"/>
            <a:r>
              <a:rPr lang="en-US" b="0">
                <a:latin typeface="Helvetica" charset="0"/>
              </a:rPr>
              <a:t>B</a:t>
            </a:r>
            <a:endParaRPr lang="en-US" b="0">
              <a:latin typeface="Helvetica" charset="0"/>
            </a:endParaRPr>
          </a:p>
        </p:txBody>
      </p:sp>
      <p:sp>
        <p:nvSpPr>
          <p:cNvPr id="11284" name="Oval 19"/>
          <p:cNvSpPr>
            <a:spLocks noChangeArrowheads="1"/>
          </p:cNvSpPr>
          <p:nvPr/>
        </p:nvSpPr>
        <p:spPr bwMode="auto">
          <a:xfrm>
            <a:off x="7543800" y="3576638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11285" name="TextBox 20"/>
          <p:cNvSpPr txBox="1">
            <a:spLocks noChangeArrowheads="1"/>
          </p:cNvSpPr>
          <p:nvPr/>
        </p:nvSpPr>
        <p:spPr bwMode="auto">
          <a:xfrm>
            <a:off x="7299327" y="4059238"/>
            <a:ext cx="777875" cy="584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r>
              <a:rPr lang="en-US" sz="3200" b="0">
                <a:latin typeface="Helvetica" charset="0"/>
              </a:rPr>
              <a:t>OS</a:t>
            </a:r>
            <a:endParaRPr lang="en-US" sz="3200" b="0">
              <a:latin typeface="Helvetica" charset="0"/>
            </a:endParaRPr>
          </a:p>
        </p:txBody>
      </p:sp>
      <p:cxnSp>
        <p:nvCxnSpPr>
          <p:cNvPr id="11286" name="Straight Arrow Connector 29"/>
          <p:cNvCxnSpPr>
            <a:cxnSpLocks noChangeShapeType="1"/>
            <a:stCxn id="11289" idx="1"/>
          </p:cNvCxnSpPr>
          <p:nvPr/>
        </p:nvCxnSpPr>
        <p:spPr bwMode="auto">
          <a:xfrm rot="10800000">
            <a:off x="1066800" y="5499102"/>
            <a:ext cx="2438400" cy="365125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tailEnd type="triangle" w="med" len="med"/>
          </a:ln>
        </p:spPr>
      </p:cxnSp>
      <p:cxnSp>
        <p:nvCxnSpPr>
          <p:cNvPr id="11287" name="Straight Arrow Connector 31"/>
          <p:cNvCxnSpPr>
            <a:cxnSpLocks noChangeShapeType="1"/>
            <a:stCxn id="11289" idx="1"/>
          </p:cNvCxnSpPr>
          <p:nvPr/>
        </p:nvCxnSpPr>
        <p:spPr bwMode="auto">
          <a:xfrm rot="10800000">
            <a:off x="2606677" y="5570540"/>
            <a:ext cx="898525" cy="293687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tailEnd type="triangle" w="med" len="med"/>
          </a:ln>
        </p:spPr>
      </p:cxnSp>
      <p:cxnSp>
        <p:nvCxnSpPr>
          <p:cNvPr id="11288" name="Straight Arrow Connector 36"/>
          <p:cNvCxnSpPr>
            <a:cxnSpLocks noChangeShapeType="1"/>
            <a:stCxn id="11289" idx="3"/>
          </p:cNvCxnSpPr>
          <p:nvPr/>
        </p:nvCxnSpPr>
        <p:spPr bwMode="auto">
          <a:xfrm flipV="1">
            <a:off x="5656263" y="5646740"/>
            <a:ext cx="1414462" cy="217487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tailEnd type="triangle" w="med" len="med"/>
          </a:ln>
        </p:spPr>
      </p:cxnSp>
      <p:sp>
        <p:nvSpPr>
          <p:cNvPr id="11289" name="TextBox 41"/>
          <p:cNvSpPr txBox="1">
            <a:spLocks noChangeArrowheads="1"/>
          </p:cNvSpPr>
          <p:nvPr/>
        </p:nvSpPr>
        <p:spPr bwMode="auto">
          <a:xfrm>
            <a:off x="3505202" y="5634038"/>
            <a:ext cx="2151063" cy="4619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r>
              <a:rPr lang="en-US" b="0">
                <a:latin typeface="Helvetica" charset="0"/>
              </a:rPr>
              <a:t>Network cards</a:t>
            </a:r>
            <a:endParaRPr lang="en-US" b="0">
              <a:latin typeface="Helvetica" charset="0"/>
            </a:endParaRPr>
          </a:p>
        </p:txBody>
      </p:sp>
      <p:sp>
        <p:nvSpPr>
          <p:cNvPr id="11290" name="Rounded Rectangular Callout 25"/>
          <p:cNvSpPr>
            <a:spLocks noChangeArrowheads="1"/>
          </p:cNvSpPr>
          <p:nvPr/>
        </p:nvSpPr>
        <p:spPr bwMode="auto">
          <a:xfrm>
            <a:off x="152400" y="5486400"/>
            <a:ext cx="1676400" cy="762000"/>
          </a:xfrm>
          <a:prstGeom prst="wedgeRoundRectCallout">
            <a:avLst>
              <a:gd name="adj1" fmla="val -18176"/>
              <a:gd name="adj2" fmla="val -97500"/>
              <a:gd name="adj3" fmla="val 16667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r>
              <a:rPr lang="en-US" sz="2000" b="0">
                <a:latin typeface="Helvetica" charset="0"/>
              </a:rPr>
              <a:t>IP Addr1</a:t>
            </a:r>
            <a:endParaRPr lang="en-US" sz="2000" b="0">
              <a:latin typeface="Helvetica" charset="0"/>
            </a:endParaRPr>
          </a:p>
          <a:p>
            <a:r>
              <a:rPr lang="en-US" sz="2000" b="0">
                <a:latin typeface="Helvetica" charset="0"/>
              </a:rPr>
              <a:t>MAC Addr1</a:t>
            </a:r>
            <a:endParaRPr lang="en-US" sz="2000" b="0">
              <a:latin typeface="Helvetica" charset="0"/>
            </a:endParaRPr>
          </a:p>
        </p:txBody>
      </p:sp>
      <p:sp>
        <p:nvSpPr>
          <p:cNvPr id="11291" name="Rounded Rectangular Callout 26"/>
          <p:cNvSpPr>
            <a:spLocks noChangeArrowheads="1"/>
          </p:cNvSpPr>
          <p:nvPr/>
        </p:nvSpPr>
        <p:spPr bwMode="auto">
          <a:xfrm>
            <a:off x="3200400" y="3886200"/>
            <a:ext cx="1676400" cy="762000"/>
          </a:xfrm>
          <a:prstGeom prst="wedgeRoundRectCallout">
            <a:avLst>
              <a:gd name="adj1" fmla="val -51509"/>
              <a:gd name="adj2" fmla="val 82500"/>
              <a:gd name="adj3" fmla="val 16667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r>
              <a:rPr lang="en-US" sz="2000" b="0">
                <a:latin typeface="Helvetica" charset="0"/>
              </a:rPr>
              <a:t>IP Addr2</a:t>
            </a:r>
            <a:endParaRPr lang="en-US" sz="2000" b="0">
              <a:latin typeface="Helvetica" charset="0"/>
            </a:endParaRPr>
          </a:p>
          <a:p>
            <a:r>
              <a:rPr lang="en-US" sz="2000" b="0">
                <a:latin typeface="Helvetica" charset="0"/>
              </a:rPr>
              <a:t>MAC Addr2</a:t>
            </a:r>
            <a:endParaRPr lang="en-US" sz="2000" b="0">
              <a:latin typeface="Helvetica" charset="0"/>
            </a:endParaRPr>
          </a:p>
        </p:txBody>
      </p:sp>
      <p:sp>
        <p:nvSpPr>
          <p:cNvPr id="11292" name="Rounded Rectangular Callout 27"/>
          <p:cNvSpPr>
            <a:spLocks noChangeArrowheads="1"/>
          </p:cNvSpPr>
          <p:nvPr/>
        </p:nvSpPr>
        <p:spPr bwMode="auto">
          <a:xfrm>
            <a:off x="5029200" y="3810000"/>
            <a:ext cx="1676400" cy="762000"/>
          </a:xfrm>
          <a:prstGeom prst="wedgeRoundRectCallout">
            <a:avLst>
              <a:gd name="adj1" fmla="val 36370"/>
              <a:gd name="adj2" fmla="val 93611"/>
              <a:gd name="adj3" fmla="val 16667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r>
              <a:rPr lang="en-US" sz="2000" b="0">
                <a:latin typeface="Helvetica" charset="0"/>
              </a:rPr>
              <a:t>IP Addr3</a:t>
            </a:r>
            <a:endParaRPr lang="en-US" sz="2000" b="0">
              <a:latin typeface="Helvetica" charset="0"/>
            </a:endParaRPr>
          </a:p>
          <a:p>
            <a:r>
              <a:rPr lang="en-US" sz="2000" b="0">
                <a:latin typeface="Helvetica" charset="0"/>
              </a:rPr>
              <a:t>MAC Addr3</a:t>
            </a:r>
            <a:endParaRPr lang="en-US" sz="2000" b="0">
              <a:latin typeface="Helvetica" charset="0"/>
            </a:endParaRPr>
          </a:p>
        </p:txBody>
      </p:sp>
      <p:sp>
        <p:nvSpPr>
          <p:cNvPr id="11293" name="Freeform 21"/>
          <p:cNvSpPr>
            <a:spLocks noChangeArrowheads="1"/>
          </p:cNvSpPr>
          <p:nvPr/>
        </p:nvSpPr>
        <p:spPr bwMode="auto">
          <a:xfrm>
            <a:off x="1947865" y="3632200"/>
            <a:ext cx="5654675" cy="1473200"/>
          </a:xfrm>
          <a:custGeom>
            <a:avLst/>
            <a:gdLst>
              <a:gd name="T0" fmla="*/ 0 w 5655734"/>
              <a:gd name="T1" fmla="*/ 0 h 1473200"/>
              <a:gd name="T2" fmla="*/ 641427 w 5655734"/>
              <a:gd name="T3" fmla="*/ 1473200 h 1473200"/>
              <a:gd name="T4" fmla="*/ 4945698 w 5655734"/>
              <a:gd name="T5" fmla="*/ 1456266 h 1473200"/>
              <a:gd name="T6" fmla="*/ 5637758 w 5655734"/>
              <a:gd name="T7" fmla="*/ 84666 h 1473200"/>
              <a:gd name="T8" fmla="*/ 0 60000 65536"/>
              <a:gd name="T9" fmla="*/ 0 60000 65536"/>
              <a:gd name="T10" fmla="*/ 0 60000 65536"/>
              <a:gd name="T11" fmla="*/ 0 60000 65536"/>
              <a:gd name="T12" fmla="*/ 0 w 5655734"/>
              <a:gd name="T13" fmla="*/ 0 h 1473200"/>
              <a:gd name="T14" fmla="*/ 5655734 w 5655734"/>
              <a:gd name="T15" fmla="*/ 1473200 h 14732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55734" h="1473200">
                <a:moveTo>
                  <a:pt x="0" y="0"/>
                </a:moveTo>
                <a:lnTo>
                  <a:pt x="643467" y="1473200"/>
                </a:lnTo>
                <a:lnTo>
                  <a:pt x="4961467" y="1456266"/>
                </a:lnTo>
                <a:lnTo>
                  <a:pt x="5655734" y="84666"/>
                </a:lnTo>
              </a:path>
            </a:pathLst>
          </a:custGeom>
          <a:noFill/>
          <a:ln w="38100">
            <a:solidFill>
              <a:schemeClr val="tx1"/>
            </a:solidFill>
            <a:rou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1294" name="Straight Arrow Connector 23"/>
          <p:cNvCxnSpPr>
            <a:cxnSpLocks noChangeShapeType="1"/>
            <a:stCxn id="11296" idx="1"/>
          </p:cNvCxnSpPr>
          <p:nvPr/>
        </p:nvCxnSpPr>
        <p:spPr bwMode="auto">
          <a:xfrm flipH="1">
            <a:off x="2057400" y="3351215"/>
            <a:ext cx="1752600" cy="377825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tailEnd type="triangle" w="med" len="med"/>
          </a:ln>
        </p:spPr>
      </p:cxnSp>
      <p:cxnSp>
        <p:nvCxnSpPr>
          <p:cNvPr id="11295" name="Straight Arrow Connector 24"/>
          <p:cNvCxnSpPr>
            <a:cxnSpLocks noChangeShapeType="1"/>
            <a:stCxn id="11296" idx="3"/>
          </p:cNvCxnSpPr>
          <p:nvPr/>
        </p:nvCxnSpPr>
        <p:spPr bwMode="auto">
          <a:xfrm>
            <a:off x="5551488" y="3351215"/>
            <a:ext cx="1992312" cy="454025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tailEnd type="triangle" w="med" len="med"/>
          </a:ln>
        </p:spPr>
      </p:cxnSp>
      <p:sp>
        <p:nvSpPr>
          <p:cNvPr id="11296" name="TextBox 26"/>
          <p:cNvSpPr txBox="1">
            <a:spLocks noChangeArrowheads="1"/>
          </p:cNvSpPr>
          <p:nvPr/>
        </p:nvSpPr>
        <p:spPr bwMode="auto">
          <a:xfrm>
            <a:off x="3810000" y="3119438"/>
            <a:ext cx="1741488" cy="4619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r>
              <a:rPr lang="en-US" b="0">
                <a:latin typeface="Helvetica" charset="0"/>
              </a:rPr>
              <a:t>Connection</a:t>
            </a:r>
            <a:endParaRPr lang="en-US" b="0">
              <a:latin typeface="Helvetica" charset="0"/>
            </a:endParaRPr>
          </a:p>
        </p:txBody>
      </p:sp>
      <p:sp>
        <p:nvSpPr>
          <p:cNvPr id="33" name="Rounded Rectangular Callout 32"/>
          <p:cNvSpPr>
            <a:spLocks noChangeArrowheads="1"/>
          </p:cNvSpPr>
          <p:nvPr/>
        </p:nvSpPr>
        <p:spPr bwMode="auto">
          <a:xfrm>
            <a:off x="228600" y="3429000"/>
            <a:ext cx="914400" cy="533400"/>
          </a:xfrm>
          <a:prstGeom prst="wedgeRoundRectCallout">
            <a:avLst>
              <a:gd name="adj1" fmla="val 131824"/>
              <a:gd name="adj2" fmla="val 912"/>
              <a:gd name="adj3" fmla="val 16667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r>
              <a:rPr lang="en-US" sz="2000" b="0">
                <a:latin typeface="Helvetica" charset="0"/>
              </a:rPr>
              <a:t>PortA</a:t>
            </a:r>
            <a:endParaRPr lang="en-US" sz="2000" b="0">
              <a:latin typeface="Helvetica" charset="0"/>
            </a:endParaRPr>
          </a:p>
        </p:txBody>
      </p:sp>
      <p:sp>
        <p:nvSpPr>
          <p:cNvPr id="34" name="Rounded Rectangular Callout 33"/>
          <p:cNvSpPr>
            <a:spLocks noChangeArrowheads="1"/>
          </p:cNvSpPr>
          <p:nvPr/>
        </p:nvSpPr>
        <p:spPr bwMode="auto">
          <a:xfrm>
            <a:off x="8204200" y="3505200"/>
            <a:ext cx="914400" cy="533400"/>
          </a:xfrm>
          <a:prstGeom prst="wedgeRoundRectCallout">
            <a:avLst>
              <a:gd name="adj1" fmla="val -110769"/>
              <a:gd name="adj2" fmla="val -14958"/>
              <a:gd name="adj3" fmla="val 16667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r>
              <a:rPr lang="en-US" sz="2000" b="0">
                <a:latin typeface="Helvetica" charset="0"/>
              </a:rPr>
              <a:t>PortB</a:t>
            </a:r>
            <a:endParaRPr lang="en-US" sz="2000" b="0">
              <a:latin typeface="Helvetica" charset="0"/>
            </a:endParaRPr>
          </a:p>
        </p:txBody>
      </p:sp>
      <p:sp>
        <p:nvSpPr>
          <p:cNvPr id="35" name="圆角矩形 34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5" grpId="0" build="p"/>
      <p:bldP spid="33" grpId="0" animBg="1"/>
      <p:bldP spid="3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162800" cy="838200"/>
          </a:xfrm>
        </p:spPr>
        <p:txBody>
          <a:bodyPr/>
          <a:lstStyle/>
          <a:p>
            <a:r>
              <a:rPr lang="en-US">
                <a:latin typeface="Helvetica" charset="0"/>
                <a:ea typeface="MS PGothic" panose="020B0600070205080204" charset="-128"/>
              </a:rPr>
              <a:t>Common Port Numbers</a:t>
            </a:r>
            <a:endParaRPr lang="en-US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09802" y="1066800"/>
          <a:ext cx="4765675" cy="3937000"/>
        </p:xfrm>
        <a:graphic>
          <a:graphicData uri="http://schemas.openxmlformats.org/drawingml/2006/table">
            <a:tbl>
              <a:tblPr/>
              <a:tblGrid>
                <a:gridCol w="2819400"/>
                <a:gridCol w="1946275"/>
              </a:tblGrid>
              <a:tr h="39370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charset="-128"/>
                          <a:cs typeface="Arial" panose="020B0604020202020204" pitchFamily="34" charset="0"/>
                        </a:rPr>
                        <a:t>Application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charset="-128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charset="-128"/>
                          <a:cs typeface="Arial" panose="020B0604020202020204" pitchFamily="34" charset="0"/>
                        </a:rPr>
                        <a:t>Port number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charset="-128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charset="-128"/>
                          <a:cs typeface="Arial" panose="020B0604020202020204" pitchFamily="34" charset="0"/>
                        </a:rPr>
                        <a:t>Wake-on-LAN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charset="-128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charset="-128"/>
                          <a:cs typeface="Arial" panose="020B0604020202020204" pitchFamily="34" charset="0"/>
                        </a:rPr>
                        <a:t>9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charset="-128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charset="-128"/>
                          <a:cs typeface="Arial" panose="020B0604020202020204" pitchFamily="34" charset="0"/>
                        </a:rPr>
                        <a:t>FTP data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charset="-128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charset="-128"/>
                          <a:cs typeface="Arial" panose="020B0604020202020204" pitchFamily="34" charset="0"/>
                        </a:rPr>
                        <a:t>20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charset="-128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charset="-128"/>
                          <a:cs typeface="Arial" panose="020B0604020202020204" pitchFamily="34" charset="0"/>
                        </a:rPr>
                        <a:t>FTP control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charset="-128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charset="-128"/>
                          <a:cs typeface="Arial" panose="020B0604020202020204" pitchFamily="34" charset="0"/>
                        </a:rPr>
                        <a:t>21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charset="-128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charset="-128"/>
                          <a:cs typeface="Arial" panose="020B0604020202020204" pitchFamily="34" charset="0"/>
                        </a:rPr>
                        <a:t>SSH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charset="-128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charset="-128"/>
                          <a:cs typeface="Arial" panose="020B0604020202020204" pitchFamily="34" charset="0"/>
                        </a:rPr>
                        <a:t>22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charset="-128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charset="-128"/>
                          <a:cs typeface="Arial" panose="020B0604020202020204" pitchFamily="34" charset="0"/>
                        </a:rPr>
                        <a:t>Telnet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charset="-128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charset="-128"/>
                          <a:cs typeface="Arial" panose="020B0604020202020204" pitchFamily="34" charset="0"/>
                        </a:rPr>
                        <a:t>23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charset="-128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charset="-128"/>
                          <a:cs typeface="Arial" panose="020B0604020202020204" pitchFamily="34" charset="0"/>
                        </a:rPr>
                        <a:t>DNS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charset="-128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charset="-128"/>
                          <a:cs typeface="Arial" panose="020B0604020202020204" pitchFamily="34" charset="0"/>
                        </a:rPr>
                        <a:t>53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charset="-128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charset="-128"/>
                          <a:cs typeface="Arial" panose="020B0604020202020204" pitchFamily="34" charset="0"/>
                        </a:rPr>
                        <a:t>HTTP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charset="-128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charset="-128"/>
                          <a:cs typeface="Arial" panose="020B0604020202020204" pitchFamily="34" charset="0"/>
                        </a:rPr>
                        <a:t>80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charset="-128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charset="-128"/>
                          <a:cs typeface="Arial" panose="020B0604020202020204" pitchFamily="34" charset="0"/>
                        </a:rPr>
                        <a:t>SNMP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charset="-128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charset="-128"/>
                          <a:cs typeface="Arial" panose="020B0604020202020204" pitchFamily="34" charset="0"/>
                        </a:rPr>
                        <a:t>161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charset="-128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charset="-128"/>
                          <a:cs typeface="Arial" panose="020B0604020202020204" pitchFamily="34" charset="0"/>
                        </a:rPr>
                        <a:t>… 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charset="-128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charset="-128"/>
                          <a:cs typeface="Arial" panose="020B0604020202020204" pitchFamily="34" charset="0"/>
                        </a:rPr>
                        <a:t>…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charset="-128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圆角矩形 4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Addressing:</a:t>
            </a:r>
            <a:r>
              <a:rPr kumimoji="1" lang="zh-CN" altLang="en-US" dirty="0"/>
              <a:t> </a:t>
            </a:r>
            <a:r>
              <a:rPr kumimoji="1" lang="en-US" altLang="zh-CN" dirty="0"/>
              <a:t>finding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right</a:t>
            </a:r>
            <a:r>
              <a:rPr kumimoji="1" lang="zh-CN" altLang="en-US" dirty="0"/>
              <a:t> </a:t>
            </a:r>
            <a:r>
              <a:rPr kumimoji="1" lang="en-US" altLang="zh-CN" dirty="0"/>
              <a:t>target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356352"/>
            <a:ext cx="2057400" cy="365125"/>
          </a:xfrm>
          <a:prstGeom prst="rect">
            <a:avLst/>
          </a:prstGeom>
        </p:spPr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54"/>
          <p:cNvSpPr txBox="1">
            <a:spLocks noGrp="1"/>
          </p:cNvSpPr>
          <p:nvPr>
            <p:ph idx="1"/>
          </p:nvPr>
        </p:nvSpPr>
        <p:spPr>
          <a:xfrm>
            <a:off x="532265" y="1269242"/>
            <a:ext cx="8270543" cy="427430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50" tIns="34275" rIns="68550" bIns="34275" numCol="1" rtlCol="0" anchor="t" anchorCtr="0" compatLnSpc="1">
            <a:noAutofit/>
          </a:bodyPr>
          <a:lstStyle/>
          <a:p>
            <a:pPr marL="255905" indent="-255905">
              <a:spcBef>
                <a:spcPts val="0"/>
              </a:spcBef>
              <a:buClr>
                <a:schemeClr val="accent2"/>
              </a:buClr>
              <a:buSzPts val="2800"/>
              <a:buFont typeface="Arial" panose="020B0604020202020204"/>
              <a:buChar char="•"/>
            </a:pPr>
            <a:r>
              <a:rPr lang="en-GB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How does one find the </a:t>
            </a:r>
            <a:r>
              <a:rPr lang="en-US" altLang="zh-CN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MAC</a:t>
            </a:r>
            <a:r>
              <a:rPr lang="en-GB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of a IP host?</a:t>
            </a:r>
            <a:endParaRPr dirty="0"/>
          </a:p>
          <a:p>
            <a:pPr marL="655955" lvl="1" indent="-255905">
              <a:spcBef>
                <a:spcPts val="420"/>
              </a:spcBef>
              <a:buClr>
                <a:schemeClr val="accent2"/>
              </a:buClr>
              <a:buSzPts val="2800"/>
              <a:buFont typeface="Arial" panose="020B0604020202020204"/>
              <a:buChar char="•"/>
            </a:pPr>
            <a:r>
              <a:rPr lang="en-US" altLang="zh-CN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Broadcast</a:t>
            </a:r>
            <a:endParaRPr lang="en-US" altLang="zh-CN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655955" lvl="1" indent="-255905">
              <a:spcBef>
                <a:spcPts val="420"/>
              </a:spcBef>
              <a:buClr>
                <a:schemeClr val="accent2"/>
              </a:buClr>
              <a:buSzPts val="2800"/>
              <a:buFont typeface="Arial" panose="020B0604020202020204"/>
              <a:buChar char="•"/>
            </a:pPr>
            <a:endParaRPr lang="en-GB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55905" indent="-255905">
              <a:spcBef>
                <a:spcPts val="420"/>
              </a:spcBef>
              <a:buClr>
                <a:schemeClr val="accent2"/>
              </a:buClr>
              <a:buSzPts val="2800"/>
              <a:buFont typeface="Arial" panose="020B0604020202020204"/>
              <a:buChar char="•"/>
            </a:pPr>
            <a:r>
              <a:rPr lang="en-GB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ARP</a:t>
            </a:r>
            <a:endParaRPr dirty="0"/>
          </a:p>
          <a:p>
            <a:pPr marL="556260" lvl="1" indent="-213360">
              <a:spcBef>
                <a:spcPts val="360"/>
              </a:spcBef>
              <a:buClr>
                <a:schemeClr val="accent2"/>
              </a:buClr>
              <a:buSzPts val="2400"/>
              <a:buFont typeface="Arial" panose="020B0604020202020204"/>
              <a:buChar char="•"/>
            </a:pPr>
            <a:r>
              <a:rPr lang="en-GB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Broadcast search for IP address</a:t>
            </a:r>
            <a:endParaRPr dirty="0"/>
          </a:p>
          <a:p>
            <a:pPr marL="813435" lvl="2" indent="-170180">
              <a:spcBef>
                <a:spcPts val="300"/>
              </a:spcBef>
              <a:buClr>
                <a:schemeClr val="accent2"/>
              </a:buClr>
              <a:buSzPts val="2000"/>
              <a:buFont typeface="Arial" panose="020B0604020202020204"/>
              <a:buChar char="•"/>
            </a:pPr>
            <a:r>
              <a:rPr lang="en-GB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E.g., “who-has 128.2.184.45 tell 128.2.206.138” sent to Ethernet broadcast (all FF address)</a:t>
            </a:r>
            <a:endParaRPr lang="en-GB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56260" lvl="1" indent="-213360">
              <a:spcBef>
                <a:spcPts val="360"/>
              </a:spcBef>
              <a:buClr>
                <a:schemeClr val="accent2"/>
              </a:buClr>
              <a:buSzPts val="2400"/>
              <a:buFont typeface="Arial" panose="020B0604020202020204"/>
              <a:buChar char="•"/>
            </a:pPr>
            <a:r>
              <a:rPr lang="en-GB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Destination responds (only to requester using unicast) with appropriate 48-bit Ethernet address</a:t>
            </a:r>
            <a:endParaRPr dirty="0"/>
          </a:p>
          <a:p>
            <a:pPr marL="813435" lvl="2" indent="-170180">
              <a:spcBef>
                <a:spcPts val="300"/>
              </a:spcBef>
              <a:buClr>
                <a:schemeClr val="accent2"/>
              </a:buClr>
              <a:buSzPts val="2000"/>
              <a:buFont typeface="Arial" panose="020B0604020202020204"/>
              <a:buChar char="•"/>
            </a:pPr>
            <a:r>
              <a:rPr lang="en-GB" dirty="0" err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E.g</a:t>
            </a:r>
            <a:r>
              <a:rPr lang="en-GB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“reply 128.2.184.45 is-at 0:d0:bc:f2:18:58” sent to 0:c0:4f:d:ed:c6</a:t>
            </a:r>
            <a:endParaRPr dirty="0"/>
          </a:p>
        </p:txBody>
      </p:sp>
      <p:sp>
        <p:nvSpPr>
          <p:cNvPr id="1005" name="Google Shape;1005;p54"/>
          <p:cNvSpPr txBox="1">
            <a:spLocks noGrp="1"/>
          </p:cNvSpPr>
          <p:nvPr>
            <p:ph type="title"/>
          </p:nvPr>
        </p:nvSpPr>
        <p:spPr>
          <a:xfrm>
            <a:off x="381002" y="10888"/>
            <a:ext cx="8463203" cy="886725"/>
          </a:xfrm>
          <a:prstGeom prst="rect">
            <a:avLst/>
          </a:prstGeom>
        </p:spPr>
        <p:txBody>
          <a:bodyPr spcFirstLastPara="1" vert="horz" wrap="square" lIns="51431" tIns="25706" rIns="51431" bIns="25706" numCol="1" rtlCol="0" anchor="ctr" anchorCtr="0" compatLnSpc="1">
            <a:noAutofit/>
          </a:bodyPr>
          <a:lstStyle/>
          <a:p>
            <a:pPr>
              <a:spcBef>
                <a:spcPts val="0"/>
              </a:spcBef>
            </a:pPr>
            <a:r>
              <a:rPr lang="en-US" altLang="zh-CN" dirty="0"/>
              <a:t>Addressing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local</a:t>
            </a:r>
            <a:r>
              <a:rPr lang="zh-CN" altLang="en-US" dirty="0"/>
              <a:t> </a:t>
            </a:r>
            <a:r>
              <a:rPr lang="en-US" altLang="zh-CN" dirty="0"/>
              <a:t>area</a:t>
            </a:r>
            <a:r>
              <a:rPr lang="zh-CN" altLang="en-US" dirty="0"/>
              <a:t> </a:t>
            </a:r>
            <a:r>
              <a:rPr lang="en-US" altLang="zh-CN" dirty="0"/>
              <a:t>network</a:t>
            </a:r>
            <a:r>
              <a:rPr lang="zh-CN" altLang="en-US" dirty="0"/>
              <a:t> </a:t>
            </a:r>
            <a:r>
              <a:rPr lang="en-US" altLang="zh-CN" dirty="0"/>
              <a:t>(LANs)</a:t>
            </a:r>
            <a:endParaRPr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533400" y="838200"/>
            <a:ext cx="8229600" cy="2590800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panose="020B0600070205080204" charset="-128"/>
              </a:rPr>
              <a:t>All hosts in a LAN can share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the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same physical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communication media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(wire)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r>
              <a:rPr lang="ja-JP" altLang="en-US">
                <a:latin typeface="Helvetica" charset="0"/>
                <a:ea typeface="MS PGothic" panose="020B0600070205080204" charset="-128"/>
              </a:rPr>
              <a:t>“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Hubs</a:t>
            </a:r>
            <a:r>
              <a:rPr lang="ja-JP" altLang="en-US">
                <a:latin typeface="Helvetica" charset="0"/>
                <a:ea typeface="MS PGothic" panose="020B0600070205080204" charset="-128"/>
              </a:rPr>
              <a:t>”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 forward from one wire to all the others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dirty="0">
                <a:latin typeface="Helvetica" charset="0"/>
                <a:ea typeface="MS PGothic" panose="020B0600070205080204" charset="-128"/>
              </a:rPr>
              <a:t>If a host is not the intended recipient, it drops the frame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r>
              <a:rPr lang="en-US" altLang="zh-CN" dirty="0">
                <a:latin typeface="Helvetica" charset="0"/>
                <a:ea typeface="MS PGothic" panose="020B0600070205080204" charset="-128"/>
              </a:rPr>
              <a:t>Congestions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on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the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wire?</a:t>
            </a:r>
            <a:endParaRPr lang="en-US" altLang="zh-CN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altLang="zh-CN" dirty="0">
                <a:latin typeface="Helvetica" charset="0"/>
                <a:ea typeface="MS PGothic" panose="020B0600070205080204" charset="-128"/>
              </a:rPr>
              <a:t>Ethernet: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Detect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and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retransmit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>
              <a:buFontTx/>
              <a:buNone/>
            </a:pPr>
            <a:endParaRPr lang="en-US" dirty="0">
              <a:latin typeface="Helvetica" charset="0"/>
              <a:ea typeface="MS PGothic" panose="020B0600070205080204" charset="-128"/>
            </a:endParaRPr>
          </a:p>
          <a:p>
            <a:endParaRPr lang="en-US" dirty="0">
              <a:latin typeface="Helvetica" charset="0"/>
              <a:ea typeface="MS PGothic" panose="020B0600070205080204" charset="-128"/>
            </a:endParaRPr>
          </a:p>
          <a:p>
            <a:pPr>
              <a:buFontTx/>
              <a:buNone/>
            </a:pPr>
            <a:endParaRPr lang="en-US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panose="020B0600070205080204" charset="-128"/>
              </a:rPr>
              <a:t>LANs: Hubs</a:t>
            </a:r>
            <a:endParaRPr lang="en-US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22539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4344987"/>
            <a:ext cx="1455738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40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4394202"/>
            <a:ext cx="1003300" cy="788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41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217987"/>
            <a:ext cx="1041400" cy="1041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542" name="Straight Connector 24"/>
          <p:cNvCxnSpPr>
            <a:cxnSpLocks noChangeShapeType="1"/>
          </p:cNvCxnSpPr>
          <p:nvPr/>
        </p:nvCxnSpPr>
        <p:spPr bwMode="auto">
          <a:xfrm>
            <a:off x="2514600" y="6019802"/>
            <a:ext cx="4038600" cy="1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</p:spPr>
      </p:cxnSp>
      <p:cxnSp>
        <p:nvCxnSpPr>
          <p:cNvPr id="22543" name="Straight Connector 25"/>
          <p:cNvCxnSpPr>
            <a:cxnSpLocks noChangeShapeType="1"/>
          </p:cNvCxnSpPr>
          <p:nvPr/>
        </p:nvCxnSpPr>
        <p:spPr bwMode="auto">
          <a:xfrm rot="5400000" flipH="1" flipV="1">
            <a:off x="2610644" y="5584031"/>
            <a:ext cx="8747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</p:spPr>
      </p:cxnSp>
      <p:cxnSp>
        <p:nvCxnSpPr>
          <p:cNvPr id="22544" name="Straight Connector 31"/>
          <p:cNvCxnSpPr>
            <a:cxnSpLocks noChangeShapeType="1"/>
          </p:cNvCxnSpPr>
          <p:nvPr/>
        </p:nvCxnSpPr>
        <p:spPr bwMode="auto">
          <a:xfrm rot="16200000" flipV="1">
            <a:off x="4134644" y="5584031"/>
            <a:ext cx="8747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</p:spPr>
      </p:cxnSp>
      <p:cxnSp>
        <p:nvCxnSpPr>
          <p:cNvPr id="22545" name="Straight Connector 32"/>
          <p:cNvCxnSpPr>
            <a:cxnSpLocks noChangeShapeType="1"/>
          </p:cNvCxnSpPr>
          <p:nvPr/>
        </p:nvCxnSpPr>
        <p:spPr bwMode="auto">
          <a:xfrm rot="16200000" flipV="1">
            <a:off x="5506244" y="5584031"/>
            <a:ext cx="8747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</p:spPr>
      </p:cxnSp>
      <p:sp>
        <p:nvSpPr>
          <p:cNvPr id="22546" name="TextBox 39"/>
          <p:cNvSpPr txBox="1">
            <a:spLocks noChangeArrowheads="1"/>
          </p:cNvSpPr>
          <p:nvPr/>
        </p:nvSpPr>
        <p:spPr bwMode="auto">
          <a:xfrm>
            <a:off x="1981200" y="6248400"/>
            <a:ext cx="184150" cy="4000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endParaRPr lang="en-US" sz="2000" b="0">
              <a:latin typeface="Helvetica" charset="0"/>
            </a:endParaRPr>
          </a:p>
        </p:txBody>
      </p:sp>
      <p:sp>
        <p:nvSpPr>
          <p:cNvPr id="22547" name="TextBox 29"/>
          <p:cNvSpPr txBox="1">
            <a:spLocks noChangeArrowheads="1"/>
          </p:cNvSpPr>
          <p:nvPr/>
        </p:nvSpPr>
        <p:spPr bwMode="auto">
          <a:xfrm>
            <a:off x="2225675" y="3887787"/>
            <a:ext cx="1524000" cy="36988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r>
              <a:rPr lang="en-US" sz="1800" b="0">
                <a:latin typeface="Helvetica" charset="0"/>
              </a:rPr>
              <a:t>MAC Addr:</a:t>
            </a:r>
            <a:r>
              <a:rPr lang="en-US" sz="1800">
                <a:latin typeface="Helvetica" charset="0"/>
              </a:rPr>
              <a:t> A</a:t>
            </a:r>
            <a:endParaRPr lang="en-US" sz="1800">
              <a:latin typeface="Helvetica" charset="0"/>
            </a:endParaRPr>
          </a:p>
        </p:txBody>
      </p:sp>
      <p:sp>
        <p:nvSpPr>
          <p:cNvPr id="22548" name="TextBox 30"/>
          <p:cNvSpPr txBox="1">
            <a:spLocks noChangeArrowheads="1"/>
          </p:cNvSpPr>
          <p:nvPr/>
        </p:nvSpPr>
        <p:spPr bwMode="auto">
          <a:xfrm>
            <a:off x="3749675" y="3898902"/>
            <a:ext cx="1531938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r>
              <a:rPr lang="en-US" sz="1800" b="0">
                <a:latin typeface="Helvetica" charset="0"/>
              </a:rPr>
              <a:t>MAC Addr:</a:t>
            </a:r>
            <a:r>
              <a:rPr lang="en-US" sz="1800">
                <a:latin typeface="Helvetica" charset="0"/>
              </a:rPr>
              <a:t> B</a:t>
            </a:r>
            <a:endParaRPr lang="en-US" sz="1800">
              <a:latin typeface="Helvetica" charset="0"/>
            </a:endParaRPr>
          </a:p>
        </p:txBody>
      </p:sp>
      <p:sp>
        <p:nvSpPr>
          <p:cNvPr id="22549" name="TextBox 31"/>
          <p:cNvSpPr txBox="1">
            <a:spLocks noChangeArrowheads="1"/>
          </p:cNvSpPr>
          <p:nvPr/>
        </p:nvSpPr>
        <p:spPr bwMode="auto">
          <a:xfrm>
            <a:off x="5341940" y="3898902"/>
            <a:ext cx="1531937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r>
              <a:rPr lang="en-US" sz="1800" b="0">
                <a:latin typeface="Helvetica" charset="0"/>
              </a:rPr>
              <a:t>MAC Addr: </a:t>
            </a:r>
            <a:r>
              <a:rPr lang="en-US" sz="1800">
                <a:latin typeface="Helvetica" charset="0"/>
              </a:rPr>
              <a:t>C</a:t>
            </a:r>
            <a:endParaRPr lang="en-US" sz="1800">
              <a:latin typeface="Helvetica" charset="0"/>
            </a:endParaRPr>
          </a:p>
        </p:txBody>
      </p:sp>
      <p:grpSp>
        <p:nvGrpSpPr>
          <p:cNvPr id="2" name="Group 33"/>
          <p:cNvGrpSpPr/>
          <p:nvPr/>
        </p:nvGrpSpPr>
        <p:grpSpPr bwMode="auto">
          <a:xfrm>
            <a:off x="2514600" y="5030787"/>
            <a:ext cx="990600" cy="228600"/>
            <a:chOff x="457200" y="5867400"/>
            <a:chExt cx="990600" cy="228600"/>
          </a:xfrm>
        </p:grpSpPr>
        <p:sp>
          <p:nvSpPr>
            <p:cNvPr id="22557" name="Rectangle 37"/>
            <p:cNvSpPr>
              <a:spLocks noChangeArrowheads="1"/>
            </p:cNvSpPr>
            <p:nvPr/>
          </p:nvSpPr>
          <p:spPr bwMode="auto">
            <a:xfrm>
              <a:off x="457200" y="5867400"/>
              <a:ext cx="609600" cy="2286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 type="triangle" w="med" len="med"/>
            </a:ln>
          </p:spPr>
          <p:txBody>
            <a:bodyPr anchor="ctr"/>
            <a:lstStyle/>
            <a:p>
              <a:pPr algn="ctr"/>
              <a:endParaRPr lang="en-US" b="0">
                <a:latin typeface="Helvetica" charset="0"/>
              </a:endParaRPr>
            </a:p>
          </p:txBody>
        </p:sp>
        <p:sp>
          <p:nvSpPr>
            <p:cNvPr id="22558" name="Rectangle 38"/>
            <p:cNvSpPr>
              <a:spLocks noChangeArrowheads="1"/>
            </p:cNvSpPr>
            <p:nvPr/>
          </p:nvSpPr>
          <p:spPr bwMode="auto">
            <a:xfrm>
              <a:off x="1066800" y="5867400"/>
              <a:ext cx="381000" cy="228600"/>
            </a:xfrm>
            <a:prstGeom prst="rect">
              <a:avLst/>
            </a:prstGeom>
            <a:solidFill>
              <a:srgbClr val="FECF59"/>
            </a:solidFill>
            <a:ln w="25400">
              <a:solidFill>
                <a:schemeClr val="tx1"/>
              </a:solidFill>
              <a:round/>
              <a:headEnd type="triangle" w="med" len="med"/>
            </a:ln>
          </p:spPr>
          <p:txBody>
            <a:bodyPr anchor="ctr"/>
            <a:lstStyle/>
            <a:p>
              <a:pPr algn="ctr"/>
              <a:r>
                <a:rPr lang="en-US">
                  <a:latin typeface="Helvetica" charset="0"/>
                </a:rPr>
                <a:t>B</a:t>
              </a:r>
              <a:endParaRPr lang="en-US">
                <a:latin typeface="Helvetica" charset="0"/>
              </a:endParaRPr>
            </a:p>
          </p:txBody>
        </p:sp>
      </p:grpSp>
      <p:grpSp>
        <p:nvGrpSpPr>
          <p:cNvPr id="3" name="Group 32"/>
          <p:cNvGrpSpPr/>
          <p:nvPr/>
        </p:nvGrpSpPr>
        <p:grpSpPr bwMode="auto">
          <a:xfrm>
            <a:off x="4038600" y="6097587"/>
            <a:ext cx="990600" cy="228600"/>
            <a:chOff x="457200" y="5867400"/>
            <a:chExt cx="990600" cy="228600"/>
          </a:xfrm>
        </p:grpSpPr>
        <p:sp>
          <p:nvSpPr>
            <p:cNvPr id="22555" name="Rectangle 37"/>
            <p:cNvSpPr>
              <a:spLocks noChangeArrowheads="1"/>
            </p:cNvSpPr>
            <p:nvPr/>
          </p:nvSpPr>
          <p:spPr bwMode="auto">
            <a:xfrm>
              <a:off x="457200" y="5867400"/>
              <a:ext cx="609600" cy="2286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 type="triangle" w="med" len="med"/>
            </a:ln>
          </p:spPr>
          <p:txBody>
            <a:bodyPr anchor="ctr"/>
            <a:lstStyle/>
            <a:p>
              <a:pPr algn="ctr"/>
              <a:endParaRPr lang="en-US" b="0">
                <a:latin typeface="Helvetica" charset="0"/>
              </a:endParaRPr>
            </a:p>
          </p:txBody>
        </p:sp>
        <p:sp>
          <p:nvSpPr>
            <p:cNvPr id="22556" name="Rectangle 38"/>
            <p:cNvSpPr>
              <a:spLocks noChangeArrowheads="1"/>
            </p:cNvSpPr>
            <p:nvPr/>
          </p:nvSpPr>
          <p:spPr bwMode="auto">
            <a:xfrm>
              <a:off x="1066800" y="5867400"/>
              <a:ext cx="381000" cy="228600"/>
            </a:xfrm>
            <a:prstGeom prst="rect">
              <a:avLst/>
            </a:prstGeom>
            <a:solidFill>
              <a:srgbClr val="FECF59"/>
            </a:solidFill>
            <a:ln w="25400">
              <a:solidFill>
                <a:schemeClr val="tx1"/>
              </a:solidFill>
              <a:round/>
              <a:headEnd type="triangle" w="med" len="med"/>
            </a:ln>
          </p:spPr>
          <p:txBody>
            <a:bodyPr anchor="ctr"/>
            <a:lstStyle/>
            <a:p>
              <a:pPr algn="ctr"/>
              <a:r>
                <a:rPr lang="en-US">
                  <a:latin typeface="Helvetica" charset="0"/>
                </a:rPr>
                <a:t>B</a:t>
              </a:r>
              <a:endParaRPr lang="en-US">
                <a:latin typeface="Helvetica" charset="0"/>
              </a:endParaRPr>
            </a:p>
          </p:txBody>
        </p:sp>
      </p:grpSp>
      <p:grpSp>
        <p:nvGrpSpPr>
          <p:cNvPr id="4" name="Group 39"/>
          <p:cNvGrpSpPr/>
          <p:nvPr/>
        </p:nvGrpSpPr>
        <p:grpSpPr bwMode="auto">
          <a:xfrm>
            <a:off x="5791200" y="5030787"/>
            <a:ext cx="304800" cy="304800"/>
            <a:chOff x="1066800" y="6248400"/>
            <a:chExt cx="304800" cy="304800"/>
          </a:xfrm>
        </p:grpSpPr>
        <p:cxnSp>
          <p:nvCxnSpPr>
            <p:cNvPr id="22553" name="Straight Connector 37"/>
            <p:cNvCxnSpPr>
              <a:cxnSpLocks noChangeShapeType="1"/>
            </p:cNvCxnSpPr>
            <p:nvPr/>
          </p:nvCxnSpPr>
          <p:spPr bwMode="auto">
            <a:xfrm rot="16200000" flipH="1">
              <a:off x="1066800" y="6248400"/>
              <a:ext cx="304800" cy="304800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</a:ln>
          </p:spPr>
        </p:cxnSp>
        <p:cxnSp>
          <p:nvCxnSpPr>
            <p:cNvPr id="22554" name="Straight Connector 38"/>
            <p:cNvCxnSpPr>
              <a:cxnSpLocks noChangeShapeType="1"/>
            </p:cNvCxnSpPr>
            <p:nvPr/>
          </p:nvCxnSpPr>
          <p:spPr bwMode="auto">
            <a:xfrm rot="5400000">
              <a:off x="1066800" y="6248400"/>
              <a:ext cx="304800" cy="304800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</a:ln>
          </p:spPr>
        </p:cxnSp>
      </p:grpSp>
      <p:sp>
        <p:nvSpPr>
          <p:cNvPr id="31" name="圆角矩形 30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1.85185E-6 L 0.00086 0.1544 L 0.16753 0.1544 " pathEditMode="relative" ptsTypes="A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753 0.15441 L 0.16771 0.00024 " pathEditMode="relative" ptsTypes="AA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7 -0.00115 L 0.15365 -0.00115 L 0.15469 -0.15301 " pathEditMode="relative" ptsTypes="AAA">
                                      <p:cBhvr>
                                        <p:cTn id="1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382000" cy="2590800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panose="020B0600070205080204" charset="-128"/>
              </a:rPr>
              <a:t>Hosts in same LAN can be also connected by switches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r>
              <a:rPr lang="en-US" dirty="0">
                <a:latin typeface="Helvetica" charset="0"/>
                <a:ea typeface="MS PGothic" panose="020B0600070205080204" charset="-128"/>
              </a:rPr>
              <a:t>A switch forwards frames only to intended recipients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altLang="zh-CN" b="1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“Learning</a:t>
            </a:r>
            <a:r>
              <a:rPr lang="zh-CN" altLang="en-US" b="1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switch”:</a:t>
            </a:r>
            <a:r>
              <a:rPr lang="zh-CN" altLang="en-US" b="1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remembers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which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MAC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is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connected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to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which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port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dirty="0">
                <a:latin typeface="Helvetica" charset="0"/>
                <a:ea typeface="MS PGothic" panose="020B0600070205080204" charset="-128"/>
              </a:rPr>
              <a:t>Far more efficient than broadcast channel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>
              <a:buFontTx/>
              <a:buNone/>
            </a:pPr>
            <a:endParaRPr lang="en-US" dirty="0">
              <a:latin typeface="Helvetica" charset="0"/>
              <a:ea typeface="MS PGothic" panose="020B0600070205080204" charset="-128"/>
            </a:endParaRPr>
          </a:p>
          <a:p>
            <a:endParaRPr lang="en-US" dirty="0">
              <a:latin typeface="Helvetica" charset="0"/>
              <a:ea typeface="MS PGothic" panose="020B0600070205080204" charset="-128"/>
            </a:endParaRPr>
          </a:p>
          <a:p>
            <a:pPr>
              <a:buFontTx/>
              <a:buNone/>
            </a:pPr>
            <a:endParaRPr lang="en-US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panose="020B0600070205080204" charset="-128"/>
              </a:rPr>
              <a:t>LANs: Switches</a:t>
            </a:r>
            <a:endParaRPr lang="en-US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23563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1700" y="4419600"/>
            <a:ext cx="13970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64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700" y="3429000"/>
            <a:ext cx="1003300" cy="788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65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100" y="4953000"/>
            <a:ext cx="1455738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66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4900" y="3149600"/>
            <a:ext cx="1041400" cy="104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67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502" y="4800600"/>
            <a:ext cx="1662113" cy="124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68" name="Freeform 15"/>
          <p:cNvSpPr>
            <a:spLocks noChangeArrowheads="1"/>
          </p:cNvSpPr>
          <p:nvPr/>
        </p:nvSpPr>
        <p:spPr bwMode="auto">
          <a:xfrm>
            <a:off x="3205165" y="4749802"/>
            <a:ext cx="846137" cy="576263"/>
          </a:xfrm>
          <a:custGeom>
            <a:avLst/>
            <a:gdLst>
              <a:gd name="T0" fmla="*/ 0 w 914400"/>
              <a:gd name="T1" fmla="*/ 583732 h 575733"/>
              <a:gd name="T2" fmla="*/ 264411 w 914400"/>
              <a:gd name="T3" fmla="*/ 583732 h 575733"/>
              <a:gd name="T4" fmla="*/ 264411 w 914400"/>
              <a:gd name="T5" fmla="*/ 0 h 575733"/>
              <a:gd name="T6" fmla="*/ 0 60000 65536"/>
              <a:gd name="T7" fmla="*/ 0 60000 65536"/>
              <a:gd name="T8" fmla="*/ 0 60000 65536"/>
              <a:gd name="T9" fmla="*/ 0 w 914400"/>
              <a:gd name="T10" fmla="*/ 0 h 575733"/>
              <a:gd name="T11" fmla="*/ 914400 w 914400"/>
              <a:gd name="T12" fmla="*/ 575733 h 57573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575733">
                <a:moveTo>
                  <a:pt x="0" y="575733"/>
                </a:moveTo>
                <a:lnTo>
                  <a:pt x="914400" y="575733"/>
                </a:lnTo>
                <a:lnTo>
                  <a:pt x="91440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3569" name="Freeform 17"/>
          <p:cNvSpPr>
            <a:spLocks noChangeArrowheads="1"/>
          </p:cNvSpPr>
          <p:nvPr/>
        </p:nvSpPr>
        <p:spPr bwMode="auto">
          <a:xfrm flipV="1">
            <a:off x="2832100" y="3886202"/>
            <a:ext cx="1219200" cy="576263"/>
          </a:xfrm>
          <a:custGeom>
            <a:avLst/>
            <a:gdLst>
              <a:gd name="T0" fmla="*/ 0 w 914400"/>
              <a:gd name="T1" fmla="*/ 583732 h 575733"/>
              <a:gd name="T2" fmla="*/ 91233871 w 914400"/>
              <a:gd name="T3" fmla="*/ 583732 h 575733"/>
              <a:gd name="T4" fmla="*/ 91233871 w 914400"/>
              <a:gd name="T5" fmla="*/ 0 h 575733"/>
              <a:gd name="T6" fmla="*/ 0 60000 65536"/>
              <a:gd name="T7" fmla="*/ 0 60000 65536"/>
              <a:gd name="T8" fmla="*/ 0 60000 65536"/>
              <a:gd name="T9" fmla="*/ 0 w 914400"/>
              <a:gd name="T10" fmla="*/ 0 h 575733"/>
              <a:gd name="T11" fmla="*/ 914400 w 914400"/>
              <a:gd name="T12" fmla="*/ 575733 h 57573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575733">
                <a:moveTo>
                  <a:pt x="0" y="575733"/>
                </a:moveTo>
                <a:lnTo>
                  <a:pt x="914400" y="575733"/>
                </a:lnTo>
                <a:lnTo>
                  <a:pt x="91440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3570" name="Freeform 18"/>
          <p:cNvSpPr>
            <a:spLocks noChangeArrowheads="1"/>
          </p:cNvSpPr>
          <p:nvPr/>
        </p:nvSpPr>
        <p:spPr bwMode="auto">
          <a:xfrm flipH="1" flipV="1">
            <a:off x="4203700" y="3886202"/>
            <a:ext cx="762000" cy="576263"/>
          </a:xfrm>
          <a:custGeom>
            <a:avLst/>
            <a:gdLst>
              <a:gd name="T0" fmla="*/ 0 w 914400"/>
              <a:gd name="T1" fmla="*/ 583732 h 575733"/>
              <a:gd name="T2" fmla="*/ 49458 w 914400"/>
              <a:gd name="T3" fmla="*/ 583732 h 575733"/>
              <a:gd name="T4" fmla="*/ 49458 w 914400"/>
              <a:gd name="T5" fmla="*/ 0 h 575733"/>
              <a:gd name="T6" fmla="*/ 0 60000 65536"/>
              <a:gd name="T7" fmla="*/ 0 60000 65536"/>
              <a:gd name="T8" fmla="*/ 0 60000 65536"/>
              <a:gd name="T9" fmla="*/ 0 w 914400"/>
              <a:gd name="T10" fmla="*/ 0 h 575733"/>
              <a:gd name="T11" fmla="*/ 914400 w 914400"/>
              <a:gd name="T12" fmla="*/ 575733 h 57573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575733">
                <a:moveTo>
                  <a:pt x="0" y="575733"/>
                </a:moveTo>
                <a:lnTo>
                  <a:pt x="914400" y="575733"/>
                </a:lnTo>
                <a:lnTo>
                  <a:pt x="91440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3571" name="Freeform 19"/>
          <p:cNvSpPr>
            <a:spLocks noChangeArrowheads="1"/>
          </p:cNvSpPr>
          <p:nvPr/>
        </p:nvSpPr>
        <p:spPr bwMode="auto">
          <a:xfrm flipH="1">
            <a:off x="4203700" y="4757738"/>
            <a:ext cx="846138" cy="576262"/>
          </a:xfrm>
          <a:custGeom>
            <a:avLst/>
            <a:gdLst>
              <a:gd name="T0" fmla="*/ 0 w 914400"/>
              <a:gd name="T1" fmla="*/ 583717 h 575733"/>
              <a:gd name="T2" fmla="*/ 264415 w 914400"/>
              <a:gd name="T3" fmla="*/ 583717 h 575733"/>
              <a:gd name="T4" fmla="*/ 264415 w 914400"/>
              <a:gd name="T5" fmla="*/ 0 h 575733"/>
              <a:gd name="T6" fmla="*/ 0 60000 65536"/>
              <a:gd name="T7" fmla="*/ 0 60000 65536"/>
              <a:gd name="T8" fmla="*/ 0 60000 65536"/>
              <a:gd name="T9" fmla="*/ 0 w 914400"/>
              <a:gd name="T10" fmla="*/ 0 h 575733"/>
              <a:gd name="T11" fmla="*/ 914400 w 914400"/>
              <a:gd name="T12" fmla="*/ 575733 h 57573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4400" h="575733">
                <a:moveTo>
                  <a:pt x="0" y="575733"/>
                </a:moveTo>
                <a:lnTo>
                  <a:pt x="914400" y="575733"/>
                </a:lnTo>
                <a:lnTo>
                  <a:pt x="91440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</a:ln>
        </p:spPr>
        <p:txBody>
          <a:bodyPr anchor="ctr"/>
          <a:lstStyle/>
          <a:p>
            <a:endParaRPr lang="en-US"/>
          </a:p>
        </p:txBody>
      </p:sp>
      <p:grpSp>
        <p:nvGrpSpPr>
          <p:cNvPr id="2" name="Group 32"/>
          <p:cNvGrpSpPr/>
          <p:nvPr/>
        </p:nvGrpSpPr>
        <p:grpSpPr bwMode="auto">
          <a:xfrm>
            <a:off x="2174875" y="5638800"/>
            <a:ext cx="990600" cy="228600"/>
            <a:chOff x="457200" y="5867400"/>
            <a:chExt cx="990600" cy="228600"/>
          </a:xfrm>
        </p:grpSpPr>
        <p:sp>
          <p:nvSpPr>
            <p:cNvPr id="23578" name="Rectangle 37"/>
            <p:cNvSpPr>
              <a:spLocks noChangeArrowheads="1"/>
            </p:cNvSpPr>
            <p:nvPr/>
          </p:nvSpPr>
          <p:spPr bwMode="auto">
            <a:xfrm>
              <a:off x="457200" y="5867400"/>
              <a:ext cx="609600" cy="2286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 type="triangle" w="med" len="med"/>
            </a:ln>
          </p:spPr>
          <p:txBody>
            <a:bodyPr anchor="ctr"/>
            <a:lstStyle/>
            <a:p>
              <a:pPr algn="ctr"/>
              <a:endParaRPr lang="en-US" b="0">
                <a:latin typeface="Helvetica" charset="0"/>
              </a:endParaRPr>
            </a:p>
          </p:txBody>
        </p:sp>
        <p:sp>
          <p:nvSpPr>
            <p:cNvPr id="23579" name="Rectangle 38"/>
            <p:cNvSpPr>
              <a:spLocks noChangeArrowheads="1"/>
            </p:cNvSpPr>
            <p:nvPr/>
          </p:nvSpPr>
          <p:spPr bwMode="auto">
            <a:xfrm>
              <a:off x="1066800" y="5867400"/>
              <a:ext cx="381000" cy="228600"/>
            </a:xfrm>
            <a:prstGeom prst="rect">
              <a:avLst/>
            </a:prstGeom>
            <a:solidFill>
              <a:srgbClr val="FECF59"/>
            </a:solidFill>
            <a:ln w="25400">
              <a:solidFill>
                <a:schemeClr val="tx1"/>
              </a:solidFill>
              <a:round/>
              <a:headEnd type="triangle" w="med" len="med"/>
            </a:ln>
          </p:spPr>
          <p:txBody>
            <a:bodyPr anchor="ctr"/>
            <a:lstStyle/>
            <a:p>
              <a:pPr algn="ctr"/>
              <a:r>
                <a:rPr lang="en-US">
                  <a:latin typeface="Helvetica" charset="0"/>
                </a:rPr>
                <a:t>B</a:t>
              </a:r>
              <a:endParaRPr lang="en-US">
                <a:latin typeface="Helvetica" charset="0"/>
              </a:endParaRPr>
            </a:p>
          </p:txBody>
        </p:sp>
      </p:grpSp>
      <p:sp>
        <p:nvSpPr>
          <p:cNvPr id="23573" name="TextBox 49"/>
          <p:cNvSpPr txBox="1">
            <a:spLocks noChangeArrowheads="1"/>
          </p:cNvSpPr>
          <p:nvPr/>
        </p:nvSpPr>
        <p:spPr bwMode="auto">
          <a:xfrm>
            <a:off x="1905002" y="3090865"/>
            <a:ext cx="1370013" cy="33813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r>
              <a:rPr lang="en-US" sz="1600" b="0">
                <a:latin typeface="Helvetica" charset="0"/>
              </a:rPr>
              <a:t>MAC Addr:</a:t>
            </a:r>
            <a:r>
              <a:rPr lang="en-US" sz="1600">
                <a:latin typeface="Helvetica" charset="0"/>
              </a:rPr>
              <a:t> B</a:t>
            </a:r>
            <a:endParaRPr lang="en-US" sz="1600">
              <a:latin typeface="Helvetica" charset="0"/>
            </a:endParaRPr>
          </a:p>
        </p:txBody>
      </p:sp>
      <p:sp>
        <p:nvSpPr>
          <p:cNvPr id="23574" name="TextBox 50"/>
          <p:cNvSpPr txBox="1">
            <a:spLocks noChangeArrowheads="1"/>
          </p:cNvSpPr>
          <p:nvPr/>
        </p:nvSpPr>
        <p:spPr bwMode="auto">
          <a:xfrm>
            <a:off x="1905002" y="4691065"/>
            <a:ext cx="1374775" cy="33813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r>
              <a:rPr lang="en-US" sz="1600" b="0">
                <a:latin typeface="Helvetica" charset="0"/>
              </a:rPr>
              <a:t>MAC Addr:</a:t>
            </a:r>
            <a:r>
              <a:rPr lang="en-US" sz="1600">
                <a:latin typeface="Helvetica" charset="0"/>
              </a:rPr>
              <a:t> A</a:t>
            </a:r>
            <a:endParaRPr lang="en-US" sz="1600">
              <a:latin typeface="Helvetica" charset="0"/>
            </a:endParaRPr>
          </a:p>
        </p:txBody>
      </p:sp>
      <p:sp>
        <p:nvSpPr>
          <p:cNvPr id="23575" name="TextBox 51"/>
          <p:cNvSpPr txBox="1">
            <a:spLocks noChangeArrowheads="1"/>
          </p:cNvSpPr>
          <p:nvPr/>
        </p:nvSpPr>
        <p:spPr bwMode="auto">
          <a:xfrm>
            <a:off x="4799013" y="2971800"/>
            <a:ext cx="1382712" cy="3381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r>
              <a:rPr lang="en-US" sz="1600" b="0">
                <a:latin typeface="Helvetica" charset="0"/>
              </a:rPr>
              <a:t>MAC Addr:</a:t>
            </a:r>
            <a:r>
              <a:rPr lang="en-US" sz="1600">
                <a:latin typeface="Helvetica" charset="0"/>
              </a:rPr>
              <a:t> D</a:t>
            </a:r>
            <a:endParaRPr lang="en-US" sz="1600">
              <a:latin typeface="Helvetica" charset="0"/>
            </a:endParaRPr>
          </a:p>
        </p:txBody>
      </p:sp>
      <p:sp>
        <p:nvSpPr>
          <p:cNvPr id="23576" name="TextBox 52"/>
          <p:cNvSpPr txBox="1">
            <a:spLocks noChangeArrowheads="1"/>
          </p:cNvSpPr>
          <p:nvPr/>
        </p:nvSpPr>
        <p:spPr bwMode="auto">
          <a:xfrm>
            <a:off x="4799013" y="4462465"/>
            <a:ext cx="1382712" cy="33813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r>
              <a:rPr lang="en-US" sz="1600" b="0">
                <a:latin typeface="Helvetica" charset="0"/>
              </a:rPr>
              <a:t>MAC Addr:</a:t>
            </a:r>
            <a:r>
              <a:rPr lang="en-US" sz="1600">
                <a:latin typeface="Helvetica" charset="0"/>
              </a:rPr>
              <a:t> C</a:t>
            </a:r>
            <a:endParaRPr lang="en-US" sz="1600">
              <a:latin typeface="Helvetica" charset="0"/>
            </a:endParaRPr>
          </a:p>
        </p:txBody>
      </p:sp>
      <p:sp>
        <p:nvSpPr>
          <p:cNvPr id="23577" name="TextBox 53"/>
          <p:cNvSpPr txBox="1">
            <a:spLocks noChangeArrowheads="1"/>
          </p:cNvSpPr>
          <p:nvPr/>
        </p:nvSpPr>
        <p:spPr bwMode="auto">
          <a:xfrm>
            <a:off x="2640013" y="4343400"/>
            <a:ext cx="863600" cy="36988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r>
              <a:rPr lang="en-US" sz="1800" b="0">
                <a:latin typeface="Helvetica" charset="0"/>
              </a:rPr>
              <a:t>Switch</a:t>
            </a:r>
            <a:endParaRPr lang="en-US" sz="1800">
              <a:latin typeface="Helvetica" charset="0"/>
            </a:endParaRPr>
          </a:p>
        </p:txBody>
      </p:sp>
      <p:sp>
        <p:nvSpPr>
          <p:cNvPr id="28" name="圆角矩形 27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7.40741E-7 L 0.16285 -7.40741E-7 L 0.16285 -0.1544 " pathEditMode="relative" ptsTypes="A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285 -0.15439 L 0.16285 -0.28518 L 0.04149 -0.28518 " pathEditMode="relative" ptsTypes="AAA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Group 2"/>
          <p:cNvGrpSpPr/>
          <p:nvPr/>
        </p:nvGrpSpPr>
        <p:grpSpPr bwMode="auto">
          <a:xfrm>
            <a:off x="3211515" y="4191000"/>
            <a:ext cx="2122487" cy="2057400"/>
            <a:chOff x="832" y="1344"/>
            <a:chExt cx="1136" cy="1024"/>
          </a:xfrm>
        </p:grpSpPr>
        <p:sp>
          <p:nvSpPr>
            <p:cNvPr id="34895" name="Oval 3"/>
            <p:cNvSpPr>
              <a:spLocks noChangeArrowheads="1"/>
            </p:cNvSpPr>
            <p:nvPr/>
          </p:nvSpPr>
          <p:spPr bwMode="auto">
            <a:xfrm>
              <a:off x="1220" y="1344"/>
              <a:ext cx="495" cy="424"/>
            </a:xfrm>
            <a:prstGeom prst="ellipse">
              <a:avLst/>
            </a:prstGeom>
            <a:solidFill>
              <a:srgbClr val="CCFFFF"/>
            </a:solidFill>
            <a:ln>
              <a:noFill/>
            </a:ln>
          </p:spPr>
          <p:txBody>
            <a:bodyPr/>
            <a:lstStyle/>
            <a:p>
              <a:endParaRPr lang="en-US" b="0"/>
            </a:p>
          </p:txBody>
        </p:sp>
        <p:sp>
          <p:nvSpPr>
            <p:cNvPr id="34896" name="Oval 4"/>
            <p:cNvSpPr>
              <a:spLocks noChangeArrowheads="1"/>
            </p:cNvSpPr>
            <p:nvPr/>
          </p:nvSpPr>
          <p:spPr bwMode="auto">
            <a:xfrm>
              <a:off x="948" y="1455"/>
              <a:ext cx="379" cy="424"/>
            </a:xfrm>
            <a:prstGeom prst="ellipse">
              <a:avLst/>
            </a:prstGeom>
            <a:solidFill>
              <a:srgbClr val="CCFFFF"/>
            </a:solidFill>
            <a:ln>
              <a:noFill/>
            </a:ln>
          </p:spPr>
          <p:txBody>
            <a:bodyPr/>
            <a:lstStyle/>
            <a:p>
              <a:endParaRPr lang="en-US" b="0"/>
            </a:p>
          </p:txBody>
        </p:sp>
        <p:sp>
          <p:nvSpPr>
            <p:cNvPr id="34897" name="Oval 5"/>
            <p:cNvSpPr>
              <a:spLocks noChangeArrowheads="1"/>
            </p:cNvSpPr>
            <p:nvPr/>
          </p:nvSpPr>
          <p:spPr bwMode="auto">
            <a:xfrm>
              <a:off x="832" y="1710"/>
              <a:ext cx="256" cy="306"/>
            </a:xfrm>
            <a:prstGeom prst="ellipse">
              <a:avLst/>
            </a:prstGeom>
            <a:solidFill>
              <a:srgbClr val="CCFFFF"/>
            </a:solidFill>
            <a:ln>
              <a:noFill/>
            </a:ln>
          </p:spPr>
          <p:txBody>
            <a:bodyPr/>
            <a:lstStyle/>
            <a:p>
              <a:endParaRPr lang="en-US" b="0"/>
            </a:p>
          </p:txBody>
        </p:sp>
        <p:sp>
          <p:nvSpPr>
            <p:cNvPr id="34898" name="Oval 6"/>
            <p:cNvSpPr>
              <a:spLocks noChangeArrowheads="1"/>
            </p:cNvSpPr>
            <p:nvPr/>
          </p:nvSpPr>
          <p:spPr bwMode="auto">
            <a:xfrm>
              <a:off x="909" y="1862"/>
              <a:ext cx="435" cy="442"/>
            </a:xfrm>
            <a:prstGeom prst="ellipse">
              <a:avLst/>
            </a:prstGeom>
            <a:solidFill>
              <a:srgbClr val="CCFFFF"/>
            </a:solidFill>
            <a:ln>
              <a:noFill/>
            </a:ln>
          </p:spPr>
          <p:txBody>
            <a:bodyPr/>
            <a:lstStyle/>
            <a:p>
              <a:endParaRPr lang="en-US" b="0"/>
            </a:p>
          </p:txBody>
        </p:sp>
        <p:sp>
          <p:nvSpPr>
            <p:cNvPr id="34899" name="Oval 7"/>
            <p:cNvSpPr>
              <a:spLocks noChangeArrowheads="1"/>
            </p:cNvSpPr>
            <p:nvPr/>
          </p:nvSpPr>
          <p:spPr bwMode="auto">
            <a:xfrm>
              <a:off x="1086" y="1924"/>
              <a:ext cx="671" cy="444"/>
            </a:xfrm>
            <a:prstGeom prst="ellipse">
              <a:avLst/>
            </a:prstGeom>
            <a:solidFill>
              <a:srgbClr val="CCFFFF"/>
            </a:solidFill>
            <a:ln>
              <a:noFill/>
            </a:ln>
          </p:spPr>
          <p:txBody>
            <a:bodyPr/>
            <a:lstStyle/>
            <a:p>
              <a:endParaRPr lang="en-US" b="0"/>
            </a:p>
          </p:txBody>
        </p:sp>
        <p:sp>
          <p:nvSpPr>
            <p:cNvPr id="34900" name="Oval 8"/>
            <p:cNvSpPr>
              <a:spLocks noChangeArrowheads="1"/>
            </p:cNvSpPr>
            <p:nvPr/>
          </p:nvSpPr>
          <p:spPr bwMode="auto">
            <a:xfrm>
              <a:off x="1605" y="1488"/>
              <a:ext cx="311" cy="312"/>
            </a:xfrm>
            <a:prstGeom prst="ellipse">
              <a:avLst/>
            </a:prstGeom>
            <a:solidFill>
              <a:srgbClr val="CCFFFF"/>
            </a:solidFill>
            <a:ln>
              <a:noFill/>
            </a:ln>
          </p:spPr>
          <p:txBody>
            <a:bodyPr/>
            <a:lstStyle/>
            <a:p>
              <a:endParaRPr lang="en-US" b="0"/>
            </a:p>
          </p:txBody>
        </p:sp>
        <p:sp>
          <p:nvSpPr>
            <p:cNvPr id="34901" name="Oval 9"/>
            <p:cNvSpPr>
              <a:spLocks noChangeArrowheads="1"/>
            </p:cNvSpPr>
            <p:nvPr/>
          </p:nvSpPr>
          <p:spPr bwMode="auto">
            <a:xfrm>
              <a:off x="1602" y="1681"/>
              <a:ext cx="366" cy="333"/>
            </a:xfrm>
            <a:prstGeom prst="ellipse">
              <a:avLst/>
            </a:prstGeom>
            <a:solidFill>
              <a:srgbClr val="CCFFFF"/>
            </a:solidFill>
            <a:ln>
              <a:noFill/>
            </a:ln>
          </p:spPr>
          <p:txBody>
            <a:bodyPr/>
            <a:lstStyle/>
            <a:p>
              <a:endParaRPr lang="en-US" b="0"/>
            </a:p>
          </p:txBody>
        </p:sp>
        <p:sp>
          <p:nvSpPr>
            <p:cNvPr id="34902" name="Oval 10"/>
            <p:cNvSpPr>
              <a:spLocks noChangeArrowheads="1"/>
            </p:cNvSpPr>
            <p:nvPr/>
          </p:nvSpPr>
          <p:spPr bwMode="auto">
            <a:xfrm>
              <a:off x="1569" y="1751"/>
              <a:ext cx="364" cy="547"/>
            </a:xfrm>
            <a:prstGeom prst="ellipse">
              <a:avLst/>
            </a:prstGeom>
            <a:solidFill>
              <a:srgbClr val="CCFFFF"/>
            </a:solidFill>
            <a:ln>
              <a:noFill/>
            </a:ln>
          </p:spPr>
          <p:txBody>
            <a:bodyPr/>
            <a:lstStyle/>
            <a:p>
              <a:endParaRPr lang="en-US" b="0"/>
            </a:p>
          </p:txBody>
        </p:sp>
        <p:sp>
          <p:nvSpPr>
            <p:cNvPr id="34903" name="Oval 11"/>
            <p:cNvSpPr>
              <a:spLocks noChangeArrowheads="1"/>
            </p:cNvSpPr>
            <p:nvPr/>
          </p:nvSpPr>
          <p:spPr bwMode="auto">
            <a:xfrm>
              <a:off x="912" y="1434"/>
              <a:ext cx="1008" cy="918"/>
            </a:xfrm>
            <a:prstGeom prst="ellipse">
              <a:avLst/>
            </a:prstGeom>
            <a:solidFill>
              <a:srgbClr val="CCFFFF"/>
            </a:solidFill>
            <a:ln>
              <a:noFill/>
            </a:ln>
          </p:spPr>
          <p:txBody>
            <a:bodyPr/>
            <a:lstStyle/>
            <a:p>
              <a:endParaRPr lang="en-US" b="0"/>
            </a:p>
          </p:txBody>
        </p:sp>
      </p:grpSp>
      <p:sp>
        <p:nvSpPr>
          <p:cNvPr id="39940" name="Content Placeholder 2"/>
          <p:cNvSpPr>
            <a:spLocks noGrp="1"/>
          </p:cNvSpPr>
          <p:nvPr>
            <p:ph idx="1"/>
          </p:nvPr>
        </p:nvSpPr>
        <p:spPr>
          <a:xfrm>
            <a:off x="76200" y="914400"/>
            <a:ext cx="7924800" cy="2895600"/>
          </a:xfrm>
        </p:spPr>
        <p:txBody>
          <a:bodyPr/>
          <a:lstStyle/>
          <a:p>
            <a:r>
              <a:rPr lang="en-US" b="1">
                <a:latin typeface="Helvetica" charset="0"/>
                <a:ea typeface="MS PGothic" panose="020B0600070205080204" charset="-128"/>
              </a:rPr>
              <a:t>Wide Area Network</a:t>
            </a:r>
            <a:r>
              <a:rPr lang="en-US">
                <a:latin typeface="Helvetica" charset="0"/>
                <a:ea typeface="MS PGothic" panose="020B0600070205080204" charset="-128"/>
              </a:rPr>
              <a:t> (WAN): network that covers a broad area (e.g., city, state, country, entire world)</a:t>
            </a:r>
            <a:endParaRPr lang="en-US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>
                <a:latin typeface="Helvetica" charset="0"/>
                <a:ea typeface="MS PGothic" panose="020B0600070205080204" charset="-128"/>
              </a:rPr>
              <a:t>E.g., Internet is a WAN</a:t>
            </a:r>
            <a:endParaRPr lang="en-US">
              <a:latin typeface="Helvetica" charset="0"/>
              <a:ea typeface="MS PGothic" panose="020B0600070205080204" charset="-128"/>
            </a:endParaRPr>
          </a:p>
          <a:p>
            <a:r>
              <a:rPr lang="en-US">
                <a:latin typeface="Helvetica" charset="0"/>
                <a:ea typeface="MS PGothic" panose="020B0600070205080204" charset="-128"/>
              </a:rPr>
              <a:t>WAN connects multiple datalink layer networks (LANs)</a:t>
            </a:r>
            <a:endParaRPr lang="en-US">
              <a:latin typeface="Helvetica" charset="0"/>
              <a:ea typeface="MS PGothic" panose="020B0600070205080204" charset="-128"/>
            </a:endParaRPr>
          </a:p>
          <a:p>
            <a:r>
              <a:rPr lang="en-US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Datalink layer networks are connected by </a:t>
            </a:r>
            <a:r>
              <a:rPr lang="en-US" b="1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routers</a:t>
            </a:r>
            <a:endParaRPr lang="en-US" b="1">
              <a:latin typeface="Arial" panose="020B0604020202020204" pitchFamily="34" charset="0"/>
              <a:ea typeface="MS PGothic" panose="020B0600070205080204" charset="-128"/>
              <a:cs typeface="Arial" panose="020B0604020202020204" pitchFamily="34" charset="0"/>
            </a:endParaRPr>
          </a:p>
          <a:p>
            <a:pPr lvl="1"/>
            <a:r>
              <a:rPr lang="en-US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Different LANs can use different communication technologies (e.g., wireless, cellular, optics, wired)</a:t>
            </a:r>
            <a:endParaRPr lang="en-US">
              <a:latin typeface="Arial" panose="020B0604020202020204" pitchFamily="34" charset="0"/>
              <a:ea typeface="MS PGothic" panose="020B0600070205080204" charset="-128"/>
              <a:cs typeface="Arial" panose="020B0604020202020204" pitchFamily="34" charset="0"/>
            </a:endParaRPr>
          </a:p>
        </p:txBody>
      </p:sp>
      <p:sp>
        <p:nvSpPr>
          <p:cNvPr id="34819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panose="020B0600070205080204" charset="-128"/>
              </a:rPr>
              <a:t>Wide Area Network (WAN)</a:t>
            </a:r>
            <a:endParaRPr lang="en-US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grpSp>
        <p:nvGrpSpPr>
          <p:cNvPr id="34828" name="Group 14"/>
          <p:cNvGrpSpPr/>
          <p:nvPr/>
        </p:nvGrpSpPr>
        <p:grpSpPr bwMode="auto">
          <a:xfrm>
            <a:off x="1087438" y="4191000"/>
            <a:ext cx="2417762" cy="1828800"/>
            <a:chOff x="832" y="1344"/>
            <a:chExt cx="1136" cy="1024"/>
          </a:xfrm>
        </p:grpSpPr>
        <p:sp>
          <p:nvSpPr>
            <p:cNvPr id="34886" name="Oval 15"/>
            <p:cNvSpPr>
              <a:spLocks noChangeArrowheads="1"/>
            </p:cNvSpPr>
            <p:nvPr/>
          </p:nvSpPr>
          <p:spPr bwMode="auto">
            <a:xfrm>
              <a:off x="1220" y="1344"/>
              <a:ext cx="495" cy="424"/>
            </a:xfrm>
            <a:prstGeom prst="ellipse">
              <a:avLst/>
            </a:prstGeom>
            <a:solidFill>
              <a:srgbClr val="EAEAEA"/>
            </a:solidFill>
            <a:ln>
              <a:noFill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  <p:sp>
          <p:nvSpPr>
            <p:cNvPr id="34887" name="Oval 16"/>
            <p:cNvSpPr>
              <a:spLocks noChangeArrowheads="1"/>
            </p:cNvSpPr>
            <p:nvPr/>
          </p:nvSpPr>
          <p:spPr bwMode="auto">
            <a:xfrm>
              <a:off x="948" y="1455"/>
              <a:ext cx="379" cy="424"/>
            </a:xfrm>
            <a:prstGeom prst="ellipse">
              <a:avLst/>
            </a:prstGeom>
            <a:solidFill>
              <a:srgbClr val="EAEAEA"/>
            </a:solidFill>
            <a:ln>
              <a:noFill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  <p:sp>
          <p:nvSpPr>
            <p:cNvPr id="34888" name="Oval 17"/>
            <p:cNvSpPr>
              <a:spLocks noChangeArrowheads="1"/>
            </p:cNvSpPr>
            <p:nvPr/>
          </p:nvSpPr>
          <p:spPr bwMode="auto">
            <a:xfrm>
              <a:off x="832" y="1710"/>
              <a:ext cx="256" cy="306"/>
            </a:xfrm>
            <a:prstGeom prst="ellipse">
              <a:avLst/>
            </a:prstGeom>
            <a:solidFill>
              <a:srgbClr val="EAEAEA"/>
            </a:solidFill>
            <a:ln>
              <a:noFill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  <p:sp>
          <p:nvSpPr>
            <p:cNvPr id="34889" name="Oval 18"/>
            <p:cNvSpPr>
              <a:spLocks noChangeArrowheads="1"/>
            </p:cNvSpPr>
            <p:nvPr/>
          </p:nvSpPr>
          <p:spPr bwMode="auto">
            <a:xfrm>
              <a:off x="909" y="1862"/>
              <a:ext cx="435" cy="442"/>
            </a:xfrm>
            <a:prstGeom prst="ellipse">
              <a:avLst/>
            </a:prstGeom>
            <a:solidFill>
              <a:srgbClr val="EAEAEA"/>
            </a:solidFill>
            <a:ln>
              <a:noFill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  <p:sp>
          <p:nvSpPr>
            <p:cNvPr id="34890" name="Oval 19"/>
            <p:cNvSpPr>
              <a:spLocks noChangeArrowheads="1"/>
            </p:cNvSpPr>
            <p:nvPr/>
          </p:nvSpPr>
          <p:spPr bwMode="auto">
            <a:xfrm>
              <a:off x="1086" y="1924"/>
              <a:ext cx="671" cy="444"/>
            </a:xfrm>
            <a:prstGeom prst="ellipse">
              <a:avLst/>
            </a:prstGeom>
            <a:solidFill>
              <a:srgbClr val="EAEAEA"/>
            </a:solidFill>
            <a:ln>
              <a:noFill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  <p:sp>
          <p:nvSpPr>
            <p:cNvPr id="34891" name="Oval 20"/>
            <p:cNvSpPr>
              <a:spLocks noChangeArrowheads="1"/>
            </p:cNvSpPr>
            <p:nvPr/>
          </p:nvSpPr>
          <p:spPr bwMode="auto">
            <a:xfrm>
              <a:off x="1605" y="1488"/>
              <a:ext cx="311" cy="312"/>
            </a:xfrm>
            <a:prstGeom prst="ellipse">
              <a:avLst/>
            </a:prstGeom>
            <a:solidFill>
              <a:srgbClr val="EAEAEA"/>
            </a:solidFill>
            <a:ln>
              <a:noFill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  <p:sp>
          <p:nvSpPr>
            <p:cNvPr id="34892" name="Oval 21"/>
            <p:cNvSpPr>
              <a:spLocks noChangeArrowheads="1"/>
            </p:cNvSpPr>
            <p:nvPr/>
          </p:nvSpPr>
          <p:spPr bwMode="auto">
            <a:xfrm>
              <a:off x="1602" y="1681"/>
              <a:ext cx="366" cy="333"/>
            </a:xfrm>
            <a:prstGeom prst="ellipse">
              <a:avLst/>
            </a:prstGeom>
            <a:solidFill>
              <a:srgbClr val="EAEAEA"/>
            </a:solidFill>
            <a:ln>
              <a:noFill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  <p:sp>
          <p:nvSpPr>
            <p:cNvPr id="34893" name="Oval 22"/>
            <p:cNvSpPr>
              <a:spLocks noChangeArrowheads="1"/>
            </p:cNvSpPr>
            <p:nvPr/>
          </p:nvSpPr>
          <p:spPr bwMode="auto">
            <a:xfrm>
              <a:off x="1569" y="1751"/>
              <a:ext cx="364" cy="547"/>
            </a:xfrm>
            <a:prstGeom prst="ellipse">
              <a:avLst/>
            </a:prstGeom>
            <a:solidFill>
              <a:srgbClr val="EAEAEA"/>
            </a:solidFill>
            <a:ln>
              <a:noFill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  <p:sp>
          <p:nvSpPr>
            <p:cNvPr id="34894" name="Oval 23"/>
            <p:cNvSpPr>
              <a:spLocks noChangeArrowheads="1"/>
            </p:cNvSpPr>
            <p:nvPr/>
          </p:nvSpPr>
          <p:spPr bwMode="auto">
            <a:xfrm>
              <a:off x="912" y="1434"/>
              <a:ext cx="1008" cy="918"/>
            </a:xfrm>
            <a:prstGeom prst="ellipse">
              <a:avLst/>
            </a:prstGeom>
            <a:solidFill>
              <a:srgbClr val="EAEAEA"/>
            </a:solidFill>
            <a:ln>
              <a:noFill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</p:grpSp>
      <p:sp>
        <p:nvSpPr>
          <p:cNvPr id="34829" name="Rectangle 24"/>
          <p:cNvSpPr>
            <a:spLocks noChangeArrowheads="1"/>
          </p:cNvSpPr>
          <p:nvPr/>
        </p:nvSpPr>
        <p:spPr bwMode="auto">
          <a:xfrm>
            <a:off x="1057275" y="5124450"/>
            <a:ext cx="184150" cy="171450"/>
          </a:xfrm>
          <a:prstGeom prst="rect">
            <a:avLst/>
          </a:prstGeom>
          <a:solidFill>
            <a:srgbClr val="EAEAEA"/>
          </a:solidFill>
          <a:ln w="9525">
            <a:miter lim="800000"/>
          </a:ln>
          <a:scene3d>
            <a:camera prst="legacyObliqueTopLeft"/>
            <a:lightRig rig="legacyFlat3" dir="t"/>
          </a:scene3d>
          <a:sp3d extrusionH="125400" prstMaterial="legacyMatte">
            <a:bevelT w="13500" h="13500" prst="angle"/>
            <a:bevelB w="13500" h="13500" prst="angle"/>
            <a:extrusionClr>
              <a:srgbClr val="EAEAEA"/>
            </a:extrusionClr>
          </a:sp3d>
        </p:spPr>
        <p:txBody>
          <a:bodyPr wrap="none" lIns="90488" tIns="44450" rIns="90488" bIns="44450" anchor="ctr">
            <a:flatTx/>
          </a:bodyPr>
          <a:lstStyle/>
          <a:p>
            <a:endParaRPr lang="en-US" b="0">
              <a:latin typeface="Helvetica" charset="0"/>
            </a:endParaRPr>
          </a:p>
        </p:txBody>
      </p:sp>
      <p:sp>
        <p:nvSpPr>
          <p:cNvPr id="34830" name="Rectangle 25"/>
          <p:cNvSpPr>
            <a:spLocks noChangeArrowheads="1"/>
          </p:cNvSpPr>
          <p:nvPr/>
        </p:nvSpPr>
        <p:spPr bwMode="auto">
          <a:xfrm>
            <a:off x="3352800" y="5257800"/>
            <a:ext cx="184150" cy="171450"/>
          </a:xfrm>
          <a:prstGeom prst="rect">
            <a:avLst/>
          </a:prstGeom>
          <a:solidFill>
            <a:srgbClr val="EAEAEA"/>
          </a:solidFill>
          <a:ln w="9525">
            <a:miter lim="800000"/>
          </a:ln>
          <a:scene3d>
            <a:camera prst="legacyObliqueTopLeft"/>
            <a:lightRig rig="legacyFlat3" dir="t"/>
          </a:scene3d>
          <a:sp3d extrusionH="125400" prstMaterial="legacyMatte">
            <a:bevelT w="13500" h="13500" prst="angle"/>
            <a:bevelB w="13500" h="13500" prst="angle"/>
            <a:extrusionClr>
              <a:srgbClr val="EAEAEA"/>
            </a:extrusionClr>
          </a:sp3d>
        </p:spPr>
        <p:txBody>
          <a:bodyPr wrap="none" lIns="90488" tIns="44450" rIns="90488" bIns="44450" anchor="ctr">
            <a:flatTx/>
          </a:bodyPr>
          <a:lstStyle/>
          <a:p>
            <a:endParaRPr lang="en-US" b="0">
              <a:latin typeface="Helvetica" charset="0"/>
            </a:endParaRPr>
          </a:p>
        </p:txBody>
      </p:sp>
      <p:cxnSp>
        <p:nvCxnSpPr>
          <p:cNvPr id="34831" name="AutoShape 26"/>
          <p:cNvCxnSpPr>
            <a:cxnSpLocks noChangeShapeType="1"/>
            <a:endCxn id="34830" idx="1"/>
          </p:cNvCxnSpPr>
          <p:nvPr/>
        </p:nvCxnSpPr>
        <p:spPr bwMode="auto">
          <a:xfrm>
            <a:off x="1257300" y="5172075"/>
            <a:ext cx="2095500" cy="17145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</p:spPr>
      </p:cxnSp>
      <p:grpSp>
        <p:nvGrpSpPr>
          <p:cNvPr id="34832" name="Group 27"/>
          <p:cNvGrpSpPr/>
          <p:nvPr/>
        </p:nvGrpSpPr>
        <p:grpSpPr bwMode="auto">
          <a:xfrm>
            <a:off x="228602" y="4876800"/>
            <a:ext cx="523875" cy="488950"/>
            <a:chOff x="1014" y="912"/>
            <a:chExt cx="574" cy="596"/>
          </a:xfrm>
        </p:grpSpPr>
        <p:sp>
          <p:nvSpPr>
            <p:cNvPr id="34874" name="Freeform 28"/>
            <p:cNvSpPr/>
            <p:nvPr/>
          </p:nvSpPr>
          <p:spPr bwMode="auto">
            <a:xfrm>
              <a:off x="1014" y="912"/>
              <a:ext cx="574" cy="596"/>
            </a:xfrm>
            <a:custGeom>
              <a:avLst/>
              <a:gdLst>
                <a:gd name="T0" fmla="*/ 124 w 574"/>
                <a:gd name="T1" fmla="*/ 391 h 596"/>
                <a:gd name="T2" fmla="*/ 0 w 574"/>
                <a:gd name="T3" fmla="*/ 391 h 596"/>
                <a:gd name="T4" fmla="*/ 0 w 574"/>
                <a:gd name="T5" fmla="*/ 596 h 596"/>
                <a:gd name="T6" fmla="*/ 574 w 574"/>
                <a:gd name="T7" fmla="*/ 596 h 596"/>
                <a:gd name="T8" fmla="*/ 574 w 574"/>
                <a:gd name="T9" fmla="*/ 391 h 596"/>
                <a:gd name="T10" fmla="*/ 446 w 574"/>
                <a:gd name="T11" fmla="*/ 391 h 596"/>
                <a:gd name="T12" fmla="*/ 446 w 574"/>
                <a:gd name="T13" fmla="*/ 364 h 596"/>
                <a:gd name="T14" fmla="*/ 500 w 574"/>
                <a:gd name="T15" fmla="*/ 364 h 596"/>
                <a:gd name="T16" fmla="*/ 500 w 574"/>
                <a:gd name="T17" fmla="*/ 0 h 596"/>
                <a:gd name="T18" fmla="*/ 70 w 574"/>
                <a:gd name="T19" fmla="*/ 0 h 596"/>
                <a:gd name="T20" fmla="*/ 70 w 574"/>
                <a:gd name="T21" fmla="*/ 364 h 596"/>
                <a:gd name="T22" fmla="*/ 124 w 574"/>
                <a:gd name="T23" fmla="*/ 364 h 596"/>
                <a:gd name="T24" fmla="*/ 124 w 574"/>
                <a:gd name="T25" fmla="*/ 391 h 5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74"/>
                <a:gd name="T40" fmla="*/ 0 h 596"/>
                <a:gd name="T41" fmla="*/ 574 w 574"/>
                <a:gd name="T42" fmla="*/ 596 h 59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74" h="596">
                  <a:moveTo>
                    <a:pt x="124" y="391"/>
                  </a:moveTo>
                  <a:lnTo>
                    <a:pt x="0" y="391"/>
                  </a:lnTo>
                  <a:lnTo>
                    <a:pt x="0" y="596"/>
                  </a:lnTo>
                  <a:lnTo>
                    <a:pt x="574" y="596"/>
                  </a:lnTo>
                  <a:lnTo>
                    <a:pt x="574" y="391"/>
                  </a:lnTo>
                  <a:lnTo>
                    <a:pt x="446" y="391"/>
                  </a:lnTo>
                  <a:lnTo>
                    <a:pt x="446" y="364"/>
                  </a:lnTo>
                  <a:lnTo>
                    <a:pt x="500" y="364"/>
                  </a:lnTo>
                  <a:lnTo>
                    <a:pt x="500" y="0"/>
                  </a:lnTo>
                  <a:lnTo>
                    <a:pt x="70" y="0"/>
                  </a:lnTo>
                  <a:lnTo>
                    <a:pt x="70" y="364"/>
                  </a:lnTo>
                  <a:lnTo>
                    <a:pt x="124" y="364"/>
                  </a:lnTo>
                  <a:lnTo>
                    <a:pt x="124" y="391"/>
                  </a:lnTo>
                  <a:close/>
                </a:path>
              </a:pathLst>
            </a:custGeom>
            <a:solidFill>
              <a:srgbClr val="FFFFFF"/>
            </a:solidFill>
            <a:ln w="158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75" name="Line 29"/>
            <p:cNvSpPr>
              <a:spLocks noChangeShapeType="1"/>
            </p:cNvSpPr>
            <p:nvPr/>
          </p:nvSpPr>
          <p:spPr bwMode="auto">
            <a:xfrm>
              <a:off x="1138" y="1303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76" name="Line 30"/>
            <p:cNvSpPr>
              <a:spLocks noChangeShapeType="1"/>
            </p:cNvSpPr>
            <p:nvPr/>
          </p:nvSpPr>
          <p:spPr bwMode="auto">
            <a:xfrm>
              <a:off x="1138" y="1276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77" name="Freeform 31"/>
            <p:cNvSpPr>
              <a:spLocks noEditPoints="1"/>
            </p:cNvSpPr>
            <p:nvPr/>
          </p:nvSpPr>
          <p:spPr bwMode="auto">
            <a:xfrm>
              <a:off x="1310" y="1323"/>
              <a:ext cx="233" cy="168"/>
            </a:xfrm>
            <a:custGeom>
              <a:avLst/>
              <a:gdLst>
                <a:gd name="T0" fmla="*/ 0 w 233"/>
                <a:gd name="T1" fmla="*/ 168 h 168"/>
                <a:gd name="T2" fmla="*/ 188 w 233"/>
                <a:gd name="T3" fmla="*/ 168 h 168"/>
                <a:gd name="T4" fmla="*/ 188 w 233"/>
                <a:gd name="T5" fmla="*/ 0 h 168"/>
                <a:gd name="T6" fmla="*/ 0 w 233"/>
                <a:gd name="T7" fmla="*/ 0 h 168"/>
                <a:gd name="T8" fmla="*/ 0 w 233"/>
                <a:gd name="T9" fmla="*/ 168 h 168"/>
                <a:gd name="T10" fmla="*/ 204 w 233"/>
                <a:gd name="T11" fmla="*/ 26 h 168"/>
                <a:gd name="T12" fmla="*/ 233 w 233"/>
                <a:gd name="T13" fmla="*/ 26 h 168"/>
                <a:gd name="T14" fmla="*/ 233 w 233"/>
                <a:gd name="T15" fmla="*/ 0 h 168"/>
                <a:gd name="T16" fmla="*/ 204 w 233"/>
                <a:gd name="T17" fmla="*/ 0 h 168"/>
                <a:gd name="T18" fmla="*/ 204 w 233"/>
                <a:gd name="T19" fmla="*/ 26 h 1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33"/>
                <a:gd name="T31" fmla="*/ 0 h 168"/>
                <a:gd name="T32" fmla="*/ 233 w 233"/>
                <a:gd name="T33" fmla="*/ 168 h 16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33" h="168">
                  <a:moveTo>
                    <a:pt x="0" y="168"/>
                  </a:moveTo>
                  <a:lnTo>
                    <a:pt x="188" y="168"/>
                  </a:lnTo>
                  <a:lnTo>
                    <a:pt x="188" y="0"/>
                  </a:lnTo>
                  <a:lnTo>
                    <a:pt x="0" y="0"/>
                  </a:lnTo>
                  <a:lnTo>
                    <a:pt x="0" y="168"/>
                  </a:lnTo>
                  <a:close/>
                  <a:moveTo>
                    <a:pt x="204" y="26"/>
                  </a:moveTo>
                  <a:lnTo>
                    <a:pt x="233" y="26"/>
                  </a:lnTo>
                  <a:lnTo>
                    <a:pt x="233" y="0"/>
                  </a:lnTo>
                  <a:lnTo>
                    <a:pt x="204" y="0"/>
                  </a:lnTo>
                  <a:lnTo>
                    <a:pt x="204" y="26"/>
                  </a:lnTo>
                  <a:close/>
                </a:path>
              </a:pathLst>
            </a:custGeom>
            <a:solidFill>
              <a:srgbClr val="FFFFFF"/>
            </a:solidFill>
            <a:ln w="47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78" name="Line 32"/>
            <p:cNvSpPr>
              <a:spLocks noChangeShapeType="1"/>
            </p:cNvSpPr>
            <p:nvPr/>
          </p:nvSpPr>
          <p:spPr bwMode="auto">
            <a:xfrm>
              <a:off x="1310" y="1379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79" name="Line 33"/>
            <p:cNvSpPr>
              <a:spLocks noChangeShapeType="1"/>
            </p:cNvSpPr>
            <p:nvPr/>
          </p:nvSpPr>
          <p:spPr bwMode="auto">
            <a:xfrm>
              <a:off x="1310" y="1435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80" name="Line 34"/>
            <p:cNvSpPr>
              <a:spLocks noChangeShapeType="1"/>
            </p:cNvSpPr>
            <p:nvPr/>
          </p:nvSpPr>
          <p:spPr bwMode="auto">
            <a:xfrm>
              <a:off x="1317" y="1405"/>
              <a:ext cx="17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81" name="Rectangle 35"/>
            <p:cNvSpPr>
              <a:spLocks noChangeArrowheads="1"/>
            </p:cNvSpPr>
            <p:nvPr/>
          </p:nvSpPr>
          <p:spPr bwMode="auto">
            <a:xfrm>
              <a:off x="1416" y="1389"/>
              <a:ext cx="54" cy="36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  <p:sp>
          <p:nvSpPr>
            <p:cNvPr id="34882" name="Freeform 36"/>
            <p:cNvSpPr>
              <a:spLocks noEditPoints="1"/>
            </p:cNvSpPr>
            <p:nvPr/>
          </p:nvSpPr>
          <p:spPr bwMode="auto">
            <a:xfrm>
              <a:off x="1030" y="955"/>
              <a:ext cx="538" cy="401"/>
            </a:xfrm>
            <a:custGeom>
              <a:avLst/>
              <a:gdLst>
                <a:gd name="T0" fmla="*/ 452 w 538"/>
                <a:gd name="T1" fmla="*/ 285 h 401"/>
                <a:gd name="T2" fmla="*/ 472 w 538"/>
                <a:gd name="T3" fmla="*/ 285 h 401"/>
                <a:gd name="T4" fmla="*/ 472 w 538"/>
                <a:gd name="T5" fmla="*/ 278 h 401"/>
                <a:gd name="T6" fmla="*/ 452 w 538"/>
                <a:gd name="T7" fmla="*/ 278 h 401"/>
                <a:gd name="T8" fmla="*/ 452 w 538"/>
                <a:gd name="T9" fmla="*/ 285 h 401"/>
                <a:gd name="T10" fmla="*/ 121 w 538"/>
                <a:gd name="T11" fmla="*/ 239 h 401"/>
                <a:gd name="T12" fmla="*/ 121 w 538"/>
                <a:gd name="T13" fmla="*/ 27 h 401"/>
                <a:gd name="T14" fmla="*/ 417 w 538"/>
                <a:gd name="T15" fmla="*/ 27 h 401"/>
                <a:gd name="T16" fmla="*/ 417 w 538"/>
                <a:gd name="T17" fmla="*/ 239 h 401"/>
                <a:gd name="T18" fmla="*/ 121 w 538"/>
                <a:gd name="T19" fmla="*/ 239 h 401"/>
                <a:gd name="T20" fmla="*/ 108 w 538"/>
                <a:gd name="T21" fmla="*/ 252 h 401"/>
                <a:gd name="T22" fmla="*/ 430 w 538"/>
                <a:gd name="T23" fmla="*/ 252 h 401"/>
                <a:gd name="T24" fmla="*/ 430 w 538"/>
                <a:gd name="T25" fmla="*/ 14 h 401"/>
                <a:gd name="T26" fmla="*/ 446 w 538"/>
                <a:gd name="T27" fmla="*/ 14 h 401"/>
                <a:gd name="T28" fmla="*/ 446 w 538"/>
                <a:gd name="T29" fmla="*/ 0 h 401"/>
                <a:gd name="T30" fmla="*/ 96 w 538"/>
                <a:gd name="T31" fmla="*/ 0 h 401"/>
                <a:gd name="T32" fmla="*/ 96 w 538"/>
                <a:gd name="T33" fmla="*/ 265 h 401"/>
                <a:gd name="T34" fmla="*/ 108 w 538"/>
                <a:gd name="T35" fmla="*/ 265 h 401"/>
                <a:gd name="T36" fmla="*/ 108 w 538"/>
                <a:gd name="T37" fmla="*/ 252 h 401"/>
                <a:gd name="T38" fmla="*/ 0 w 538"/>
                <a:gd name="T39" fmla="*/ 388 h 401"/>
                <a:gd name="T40" fmla="*/ 54 w 538"/>
                <a:gd name="T41" fmla="*/ 388 h 401"/>
                <a:gd name="T42" fmla="*/ 54 w 538"/>
                <a:gd name="T43" fmla="*/ 368 h 401"/>
                <a:gd name="T44" fmla="*/ 0 w 538"/>
                <a:gd name="T45" fmla="*/ 368 h 401"/>
                <a:gd name="T46" fmla="*/ 0 w 538"/>
                <a:gd name="T47" fmla="*/ 388 h 401"/>
                <a:gd name="T48" fmla="*/ 316 w 538"/>
                <a:gd name="T49" fmla="*/ 401 h 401"/>
                <a:gd name="T50" fmla="*/ 430 w 538"/>
                <a:gd name="T51" fmla="*/ 401 h 401"/>
                <a:gd name="T52" fmla="*/ 430 w 538"/>
                <a:gd name="T53" fmla="*/ 391 h 401"/>
                <a:gd name="T54" fmla="*/ 316 w 538"/>
                <a:gd name="T55" fmla="*/ 391 h 401"/>
                <a:gd name="T56" fmla="*/ 316 w 538"/>
                <a:gd name="T57" fmla="*/ 401 h 401"/>
                <a:gd name="T58" fmla="*/ 523 w 538"/>
                <a:gd name="T59" fmla="*/ 378 h 401"/>
                <a:gd name="T60" fmla="*/ 538 w 538"/>
                <a:gd name="T61" fmla="*/ 378 h 401"/>
                <a:gd name="T62" fmla="*/ 538 w 538"/>
                <a:gd name="T63" fmla="*/ 368 h 401"/>
                <a:gd name="T64" fmla="*/ 523 w 538"/>
                <a:gd name="T65" fmla="*/ 368 h 401"/>
                <a:gd name="T66" fmla="*/ 523 w 538"/>
                <a:gd name="T67" fmla="*/ 378 h 401"/>
                <a:gd name="T68" fmla="*/ 523 w 538"/>
                <a:gd name="T69" fmla="*/ 394 h 401"/>
                <a:gd name="T70" fmla="*/ 538 w 538"/>
                <a:gd name="T71" fmla="*/ 394 h 401"/>
                <a:gd name="T72" fmla="*/ 538 w 538"/>
                <a:gd name="T73" fmla="*/ 388 h 401"/>
                <a:gd name="T74" fmla="*/ 523 w 538"/>
                <a:gd name="T75" fmla="*/ 388 h 401"/>
                <a:gd name="T76" fmla="*/ 523 w 538"/>
                <a:gd name="T77" fmla="*/ 394 h 401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538"/>
                <a:gd name="T118" fmla="*/ 0 h 401"/>
                <a:gd name="T119" fmla="*/ 538 w 538"/>
                <a:gd name="T120" fmla="*/ 401 h 401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538" h="401">
                  <a:moveTo>
                    <a:pt x="452" y="285"/>
                  </a:moveTo>
                  <a:lnTo>
                    <a:pt x="472" y="285"/>
                  </a:lnTo>
                  <a:lnTo>
                    <a:pt x="472" y="278"/>
                  </a:lnTo>
                  <a:lnTo>
                    <a:pt x="452" y="278"/>
                  </a:lnTo>
                  <a:lnTo>
                    <a:pt x="452" y="285"/>
                  </a:lnTo>
                  <a:close/>
                  <a:moveTo>
                    <a:pt x="121" y="239"/>
                  </a:moveTo>
                  <a:lnTo>
                    <a:pt x="121" y="27"/>
                  </a:lnTo>
                  <a:lnTo>
                    <a:pt x="417" y="27"/>
                  </a:lnTo>
                  <a:lnTo>
                    <a:pt x="417" y="239"/>
                  </a:lnTo>
                  <a:lnTo>
                    <a:pt x="121" y="239"/>
                  </a:lnTo>
                  <a:close/>
                  <a:moveTo>
                    <a:pt x="108" y="252"/>
                  </a:moveTo>
                  <a:lnTo>
                    <a:pt x="430" y="252"/>
                  </a:lnTo>
                  <a:lnTo>
                    <a:pt x="430" y="14"/>
                  </a:lnTo>
                  <a:lnTo>
                    <a:pt x="446" y="14"/>
                  </a:lnTo>
                  <a:lnTo>
                    <a:pt x="446" y="0"/>
                  </a:lnTo>
                  <a:lnTo>
                    <a:pt x="96" y="0"/>
                  </a:lnTo>
                  <a:lnTo>
                    <a:pt x="96" y="265"/>
                  </a:lnTo>
                  <a:lnTo>
                    <a:pt x="108" y="265"/>
                  </a:lnTo>
                  <a:lnTo>
                    <a:pt x="108" y="252"/>
                  </a:lnTo>
                  <a:close/>
                  <a:moveTo>
                    <a:pt x="0" y="388"/>
                  </a:moveTo>
                  <a:lnTo>
                    <a:pt x="54" y="388"/>
                  </a:lnTo>
                  <a:lnTo>
                    <a:pt x="54" y="368"/>
                  </a:lnTo>
                  <a:lnTo>
                    <a:pt x="0" y="368"/>
                  </a:lnTo>
                  <a:lnTo>
                    <a:pt x="0" y="388"/>
                  </a:lnTo>
                  <a:close/>
                  <a:moveTo>
                    <a:pt x="316" y="401"/>
                  </a:moveTo>
                  <a:lnTo>
                    <a:pt x="430" y="401"/>
                  </a:lnTo>
                  <a:lnTo>
                    <a:pt x="430" y="391"/>
                  </a:lnTo>
                  <a:lnTo>
                    <a:pt x="316" y="391"/>
                  </a:lnTo>
                  <a:lnTo>
                    <a:pt x="316" y="401"/>
                  </a:lnTo>
                  <a:close/>
                  <a:moveTo>
                    <a:pt x="523" y="378"/>
                  </a:moveTo>
                  <a:lnTo>
                    <a:pt x="538" y="378"/>
                  </a:lnTo>
                  <a:lnTo>
                    <a:pt x="538" y="368"/>
                  </a:lnTo>
                  <a:lnTo>
                    <a:pt x="523" y="368"/>
                  </a:lnTo>
                  <a:lnTo>
                    <a:pt x="523" y="378"/>
                  </a:lnTo>
                  <a:close/>
                  <a:moveTo>
                    <a:pt x="523" y="394"/>
                  </a:moveTo>
                  <a:lnTo>
                    <a:pt x="538" y="394"/>
                  </a:lnTo>
                  <a:lnTo>
                    <a:pt x="538" y="388"/>
                  </a:lnTo>
                  <a:lnTo>
                    <a:pt x="523" y="388"/>
                  </a:lnTo>
                  <a:lnTo>
                    <a:pt x="523" y="394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83" name="Line 37"/>
            <p:cNvSpPr>
              <a:spLocks noChangeShapeType="1"/>
            </p:cNvSpPr>
            <p:nvPr/>
          </p:nvSpPr>
          <p:spPr bwMode="auto">
            <a:xfrm>
              <a:off x="1084" y="1257"/>
              <a:ext cx="430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84" name="Line 38"/>
            <p:cNvSpPr>
              <a:spLocks noChangeShapeType="1"/>
            </p:cNvSpPr>
            <p:nvPr/>
          </p:nvSpPr>
          <p:spPr bwMode="auto">
            <a:xfrm flipV="1">
              <a:off x="1193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85" name="Line 39"/>
            <p:cNvSpPr>
              <a:spLocks noChangeShapeType="1"/>
            </p:cNvSpPr>
            <p:nvPr/>
          </p:nvSpPr>
          <p:spPr bwMode="auto">
            <a:xfrm flipV="1">
              <a:off x="1301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34833" name="AutoShape 40"/>
          <p:cNvCxnSpPr>
            <a:cxnSpLocks noChangeShapeType="1"/>
            <a:endCxn id="34829" idx="1"/>
          </p:cNvCxnSpPr>
          <p:nvPr/>
        </p:nvCxnSpPr>
        <p:spPr bwMode="auto">
          <a:xfrm>
            <a:off x="760413" y="5197475"/>
            <a:ext cx="296862" cy="127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</p:spPr>
      </p:cxnSp>
      <p:grpSp>
        <p:nvGrpSpPr>
          <p:cNvPr id="34834" name="Group 41"/>
          <p:cNvGrpSpPr/>
          <p:nvPr/>
        </p:nvGrpSpPr>
        <p:grpSpPr bwMode="auto">
          <a:xfrm>
            <a:off x="5126038" y="4114800"/>
            <a:ext cx="2265362" cy="1828800"/>
            <a:chOff x="832" y="1344"/>
            <a:chExt cx="1136" cy="1024"/>
          </a:xfrm>
        </p:grpSpPr>
        <p:sp>
          <p:nvSpPr>
            <p:cNvPr id="34865" name="Oval 42"/>
            <p:cNvSpPr>
              <a:spLocks noChangeArrowheads="1"/>
            </p:cNvSpPr>
            <p:nvPr/>
          </p:nvSpPr>
          <p:spPr bwMode="auto">
            <a:xfrm>
              <a:off x="1220" y="1344"/>
              <a:ext cx="495" cy="424"/>
            </a:xfrm>
            <a:prstGeom prst="ellipse">
              <a:avLst/>
            </a:prstGeom>
            <a:solidFill>
              <a:srgbClr val="CCFFCC"/>
            </a:solidFill>
            <a:ln>
              <a:noFill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  <p:sp>
          <p:nvSpPr>
            <p:cNvPr id="34866" name="Oval 43"/>
            <p:cNvSpPr>
              <a:spLocks noChangeArrowheads="1"/>
            </p:cNvSpPr>
            <p:nvPr/>
          </p:nvSpPr>
          <p:spPr bwMode="auto">
            <a:xfrm>
              <a:off x="948" y="1455"/>
              <a:ext cx="379" cy="424"/>
            </a:xfrm>
            <a:prstGeom prst="ellipse">
              <a:avLst/>
            </a:prstGeom>
            <a:solidFill>
              <a:srgbClr val="CCFFCC"/>
            </a:solidFill>
            <a:ln>
              <a:noFill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  <p:sp>
          <p:nvSpPr>
            <p:cNvPr id="34867" name="Oval 44"/>
            <p:cNvSpPr>
              <a:spLocks noChangeArrowheads="1"/>
            </p:cNvSpPr>
            <p:nvPr/>
          </p:nvSpPr>
          <p:spPr bwMode="auto">
            <a:xfrm>
              <a:off x="832" y="1710"/>
              <a:ext cx="256" cy="306"/>
            </a:xfrm>
            <a:prstGeom prst="ellipse">
              <a:avLst/>
            </a:prstGeom>
            <a:solidFill>
              <a:srgbClr val="CCFFCC"/>
            </a:solidFill>
            <a:ln>
              <a:noFill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  <p:sp>
          <p:nvSpPr>
            <p:cNvPr id="34868" name="Oval 45"/>
            <p:cNvSpPr>
              <a:spLocks noChangeArrowheads="1"/>
            </p:cNvSpPr>
            <p:nvPr/>
          </p:nvSpPr>
          <p:spPr bwMode="auto">
            <a:xfrm>
              <a:off x="909" y="1862"/>
              <a:ext cx="435" cy="442"/>
            </a:xfrm>
            <a:prstGeom prst="ellipse">
              <a:avLst/>
            </a:prstGeom>
            <a:solidFill>
              <a:srgbClr val="CCFFCC"/>
            </a:solidFill>
            <a:ln>
              <a:noFill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  <p:sp>
          <p:nvSpPr>
            <p:cNvPr id="34869" name="Oval 46"/>
            <p:cNvSpPr>
              <a:spLocks noChangeArrowheads="1"/>
            </p:cNvSpPr>
            <p:nvPr/>
          </p:nvSpPr>
          <p:spPr bwMode="auto">
            <a:xfrm>
              <a:off x="1086" y="1924"/>
              <a:ext cx="671" cy="444"/>
            </a:xfrm>
            <a:prstGeom prst="ellipse">
              <a:avLst/>
            </a:prstGeom>
            <a:solidFill>
              <a:srgbClr val="CCFFCC"/>
            </a:solidFill>
            <a:ln>
              <a:noFill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  <p:sp>
          <p:nvSpPr>
            <p:cNvPr id="34870" name="Oval 47"/>
            <p:cNvSpPr>
              <a:spLocks noChangeArrowheads="1"/>
            </p:cNvSpPr>
            <p:nvPr/>
          </p:nvSpPr>
          <p:spPr bwMode="auto">
            <a:xfrm>
              <a:off x="1605" y="1488"/>
              <a:ext cx="311" cy="312"/>
            </a:xfrm>
            <a:prstGeom prst="ellipse">
              <a:avLst/>
            </a:prstGeom>
            <a:solidFill>
              <a:srgbClr val="CCFFCC"/>
            </a:solidFill>
            <a:ln>
              <a:noFill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  <p:sp>
          <p:nvSpPr>
            <p:cNvPr id="34871" name="Oval 48"/>
            <p:cNvSpPr>
              <a:spLocks noChangeArrowheads="1"/>
            </p:cNvSpPr>
            <p:nvPr/>
          </p:nvSpPr>
          <p:spPr bwMode="auto">
            <a:xfrm>
              <a:off x="1602" y="1681"/>
              <a:ext cx="366" cy="333"/>
            </a:xfrm>
            <a:prstGeom prst="ellipse">
              <a:avLst/>
            </a:prstGeom>
            <a:solidFill>
              <a:srgbClr val="CCFFCC"/>
            </a:solidFill>
            <a:ln>
              <a:noFill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  <p:sp>
          <p:nvSpPr>
            <p:cNvPr id="34872" name="Oval 49"/>
            <p:cNvSpPr>
              <a:spLocks noChangeArrowheads="1"/>
            </p:cNvSpPr>
            <p:nvPr/>
          </p:nvSpPr>
          <p:spPr bwMode="auto">
            <a:xfrm>
              <a:off x="1569" y="1751"/>
              <a:ext cx="364" cy="547"/>
            </a:xfrm>
            <a:prstGeom prst="ellipse">
              <a:avLst/>
            </a:prstGeom>
            <a:solidFill>
              <a:srgbClr val="CCFFCC"/>
            </a:solidFill>
            <a:ln>
              <a:noFill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  <p:sp>
          <p:nvSpPr>
            <p:cNvPr id="34873" name="Oval 50"/>
            <p:cNvSpPr>
              <a:spLocks noChangeArrowheads="1"/>
            </p:cNvSpPr>
            <p:nvPr/>
          </p:nvSpPr>
          <p:spPr bwMode="auto">
            <a:xfrm>
              <a:off x="912" y="1434"/>
              <a:ext cx="1008" cy="918"/>
            </a:xfrm>
            <a:prstGeom prst="ellipse">
              <a:avLst/>
            </a:prstGeom>
            <a:solidFill>
              <a:srgbClr val="CCFFCC"/>
            </a:solidFill>
            <a:ln>
              <a:noFill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</p:grpSp>
      <p:sp>
        <p:nvSpPr>
          <p:cNvPr id="34835" name="Rectangle 51"/>
          <p:cNvSpPr>
            <a:spLocks noChangeArrowheads="1"/>
          </p:cNvSpPr>
          <p:nvPr/>
        </p:nvSpPr>
        <p:spPr bwMode="auto">
          <a:xfrm>
            <a:off x="7162800" y="5257800"/>
            <a:ext cx="184150" cy="171450"/>
          </a:xfrm>
          <a:prstGeom prst="rect">
            <a:avLst/>
          </a:prstGeom>
          <a:solidFill>
            <a:srgbClr val="EAEAEA"/>
          </a:solidFill>
          <a:ln w="9525">
            <a:miter lim="800000"/>
          </a:ln>
          <a:scene3d>
            <a:camera prst="legacyObliqueTopLeft"/>
            <a:lightRig rig="legacyFlat3" dir="t"/>
          </a:scene3d>
          <a:sp3d extrusionH="125400" prstMaterial="legacyMatte">
            <a:bevelT w="13500" h="13500" prst="angle"/>
            <a:bevelB w="13500" h="13500" prst="angle"/>
            <a:extrusionClr>
              <a:srgbClr val="EAEAEA"/>
            </a:extrusionClr>
          </a:sp3d>
        </p:spPr>
        <p:txBody>
          <a:bodyPr wrap="none" lIns="90488" tIns="44450" rIns="90488" bIns="44450" anchor="ctr">
            <a:flatTx/>
          </a:bodyPr>
          <a:lstStyle/>
          <a:p>
            <a:endParaRPr lang="en-US" b="0">
              <a:latin typeface="Helvetica" charset="0"/>
            </a:endParaRPr>
          </a:p>
        </p:txBody>
      </p:sp>
      <p:grpSp>
        <p:nvGrpSpPr>
          <p:cNvPr id="34836" name="Group 52"/>
          <p:cNvGrpSpPr/>
          <p:nvPr/>
        </p:nvGrpSpPr>
        <p:grpSpPr bwMode="auto">
          <a:xfrm>
            <a:off x="7781927" y="4978400"/>
            <a:ext cx="523875" cy="488950"/>
            <a:chOff x="1014" y="912"/>
            <a:chExt cx="574" cy="596"/>
          </a:xfrm>
        </p:grpSpPr>
        <p:sp>
          <p:nvSpPr>
            <p:cNvPr id="34853" name="Freeform 53"/>
            <p:cNvSpPr/>
            <p:nvPr/>
          </p:nvSpPr>
          <p:spPr bwMode="auto">
            <a:xfrm>
              <a:off x="1014" y="912"/>
              <a:ext cx="574" cy="596"/>
            </a:xfrm>
            <a:custGeom>
              <a:avLst/>
              <a:gdLst>
                <a:gd name="T0" fmla="*/ 124 w 574"/>
                <a:gd name="T1" fmla="*/ 391 h 596"/>
                <a:gd name="T2" fmla="*/ 0 w 574"/>
                <a:gd name="T3" fmla="*/ 391 h 596"/>
                <a:gd name="T4" fmla="*/ 0 w 574"/>
                <a:gd name="T5" fmla="*/ 596 h 596"/>
                <a:gd name="T6" fmla="*/ 574 w 574"/>
                <a:gd name="T7" fmla="*/ 596 h 596"/>
                <a:gd name="T8" fmla="*/ 574 w 574"/>
                <a:gd name="T9" fmla="*/ 391 h 596"/>
                <a:gd name="T10" fmla="*/ 446 w 574"/>
                <a:gd name="T11" fmla="*/ 391 h 596"/>
                <a:gd name="T12" fmla="*/ 446 w 574"/>
                <a:gd name="T13" fmla="*/ 364 h 596"/>
                <a:gd name="T14" fmla="*/ 500 w 574"/>
                <a:gd name="T15" fmla="*/ 364 h 596"/>
                <a:gd name="T16" fmla="*/ 500 w 574"/>
                <a:gd name="T17" fmla="*/ 0 h 596"/>
                <a:gd name="T18" fmla="*/ 70 w 574"/>
                <a:gd name="T19" fmla="*/ 0 h 596"/>
                <a:gd name="T20" fmla="*/ 70 w 574"/>
                <a:gd name="T21" fmla="*/ 364 h 596"/>
                <a:gd name="T22" fmla="*/ 124 w 574"/>
                <a:gd name="T23" fmla="*/ 364 h 596"/>
                <a:gd name="T24" fmla="*/ 124 w 574"/>
                <a:gd name="T25" fmla="*/ 391 h 5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74"/>
                <a:gd name="T40" fmla="*/ 0 h 596"/>
                <a:gd name="T41" fmla="*/ 574 w 574"/>
                <a:gd name="T42" fmla="*/ 596 h 59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74" h="596">
                  <a:moveTo>
                    <a:pt x="124" y="391"/>
                  </a:moveTo>
                  <a:lnTo>
                    <a:pt x="0" y="391"/>
                  </a:lnTo>
                  <a:lnTo>
                    <a:pt x="0" y="596"/>
                  </a:lnTo>
                  <a:lnTo>
                    <a:pt x="574" y="596"/>
                  </a:lnTo>
                  <a:lnTo>
                    <a:pt x="574" y="391"/>
                  </a:lnTo>
                  <a:lnTo>
                    <a:pt x="446" y="391"/>
                  </a:lnTo>
                  <a:lnTo>
                    <a:pt x="446" y="364"/>
                  </a:lnTo>
                  <a:lnTo>
                    <a:pt x="500" y="364"/>
                  </a:lnTo>
                  <a:lnTo>
                    <a:pt x="500" y="0"/>
                  </a:lnTo>
                  <a:lnTo>
                    <a:pt x="70" y="0"/>
                  </a:lnTo>
                  <a:lnTo>
                    <a:pt x="70" y="364"/>
                  </a:lnTo>
                  <a:lnTo>
                    <a:pt x="124" y="364"/>
                  </a:lnTo>
                  <a:lnTo>
                    <a:pt x="124" y="391"/>
                  </a:lnTo>
                  <a:close/>
                </a:path>
              </a:pathLst>
            </a:custGeom>
            <a:solidFill>
              <a:srgbClr val="FFFFFF"/>
            </a:solidFill>
            <a:ln w="158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54" name="Line 54"/>
            <p:cNvSpPr>
              <a:spLocks noChangeShapeType="1"/>
            </p:cNvSpPr>
            <p:nvPr/>
          </p:nvSpPr>
          <p:spPr bwMode="auto">
            <a:xfrm>
              <a:off x="1138" y="1303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55" name="Line 55"/>
            <p:cNvSpPr>
              <a:spLocks noChangeShapeType="1"/>
            </p:cNvSpPr>
            <p:nvPr/>
          </p:nvSpPr>
          <p:spPr bwMode="auto">
            <a:xfrm>
              <a:off x="1138" y="1276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56" name="Freeform 56"/>
            <p:cNvSpPr>
              <a:spLocks noEditPoints="1"/>
            </p:cNvSpPr>
            <p:nvPr/>
          </p:nvSpPr>
          <p:spPr bwMode="auto">
            <a:xfrm>
              <a:off x="1310" y="1323"/>
              <a:ext cx="233" cy="168"/>
            </a:xfrm>
            <a:custGeom>
              <a:avLst/>
              <a:gdLst>
                <a:gd name="T0" fmla="*/ 0 w 233"/>
                <a:gd name="T1" fmla="*/ 168 h 168"/>
                <a:gd name="T2" fmla="*/ 188 w 233"/>
                <a:gd name="T3" fmla="*/ 168 h 168"/>
                <a:gd name="T4" fmla="*/ 188 w 233"/>
                <a:gd name="T5" fmla="*/ 0 h 168"/>
                <a:gd name="T6" fmla="*/ 0 w 233"/>
                <a:gd name="T7" fmla="*/ 0 h 168"/>
                <a:gd name="T8" fmla="*/ 0 w 233"/>
                <a:gd name="T9" fmla="*/ 168 h 168"/>
                <a:gd name="T10" fmla="*/ 204 w 233"/>
                <a:gd name="T11" fmla="*/ 26 h 168"/>
                <a:gd name="T12" fmla="*/ 233 w 233"/>
                <a:gd name="T13" fmla="*/ 26 h 168"/>
                <a:gd name="T14" fmla="*/ 233 w 233"/>
                <a:gd name="T15" fmla="*/ 0 h 168"/>
                <a:gd name="T16" fmla="*/ 204 w 233"/>
                <a:gd name="T17" fmla="*/ 0 h 168"/>
                <a:gd name="T18" fmla="*/ 204 w 233"/>
                <a:gd name="T19" fmla="*/ 26 h 1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33"/>
                <a:gd name="T31" fmla="*/ 0 h 168"/>
                <a:gd name="T32" fmla="*/ 233 w 233"/>
                <a:gd name="T33" fmla="*/ 168 h 16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33" h="168">
                  <a:moveTo>
                    <a:pt x="0" y="168"/>
                  </a:moveTo>
                  <a:lnTo>
                    <a:pt x="188" y="168"/>
                  </a:lnTo>
                  <a:lnTo>
                    <a:pt x="188" y="0"/>
                  </a:lnTo>
                  <a:lnTo>
                    <a:pt x="0" y="0"/>
                  </a:lnTo>
                  <a:lnTo>
                    <a:pt x="0" y="168"/>
                  </a:lnTo>
                  <a:close/>
                  <a:moveTo>
                    <a:pt x="204" y="26"/>
                  </a:moveTo>
                  <a:lnTo>
                    <a:pt x="233" y="26"/>
                  </a:lnTo>
                  <a:lnTo>
                    <a:pt x="233" y="0"/>
                  </a:lnTo>
                  <a:lnTo>
                    <a:pt x="204" y="0"/>
                  </a:lnTo>
                  <a:lnTo>
                    <a:pt x="204" y="26"/>
                  </a:lnTo>
                  <a:close/>
                </a:path>
              </a:pathLst>
            </a:custGeom>
            <a:solidFill>
              <a:srgbClr val="FFFFFF"/>
            </a:solidFill>
            <a:ln w="47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57" name="Line 57"/>
            <p:cNvSpPr>
              <a:spLocks noChangeShapeType="1"/>
            </p:cNvSpPr>
            <p:nvPr/>
          </p:nvSpPr>
          <p:spPr bwMode="auto">
            <a:xfrm>
              <a:off x="1310" y="1379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58" name="Line 58"/>
            <p:cNvSpPr>
              <a:spLocks noChangeShapeType="1"/>
            </p:cNvSpPr>
            <p:nvPr/>
          </p:nvSpPr>
          <p:spPr bwMode="auto">
            <a:xfrm>
              <a:off x="1310" y="1435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59" name="Line 59"/>
            <p:cNvSpPr>
              <a:spLocks noChangeShapeType="1"/>
            </p:cNvSpPr>
            <p:nvPr/>
          </p:nvSpPr>
          <p:spPr bwMode="auto">
            <a:xfrm>
              <a:off x="1317" y="1405"/>
              <a:ext cx="17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60" name="Rectangle 60"/>
            <p:cNvSpPr>
              <a:spLocks noChangeArrowheads="1"/>
            </p:cNvSpPr>
            <p:nvPr/>
          </p:nvSpPr>
          <p:spPr bwMode="auto">
            <a:xfrm>
              <a:off x="1416" y="1389"/>
              <a:ext cx="54" cy="36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  <p:sp>
          <p:nvSpPr>
            <p:cNvPr id="34861" name="Freeform 61"/>
            <p:cNvSpPr>
              <a:spLocks noEditPoints="1"/>
            </p:cNvSpPr>
            <p:nvPr/>
          </p:nvSpPr>
          <p:spPr bwMode="auto">
            <a:xfrm>
              <a:off x="1030" y="955"/>
              <a:ext cx="538" cy="401"/>
            </a:xfrm>
            <a:custGeom>
              <a:avLst/>
              <a:gdLst>
                <a:gd name="T0" fmla="*/ 452 w 538"/>
                <a:gd name="T1" fmla="*/ 285 h 401"/>
                <a:gd name="T2" fmla="*/ 472 w 538"/>
                <a:gd name="T3" fmla="*/ 285 h 401"/>
                <a:gd name="T4" fmla="*/ 472 w 538"/>
                <a:gd name="T5" fmla="*/ 278 h 401"/>
                <a:gd name="T6" fmla="*/ 452 w 538"/>
                <a:gd name="T7" fmla="*/ 278 h 401"/>
                <a:gd name="T8" fmla="*/ 452 w 538"/>
                <a:gd name="T9" fmla="*/ 285 h 401"/>
                <a:gd name="T10" fmla="*/ 121 w 538"/>
                <a:gd name="T11" fmla="*/ 239 h 401"/>
                <a:gd name="T12" fmla="*/ 121 w 538"/>
                <a:gd name="T13" fmla="*/ 27 h 401"/>
                <a:gd name="T14" fmla="*/ 417 w 538"/>
                <a:gd name="T15" fmla="*/ 27 h 401"/>
                <a:gd name="T16" fmla="*/ 417 w 538"/>
                <a:gd name="T17" fmla="*/ 239 h 401"/>
                <a:gd name="T18" fmla="*/ 121 w 538"/>
                <a:gd name="T19" fmla="*/ 239 h 401"/>
                <a:gd name="T20" fmla="*/ 108 w 538"/>
                <a:gd name="T21" fmla="*/ 252 h 401"/>
                <a:gd name="T22" fmla="*/ 430 w 538"/>
                <a:gd name="T23" fmla="*/ 252 h 401"/>
                <a:gd name="T24" fmla="*/ 430 w 538"/>
                <a:gd name="T25" fmla="*/ 14 h 401"/>
                <a:gd name="T26" fmla="*/ 446 w 538"/>
                <a:gd name="T27" fmla="*/ 14 h 401"/>
                <a:gd name="T28" fmla="*/ 446 w 538"/>
                <a:gd name="T29" fmla="*/ 0 h 401"/>
                <a:gd name="T30" fmla="*/ 96 w 538"/>
                <a:gd name="T31" fmla="*/ 0 h 401"/>
                <a:gd name="T32" fmla="*/ 96 w 538"/>
                <a:gd name="T33" fmla="*/ 265 h 401"/>
                <a:gd name="T34" fmla="*/ 108 w 538"/>
                <a:gd name="T35" fmla="*/ 265 h 401"/>
                <a:gd name="T36" fmla="*/ 108 w 538"/>
                <a:gd name="T37" fmla="*/ 252 h 401"/>
                <a:gd name="T38" fmla="*/ 0 w 538"/>
                <a:gd name="T39" fmla="*/ 388 h 401"/>
                <a:gd name="T40" fmla="*/ 54 w 538"/>
                <a:gd name="T41" fmla="*/ 388 h 401"/>
                <a:gd name="T42" fmla="*/ 54 w 538"/>
                <a:gd name="T43" fmla="*/ 368 h 401"/>
                <a:gd name="T44" fmla="*/ 0 w 538"/>
                <a:gd name="T45" fmla="*/ 368 h 401"/>
                <a:gd name="T46" fmla="*/ 0 w 538"/>
                <a:gd name="T47" fmla="*/ 388 h 401"/>
                <a:gd name="T48" fmla="*/ 316 w 538"/>
                <a:gd name="T49" fmla="*/ 401 h 401"/>
                <a:gd name="T50" fmla="*/ 430 w 538"/>
                <a:gd name="T51" fmla="*/ 401 h 401"/>
                <a:gd name="T52" fmla="*/ 430 w 538"/>
                <a:gd name="T53" fmla="*/ 391 h 401"/>
                <a:gd name="T54" fmla="*/ 316 w 538"/>
                <a:gd name="T55" fmla="*/ 391 h 401"/>
                <a:gd name="T56" fmla="*/ 316 w 538"/>
                <a:gd name="T57" fmla="*/ 401 h 401"/>
                <a:gd name="T58" fmla="*/ 523 w 538"/>
                <a:gd name="T59" fmla="*/ 378 h 401"/>
                <a:gd name="T60" fmla="*/ 538 w 538"/>
                <a:gd name="T61" fmla="*/ 378 h 401"/>
                <a:gd name="T62" fmla="*/ 538 w 538"/>
                <a:gd name="T63" fmla="*/ 368 h 401"/>
                <a:gd name="T64" fmla="*/ 523 w 538"/>
                <a:gd name="T65" fmla="*/ 368 h 401"/>
                <a:gd name="T66" fmla="*/ 523 w 538"/>
                <a:gd name="T67" fmla="*/ 378 h 401"/>
                <a:gd name="T68" fmla="*/ 523 w 538"/>
                <a:gd name="T69" fmla="*/ 394 h 401"/>
                <a:gd name="T70" fmla="*/ 538 w 538"/>
                <a:gd name="T71" fmla="*/ 394 h 401"/>
                <a:gd name="T72" fmla="*/ 538 w 538"/>
                <a:gd name="T73" fmla="*/ 388 h 401"/>
                <a:gd name="T74" fmla="*/ 523 w 538"/>
                <a:gd name="T75" fmla="*/ 388 h 401"/>
                <a:gd name="T76" fmla="*/ 523 w 538"/>
                <a:gd name="T77" fmla="*/ 394 h 401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538"/>
                <a:gd name="T118" fmla="*/ 0 h 401"/>
                <a:gd name="T119" fmla="*/ 538 w 538"/>
                <a:gd name="T120" fmla="*/ 401 h 401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538" h="401">
                  <a:moveTo>
                    <a:pt x="452" y="285"/>
                  </a:moveTo>
                  <a:lnTo>
                    <a:pt x="472" y="285"/>
                  </a:lnTo>
                  <a:lnTo>
                    <a:pt x="472" y="278"/>
                  </a:lnTo>
                  <a:lnTo>
                    <a:pt x="452" y="278"/>
                  </a:lnTo>
                  <a:lnTo>
                    <a:pt x="452" y="285"/>
                  </a:lnTo>
                  <a:close/>
                  <a:moveTo>
                    <a:pt x="121" y="239"/>
                  </a:moveTo>
                  <a:lnTo>
                    <a:pt x="121" y="27"/>
                  </a:lnTo>
                  <a:lnTo>
                    <a:pt x="417" y="27"/>
                  </a:lnTo>
                  <a:lnTo>
                    <a:pt x="417" y="239"/>
                  </a:lnTo>
                  <a:lnTo>
                    <a:pt x="121" y="239"/>
                  </a:lnTo>
                  <a:close/>
                  <a:moveTo>
                    <a:pt x="108" y="252"/>
                  </a:moveTo>
                  <a:lnTo>
                    <a:pt x="430" y="252"/>
                  </a:lnTo>
                  <a:lnTo>
                    <a:pt x="430" y="14"/>
                  </a:lnTo>
                  <a:lnTo>
                    <a:pt x="446" y="14"/>
                  </a:lnTo>
                  <a:lnTo>
                    <a:pt x="446" y="0"/>
                  </a:lnTo>
                  <a:lnTo>
                    <a:pt x="96" y="0"/>
                  </a:lnTo>
                  <a:lnTo>
                    <a:pt x="96" y="265"/>
                  </a:lnTo>
                  <a:lnTo>
                    <a:pt x="108" y="265"/>
                  </a:lnTo>
                  <a:lnTo>
                    <a:pt x="108" y="252"/>
                  </a:lnTo>
                  <a:close/>
                  <a:moveTo>
                    <a:pt x="0" y="388"/>
                  </a:moveTo>
                  <a:lnTo>
                    <a:pt x="54" y="388"/>
                  </a:lnTo>
                  <a:lnTo>
                    <a:pt x="54" y="368"/>
                  </a:lnTo>
                  <a:lnTo>
                    <a:pt x="0" y="368"/>
                  </a:lnTo>
                  <a:lnTo>
                    <a:pt x="0" y="388"/>
                  </a:lnTo>
                  <a:close/>
                  <a:moveTo>
                    <a:pt x="316" y="401"/>
                  </a:moveTo>
                  <a:lnTo>
                    <a:pt x="430" y="401"/>
                  </a:lnTo>
                  <a:lnTo>
                    <a:pt x="430" y="391"/>
                  </a:lnTo>
                  <a:lnTo>
                    <a:pt x="316" y="391"/>
                  </a:lnTo>
                  <a:lnTo>
                    <a:pt x="316" y="401"/>
                  </a:lnTo>
                  <a:close/>
                  <a:moveTo>
                    <a:pt x="523" y="378"/>
                  </a:moveTo>
                  <a:lnTo>
                    <a:pt x="538" y="378"/>
                  </a:lnTo>
                  <a:lnTo>
                    <a:pt x="538" y="368"/>
                  </a:lnTo>
                  <a:lnTo>
                    <a:pt x="523" y="368"/>
                  </a:lnTo>
                  <a:lnTo>
                    <a:pt x="523" y="378"/>
                  </a:lnTo>
                  <a:close/>
                  <a:moveTo>
                    <a:pt x="523" y="394"/>
                  </a:moveTo>
                  <a:lnTo>
                    <a:pt x="538" y="394"/>
                  </a:lnTo>
                  <a:lnTo>
                    <a:pt x="538" y="388"/>
                  </a:lnTo>
                  <a:lnTo>
                    <a:pt x="523" y="388"/>
                  </a:lnTo>
                  <a:lnTo>
                    <a:pt x="523" y="394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62" name="Line 62"/>
            <p:cNvSpPr>
              <a:spLocks noChangeShapeType="1"/>
            </p:cNvSpPr>
            <p:nvPr/>
          </p:nvSpPr>
          <p:spPr bwMode="auto">
            <a:xfrm>
              <a:off x="1084" y="1257"/>
              <a:ext cx="430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63" name="Line 63"/>
            <p:cNvSpPr>
              <a:spLocks noChangeShapeType="1"/>
            </p:cNvSpPr>
            <p:nvPr/>
          </p:nvSpPr>
          <p:spPr bwMode="auto">
            <a:xfrm flipV="1">
              <a:off x="1193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64" name="Line 64"/>
            <p:cNvSpPr>
              <a:spLocks noChangeShapeType="1"/>
            </p:cNvSpPr>
            <p:nvPr/>
          </p:nvSpPr>
          <p:spPr bwMode="auto">
            <a:xfrm flipV="1">
              <a:off x="1301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34837" name="AutoShape 65"/>
          <p:cNvCxnSpPr>
            <a:cxnSpLocks noChangeShapeType="1"/>
            <a:stCxn id="34835" idx="3"/>
          </p:cNvCxnSpPr>
          <p:nvPr/>
        </p:nvCxnSpPr>
        <p:spPr bwMode="auto">
          <a:xfrm flipV="1">
            <a:off x="7346952" y="5314952"/>
            <a:ext cx="449263" cy="2857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</p:spPr>
      </p:cxnSp>
      <p:cxnSp>
        <p:nvCxnSpPr>
          <p:cNvPr id="34838" name="AutoShape 66"/>
          <p:cNvCxnSpPr>
            <a:cxnSpLocks noChangeShapeType="1"/>
            <a:stCxn id="34839" idx="3"/>
            <a:endCxn id="34835" idx="1"/>
          </p:cNvCxnSpPr>
          <p:nvPr/>
        </p:nvCxnSpPr>
        <p:spPr bwMode="auto">
          <a:xfrm flipV="1">
            <a:off x="5410200" y="5343525"/>
            <a:ext cx="1752600" cy="357188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</p:spPr>
      </p:cxnSp>
      <p:sp>
        <p:nvSpPr>
          <p:cNvPr id="34839" name="Rectangle 67"/>
          <p:cNvSpPr>
            <a:spLocks noChangeArrowheads="1"/>
          </p:cNvSpPr>
          <p:nvPr/>
        </p:nvSpPr>
        <p:spPr bwMode="auto">
          <a:xfrm>
            <a:off x="5226050" y="5614988"/>
            <a:ext cx="184150" cy="171450"/>
          </a:xfrm>
          <a:prstGeom prst="rect">
            <a:avLst/>
          </a:prstGeom>
          <a:solidFill>
            <a:schemeClr val="folHlink"/>
          </a:solidFill>
          <a:ln w="9525">
            <a:miter lim="800000"/>
          </a:ln>
          <a:scene3d>
            <a:camera prst="legacyObliqueTopLeft"/>
            <a:lightRig rig="legacyFlat3" dir="t"/>
          </a:scene3d>
          <a:sp3d extrusionH="125400" prstMaterial="legacyMatte">
            <a:bevelT w="13500" h="13500" prst="angle"/>
            <a:bevelB w="13500" h="13500" prst="angle"/>
            <a:extrusionClr>
              <a:schemeClr val="folHlink"/>
            </a:extrusionClr>
          </a:sp3d>
        </p:spPr>
        <p:txBody>
          <a:bodyPr wrap="none" lIns="90488" tIns="44450" rIns="90488" bIns="44450" anchor="ctr">
            <a:flatTx/>
          </a:bodyPr>
          <a:lstStyle/>
          <a:p>
            <a:endParaRPr lang="en-US" b="0">
              <a:latin typeface="Helvetica" charset="0"/>
            </a:endParaRPr>
          </a:p>
        </p:txBody>
      </p:sp>
      <p:cxnSp>
        <p:nvCxnSpPr>
          <p:cNvPr id="34840" name="AutoShape 68"/>
          <p:cNvCxnSpPr>
            <a:cxnSpLocks noChangeShapeType="1"/>
            <a:stCxn id="34830" idx="3"/>
            <a:endCxn id="34839" idx="1"/>
          </p:cNvCxnSpPr>
          <p:nvPr/>
        </p:nvCxnSpPr>
        <p:spPr bwMode="auto">
          <a:xfrm>
            <a:off x="3536950" y="5343525"/>
            <a:ext cx="1689100" cy="357188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</p:spPr>
      </p:cxnSp>
      <p:sp>
        <p:nvSpPr>
          <p:cNvPr id="34841" name="Text Box 76"/>
          <p:cNvSpPr txBox="1">
            <a:spLocks noChangeArrowheads="1"/>
          </p:cNvSpPr>
          <p:nvPr/>
        </p:nvSpPr>
        <p:spPr bwMode="auto">
          <a:xfrm>
            <a:off x="152402" y="3962402"/>
            <a:ext cx="1095375" cy="8302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r>
              <a:rPr lang="en-US" b="0">
                <a:latin typeface="Helvetica" charset="0"/>
              </a:rPr>
              <a:t>Host A</a:t>
            </a:r>
            <a:endParaRPr lang="en-US" b="0">
              <a:latin typeface="Helvetica" charset="0"/>
            </a:endParaRPr>
          </a:p>
          <a:p>
            <a:pPr eaLnBrk="1" hangingPunct="1"/>
            <a:r>
              <a:rPr lang="en-US" b="0">
                <a:latin typeface="Helvetica" charset="0"/>
              </a:rPr>
              <a:t>(IP A)</a:t>
            </a:r>
            <a:endParaRPr lang="en-US" b="0">
              <a:latin typeface="Helvetica" charset="0"/>
            </a:endParaRPr>
          </a:p>
        </p:txBody>
      </p:sp>
      <p:sp>
        <p:nvSpPr>
          <p:cNvPr id="34842" name="Text Box 77"/>
          <p:cNvSpPr txBox="1">
            <a:spLocks noChangeArrowheads="1"/>
          </p:cNvSpPr>
          <p:nvPr/>
        </p:nvSpPr>
        <p:spPr bwMode="auto">
          <a:xfrm>
            <a:off x="7543802" y="4114802"/>
            <a:ext cx="1192955" cy="83099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r>
              <a:rPr lang="en-US" b="0">
                <a:latin typeface="Helvetica" charset="0"/>
              </a:rPr>
              <a:t>Host B </a:t>
            </a:r>
            <a:endParaRPr lang="en-US" b="0">
              <a:latin typeface="Helvetica" charset="0"/>
            </a:endParaRPr>
          </a:p>
          <a:p>
            <a:pPr eaLnBrk="1" hangingPunct="1"/>
            <a:r>
              <a:rPr lang="en-US" b="0">
                <a:latin typeface="Helvetica" charset="0"/>
              </a:rPr>
              <a:t>(IP B)</a:t>
            </a:r>
            <a:endParaRPr lang="en-US" b="0">
              <a:latin typeface="Helvetica" charset="0"/>
            </a:endParaRPr>
          </a:p>
        </p:txBody>
      </p:sp>
      <p:sp>
        <p:nvSpPr>
          <p:cNvPr id="34843" name="Text Box 78"/>
          <p:cNvSpPr txBox="1">
            <a:spLocks noChangeArrowheads="1"/>
          </p:cNvSpPr>
          <p:nvPr/>
        </p:nvSpPr>
        <p:spPr bwMode="auto">
          <a:xfrm>
            <a:off x="3181350" y="4724402"/>
            <a:ext cx="577850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r>
              <a:rPr lang="en-US" b="0">
                <a:latin typeface="Helvetica" charset="0"/>
              </a:rPr>
              <a:t>R2</a:t>
            </a:r>
            <a:endParaRPr lang="en-US" b="0">
              <a:latin typeface="Helvetica" charset="0"/>
            </a:endParaRPr>
          </a:p>
        </p:txBody>
      </p:sp>
      <p:sp>
        <p:nvSpPr>
          <p:cNvPr id="34844" name="Text Box 79"/>
          <p:cNvSpPr txBox="1">
            <a:spLocks noChangeArrowheads="1"/>
          </p:cNvSpPr>
          <p:nvPr/>
        </p:nvSpPr>
        <p:spPr bwMode="auto">
          <a:xfrm>
            <a:off x="5086350" y="5105402"/>
            <a:ext cx="577850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r>
              <a:rPr lang="en-US" b="0">
                <a:latin typeface="Helvetica" charset="0"/>
              </a:rPr>
              <a:t>R3</a:t>
            </a:r>
            <a:endParaRPr lang="en-US" b="0">
              <a:latin typeface="Helvetica" charset="0"/>
            </a:endParaRPr>
          </a:p>
        </p:txBody>
      </p:sp>
      <p:sp>
        <p:nvSpPr>
          <p:cNvPr id="34845" name="Rectangle 83"/>
          <p:cNvSpPr>
            <a:spLocks noChangeArrowheads="1"/>
          </p:cNvSpPr>
          <p:nvPr/>
        </p:nvSpPr>
        <p:spPr bwMode="auto">
          <a:xfrm>
            <a:off x="5181600" y="4700588"/>
            <a:ext cx="184150" cy="171450"/>
          </a:xfrm>
          <a:prstGeom prst="rect">
            <a:avLst/>
          </a:prstGeom>
          <a:solidFill>
            <a:schemeClr val="folHlink"/>
          </a:solidFill>
          <a:ln w="9525">
            <a:miter lim="800000"/>
          </a:ln>
          <a:scene3d>
            <a:camera prst="legacyObliqueTopLeft"/>
            <a:lightRig rig="legacyFlat3" dir="t"/>
          </a:scene3d>
          <a:sp3d extrusionH="125400" prstMaterial="legacyMatte">
            <a:bevelT w="13500" h="13500" prst="angle"/>
            <a:bevelB w="13500" h="13500" prst="angle"/>
            <a:extrusionClr>
              <a:schemeClr val="folHlink"/>
            </a:extrusionClr>
          </a:sp3d>
        </p:spPr>
        <p:txBody>
          <a:bodyPr wrap="none" lIns="90488" tIns="44450" rIns="90488" bIns="44450" anchor="ctr">
            <a:flatTx/>
          </a:bodyPr>
          <a:lstStyle/>
          <a:p>
            <a:endParaRPr lang="en-US" b="0">
              <a:latin typeface="Helvetica" charset="0"/>
            </a:endParaRPr>
          </a:p>
        </p:txBody>
      </p:sp>
      <p:cxnSp>
        <p:nvCxnSpPr>
          <p:cNvPr id="34846" name="AutoShape 85"/>
          <p:cNvCxnSpPr>
            <a:cxnSpLocks noChangeShapeType="1"/>
            <a:stCxn id="34830" idx="3"/>
            <a:endCxn id="34845" idx="1"/>
          </p:cNvCxnSpPr>
          <p:nvPr/>
        </p:nvCxnSpPr>
        <p:spPr bwMode="auto">
          <a:xfrm flipV="1">
            <a:off x="3536950" y="4786313"/>
            <a:ext cx="1644650" cy="55721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</p:spPr>
      </p:cxnSp>
      <p:sp>
        <p:nvSpPr>
          <p:cNvPr id="34847" name="Text Box 86"/>
          <p:cNvSpPr txBox="1">
            <a:spLocks noChangeArrowheads="1"/>
          </p:cNvSpPr>
          <p:nvPr/>
        </p:nvSpPr>
        <p:spPr bwMode="auto">
          <a:xfrm>
            <a:off x="5029200" y="4191002"/>
            <a:ext cx="577850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r>
              <a:rPr lang="en-US" b="0">
                <a:latin typeface="Helvetica" charset="0"/>
              </a:rPr>
              <a:t>R4</a:t>
            </a:r>
            <a:endParaRPr lang="en-US" b="0">
              <a:latin typeface="Helvetica" charset="0"/>
            </a:endParaRPr>
          </a:p>
        </p:txBody>
      </p:sp>
      <p:cxnSp>
        <p:nvCxnSpPr>
          <p:cNvPr id="34848" name="AutoShape 87"/>
          <p:cNvCxnSpPr>
            <a:cxnSpLocks noChangeShapeType="1"/>
            <a:stCxn id="34845" idx="3"/>
            <a:endCxn id="34835" idx="1"/>
          </p:cNvCxnSpPr>
          <p:nvPr/>
        </p:nvCxnSpPr>
        <p:spPr bwMode="auto">
          <a:xfrm>
            <a:off x="5365750" y="4786313"/>
            <a:ext cx="1797050" cy="55721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</p:spPr>
      </p:cxnSp>
      <p:cxnSp>
        <p:nvCxnSpPr>
          <p:cNvPr id="34849" name="AutoShape 26"/>
          <p:cNvCxnSpPr>
            <a:cxnSpLocks noChangeShapeType="1"/>
            <a:stCxn id="34894" idx="2"/>
            <a:endCxn id="34851" idx="1"/>
          </p:cNvCxnSpPr>
          <p:nvPr/>
        </p:nvCxnSpPr>
        <p:spPr bwMode="auto">
          <a:xfrm rot="10800000" flipH="1" flipV="1">
            <a:off x="1257300" y="5172075"/>
            <a:ext cx="996950" cy="8382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</p:spPr>
      </p:cxnSp>
      <p:cxnSp>
        <p:nvCxnSpPr>
          <p:cNvPr id="34850" name="AutoShape 26"/>
          <p:cNvCxnSpPr>
            <a:cxnSpLocks noChangeShapeType="1"/>
            <a:stCxn id="34890" idx="4"/>
            <a:endCxn id="34893" idx="6"/>
          </p:cNvCxnSpPr>
          <p:nvPr/>
        </p:nvCxnSpPr>
        <p:spPr bwMode="auto">
          <a:xfrm rot="5400000" flipH="1" flipV="1">
            <a:off x="2579690" y="5168902"/>
            <a:ext cx="612775" cy="10890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</p:spPr>
      </p:cxnSp>
      <p:sp>
        <p:nvSpPr>
          <p:cNvPr id="34851" name="Rectangle 24"/>
          <p:cNvSpPr>
            <a:spLocks noChangeArrowheads="1"/>
          </p:cNvSpPr>
          <p:nvPr/>
        </p:nvSpPr>
        <p:spPr bwMode="auto">
          <a:xfrm>
            <a:off x="2254250" y="5924550"/>
            <a:ext cx="184150" cy="171450"/>
          </a:xfrm>
          <a:prstGeom prst="rect">
            <a:avLst/>
          </a:prstGeom>
          <a:solidFill>
            <a:srgbClr val="EAEAEA"/>
          </a:solidFill>
          <a:ln w="9525">
            <a:miter lim="800000"/>
          </a:ln>
          <a:scene3d>
            <a:camera prst="legacyObliqueTopLeft"/>
            <a:lightRig rig="legacyFlat3" dir="t"/>
          </a:scene3d>
          <a:sp3d extrusionH="125400" prstMaterial="legacyMatte">
            <a:bevelT w="13500" h="13500" prst="angle"/>
            <a:bevelB w="13500" h="13500" prst="angle"/>
            <a:extrusionClr>
              <a:srgbClr val="EAEAEA"/>
            </a:extrusionClr>
          </a:sp3d>
        </p:spPr>
        <p:txBody>
          <a:bodyPr wrap="none" lIns="90488" tIns="44450" rIns="90488" bIns="44450" anchor="ctr">
            <a:flatTx/>
          </a:bodyPr>
          <a:lstStyle/>
          <a:p>
            <a:endParaRPr lang="en-US" b="0">
              <a:latin typeface="Helvetica" charset="0"/>
            </a:endParaRPr>
          </a:p>
        </p:txBody>
      </p:sp>
      <p:sp>
        <p:nvSpPr>
          <p:cNvPr id="34852" name="Text Box 78"/>
          <p:cNvSpPr txBox="1">
            <a:spLocks noChangeArrowheads="1"/>
          </p:cNvSpPr>
          <p:nvPr/>
        </p:nvSpPr>
        <p:spPr bwMode="auto">
          <a:xfrm>
            <a:off x="2133600" y="6015038"/>
            <a:ext cx="577850" cy="4619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r>
              <a:rPr lang="en-US" b="0">
                <a:latin typeface="Helvetica" charset="0"/>
              </a:rPr>
              <a:t>R1</a:t>
            </a:r>
            <a:endParaRPr lang="en-US" b="0">
              <a:latin typeface="Helvetica" charset="0"/>
            </a:endParaRPr>
          </a:p>
        </p:txBody>
      </p:sp>
      <p:sp>
        <p:nvSpPr>
          <p:cNvPr id="88" name="圆角矩形 87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0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15"/>
          <p:cNvSpPr>
            <a:spLocks noGrp="1" noChangeArrowheads="1"/>
          </p:cNvSpPr>
          <p:nvPr>
            <p:ph idx="1"/>
          </p:nvPr>
        </p:nvSpPr>
        <p:spPr>
          <a:xfrm>
            <a:off x="0" y="762000"/>
            <a:ext cx="9144000" cy="1752600"/>
          </a:xfrm>
        </p:spPr>
        <p:txBody>
          <a:bodyPr/>
          <a:lstStyle/>
          <a:p>
            <a:pPr eaLnBrk="1" hangingPunct="1"/>
            <a:r>
              <a:rPr lang="en-US" b="1">
                <a:latin typeface="Helvetica" charset="0"/>
                <a:ea typeface="MS PGothic" panose="020B0600070205080204" charset="-128"/>
              </a:rPr>
              <a:t>Forward</a:t>
            </a:r>
            <a:r>
              <a:rPr lang="en-US">
                <a:latin typeface="Helvetica" charset="0"/>
                <a:ea typeface="MS PGothic" panose="020B0600070205080204" charset="-128"/>
              </a:rPr>
              <a:t> each packet received on an </a:t>
            </a:r>
            <a:r>
              <a:rPr lang="en-US" b="1">
                <a:latin typeface="Helvetica" charset="0"/>
                <a:ea typeface="MS PGothic" panose="020B0600070205080204" charset="-128"/>
              </a:rPr>
              <a:t>incoming link </a:t>
            </a:r>
            <a:r>
              <a:rPr lang="en-US">
                <a:latin typeface="Helvetica" charset="0"/>
                <a:ea typeface="MS PGothic" panose="020B0600070205080204" charset="-128"/>
              </a:rPr>
              <a:t>to an </a:t>
            </a:r>
            <a:r>
              <a:rPr lang="en-US" b="1">
                <a:latin typeface="Helvetica" charset="0"/>
                <a:ea typeface="MS PGothic" panose="020B0600070205080204" charset="-128"/>
              </a:rPr>
              <a:t>outgoing link </a:t>
            </a:r>
            <a:r>
              <a:rPr lang="en-US">
                <a:latin typeface="Helvetica" charset="0"/>
                <a:ea typeface="MS PGothic" panose="020B0600070205080204" charset="-128"/>
              </a:rPr>
              <a:t>based on packet’</a:t>
            </a:r>
            <a:r>
              <a:rPr lang="en-US" altLang="ja-JP">
                <a:latin typeface="Helvetica" charset="0"/>
                <a:ea typeface="MS PGothic" panose="020B0600070205080204" charset="-128"/>
              </a:rPr>
              <a:t>s destination IP address (towards its destination)</a:t>
            </a:r>
            <a:endParaRPr lang="en-US" altLang="ja-JP">
              <a:latin typeface="Helvetica" charset="0"/>
              <a:ea typeface="MS PGothic" panose="020B0600070205080204" charset="-128"/>
            </a:endParaRPr>
          </a:p>
          <a:p>
            <a:pPr eaLnBrk="1" hangingPunct="1"/>
            <a:r>
              <a:rPr lang="en-US" b="1">
                <a:latin typeface="Helvetica" charset="0"/>
                <a:ea typeface="MS PGothic" panose="020B0600070205080204" charset="-128"/>
              </a:rPr>
              <a:t>Store &amp; forward</a:t>
            </a:r>
            <a:r>
              <a:rPr lang="en-US">
                <a:latin typeface="Helvetica" charset="0"/>
                <a:ea typeface="MS PGothic" panose="020B0600070205080204" charset="-128"/>
              </a:rPr>
              <a:t>: packets are buffered before being forwarded</a:t>
            </a:r>
            <a:endParaRPr lang="en-US">
              <a:latin typeface="Helvetica" charset="0"/>
              <a:ea typeface="MS PGothic" panose="020B0600070205080204" charset="-128"/>
            </a:endParaRPr>
          </a:p>
          <a:p>
            <a:pPr eaLnBrk="1" hangingPunct="1"/>
            <a:r>
              <a:rPr lang="en-US" b="1">
                <a:latin typeface="Helvetica" charset="0"/>
                <a:ea typeface="MS PGothic" panose="020B0600070205080204" charset="-128"/>
              </a:rPr>
              <a:t>Forwarding table</a:t>
            </a:r>
            <a:r>
              <a:rPr lang="en-US">
                <a:latin typeface="Helvetica" charset="0"/>
                <a:ea typeface="MS PGothic" panose="020B0600070205080204" charset="-128"/>
              </a:rPr>
              <a:t>: mapping between IP address and the output link</a:t>
            </a:r>
            <a:endParaRPr lang="en-US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35842" name="Rectangle 14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pPr eaLnBrk="1" hangingPunct="1"/>
            <a:r>
              <a:rPr lang="en-US" dirty="0">
                <a:latin typeface="Helvetica" charset="0"/>
                <a:ea typeface="MS PGothic" panose="020B0600070205080204" charset="-128"/>
              </a:rPr>
              <a:t>WANs: Routers</a:t>
            </a:r>
            <a:endParaRPr lang="en-US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grpSp>
        <p:nvGrpSpPr>
          <p:cNvPr id="2" name="Group 92"/>
          <p:cNvGrpSpPr/>
          <p:nvPr/>
        </p:nvGrpSpPr>
        <p:grpSpPr bwMode="auto">
          <a:xfrm>
            <a:off x="2819400" y="2819400"/>
            <a:ext cx="6324600" cy="3505200"/>
            <a:chOff x="2819400" y="2819400"/>
            <a:chExt cx="6324600" cy="3505200"/>
          </a:xfrm>
        </p:grpSpPr>
        <p:sp>
          <p:nvSpPr>
            <p:cNvPr id="35880" name="Rounded Rectangle 111"/>
            <p:cNvSpPr>
              <a:spLocks noChangeArrowheads="1"/>
            </p:cNvSpPr>
            <p:nvPr/>
          </p:nvSpPr>
          <p:spPr bwMode="auto">
            <a:xfrm>
              <a:off x="2819400" y="2819400"/>
              <a:ext cx="6324600" cy="3505200"/>
            </a:xfrm>
            <a:prstGeom prst="roundRect">
              <a:avLst>
                <a:gd name="adj" fmla="val 16667"/>
              </a:avLst>
            </a:prstGeom>
            <a:solidFill>
              <a:srgbClr val="FFFFAA">
                <a:alpha val="32156"/>
              </a:srgbClr>
            </a:solidFill>
            <a:ln w="12700">
              <a:solidFill>
                <a:srgbClr val="BFBFBF"/>
              </a:solidFill>
              <a:round/>
              <a:headEnd type="triangle" w="med" len="med"/>
            </a:ln>
          </p:spPr>
          <p:txBody>
            <a:bodyPr anchor="ctr"/>
            <a:lstStyle/>
            <a:p>
              <a:pPr algn="ctr"/>
              <a:endParaRPr lang="en-US" b="0">
                <a:latin typeface="Helvetica" charset="0"/>
              </a:endParaRPr>
            </a:p>
          </p:txBody>
        </p:sp>
        <p:grpSp>
          <p:nvGrpSpPr>
            <p:cNvPr id="35881" name="Group 2"/>
            <p:cNvGrpSpPr/>
            <p:nvPr/>
          </p:nvGrpSpPr>
          <p:grpSpPr bwMode="auto">
            <a:xfrm>
              <a:off x="6937375" y="5481638"/>
              <a:ext cx="1751013" cy="304800"/>
              <a:chOff x="1056" y="1872"/>
              <a:chExt cx="1104" cy="192"/>
            </a:xfrm>
          </p:grpSpPr>
          <p:sp>
            <p:nvSpPr>
              <p:cNvPr id="1069059" name="Oval 3"/>
              <p:cNvSpPr>
                <a:spLocks noChangeArrowheads="1"/>
              </p:cNvSpPr>
              <p:nvPr/>
            </p:nvSpPr>
            <p:spPr bwMode="auto">
              <a:xfrm>
                <a:off x="2064" y="1872"/>
                <a:ext cx="96" cy="192"/>
              </a:xfrm>
              <a:prstGeom prst="ellipse">
                <a:avLst/>
              </a:prstGeom>
              <a:gradFill rotWithShape="0">
                <a:gsLst>
                  <a:gs pos="0">
                    <a:schemeClr val="bg2">
                      <a:gamma/>
                      <a:shade val="45882"/>
                      <a:invGamma/>
                    </a:schemeClr>
                  </a:gs>
                  <a:gs pos="50000">
                    <a:schemeClr val="bg2"/>
                  </a:gs>
                  <a:gs pos="100000">
                    <a:schemeClr val="bg2">
                      <a:gamma/>
                      <a:shade val="45882"/>
                      <a:invGamma/>
                    </a:schemeClr>
                  </a:gs>
                </a:gsLst>
                <a:lin ang="5400000" scaled="1"/>
              </a:gradFill>
              <a:ln w="12700">
                <a:noFill/>
                <a:rou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defRPr/>
                </a:pPr>
                <a:endParaRPr lang="en-US">
                  <a:latin typeface="Courier New" panose="02070309020205020404" pitchFamily="-107" charset="0"/>
                  <a:ea typeface="MS PGothic" panose="020B0600070205080204" charset="-128"/>
                  <a:cs typeface="MS PGothic" panose="020B0600070205080204" charset="-128"/>
                </a:endParaRPr>
              </a:p>
            </p:txBody>
          </p:sp>
          <p:sp>
            <p:nvSpPr>
              <p:cNvPr id="35932" name="Rectangle 4"/>
              <p:cNvSpPr>
                <a:spLocks noChangeArrowheads="1"/>
              </p:cNvSpPr>
              <p:nvPr/>
            </p:nvSpPr>
            <p:spPr bwMode="auto">
              <a:xfrm>
                <a:off x="1104" y="1872"/>
                <a:ext cx="1008" cy="192"/>
              </a:xfrm>
              <a:prstGeom prst="rect">
                <a:avLst/>
              </a:prstGeom>
              <a:gradFill rotWithShape="0">
                <a:gsLst>
                  <a:gs pos="0">
                    <a:srgbClr val="7A7A7A"/>
                  </a:gs>
                  <a:gs pos="50000">
                    <a:srgbClr val="C0C0C0"/>
                  </a:gs>
                  <a:gs pos="100000">
                    <a:srgbClr val="7A7A7A"/>
                  </a:gs>
                </a:gsLst>
                <a:lin ang="5400000" scaled="1"/>
              </a:gradFill>
              <a:ln>
                <a:noFill/>
              </a:ln>
            </p:spPr>
            <p:txBody>
              <a:bodyPr wrap="none" lIns="90488" tIns="44450" rIns="90488" bIns="44450" anchor="ctr"/>
              <a:lstStyle/>
              <a:p>
                <a:endParaRPr lang="en-US"/>
              </a:p>
            </p:txBody>
          </p:sp>
          <p:sp>
            <p:nvSpPr>
              <p:cNvPr id="35933" name="Oval 5"/>
              <p:cNvSpPr>
                <a:spLocks noChangeArrowheads="1"/>
              </p:cNvSpPr>
              <p:nvPr/>
            </p:nvSpPr>
            <p:spPr bwMode="auto">
              <a:xfrm>
                <a:off x="1056" y="1872"/>
                <a:ext cx="96" cy="192"/>
              </a:xfrm>
              <a:prstGeom prst="ellipse">
                <a:avLst/>
              </a:prstGeom>
              <a:solidFill>
                <a:srgbClr val="C0C0C0"/>
              </a:solidFill>
              <a:ln>
                <a:noFill/>
              </a:ln>
            </p:spPr>
            <p:txBody>
              <a:bodyPr wrap="none" lIns="90488" tIns="44450" rIns="90488" bIns="44450" anchor="ctr"/>
              <a:lstStyle/>
              <a:p>
                <a:endParaRPr lang="en-US"/>
              </a:p>
            </p:txBody>
          </p:sp>
        </p:grpSp>
        <p:grpSp>
          <p:nvGrpSpPr>
            <p:cNvPr id="35882" name="Group 6"/>
            <p:cNvGrpSpPr/>
            <p:nvPr/>
          </p:nvGrpSpPr>
          <p:grpSpPr bwMode="auto">
            <a:xfrm>
              <a:off x="6937375" y="4568825"/>
              <a:ext cx="1751013" cy="304800"/>
              <a:chOff x="1056" y="1872"/>
              <a:chExt cx="1104" cy="192"/>
            </a:xfrm>
          </p:grpSpPr>
          <p:sp>
            <p:nvSpPr>
              <p:cNvPr id="1069063" name="Oval 7"/>
              <p:cNvSpPr>
                <a:spLocks noChangeArrowheads="1"/>
              </p:cNvSpPr>
              <p:nvPr/>
            </p:nvSpPr>
            <p:spPr bwMode="auto">
              <a:xfrm>
                <a:off x="2064" y="1872"/>
                <a:ext cx="96" cy="192"/>
              </a:xfrm>
              <a:prstGeom prst="ellipse">
                <a:avLst/>
              </a:prstGeom>
              <a:gradFill rotWithShape="0">
                <a:gsLst>
                  <a:gs pos="0">
                    <a:schemeClr val="bg2">
                      <a:gamma/>
                      <a:shade val="45882"/>
                      <a:invGamma/>
                    </a:schemeClr>
                  </a:gs>
                  <a:gs pos="50000">
                    <a:schemeClr val="bg2"/>
                  </a:gs>
                  <a:gs pos="100000">
                    <a:schemeClr val="bg2">
                      <a:gamma/>
                      <a:shade val="45882"/>
                      <a:invGamma/>
                    </a:schemeClr>
                  </a:gs>
                </a:gsLst>
                <a:lin ang="5400000" scaled="1"/>
              </a:gradFill>
              <a:ln w="12700">
                <a:noFill/>
                <a:rou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defRPr/>
                </a:pPr>
                <a:endParaRPr lang="en-US">
                  <a:latin typeface="Courier New" panose="02070309020205020404" pitchFamily="-107" charset="0"/>
                  <a:ea typeface="MS PGothic" panose="020B0600070205080204" charset="-128"/>
                  <a:cs typeface="MS PGothic" panose="020B0600070205080204" charset="-128"/>
                </a:endParaRPr>
              </a:p>
            </p:txBody>
          </p:sp>
          <p:sp>
            <p:nvSpPr>
              <p:cNvPr id="35929" name="Rectangle 8"/>
              <p:cNvSpPr>
                <a:spLocks noChangeArrowheads="1"/>
              </p:cNvSpPr>
              <p:nvPr/>
            </p:nvSpPr>
            <p:spPr bwMode="auto">
              <a:xfrm>
                <a:off x="1104" y="1872"/>
                <a:ext cx="1008" cy="192"/>
              </a:xfrm>
              <a:prstGeom prst="rect">
                <a:avLst/>
              </a:prstGeom>
              <a:gradFill rotWithShape="0">
                <a:gsLst>
                  <a:gs pos="0">
                    <a:srgbClr val="7A7A7A"/>
                  </a:gs>
                  <a:gs pos="50000">
                    <a:srgbClr val="C0C0C0"/>
                  </a:gs>
                  <a:gs pos="100000">
                    <a:srgbClr val="7A7A7A"/>
                  </a:gs>
                </a:gsLst>
                <a:lin ang="5400000" scaled="1"/>
              </a:gradFill>
              <a:ln>
                <a:noFill/>
              </a:ln>
            </p:spPr>
            <p:txBody>
              <a:bodyPr wrap="none" lIns="90488" tIns="44450" rIns="90488" bIns="44450" anchor="ctr"/>
              <a:lstStyle/>
              <a:p>
                <a:endParaRPr lang="en-US"/>
              </a:p>
            </p:txBody>
          </p:sp>
          <p:sp>
            <p:nvSpPr>
              <p:cNvPr id="35930" name="Oval 9"/>
              <p:cNvSpPr>
                <a:spLocks noChangeArrowheads="1"/>
              </p:cNvSpPr>
              <p:nvPr/>
            </p:nvSpPr>
            <p:spPr bwMode="auto">
              <a:xfrm>
                <a:off x="1056" y="1872"/>
                <a:ext cx="96" cy="192"/>
              </a:xfrm>
              <a:prstGeom prst="ellipse">
                <a:avLst/>
              </a:prstGeom>
              <a:solidFill>
                <a:srgbClr val="C0C0C0"/>
              </a:solidFill>
              <a:ln>
                <a:noFill/>
              </a:ln>
            </p:spPr>
            <p:txBody>
              <a:bodyPr wrap="none" lIns="90488" tIns="44450" rIns="90488" bIns="44450" anchor="ctr"/>
              <a:lstStyle/>
              <a:p>
                <a:endParaRPr lang="en-US"/>
              </a:p>
            </p:txBody>
          </p:sp>
        </p:grpSp>
        <p:grpSp>
          <p:nvGrpSpPr>
            <p:cNvPr id="35883" name="Group 10"/>
            <p:cNvGrpSpPr/>
            <p:nvPr/>
          </p:nvGrpSpPr>
          <p:grpSpPr bwMode="auto">
            <a:xfrm>
              <a:off x="6937375" y="3581400"/>
              <a:ext cx="1751013" cy="303213"/>
              <a:chOff x="1056" y="1872"/>
              <a:chExt cx="1104" cy="192"/>
            </a:xfrm>
          </p:grpSpPr>
          <p:sp>
            <p:nvSpPr>
              <p:cNvPr id="1069067" name="Oval 11"/>
              <p:cNvSpPr>
                <a:spLocks noChangeArrowheads="1"/>
              </p:cNvSpPr>
              <p:nvPr/>
            </p:nvSpPr>
            <p:spPr bwMode="auto">
              <a:xfrm>
                <a:off x="2064" y="1872"/>
                <a:ext cx="96" cy="192"/>
              </a:xfrm>
              <a:prstGeom prst="ellipse">
                <a:avLst/>
              </a:prstGeom>
              <a:gradFill rotWithShape="0">
                <a:gsLst>
                  <a:gs pos="0">
                    <a:schemeClr val="bg2">
                      <a:gamma/>
                      <a:shade val="45882"/>
                      <a:invGamma/>
                    </a:schemeClr>
                  </a:gs>
                  <a:gs pos="50000">
                    <a:schemeClr val="bg2"/>
                  </a:gs>
                  <a:gs pos="100000">
                    <a:schemeClr val="bg2">
                      <a:gamma/>
                      <a:shade val="45882"/>
                      <a:invGamma/>
                    </a:schemeClr>
                  </a:gs>
                </a:gsLst>
                <a:lin ang="5400000" scaled="1"/>
              </a:gradFill>
              <a:ln w="12700">
                <a:noFill/>
                <a:rou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defRPr/>
                </a:pPr>
                <a:endParaRPr lang="en-US">
                  <a:latin typeface="Courier New" panose="02070309020205020404" pitchFamily="-107" charset="0"/>
                  <a:ea typeface="MS PGothic" panose="020B0600070205080204" charset="-128"/>
                  <a:cs typeface="MS PGothic" panose="020B0600070205080204" charset="-128"/>
                </a:endParaRPr>
              </a:p>
            </p:txBody>
          </p:sp>
          <p:sp>
            <p:nvSpPr>
              <p:cNvPr id="35926" name="Rectangle 12"/>
              <p:cNvSpPr>
                <a:spLocks noChangeArrowheads="1"/>
              </p:cNvSpPr>
              <p:nvPr/>
            </p:nvSpPr>
            <p:spPr bwMode="auto">
              <a:xfrm>
                <a:off x="1104" y="1872"/>
                <a:ext cx="1008" cy="192"/>
              </a:xfrm>
              <a:prstGeom prst="rect">
                <a:avLst/>
              </a:prstGeom>
              <a:gradFill rotWithShape="0">
                <a:gsLst>
                  <a:gs pos="0">
                    <a:srgbClr val="7A7A7A"/>
                  </a:gs>
                  <a:gs pos="50000">
                    <a:srgbClr val="C0C0C0"/>
                  </a:gs>
                  <a:gs pos="100000">
                    <a:srgbClr val="7A7A7A"/>
                  </a:gs>
                </a:gsLst>
                <a:lin ang="5400000" scaled="1"/>
              </a:gradFill>
              <a:ln>
                <a:noFill/>
              </a:ln>
            </p:spPr>
            <p:txBody>
              <a:bodyPr wrap="none" lIns="90488" tIns="44450" rIns="90488" bIns="44450" anchor="ctr"/>
              <a:lstStyle/>
              <a:p>
                <a:endParaRPr lang="en-US"/>
              </a:p>
            </p:txBody>
          </p:sp>
          <p:sp>
            <p:nvSpPr>
              <p:cNvPr id="35927" name="Oval 13"/>
              <p:cNvSpPr>
                <a:spLocks noChangeArrowheads="1"/>
              </p:cNvSpPr>
              <p:nvPr/>
            </p:nvSpPr>
            <p:spPr bwMode="auto">
              <a:xfrm>
                <a:off x="1056" y="1872"/>
                <a:ext cx="96" cy="192"/>
              </a:xfrm>
              <a:prstGeom prst="ellipse">
                <a:avLst/>
              </a:prstGeom>
              <a:solidFill>
                <a:srgbClr val="C0C0C0"/>
              </a:solidFill>
              <a:ln>
                <a:noFill/>
              </a:ln>
            </p:spPr>
            <p:txBody>
              <a:bodyPr wrap="none" lIns="90488" tIns="44450" rIns="90488" bIns="44450" anchor="ctr"/>
              <a:lstStyle/>
              <a:p>
                <a:endParaRPr lang="en-US"/>
              </a:p>
            </p:txBody>
          </p:sp>
        </p:grpSp>
        <p:sp>
          <p:nvSpPr>
            <p:cNvPr id="35884" name="Rectangle 16"/>
            <p:cNvSpPr>
              <a:spLocks noChangeArrowheads="1"/>
            </p:cNvSpPr>
            <p:nvPr/>
          </p:nvSpPr>
          <p:spPr bwMode="auto">
            <a:xfrm>
              <a:off x="4962525" y="3503613"/>
              <a:ext cx="2127250" cy="2663825"/>
            </a:xfrm>
            <a:prstGeom prst="rect">
              <a:avLst/>
            </a:prstGeom>
            <a:solidFill>
              <a:schemeClr val="bg1"/>
            </a:solidFill>
            <a:ln w="9525">
              <a:miter lim="800000"/>
            </a:ln>
            <a:scene3d>
              <a:camera prst="legacyObliqueTopLeft"/>
              <a:lightRig rig="legacyFlat3" dir="t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bg1"/>
              </a:extrusionClr>
            </a:sp3d>
          </p:spPr>
          <p:txBody>
            <a:bodyPr wrap="none" lIns="90343" tIns="44379" rIns="90343" bIns="44379" anchor="ctr">
              <a:flatTx/>
            </a:bodyPr>
            <a:lstStyle/>
            <a:p>
              <a:pPr algn="ctr" defTabSz="913130"/>
              <a:endParaRPr lang="en-US" sz="1600" b="0">
                <a:latin typeface="Arial" panose="020B0604020202020204" pitchFamily="34" charset="0"/>
              </a:endParaRPr>
            </a:p>
          </p:txBody>
        </p:sp>
        <p:grpSp>
          <p:nvGrpSpPr>
            <p:cNvPr id="35885" name="Group 17"/>
            <p:cNvGrpSpPr/>
            <p:nvPr/>
          </p:nvGrpSpPr>
          <p:grpSpPr bwMode="auto">
            <a:xfrm>
              <a:off x="3208338" y="3581400"/>
              <a:ext cx="1751012" cy="303213"/>
              <a:chOff x="1056" y="1872"/>
              <a:chExt cx="1104" cy="192"/>
            </a:xfrm>
          </p:grpSpPr>
          <p:sp>
            <p:nvSpPr>
              <p:cNvPr id="1069074" name="Oval 18"/>
              <p:cNvSpPr>
                <a:spLocks noChangeArrowheads="1"/>
              </p:cNvSpPr>
              <p:nvPr/>
            </p:nvSpPr>
            <p:spPr bwMode="auto">
              <a:xfrm>
                <a:off x="2064" y="1872"/>
                <a:ext cx="96" cy="192"/>
              </a:xfrm>
              <a:prstGeom prst="ellipse">
                <a:avLst/>
              </a:prstGeom>
              <a:gradFill rotWithShape="0">
                <a:gsLst>
                  <a:gs pos="0">
                    <a:schemeClr val="bg2">
                      <a:gamma/>
                      <a:shade val="45882"/>
                      <a:invGamma/>
                    </a:schemeClr>
                  </a:gs>
                  <a:gs pos="50000">
                    <a:schemeClr val="bg2"/>
                  </a:gs>
                  <a:gs pos="100000">
                    <a:schemeClr val="bg2">
                      <a:gamma/>
                      <a:shade val="45882"/>
                      <a:invGamma/>
                    </a:schemeClr>
                  </a:gs>
                </a:gsLst>
                <a:lin ang="5400000" scaled="1"/>
              </a:gradFill>
              <a:ln w="12700">
                <a:noFill/>
                <a:rou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defRPr/>
                </a:pPr>
                <a:endParaRPr lang="en-US">
                  <a:latin typeface="Courier New" panose="02070309020205020404" pitchFamily="-107" charset="0"/>
                  <a:ea typeface="MS PGothic" panose="020B0600070205080204" charset="-128"/>
                  <a:cs typeface="MS PGothic" panose="020B0600070205080204" charset="-128"/>
                </a:endParaRPr>
              </a:p>
            </p:txBody>
          </p:sp>
          <p:sp>
            <p:nvSpPr>
              <p:cNvPr id="35923" name="Rectangle 19"/>
              <p:cNvSpPr>
                <a:spLocks noChangeArrowheads="1"/>
              </p:cNvSpPr>
              <p:nvPr/>
            </p:nvSpPr>
            <p:spPr bwMode="auto">
              <a:xfrm>
                <a:off x="1104" y="1872"/>
                <a:ext cx="1008" cy="192"/>
              </a:xfrm>
              <a:prstGeom prst="rect">
                <a:avLst/>
              </a:prstGeom>
              <a:gradFill rotWithShape="0">
                <a:gsLst>
                  <a:gs pos="0">
                    <a:srgbClr val="7A7A7A"/>
                  </a:gs>
                  <a:gs pos="50000">
                    <a:srgbClr val="C0C0C0"/>
                  </a:gs>
                  <a:gs pos="100000">
                    <a:srgbClr val="7A7A7A"/>
                  </a:gs>
                </a:gsLst>
                <a:lin ang="5400000" scaled="1"/>
              </a:gradFill>
              <a:ln>
                <a:noFill/>
              </a:ln>
            </p:spPr>
            <p:txBody>
              <a:bodyPr wrap="none" lIns="90488" tIns="44450" rIns="90488" bIns="44450" anchor="ctr"/>
              <a:lstStyle/>
              <a:p>
                <a:endParaRPr lang="en-US"/>
              </a:p>
            </p:txBody>
          </p:sp>
          <p:sp>
            <p:nvSpPr>
              <p:cNvPr id="35924" name="Oval 20"/>
              <p:cNvSpPr>
                <a:spLocks noChangeArrowheads="1"/>
              </p:cNvSpPr>
              <p:nvPr/>
            </p:nvSpPr>
            <p:spPr bwMode="auto">
              <a:xfrm>
                <a:off x="1056" y="1872"/>
                <a:ext cx="96" cy="192"/>
              </a:xfrm>
              <a:prstGeom prst="ellipse">
                <a:avLst/>
              </a:prstGeom>
              <a:solidFill>
                <a:srgbClr val="C0C0C0"/>
              </a:solidFill>
              <a:ln>
                <a:noFill/>
              </a:ln>
            </p:spPr>
            <p:txBody>
              <a:bodyPr wrap="none" lIns="90488" tIns="44450" rIns="90488" bIns="44450" anchor="ctr"/>
              <a:lstStyle/>
              <a:p>
                <a:endParaRPr lang="en-US"/>
              </a:p>
            </p:txBody>
          </p:sp>
        </p:grpSp>
        <p:grpSp>
          <p:nvGrpSpPr>
            <p:cNvPr id="35886" name="Group 21"/>
            <p:cNvGrpSpPr/>
            <p:nvPr/>
          </p:nvGrpSpPr>
          <p:grpSpPr bwMode="auto">
            <a:xfrm>
              <a:off x="3208338" y="4568825"/>
              <a:ext cx="1751012" cy="304800"/>
              <a:chOff x="1056" y="1872"/>
              <a:chExt cx="1104" cy="192"/>
            </a:xfrm>
          </p:grpSpPr>
          <p:sp>
            <p:nvSpPr>
              <p:cNvPr id="1069078" name="Oval 22"/>
              <p:cNvSpPr>
                <a:spLocks noChangeArrowheads="1"/>
              </p:cNvSpPr>
              <p:nvPr/>
            </p:nvSpPr>
            <p:spPr bwMode="auto">
              <a:xfrm>
                <a:off x="2064" y="1872"/>
                <a:ext cx="96" cy="192"/>
              </a:xfrm>
              <a:prstGeom prst="ellipse">
                <a:avLst/>
              </a:prstGeom>
              <a:gradFill rotWithShape="0">
                <a:gsLst>
                  <a:gs pos="0">
                    <a:schemeClr val="bg2">
                      <a:gamma/>
                      <a:shade val="45882"/>
                      <a:invGamma/>
                    </a:schemeClr>
                  </a:gs>
                  <a:gs pos="50000">
                    <a:schemeClr val="bg2"/>
                  </a:gs>
                  <a:gs pos="100000">
                    <a:schemeClr val="bg2">
                      <a:gamma/>
                      <a:shade val="45882"/>
                      <a:invGamma/>
                    </a:schemeClr>
                  </a:gs>
                </a:gsLst>
                <a:lin ang="5400000" scaled="1"/>
              </a:gradFill>
              <a:ln w="12700">
                <a:noFill/>
                <a:rou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defRPr/>
                </a:pPr>
                <a:endParaRPr lang="en-US">
                  <a:latin typeface="Courier New" panose="02070309020205020404" pitchFamily="-107" charset="0"/>
                  <a:ea typeface="MS PGothic" panose="020B0600070205080204" charset="-128"/>
                  <a:cs typeface="MS PGothic" panose="020B0600070205080204" charset="-128"/>
                </a:endParaRPr>
              </a:p>
            </p:txBody>
          </p:sp>
          <p:sp>
            <p:nvSpPr>
              <p:cNvPr id="35920" name="Rectangle 23"/>
              <p:cNvSpPr>
                <a:spLocks noChangeArrowheads="1"/>
              </p:cNvSpPr>
              <p:nvPr/>
            </p:nvSpPr>
            <p:spPr bwMode="auto">
              <a:xfrm>
                <a:off x="1104" y="1872"/>
                <a:ext cx="1008" cy="192"/>
              </a:xfrm>
              <a:prstGeom prst="rect">
                <a:avLst/>
              </a:prstGeom>
              <a:gradFill rotWithShape="0">
                <a:gsLst>
                  <a:gs pos="0">
                    <a:srgbClr val="7A7A7A"/>
                  </a:gs>
                  <a:gs pos="50000">
                    <a:srgbClr val="C0C0C0"/>
                  </a:gs>
                  <a:gs pos="100000">
                    <a:srgbClr val="7A7A7A"/>
                  </a:gs>
                </a:gsLst>
                <a:lin ang="5400000" scaled="1"/>
              </a:gradFill>
              <a:ln>
                <a:noFill/>
              </a:ln>
            </p:spPr>
            <p:txBody>
              <a:bodyPr wrap="none" lIns="90488" tIns="44450" rIns="90488" bIns="44450" anchor="ctr"/>
              <a:lstStyle/>
              <a:p>
                <a:endParaRPr lang="en-US"/>
              </a:p>
            </p:txBody>
          </p:sp>
          <p:sp>
            <p:nvSpPr>
              <p:cNvPr id="35921" name="Oval 24"/>
              <p:cNvSpPr>
                <a:spLocks noChangeArrowheads="1"/>
              </p:cNvSpPr>
              <p:nvPr/>
            </p:nvSpPr>
            <p:spPr bwMode="auto">
              <a:xfrm>
                <a:off x="1056" y="1872"/>
                <a:ext cx="96" cy="192"/>
              </a:xfrm>
              <a:prstGeom prst="ellipse">
                <a:avLst/>
              </a:prstGeom>
              <a:solidFill>
                <a:srgbClr val="C0C0C0"/>
              </a:solidFill>
              <a:ln>
                <a:noFill/>
              </a:ln>
            </p:spPr>
            <p:txBody>
              <a:bodyPr wrap="none" lIns="90488" tIns="44450" rIns="90488" bIns="44450" anchor="ctr"/>
              <a:lstStyle/>
              <a:p>
                <a:endParaRPr lang="en-US"/>
              </a:p>
            </p:txBody>
          </p:sp>
        </p:grpSp>
        <p:grpSp>
          <p:nvGrpSpPr>
            <p:cNvPr id="35887" name="Group 25"/>
            <p:cNvGrpSpPr/>
            <p:nvPr/>
          </p:nvGrpSpPr>
          <p:grpSpPr bwMode="auto">
            <a:xfrm>
              <a:off x="3208338" y="5481638"/>
              <a:ext cx="1751012" cy="304800"/>
              <a:chOff x="1056" y="1872"/>
              <a:chExt cx="1104" cy="192"/>
            </a:xfrm>
          </p:grpSpPr>
          <p:sp>
            <p:nvSpPr>
              <p:cNvPr id="1069082" name="Oval 26"/>
              <p:cNvSpPr>
                <a:spLocks noChangeArrowheads="1"/>
              </p:cNvSpPr>
              <p:nvPr/>
            </p:nvSpPr>
            <p:spPr bwMode="auto">
              <a:xfrm>
                <a:off x="2064" y="1872"/>
                <a:ext cx="96" cy="192"/>
              </a:xfrm>
              <a:prstGeom prst="ellipse">
                <a:avLst/>
              </a:prstGeom>
              <a:gradFill rotWithShape="0">
                <a:gsLst>
                  <a:gs pos="0">
                    <a:schemeClr val="bg2">
                      <a:gamma/>
                      <a:shade val="45882"/>
                      <a:invGamma/>
                    </a:schemeClr>
                  </a:gs>
                  <a:gs pos="50000">
                    <a:schemeClr val="bg2"/>
                  </a:gs>
                  <a:gs pos="100000">
                    <a:schemeClr val="bg2">
                      <a:gamma/>
                      <a:shade val="45882"/>
                      <a:invGamma/>
                    </a:schemeClr>
                  </a:gs>
                </a:gsLst>
                <a:lin ang="5400000" scaled="1"/>
              </a:gradFill>
              <a:ln w="12700">
                <a:noFill/>
                <a:rou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defRPr/>
                </a:pPr>
                <a:endParaRPr lang="en-US">
                  <a:latin typeface="Courier New" panose="02070309020205020404" pitchFamily="-107" charset="0"/>
                  <a:ea typeface="MS PGothic" panose="020B0600070205080204" charset="-128"/>
                  <a:cs typeface="MS PGothic" panose="020B0600070205080204" charset="-128"/>
                </a:endParaRPr>
              </a:p>
            </p:txBody>
          </p:sp>
          <p:sp>
            <p:nvSpPr>
              <p:cNvPr id="35917" name="Rectangle 27"/>
              <p:cNvSpPr>
                <a:spLocks noChangeArrowheads="1"/>
              </p:cNvSpPr>
              <p:nvPr/>
            </p:nvSpPr>
            <p:spPr bwMode="auto">
              <a:xfrm>
                <a:off x="1104" y="1872"/>
                <a:ext cx="1008" cy="192"/>
              </a:xfrm>
              <a:prstGeom prst="rect">
                <a:avLst/>
              </a:prstGeom>
              <a:gradFill rotWithShape="0">
                <a:gsLst>
                  <a:gs pos="0">
                    <a:srgbClr val="7A7A7A"/>
                  </a:gs>
                  <a:gs pos="50000">
                    <a:srgbClr val="C0C0C0"/>
                  </a:gs>
                  <a:gs pos="100000">
                    <a:srgbClr val="7A7A7A"/>
                  </a:gs>
                </a:gsLst>
                <a:lin ang="5400000" scaled="1"/>
              </a:gradFill>
              <a:ln>
                <a:noFill/>
              </a:ln>
            </p:spPr>
            <p:txBody>
              <a:bodyPr wrap="none" lIns="90488" tIns="44450" rIns="90488" bIns="44450" anchor="ctr"/>
              <a:lstStyle/>
              <a:p>
                <a:endParaRPr lang="en-US"/>
              </a:p>
            </p:txBody>
          </p:sp>
          <p:sp>
            <p:nvSpPr>
              <p:cNvPr id="35918" name="Oval 28"/>
              <p:cNvSpPr>
                <a:spLocks noChangeArrowheads="1"/>
              </p:cNvSpPr>
              <p:nvPr/>
            </p:nvSpPr>
            <p:spPr bwMode="auto">
              <a:xfrm>
                <a:off x="1056" y="1872"/>
                <a:ext cx="96" cy="192"/>
              </a:xfrm>
              <a:prstGeom prst="ellipse">
                <a:avLst/>
              </a:prstGeom>
              <a:solidFill>
                <a:srgbClr val="C0C0C0"/>
              </a:solidFill>
              <a:ln>
                <a:noFill/>
              </a:ln>
            </p:spPr>
            <p:txBody>
              <a:bodyPr wrap="none" lIns="90488" tIns="44450" rIns="90488" bIns="44450" anchor="ctr"/>
              <a:lstStyle/>
              <a:p>
                <a:endParaRPr lang="en-US"/>
              </a:p>
            </p:txBody>
          </p:sp>
        </p:grpSp>
        <p:sp>
          <p:nvSpPr>
            <p:cNvPr id="35888" name="Rectangle 29"/>
            <p:cNvSpPr>
              <a:spLocks noChangeArrowheads="1"/>
            </p:cNvSpPr>
            <p:nvPr/>
          </p:nvSpPr>
          <p:spPr bwMode="auto">
            <a:xfrm>
              <a:off x="3197225" y="3001963"/>
              <a:ext cx="1609725" cy="307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defTabSz="913130"/>
              <a:r>
                <a:rPr lang="en-US" sz="2000" b="0">
                  <a:solidFill>
                    <a:srgbClr val="000000"/>
                  </a:solidFill>
                  <a:latin typeface="Arial" panose="020B0604020202020204" pitchFamily="34" charset="0"/>
                </a:rPr>
                <a:t>incoming links</a:t>
              </a:r>
              <a:endParaRPr lang="en-US" sz="2000" b="0">
                <a:latin typeface="Arial" panose="020B0604020202020204" pitchFamily="34" charset="0"/>
              </a:endParaRPr>
            </a:p>
          </p:txBody>
        </p:sp>
        <p:sp>
          <p:nvSpPr>
            <p:cNvPr id="35889" name="Rectangle 30"/>
            <p:cNvSpPr>
              <a:spLocks noChangeArrowheads="1"/>
            </p:cNvSpPr>
            <p:nvPr/>
          </p:nvSpPr>
          <p:spPr bwMode="auto">
            <a:xfrm>
              <a:off x="6959600" y="3001963"/>
              <a:ext cx="1566863" cy="307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defTabSz="913130"/>
              <a:r>
                <a:rPr lang="en-US" sz="2000" b="0">
                  <a:solidFill>
                    <a:srgbClr val="000000"/>
                  </a:solidFill>
                  <a:latin typeface="Arial" panose="020B0604020202020204" pitchFamily="34" charset="0"/>
                </a:rPr>
                <a:t>outgoing links</a:t>
              </a:r>
              <a:endParaRPr lang="en-US" sz="2000" b="0">
                <a:latin typeface="Arial" panose="020B0604020202020204" pitchFamily="34" charset="0"/>
              </a:endParaRPr>
            </a:p>
          </p:txBody>
        </p:sp>
        <p:sp>
          <p:nvSpPr>
            <p:cNvPr id="35890" name="Line 31"/>
            <p:cNvSpPr>
              <a:spLocks noChangeShapeType="1"/>
            </p:cNvSpPr>
            <p:nvPr/>
          </p:nvSpPr>
          <p:spPr bwMode="auto">
            <a:xfrm flipV="1">
              <a:off x="3132138" y="5697538"/>
              <a:ext cx="5783262" cy="1270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tailEnd type="triangle" w="med" len="med"/>
            </a:ln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35891" name="Freeform 32"/>
            <p:cNvSpPr/>
            <p:nvPr/>
          </p:nvSpPr>
          <p:spPr bwMode="auto">
            <a:xfrm flipV="1">
              <a:off x="3132138" y="3732213"/>
              <a:ext cx="5783262" cy="1825625"/>
            </a:xfrm>
            <a:custGeom>
              <a:avLst/>
              <a:gdLst>
                <a:gd name="T0" fmla="*/ 0 w 3648"/>
                <a:gd name="T1" fmla="*/ 0 h 528"/>
                <a:gd name="T2" fmla="*/ 2147483647 w 3648"/>
                <a:gd name="T3" fmla="*/ 0 h 528"/>
                <a:gd name="T4" fmla="*/ 2147483647 w 3648"/>
                <a:gd name="T5" fmla="*/ 2147483647 h 528"/>
                <a:gd name="T6" fmla="*/ 2147483647 w 3648"/>
                <a:gd name="T7" fmla="*/ 2147483647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48"/>
                <a:gd name="T13" fmla="*/ 0 h 528"/>
                <a:gd name="T14" fmla="*/ 3648 w 3648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48" h="528">
                  <a:moveTo>
                    <a:pt x="0" y="0"/>
                  </a:moveTo>
                  <a:lnTo>
                    <a:pt x="1296" y="0"/>
                  </a:lnTo>
                  <a:lnTo>
                    <a:pt x="2400" y="528"/>
                  </a:lnTo>
                  <a:lnTo>
                    <a:pt x="3648" y="528"/>
                  </a:lnTo>
                </a:path>
              </a:pathLst>
            </a:custGeom>
            <a:noFill/>
            <a:ln w="12700">
              <a:solidFill>
                <a:srgbClr val="00CC66"/>
              </a:solidFill>
              <a:prstDash val="dash"/>
              <a:round/>
              <a:tailEnd type="triangle" w="med" len="med"/>
            </a:ln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35892" name="Freeform 33"/>
            <p:cNvSpPr/>
            <p:nvPr/>
          </p:nvSpPr>
          <p:spPr bwMode="auto">
            <a:xfrm>
              <a:off x="3132138" y="3732213"/>
              <a:ext cx="5783262" cy="989012"/>
            </a:xfrm>
            <a:custGeom>
              <a:avLst/>
              <a:gdLst>
                <a:gd name="T0" fmla="*/ 0 w 3600"/>
                <a:gd name="T1" fmla="*/ 0 h 576"/>
                <a:gd name="T2" fmla="*/ 2147483647 w 3600"/>
                <a:gd name="T3" fmla="*/ 0 h 576"/>
                <a:gd name="T4" fmla="*/ 2147483647 w 3600"/>
                <a:gd name="T5" fmla="*/ 2147483647 h 576"/>
                <a:gd name="T6" fmla="*/ 2147483647 w 3600"/>
                <a:gd name="T7" fmla="*/ 2147483647 h 57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00"/>
                <a:gd name="T13" fmla="*/ 0 h 576"/>
                <a:gd name="T14" fmla="*/ 3600 w 3600"/>
                <a:gd name="T15" fmla="*/ 576 h 57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00" h="576">
                  <a:moveTo>
                    <a:pt x="0" y="0"/>
                  </a:moveTo>
                  <a:lnTo>
                    <a:pt x="1248" y="0"/>
                  </a:lnTo>
                  <a:lnTo>
                    <a:pt x="2400" y="576"/>
                  </a:lnTo>
                  <a:lnTo>
                    <a:pt x="3600" y="576"/>
                  </a:lnTo>
                </a:path>
              </a:pathLst>
            </a:custGeom>
            <a:noFill/>
            <a:ln w="12700">
              <a:solidFill>
                <a:srgbClr val="0000FF"/>
              </a:solidFill>
              <a:prstDash val="dash"/>
              <a:round/>
              <a:tailEnd type="triangle" w="med" len="med"/>
            </a:ln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35893" name="Freeform 34"/>
            <p:cNvSpPr/>
            <p:nvPr/>
          </p:nvSpPr>
          <p:spPr bwMode="auto">
            <a:xfrm>
              <a:off x="3132138" y="4721225"/>
              <a:ext cx="5783262" cy="836613"/>
            </a:xfrm>
            <a:custGeom>
              <a:avLst/>
              <a:gdLst>
                <a:gd name="T0" fmla="*/ 0 w 3648"/>
                <a:gd name="T1" fmla="*/ 0 h 528"/>
                <a:gd name="T2" fmla="*/ 2147483647 w 3648"/>
                <a:gd name="T3" fmla="*/ 0 h 528"/>
                <a:gd name="T4" fmla="*/ 2147483647 w 3648"/>
                <a:gd name="T5" fmla="*/ 2147483647 h 528"/>
                <a:gd name="T6" fmla="*/ 2147483647 w 3648"/>
                <a:gd name="T7" fmla="*/ 2147483647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48"/>
                <a:gd name="T13" fmla="*/ 0 h 528"/>
                <a:gd name="T14" fmla="*/ 3648 w 3648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48" h="528">
                  <a:moveTo>
                    <a:pt x="0" y="0"/>
                  </a:moveTo>
                  <a:lnTo>
                    <a:pt x="1248" y="0"/>
                  </a:lnTo>
                  <a:lnTo>
                    <a:pt x="2448" y="528"/>
                  </a:lnTo>
                  <a:lnTo>
                    <a:pt x="3648" y="528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dash"/>
              <a:round/>
              <a:tailEnd type="triangle" w="med" len="med"/>
            </a:ln>
          </p:spPr>
          <p:txBody>
            <a:bodyPr lIns="90488" tIns="44450" rIns="90488" bIns="44450"/>
            <a:lstStyle/>
            <a:p>
              <a:endParaRPr lang="en-US"/>
            </a:p>
          </p:txBody>
        </p:sp>
        <p:sp>
          <p:nvSpPr>
            <p:cNvPr id="35894" name="Rectangle 35"/>
            <p:cNvSpPr>
              <a:spLocks noChangeArrowheads="1"/>
            </p:cNvSpPr>
            <p:nvPr/>
          </p:nvSpPr>
          <p:spPr bwMode="auto">
            <a:xfrm>
              <a:off x="5380038" y="2971800"/>
              <a:ext cx="768350" cy="307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>
              <a:spAutoFit/>
            </a:bodyPr>
            <a:lstStyle/>
            <a:p>
              <a:pPr algn="ctr" defTabSz="913130"/>
              <a:r>
                <a:rPr lang="en-US" sz="2000" b="0">
                  <a:solidFill>
                    <a:srgbClr val="000000"/>
                  </a:solidFill>
                  <a:latin typeface="Arial" panose="020B0604020202020204" pitchFamily="34" charset="0"/>
                </a:rPr>
                <a:t>Router</a:t>
              </a:r>
              <a:endParaRPr lang="en-US" sz="2000" b="0">
                <a:latin typeface="Arial" panose="020B0604020202020204" pitchFamily="34" charset="0"/>
              </a:endParaRPr>
            </a:p>
          </p:txBody>
        </p:sp>
        <p:sp>
          <p:nvSpPr>
            <p:cNvPr id="35895" name="Rectangle 36"/>
            <p:cNvSpPr>
              <a:spLocks noChangeArrowheads="1"/>
            </p:cNvSpPr>
            <p:nvPr/>
          </p:nvSpPr>
          <p:spPr bwMode="auto">
            <a:xfrm>
              <a:off x="3436938" y="3656013"/>
              <a:ext cx="304800" cy="152400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chemeClr val="tx2"/>
              </a:solidFill>
              <a:miter lim="800000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1069093" name="Rectangle 37"/>
            <p:cNvSpPr>
              <a:spLocks noChangeArrowheads="1"/>
            </p:cNvSpPr>
            <p:nvPr/>
          </p:nvSpPr>
          <p:spPr bwMode="auto">
            <a:xfrm>
              <a:off x="5491163" y="3808413"/>
              <a:ext cx="1141412" cy="2054225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</a:ln>
            <a:effectLst>
              <a:prstShdw prst="shdw18" dist="17961" dir="13500000">
                <a:schemeClr val="bg1">
                  <a:gamma/>
                  <a:shade val="60000"/>
                  <a:invGamma/>
                  <a:alpha val="74998"/>
                </a:schemeClr>
              </a:prstShdw>
            </a:effectLst>
          </p:spPr>
          <p:txBody>
            <a:bodyPr wrap="none" lIns="90343" tIns="44379" rIns="90343" bIns="44379" anchor="ctr"/>
            <a:lstStyle/>
            <a:p>
              <a:pPr algn="ctr" defTabSz="913130">
                <a:defRPr/>
              </a:pPr>
              <a:endParaRPr lang="en-US" sz="1600" b="0"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endParaRPr>
            </a:p>
          </p:txBody>
        </p:sp>
        <p:sp>
          <p:nvSpPr>
            <p:cNvPr id="35897" name="Rectangle 38"/>
            <p:cNvSpPr>
              <a:spLocks noChangeArrowheads="1"/>
            </p:cNvSpPr>
            <p:nvPr/>
          </p:nvSpPr>
          <p:spPr bwMode="auto">
            <a:xfrm>
              <a:off x="4273550" y="3656013"/>
              <a:ext cx="304800" cy="152400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chemeClr val="tx2"/>
              </a:solidFill>
              <a:miter lim="800000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35898" name="Rectangle 39"/>
            <p:cNvSpPr>
              <a:spLocks noChangeArrowheads="1"/>
            </p:cNvSpPr>
            <p:nvPr/>
          </p:nvSpPr>
          <p:spPr bwMode="auto">
            <a:xfrm>
              <a:off x="5643563" y="3884613"/>
              <a:ext cx="304800" cy="152400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chemeClr val="tx2"/>
              </a:solidFill>
              <a:miter lim="800000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35899" name="Rectangle 40"/>
            <p:cNvSpPr>
              <a:spLocks noChangeArrowheads="1"/>
            </p:cNvSpPr>
            <p:nvPr/>
          </p:nvSpPr>
          <p:spPr bwMode="auto">
            <a:xfrm>
              <a:off x="5643563" y="4189413"/>
              <a:ext cx="304800" cy="152400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chemeClr val="tx2"/>
              </a:solidFill>
              <a:miter lim="800000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35900" name="Rectangle 41"/>
            <p:cNvSpPr>
              <a:spLocks noChangeArrowheads="1"/>
            </p:cNvSpPr>
            <p:nvPr/>
          </p:nvSpPr>
          <p:spPr bwMode="auto">
            <a:xfrm>
              <a:off x="6784975" y="4645025"/>
              <a:ext cx="304800" cy="152400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chemeClr val="tx2"/>
              </a:solidFill>
              <a:miter lim="800000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35901" name="Rectangle 42"/>
            <p:cNvSpPr>
              <a:spLocks noChangeArrowheads="1"/>
            </p:cNvSpPr>
            <p:nvPr/>
          </p:nvSpPr>
          <p:spPr bwMode="auto">
            <a:xfrm>
              <a:off x="7697788" y="4645025"/>
              <a:ext cx="304800" cy="152400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chemeClr val="tx2"/>
              </a:solidFill>
              <a:miter lim="800000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35902" name="Rectangle 43"/>
            <p:cNvSpPr>
              <a:spLocks noChangeArrowheads="1"/>
            </p:cNvSpPr>
            <p:nvPr/>
          </p:nvSpPr>
          <p:spPr bwMode="auto">
            <a:xfrm>
              <a:off x="3817938" y="4645025"/>
              <a:ext cx="304800" cy="152400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35903" name="Rectangle 44"/>
            <p:cNvSpPr>
              <a:spLocks noChangeArrowheads="1"/>
            </p:cNvSpPr>
            <p:nvPr/>
          </p:nvSpPr>
          <p:spPr bwMode="auto">
            <a:xfrm>
              <a:off x="5643563" y="4568825"/>
              <a:ext cx="304800" cy="152400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35904" name="Rectangle 45"/>
            <p:cNvSpPr>
              <a:spLocks noChangeArrowheads="1"/>
            </p:cNvSpPr>
            <p:nvPr/>
          </p:nvSpPr>
          <p:spPr bwMode="auto">
            <a:xfrm>
              <a:off x="7013575" y="5481638"/>
              <a:ext cx="304800" cy="152400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35905" name="Rectangle 46"/>
            <p:cNvSpPr>
              <a:spLocks noChangeArrowheads="1"/>
            </p:cNvSpPr>
            <p:nvPr/>
          </p:nvSpPr>
          <p:spPr bwMode="auto">
            <a:xfrm>
              <a:off x="8231188" y="5481638"/>
              <a:ext cx="304800" cy="152400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35906" name="Rectangle 47"/>
            <p:cNvSpPr>
              <a:spLocks noChangeArrowheads="1"/>
            </p:cNvSpPr>
            <p:nvPr/>
          </p:nvSpPr>
          <p:spPr bwMode="auto">
            <a:xfrm>
              <a:off x="3436938" y="5481638"/>
              <a:ext cx="304800" cy="152400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FF00"/>
              </a:solidFill>
              <a:miter lim="800000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35907" name="Rectangle 48"/>
            <p:cNvSpPr>
              <a:spLocks noChangeArrowheads="1"/>
            </p:cNvSpPr>
            <p:nvPr/>
          </p:nvSpPr>
          <p:spPr bwMode="auto">
            <a:xfrm>
              <a:off x="4502150" y="5481638"/>
              <a:ext cx="304800" cy="152400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FF00"/>
              </a:solidFill>
              <a:miter lim="800000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35908" name="Rectangle 49"/>
            <p:cNvSpPr>
              <a:spLocks noChangeArrowheads="1"/>
            </p:cNvSpPr>
            <p:nvPr/>
          </p:nvSpPr>
          <p:spPr bwMode="auto">
            <a:xfrm>
              <a:off x="5643563" y="4873625"/>
              <a:ext cx="304800" cy="152400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FF00"/>
              </a:solidFill>
              <a:miter lim="800000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35909" name="Rectangle 50"/>
            <p:cNvSpPr>
              <a:spLocks noChangeArrowheads="1"/>
            </p:cNvSpPr>
            <p:nvPr/>
          </p:nvSpPr>
          <p:spPr bwMode="auto">
            <a:xfrm>
              <a:off x="6784975" y="3656013"/>
              <a:ext cx="304800" cy="152400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FF00"/>
              </a:solidFill>
              <a:miter lim="800000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35910" name="Rectangle 51"/>
            <p:cNvSpPr>
              <a:spLocks noChangeArrowheads="1"/>
            </p:cNvSpPr>
            <p:nvPr/>
          </p:nvSpPr>
          <p:spPr bwMode="auto">
            <a:xfrm>
              <a:off x="8154988" y="3656013"/>
              <a:ext cx="304800" cy="152400"/>
            </a:xfrm>
            <a:prstGeom prst="rect">
              <a:avLst/>
            </a:prstGeom>
            <a:solidFill>
              <a:srgbClr val="00FF00"/>
            </a:solidFill>
            <a:ln w="12700">
              <a:solidFill>
                <a:srgbClr val="00FF00"/>
              </a:solidFill>
              <a:miter lim="800000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35911" name="Rectangle 52"/>
            <p:cNvSpPr>
              <a:spLocks noChangeArrowheads="1"/>
            </p:cNvSpPr>
            <p:nvPr/>
          </p:nvSpPr>
          <p:spPr bwMode="auto">
            <a:xfrm>
              <a:off x="3894138" y="5634038"/>
              <a:ext cx="304800" cy="152400"/>
            </a:xfrm>
            <a:prstGeom prst="rect">
              <a:avLst/>
            </a:prstGeom>
            <a:pattFill prst="wdDnDiag">
              <a:fgClr>
                <a:srgbClr val="FF0000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35912" name="Rectangle 53"/>
            <p:cNvSpPr>
              <a:spLocks noChangeArrowheads="1"/>
            </p:cNvSpPr>
            <p:nvPr/>
          </p:nvSpPr>
          <p:spPr bwMode="auto">
            <a:xfrm>
              <a:off x="5643563" y="5634038"/>
              <a:ext cx="304800" cy="152400"/>
            </a:xfrm>
            <a:prstGeom prst="rect">
              <a:avLst/>
            </a:prstGeom>
            <a:pattFill prst="wdDnDiag">
              <a:fgClr>
                <a:srgbClr val="FF0000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35913" name="Rectangle 54"/>
            <p:cNvSpPr>
              <a:spLocks noChangeArrowheads="1"/>
            </p:cNvSpPr>
            <p:nvPr/>
          </p:nvSpPr>
          <p:spPr bwMode="auto">
            <a:xfrm>
              <a:off x="5643563" y="5329238"/>
              <a:ext cx="304800" cy="152400"/>
            </a:xfrm>
            <a:prstGeom prst="rect">
              <a:avLst/>
            </a:prstGeom>
            <a:pattFill prst="wdDnDiag">
              <a:fgClr>
                <a:srgbClr val="FF0000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35914" name="Rectangle 55"/>
            <p:cNvSpPr>
              <a:spLocks noChangeArrowheads="1"/>
            </p:cNvSpPr>
            <p:nvPr/>
          </p:nvSpPr>
          <p:spPr bwMode="auto">
            <a:xfrm>
              <a:off x="7697788" y="5634038"/>
              <a:ext cx="304800" cy="152400"/>
            </a:xfrm>
            <a:prstGeom prst="rect">
              <a:avLst/>
            </a:prstGeom>
            <a:pattFill prst="wdDnDiag">
              <a:fgClr>
                <a:srgbClr val="FF0000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35915" name="Text Box 56"/>
            <p:cNvSpPr txBox="1">
              <a:spLocks noChangeArrowheads="1"/>
            </p:cNvSpPr>
            <p:nvPr/>
          </p:nvSpPr>
          <p:spPr bwMode="auto">
            <a:xfrm>
              <a:off x="5409843" y="3505200"/>
              <a:ext cx="924641" cy="335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343" tIns="44379" rIns="90343" bIns="44379">
              <a:spAutoFit/>
            </a:bodyPr>
            <a:lstStyle>
              <a:lvl1pPr defTabSz="91313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defTabSz="91313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2pPr>
              <a:lvl3pPr marL="1143000" indent="-228600" defTabSz="91313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3pPr>
              <a:lvl4pPr marL="1600200" indent="-228600" defTabSz="91313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4pPr>
              <a:lvl5pPr marL="2057400" indent="-228600" defTabSz="91313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5pPr>
              <a:lvl6pPr marL="2514600" indent="-228600" defTabSz="91313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6pPr>
              <a:lvl7pPr marL="2971800" indent="-228600" defTabSz="91313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7pPr>
              <a:lvl8pPr marL="3429000" indent="-228600" defTabSz="91313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8pPr>
              <a:lvl9pPr marL="3886200" indent="-228600" defTabSz="91313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9pPr>
            </a:lstStyle>
            <a:p>
              <a:pPr algn="ctr"/>
              <a:r>
                <a:rPr lang="en-US" sz="1600" b="0">
                  <a:latin typeface="Arial" panose="020B0604020202020204" pitchFamily="34" charset="0"/>
                </a:rPr>
                <a:t>Memory</a:t>
              </a:r>
              <a:endParaRPr lang="en-US" sz="1600" b="0">
                <a:latin typeface="Arial" panose="020B0604020202020204" pitchFamily="34" charset="0"/>
              </a:endParaRPr>
            </a:p>
          </p:txBody>
        </p:sp>
      </p:grpSp>
      <p:grpSp>
        <p:nvGrpSpPr>
          <p:cNvPr id="35845" name="Group 2"/>
          <p:cNvGrpSpPr/>
          <p:nvPr/>
        </p:nvGrpSpPr>
        <p:grpSpPr bwMode="auto">
          <a:xfrm>
            <a:off x="0" y="3505200"/>
            <a:ext cx="1447800" cy="2057400"/>
            <a:chOff x="832" y="1344"/>
            <a:chExt cx="1136" cy="1024"/>
          </a:xfrm>
        </p:grpSpPr>
        <p:sp>
          <p:nvSpPr>
            <p:cNvPr id="35871" name="Oval 3"/>
            <p:cNvSpPr>
              <a:spLocks noChangeArrowheads="1"/>
            </p:cNvSpPr>
            <p:nvPr/>
          </p:nvSpPr>
          <p:spPr bwMode="auto">
            <a:xfrm>
              <a:off x="1220" y="1344"/>
              <a:ext cx="495" cy="424"/>
            </a:xfrm>
            <a:prstGeom prst="ellipse">
              <a:avLst/>
            </a:prstGeom>
            <a:solidFill>
              <a:srgbClr val="CCFFFF"/>
            </a:solidFill>
            <a:ln>
              <a:noFill/>
            </a:ln>
          </p:spPr>
          <p:txBody>
            <a:bodyPr/>
            <a:lstStyle/>
            <a:p>
              <a:endParaRPr lang="en-US" b="0"/>
            </a:p>
          </p:txBody>
        </p:sp>
        <p:sp>
          <p:nvSpPr>
            <p:cNvPr id="35872" name="Oval 4"/>
            <p:cNvSpPr>
              <a:spLocks noChangeArrowheads="1"/>
            </p:cNvSpPr>
            <p:nvPr/>
          </p:nvSpPr>
          <p:spPr bwMode="auto">
            <a:xfrm>
              <a:off x="948" y="1455"/>
              <a:ext cx="379" cy="424"/>
            </a:xfrm>
            <a:prstGeom prst="ellipse">
              <a:avLst/>
            </a:prstGeom>
            <a:solidFill>
              <a:srgbClr val="CCFFFF"/>
            </a:solidFill>
            <a:ln>
              <a:noFill/>
            </a:ln>
          </p:spPr>
          <p:txBody>
            <a:bodyPr/>
            <a:lstStyle/>
            <a:p>
              <a:endParaRPr lang="en-US" b="0"/>
            </a:p>
          </p:txBody>
        </p:sp>
        <p:sp>
          <p:nvSpPr>
            <p:cNvPr id="35873" name="Oval 5"/>
            <p:cNvSpPr>
              <a:spLocks noChangeArrowheads="1"/>
            </p:cNvSpPr>
            <p:nvPr/>
          </p:nvSpPr>
          <p:spPr bwMode="auto">
            <a:xfrm>
              <a:off x="832" y="1710"/>
              <a:ext cx="256" cy="306"/>
            </a:xfrm>
            <a:prstGeom prst="ellipse">
              <a:avLst/>
            </a:prstGeom>
            <a:solidFill>
              <a:srgbClr val="CCFFFF"/>
            </a:solidFill>
            <a:ln>
              <a:noFill/>
            </a:ln>
          </p:spPr>
          <p:txBody>
            <a:bodyPr/>
            <a:lstStyle/>
            <a:p>
              <a:endParaRPr lang="en-US" b="0"/>
            </a:p>
          </p:txBody>
        </p:sp>
        <p:sp>
          <p:nvSpPr>
            <p:cNvPr id="35874" name="Oval 6"/>
            <p:cNvSpPr>
              <a:spLocks noChangeArrowheads="1"/>
            </p:cNvSpPr>
            <p:nvPr/>
          </p:nvSpPr>
          <p:spPr bwMode="auto">
            <a:xfrm>
              <a:off x="909" y="1862"/>
              <a:ext cx="435" cy="442"/>
            </a:xfrm>
            <a:prstGeom prst="ellipse">
              <a:avLst/>
            </a:prstGeom>
            <a:solidFill>
              <a:srgbClr val="CCFFFF"/>
            </a:solidFill>
            <a:ln>
              <a:noFill/>
            </a:ln>
          </p:spPr>
          <p:txBody>
            <a:bodyPr/>
            <a:lstStyle/>
            <a:p>
              <a:endParaRPr lang="en-US" b="0"/>
            </a:p>
          </p:txBody>
        </p:sp>
        <p:sp>
          <p:nvSpPr>
            <p:cNvPr id="35875" name="Oval 7"/>
            <p:cNvSpPr>
              <a:spLocks noChangeArrowheads="1"/>
            </p:cNvSpPr>
            <p:nvPr/>
          </p:nvSpPr>
          <p:spPr bwMode="auto">
            <a:xfrm>
              <a:off x="1086" y="1924"/>
              <a:ext cx="671" cy="444"/>
            </a:xfrm>
            <a:prstGeom prst="ellipse">
              <a:avLst/>
            </a:prstGeom>
            <a:solidFill>
              <a:srgbClr val="CCFFFF"/>
            </a:solidFill>
            <a:ln>
              <a:noFill/>
            </a:ln>
          </p:spPr>
          <p:txBody>
            <a:bodyPr/>
            <a:lstStyle/>
            <a:p>
              <a:endParaRPr lang="en-US" b="0"/>
            </a:p>
          </p:txBody>
        </p:sp>
        <p:sp>
          <p:nvSpPr>
            <p:cNvPr id="35876" name="Oval 8"/>
            <p:cNvSpPr>
              <a:spLocks noChangeArrowheads="1"/>
            </p:cNvSpPr>
            <p:nvPr/>
          </p:nvSpPr>
          <p:spPr bwMode="auto">
            <a:xfrm>
              <a:off x="1605" y="1488"/>
              <a:ext cx="311" cy="312"/>
            </a:xfrm>
            <a:prstGeom prst="ellipse">
              <a:avLst/>
            </a:prstGeom>
            <a:solidFill>
              <a:srgbClr val="CCFFFF"/>
            </a:solidFill>
            <a:ln>
              <a:noFill/>
            </a:ln>
          </p:spPr>
          <p:txBody>
            <a:bodyPr/>
            <a:lstStyle/>
            <a:p>
              <a:endParaRPr lang="en-US" b="0"/>
            </a:p>
          </p:txBody>
        </p:sp>
        <p:sp>
          <p:nvSpPr>
            <p:cNvPr id="35877" name="Oval 9"/>
            <p:cNvSpPr>
              <a:spLocks noChangeArrowheads="1"/>
            </p:cNvSpPr>
            <p:nvPr/>
          </p:nvSpPr>
          <p:spPr bwMode="auto">
            <a:xfrm>
              <a:off x="1602" y="1681"/>
              <a:ext cx="366" cy="333"/>
            </a:xfrm>
            <a:prstGeom prst="ellipse">
              <a:avLst/>
            </a:prstGeom>
            <a:solidFill>
              <a:srgbClr val="CCFFFF"/>
            </a:solidFill>
            <a:ln>
              <a:noFill/>
            </a:ln>
          </p:spPr>
          <p:txBody>
            <a:bodyPr/>
            <a:lstStyle/>
            <a:p>
              <a:endParaRPr lang="en-US" b="0"/>
            </a:p>
          </p:txBody>
        </p:sp>
        <p:sp>
          <p:nvSpPr>
            <p:cNvPr id="35878" name="Oval 10"/>
            <p:cNvSpPr>
              <a:spLocks noChangeArrowheads="1"/>
            </p:cNvSpPr>
            <p:nvPr/>
          </p:nvSpPr>
          <p:spPr bwMode="auto">
            <a:xfrm>
              <a:off x="1569" y="1751"/>
              <a:ext cx="364" cy="547"/>
            </a:xfrm>
            <a:prstGeom prst="ellipse">
              <a:avLst/>
            </a:prstGeom>
            <a:solidFill>
              <a:srgbClr val="CCFFFF"/>
            </a:solidFill>
            <a:ln>
              <a:noFill/>
            </a:ln>
          </p:spPr>
          <p:txBody>
            <a:bodyPr/>
            <a:lstStyle/>
            <a:p>
              <a:endParaRPr lang="en-US" b="0"/>
            </a:p>
          </p:txBody>
        </p:sp>
        <p:sp>
          <p:nvSpPr>
            <p:cNvPr id="35879" name="Oval 11"/>
            <p:cNvSpPr>
              <a:spLocks noChangeArrowheads="1"/>
            </p:cNvSpPr>
            <p:nvPr/>
          </p:nvSpPr>
          <p:spPr bwMode="auto">
            <a:xfrm>
              <a:off x="912" y="1434"/>
              <a:ext cx="1008" cy="918"/>
            </a:xfrm>
            <a:prstGeom prst="ellipse">
              <a:avLst/>
            </a:prstGeom>
            <a:solidFill>
              <a:srgbClr val="CCFFFF"/>
            </a:solidFill>
            <a:ln>
              <a:noFill/>
            </a:ln>
          </p:spPr>
          <p:txBody>
            <a:bodyPr/>
            <a:lstStyle/>
            <a:p>
              <a:endParaRPr lang="en-US" b="0"/>
            </a:p>
          </p:txBody>
        </p:sp>
      </p:grpSp>
      <p:sp>
        <p:nvSpPr>
          <p:cNvPr id="35846" name="Oval 42"/>
          <p:cNvSpPr>
            <a:spLocks noChangeArrowheads="1"/>
          </p:cNvSpPr>
          <p:nvPr/>
        </p:nvSpPr>
        <p:spPr bwMode="auto">
          <a:xfrm>
            <a:off x="1789115" y="3733800"/>
            <a:ext cx="631825" cy="757238"/>
          </a:xfrm>
          <a:prstGeom prst="ellipse">
            <a:avLst/>
          </a:prstGeom>
          <a:solidFill>
            <a:srgbClr val="CCFFCC"/>
          </a:solidFill>
          <a:ln>
            <a:noFill/>
          </a:ln>
        </p:spPr>
        <p:txBody>
          <a:bodyPr/>
          <a:lstStyle/>
          <a:p>
            <a:endParaRPr lang="en-US" b="0">
              <a:latin typeface="Helvetica" charset="0"/>
            </a:endParaRPr>
          </a:p>
        </p:txBody>
      </p:sp>
      <p:sp>
        <p:nvSpPr>
          <p:cNvPr id="35847" name="Oval 43"/>
          <p:cNvSpPr>
            <a:spLocks noChangeArrowheads="1"/>
          </p:cNvSpPr>
          <p:nvPr/>
        </p:nvSpPr>
        <p:spPr bwMode="auto">
          <a:xfrm>
            <a:off x="1443038" y="3932240"/>
            <a:ext cx="482600" cy="757237"/>
          </a:xfrm>
          <a:prstGeom prst="ellipse">
            <a:avLst/>
          </a:prstGeom>
          <a:solidFill>
            <a:srgbClr val="CCFFCC"/>
          </a:solidFill>
          <a:ln>
            <a:noFill/>
          </a:ln>
        </p:spPr>
        <p:txBody>
          <a:bodyPr/>
          <a:lstStyle/>
          <a:p>
            <a:endParaRPr lang="en-US" b="0">
              <a:latin typeface="Helvetica" charset="0"/>
            </a:endParaRPr>
          </a:p>
        </p:txBody>
      </p:sp>
      <p:sp>
        <p:nvSpPr>
          <p:cNvPr id="35848" name="Oval 44"/>
          <p:cNvSpPr>
            <a:spLocks noChangeArrowheads="1"/>
          </p:cNvSpPr>
          <p:nvPr/>
        </p:nvSpPr>
        <p:spPr bwMode="auto">
          <a:xfrm>
            <a:off x="1295402" y="4387850"/>
            <a:ext cx="327025" cy="546100"/>
          </a:xfrm>
          <a:prstGeom prst="ellipse">
            <a:avLst/>
          </a:prstGeom>
          <a:solidFill>
            <a:srgbClr val="CCFFCC"/>
          </a:solidFill>
          <a:ln>
            <a:noFill/>
          </a:ln>
        </p:spPr>
        <p:txBody>
          <a:bodyPr/>
          <a:lstStyle/>
          <a:p>
            <a:endParaRPr lang="en-US" b="0">
              <a:latin typeface="Helvetica" charset="0"/>
            </a:endParaRPr>
          </a:p>
        </p:txBody>
      </p:sp>
      <p:sp>
        <p:nvSpPr>
          <p:cNvPr id="35849" name="Oval 45"/>
          <p:cNvSpPr>
            <a:spLocks noChangeArrowheads="1"/>
          </p:cNvSpPr>
          <p:nvPr/>
        </p:nvSpPr>
        <p:spPr bwMode="auto">
          <a:xfrm>
            <a:off x="1393825" y="4659315"/>
            <a:ext cx="554038" cy="788987"/>
          </a:xfrm>
          <a:prstGeom prst="ellipse">
            <a:avLst/>
          </a:prstGeom>
          <a:solidFill>
            <a:srgbClr val="CCFFCC"/>
          </a:solidFill>
          <a:ln>
            <a:noFill/>
          </a:ln>
        </p:spPr>
        <p:txBody>
          <a:bodyPr/>
          <a:lstStyle/>
          <a:p>
            <a:endParaRPr lang="en-US" b="0">
              <a:latin typeface="Helvetica" charset="0"/>
            </a:endParaRPr>
          </a:p>
        </p:txBody>
      </p:sp>
      <p:sp>
        <p:nvSpPr>
          <p:cNvPr id="35850" name="Oval 46"/>
          <p:cNvSpPr>
            <a:spLocks noChangeArrowheads="1"/>
          </p:cNvSpPr>
          <p:nvPr/>
        </p:nvSpPr>
        <p:spPr bwMode="auto">
          <a:xfrm>
            <a:off x="1619252" y="4770438"/>
            <a:ext cx="855663" cy="792162"/>
          </a:xfrm>
          <a:prstGeom prst="ellipse">
            <a:avLst/>
          </a:prstGeom>
          <a:solidFill>
            <a:srgbClr val="CCFFCC"/>
          </a:solidFill>
          <a:ln>
            <a:noFill/>
          </a:ln>
        </p:spPr>
        <p:txBody>
          <a:bodyPr/>
          <a:lstStyle/>
          <a:p>
            <a:endParaRPr lang="en-US" b="0">
              <a:latin typeface="Helvetica" charset="0"/>
            </a:endParaRPr>
          </a:p>
        </p:txBody>
      </p:sp>
      <p:sp>
        <p:nvSpPr>
          <p:cNvPr id="35851" name="Oval 47"/>
          <p:cNvSpPr>
            <a:spLocks noChangeArrowheads="1"/>
          </p:cNvSpPr>
          <p:nvPr/>
        </p:nvSpPr>
        <p:spPr bwMode="auto">
          <a:xfrm>
            <a:off x="2281240" y="3990977"/>
            <a:ext cx="395287" cy="557213"/>
          </a:xfrm>
          <a:prstGeom prst="ellipse">
            <a:avLst/>
          </a:prstGeom>
          <a:solidFill>
            <a:srgbClr val="CCFFCC"/>
          </a:solidFill>
          <a:ln>
            <a:noFill/>
          </a:ln>
        </p:spPr>
        <p:txBody>
          <a:bodyPr/>
          <a:lstStyle/>
          <a:p>
            <a:endParaRPr lang="en-US" b="0">
              <a:latin typeface="Helvetica" charset="0"/>
            </a:endParaRPr>
          </a:p>
        </p:txBody>
      </p:sp>
      <p:sp>
        <p:nvSpPr>
          <p:cNvPr id="35852" name="Oval 48"/>
          <p:cNvSpPr>
            <a:spLocks noChangeArrowheads="1"/>
          </p:cNvSpPr>
          <p:nvPr/>
        </p:nvSpPr>
        <p:spPr bwMode="auto">
          <a:xfrm>
            <a:off x="2276477" y="4335463"/>
            <a:ext cx="466725" cy="595312"/>
          </a:xfrm>
          <a:prstGeom prst="ellipse">
            <a:avLst/>
          </a:prstGeom>
          <a:solidFill>
            <a:srgbClr val="CCFFCC"/>
          </a:solidFill>
          <a:ln>
            <a:noFill/>
          </a:ln>
        </p:spPr>
        <p:txBody>
          <a:bodyPr/>
          <a:lstStyle/>
          <a:p>
            <a:endParaRPr lang="en-US" b="0">
              <a:latin typeface="Helvetica" charset="0"/>
            </a:endParaRPr>
          </a:p>
        </p:txBody>
      </p:sp>
      <p:sp>
        <p:nvSpPr>
          <p:cNvPr id="35853" name="Oval 49"/>
          <p:cNvSpPr>
            <a:spLocks noChangeArrowheads="1"/>
          </p:cNvSpPr>
          <p:nvPr/>
        </p:nvSpPr>
        <p:spPr bwMode="auto">
          <a:xfrm>
            <a:off x="2235200" y="4460877"/>
            <a:ext cx="463550" cy="976313"/>
          </a:xfrm>
          <a:prstGeom prst="ellipse">
            <a:avLst/>
          </a:prstGeom>
          <a:solidFill>
            <a:srgbClr val="CCFFCC"/>
          </a:solidFill>
          <a:ln>
            <a:noFill/>
          </a:ln>
        </p:spPr>
        <p:txBody>
          <a:bodyPr/>
          <a:lstStyle/>
          <a:p>
            <a:endParaRPr lang="en-US" b="0">
              <a:latin typeface="Helvetica" charset="0"/>
            </a:endParaRPr>
          </a:p>
        </p:txBody>
      </p:sp>
      <p:sp>
        <p:nvSpPr>
          <p:cNvPr id="35854" name="Oval 50"/>
          <p:cNvSpPr>
            <a:spLocks noChangeArrowheads="1"/>
          </p:cNvSpPr>
          <p:nvPr/>
        </p:nvSpPr>
        <p:spPr bwMode="auto">
          <a:xfrm>
            <a:off x="1397000" y="3894140"/>
            <a:ext cx="1284288" cy="1639887"/>
          </a:xfrm>
          <a:prstGeom prst="ellipse">
            <a:avLst/>
          </a:prstGeom>
          <a:solidFill>
            <a:srgbClr val="CCFFCC"/>
          </a:solidFill>
          <a:ln>
            <a:noFill/>
          </a:ln>
        </p:spPr>
        <p:txBody>
          <a:bodyPr/>
          <a:lstStyle/>
          <a:p>
            <a:endParaRPr lang="en-US" b="0">
              <a:latin typeface="Helvetica" charset="0"/>
            </a:endParaRPr>
          </a:p>
        </p:txBody>
      </p:sp>
      <p:sp>
        <p:nvSpPr>
          <p:cNvPr id="35855" name="Rectangle 51"/>
          <p:cNvSpPr>
            <a:spLocks noChangeArrowheads="1"/>
          </p:cNvSpPr>
          <p:nvPr/>
        </p:nvSpPr>
        <p:spPr bwMode="auto">
          <a:xfrm>
            <a:off x="2209800" y="4114800"/>
            <a:ext cx="184150" cy="171450"/>
          </a:xfrm>
          <a:prstGeom prst="rect">
            <a:avLst/>
          </a:prstGeom>
          <a:solidFill>
            <a:srgbClr val="EAEAEA"/>
          </a:solidFill>
          <a:ln w="9525">
            <a:miter lim="800000"/>
          </a:ln>
          <a:scene3d>
            <a:camera prst="legacyObliqueTopLeft"/>
            <a:lightRig rig="legacyFlat3" dir="t"/>
          </a:scene3d>
          <a:sp3d extrusionH="125400" prstMaterial="legacyMatte">
            <a:bevelT w="13500" h="13500" prst="angle"/>
            <a:bevelB w="13500" h="13500" prst="angle"/>
            <a:extrusionClr>
              <a:srgbClr val="EAEAEA"/>
            </a:extrusionClr>
          </a:sp3d>
        </p:spPr>
        <p:txBody>
          <a:bodyPr wrap="none" lIns="90488" tIns="44450" rIns="90488" bIns="44450" anchor="ctr">
            <a:flatTx/>
          </a:bodyPr>
          <a:lstStyle/>
          <a:p>
            <a:endParaRPr lang="en-US" b="0">
              <a:latin typeface="Helvetica" charset="0"/>
            </a:endParaRPr>
          </a:p>
        </p:txBody>
      </p:sp>
      <p:sp>
        <p:nvSpPr>
          <p:cNvPr id="35856" name="Rectangle 67"/>
          <p:cNvSpPr>
            <a:spLocks noChangeArrowheads="1"/>
          </p:cNvSpPr>
          <p:nvPr/>
        </p:nvSpPr>
        <p:spPr bwMode="auto">
          <a:xfrm>
            <a:off x="1797050" y="5391150"/>
            <a:ext cx="184150" cy="171450"/>
          </a:xfrm>
          <a:prstGeom prst="rect">
            <a:avLst/>
          </a:prstGeom>
          <a:solidFill>
            <a:schemeClr val="folHlink"/>
          </a:solidFill>
          <a:ln w="9525">
            <a:miter lim="800000"/>
          </a:ln>
          <a:scene3d>
            <a:camera prst="legacyObliqueTopLeft"/>
            <a:lightRig rig="legacyFlat3" dir="t"/>
          </a:scene3d>
          <a:sp3d extrusionH="125400" prstMaterial="legacyMatte">
            <a:bevelT w="13500" h="13500" prst="angle"/>
            <a:bevelB w="13500" h="13500" prst="angle"/>
            <a:extrusionClr>
              <a:schemeClr val="folHlink"/>
            </a:extrusionClr>
          </a:sp3d>
        </p:spPr>
        <p:txBody>
          <a:bodyPr wrap="none" lIns="90488" tIns="44450" rIns="90488" bIns="44450" anchor="ctr">
            <a:flatTx/>
          </a:bodyPr>
          <a:lstStyle/>
          <a:p>
            <a:endParaRPr lang="en-US" b="0">
              <a:latin typeface="Helvetica" charset="0"/>
            </a:endParaRPr>
          </a:p>
        </p:txBody>
      </p:sp>
      <p:cxnSp>
        <p:nvCxnSpPr>
          <p:cNvPr id="35857" name="AutoShape 68"/>
          <p:cNvCxnSpPr>
            <a:cxnSpLocks noChangeShapeType="1"/>
            <a:stCxn id="35848" idx="2"/>
            <a:endCxn id="35856" idx="0"/>
          </p:cNvCxnSpPr>
          <p:nvPr/>
        </p:nvCxnSpPr>
        <p:spPr bwMode="auto">
          <a:xfrm rot="10800000" flipH="1" flipV="1">
            <a:off x="1295402" y="4660900"/>
            <a:ext cx="593725" cy="73025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</p:spPr>
      </p:cxnSp>
      <p:sp>
        <p:nvSpPr>
          <p:cNvPr id="35858" name="Rectangle 83"/>
          <p:cNvSpPr>
            <a:spLocks noChangeArrowheads="1"/>
          </p:cNvSpPr>
          <p:nvPr/>
        </p:nvSpPr>
        <p:spPr bwMode="auto">
          <a:xfrm>
            <a:off x="908050" y="3938588"/>
            <a:ext cx="184150" cy="171450"/>
          </a:xfrm>
          <a:prstGeom prst="rect">
            <a:avLst/>
          </a:prstGeom>
          <a:solidFill>
            <a:schemeClr val="folHlink"/>
          </a:solidFill>
          <a:ln w="9525">
            <a:miter lim="800000"/>
          </a:ln>
          <a:scene3d>
            <a:camera prst="legacyObliqueTopLeft"/>
            <a:lightRig rig="legacyFlat3" dir="t"/>
          </a:scene3d>
          <a:sp3d extrusionH="125400" prstMaterial="legacyMatte">
            <a:bevelT w="13500" h="13500" prst="angle"/>
            <a:bevelB w="13500" h="13500" prst="angle"/>
            <a:extrusionClr>
              <a:schemeClr val="folHlink"/>
            </a:extrusionClr>
          </a:sp3d>
        </p:spPr>
        <p:txBody>
          <a:bodyPr wrap="none" lIns="90488" tIns="44450" rIns="90488" bIns="44450" anchor="ctr">
            <a:flatTx/>
          </a:bodyPr>
          <a:lstStyle/>
          <a:p>
            <a:endParaRPr lang="en-US" b="0">
              <a:latin typeface="Helvetica" charset="0"/>
            </a:endParaRPr>
          </a:p>
        </p:txBody>
      </p:sp>
      <p:cxnSp>
        <p:nvCxnSpPr>
          <p:cNvPr id="35859" name="AutoShape 85"/>
          <p:cNvCxnSpPr>
            <a:cxnSpLocks noChangeShapeType="1"/>
            <a:stCxn id="35869" idx="0"/>
            <a:endCxn id="35858" idx="1"/>
          </p:cNvCxnSpPr>
          <p:nvPr/>
        </p:nvCxnSpPr>
        <p:spPr bwMode="auto">
          <a:xfrm rot="16200000" flipV="1">
            <a:off x="798515" y="4135440"/>
            <a:ext cx="547687" cy="32543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</p:spPr>
      </p:cxnSp>
      <p:cxnSp>
        <p:nvCxnSpPr>
          <p:cNvPr id="35860" name="AutoShape 68"/>
          <p:cNvCxnSpPr>
            <a:cxnSpLocks noChangeShapeType="1"/>
            <a:stCxn id="35848" idx="2"/>
            <a:endCxn id="35855" idx="1"/>
          </p:cNvCxnSpPr>
          <p:nvPr/>
        </p:nvCxnSpPr>
        <p:spPr bwMode="auto">
          <a:xfrm rot="10800000" flipH="1">
            <a:off x="1295400" y="4200527"/>
            <a:ext cx="914400" cy="46037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</p:spPr>
      </p:cxnSp>
      <p:sp>
        <p:nvSpPr>
          <p:cNvPr id="35861" name="Rectangle 25"/>
          <p:cNvSpPr>
            <a:spLocks noChangeArrowheads="1"/>
          </p:cNvSpPr>
          <p:nvPr/>
        </p:nvSpPr>
        <p:spPr bwMode="auto">
          <a:xfrm>
            <a:off x="76200" y="4857750"/>
            <a:ext cx="184150" cy="171450"/>
          </a:xfrm>
          <a:prstGeom prst="rect">
            <a:avLst/>
          </a:prstGeom>
          <a:solidFill>
            <a:srgbClr val="EAEAEA"/>
          </a:solidFill>
          <a:ln w="9525">
            <a:miter lim="800000"/>
          </a:ln>
          <a:scene3d>
            <a:camera prst="legacyObliqueTopLeft"/>
            <a:lightRig rig="legacyFlat3" dir="t"/>
          </a:scene3d>
          <a:sp3d extrusionH="125400" prstMaterial="legacyMatte">
            <a:bevelT w="13500" h="13500" prst="angle"/>
            <a:bevelB w="13500" h="13500" prst="angle"/>
            <a:extrusionClr>
              <a:srgbClr val="EAEAEA"/>
            </a:extrusionClr>
          </a:sp3d>
        </p:spPr>
        <p:txBody>
          <a:bodyPr wrap="none" lIns="90488" tIns="44450" rIns="90488" bIns="44450" anchor="ctr">
            <a:flatTx/>
          </a:bodyPr>
          <a:lstStyle/>
          <a:p>
            <a:endParaRPr lang="en-US" b="0">
              <a:latin typeface="Helvetica" charset="0"/>
            </a:endParaRPr>
          </a:p>
        </p:txBody>
      </p:sp>
      <p:sp>
        <p:nvSpPr>
          <p:cNvPr id="35862" name="Rectangle 25"/>
          <p:cNvSpPr>
            <a:spLocks noChangeArrowheads="1"/>
          </p:cNvSpPr>
          <p:nvPr/>
        </p:nvSpPr>
        <p:spPr bwMode="auto">
          <a:xfrm>
            <a:off x="882650" y="5391150"/>
            <a:ext cx="184150" cy="171450"/>
          </a:xfrm>
          <a:prstGeom prst="rect">
            <a:avLst/>
          </a:prstGeom>
          <a:solidFill>
            <a:srgbClr val="EAEAEA"/>
          </a:solidFill>
          <a:ln w="9525">
            <a:miter lim="800000"/>
          </a:ln>
          <a:scene3d>
            <a:camera prst="legacyObliqueTopLeft"/>
            <a:lightRig rig="legacyFlat3" dir="t"/>
          </a:scene3d>
          <a:sp3d extrusionH="125400" prstMaterial="legacyMatte">
            <a:bevelT w="13500" h="13500" prst="angle"/>
            <a:bevelB w="13500" h="13500" prst="angle"/>
            <a:extrusionClr>
              <a:srgbClr val="EAEAEA"/>
            </a:extrusionClr>
          </a:sp3d>
        </p:spPr>
        <p:txBody>
          <a:bodyPr wrap="none" lIns="90488" tIns="44450" rIns="90488" bIns="44450" anchor="ctr">
            <a:flatTx/>
          </a:bodyPr>
          <a:lstStyle/>
          <a:p>
            <a:endParaRPr lang="en-US" b="0">
              <a:latin typeface="Helvetica" charset="0"/>
            </a:endParaRPr>
          </a:p>
        </p:txBody>
      </p:sp>
      <p:cxnSp>
        <p:nvCxnSpPr>
          <p:cNvPr id="35863" name="AutoShape 68"/>
          <p:cNvCxnSpPr>
            <a:cxnSpLocks noChangeShapeType="1"/>
            <a:endCxn id="35858" idx="1"/>
          </p:cNvCxnSpPr>
          <p:nvPr/>
        </p:nvCxnSpPr>
        <p:spPr bwMode="auto">
          <a:xfrm rot="5400000" flipH="1" flipV="1">
            <a:off x="142083" y="4110832"/>
            <a:ext cx="852487" cy="67945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</p:spPr>
      </p:cxnSp>
      <p:cxnSp>
        <p:nvCxnSpPr>
          <p:cNvPr id="35864" name="AutoShape 68"/>
          <p:cNvCxnSpPr>
            <a:cxnSpLocks noChangeShapeType="1"/>
            <a:stCxn id="35861" idx="2"/>
            <a:endCxn id="35862" idx="0"/>
          </p:cNvCxnSpPr>
          <p:nvPr/>
        </p:nvCxnSpPr>
        <p:spPr bwMode="auto">
          <a:xfrm rot="16200000" flipH="1">
            <a:off x="390525" y="4806950"/>
            <a:ext cx="361950" cy="80645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</p:spPr>
      </p:cxnSp>
      <p:cxnSp>
        <p:nvCxnSpPr>
          <p:cNvPr id="35865" name="AutoShape 68"/>
          <p:cNvCxnSpPr>
            <a:cxnSpLocks noChangeShapeType="1"/>
            <a:stCxn id="35861" idx="3"/>
            <a:endCxn id="35869" idx="1"/>
          </p:cNvCxnSpPr>
          <p:nvPr/>
        </p:nvCxnSpPr>
        <p:spPr bwMode="auto">
          <a:xfrm flipV="1">
            <a:off x="260350" y="4657725"/>
            <a:ext cx="882650" cy="28575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</p:spPr>
      </p:cxnSp>
      <p:cxnSp>
        <p:nvCxnSpPr>
          <p:cNvPr id="35866" name="AutoShape 68"/>
          <p:cNvCxnSpPr>
            <a:cxnSpLocks noChangeShapeType="1"/>
            <a:endCxn id="35856" idx="1"/>
          </p:cNvCxnSpPr>
          <p:nvPr/>
        </p:nvCxnSpPr>
        <p:spPr bwMode="auto">
          <a:xfrm>
            <a:off x="1066800" y="5391152"/>
            <a:ext cx="730250" cy="857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</p:spPr>
      </p:cxnSp>
      <p:cxnSp>
        <p:nvCxnSpPr>
          <p:cNvPr id="35867" name="AutoShape 68"/>
          <p:cNvCxnSpPr>
            <a:cxnSpLocks noChangeShapeType="1"/>
            <a:endCxn id="35855" idx="2"/>
          </p:cNvCxnSpPr>
          <p:nvPr/>
        </p:nvCxnSpPr>
        <p:spPr bwMode="auto">
          <a:xfrm rot="5400000" flipH="1" flipV="1">
            <a:off x="1579563" y="4611689"/>
            <a:ext cx="1047750" cy="39687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</p:spPr>
      </p:cxnSp>
      <p:sp>
        <p:nvSpPr>
          <p:cNvPr id="111" name="Oval 110"/>
          <p:cNvSpPr/>
          <p:nvPr/>
        </p:nvSpPr>
        <p:spPr bwMode="auto">
          <a:xfrm>
            <a:off x="914400" y="4343400"/>
            <a:ext cx="685800" cy="533400"/>
          </a:xfrm>
          <a:prstGeom prst="ellipse">
            <a:avLst/>
          </a:prstGeom>
          <a:solidFill>
            <a:srgbClr val="FFFFAA">
              <a:alpha val="49000"/>
            </a:srgbClr>
          </a:solidFill>
          <a:ln w="127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b="0" dirty="0">
              <a:latin typeface="Helvetica"/>
              <a:ea typeface="MS PGothic" panose="020B0600070205080204" charset="-128"/>
              <a:cs typeface="Helvetica"/>
            </a:endParaRPr>
          </a:p>
        </p:txBody>
      </p:sp>
      <p:sp>
        <p:nvSpPr>
          <p:cNvPr id="35869" name="Rectangle 25"/>
          <p:cNvSpPr>
            <a:spLocks noChangeArrowheads="1"/>
          </p:cNvSpPr>
          <p:nvPr/>
        </p:nvSpPr>
        <p:spPr bwMode="auto">
          <a:xfrm>
            <a:off x="1143000" y="4572000"/>
            <a:ext cx="184150" cy="171450"/>
          </a:xfrm>
          <a:prstGeom prst="rect">
            <a:avLst/>
          </a:prstGeom>
          <a:solidFill>
            <a:srgbClr val="EAEAEA"/>
          </a:solidFill>
          <a:ln w="9525">
            <a:miter lim="800000"/>
          </a:ln>
          <a:scene3d>
            <a:camera prst="legacyObliqueTopLeft"/>
            <a:lightRig rig="legacyFlat3" dir="t"/>
          </a:scene3d>
          <a:sp3d extrusionH="125400" prstMaterial="legacyMatte">
            <a:bevelT w="13500" h="13500" prst="angle"/>
            <a:bevelB w="13500" h="13500" prst="angle"/>
            <a:extrusionClr>
              <a:srgbClr val="EAEAEA"/>
            </a:extrusionClr>
          </a:sp3d>
        </p:spPr>
        <p:txBody>
          <a:bodyPr wrap="none" lIns="90488" tIns="44450" rIns="90488" bIns="44450" anchor="ctr">
            <a:flatTx/>
          </a:bodyPr>
          <a:lstStyle/>
          <a:p>
            <a:endParaRPr lang="en-US" b="0">
              <a:latin typeface="Helvetica" charset="0"/>
            </a:endParaRPr>
          </a:p>
        </p:txBody>
      </p:sp>
      <p:cxnSp>
        <p:nvCxnSpPr>
          <p:cNvPr id="43073" name="Curved Connector 115"/>
          <p:cNvCxnSpPr>
            <a:cxnSpLocks noChangeShapeType="1"/>
            <a:stCxn id="111" idx="0"/>
          </p:cNvCxnSpPr>
          <p:nvPr/>
        </p:nvCxnSpPr>
        <p:spPr bwMode="auto">
          <a:xfrm rot="5400000" flipH="1" flipV="1">
            <a:off x="1657350" y="3181350"/>
            <a:ext cx="762000" cy="1562100"/>
          </a:xfrm>
          <a:prstGeom prst="curvedConnector2">
            <a:avLst/>
          </a:prstGeom>
          <a:noFill/>
          <a:ln w="76200">
            <a:solidFill>
              <a:srgbClr val="BFBFBF"/>
            </a:solidFill>
            <a:round/>
            <a:tailEnd type="triangle" w="med" len="med"/>
          </a:ln>
        </p:spPr>
      </p:cxnSp>
      <p:sp>
        <p:nvSpPr>
          <p:cNvPr id="94" name="圆角矩形 93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66" name="Group 2"/>
          <p:cNvGrpSpPr/>
          <p:nvPr/>
        </p:nvGrpSpPr>
        <p:grpSpPr bwMode="auto">
          <a:xfrm>
            <a:off x="3211515" y="4191000"/>
            <a:ext cx="2122487" cy="2057400"/>
            <a:chOff x="832" y="1344"/>
            <a:chExt cx="1136" cy="1024"/>
          </a:xfrm>
        </p:grpSpPr>
        <p:sp>
          <p:nvSpPr>
            <p:cNvPr id="36947" name="Oval 3"/>
            <p:cNvSpPr>
              <a:spLocks noChangeArrowheads="1"/>
            </p:cNvSpPr>
            <p:nvPr/>
          </p:nvSpPr>
          <p:spPr bwMode="auto">
            <a:xfrm>
              <a:off x="1220" y="1344"/>
              <a:ext cx="495" cy="424"/>
            </a:xfrm>
            <a:prstGeom prst="ellipse">
              <a:avLst/>
            </a:prstGeom>
            <a:solidFill>
              <a:srgbClr val="CCFFFF"/>
            </a:solidFill>
            <a:ln>
              <a:noFill/>
            </a:ln>
          </p:spPr>
          <p:txBody>
            <a:bodyPr/>
            <a:lstStyle/>
            <a:p>
              <a:endParaRPr lang="en-US" b="0"/>
            </a:p>
          </p:txBody>
        </p:sp>
        <p:sp>
          <p:nvSpPr>
            <p:cNvPr id="36948" name="Oval 4"/>
            <p:cNvSpPr>
              <a:spLocks noChangeArrowheads="1"/>
            </p:cNvSpPr>
            <p:nvPr/>
          </p:nvSpPr>
          <p:spPr bwMode="auto">
            <a:xfrm>
              <a:off x="948" y="1455"/>
              <a:ext cx="379" cy="424"/>
            </a:xfrm>
            <a:prstGeom prst="ellipse">
              <a:avLst/>
            </a:prstGeom>
            <a:solidFill>
              <a:srgbClr val="CCFFFF"/>
            </a:solidFill>
            <a:ln>
              <a:noFill/>
            </a:ln>
          </p:spPr>
          <p:txBody>
            <a:bodyPr/>
            <a:lstStyle/>
            <a:p>
              <a:endParaRPr lang="en-US" b="0"/>
            </a:p>
          </p:txBody>
        </p:sp>
        <p:sp>
          <p:nvSpPr>
            <p:cNvPr id="36949" name="Oval 5"/>
            <p:cNvSpPr>
              <a:spLocks noChangeArrowheads="1"/>
            </p:cNvSpPr>
            <p:nvPr/>
          </p:nvSpPr>
          <p:spPr bwMode="auto">
            <a:xfrm>
              <a:off x="832" y="1710"/>
              <a:ext cx="256" cy="306"/>
            </a:xfrm>
            <a:prstGeom prst="ellipse">
              <a:avLst/>
            </a:prstGeom>
            <a:solidFill>
              <a:srgbClr val="CCFFFF"/>
            </a:solidFill>
            <a:ln>
              <a:noFill/>
            </a:ln>
          </p:spPr>
          <p:txBody>
            <a:bodyPr/>
            <a:lstStyle/>
            <a:p>
              <a:endParaRPr lang="en-US" b="0"/>
            </a:p>
          </p:txBody>
        </p:sp>
        <p:sp>
          <p:nvSpPr>
            <p:cNvPr id="36950" name="Oval 6"/>
            <p:cNvSpPr>
              <a:spLocks noChangeArrowheads="1"/>
            </p:cNvSpPr>
            <p:nvPr/>
          </p:nvSpPr>
          <p:spPr bwMode="auto">
            <a:xfrm>
              <a:off x="909" y="1862"/>
              <a:ext cx="435" cy="442"/>
            </a:xfrm>
            <a:prstGeom prst="ellipse">
              <a:avLst/>
            </a:prstGeom>
            <a:solidFill>
              <a:srgbClr val="CCFFFF"/>
            </a:solidFill>
            <a:ln>
              <a:noFill/>
            </a:ln>
          </p:spPr>
          <p:txBody>
            <a:bodyPr/>
            <a:lstStyle/>
            <a:p>
              <a:endParaRPr lang="en-US" b="0"/>
            </a:p>
          </p:txBody>
        </p:sp>
        <p:sp>
          <p:nvSpPr>
            <p:cNvPr id="36951" name="Oval 7"/>
            <p:cNvSpPr>
              <a:spLocks noChangeArrowheads="1"/>
            </p:cNvSpPr>
            <p:nvPr/>
          </p:nvSpPr>
          <p:spPr bwMode="auto">
            <a:xfrm>
              <a:off x="1086" y="1924"/>
              <a:ext cx="671" cy="444"/>
            </a:xfrm>
            <a:prstGeom prst="ellipse">
              <a:avLst/>
            </a:prstGeom>
            <a:solidFill>
              <a:srgbClr val="CCFFFF"/>
            </a:solidFill>
            <a:ln>
              <a:noFill/>
            </a:ln>
          </p:spPr>
          <p:txBody>
            <a:bodyPr/>
            <a:lstStyle/>
            <a:p>
              <a:endParaRPr lang="en-US" b="0"/>
            </a:p>
          </p:txBody>
        </p:sp>
        <p:sp>
          <p:nvSpPr>
            <p:cNvPr id="36952" name="Oval 8"/>
            <p:cNvSpPr>
              <a:spLocks noChangeArrowheads="1"/>
            </p:cNvSpPr>
            <p:nvPr/>
          </p:nvSpPr>
          <p:spPr bwMode="auto">
            <a:xfrm>
              <a:off x="1605" y="1488"/>
              <a:ext cx="311" cy="312"/>
            </a:xfrm>
            <a:prstGeom prst="ellipse">
              <a:avLst/>
            </a:prstGeom>
            <a:solidFill>
              <a:srgbClr val="CCFFFF"/>
            </a:solidFill>
            <a:ln>
              <a:noFill/>
            </a:ln>
          </p:spPr>
          <p:txBody>
            <a:bodyPr/>
            <a:lstStyle/>
            <a:p>
              <a:endParaRPr lang="en-US" b="0"/>
            </a:p>
          </p:txBody>
        </p:sp>
        <p:sp>
          <p:nvSpPr>
            <p:cNvPr id="36953" name="Oval 9"/>
            <p:cNvSpPr>
              <a:spLocks noChangeArrowheads="1"/>
            </p:cNvSpPr>
            <p:nvPr/>
          </p:nvSpPr>
          <p:spPr bwMode="auto">
            <a:xfrm>
              <a:off x="1602" y="1681"/>
              <a:ext cx="366" cy="333"/>
            </a:xfrm>
            <a:prstGeom prst="ellipse">
              <a:avLst/>
            </a:prstGeom>
            <a:solidFill>
              <a:srgbClr val="CCFFFF"/>
            </a:solidFill>
            <a:ln>
              <a:noFill/>
            </a:ln>
          </p:spPr>
          <p:txBody>
            <a:bodyPr/>
            <a:lstStyle/>
            <a:p>
              <a:endParaRPr lang="en-US" b="0"/>
            </a:p>
          </p:txBody>
        </p:sp>
        <p:sp>
          <p:nvSpPr>
            <p:cNvPr id="36954" name="Oval 10"/>
            <p:cNvSpPr>
              <a:spLocks noChangeArrowheads="1"/>
            </p:cNvSpPr>
            <p:nvPr/>
          </p:nvSpPr>
          <p:spPr bwMode="auto">
            <a:xfrm>
              <a:off x="1569" y="1751"/>
              <a:ext cx="364" cy="547"/>
            </a:xfrm>
            <a:prstGeom prst="ellipse">
              <a:avLst/>
            </a:prstGeom>
            <a:solidFill>
              <a:srgbClr val="CCFFFF"/>
            </a:solidFill>
            <a:ln>
              <a:noFill/>
            </a:ln>
          </p:spPr>
          <p:txBody>
            <a:bodyPr/>
            <a:lstStyle/>
            <a:p>
              <a:endParaRPr lang="en-US" b="0"/>
            </a:p>
          </p:txBody>
        </p:sp>
        <p:sp>
          <p:nvSpPr>
            <p:cNvPr id="36955" name="Oval 11"/>
            <p:cNvSpPr>
              <a:spLocks noChangeArrowheads="1"/>
            </p:cNvSpPr>
            <p:nvPr/>
          </p:nvSpPr>
          <p:spPr bwMode="auto">
            <a:xfrm>
              <a:off x="912" y="1434"/>
              <a:ext cx="1008" cy="918"/>
            </a:xfrm>
            <a:prstGeom prst="ellipse">
              <a:avLst/>
            </a:prstGeom>
            <a:solidFill>
              <a:srgbClr val="CCFFFF"/>
            </a:solidFill>
            <a:ln>
              <a:noFill/>
            </a:ln>
          </p:spPr>
          <p:txBody>
            <a:bodyPr/>
            <a:lstStyle/>
            <a:p>
              <a:endParaRPr lang="en-US" b="0"/>
            </a:p>
          </p:txBody>
        </p:sp>
      </p:grpSp>
      <p:sp>
        <p:nvSpPr>
          <p:cNvPr id="36868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7315200" cy="2209800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Upon receiving a packet, a router </a:t>
            </a:r>
            <a:endParaRPr lang="en-US">
              <a:latin typeface="Arial" panose="020B0604020202020204" pitchFamily="34" charset="0"/>
              <a:ea typeface="MS PGothic" panose="020B0600070205080204" charset="-128"/>
              <a:cs typeface="Arial" panose="020B0604020202020204" pitchFamily="34" charset="0"/>
            </a:endParaRPr>
          </a:p>
          <a:p>
            <a:pPr lvl="1"/>
            <a:r>
              <a:rPr lang="en-US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read the IP</a:t>
            </a:r>
            <a:r>
              <a:rPr lang="en-US" altLang="ja-JP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 destination address of the packet</a:t>
            </a:r>
            <a:endParaRPr lang="en-US" altLang="ja-JP">
              <a:latin typeface="Arial" panose="020B0604020202020204" pitchFamily="34" charset="0"/>
              <a:ea typeface="MS PGothic" panose="020B0600070205080204" charset="-128"/>
              <a:cs typeface="Arial" panose="020B0604020202020204" pitchFamily="34" charset="0"/>
            </a:endParaRPr>
          </a:p>
          <a:p>
            <a:pPr lvl="1"/>
            <a:r>
              <a:rPr lang="en-US" altLang="ja-JP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consults its forwarding table </a:t>
            </a:r>
            <a:r>
              <a:rPr lang="en-US" altLang="ja-JP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  <a:sym typeface="Wingdings" panose="05000000000000000000" charset="0"/>
              </a:rPr>
              <a:t> output port</a:t>
            </a:r>
            <a:endParaRPr lang="en-US" altLang="ja-JP">
              <a:latin typeface="Arial" panose="020B0604020202020204" pitchFamily="34" charset="0"/>
              <a:ea typeface="MS PGothic" panose="020B0600070205080204" charset="-128"/>
              <a:cs typeface="Arial" panose="020B0604020202020204" pitchFamily="34" charset="0"/>
              <a:sym typeface="Wingdings" panose="05000000000000000000" charset="0"/>
            </a:endParaRPr>
          </a:p>
          <a:p>
            <a:pPr lvl="1"/>
            <a:r>
              <a:rPr lang="en-US" altLang="ja-JP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  <a:sym typeface="Wingdings" panose="05000000000000000000" charset="0"/>
              </a:rPr>
              <a:t>forwards packet to corresponding output port</a:t>
            </a:r>
            <a:endParaRPr lang="en-US" altLang="ja-JP">
              <a:latin typeface="Arial" panose="020B0604020202020204" pitchFamily="34" charset="0"/>
              <a:ea typeface="MS PGothic" panose="020B0600070205080204" charset="-128"/>
              <a:cs typeface="Arial" panose="020B0604020202020204" pitchFamily="34" charset="0"/>
            </a:endParaRPr>
          </a:p>
        </p:txBody>
      </p:sp>
      <p:sp>
        <p:nvSpPr>
          <p:cNvPr id="36867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>
                <a:latin typeface="Helvetica" charset="0"/>
                <a:ea typeface="MS PGothic" panose="020B0600070205080204" charset="-128"/>
              </a:rPr>
              <a:t>Packet Forwarding </a:t>
            </a:r>
            <a:endParaRPr lang="en-US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grpSp>
        <p:nvGrpSpPr>
          <p:cNvPr id="36876" name="Group 14"/>
          <p:cNvGrpSpPr/>
          <p:nvPr/>
        </p:nvGrpSpPr>
        <p:grpSpPr bwMode="auto">
          <a:xfrm>
            <a:off x="1087438" y="4191000"/>
            <a:ext cx="2417762" cy="1828800"/>
            <a:chOff x="832" y="1344"/>
            <a:chExt cx="1136" cy="1024"/>
          </a:xfrm>
        </p:grpSpPr>
        <p:sp>
          <p:nvSpPr>
            <p:cNvPr id="36938" name="Oval 15"/>
            <p:cNvSpPr>
              <a:spLocks noChangeArrowheads="1"/>
            </p:cNvSpPr>
            <p:nvPr/>
          </p:nvSpPr>
          <p:spPr bwMode="auto">
            <a:xfrm>
              <a:off x="1220" y="1344"/>
              <a:ext cx="495" cy="424"/>
            </a:xfrm>
            <a:prstGeom prst="ellipse">
              <a:avLst/>
            </a:prstGeom>
            <a:solidFill>
              <a:srgbClr val="EAEAEA"/>
            </a:solidFill>
            <a:ln>
              <a:noFill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  <p:sp>
          <p:nvSpPr>
            <p:cNvPr id="36939" name="Oval 16"/>
            <p:cNvSpPr>
              <a:spLocks noChangeArrowheads="1"/>
            </p:cNvSpPr>
            <p:nvPr/>
          </p:nvSpPr>
          <p:spPr bwMode="auto">
            <a:xfrm>
              <a:off x="948" y="1455"/>
              <a:ext cx="379" cy="424"/>
            </a:xfrm>
            <a:prstGeom prst="ellipse">
              <a:avLst/>
            </a:prstGeom>
            <a:solidFill>
              <a:srgbClr val="EAEAEA"/>
            </a:solidFill>
            <a:ln>
              <a:noFill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  <p:sp>
          <p:nvSpPr>
            <p:cNvPr id="36940" name="Oval 17"/>
            <p:cNvSpPr>
              <a:spLocks noChangeArrowheads="1"/>
            </p:cNvSpPr>
            <p:nvPr/>
          </p:nvSpPr>
          <p:spPr bwMode="auto">
            <a:xfrm>
              <a:off x="832" y="1710"/>
              <a:ext cx="256" cy="306"/>
            </a:xfrm>
            <a:prstGeom prst="ellipse">
              <a:avLst/>
            </a:prstGeom>
            <a:solidFill>
              <a:srgbClr val="EAEAEA"/>
            </a:solidFill>
            <a:ln>
              <a:noFill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  <p:sp>
          <p:nvSpPr>
            <p:cNvPr id="36941" name="Oval 18"/>
            <p:cNvSpPr>
              <a:spLocks noChangeArrowheads="1"/>
            </p:cNvSpPr>
            <p:nvPr/>
          </p:nvSpPr>
          <p:spPr bwMode="auto">
            <a:xfrm>
              <a:off x="909" y="1862"/>
              <a:ext cx="435" cy="442"/>
            </a:xfrm>
            <a:prstGeom prst="ellipse">
              <a:avLst/>
            </a:prstGeom>
            <a:solidFill>
              <a:srgbClr val="EAEAEA"/>
            </a:solidFill>
            <a:ln>
              <a:noFill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  <p:sp>
          <p:nvSpPr>
            <p:cNvPr id="36942" name="Oval 19"/>
            <p:cNvSpPr>
              <a:spLocks noChangeArrowheads="1"/>
            </p:cNvSpPr>
            <p:nvPr/>
          </p:nvSpPr>
          <p:spPr bwMode="auto">
            <a:xfrm>
              <a:off x="1086" y="1924"/>
              <a:ext cx="671" cy="444"/>
            </a:xfrm>
            <a:prstGeom prst="ellipse">
              <a:avLst/>
            </a:prstGeom>
            <a:solidFill>
              <a:srgbClr val="EAEAEA"/>
            </a:solidFill>
            <a:ln>
              <a:noFill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  <p:sp>
          <p:nvSpPr>
            <p:cNvPr id="36943" name="Oval 20"/>
            <p:cNvSpPr>
              <a:spLocks noChangeArrowheads="1"/>
            </p:cNvSpPr>
            <p:nvPr/>
          </p:nvSpPr>
          <p:spPr bwMode="auto">
            <a:xfrm>
              <a:off x="1605" y="1488"/>
              <a:ext cx="311" cy="312"/>
            </a:xfrm>
            <a:prstGeom prst="ellipse">
              <a:avLst/>
            </a:prstGeom>
            <a:solidFill>
              <a:srgbClr val="EAEAEA"/>
            </a:solidFill>
            <a:ln>
              <a:noFill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  <p:sp>
          <p:nvSpPr>
            <p:cNvPr id="36944" name="Oval 21"/>
            <p:cNvSpPr>
              <a:spLocks noChangeArrowheads="1"/>
            </p:cNvSpPr>
            <p:nvPr/>
          </p:nvSpPr>
          <p:spPr bwMode="auto">
            <a:xfrm>
              <a:off x="1602" y="1681"/>
              <a:ext cx="366" cy="333"/>
            </a:xfrm>
            <a:prstGeom prst="ellipse">
              <a:avLst/>
            </a:prstGeom>
            <a:solidFill>
              <a:srgbClr val="EAEAEA"/>
            </a:solidFill>
            <a:ln>
              <a:noFill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  <p:sp>
          <p:nvSpPr>
            <p:cNvPr id="36945" name="Oval 22"/>
            <p:cNvSpPr>
              <a:spLocks noChangeArrowheads="1"/>
            </p:cNvSpPr>
            <p:nvPr/>
          </p:nvSpPr>
          <p:spPr bwMode="auto">
            <a:xfrm>
              <a:off x="1569" y="1751"/>
              <a:ext cx="364" cy="547"/>
            </a:xfrm>
            <a:prstGeom prst="ellipse">
              <a:avLst/>
            </a:prstGeom>
            <a:solidFill>
              <a:srgbClr val="EAEAEA"/>
            </a:solidFill>
            <a:ln>
              <a:noFill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  <p:sp>
          <p:nvSpPr>
            <p:cNvPr id="36946" name="Oval 23"/>
            <p:cNvSpPr>
              <a:spLocks noChangeArrowheads="1"/>
            </p:cNvSpPr>
            <p:nvPr/>
          </p:nvSpPr>
          <p:spPr bwMode="auto">
            <a:xfrm>
              <a:off x="912" y="1434"/>
              <a:ext cx="1008" cy="918"/>
            </a:xfrm>
            <a:prstGeom prst="ellipse">
              <a:avLst/>
            </a:prstGeom>
            <a:solidFill>
              <a:srgbClr val="EAEAEA"/>
            </a:solidFill>
            <a:ln>
              <a:noFill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</p:grpSp>
      <p:sp>
        <p:nvSpPr>
          <p:cNvPr id="36877" name="Rectangle 24"/>
          <p:cNvSpPr>
            <a:spLocks noChangeArrowheads="1"/>
          </p:cNvSpPr>
          <p:nvPr/>
        </p:nvSpPr>
        <p:spPr bwMode="auto">
          <a:xfrm>
            <a:off x="1057275" y="5124450"/>
            <a:ext cx="184150" cy="171450"/>
          </a:xfrm>
          <a:prstGeom prst="rect">
            <a:avLst/>
          </a:prstGeom>
          <a:solidFill>
            <a:srgbClr val="EAEAEA"/>
          </a:solidFill>
          <a:ln w="9525">
            <a:miter lim="800000"/>
          </a:ln>
          <a:scene3d>
            <a:camera prst="legacyObliqueTopLeft"/>
            <a:lightRig rig="legacyFlat3" dir="t"/>
          </a:scene3d>
          <a:sp3d extrusionH="125400" prstMaterial="legacyMatte">
            <a:bevelT w="13500" h="13500" prst="angle"/>
            <a:bevelB w="13500" h="13500" prst="angle"/>
            <a:extrusionClr>
              <a:srgbClr val="EAEAEA"/>
            </a:extrusionClr>
          </a:sp3d>
        </p:spPr>
        <p:txBody>
          <a:bodyPr wrap="none" lIns="90488" tIns="44450" rIns="90488" bIns="44450" anchor="ctr">
            <a:flatTx/>
          </a:bodyPr>
          <a:lstStyle/>
          <a:p>
            <a:endParaRPr lang="en-US" b="0">
              <a:latin typeface="Helvetica" charset="0"/>
            </a:endParaRPr>
          </a:p>
        </p:txBody>
      </p:sp>
      <p:sp>
        <p:nvSpPr>
          <p:cNvPr id="36878" name="Rectangle 25"/>
          <p:cNvSpPr>
            <a:spLocks noChangeArrowheads="1"/>
          </p:cNvSpPr>
          <p:nvPr/>
        </p:nvSpPr>
        <p:spPr bwMode="auto">
          <a:xfrm>
            <a:off x="3352800" y="5257800"/>
            <a:ext cx="184150" cy="171450"/>
          </a:xfrm>
          <a:prstGeom prst="rect">
            <a:avLst/>
          </a:prstGeom>
          <a:solidFill>
            <a:srgbClr val="EAEAEA"/>
          </a:solidFill>
          <a:ln w="9525">
            <a:miter lim="800000"/>
          </a:ln>
          <a:scene3d>
            <a:camera prst="legacyObliqueTopLeft"/>
            <a:lightRig rig="legacyFlat3" dir="t"/>
          </a:scene3d>
          <a:sp3d extrusionH="125400" prstMaterial="legacyMatte">
            <a:bevelT w="13500" h="13500" prst="angle"/>
            <a:bevelB w="13500" h="13500" prst="angle"/>
            <a:extrusionClr>
              <a:srgbClr val="EAEAEA"/>
            </a:extrusionClr>
          </a:sp3d>
        </p:spPr>
        <p:txBody>
          <a:bodyPr wrap="none" lIns="90488" tIns="44450" rIns="90488" bIns="44450" anchor="ctr">
            <a:flatTx/>
          </a:bodyPr>
          <a:lstStyle/>
          <a:p>
            <a:endParaRPr lang="en-US" b="0">
              <a:latin typeface="Helvetica" charset="0"/>
            </a:endParaRPr>
          </a:p>
        </p:txBody>
      </p:sp>
      <p:cxnSp>
        <p:nvCxnSpPr>
          <p:cNvPr id="36879" name="AutoShape 26"/>
          <p:cNvCxnSpPr>
            <a:cxnSpLocks noChangeShapeType="1"/>
            <a:endCxn id="36878" idx="1"/>
          </p:cNvCxnSpPr>
          <p:nvPr/>
        </p:nvCxnSpPr>
        <p:spPr bwMode="auto">
          <a:xfrm>
            <a:off x="1257300" y="5172075"/>
            <a:ext cx="2095500" cy="17145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</p:spPr>
      </p:cxnSp>
      <p:grpSp>
        <p:nvGrpSpPr>
          <p:cNvPr id="36880" name="Group 27"/>
          <p:cNvGrpSpPr/>
          <p:nvPr/>
        </p:nvGrpSpPr>
        <p:grpSpPr bwMode="auto">
          <a:xfrm>
            <a:off x="228602" y="4876800"/>
            <a:ext cx="523875" cy="488950"/>
            <a:chOff x="1014" y="912"/>
            <a:chExt cx="574" cy="596"/>
          </a:xfrm>
        </p:grpSpPr>
        <p:sp>
          <p:nvSpPr>
            <p:cNvPr id="36926" name="Freeform 28"/>
            <p:cNvSpPr/>
            <p:nvPr/>
          </p:nvSpPr>
          <p:spPr bwMode="auto">
            <a:xfrm>
              <a:off x="1014" y="912"/>
              <a:ext cx="574" cy="596"/>
            </a:xfrm>
            <a:custGeom>
              <a:avLst/>
              <a:gdLst>
                <a:gd name="T0" fmla="*/ 124 w 574"/>
                <a:gd name="T1" fmla="*/ 391 h 596"/>
                <a:gd name="T2" fmla="*/ 0 w 574"/>
                <a:gd name="T3" fmla="*/ 391 h 596"/>
                <a:gd name="T4" fmla="*/ 0 w 574"/>
                <a:gd name="T5" fmla="*/ 596 h 596"/>
                <a:gd name="T6" fmla="*/ 574 w 574"/>
                <a:gd name="T7" fmla="*/ 596 h 596"/>
                <a:gd name="T8" fmla="*/ 574 w 574"/>
                <a:gd name="T9" fmla="*/ 391 h 596"/>
                <a:gd name="T10" fmla="*/ 446 w 574"/>
                <a:gd name="T11" fmla="*/ 391 h 596"/>
                <a:gd name="T12" fmla="*/ 446 w 574"/>
                <a:gd name="T13" fmla="*/ 364 h 596"/>
                <a:gd name="T14" fmla="*/ 500 w 574"/>
                <a:gd name="T15" fmla="*/ 364 h 596"/>
                <a:gd name="T16" fmla="*/ 500 w 574"/>
                <a:gd name="T17" fmla="*/ 0 h 596"/>
                <a:gd name="T18" fmla="*/ 70 w 574"/>
                <a:gd name="T19" fmla="*/ 0 h 596"/>
                <a:gd name="T20" fmla="*/ 70 w 574"/>
                <a:gd name="T21" fmla="*/ 364 h 596"/>
                <a:gd name="T22" fmla="*/ 124 w 574"/>
                <a:gd name="T23" fmla="*/ 364 h 596"/>
                <a:gd name="T24" fmla="*/ 124 w 574"/>
                <a:gd name="T25" fmla="*/ 391 h 5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74"/>
                <a:gd name="T40" fmla="*/ 0 h 596"/>
                <a:gd name="T41" fmla="*/ 574 w 574"/>
                <a:gd name="T42" fmla="*/ 596 h 59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74" h="596">
                  <a:moveTo>
                    <a:pt x="124" y="391"/>
                  </a:moveTo>
                  <a:lnTo>
                    <a:pt x="0" y="391"/>
                  </a:lnTo>
                  <a:lnTo>
                    <a:pt x="0" y="596"/>
                  </a:lnTo>
                  <a:lnTo>
                    <a:pt x="574" y="596"/>
                  </a:lnTo>
                  <a:lnTo>
                    <a:pt x="574" y="391"/>
                  </a:lnTo>
                  <a:lnTo>
                    <a:pt x="446" y="391"/>
                  </a:lnTo>
                  <a:lnTo>
                    <a:pt x="446" y="364"/>
                  </a:lnTo>
                  <a:lnTo>
                    <a:pt x="500" y="364"/>
                  </a:lnTo>
                  <a:lnTo>
                    <a:pt x="500" y="0"/>
                  </a:lnTo>
                  <a:lnTo>
                    <a:pt x="70" y="0"/>
                  </a:lnTo>
                  <a:lnTo>
                    <a:pt x="70" y="364"/>
                  </a:lnTo>
                  <a:lnTo>
                    <a:pt x="124" y="364"/>
                  </a:lnTo>
                  <a:lnTo>
                    <a:pt x="124" y="391"/>
                  </a:lnTo>
                  <a:close/>
                </a:path>
              </a:pathLst>
            </a:custGeom>
            <a:solidFill>
              <a:srgbClr val="FFFFFF"/>
            </a:solidFill>
            <a:ln w="158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27" name="Line 29"/>
            <p:cNvSpPr>
              <a:spLocks noChangeShapeType="1"/>
            </p:cNvSpPr>
            <p:nvPr/>
          </p:nvSpPr>
          <p:spPr bwMode="auto">
            <a:xfrm>
              <a:off x="1138" y="1303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28" name="Line 30"/>
            <p:cNvSpPr>
              <a:spLocks noChangeShapeType="1"/>
            </p:cNvSpPr>
            <p:nvPr/>
          </p:nvSpPr>
          <p:spPr bwMode="auto">
            <a:xfrm>
              <a:off x="1138" y="1276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29" name="Freeform 31"/>
            <p:cNvSpPr>
              <a:spLocks noEditPoints="1"/>
            </p:cNvSpPr>
            <p:nvPr/>
          </p:nvSpPr>
          <p:spPr bwMode="auto">
            <a:xfrm>
              <a:off x="1310" y="1323"/>
              <a:ext cx="233" cy="168"/>
            </a:xfrm>
            <a:custGeom>
              <a:avLst/>
              <a:gdLst>
                <a:gd name="T0" fmla="*/ 0 w 233"/>
                <a:gd name="T1" fmla="*/ 168 h 168"/>
                <a:gd name="T2" fmla="*/ 188 w 233"/>
                <a:gd name="T3" fmla="*/ 168 h 168"/>
                <a:gd name="T4" fmla="*/ 188 w 233"/>
                <a:gd name="T5" fmla="*/ 0 h 168"/>
                <a:gd name="T6" fmla="*/ 0 w 233"/>
                <a:gd name="T7" fmla="*/ 0 h 168"/>
                <a:gd name="T8" fmla="*/ 0 w 233"/>
                <a:gd name="T9" fmla="*/ 168 h 168"/>
                <a:gd name="T10" fmla="*/ 204 w 233"/>
                <a:gd name="T11" fmla="*/ 26 h 168"/>
                <a:gd name="T12" fmla="*/ 233 w 233"/>
                <a:gd name="T13" fmla="*/ 26 h 168"/>
                <a:gd name="T14" fmla="*/ 233 w 233"/>
                <a:gd name="T15" fmla="*/ 0 h 168"/>
                <a:gd name="T16" fmla="*/ 204 w 233"/>
                <a:gd name="T17" fmla="*/ 0 h 168"/>
                <a:gd name="T18" fmla="*/ 204 w 233"/>
                <a:gd name="T19" fmla="*/ 26 h 1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33"/>
                <a:gd name="T31" fmla="*/ 0 h 168"/>
                <a:gd name="T32" fmla="*/ 233 w 233"/>
                <a:gd name="T33" fmla="*/ 168 h 16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33" h="168">
                  <a:moveTo>
                    <a:pt x="0" y="168"/>
                  </a:moveTo>
                  <a:lnTo>
                    <a:pt x="188" y="168"/>
                  </a:lnTo>
                  <a:lnTo>
                    <a:pt x="188" y="0"/>
                  </a:lnTo>
                  <a:lnTo>
                    <a:pt x="0" y="0"/>
                  </a:lnTo>
                  <a:lnTo>
                    <a:pt x="0" y="168"/>
                  </a:lnTo>
                  <a:close/>
                  <a:moveTo>
                    <a:pt x="204" y="26"/>
                  </a:moveTo>
                  <a:lnTo>
                    <a:pt x="233" y="26"/>
                  </a:lnTo>
                  <a:lnTo>
                    <a:pt x="233" y="0"/>
                  </a:lnTo>
                  <a:lnTo>
                    <a:pt x="204" y="0"/>
                  </a:lnTo>
                  <a:lnTo>
                    <a:pt x="204" y="26"/>
                  </a:lnTo>
                  <a:close/>
                </a:path>
              </a:pathLst>
            </a:custGeom>
            <a:solidFill>
              <a:srgbClr val="FFFFFF"/>
            </a:solidFill>
            <a:ln w="47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30" name="Line 32"/>
            <p:cNvSpPr>
              <a:spLocks noChangeShapeType="1"/>
            </p:cNvSpPr>
            <p:nvPr/>
          </p:nvSpPr>
          <p:spPr bwMode="auto">
            <a:xfrm>
              <a:off x="1310" y="1379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31" name="Line 33"/>
            <p:cNvSpPr>
              <a:spLocks noChangeShapeType="1"/>
            </p:cNvSpPr>
            <p:nvPr/>
          </p:nvSpPr>
          <p:spPr bwMode="auto">
            <a:xfrm>
              <a:off x="1310" y="1435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32" name="Line 34"/>
            <p:cNvSpPr>
              <a:spLocks noChangeShapeType="1"/>
            </p:cNvSpPr>
            <p:nvPr/>
          </p:nvSpPr>
          <p:spPr bwMode="auto">
            <a:xfrm>
              <a:off x="1317" y="1405"/>
              <a:ext cx="17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33" name="Rectangle 35"/>
            <p:cNvSpPr>
              <a:spLocks noChangeArrowheads="1"/>
            </p:cNvSpPr>
            <p:nvPr/>
          </p:nvSpPr>
          <p:spPr bwMode="auto">
            <a:xfrm>
              <a:off x="1416" y="1389"/>
              <a:ext cx="54" cy="36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  <p:sp>
          <p:nvSpPr>
            <p:cNvPr id="36934" name="Freeform 36"/>
            <p:cNvSpPr>
              <a:spLocks noEditPoints="1"/>
            </p:cNvSpPr>
            <p:nvPr/>
          </p:nvSpPr>
          <p:spPr bwMode="auto">
            <a:xfrm>
              <a:off x="1030" y="955"/>
              <a:ext cx="538" cy="401"/>
            </a:xfrm>
            <a:custGeom>
              <a:avLst/>
              <a:gdLst>
                <a:gd name="T0" fmla="*/ 452 w 538"/>
                <a:gd name="T1" fmla="*/ 285 h 401"/>
                <a:gd name="T2" fmla="*/ 472 w 538"/>
                <a:gd name="T3" fmla="*/ 285 h 401"/>
                <a:gd name="T4" fmla="*/ 472 w 538"/>
                <a:gd name="T5" fmla="*/ 278 h 401"/>
                <a:gd name="T6" fmla="*/ 452 w 538"/>
                <a:gd name="T7" fmla="*/ 278 h 401"/>
                <a:gd name="T8" fmla="*/ 452 w 538"/>
                <a:gd name="T9" fmla="*/ 285 h 401"/>
                <a:gd name="T10" fmla="*/ 121 w 538"/>
                <a:gd name="T11" fmla="*/ 239 h 401"/>
                <a:gd name="T12" fmla="*/ 121 w 538"/>
                <a:gd name="T13" fmla="*/ 27 h 401"/>
                <a:gd name="T14" fmla="*/ 417 w 538"/>
                <a:gd name="T15" fmla="*/ 27 h 401"/>
                <a:gd name="T16" fmla="*/ 417 w 538"/>
                <a:gd name="T17" fmla="*/ 239 h 401"/>
                <a:gd name="T18" fmla="*/ 121 w 538"/>
                <a:gd name="T19" fmla="*/ 239 h 401"/>
                <a:gd name="T20" fmla="*/ 108 w 538"/>
                <a:gd name="T21" fmla="*/ 252 h 401"/>
                <a:gd name="T22" fmla="*/ 430 w 538"/>
                <a:gd name="T23" fmla="*/ 252 h 401"/>
                <a:gd name="T24" fmla="*/ 430 w 538"/>
                <a:gd name="T25" fmla="*/ 14 h 401"/>
                <a:gd name="T26" fmla="*/ 446 w 538"/>
                <a:gd name="T27" fmla="*/ 14 h 401"/>
                <a:gd name="T28" fmla="*/ 446 w 538"/>
                <a:gd name="T29" fmla="*/ 0 h 401"/>
                <a:gd name="T30" fmla="*/ 96 w 538"/>
                <a:gd name="T31" fmla="*/ 0 h 401"/>
                <a:gd name="T32" fmla="*/ 96 w 538"/>
                <a:gd name="T33" fmla="*/ 265 h 401"/>
                <a:gd name="T34" fmla="*/ 108 w 538"/>
                <a:gd name="T35" fmla="*/ 265 h 401"/>
                <a:gd name="T36" fmla="*/ 108 w 538"/>
                <a:gd name="T37" fmla="*/ 252 h 401"/>
                <a:gd name="T38" fmla="*/ 0 w 538"/>
                <a:gd name="T39" fmla="*/ 388 h 401"/>
                <a:gd name="T40" fmla="*/ 54 w 538"/>
                <a:gd name="T41" fmla="*/ 388 h 401"/>
                <a:gd name="T42" fmla="*/ 54 w 538"/>
                <a:gd name="T43" fmla="*/ 368 h 401"/>
                <a:gd name="T44" fmla="*/ 0 w 538"/>
                <a:gd name="T45" fmla="*/ 368 h 401"/>
                <a:gd name="T46" fmla="*/ 0 w 538"/>
                <a:gd name="T47" fmla="*/ 388 h 401"/>
                <a:gd name="T48" fmla="*/ 316 w 538"/>
                <a:gd name="T49" fmla="*/ 401 h 401"/>
                <a:gd name="T50" fmla="*/ 430 w 538"/>
                <a:gd name="T51" fmla="*/ 401 h 401"/>
                <a:gd name="T52" fmla="*/ 430 w 538"/>
                <a:gd name="T53" fmla="*/ 391 h 401"/>
                <a:gd name="T54" fmla="*/ 316 w 538"/>
                <a:gd name="T55" fmla="*/ 391 h 401"/>
                <a:gd name="T56" fmla="*/ 316 w 538"/>
                <a:gd name="T57" fmla="*/ 401 h 401"/>
                <a:gd name="T58" fmla="*/ 523 w 538"/>
                <a:gd name="T59" fmla="*/ 378 h 401"/>
                <a:gd name="T60" fmla="*/ 538 w 538"/>
                <a:gd name="T61" fmla="*/ 378 h 401"/>
                <a:gd name="T62" fmla="*/ 538 w 538"/>
                <a:gd name="T63" fmla="*/ 368 h 401"/>
                <a:gd name="T64" fmla="*/ 523 w 538"/>
                <a:gd name="T65" fmla="*/ 368 h 401"/>
                <a:gd name="T66" fmla="*/ 523 w 538"/>
                <a:gd name="T67" fmla="*/ 378 h 401"/>
                <a:gd name="T68" fmla="*/ 523 w 538"/>
                <a:gd name="T69" fmla="*/ 394 h 401"/>
                <a:gd name="T70" fmla="*/ 538 w 538"/>
                <a:gd name="T71" fmla="*/ 394 h 401"/>
                <a:gd name="T72" fmla="*/ 538 w 538"/>
                <a:gd name="T73" fmla="*/ 388 h 401"/>
                <a:gd name="T74" fmla="*/ 523 w 538"/>
                <a:gd name="T75" fmla="*/ 388 h 401"/>
                <a:gd name="T76" fmla="*/ 523 w 538"/>
                <a:gd name="T77" fmla="*/ 394 h 401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538"/>
                <a:gd name="T118" fmla="*/ 0 h 401"/>
                <a:gd name="T119" fmla="*/ 538 w 538"/>
                <a:gd name="T120" fmla="*/ 401 h 401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538" h="401">
                  <a:moveTo>
                    <a:pt x="452" y="285"/>
                  </a:moveTo>
                  <a:lnTo>
                    <a:pt x="472" y="285"/>
                  </a:lnTo>
                  <a:lnTo>
                    <a:pt x="472" y="278"/>
                  </a:lnTo>
                  <a:lnTo>
                    <a:pt x="452" y="278"/>
                  </a:lnTo>
                  <a:lnTo>
                    <a:pt x="452" y="285"/>
                  </a:lnTo>
                  <a:close/>
                  <a:moveTo>
                    <a:pt x="121" y="239"/>
                  </a:moveTo>
                  <a:lnTo>
                    <a:pt x="121" y="27"/>
                  </a:lnTo>
                  <a:lnTo>
                    <a:pt x="417" y="27"/>
                  </a:lnTo>
                  <a:lnTo>
                    <a:pt x="417" y="239"/>
                  </a:lnTo>
                  <a:lnTo>
                    <a:pt x="121" y="239"/>
                  </a:lnTo>
                  <a:close/>
                  <a:moveTo>
                    <a:pt x="108" y="252"/>
                  </a:moveTo>
                  <a:lnTo>
                    <a:pt x="430" y="252"/>
                  </a:lnTo>
                  <a:lnTo>
                    <a:pt x="430" y="14"/>
                  </a:lnTo>
                  <a:lnTo>
                    <a:pt x="446" y="14"/>
                  </a:lnTo>
                  <a:lnTo>
                    <a:pt x="446" y="0"/>
                  </a:lnTo>
                  <a:lnTo>
                    <a:pt x="96" y="0"/>
                  </a:lnTo>
                  <a:lnTo>
                    <a:pt x="96" y="265"/>
                  </a:lnTo>
                  <a:lnTo>
                    <a:pt x="108" y="265"/>
                  </a:lnTo>
                  <a:lnTo>
                    <a:pt x="108" y="252"/>
                  </a:lnTo>
                  <a:close/>
                  <a:moveTo>
                    <a:pt x="0" y="388"/>
                  </a:moveTo>
                  <a:lnTo>
                    <a:pt x="54" y="388"/>
                  </a:lnTo>
                  <a:lnTo>
                    <a:pt x="54" y="368"/>
                  </a:lnTo>
                  <a:lnTo>
                    <a:pt x="0" y="368"/>
                  </a:lnTo>
                  <a:lnTo>
                    <a:pt x="0" y="388"/>
                  </a:lnTo>
                  <a:close/>
                  <a:moveTo>
                    <a:pt x="316" y="401"/>
                  </a:moveTo>
                  <a:lnTo>
                    <a:pt x="430" y="401"/>
                  </a:lnTo>
                  <a:lnTo>
                    <a:pt x="430" y="391"/>
                  </a:lnTo>
                  <a:lnTo>
                    <a:pt x="316" y="391"/>
                  </a:lnTo>
                  <a:lnTo>
                    <a:pt x="316" y="401"/>
                  </a:lnTo>
                  <a:close/>
                  <a:moveTo>
                    <a:pt x="523" y="378"/>
                  </a:moveTo>
                  <a:lnTo>
                    <a:pt x="538" y="378"/>
                  </a:lnTo>
                  <a:lnTo>
                    <a:pt x="538" y="368"/>
                  </a:lnTo>
                  <a:lnTo>
                    <a:pt x="523" y="368"/>
                  </a:lnTo>
                  <a:lnTo>
                    <a:pt x="523" y="378"/>
                  </a:lnTo>
                  <a:close/>
                  <a:moveTo>
                    <a:pt x="523" y="394"/>
                  </a:moveTo>
                  <a:lnTo>
                    <a:pt x="538" y="394"/>
                  </a:lnTo>
                  <a:lnTo>
                    <a:pt x="538" y="388"/>
                  </a:lnTo>
                  <a:lnTo>
                    <a:pt x="523" y="388"/>
                  </a:lnTo>
                  <a:lnTo>
                    <a:pt x="523" y="394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35" name="Line 37"/>
            <p:cNvSpPr>
              <a:spLocks noChangeShapeType="1"/>
            </p:cNvSpPr>
            <p:nvPr/>
          </p:nvSpPr>
          <p:spPr bwMode="auto">
            <a:xfrm>
              <a:off x="1084" y="1257"/>
              <a:ext cx="430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36" name="Line 38"/>
            <p:cNvSpPr>
              <a:spLocks noChangeShapeType="1"/>
            </p:cNvSpPr>
            <p:nvPr/>
          </p:nvSpPr>
          <p:spPr bwMode="auto">
            <a:xfrm flipV="1">
              <a:off x="1193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37" name="Line 39"/>
            <p:cNvSpPr>
              <a:spLocks noChangeShapeType="1"/>
            </p:cNvSpPr>
            <p:nvPr/>
          </p:nvSpPr>
          <p:spPr bwMode="auto">
            <a:xfrm flipV="1">
              <a:off x="1301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36881" name="AutoShape 40"/>
          <p:cNvCxnSpPr>
            <a:cxnSpLocks noChangeShapeType="1"/>
            <a:endCxn id="36877" idx="1"/>
          </p:cNvCxnSpPr>
          <p:nvPr/>
        </p:nvCxnSpPr>
        <p:spPr bwMode="auto">
          <a:xfrm>
            <a:off x="760413" y="5197475"/>
            <a:ext cx="296862" cy="127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</p:spPr>
      </p:cxnSp>
      <p:grpSp>
        <p:nvGrpSpPr>
          <p:cNvPr id="36882" name="Group 41"/>
          <p:cNvGrpSpPr/>
          <p:nvPr/>
        </p:nvGrpSpPr>
        <p:grpSpPr bwMode="auto">
          <a:xfrm>
            <a:off x="5126038" y="4114800"/>
            <a:ext cx="2265362" cy="1828800"/>
            <a:chOff x="832" y="1344"/>
            <a:chExt cx="1136" cy="1024"/>
          </a:xfrm>
        </p:grpSpPr>
        <p:sp>
          <p:nvSpPr>
            <p:cNvPr id="36917" name="Oval 42"/>
            <p:cNvSpPr>
              <a:spLocks noChangeArrowheads="1"/>
            </p:cNvSpPr>
            <p:nvPr/>
          </p:nvSpPr>
          <p:spPr bwMode="auto">
            <a:xfrm>
              <a:off x="1220" y="1344"/>
              <a:ext cx="495" cy="424"/>
            </a:xfrm>
            <a:prstGeom prst="ellipse">
              <a:avLst/>
            </a:prstGeom>
            <a:solidFill>
              <a:srgbClr val="CCFFCC"/>
            </a:solidFill>
            <a:ln>
              <a:noFill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  <p:sp>
          <p:nvSpPr>
            <p:cNvPr id="36918" name="Oval 43"/>
            <p:cNvSpPr>
              <a:spLocks noChangeArrowheads="1"/>
            </p:cNvSpPr>
            <p:nvPr/>
          </p:nvSpPr>
          <p:spPr bwMode="auto">
            <a:xfrm>
              <a:off x="948" y="1455"/>
              <a:ext cx="379" cy="424"/>
            </a:xfrm>
            <a:prstGeom prst="ellipse">
              <a:avLst/>
            </a:prstGeom>
            <a:solidFill>
              <a:srgbClr val="CCFFCC"/>
            </a:solidFill>
            <a:ln>
              <a:noFill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  <p:sp>
          <p:nvSpPr>
            <p:cNvPr id="36919" name="Oval 44"/>
            <p:cNvSpPr>
              <a:spLocks noChangeArrowheads="1"/>
            </p:cNvSpPr>
            <p:nvPr/>
          </p:nvSpPr>
          <p:spPr bwMode="auto">
            <a:xfrm>
              <a:off x="832" y="1710"/>
              <a:ext cx="256" cy="306"/>
            </a:xfrm>
            <a:prstGeom prst="ellipse">
              <a:avLst/>
            </a:prstGeom>
            <a:solidFill>
              <a:srgbClr val="CCFFCC"/>
            </a:solidFill>
            <a:ln>
              <a:noFill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  <p:sp>
          <p:nvSpPr>
            <p:cNvPr id="36920" name="Oval 45"/>
            <p:cNvSpPr>
              <a:spLocks noChangeArrowheads="1"/>
            </p:cNvSpPr>
            <p:nvPr/>
          </p:nvSpPr>
          <p:spPr bwMode="auto">
            <a:xfrm>
              <a:off x="909" y="1862"/>
              <a:ext cx="435" cy="442"/>
            </a:xfrm>
            <a:prstGeom prst="ellipse">
              <a:avLst/>
            </a:prstGeom>
            <a:solidFill>
              <a:srgbClr val="CCFFCC"/>
            </a:solidFill>
            <a:ln>
              <a:noFill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  <p:sp>
          <p:nvSpPr>
            <p:cNvPr id="36921" name="Oval 46"/>
            <p:cNvSpPr>
              <a:spLocks noChangeArrowheads="1"/>
            </p:cNvSpPr>
            <p:nvPr/>
          </p:nvSpPr>
          <p:spPr bwMode="auto">
            <a:xfrm>
              <a:off x="1086" y="1924"/>
              <a:ext cx="671" cy="444"/>
            </a:xfrm>
            <a:prstGeom prst="ellipse">
              <a:avLst/>
            </a:prstGeom>
            <a:solidFill>
              <a:srgbClr val="CCFFCC"/>
            </a:solidFill>
            <a:ln>
              <a:noFill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  <p:sp>
          <p:nvSpPr>
            <p:cNvPr id="36922" name="Oval 47"/>
            <p:cNvSpPr>
              <a:spLocks noChangeArrowheads="1"/>
            </p:cNvSpPr>
            <p:nvPr/>
          </p:nvSpPr>
          <p:spPr bwMode="auto">
            <a:xfrm>
              <a:off x="1605" y="1488"/>
              <a:ext cx="311" cy="312"/>
            </a:xfrm>
            <a:prstGeom prst="ellipse">
              <a:avLst/>
            </a:prstGeom>
            <a:solidFill>
              <a:srgbClr val="CCFFCC"/>
            </a:solidFill>
            <a:ln>
              <a:noFill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  <p:sp>
          <p:nvSpPr>
            <p:cNvPr id="36923" name="Oval 48"/>
            <p:cNvSpPr>
              <a:spLocks noChangeArrowheads="1"/>
            </p:cNvSpPr>
            <p:nvPr/>
          </p:nvSpPr>
          <p:spPr bwMode="auto">
            <a:xfrm>
              <a:off x="1602" y="1681"/>
              <a:ext cx="366" cy="333"/>
            </a:xfrm>
            <a:prstGeom prst="ellipse">
              <a:avLst/>
            </a:prstGeom>
            <a:solidFill>
              <a:srgbClr val="CCFFCC"/>
            </a:solidFill>
            <a:ln>
              <a:noFill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  <p:sp>
          <p:nvSpPr>
            <p:cNvPr id="36924" name="Oval 49"/>
            <p:cNvSpPr>
              <a:spLocks noChangeArrowheads="1"/>
            </p:cNvSpPr>
            <p:nvPr/>
          </p:nvSpPr>
          <p:spPr bwMode="auto">
            <a:xfrm>
              <a:off x="1569" y="1751"/>
              <a:ext cx="364" cy="547"/>
            </a:xfrm>
            <a:prstGeom prst="ellipse">
              <a:avLst/>
            </a:prstGeom>
            <a:solidFill>
              <a:srgbClr val="CCFFCC"/>
            </a:solidFill>
            <a:ln>
              <a:noFill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  <p:sp>
          <p:nvSpPr>
            <p:cNvPr id="36925" name="Oval 50"/>
            <p:cNvSpPr>
              <a:spLocks noChangeArrowheads="1"/>
            </p:cNvSpPr>
            <p:nvPr/>
          </p:nvSpPr>
          <p:spPr bwMode="auto">
            <a:xfrm>
              <a:off x="912" y="1434"/>
              <a:ext cx="1008" cy="918"/>
            </a:xfrm>
            <a:prstGeom prst="ellipse">
              <a:avLst/>
            </a:prstGeom>
            <a:solidFill>
              <a:srgbClr val="CCFFCC"/>
            </a:solidFill>
            <a:ln>
              <a:noFill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</p:grpSp>
      <p:sp>
        <p:nvSpPr>
          <p:cNvPr id="36883" name="Rectangle 51"/>
          <p:cNvSpPr>
            <a:spLocks noChangeArrowheads="1"/>
          </p:cNvSpPr>
          <p:nvPr/>
        </p:nvSpPr>
        <p:spPr bwMode="auto">
          <a:xfrm>
            <a:off x="7162800" y="5257800"/>
            <a:ext cx="184150" cy="171450"/>
          </a:xfrm>
          <a:prstGeom prst="rect">
            <a:avLst/>
          </a:prstGeom>
          <a:solidFill>
            <a:srgbClr val="EAEAEA"/>
          </a:solidFill>
          <a:ln w="9525">
            <a:miter lim="800000"/>
          </a:ln>
          <a:scene3d>
            <a:camera prst="legacyObliqueTopLeft"/>
            <a:lightRig rig="legacyFlat3" dir="t"/>
          </a:scene3d>
          <a:sp3d extrusionH="125400" prstMaterial="legacyMatte">
            <a:bevelT w="13500" h="13500" prst="angle"/>
            <a:bevelB w="13500" h="13500" prst="angle"/>
            <a:extrusionClr>
              <a:srgbClr val="EAEAEA"/>
            </a:extrusionClr>
          </a:sp3d>
        </p:spPr>
        <p:txBody>
          <a:bodyPr wrap="none" lIns="90488" tIns="44450" rIns="90488" bIns="44450" anchor="ctr">
            <a:flatTx/>
          </a:bodyPr>
          <a:lstStyle/>
          <a:p>
            <a:endParaRPr lang="en-US" b="0">
              <a:latin typeface="Helvetica" charset="0"/>
            </a:endParaRPr>
          </a:p>
        </p:txBody>
      </p:sp>
      <p:grpSp>
        <p:nvGrpSpPr>
          <p:cNvPr id="36884" name="Group 52"/>
          <p:cNvGrpSpPr/>
          <p:nvPr/>
        </p:nvGrpSpPr>
        <p:grpSpPr bwMode="auto">
          <a:xfrm>
            <a:off x="7781927" y="4978400"/>
            <a:ext cx="523875" cy="488950"/>
            <a:chOff x="1014" y="912"/>
            <a:chExt cx="574" cy="596"/>
          </a:xfrm>
        </p:grpSpPr>
        <p:sp>
          <p:nvSpPr>
            <p:cNvPr id="36905" name="Freeform 53"/>
            <p:cNvSpPr/>
            <p:nvPr/>
          </p:nvSpPr>
          <p:spPr bwMode="auto">
            <a:xfrm>
              <a:off x="1014" y="912"/>
              <a:ext cx="574" cy="596"/>
            </a:xfrm>
            <a:custGeom>
              <a:avLst/>
              <a:gdLst>
                <a:gd name="T0" fmla="*/ 124 w 574"/>
                <a:gd name="T1" fmla="*/ 391 h 596"/>
                <a:gd name="T2" fmla="*/ 0 w 574"/>
                <a:gd name="T3" fmla="*/ 391 h 596"/>
                <a:gd name="T4" fmla="*/ 0 w 574"/>
                <a:gd name="T5" fmla="*/ 596 h 596"/>
                <a:gd name="T6" fmla="*/ 574 w 574"/>
                <a:gd name="T7" fmla="*/ 596 h 596"/>
                <a:gd name="T8" fmla="*/ 574 w 574"/>
                <a:gd name="T9" fmla="*/ 391 h 596"/>
                <a:gd name="T10" fmla="*/ 446 w 574"/>
                <a:gd name="T11" fmla="*/ 391 h 596"/>
                <a:gd name="T12" fmla="*/ 446 w 574"/>
                <a:gd name="T13" fmla="*/ 364 h 596"/>
                <a:gd name="T14" fmla="*/ 500 w 574"/>
                <a:gd name="T15" fmla="*/ 364 h 596"/>
                <a:gd name="T16" fmla="*/ 500 w 574"/>
                <a:gd name="T17" fmla="*/ 0 h 596"/>
                <a:gd name="T18" fmla="*/ 70 w 574"/>
                <a:gd name="T19" fmla="*/ 0 h 596"/>
                <a:gd name="T20" fmla="*/ 70 w 574"/>
                <a:gd name="T21" fmla="*/ 364 h 596"/>
                <a:gd name="T22" fmla="*/ 124 w 574"/>
                <a:gd name="T23" fmla="*/ 364 h 596"/>
                <a:gd name="T24" fmla="*/ 124 w 574"/>
                <a:gd name="T25" fmla="*/ 391 h 5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74"/>
                <a:gd name="T40" fmla="*/ 0 h 596"/>
                <a:gd name="T41" fmla="*/ 574 w 574"/>
                <a:gd name="T42" fmla="*/ 596 h 59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74" h="596">
                  <a:moveTo>
                    <a:pt x="124" y="391"/>
                  </a:moveTo>
                  <a:lnTo>
                    <a:pt x="0" y="391"/>
                  </a:lnTo>
                  <a:lnTo>
                    <a:pt x="0" y="596"/>
                  </a:lnTo>
                  <a:lnTo>
                    <a:pt x="574" y="596"/>
                  </a:lnTo>
                  <a:lnTo>
                    <a:pt x="574" y="391"/>
                  </a:lnTo>
                  <a:lnTo>
                    <a:pt x="446" y="391"/>
                  </a:lnTo>
                  <a:lnTo>
                    <a:pt x="446" y="364"/>
                  </a:lnTo>
                  <a:lnTo>
                    <a:pt x="500" y="364"/>
                  </a:lnTo>
                  <a:lnTo>
                    <a:pt x="500" y="0"/>
                  </a:lnTo>
                  <a:lnTo>
                    <a:pt x="70" y="0"/>
                  </a:lnTo>
                  <a:lnTo>
                    <a:pt x="70" y="364"/>
                  </a:lnTo>
                  <a:lnTo>
                    <a:pt x="124" y="364"/>
                  </a:lnTo>
                  <a:lnTo>
                    <a:pt x="124" y="391"/>
                  </a:lnTo>
                  <a:close/>
                </a:path>
              </a:pathLst>
            </a:custGeom>
            <a:solidFill>
              <a:srgbClr val="FFFFFF"/>
            </a:solidFill>
            <a:ln w="158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06" name="Line 54"/>
            <p:cNvSpPr>
              <a:spLocks noChangeShapeType="1"/>
            </p:cNvSpPr>
            <p:nvPr/>
          </p:nvSpPr>
          <p:spPr bwMode="auto">
            <a:xfrm>
              <a:off x="1138" y="1303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07" name="Line 55"/>
            <p:cNvSpPr>
              <a:spLocks noChangeShapeType="1"/>
            </p:cNvSpPr>
            <p:nvPr/>
          </p:nvSpPr>
          <p:spPr bwMode="auto">
            <a:xfrm>
              <a:off x="1138" y="1276"/>
              <a:ext cx="32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08" name="Freeform 56"/>
            <p:cNvSpPr>
              <a:spLocks noEditPoints="1"/>
            </p:cNvSpPr>
            <p:nvPr/>
          </p:nvSpPr>
          <p:spPr bwMode="auto">
            <a:xfrm>
              <a:off x="1310" y="1323"/>
              <a:ext cx="233" cy="168"/>
            </a:xfrm>
            <a:custGeom>
              <a:avLst/>
              <a:gdLst>
                <a:gd name="T0" fmla="*/ 0 w 233"/>
                <a:gd name="T1" fmla="*/ 168 h 168"/>
                <a:gd name="T2" fmla="*/ 188 w 233"/>
                <a:gd name="T3" fmla="*/ 168 h 168"/>
                <a:gd name="T4" fmla="*/ 188 w 233"/>
                <a:gd name="T5" fmla="*/ 0 h 168"/>
                <a:gd name="T6" fmla="*/ 0 w 233"/>
                <a:gd name="T7" fmla="*/ 0 h 168"/>
                <a:gd name="T8" fmla="*/ 0 w 233"/>
                <a:gd name="T9" fmla="*/ 168 h 168"/>
                <a:gd name="T10" fmla="*/ 204 w 233"/>
                <a:gd name="T11" fmla="*/ 26 h 168"/>
                <a:gd name="T12" fmla="*/ 233 w 233"/>
                <a:gd name="T13" fmla="*/ 26 h 168"/>
                <a:gd name="T14" fmla="*/ 233 w 233"/>
                <a:gd name="T15" fmla="*/ 0 h 168"/>
                <a:gd name="T16" fmla="*/ 204 w 233"/>
                <a:gd name="T17" fmla="*/ 0 h 168"/>
                <a:gd name="T18" fmla="*/ 204 w 233"/>
                <a:gd name="T19" fmla="*/ 26 h 1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33"/>
                <a:gd name="T31" fmla="*/ 0 h 168"/>
                <a:gd name="T32" fmla="*/ 233 w 233"/>
                <a:gd name="T33" fmla="*/ 168 h 16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33" h="168">
                  <a:moveTo>
                    <a:pt x="0" y="168"/>
                  </a:moveTo>
                  <a:lnTo>
                    <a:pt x="188" y="168"/>
                  </a:lnTo>
                  <a:lnTo>
                    <a:pt x="188" y="0"/>
                  </a:lnTo>
                  <a:lnTo>
                    <a:pt x="0" y="0"/>
                  </a:lnTo>
                  <a:lnTo>
                    <a:pt x="0" y="168"/>
                  </a:lnTo>
                  <a:close/>
                  <a:moveTo>
                    <a:pt x="204" y="26"/>
                  </a:moveTo>
                  <a:lnTo>
                    <a:pt x="233" y="26"/>
                  </a:lnTo>
                  <a:lnTo>
                    <a:pt x="233" y="0"/>
                  </a:lnTo>
                  <a:lnTo>
                    <a:pt x="204" y="0"/>
                  </a:lnTo>
                  <a:lnTo>
                    <a:pt x="204" y="26"/>
                  </a:lnTo>
                  <a:close/>
                </a:path>
              </a:pathLst>
            </a:custGeom>
            <a:solidFill>
              <a:srgbClr val="FFFFFF"/>
            </a:solidFill>
            <a:ln w="47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09" name="Line 57"/>
            <p:cNvSpPr>
              <a:spLocks noChangeShapeType="1"/>
            </p:cNvSpPr>
            <p:nvPr/>
          </p:nvSpPr>
          <p:spPr bwMode="auto">
            <a:xfrm>
              <a:off x="1310" y="1379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10" name="Line 58"/>
            <p:cNvSpPr>
              <a:spLocks noChangeShapeType="1"/>
            </p:cNvSpPr>
            <p:nvPr/>
          </p:nvSpPr>
          <p:spPr bwMode="auto">
            <a:xfrm>
              <a:off x="1310" y="1435"/>
              <a:ext cx="188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11" name="Line 59"/>
            <p:cNvSpPr>
              <a:spLocks noChangeShapeType="1"/>
            </p:cNvSpPr>
            <p:nvPr/>
          </p:nvSpPr>
          <p:spPr bwMode="auto">
            <a:xfrm>
              <a:off x="1317" y="1405"/>
              <a:ext cx="17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12" name="Rectangle 60"/>
            <p:cNvSpPr>
              <a:spLocks noChangeArrowheads="1"/>
            </p:cNvSpPr>
            <p:nvPr/>
          </p:nvSpPr>
          <p:spPr bwMode="auto">
            <a:xfrm>
              <a:off x="1416" y="1389"/>
              <a:ext cx="54" cy="36"/>
            </a:xfrm>
            <a:prstGeom prst="rect">
              <a:avLst/>
            </a:prstGeom>
            <a:noFill/>
            <a:ln w="4763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endParaRPr lang="en-US" b="0">
                <a:latin typeface="Helvetica" charset="0"/>
              </a:endParaRPr>
            </a:p>
          </p:txBody>
        </p:sp>
        <p:sp>
          <p:nvSpPr>
            <p:cNvPr id="36913" name="Freeform 61"/>
            <p:cNvSpPr>
              <a:spLocks noEditPoints="1"/>
            </p:cNvSpPr>
            <p:nvPr/>
          </p:nvSpPr>
          <p:spPr bwMode="auto">
            <a:xfrm>
              <a:off x="1030" y="955"/>
              <a:ext cx="538" cy="401"/>
            </a:xfrm>
            <a:custGeom>
              <a:avLst/>
              <a:gdLst>
                <a:gd name="T0" fmla="*/ 452 w 538"/>
                <a:gd name="T1" fmla="*/ 285 h 401"/>
                <a:gd name="T2" fmla="*/ 472 w 538"/>
                <a:gd name="T3" fmla="*/ 285 h 401"/>
                <a:gd name="T4" fmla="*/ 472 w 538"/>
                <a:gd name="T5" fmla="*/ 278 h 401"/>
                <a:gd name="T6" fmla="*/ 452 w 538"/>
                <a:gd name="T7" fmla="*/ 278 h 401"/>
                <a:gd name="T8" fmla="*/ 452 w 538"/>
                <a:gd name="T9" fmla="*/ 285 h 401"/>
                <a:gd name="T10" fmla="*/ 121 w 538"/>
                <a:gd name="T11" fmla="*/ 239 h 401"/>
                <a:gd name="T12" fmla="*/ 121 w 538"/>
                <a:gd name="T13" fmla="*/ 27 h 401"/>
                <a:gd name="T14" fmla="*/ 417 w 538"/>
                <a:gd name="T15" fmla="*/ 27 h 401"/>
                <a:gd name="T16" fmla="*/ 417 w 538"/>
                <a:gd name="T17" fmla="*/ 239 h 401"/>
                <a:gd name="T18" fmla="*/ 121 w 538"/>
                <a:gd name="T19" fmla="*/ 239 h 401"/>
                <a:gd name="T20" fmla="*/ 108 w 538"/>
                <a:gd name="T21" fmla="*/ 252 h 401"/>
                <a:gd name="T22" fmla="*/ 430 w 538"/>
                <a:gd name="T23" fmla="*/ 252 h 401"/>
                <a:gd name="T24" fmla="*/ 430 w 538"/>
                <a:gd name="T25" fmla="*/ 14 h 401"/>
                <a:gd name="T26" fmla="*/ 446 w 538"/>
                <a:gd name="T27" fmla="*/ 14 h 401"/>
                <a:gd name="T28" fmla="*/ 446 w 538"/>
                <a:gd name="T29" fmla="*/ 0 h 401"/>
                <a:gd name="T30" fmla="*/ 96 w 538"/>
                <a:gd name="T31" fmla="*/ 0 h 401"/>
                <a:gd name="T32" fmla="*/ 96 w 538"/>
                <a:gd name="T33" fmla="*/ 265 h 401"/>
                <a:gd name="T34" fmla="*/ 108 w 538"/>
                <a:gd name="T35" fmla="*/ 265 h 401"/>
                <a:gd name="T36" fmla="*/ 108 w 538"/>
                <a:gd name="T37" fmla="*/ 252 h 401"/>
                <a:gd name="T38" fmla="*/ 0 w 538"/>
                <a:gd name="T39" fmla="*/ 388 h 401"/>
                <a:gd name="T40" fmla="*/ 54 w 538"/>
                <a:gd name="T41" fmla="*/ 388 h 401"/>
                <a:gd name="T42" fmla="*/ 54 w 538"/>
                <a:gd name="T43" fmla="*/ 368 h 401"/>
                <a:gd name="T44" fmla="*/ 0 w 538"/>
                <a:gd name="T45" fmla="*/ 368 h 401"/>
                <a:gd name="T46" fmla="*/ 0 w 538"/>
                <a:gd name="T47" fmla="*/ 388 h 401"/>
                <a:gd name="T48" fmla="*/ 316 w 538"/>
                <a:gd name="T49" fmla="*/ 401 h 401"/>
                <a:gd name="T50" fmla="*/ 430 w 538"/>
                <a:gd name="T51" fmla="*/ 401 h 401"/>
                <a:gd name="T52" fmla="*/ 430 w 538"/>
                <a:gd name="T53" fmla="*/ 391 h 401"/>
                <a:gd name="T54" fmla="*/ 316 w 538"/>
                <a:gd name="T55" fmla="*/ 391 h 401"/>
                <a:gd name="T56" fmla="*/ 316 w 538"/>
                <a:gd name="T57" fmla="*/ 401 h 401"/>
                <a:gd name="T58" fmla="*/ 523 w 538"/>
                <a:gd name="T59" fmla="*/ 378 h 401"/>
                <a:gd name="T60" fmla="*/ 538 w 538"/>
                <a:gd name="T61" fmla="*/ 378 h 401"/>
                <a:gd name="T62" fmla="*/ 538 w 538"/>
                <a:gd name="T63" fmla="*/ 368 h 401"/>
                <a:gd name="T64" fmla="*/ 523 w 538"/>
                <a:gd name="T65" fmla="*/ 368 h 401"/>
                <a:gd name="T66" fmla="*/ 523 w 538"/>
                <a:gd name="T67" fmla="*/ 378 h 401"/>
                <a:gd name="T68" fmla="*/ 523 w 538"/>
                <a:gd name="T69" fmla="*/ 394 h 401"/>
                <a:gd name="T70" fmla="*/ 538 w 538"/>
                <a:gd name="T71" fmla="*/ 394 h 401"/>
                <a:gd name="T72" fmla="*/ 538 w 538"/>
                <a:gd name="T73" fmla="*/ 388 h 401"/>
                <a:gd name="T74" fmla="*/ 523 w 538"/>
                <a:gd name="T75" fmla="*/ 388 h 401"/>
                <a:gd name="T76" fmla="*/ 523 w 538"/>
                <a:gd name="T77" fmla="*/ 394 h 401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538"/>
                <a:gd name="T118" fmla="*/ 0 h 401"/>
                <a:gd name="T119" fmla="*/ 538 w 538"/>
                <a:gd name="T120" fmla="*/ 401 h 401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538" h="401">
                  <a:moveTo>
                    <a:pt x="452" y="285"/>
                  </a:moveTo>
                  <a:lnTo>
                    <a:pt x="472" y="285"/>
                  </a:lnTo>
                  <a:lnTo>
                    <a:pt x="472" y="278"/>
                  </a:lnTo>
                  <a:lnTo>
                    <a:pt x="452" y="278"/>
                  </a:lnTo>
                  <a:lnTo>
                    <a:pt x="452" y="285"/>
                  </a:lnTo>
                  <a:close/>
                  <a:moveTo>
                    <a:pt x="121" y="239"/>
                  </a:moveTo>
                  <a:lnTo>
                    <a:pt x="121" y="27"/>
                  </a:lnTo>
                  <a:lnTo>
                    <a:pt x="417" y="27"/>
                  </a:lnTo>
                  <a:lnTo>
                    <a:pt x="417" y="239"/>
                  </a:lnTo>
                  <a:lnTo>
                    <a:pt x="121" y="239"/>
                  </a:lnTo>
                  <a:close/>
                  <a:moveTo>
                    <a:pt x="108" y="252"/>
                  </a:moveTo>
                  <a:lnTo>
                    <a:pt x="430" y="252"/>
                  </a:lnTo>
                  <a:lnTo>
                    <a:pt x="430" y="14"/>
                  </a:lnTo>
                  <a:lnTo>
                    <a:pt x="446" y="14"/>
                  </a:lnTo>
                  <a:lnTo>
                    <a:pt x="446" y="0"/>
                  </a:lnTo>
                  <a:lnTo>
                    <a:pt x="96" y="0"/>
                  </a:lnTo>
                  <a:lnTo>
                    <a:pt x="96" y="265"/>
                  </a:lnTo>
                  <a:lnTo>
                    <a:pt x="108" y="265"/>
                  </a:lnTo>
                  <a:lnTo>
                    <a:pt x="108" y="252"/>
                  </a:lnTo>
                  <a:close/>
                  <a:moveTo>
                    <a:pt x="0" y="388"/>
                  </a:moveTo>
                  <a:lnTo>
                    <a:pt x="54" y="388"/>
                  </a:lnTo>
                  <a:lnTo>
                    <a:pt x="54" y="368"/>
                  </a:lnTo>
                  <a:lnTo>
                    <a:pt x="0" y="368"/>
                  </a:lnTo>
                  <a:lnTo>
                    <a:pt x="0" y="388"/>
                  </a:lnTo>
                  <a:close/>
                  <a:moveTo>
                    <a:pt x="316" y="401"/>
                  </a:moveTo>
                  <a:lnTo>
                    <a:pt x="430" y="401"/>
                  </a:lnTo>
                  <a:lnTo>
                    <a:pt x="430" y="391"/>
                  </a:lnTo>
                  <a:lnTo>
                    <a:pt x="316" y="391"/>
                  </a:lnTo>
                  <a:lnTo>
                    <a:pt x="316" y="401"/>
                  </a:lnTo>
                  <a:close/>
                  <a:moveTo>
                    <a:pt x="523" y="378"/>
                  </a:moveTo>
                  <a:lnTo>
                    <a:pt x="538" y="378"/>
                  </a:lnTo>
                  <a:lnTo>
                    <a:pt x="538" y="368"/>
                  </a:lnTo>
                  <a:lnTo>
                    <a:pt x="523" y="368"/>
                  </a:lnTo>
                  <a:lnTo>
                    <a:pt x="523" y="378"/>
                  </a:lnTo>
                  <a:close/>
                  <a:moveTo>
                    <a:pt x="523" y="394"/>
                  </a:moveTo>
                  <a:lnTo>
                    <a:pt x="538" y="394"/>
                  </a:lnTo>
                  <a:lnTo>
                    <a:pt x="538" y="388"/>
                  </a:lnTo>
                  <a:lnTo>
                    <a:pt x="523" y="388"/>
                  </a:lnTo>
                  <a:lnTo>
                    <a:pt x="523" y="394"/>
                  </a:lnTo>
                  <a:close/>
                </a:path>
              </a:pathLst>
            </a:custGeom>
            <a:solidFill>
              <a:srgbClr val="000000"/>
            </a:solidFill>
            <a:ln w="47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14" name="Line 62"/>
            <p:cNvSpPr>
              <a:spLocks noChangeShapeType="1"/>
            </p:cNvSpPr>
            <p:nvPr/>
          </p:nvSpPr>
          <p:spPr bwMode="auto">
            <a:xfrm>
              <a:off x="1084" y="1257"/>
              <a:ext cx="430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15" name="Line 63"/>
            <p:cNvSpPr>
              <a:spLocks noChangeShapeType="1"/>
            </p:cNvSpPr>
            <p:nvPr/>
          </p:nvSpPr>
          <p:spPr bwMode="auto">
            <a:xfrm flipV="1">
              <a:off x="1193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16" name="Line 64"/>
            <p:cNvSpPr>
              <a:spLocks noChangeShapeType="1"/>
            </p:cNvSpPr>
            <p:nvPr/>
          </p:nvSpPr>
          <p:spPr bwMode="auto">
            <a:xfrm flipV="1">
              <a:off x="1301" y="1257"/>
              <a:ext cx="1" cy="19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36885" name="AutoShape 65"/>
          <p:cNvCxnSpPr>
            <a:cxnSpLocks noChangeShapeType="1"/>
            <a:stCxn id="36883" idx="3"/>
          </p:cNvCxnSpPr>
          <p:nvPr/>
        </p:nvCxnSpPr>
        <p:spPr bwMode="auto">
          <a:xfrm flipV="1">
            <a:off x="7346952" y="5314952"/>
            <a:ext cx="449263" cy="2857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</p:spPr>
      </p:cxnSp>
      <p:cxnSp>
        <p:nvCxnSpPr>
          <p:cNvPr id="36886" name="AutoShape 66"/>
          <p:cNvCxnSpPr>
            <a:cxnSpLocks noChangeShapeType="1"/>
            <a:stCxn id="36887" idx="3"/>
            <a:endCxn id="36883" idx="1"/>
          </p:cNvCxnSpPr>
          <p:nvPr/>
        </p:nvCxnSpPr>
        <p:spPr bwMode="auto">
          <a:xfrm flipV="1">
            <a:off x="5410200" y="5343525"/>
            <a:ext cx="1752600" cy="357188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</p:spPr>
      </p:cxnSp>
      <p:sp>
        <p:nvSpPr>
          <p:cNvPr id="36887" name="Rectangle 67"/>
          <p:cNvSpPr>
            <a:spLocks noChangeArrowheads="1"/>
          </p:cNvSpPr>
          <p:nvPr/>
        </p:nvSpPr>
        <p:spPr bwMode="auto">
          <a:xfrm>
            <a:off x="5226050" y="5614988"/>
            <a:ext cx="184150" cy="171450"/>
          </a:xfrm>
          <a:prstGeom prst="rect">
            <a:avLst/>
          </a:prstGeom>
          <a:solidFill>
            <a:schemeClr val="folHlink"/>
          </a:solidFill>
          <a:ln w="9525">
            <a:miter lim="800000"/>
          </a:ln>
          <a:scene3d>
            <a:camera prst="legacyObliqueTopLeft"/>
            <a:lightRig rig="legacyFlat3" dir="t"/>
          </a:scene3d>
          <a:sp3d extrusionH="125400" prstMaterial="legacyMatte">
            <a:bevelT w="13500" h="13500" prst="angle"/>
            <a:bevelB w="13500" h="13500" prst="angle"/>
            <a:extrusionClr>
              <a:schemeClr val="folHlink"/>
            </a:extrusionClr>
          </a:sp3d>
        </p:spPr>
        <p:txBody>
          <a:bodyPr wrap="none" lIns="90488" tIns="44450" rIns="90488" bIns="44450" anchor="ctr">
            <a:flatTx/>
          </a:bodyPr>
          <a:lstStyle/>
          <a:p>
            <a:endParaRPr lang="en-US" b="0">
              <a:latin typeface="Helvetica" charset="0"/>
            </a:endParaRPr>
          </a:p>
        </p:txBody>
      </p:sp>
      <p:cxnSp>
        <p:nvCxnSpPr>
          <p:cNvPr id="36888" name="AutoShape 68"/>
          <p:cNvCxnSpPr>
            <a:cxnSpLocks noChangeShapeType="1"/>
            <a:stCxn id="36878" idx="3"/>
            <a:endCxn id="36887" idx="1"/>
          </p:cNvCxnSpPr>
          <p:nvPr/>
        </p:nvCxnSpPr>
        <p:spPr bwMode="auto">
          <a:xfrm>
            <a:off x="3536950" y="5343525"/>
            <a:ext cx="1689100" cy="357188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</p:spPr>
      </p:cxnSp>
      <p:sp>
        <p:nvSpPr>
          <p:cNvPr id="36889" name="Text Box 76"/>
          <p:cNvSpPr txBox="1">
            <a:spLocks noChangeArrowheads="1"/>
          </p:cNvSpPr>
          <p:nvPr/>
        </p:nvSpPr>
        <p:spPr bwMode="auto">
          <a:xfrm>
            <a:off x="152402" y="3962402"/>
            <a:ext cx="1095375" cy="8302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r>
              <a:rPr lang="en-US" b="0">
                <a:latin typeface="Helvetica" charset="0"/>
              </a:rPr>
              <a:t>Host A</a:t>
            </a:r>
            <a:endParaRPr lang="en-US" b="0">
              <a:latin typeface="Helvetica" charset="0"/>
            </a:endParaRPr>
          </a:p>
          <a:p>
            <a:pPr eaLnBrk="1" hangingPunct="1"/>
            <a:r>
              <a:rPr lang="en-US" b="0">
                <a:latin typeface="Helvetica" charset="0"/>
              </a:rPr>
              <a:t>(IP A)</a:t>
            </a:r>
            <a:endParaRPr lang="en-US" b="0">
              <a:latin typeface="Helvetica" charset="0"/>
            </a:endParaRPr>
          </a:p>
        </p:txBody>
      </p:sp>
      <p:sp>
        <p:nvSpPr>
          <p:cNvPr id="36890" name="Text Box 77"/>
          <p:cNvSpPr txBox="1">
            <a:spLocks noChangeArrowheads="1"/>
          </p:cNvSpPr>
          <p:nvPr/>
        </p:nvSpPr>
        <p:spPr bwMode="auto">
          <a:xfrm>
            <a:off x="7543802" y="4114802"/>
            <a:ext cx="1192955" cy="83099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r>
              <a:rPr lang="en-US" b="0">
                <a:latin typeface="Helvetica" charset="0"/>
              </a:rPr>
              <a:t>Host B </a:t>
            </a:r>
            <a:endParaRPr lang="en-US" b="0">
              <a:latin typeface="Helvetica" charset="0"/>
            </a:endParaRPr>
          </a:p>
          <a:p>
            <a:pPr eaLnBrk="1" hangingPunct="1"/>
            <a:r>
              <a:rPr lang="en-US" b="0">
                <a:latin typeface="Helvetica" charset="0"/>
              </a:rPr>
              <a:t>(IP B)</a:t>
            </a:r>
            <a:endParaRPr lang="en-US" b="0">
              <a:latin typeface="Helvetica" charset="0"/>
            </a:endParaRPr>
          </a:p>
        </p:txBody>
      </p:sp>
      <p:sp>
        <p:nvSpPr>
          <p:cNvPr id="36891" name="Text Box 78"/>
          <p:cNvSpPr txBox="1">
            <a:spLocks noChangeArrowheads="1"/>
          </p:cNvSpPr>
          <p:nvPr/>
        </p:nvSpPr>
        <p:spPr bwMode="auto">
          <a:xfrm>
            <a:off x="3181350" y="4724402"/>
            <a:ext cx="577850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r>
              <a:rPr lang="en-US" b="0">
                <a:latin typeface="Helvetica" charset="0"/>
              </a:rPr>
              <a:t>R2</a:t>
            </a:r>
            <a:endParaRPr lang="en-US" b="0">
              <a:latin typeface="Helvetica" charset="0"/>
            </a:endParaRPr>
          </a:p>
        </p:txBody>
      </p:sp>
      <p:sp>
        <p:nvSpPr>
          <p:cNvPr id="36892" name="Text Box 79"/>
          <p:cNvSpPr txBox="1">
            <a:spLocks noChangeArrowheads="1"/>
          </p:cNvSpPr>
          <p:nvPr/>
        </p:nvSpPr>
        <p:spPr bwMode="auto">
          <a:xfrm>
            <a:off x="5086350" y="5105402"/>
            <a:ext cx="577850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r>
              <a:rPr lang="en-US" b="0">
                <a:latin typeface="Helvetica" charset="0"/>
              </a:rPr>
              <a:t>R3</a:t>
            </a:r>
            <a:endParaRPr lang="en-US" b="0">
              <a:latin typeface="Helvetica" charset="0"/>
            </a:endParaRPr>
          </a:p>
        </p:txBody>
      </p:sp>
      <p:sp>
        <p:nvSpPr>
          <p:cNvPr id="36893" name="Rectangle 83"/>
          <p:cNvSpPr>
            <a:spLocks noChangeArrowheads="1"/>
          </p:cNvSpPr>
          <p:nvPr/>
        </p:nvSpPr>
        <p:spPr bwMode="auto">
          <a:xfrm>
            <a:off x="5181600" y="4700588"/>
            <a:ext cx="184150" cy="171450"/>
          </a:xfrm>
          <a:prstGeom prst="rect">
            <a:avLst/>
          </a:prstGeom>
          <a:solidFill>
            <a:schemeClr val="folHlink"/>
          </a:solidFill>
          <a:ln w="9525">
            <a:miter lim="800000"/>
          </a:ln>
          <a:scene3d>
            <a:camera prst="legacyObliqueTopLeft"/>
            <a:lightRig rig="legacyFlat3" dir="t"/>
          </a:scene3d>
          <a:sp3d extrusionH="125400" prstMaterial="legacyMatte">
            <a:bevelT w="13500" h="13500" prst="angle"/>
            <a:bevelB w="13500" h="13500" prst="angle"/>
            <a:extrusionClr>
              <a:schemeClr val="folHlink"/>
            </a:extrusionClr>
          </a:sp3d>
        </p:spPr>
        <p:txBody>
          <a:bodyPr wrap="none" lIns="90488" tIns="44450" rIns="90488" bIns="44450" anchor="ctr">
            <a:flatTx/>
          </a:bodyPr>
          <a:lstStyle/>
          <a:p>
            <a:endParaRPr lang="en-US" b="0">
              <a:latin typeface="Helvetica" charset="0"/>
            </a:endParaRPr>
          </a:p>
        </p:txBody>
      </p:sp>
      <p:cxnSp>
        <p:nvCxnSpPr>
          <p:cNvPr id="36894" name="AutoShape 85"/>
          <p:cNvCxnSpPr>
            <a:cxnSpLocks noChangeShapeType="1"/>
            <a:stCxn id="36878" idx="3"/>
            <a:endCxn id="36893" idx="1"/>
          </p:cNvCxnSpPr>
          <p:nvPr/>
        </p:nvCxnSpPr>
        <p:spPr bwMode="auto">
          <a:xfrm flipV="1">
            <a:off x="3536950" y="4786313"/>
            <a:ext cx="1644650" cy="55721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</p:spPr>
      </p:cxnSp>
      <p:sp>
        <p:nvSpPr>
          <p:cNvPr id="36895" name="Text Box 86"/>
          <p:cNvSpPr txBox="1">
            <a:spLocks noChangeArrowheads="1"/>
          </p:cNvSpPr>
          <p:nvPr/>
        </p:nvSpPr>
        <p:spPr bwMode="auto">
          <a:xfrm>
            <a:off x="5029200" y="4191002"/>
            <a:ext cx="577850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r>
              <a:rPr lang="en-US" b="0">
                <a:latin typeface="Helvetica" charset="0"/>
              </a:rPr>
              <a:t>R4</a:t>
            </a:r>
            <a:endParaRPr lang="en-US" b="0">
              <a:latin typeface="Helvetica" charset="0"/>
            </a:endParaRPr>
          </a:p>
        </p:txBody>
      </p:sp>
      <p:cxnSp>
        <p:nvCxnSpPr>
          <p:cNvPr id="36896" name="AutoShape 87"/>
          <p:cNvCxnSpPr>
            <a:cxnSpLocks noChangeShapeType="1"/>
            <a:stCxn id="36893" idx="3"/>
            <a:endCxn id="36883" idx="1"/>
          </p:cNvCxnSpPr>
          <p:nvPr/>
        </p:nvCxnSpPr>
        <p:spPr bwMode="auto">
          <a:xfrm>
            <a:off x="5365750" y="4786313"/>
            <a:ext cx="1797050" cy="55721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</p:spPr>
      </p:cxnSp>
      <p:cxnSp>
        <p:nvCxnSpPr>
          <p:cNvPr id="36897" name="AutoShape 26"/>
          <p:cNvCxnSpPr>
            <a:cxnSpLocks noChangeShapeType="1"/>
            <a:stCxn id="36946" idx="2"/>
            <a:endCxn id="36899" idx="1"/>
          </p:cNvCxnSpPr>
          <p:nvPr/>
        </p:nvCxnSpPr>
        <p:spPr bwMode="auto">
          <a:xfrm rot="10800000" flipH="1" flipV="1">
            <a:off x="1257300" y="5172075"/>
            <a:ext cx="996950" cy="8382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</p:spPr>
      </p:cxnSp>
      <p:cxnSp>
        <p:nvCxnSpPr>
          <p:cNvPr id="36898" name="AutoShape 26"/>
          <p:cNvCxnSpPr>
            <a:cxnSpLocks noChangeShapeType="1"/>
            <a:stCxn id="36942" idx="4"/>
            <a:endCxn id="36945" idx="6"/>
          </p:cNvCxnSpPr>
          <p:nvPr/>
        </p:nvCxnSpPr>
        <p:spPr bwMode="auto">
          <a:xfrm rot="5400000" flipH="1" flipV="1">
            <a:off x="2579690" y="5168902"/>
            <a:ext cx="612775" cy="10890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</a:ln>
        </p:spPr>
      </p:cxnSp>
      <p:sp>
        <p:nvSpPr>
          <p:cNvPr id="36899" name="Rectangle 24"/>
          <p:cNvSpPr>
            <a:spLocks noChangeArrowheads="1"/>
          </p:cNvSpPr>
          <p:nvPr/>
        </p:nvSpPr>
        <p:spPr bwMode="auto">
          <a:xfrm>
            <a:off x="2254250" y="5924550"/>
            <a:ext cx="184150" cy="171450"/>
          </a:xfrm>
          <a:prstGeom prst="rect">
            <a:avLst/>
          </a:prstGeom>
          <a:solidFill>
            <a:srgbClr val="EAEAEA"/>
          </a:solidFill>
          <a:ln w="9525">
            <a:miter lim="800000"/>
          </a:ln>
          <a:scene3d>
            <a:camera prst="legacyObliqueTopLeft"/>
            <a:lightRig rig="legacyFlat3" dir="t"/>
          </a:scene3d>
          <a:sp3d extrusionH="125400" prstMaterial="legacyMatte">
            <a:bevelT w="13500" h="13500" prst="angle"/>
            <a:bevelB w="13500" h="13500" prst="angle"/>
            <a:extrusionClr>
              <a:srgbClr val="EAEAEA"/>
            </a:extrusionClr>
          </a:sp3d>
        </p:spPr>
        <p:txBody>
          <a:bodyPr wrap="none" lIns="90488" tIns="44450" rIns="90488" bIns="44450" anchor="ctr">
            <a:flatTx/>
          </a:bodyPr>
          <a:lstStyle/>
          <a:p>
            <a:endParaRPr lang="en-US" b="0">
              <a:latin typeface="Helvetica" charset="0"/>
            </a:endParaRPr>
          </a:p>
        </p:txBody>
      </p:sp>
      <p:sp>
        <p:nvSpPr>
          <p:cNvPr id="36900" name="Text Box 78"/>
          <p:cNvSpPr txBox="1">
            <a:spLocks noChangeArrowheads="1"/>
          </p:cNvSpPr>
          <p:nvPr/>
        </p:nvSpPr>
        <p:spPr bwMode="auto">
          <a:xfrm>
            <a:off x="2133600" y="6015038"/>
            <a:ext cx="577850" cy="4619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r>
              <a:rPr lang="en-US" b="0">
                <a:latin typeface="Helvetica" charset="0"/>
              </a:rPr>
              <a:t>R1</a:t>
            </a:r>
            <a:endParaRPr lang="en-US" b="0">
              <a:latin typeface="Helvetica" charset="0"/>
            </a:endParaRPr>
          </a:p>
        </p:txBody>
      </p:sp>
      <p:sp>
        <p:nvSpPr>
          <p:cNvPr id="36901" name="Freeform 132"/>
          <p:cNvSpPr>
            <a:spLocks noChangeArrowheads="1"/>
          </p:cNvSpPr>
          <p:nvPr/>
        </p:nvSpPr>
        <p:spPr bwMode="auto">
          <a:xfrm>
            <a:off x="846138" y="4506913"/>
            <a:ext cx="6926262" cy="722312"/>
          </a:xfrm>
          <a:custGeom>
            <a:avLst/>
            <a:gdLst>
              <a:gd name="T0" fmla="*/ 0 w 6925733"/>
              <a:gd name="T1" fmla="*/ 435625 h 722489"/>
              <a:gd name="T2" fmla="*/ 695167 w 6925733"/>
              <a:gd name="T3" fmla="*/ 452491 h 722489"/>
              <a:gd name="T4" fmla="*/ 2305925 w 6925733"/>
              <a:gd name="T5" fmla="*/ 621118 h 722489"/>
              <a:gd name="T6" fmla="*/ 2712852 w 6925733"/>
              <a:gd name="T7" fmla="*/ 604257 h 722489"/>
              <a:gd name="T8" fmla="*/ 4204923 w 6925733"/>
              <a:gd name="T9" fmla="*/ 98370 h 722489"/>
              <a:gd name="T10" fmla="*/ 4476212 w 6925733"/>
              <a:gd name="T11" fmla="*/ 14060 h 722489"/>
              <a:gd name="T12" fmla="*/ 4696627 w 6925733"/>
              <a:gd name="T13" fmla="*/ 98370 h 722489"/>
              <a:gd name="T14" fmla="*/ 6171740 w 6925733"/>
              <a:gd name="T15" fmla="*/ 621118 h 722489"/>
              <a:gd name="T16" fmla="*/ 6934730 w 6925733"/>
              <a:gd name="T17" fmla="*/ 688571 h 72248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6925733"/>
              <a:gd name="T28" fmla="*/ 0 h 722489"/>
              <a:gd name="T29" fmla="*/ 6925733 w 6925733"/>
              <a:gd name="T30" fmla="*/ 722489 h 722489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6925733" h="722489">
                <a:moveTo>
                  <a:pt x="0" y="437444"/>
                </a:moveTo>
                <a:cubicBezTo>
                  <a:pt x="155222" y="430389"/>
                  <a:pt x="310444" y="423334"/>
                  <a:pt x="694266" y="454378"/>
                </a:cubicBezTo>
                <a:cubicBezTo>
                  <a:pt x="1078088" y="485423"/>
                  <a:pt x="1967089" y="598311"/>
                  <a:pt x="2302933" y="623711"/>
                </a:cubicBezTo>
                <a:cubicBezTo>
                  <a:pt x="2638777" y="649111"/>
                  <a:pt x="2393244" y="694267"/>
                  <a:pt x="2709333" y="606778"/>
                </a:cubicBezTo>
                <a:cubicBezTo>
                  <a:pt x="3025422" y="519289"/>
                  <a:pt x="3905955" y="197556"/>
                  <a:pt x="4199466" y="98778"/>
                </a:cubicBezTo>
                <a:cubicBezTo>
                  <a:pt x="4492977" y="0"/>
                  <a:pt x="4388556" y="14111"/>
                  <a:pt x="4470400" y="14111"/>
                </a:cubicBezTo>
                <a:cubicBezTo>
                  <a:pt x="4552244" y="14111"/>
                  <a:pt x="4690533" y="98778"/>
                  <a:pt x="4690533" y="98778"/>
                </a:cubicBezTo>
                <a:cubicBezTo>
                  <a:pt x="4972755" y="200378"/>
                  <a:pt x="5791200" y="524933"/>
                  <a:pt x="6163733" y="623711"/>
                </a:cubicBezTo>
                <a:cubicBezTo>
                  <a:pt x="6536266" y="722489"/>
                  <a:pt x="6925733" y="691444"/>
                  <a:pt x="6925733" y="691444"/>
                </a:cubicBezTo>
              </a:path>
            </a:pathLst>
          </a:custGeom>
          <a:noFill/>
          <a:ln w="50800">
            <a:solidFill>
              <a:srgbClr val="008000"/>
            </a:solidFill>
            <a:round/>
            <a:tailEnd type="triangle" w="med" len="med"/>
          </a:ln>
        </p:spPr>
        <p:txBody>
          <a:bodyPr anchor="ctr"/>
          <a:lstStyle/>
          <a:p>
            <a:endParaRPr lang="en-US"/>
          </a:p>
        </p:txBody>
      </p:sp>
      <p:grpSp>
        <p:nvGrpSpPr>
          <p:cNvPr id="7" name="Group 90"/>
          <p:cNvGrpSpPr/>
          <p:nvPr/>
        </p:nvGrpSpPr>
        <p:grpSpPr bwMode="auto">
          <a:xfrm>
            <a:off x="1219200" y="4648200"/>
            <a:ext cx="1752600" cy="228600"/>
            <a:chOff x="1219200" y="4648200"/>
            <a:chExt cx="1752600" cy="228600"/>
          </a:xfrm>
        </p:grpSpPr>
        <p:sp>
          <p:nvSpPr>
            <p:cNvPr id="36903" name="Rectangle 133"/>
            <p:cNvSpPr>
              <a:spLocks noChangeArrowheads="1"/>
            </p:cNvSpPr>
            <p:nvPr/>
          </p:nvSpPr>
          <p:spPr bwMode="auto">
            <a:xfrm>
              <a:off x="1219200" y="4648200"/>
              <a:ext cx="990600" cy="2286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 type="triangle" w="med" len="med"/>
            </a:ln>
          </p:spPr>
          <p:txBody>
            <a:bodyPr anchor="ctr"/>
            <a:lstStyle/>
            <a:p>
              <a:pPr algn="ctr"/>
              <a:endParaRPr lang="en-US" b="0">
                <a:latin typeface="Helvetica" charset="0"/>
              </a:endParaRPr>
            </a:p>
          </p:txBody>
        </p:sp>
        <p:sp>
          <p:nvSpPr>
            <p:cNvPr id="36904" name="Rectangle 134"/>
            <p:cNvSpPr>
              <a:spLocks noChangeArrowheads="1"/>
            </p:cNvSpPr>
            <p:nvPr/>
          </p:nvSpPr>
          <p:spPr bwMode="auto">
            <a:xfrm>
              <a:off x="2209800" y="4648200"/>
              <a:ext cx="762000" cy="228600"/>
            </a:xfrm>
            <a:prstGeom prst="rect">
              <a:avLst/>
            </a:prstGeom>
            <a:solidFill>
              <a:srgbClr val="CCFFCC"/>
            </a:solidFill>
            <a:ln w="25400">
              <a:solidFill>
                <a:schemeClr val="tx1"/>
              </a:solidFill>
              <a:round/>
              <a:headEnd type="triangle" w="med" len="med"/>
            </a:ln>
          </p:spPr>
          <p:txBody>
            <a:bodyPr anchor="ctr"/>
            <a:lstStyle/>
            <a:p>
              <a:pPr algn="ctr"/>
              <a:r>
                <a:rPr lang="en-US" sz="1600" b="0">
                  <a:latin typeface="Helvetica" charset="0"/>
                </a:rPr>
                <a:t>IP B</a:t>
              </a:r>
              <a:endParaRPr lang="en-US" sz="1600" b="0">
                <a:latin typeface="Helvetica" charset="0"/>
              </a:endParaRPr>
            </a:p>
          </p:txBody>
        </p:sp>
      </p:grpSp>
      <p:sp>
        <p:nvSpPr>
          <p:cNvPr id="92" name="圆角矩形 91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4.44444E-6 L 0.1684 0.04213 L 0.37222 -0.05671 L 0.57031 0.03472 L 0.61476 0.03958 " pathEditMode="relative" ptsTypes="AAA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Naming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addressing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356352"/>
            <a:ext cx="2057400" cy="365125"/>
          </a:xfrm>
          <a:prstGeom prst="rect">
            <a:avLst/>
          </a:prstGeom>
        </p:spPr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Domain</a:t>
            </a:r>
            <a:r>
              <a:rPr kumimoji="1" lang="zh-CN" altLang="en-US" dirty="0"/>
              <a:t> </a:t>
            </a:r>
            <a:r>
              <a:rPr kumimoji="1" lang="en-US" altLang="zh-CN" dirty="0"/>
              <a:t>name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IP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address</a:t>
            </a:r>
            <a:endParaRPr kumimoji="1" lang="en-US" altLang="zh-CN" dirty="0"/>
          </a:p>
          <a:p>
            <a:r>
              <a:rPr kumimoji="1" lang="en-US" altLang="zh-CN" dirty="0"/>
              <a:t>Not</a:t>
            </a:r>
            <a:r>
              <a:rPr kumimoji="1" lang="zh-CN" altLang="en-US" dirty="0"/>
              <a:t> </a:t>
            </a:r>
            <a:r>
              <a:rPr kumimoji="1" lang="en-US" altLang="zh-CN" dirty="0"/>
              <a:t>just</a:t>
            </a:r>
            <a:r>
              <a:rPr kumimoji="1" lang="zh-CN" altLang="en-US" dirty="0"/>
              <a:t> </a:t>
            </a:r>
            <a:r>
              <a:rPr kumimoji="1" lang="en-US" altLang="zh-CN" dirty="0"/>
              <a:t>easier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remember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level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indirection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E.g.</a:t>
            </a:r>
            <a:r>
              <a:rPr kumimoji="1" lang="zh-CN" altLang="en-US" dirty="0"/>
              <a:t> </a:t>
            </a:r>
            <a:r>
              <a:rPr kumimoji="1" lang="en-US" altLang="zh-CN" dirty="0"/>
              <a:t>find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closest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server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E.g.</a:t>
            </a:r>
            <a:r>
              <a:rPr kumimoji="1" lang="zh-CN" altLang="en-US" dirty="0"/>
              <a:t> </a:t>
            </a:r>
            <a:r>
              <a:rPr kumimoji="1" lang="en-US" altLang="zh-CN" dirty="0"/>
              <a:t>avoid</a:t>
            </a:r>
            <a:r>
              <a:rPr kumimoji="1" lang="zh-CN" altLang="en-US" dirty="0"/>
              <a:t> </a:t>
            </a:r>
            <a:r>
              <a:rPr kumimoji="1" lang="en-US" altLang="zh-CN" dirty="0"/>
              <a:t>attacks</a:t>
            </a:r>
            <a:endParaRPr kumimoji="1"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kumimoji="1" lang="zh-CN" altLang="en-US"/>
              <a:t>  </a:t>
            </a:r>
            <a:endParaRPr kumimoji="1"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DNS</a:t>
            </a:r>
            <a:endParaRPr kumimoji="1"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4200" y="3836354"/>
            <a:ext cx="5435600" cy="24638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Typical</a:t>
            </a:r>
            <a:r>
              <a:rPr kumimoji="1" lang="zh-CN" altLang="en-US" dirty="0"/>
              <a:t> </a:t>
            </a:r>
            <a:r>
              <a:rPr kumimoji="1" lang="en-US" altLang="zh-CN" dirty="0"/>
              <a:t>Resolution</a:t>
            </a:r>
            <a:endParaRPr kumimoji="1" lang="zh-CN" altLang="en-US" dirty="0"/>
          </a:p>
        </p:txBody>
      </p:sp>
      <p:sp>
        <p:nvSpPr>
          <p:cNvPr id="4" name="椭圆 3"/>
          <p:cNvSpPr/>
          <p:nvPr/>
        </p:nvSpPr>
        <p:spPr bwMode="auto">
          <a:xfrm>
            <a:off x="470263" y="2377440"/>
            <a:ext cx="1267097" cy="1201783"/>
          </a:xfrm>
          <a:prstGeom prst="ellipse">
            <a:avLst/>
          </a:prstGeom>
          <a:solidFill>
            <a:srgbClr val="FFFFAA"/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zh-CN" altLang="en-US" b="0" dirty="0">
              <a:latin typeface="Helvetica"/>
              <a:cs typeface="Helvetic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3091543" y="2377440"/>
            <a:ext cx="1267097" cy="1201783"/>
          </a:xfrm>
          <a:prstGeom prst="ellipse">
            <a:avLst/>
          </a:prstGeom>
          <a:solidFill>
            <a:srgbClr val="FFFFAA"/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zh-CN" altLang="en-US" b="0" dirty="0">
              <a:latin typeface="Helvetica"/>
              <a:cs typeface="Helvetic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7067006" y="1175657"/>
            <a:ext cx="1267097" cy="1201783"/>
          </a:xfrm>
          <a:prstGeom prst="ellipse">
            <a:avLst/>
          </a:prstGeom>
          <a:solidFill>
            <a:srgbClr val="FFFFAA"/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zh-CN" altLang="en-US" b="0" dirty="0">
              <a:latin typeface="Helvetica"/>
              <a:cs typeface="Helvetica"/>
            </a:endParaRPr>
          </a:p>
        </p:txBody>
      </p:sp>
      <p:cxnSp>
        <p:nvCxnSpPr>
          <p:cNvPr id="8" name="直线箭头连接符 7"/>
          <p:cNvCxnSpPr>
            <a:stCxn id="4" idx="6"/>
            <a:endCxn id="5" idx="2"/>
          </p:cNvCxnSpPr>
          <p:nvPr/>
        </p:nvCxnSpPr>
        <p:spPr bwMode="auto">
          <a:xfrm>
            <a:off x="1737360" y="2978332"/>
            <a:ext cx="1354183" cy="0"/>
          </a:xfrm>
          <a:prstGeom prst="straightConnector1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直线箭头连接符 8"/>
          <p:cNvCxnSpPr>
            <a:stCxn id="5" idx="7"/>
          </p:cNvCxnSpPr>
          <p:nvPr/>
        </p:nvCxnSpPr>
        <p:spPr bwMode="auto">
          <a:xfrm flipV="1">
            <a:off x="4173078" y="1712323"/>
            <a:ext cx="2893928" cy="841114"/>
          </a:xfrm>
          <a:prstGeom prst="straightConnector1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直线箭头连接符 12"/>
          <p:cNvCxnSpPr>
            <a:stCxn id="6" idx="3"/>
            <a:endCxn id="5" idx="6"/>
          </p:cNvCxnSpPr>
          <p:nvPr/>
        </p:nvCxnSpPr>
        <p:spPr bwMode="auto">
          <a:xfrm flipH="1">
            <a:off x="4358640" y="2201443"/>
            <a:ext cx="2893928" cy="776889"/>
          </a:xfrm>
          <a:prstGeom prst="straightConnector1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文本框 15"/>
          <p:cNvSpPr txBox="1"/>
          <p:nvPr/>
        </p:nvSpPr>
        <p:spPr>
          <a:xfrm>
            <a:off x="653143" y="3866606"/>
            <a:ext cx="8418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0" dirty="0">
                <a:latin typeface="Helvetica"/>
                <a:cs typeface="Helvetica"/>
              </a:rPr>
              <a:t>Client</a:t>
            </a:r>
            <a:endParaRPr kumimoji="1" lang="zh-CN" altLang="en-US" sz="2000" b="0" dirty="0">
              <a:latin typeface="Helvetica"/>
              <a:cs typeface="Helvetic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723100" y="3879669"/>
            <a:ext cx="22381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0" dirty="0">
                <a:latin typeface="Helvetica"/>
                <a:cs typeface="Helvetica"/>
              </a:rPr>
              <a:t>Local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DNS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Server</a:t>
            </a:r>
            <a:endParaRPr kumimoji="1" lang="zh-CN" altLang="en-US" sz="2000" b="0" dirty="0">
              <a:latin typeface="Helvetica"/>
              <a:cs typeface="Helvetic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067006" y="2521370"/>
            <a:ext cx="15953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0" dirty="0">
                <a:latin typeface="Helvetica"/>
                <a:cs typeface="Helvetica"/>
              </a:rPr>
              <a:t>Root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&amp;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.</a:t>
            </a:r>
            <a:r>
              <a:rPr kumimoji="1" lang="en-US" altLang="zh-CN" sz="2000" b="0" dirty="0" err="1">
                <a:latin typeface="Helvetica"/>
                <a:cs typeface="Helvetica"/>
              </a:rPr>
              <a:t>cn</a:t>
            </a:r>
            <a:endParaRPr kumimoji="1" lang="en-US" altLang="zh-CN" sz="2000" b="0" dirty="0">
              <a:latin typeface="Helvetica"/>
              <a:cs typeface="Helvetica"/>
            </a:endParaRPr>
          </a:p>
          <a:p>
            <a:r>
              <a:rPr kumimoji="1" lang="en-US" altLang="zh-CN" sz="2000" b="0" dirty="0">
                <a:latin typeface="Helvetica"/>
                <a:cs typeface="Helvetica"/>
              </a:rPr>
              <a:t>DNS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Server</a:t>
            </a:r>
            <a:endParaRPr kumimoji="1" lang="zh-CN" altLang="en-US" sz="2000" b="0" dirty="0">
              <a:latin typeface="Helvetica"/>
              <a:cs typeface="Helvetic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103811" y="1732770"/>
            <a:ext cx="2366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0" dirty="0" err="1">
                <a:latin typeface="Helvetica"/>
                <a:cs typeface="Helvetica"/>
              </a:rPr>
              <a:t>iiis.tsinghua.edu.cn</a:t>
            </a:r>
            <a:endParaRPr kumimoji="1" lang="zh-CN" altLang="en-US" sz="2000" b="0" dirty="0">
              <a:latin typeface="Helvetica"/>
              <a:cs typeface="Helvetic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159885" y="1432603"/>
            <a:ext cx="2366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0" dirty="0" err="1">
                <a:latin typeface="Helvetica"/>
                <a:cs typeface="Helvetica"/>
              </a:rPr>
              <a:t>iiis.tsinghua.edu.cn</a:t>
            </a:r>
            <a:endParaRPr kumimoji="1" lang="zh-CN" altLang="en-US" sz="2000" b="0" dirty="0">
              <a:latin typeface="Helvetica"/>
              <a:cs typeface="Helvetic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350670" y="2990871"/>
            <a:ext cx="9541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0" dirty="0">
                <a:latin typeface="Helvetica"/>
                <a:cs typeface="Helvetica"/>
              </a:rPr>
              <a:t>NS</a:t>
            </a:r>
            <a:br>
              <a:rPr kumimoji="1" lang="en-US" altLang="zh-CN" sz="2000" b="0" dirty="0">
                <a:latin typeface="Helvetica"/>
                <a:cs typeface="Helvetica"/>
              </a:rPr>
            </a:br>
            <a:r>
              <a:rPr kumimoji="1" lang="en-US" altLang="zh-CN" sz="2000" b="0" dirty="0" err="1">
                <a:latin typeface="Helvetica"/>
                <a:cs typeface="Helvetica"/>
              </a:rPr>
              <a:t>edu.cn</a:t>
            </a:r>
            <a:endParaRPr kumimoji="1" lang="zh-CN" altLang="en-US" sz="2000" b="0" dirty="0">
              <a:latin typeface="Helvetica"/>
              <a:cs typeface="Helvetica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523" y="4954288"/>
            <a:ext cx="4735538" cy="142714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Typical</a:t>
            </a:r>
            <a:r>
              <a:rPr kumimoji="1" lang="zh-CN" altLang="en-US" dirty="0"/>
              <a:t> </a:t>
            </a:r>
            <a:r>
              <a:rPr kumimoji="1" lang="en-US" altLang="zh-CN" dirty="0"/>
              <a:t>Resolution</a:t>
            </a:r>
            <a:endParaRPr kumimoji="1" lang="zh-CN" altLang="en-US" dirty="0"/>
          </a:p>
        </p:txBody>
      </p:sp>
      <p:sp>
        <p:nvSpPr>
          <p:cNvPr id="4" name="椭圆 3"/>
          <p:cNvSpPr/>
          <p:nvPr/>
        </p:nvSpPr>
        <p:spPr bwMode="auto">
          <a:xfrm>
            <a:off x="470263" y="2377440"/>
            <a:ext cx="1267097" cy="1201783"/>
          </a:xfrm>
          <a:prstGeom prst="ellipse">
            <a:avLst/>
          </a:prstGeom>
          <a:solidFill>
            <a:srgbClr val="FFFFAA"/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zh-CN" altLang="en-US" b="0" dirty="0">
              <a:latin typeface="Helvetica"/>
              <a:cs typeface="Helvetic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3091543" y="2377440"/>
            <a:ext cx="1267097" cy="1201783"/>
          </a:xfrm>
          <a:prstGeom prst="ellipse">
            <a:avLst/>
          </a:prstGeom>
          <a:solidFill>
            <a:srgbClr val="FFFFAA"/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zh-CN" altLang="en-US" b="0" dirty="0">
              <a:latin typeface="Helvetica"/>
              <a:cs typeface="Helvetic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7067006" y="1175657"/>
            <a:ext cx="1267097" cy="1201783"/>
          </a:xfrm>
          <a:prstGeom prst="ellipse">
            <a:avLst/>
          </a:prstGeom>
          <a:solidFill>
            <a:srgbClr val="FFFFAA"/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zh-CN" altLang="en-US" b="0" dirty="0">
              <a:latin typeface="Helvetica"/>
              <a:cs typeface="Helvetica"/>
            </a:endParaRPr>
          </a:p>
        </p:txBody>
      </p:sp>
      <p:cxnSp>
        <p:nvCxnSpPr>
          <p:cNvPr id="8" name="直线箭头连接符 7"/>
          <p:cNvCxnSpPr>
            <a:stCxn id="4" idx="6"/>
            <a:endCxn id="5" idx="2"/>
          </p:cNvCxnSpPr>
          <p:nvPr/>
        </p:nvCxnSpPr>
        <p:spPr bwMode="auto">
          <a:xfrm>
            <a:off x="1737360" y="2978332"/>
            <a:ext cx="1354183" cy="0"/>
          </a:xfrm>
          <a:prstGeom prst="straightConnector1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直线箭头连接符 8"/>
          <p:cNvCxnSpPr>
            <a:stCxn id="5" idx="7"/>
          </p:cNvCxnSpPr>
          <p:nvPr/>
        </p:nvCxnSpPr>
        <p:spPr bwMode="auto">
          <a:xfrm flipV="1">
            <a:off x="4173078" y="1712323"/>
            <a:ext cx="2893928" cy="841114"/>
          </a:xfrm>
          <a:prstGeom prst="straightConnector1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直线箭头连接符 12"/>
          <p:cNvCxnSpPr>
            <a:stCxn id="6" idx="3"/>
            <a:endCxn id="5" idx="6"/>
          </p:cNvCxnSpPr>
          <p:nvPr/>
        </p:nvCxnSpPr>
        <p:spPr bwMode="auto">
          <a:xfrm flipH="1">
            <a:off x="4358640" y="2201443"/>
            <a:ext cx="2893928" cy="776889"/>
          </a:xfrm>
          <a:prstGeom prst="straightConnector1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文本框 15"/>
          <p:cNvSpPr txBox="1"/>
          <p:nvPr/>
        </p:nvSpPr>
        <p:spPr>
          <a:xfrm>
            <a:off x="653143" y="3866606"/>
            <a:ext cx="8418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0" dirty="0">
                <a:latin typeface="Helvetica"/>
                <a:cs typeface="Helvetica"/>
              </a:rPr>
              <a:t>Client</a:t>
            </a:r>
            <a:endParaRPr kumimoji="1" lang="zh-CN" altLang="en-US" sz="2000" b="0" dirty="0">
              <a:latin typeface="Helvetica"/>
              <a:cs typeface="Helvetic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723100" y="3879669"/>
            <a:ext cx="22381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0" dirty="0">
                <a:latin typeface="Helvetica"/>
                <a:cs typeface="Helvetica"/>
              </a:rPr>
              <a:t>Local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DNS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Server</a:t>
            </a:r>
            <a:endParaRPr kumimoji="1" lang="zh-CN" altLang="en-US" sz="2000" b="0" dirty="0">
              <a:latin typeface="Helvetica"/>
              <a:cs typeface="Helvetic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067006" y="2521370"/>
            <a:ext cx="15953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0" dirty="0">
                <a:latin typeface="Helvetica"/>
                <a:cs typeface="Helvetica"/>
              </a:rPr>
              <a:t>Root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&amp;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.</a:t>
            </a:r>
            <a:r>
              <a:rPr kumimoji="1" lang="en-US" altLang="zh-CN" sz="2000" b="0" dirty="0" err="1">
                <a:latin typeface="Helvetica"/>
                <a:cs typeface="Helvetica"/>
              </a:rPr>
              <a:t>cn</a:t>
            </a:r>
            <a:endParaRPr kumimoji="1" lang="en-US" altLang="zh-CN" sz="2000" b="0" dirty="0">
              <a:latin typeface="Helvetica"/>
              <a:cs typeface="Helvetica"/>
            </a:endParaRPr>
          </a:p>
          <a:p>
            <a:r>
              <a:rPr kumimoji="1" lang="en-US" altLang="zh-CN" sz="2000" b="0" dirty="0">
                <a:latin typeface="Helvetica"/>
                <a:cs typeface="Helvetica"/>
              </a:rPr>
              <a:t>DNS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Server</a:t>
            </a:r>
            <a:endParaRPr kumimoji="1" lang="zh-CN" altLang="en-US" sz="2000" b="0" dirty="0">
              <a:latin typeface="Helvetica"/>
              <a:cs typeface="Helvetic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103811" y="1732770"/>
            <a:ext cx="2366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0" dirty="0" err="1">
                <a:latin typeface="Helvetica"/>
                <a:cs typeface="Helvetica"/>
              </a:rPr>
              <a:t>iiis.tsinghua.edu.cn</a:t>
            </a:r>
            <a:endParaRPr kumimoji="1" lang="zh-CN" altLang="en-US" sz="2000" b="0" dirty="0">
              <a:latin typeface="Helvetica"/>
              <a:cs typeface="Helvetic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159885" y="1432603"/>
            <a:ext cx="2366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0" dirty="0" err="1">
                <a:latin typeface="Helvetica"/>
                <a:cs typeface="Helvetica"/>
              </a:rPr>
              <a:t>iiis.tsinghua.edu.cn</a:t>
            </a:r>
            <a:endParaRPr kumimoji="1" lang="zh-CN" altLang="en-US" sz="2000" b="0" dirty="0">
              <a:latin typeface="Helvetica"/>
              <a:cs typeface="Helvetic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350670" y="2990871"/>
            <a:ext cx="9541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0" dirty="0">
                <a:latin typeface="Helvetica"/>
                <a:cs typeface="Helvetica"/>
              </a:rPr>
              <a:t>NS</a:t>
            </a:r>
            <a:br>
              <a:rPr kumimoji="1" lang="en-US" altLang="zh-CN" sz="2000" b="0" dirty="0">
                <a:latin typeface="Helvetica"/>
                <a:cs typeface="Helvetica"/>
              </a:rPr>
            </a:br>
            <a:r>
              <a:rPr kumimoji="1" lang="en-US" altLang="zh-CN" sz="2000" b="0" dirty="0" err="1">
                <a:latin typeface="Helvetica"/>
                <a:cs typeface="Helvetica"/>
              </a:rPr>
              <a:t>edu.cn</a:t>
            </a:r>
            <a:endParaRPr kumimoji="1" lang="zh-CN" altLang="en-US" sz="2000" b="0" dirty="0">
              <a:latin typeface="Helvetica"/>
              <a:cs typeface="Helvetica"/>
            </a:endParaRPr>
          </a:p>
        </p:txBody>
      </p:sp>
      <p:sp>
        <p:nvSpPr>
          <p:cNvPr id="22" name="椭圆 21"/>
          <p:cNvSpPr/>
          <p:nvPr/>
        </p:nvSpPr>
        <p:spPr bwMode="auto">
          <a:xfrm>
            <a:off x="7252568" y="3879668"/>
            <a:ext cx="1267097" cy="1201783"/>
          </a:xfrm>
          <a:prstGeom prst="ellipse">
            <a:avLst/>
          </a:prstGeom>
          <a:solidFill>
            <a:srgbClr val="FFFFAA"/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zh-CN" altLang="en-US" b="0" dirty="0">
              <a:latin typeface="Helvetica"/>
              <a:cs typeface="Helvetica"/>
            </a:endParaRPr>
          </a:p>
        </p:txBody>
      </p:sp>
      <p:cxnSp>
        <p:nvCxnSpPr>
          <p:cNvPr id="23" name="直线箭头连接符 22"/>
          <p:cNvCxnSpPr/>
          <p:nvPr/>
        </p:nvCxnSpPr>
        <p:spPr bwMode="auto">
          <a:xfrm>
            <a:off x="4358640" y="3278776"/>
            <a:ext cx="2893928" cy="1137558"/>
          </a:xfrm>
          <a:prstGeom prst="straightConnector1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直线箭头连接符 23"/>
          <p:cNvCxnSpPr>
            <a:stCxn id="22" idx="3"/>
          </p:cNvCxnSpPr>
          <p:nvPr/>
        </p:nvCxnSpPr>
        <p:spPr bwMode="auto">
          <a:xfrm flipH="1" flipV="1">
            <a:off x="4145922" y="3523059"/>
            <a:ext cx="3292208" cy="1382395"/>
          </a:xfrm>
          <a:prstGeom prst="straightConnector1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8" name="文本框 27"/>
          <p:cNvSpPr txBox="1"/>
          <p:nvPr/>
        </p:nvSpPr>
        <p:spPr>
          <a:xfrm>
            <a:off x="7107835" y="5085362"/>
            <a:ext cx="16385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0" dirty="0" err="1">
                <a:latin typeface="Helvetica"/>
                <a:cs typeface="Helvetica"/>
              </a:rPr>
              <a:t>edu.cn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DNS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endParaRPr kumimoji="1" lang="zh-CN" altLang="en-US" sz="2000" b="0" dirty="0">
              <a:latin typeface="Helvetica"/>
              <a:cs typeface="Helvetic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830494" y="4197568"/>
            <a:ext cx="1994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0" dirty="0">
                <a:latin typeface="Helvetica"/>
                <a:cs typeface="Helvetica"/>
              </a:rPr>
              <a:t>NS</a:t>
            </a:r>
            <a:br>
              <a:rPr kumimoji="1" lang="en-US" altLang="zh-CN" sz="2000" b="0" dirty="0">
                <a:latin typeface="Helvetica"/>
                <a:cs typeface="Helvetica"/>
              </a:rPr>
            </a:br>
            <a:r>
              <a:rPr kumimoji="1" lang="en-US" altLang="zh-CN" sz="2000" b="0" dirty="0" err="1">
                <a:latin typeface="Helvetica"/>
                <a:cs typeface="Helvetica"/>
              </a:rPr>
              <a:t>tsinghua.edu.cn</a:t>
            </a:r>
            <a:endParaRPr kumimoji="1" lang="zh-CN" altLang="en-US" sz="2000" b="0" dirty="0">
              <a:latin typeface="Helvetica"/>
              <a:cs typeface="Helvetica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338" y="5145676"/>
            <a:ext cx="6311900" cy="14859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Typical</a:t>
            </a:r>
            <a:r>
              <a:rPr kumimoji="1" lang="zh-CN" altLang="en-US" dirty="0"/>
              <a:t> </a:t>
            </a:r>
            <a:r>
              <a:rPr kumimoji="1" lang="en-US" altLang="zh-CN" dirty="0"/>
              <a:t>Resolution</a:t>
            </a:r>
            <a:endParaRPr kumimoji="1" lang="zh-CN" altLang="en-US" dirty="0"/>
          </a:p>
        </p:txBody>
      </p:sp>
      <p:sp>
        <p:nvSpPr>
          <p:cNvPr id="4" name="椭圆 3"/>
          <p:cNvSpPr/>
          <p:nvPr/>
        </p:nvSpPr>
        <p:spPr bwMode="auto">
          <a:xfrm>
            <a:off x="470263" y="2377440"/>
            <a:ext cx="1267097" cy="1201783"/>
          </a:xfrm>
          <a:prstGeom prst="ellipse">
            <a:avLst/>
          </a:prstGeom>
          <a:solidFill>
            <a:srgbClr val="FFFFAA"/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zh-CN" altLang="en-US" b="0" dirty="0">
              <a:latin typeface="Helvetica"/>
              <a:cs typeface="Helvetic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3091543" y="2377440"/>
            <a:ext cx="1267097" cy="1201783"/>
          </a:xfrm>
          <a:prstGeom prst="ellipse">
            <a:avLst/>
          </a:prstGeom>
          <a:solidFill>
            <a:srgbClr val="FFFFAA"/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zh-CN" altLang="en-US" b="0" dirty="0">
              <a:latin typeface="Helvetica"/>
              <a:cs typeface="Helvetic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7067006" y="1175657"/>
            <a:ext cx="1267097" cy="1201783"/>
          </a:xfrm>
          <a:prstGeom prst="ellipse">
            <a:avLst/>
          </a:prstGeom>
          <a:solidFill>
            <a:srgbClr val="FFFFAA"/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zh-CN" altLang="en-US" b="0" dirty="0">
              <a:latin typeface="Helvetica"/>
              <a:cs typeface="Helvetica"/>
            </a:endParaRPr>
          </a:p>
        </p:txBody>
      </p:sp>
      <p:cxnSp>
        <p:nvCxnSpPr>
          <p:cNvPr id="8" name="直线箭头连接符 7"/>
          <p:cNvCxnSpPr>
            <a:stCxn id="4" idx="6"/>
            <a:endCxn id="5" idx="2"/>
          </p:cNvCxnSpPr>
          <p:nvPr/>
        </p:nvCxnSpPr>
        <p:spPr bwMode="auto">
          <a:xfrm>
            <a:off x="1737360" y="2978332"/>
            <a:ext cx="1354183" cy="0"/>
          </a:xfrm>
          <a:prstGeom prst="straightConnector1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直线箭头连接符 8"/>
          <p:cNvCxnSpPr>
            <a:stCxn id="5" idx="7"/>
          </p:cNvCxnSpPr>
          <p:nvPr/>
        </p:nvCxnSpPr>
        <p:spPr bwMode="auto">
          <a:xfrm flipV="1">
            <a:off x="4173078" y="1712323"/>
            <a:ext cx="2893928" cy="841114"/>
          </a:xfrm>
          <a:prstGeom prst="straightConnector1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直线箭头连接符 12"/>
          <p:cNvCxnSpPr>
            <a:stCxn id="6" idx="3"/>
            <a:endCxn id="5" idx="6"/>
          </p:cNvCxnSpPr>
          <p:nvPr/>
        </p:nvCxnSpPr>
        <p:spPr bwMode="auto">
          <a:xfrm flipH="1">
            <a:off x="4358640" y="2201443"/>
            <a:ext cx="2893928" cy="776889"/>
          </a:xfrm>
          <a:prstGeom prst="straightConnector1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文本框 15"/>
          <p:cNvSpPr txBox="1"/>
          <p:nvPr/>
        </p:nvSpPr>
        <p:spPr>
          <a:xfrm>
            <a:off x="653143" y="3866606"/>
            <a:ext cx="8418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0" dirty="0">
                <a:latin typeface="Helvetica"/>
                <a:cs typeface="Helvetica"/>
              </a:rPr>
              <a:t>Client</a:t>
            </a:r>
            <a:endParaRPr kumimoji="1" lang="zh-CN" altLang="en-US" sz="2000" b="0" dirty="0">
              <a:latin typeface="Helvetica"/>
              <a:cs typeface="Helvetic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723100" y="3879669"/>
            <a:ext cx="22381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0" dirty="0">
                <a:latin typeface="Helvetica"/>
                <a:cs typeface="Helvetica"/>
              </a:rPr>
              <a:t>Local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DNS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Server</a:t>
            </a:r>
            <a:endParaRPr kumimoji="1" lang="zh-CN" altLang="en-US" sz="2000" b="0" dirty="0">
              <a:latin typeface="Helvetica"/>
              <a:cs typeface="Helvetic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067006" y="2521370"/>
            <a:ext cx="15953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0" dirty="0">
                <a:latin typeface="Helvetica"/>
                <a:cs typeface="Helvetica"/>
              </a:rPr>
              <a:t>Root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&amp;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.</a:t>
            </a:r>
            <a:r>
              <a:rPr kumimoji="1" lang="en-US" altLang="zh-CN" sz="2000" b="0" dirty="0" err="1">
                <a:latin typeface="Helvetica"/>
                <a:cs typeface="Helvetica"/>
              </a:rPr>
              <a:t>cn</a:t>
            </a:r>
            <a:endParaRPr kumimoji="1" lang="en-US" altLang="zh-CN" sz="2000" b="0" dirty="0">
              <a:latin typeface="Helvetica"/>
              <a:cs typeface="Helvetica"/>
            </a:endParaRPr>
          </a:p>
          <a:p>
            <a:r>
              <a:rPr kumimoji="1" lang="en-US" altLang="zh-CN" sz="2000" b="0" dirty="0">
                <a:latin typeface="Helvetica"/>
                <a:cs typeface="Helvetica"/>
              </a:rPr>
              <a:t>DNS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Server</a:t>
            </a:r>
            <a:endParaRPr kumimoji="1" lang="zh-CN" altLang="en-US" sz="2000" b="0" dirty="0">
              <a:latin typeface="Helvetica"/>
              <a:cs typeface="Helvetic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103811" y="1732770"/>
            <a:ext cx="2366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0" dirty="0" err="1">
                <a:latin typeface="Helvetica"/>
                <a:cs typeface="Helvetica"/>
              </a:rPr>
              <a:t>iiis.tsinghua.edu.cn</a:t>
            </a:r>
            <a:endParaRPr kumimoji="1" lang="zh-CN" altLang="en-US" sz="2000" b="0" dirty="0">
              <a:latin typeface="Helvetica"/>
              <a:cs typeface="Helvetic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159885" y="1432603"/>
            <a:ext cx="2366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0" dirty="0" err="1">
                <a:latin typeface="Helvetica"/>
                <a:cs typeface="Helvetica"/>
              </a:rPr>
              <a:t>iiis.tsinghua.edu.cn</a:t>
            </a:r>
            <a:endParaRPr kumimoji="1" lang="zh-CN" altLang="en-US" sz="2000" b="0" dirty="0">
              <a:latin typeface="Helvetica"/>
              <a:cs typeface="Helvetic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350670" y="2990871"/>
            <a:ext cx="9541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0" dirty="0">
                <a:latin typeface="Helvetica"/>
                <a:cs typeface="Helvetica"/>
              </a:rPr>
              <a:t>NS</a:t>
            </a:r>
            <a:br>
              <a:rPr kumimoji="1" lang="en-US" altLang="zh-CN" sz="2000" b="0" dirty="0">
                <a:latin typeface="Helvetica"/>
                <a:cs typeface="Helvetica"/>
              </a:rPr>
            </a:br>
            <a:r>
              <a:rPr kumimoji="1" lang="en-US" altLang="zh-CN" sz="2000" b="0" dirty="0" err="1">
                <a:latin typeface="Helvetica"/>
                <a:cs typeface="Helvetica"/>
              </a:rPr>
              <a:t>edu.cn</a:t>
            </a:r>
            <a:endParaRPr kumimoji="1" lang="zh-CN" altLang="en-US" sz="2000" b="0" dirty="0">
              <a:latin typeface="Helvetica"/>
              <a:cs typeface="Helvetica"/>
            </a:endParaRPr>
          </a:p>
        </p:txBody>
      </p:sp>
      <p:sp>
        <p:nvSpPr>
          <p:cNvPr id="22" name="椭圆 21"/>
          <p:cNvSpPr/>
          <p:nvPr/>
        </p:nvSpPr>
        <p:spPr bwMode="auto">
          <a:xfrm>
            <a:off x="7252568" y="3879668"/>
            <a:ext cx="1267097" cy="1201783"/>
          </a:xfrm>
          <a:prstGeom prst="ellipse">
            <a:avLst/>
          </a:prstGeom>
          <a:solidFill>
            <a:srgbClr val="FFFFAA"/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zh-CN" altLang="en-US" b="0" dirty="0">
              <a:latin typeface="Helvetica"/>
              <a:cs typeface="Helvetica"/>
            </a:endParaRPr>
          </a:p>
        </p:txBody>
      </p:sp>
      <p:cxnSp>
        <p:nvCxnSpPr>
          <p:cNvPr id="23" name="直线箭头连接符 22"/>
          <p:cNvCxnSpPr/>
          <p:nvPr/>
        </p:nvCxnSpPr>
        <p:spPr bwMode="auto">
          <a:xfrm>
            <a:off x="4358640" y="3278776"/>
            <a:ext cx="2893928" cy="1137558"/>
          </a:xfrm>
          <a:prstGeom prst="straightConnector1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直线箭头连接符 23"/>
          <p:cNvCxnSpPr>
            <a:stCxn id="22" idx="3"/>
          </p:cNvCxnSpPr>
          <p:nvPr/>
        </p:nvCxnSpPr>
        <p:spPr bwMode="auto">
          <a:xfrm flipH="1" flipV="1">
            <a:off x="4145922" y="3523059"/>
            <a:ext cx="3292208" cy="1382395"/>
          </a:xfrm>
          <a:prstGeom prst="straightConnector1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8" name="文本框 27"/>
          <p:cNvSpPr txBox="1"/>
          <p:nvPr/>
        </p:nvSpPr>
        <p:spPr>
          <a:xfrm>
            <a:off x="7107835" y="5085362"/>
            <a:ext cx="16385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0" dirty="0" err="1">
                <a:latin typeface="Helvetica"/>
                <a:cs typeface="Helvetica"/>
              </a:rPr>
              <a:t>edu.cn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DNS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endParaRPr kumimoji="1" lang="zh-CN" altLang="en-US" sz="2000" b="0" dirty="0">
              <a:latin typeface="Helvetica"/>
              <a:cs typeface="Helvetic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830494" y="4197568"/>
            <a:ext cx="1994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0" dirty="0">
                <a:latin typeface="Helvetica"/>
                <a:cs typeface="Helvetica"/>
              </a:rPr>
              <a:t>NS</a:t>
            </a:r>
            <a:br>
              <a:rPr kumimoji="1" lang="en-US" altLang="zh-CN" sz="2000" b="0" dirty="0">
                <a:latin typeface="Helvetica"/>
                <a:cs typeface="Helvetica"/>
              </a:rPr>
            </a:br>
            <a:r>
              <a:rPr kumimoji="1" lang="en-US" altLang="zh-CN" sz="2000" b="0" dirty="0" err="1">
                <a:latin typeface="Helvetica"/>
                <a:cs typeface="Helvetica"/>
              </a:rPr>
              <a:t>tsinghua.edu.cn</a:t>
            </a:r>
            <a:endParaRPr kumimoji="1" lang="zh-CN" altLang="en-US" sz="2000" b="0" dirty="0">
              <a:latin typeface="Helvetica"/>
              <a:cs typeface="Helvetica"/>
            </a:endParaRPr>
          </a:p>
        </p:txBody>
      </p:sp>
      <p:sp>
        <p:nvSpPr>
          <p:cNvPr id="25" name="椭圆 24"/>
          <p:cNvSpPr/>
          <p:nvPr/>
        </p:nvSpPr>
        <p:spPr bwMode="auto">
          <a:xfrm>
            <a:off x="5613978" y="5262064"/>
            <a:ext cx="1267097" cy="1201783"/>
          </a:xfrm>
          <a:prstGeom prst="ellipse">
            <a:avLst/>
          </a:prstGeom>
          <a:solidFill>
            <a:srgbClr val="FFFFAA"/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zh-CN" altLang="en-US" b="0" dirty="0">
              <a:latin typeface="Helvetica"/>
              <a:cs typeface="Helvetica"/>
            </a:endParaRPr>
          </a:p>
        </p:txBody>
      </p:sp>
      <p:cxnSp>
        <p:nvCxnSpPr>
          <p:cNvPr id="26" name="直线箭头连接符 25"/>
          <p:cNvCxnSpPr/>
          <p:nvPr/>
        </p:nvCxnSpPr>
        <p:spPr bwMode="auto">
          <a:xfrm>
            <a:off x="3861416" y="3652841"/>
            <a:ext cx="1899304" cy="1832631"/>
          </a:xfrm>
          <a:prstGeom prst="straightConnector1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" name="直线箭头连接符 26"/>
          <p:cNvCxnSpPr/>
          <p:nvPr/>
        </p:nvCxnSpPr>
        <p:spPr bwMode="auto">
          <a:xfrm flipH="1" flipV="1">
            <a:off x="3512374" y="3628743"/>
            <a:ext cx="1988390" cy="2131977"/>
          </a:xfrm>
          <a:prstGeom prst="straightConnector1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0" name="文本框 29"/>
          <p:cNvSpPr txBox="1"/>
          <p:nvPr/>
        </p:nvSpPr>
        <p:spPr>
          <a:xfrm>
            <a:off x="2266108" y="4800414"/>
            <a:ext cx="27370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0" dirty="0">
                <a:latin typeface="Helvetica"/>
                <a:cs typeface="Helvetica"/>
              </a:rPr>
              <a:t>A</a:t>
            </a:r>
            <a:endParaRPr kumimoji="1" lang="en-US" altLang="zh-CN" sz="2000" b="0" dirty="0">
              <a:latin typeface="Helvetica"/>
              <a:cs typeface="Helvetica"/>
            </a:endParaRPr>
          </a:p>
          <a:p>
            <a:r>
              <a:rPr kumimoji="1" lang="en-US" altLang="zh-CN" sz="2000" b="0" dirty="0" err="1">
                <a:latin typeface="Helvetica"/>
                <a:cs typeface="Helvetica"/>
              </a:rPr>
              <a:t>Iiis.tsinghua.edu.cn</a:t>
            </a:r>
            <a:endParaRPr kumimoji="1" lang="zh-CN" altLang="en-US" sz="2000" b="0" dirty="0">
              <a:latin typeface="Helvetica"/>
              <a:cs typeface="Helvetic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157690" y="6431620"/>
            <a:ext cx="27370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0" dirty="0" err="1">
                <a:latin typeface="Helvetica"/>
                <a:cs typeface="Helvetica"/>
              </a:rPr>
              <a:t>Tsinghua.edu.cn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DNS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endParaRPr kumimoji="1" lang="zh-CN" altLang="en-US" sz="2000" b="0" dirty="0">
              <a:latin typeface="Helvetica"/>
              <a:cs typeface="Helvetica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074" y="5803375"/>
            <a:ext cx="4545445" cy="75417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Why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DNS</a:t>
            </a:r>
            <a:r>
              <a:rPr kumimoji="1" lang="zh-CN" altLang="en-US" dirty="0"/>
              <a:t> </a:t>
            </a:r>
            <a:r>
              <a:rPr kumimoji="1" lang="en-US" altLang="zh-CN" dirty="0"/>
              <a:t>important?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914400"/>
            <a:ext cx="3911600" cy="5105400"/>
          </a:xfrm>
        </p:spPr>
        <p:txBody>
          <a:bodyPr/>
          <a:lstStyle/>
          <a:p>
            <a:r>
              <a:rPr kumimoji="1" lang="en-US" altLang="zh-CN" dirty="0"/>
              <a:t>Overloaded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many</a:t>
            </a:r>
            <a:r>
              <a:rPr kumimoji="1" lang="zh-CN" altLang="en-US" dirty="0"/>
              <a:t> </a:t>
            </a:r>
            <a:r>
              <a:rPr kumimoji="1" lang="en-US" altLang="zh-CN" dirty="0"/>
              <a:t>many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things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Load</a:t>
            </a:r>
            <a:r>
              <a:rPr kumimoji="1" lang="zh-CN" altLang="en-US" dirty="0"/>
              <a:t> </a:t>
            </a:r>
            <a:r>
              <a:rPr kumimoji="1" lang="en-US" altLang="zh-CN" dirty="0"/>
              <a:t>balancing</a:t>
            </a:r>
            <a:endParaRPr kumimoji="1" lang="en-US" altLang="zh-CN" dirty="0"/>
          </a:p>
          <a:p>
            <a:r>
              <a:rPr kumimoji="1" lang="en-US" altLang="zh-CN" dirty="0"/>
              <a:t>Geo-locality</a:t>
            </a:r>
            <a:endParaRPr kumimoji="1" lang="en-US" altLang="zh-CN" dirty="0"/>
          </a:p>
          <a:p>
            <a:r>
              <a:rPr kumimoji="1" lang="en-US" altLang="zh-CN" dirty="0"/>
              <a:t>Fault</a:t>
            </a:r>
            <a:r>
              <a:rPr kumimoji="1" lang="zh-CN" altLang="en-US" dirty="0"/>
              <a:t> </a:t>
            </a:r>
            <a:r>
              <a:rPr kumimoji="1" lang="en-US" altLang="zh-CN" dirty="0"/>
              <a:t>tolerance</a:t>
            </a:r>
            <a:endParaRPr kumimoji="1" lang="en-US" altLang="zh-CN" dirty="0"/>
          </a:p>
          <a:p>
            <a:r>
              <a:rPr kumimoji="1" lang="en-US" altLang="zh-CN" dirty="0"/>
              <a:t>Security</a:t>
            </a:r>
            <a:endParaRPr kumimoji="1" lang="en-US" altLang="zh-CN" dirty="0"/>
          </a:p>
          <a:p>
            <a:r>
              <a:rPr kumimoji="1" lang="en-US" altLang="zh-CN" dirty="0"/>
              <a:t>Censorship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Everything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running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on</a:t>
            </a:r>
            <a:r>
              <a:rPr kumimoji="1" lang="zh-CN" altLang="en-US" dirty="0"/>
              <a:t> </a:t>
            </a:r>
            <a:r>
              <a:rPr kumimoji="1" lang="en-US" altLang="zh-CN" dirty="0"/>
              <a:t>1980’s</a:t>
            </a:r>
            <a:r>
              <a:rPr kumimoji="1" lang="zh-CN" altLang="en-US" dirty="0"/>
              <a:t> </a:t>
            </a:r>
            <a:r>
              <a:rPr kumimoji="1" lang="en-US" altLang="zh-CN" dirty="0"/>
              <a:t>design</a:t>
            </a:r>
            <a:endParaRPr kumimoji="1" lang="zh-CN" altLang="en-US" dirty="0"/>
          </a:p>
        </p:txBody>
      </p:sp>
      <p:pic>
        <p:nvPicPr>
          <p:cNvPr id="4" name="Picture 2" descr="Every time I see this picture I cannot stop thinking about how fragile our  “modern digital infrastructure” really is. | Daniele Salvatore Albano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8133" y="914400"/>
            <a:ext cx="4341449" cy="5508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Reliability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flow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control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086600" y="6356352"/>
            <a:ext cx="2057400" cy="365125"/>
          </a:xfrm>
          <a:prstGeom prst="rect">
            <a:avLst/>
          </a:prstGeom>
        </p:spPr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30184"/>
            <a:ext cx="7886700" cy="3896201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Latency – how long does it take for the first bit to reach destination</a:t>
            </a:r>
            <a:endParaRPr lang="en-US" dirty="0"/>
          </a:p>
          <a:p>
            <a:r>
              <a:rPr lang="en-US" dirty="0"/>
              <a:t>Capacity — how many bits/sec can we push through? (often termed “bandwidth”)</a:t>
            </a:r>
            <a:endParaRPr lang="en-US" dirty="0"/>
          </a:p>
          <a:p>
            <a:r>
              <a:rPr lang="en-US" dirty="0"/>
              <a:t>Jitter — how much variation in latency?</a:t>
            </a:r>
            <a:endParaRPr lang="en-US" dirty="0"/>
          </a:p>
          <a:p>
            <a:r>
              <a:rPr lang="en-US" dirty="0"/>
              <a:t>Loss / reliability — can the channel drop packets?</a:t>
            </a:r>
            <a:endParaRPr lang="en-US" dirty="0"/>
          </a:p>
          <a:p>
            <a:r>
              <a:rPr lang="en-US" dirty="0"/>
              <a:t>Packet r</a:t>
            </a:r>
            <a:r>
              <a:rPr lang="en-US"/>
              <a:t>eordering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001000" cy="533400"/>
          </a:xfrm>
        </p:spPr>
        <p:txBody>
          <a:bodyPr>
            <a:normAutofit/>
          </a:bodyPr>
          <a:lstStyle/>
          <a:p>
            <a:r>
              <a:rPr lang="en-US" dirty="0"/>
              <a:t>Parameters</a:t>
            </a:r>
            <a:r>
              <a:rPr lang="en-US"/>
              <a:t> </a:t>
            </a:r>
            <a:r>
              <a:rPr lang="en-US" dirty="0"/>
              <a:t>of a communication channel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/>
              <a:t>Data </a:t>
            </a:r>
            <a:r>
              <a:rPr lang="en-US" altLang="zh-CN" dirty="0"/>
              <a:t>may</a:t>
            </a:r>
            <a:r>
              <a:rPr lang="zh-CN" altLang="en-US" dirty="0"/>
              <a:t> </a:t>
            </a:r>
            <a:r>
              <a:rPr lang="en-US"/>
              <a:t>get </a:t>
            </a:r>
            <a:r>
              <a:rPr lang="en-US">
                <a:solidFill>
                  <a:srgbClr val="FF0000"/>
                </a:solidFill>
              </a:rPr>
              <a:t>Lost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3" name="灯片编号占位符 3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grpSp>
        <p:nvGrpSpPr>
          <p:cNvPr id="32" name="Group 31"/>
          <p:cNvGrpSpPr/>
          <p:nvPr/>
        </p:nvGrpSpPr>
        <p:grpSpPr>
          <a:xfrm>
            <a:off x="1400175" y="1470173"/>
            <a:ext cx="6343650" cy="3486150"/>
            <a:chOff x="457200" y="1524000"/>
            <a:chExt cx="8458200" cy="4648200"/>
          </a:xfrm>
        </p:grpSpPr>
        <p:sp>
          <p:nvSpPr>
            <p:cNvPr id="4" name="Rectangle 3"/>
            <p:cNvSpPr>
              <a:spLocks noChangeArrowheads="1"/>
            </p:cNvSpPr>
            <p:nvPr/>
          </p:nvSpPr>
          <p:spPr bwMode="auto">
            <a:xfrm>
              <a:off x="457200" y="1524000"/>
              <a:ext cx="8458200" cy="2209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>
              <a:outerShdw blurRad="63500" dist="107763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lIns="68558" tIns="34281" rIns="68558" bIns="34281" anchor="ctr"/>
            <a:lstStyle/>
            <a:p>
              <a:pPr>
                <a:defRPr/>
              </a:pPr>
              <a:endParaRPr lang="en-US">
                <a:latin typeface="Times New Roman" panose="02020603050405020304" charset="0"/>
                <a:ea typeface="+mn-ea"/>
              </a:endParaRPr>
            </a:p>
          </p:txBody>
        </p:sp>
        <p:sp>
          <p:nvSpPr>
            <p:cNvPr id="5" name="Text Box 4"/>
            <p:cNvSpPr txBox="1">
              <a:spLocks noChangeArrowheads="1"/>
            </p:cNvSpPr>
            <p:nvPr/>
          </p:nvSpPr>
          <p:spPr bwMode="auto">
            <a:xfrm>
              <a:off x="3949165" y="2466963"/>
              <a:ext cx="1125020" cy="4000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52" tIns="34278" rIns="68552" bIns="34278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altLang="en-US" sz="1500">
                  <a:solidFill>
                    <a:srgbClr val="000000"/>
                  </a:solidFill>
                  <a:latin typeface="Arial" panose="020B0604020202020204" pitchFamily="34" charset="0"/>
                </a:rPr>
                <a:t>Internet</a:t>
              </a:r>
              <a:endParaRPr lang="en-US" altLang="en-US" sz="15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Line 5"/>
            <p:cNvSpPr>
              <a:spLocks noChangeShapeType="1"/>
            </p:cNvSpPr>
            <p:nvPr/>
          </p:nvSpPr>
          <p:spPr bwMode="auto">
            <a:xfrm>
              <a:off x="1981200" y="2743200"/>
              <a:ext cx="151606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 anchor="ctr"/>
            <a:lstStyle/>
            <a:p>
              <a:endParaRPr lang="en-US"/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1515765" y="2238363"/>
              <a:ext cx="2061172" cy="4000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52" tIns="34278" rIns="68552" bIns="34278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altLang="en-US" sz="1500">
                  <a:solidFill>
                    <a:srgbClr val="000000"/>
                  </a:solidFill>
                  <a:latin typeface="Arial" panose="020B0604020202020204" pitchFamily="34" charset="0"/>
                </a:rPr>
                <a:t>GET index.html</a:t>
              </a:r>
              <a:endParaRPr lang="en-US" altLang="en-US" sz="15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8" name="Picture 7" descr="Computer5"/>
            <p:cNvPicPr>
              <a:picLocks noChangeAspect="1" noChangeArrowheads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" y="1981200"/>
              <a:ext cx="1238250" cy="1089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8" descr="paketaro box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4413" y="2057400"/>
              <a:ext cx="1143000" cy="1143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457200" y="1524000"/>
              <a:ext cx="4953000" cy="685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9027" tIns="34514" rIns="69027" bIns="34514"/>
            <a:lstStyle>
              <a:lvl1pPr marL="341630" indent="-34163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500">
                  <a:latin typeface="Arial" panose="020B0604020202020204" pitchFamily="34" charset="0"/>
                </a:rPr>
                <a:t>Problem: Lost Data</a:t>
              </a:r>
              <a:endParaRPr lang="en-US" altLang="en-US" sz="1500">
                <a:latin typeface="Arial" panose="020B0604020202020204" pitchFamily="34" charset="0"/>
              </a:endParaRP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457200" y="3962400"/>
              <a:ext cx="8458200" cy="2209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>
              <a:outerShdw blurRad="63500" dist="107763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lIns="68558" tIns="34281" rIns="68558" bIns="34281" anchor="ctr"/>
            <a:lstStyle/>
            <a:p>
              <a:pPr>
                <a:defRPr/>
              </a:pPr>
              <a:endParaRPr lang="en-US">
                <a:latin typeface="Times New Roman" panose="02020603050405020304" charset="0"/>
                <a:ea typeface="+mn-ea"/>
              </a:endParaRPr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3949165" y="4905363"/>
              <a:ext cx="1125020" cy="4000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52" tIns="34278" rIns="68552" bIns="34278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altLang="en-US" sz="1500">
                  <a:solidFill>
                    <a:srgbClr val="000000"/>
                  </a:solidFill>
                  <a:latin typeface="Arial" panose="020B0604020202020204" pitchFamily="34" charset="0"/>
                </a:rPr>
                <a:t>Internet</a:t>
              </a:r>
              <a:endParaRPr lang="en-US" altLang="en-US" sz="15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1752600" y="5672138"/>
              <a:ext cx="1516063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 anchor="ctr"/>
            <a:lstStyle/>
            <a:p>
              <a:endParaRPr lang="en-US"/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1515765" y="5167299"/>
              <a:ext cx="2061172" cy="4000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52" tIns="34278" rIns="68552" bIns="34278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altLang="en-US" sz="1500">
                  <a:solidFill>
                    <a:srgbClr val="000000"/>
                  </a:solidFill>
                  <a:latin typeface="Arial" panose="020B0604020202020204" pitchFamily="34" charset="0"/>
                </a:rPr>
                <a:t>GET index.html</a:t>
              </a:r>
              <a:endParaRPr lang="en-US" altLang="en-US" sz="15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15" name="Picture 14" descr="Computer5"/>
            <p:cNvPicPr>
              <a:picLocks noChangeAspect="1" noChangeArrowheads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" y="4549775"/>
              <a:ext cx="1238250" cy="1089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15" descr="paketaro box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4413" y="4495800"/>
              <a:ext cx="1143000" cy="1143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457200" y="3962400"/>
              <a:ext cx="4953000" cy="685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9027" tIns="34514" rIns="69027" bIns="34514"/>
            <a:lstStyle>
              <a:lvl1pPr marL="341630" indent="-34163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500">
                  <a:latin typeface="Arial" panose="020B0604020202020204" pitchFamily="34" charset="0"/>
                </a:rPr>
                <a:t>Solution: Timeout and Retransmit</a:t>
              </a:r>
              <a:endParaRPr lang="en-US" altLang="en-US" sz="1500">
                <a:latin typeface="Arial" panose="020B0604020202020204" pitchFamily="34" charset="0"/>
              </a:endParaRPr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5646738" y="5181600"/>
              <a:ext cx="1516062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 anchor="ctr"/>
            <a:lstStyle/>
            <a:p>
              <a:endParaRPr lang="en-US"/>
            </a:p>
          </p:txBody>
        </p:sp>
        <p:sp>
          <p:nvSpPr>
            <p:cNvPr id="19" name="Text Box 18"/>
            <p:cNvSpPr txBox="1">
              <a:spLocks noChangeArrowheads="1"/>
            </p:cNvSpPr>
            <p:nvPr/>
          </p:nvSpPr>
          <p:spPr bwMode="auto">
            <a:xfrm>
              <a:off x="5403552" y="4676763"/>
              <a:ext cx="2061172" cy="4000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52" tIns="34278" rIns="68552" bIns="34278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altLang="en-US" sz="1500">
                  <a:solidFill>
                    <a:srgbClr val="000000"/>
                  </a:solidFill>
                  <a:latin typeface="Arial" panose="020B0604020202020204" pitchFamily="34" charset="0"/>
                </a:rPr>
                <a:t>GET index.html</a:t>
              </a:r>
              <a:endParaRPr lang="en-US" altLang="en-US" sz="15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>
              <a:off x="1752600" y="5029200"/>
              <a:ext cx="151606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ot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 anchor="ctr"/>
            <a:lstStyle/>
            <a:p>
              <a:endParaRPr lang="en-US"/>
            </a:p>
          </p:txBody>
        </p:sp>
        <p:sp>
          <p:nvSpPr>
            <p:cNvPr id="21" name="Text Box 20"/>
            <p:cNvSpPr txBox="1">
              <a:spLocks noChangeArrowheads="1"/>
            </p:cNvSpPr>
            <p:nvPr/>
          </p:nvSpPr>
          <p:spPr bwMode="auto">
            <a:xfrm>
              <a:off x="1515765" y="4524363"/>
              <a:ext cx="2061172" cy="4000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52" tIns="34278" rIns="68552" bIns="34278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altLang="en-US" sz="1500">
                  <a:solidFill>
                    <a:srgbClr val="000000"/>
                  </a:solidFill>
                  <a:latin typeface="Arial" panose="020B0604020202020204" pitchFamily="34" charset="0"/>
                </a:rPr>
                <a:t>GET index.html</a:t>
              </a:r>
              <a:endParaRPr lang="en-US" altLang="en-US" sz="15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22" name="Group 21"/>
            <p:cNvGrpSpPr/>
            <p:nvPr/>
          </p:nvGrpSpPr>
          <p:grpSpPr bwMode="auto">
            <a:xfrm>
              <a:off x="3810000" y="2209800"/>
              <a:ext cx="1447800" cy="990600"/>
              <a:chOff x="3891" y="2677"/>
              <a:chExt cx="632" cy="470"/>
            </a:xfrm>
          </p:grpSpPr>
          <p:sp>
            <p:nvSpPr>
              <p:cNvPr id="23" name="Freeform 22"/>
              <p:cNvSpPr/>
              <p:nvPr/>
            </p:nvSpPr>
            <p:spPr bwMode="auto">
              <a:xfrm>
                <a:off x="4246" y="2687"/>
                <a:ext cx="277" cy="228"/>
              </a:xfrm>
              <a:custGeom>
                <a:avLst/>
                <a:gdLst>
                  <a:gd name="T0" fmla="*/ 0 w 277"/>
                  <a:gd name="T1" fmla="*/ 23 h 228"/>
                  <a:gd name="T2" fmla="*/ 5 w 277"/>
                  <a:gd name="T3" fmla="*/ 23 h 228"/>
                  <a:gd name="T4" fmla="*/ 10 w 277"/>
                  <a:gd name="T5" fmla="*/ 19 h 228"/>
                  <a:gd name="T6" fmla="*/ 17 w 277"/>
                  <a:gd name="T7" fmla="*/ 14 h 228"/>
                  <a:gd name="T8" fmla="*/ 26 w 277"/>
                  <a:gd name="T9" fmla="*/ 9 h 228"/>
                  <a:gd name="T10" fmla="*/ 36 w 277"/>
                  <a:gd name="T11" fmla="*/ 4 h 228"/>
                  <a:gd name="T12" fmla="*/ 50 w 277"/>
                  <a:gd name="T13" fmla="*/ 2 h 228"/>
                  <a:gd name="T14" fmla="*/ 65 w 277"/>
                  <a:gd name="T15" fmla="*/ 0 h 228"/>
                  <a:gd name="T16" fmla="*/ 79 w 277"/>
                  <a:gd name="T17" fmla="*/ 0 h 228"/>
                  <a:gd name="T18" fmla="*/ 96 w 277"/>
                  <a:gd name="T19" fmla="*/ 4 h 228"/>
                  <a:gd name="T20" fmla="*/ 110 w 277"/>
                  <a:gd name="T21" fmla="*/ 11 h 228"/>
                  <a:gd name="T22" fmla="*/ 124 w 277"/>
                  <a:gd name="T23" fmla="*/ 23 h 228"/>
                  <a:gd name="T24" fmla="*/ 134 w 277"/>
                  <a:gd name="T25" fmla="*/ 33 h 228"/>
                  <a:gd name="T26" fmla="*/ 143 w 277"/>
                  <a:gd name="T27" fmla="*/ 42 h 228"/>
                  <a:gd name="T28" fmla="*/ 148 w 277"/>
                  <a:gd name="T29" fmla="*/ 52 h 228"/>
                  <a:gd name="T30" fmla="*/ 150 w 277"/>
                  <a:gd name="T31" fmla="*/ 59 h 228"/>
                  <a:gd name="T32" fmla="*/ 153 w 277"/>
                  <a:gd name="T33" fmla="*/ 66 h 228"/>
                  <a:gd name="T34" fmla="*/ 153 w 277"/>
                  <a:gd name="T35" fmla="*/ 73 h 228"/>
                  <a:gd name="T36" fmla="*/ 153 w 277"/>
                  <a:gd name="T37" fmla="*/ 78 h 228"/>
                  <a:gd name="T38" fmla="*/ 153 w 277"/>
                  <a:gd name="T39" fmla="*/ 81 h 228"/>
                  <a:gd name="T40" fmla="*/ 153 w 277"/>
                  <a:gd name="T41" fmla="*/ 81 h 228"/>
                  <a:gd name="T42" fmla="*/ 153 w 277"/>
                  <a:gd name="T43" fmla="*/ 81 h 228"/>
                  <a:gd name="T44" fmla="*/ 155 w 277"/>
                  <a:gd name="T45" fmla="*/ 78 h 228"/>
                  <a:gd name="T46" fmla="*/ 160 w 277"/>
                  <a:gd name="T47" fmla="*/ 76 h 228"/>
                  <a:gd name="T48" fmla="*/ 167 w 277"/>
                  <a:gd name="T49" fmla="*/ 73 h 228"/>
                  <a:gd name="T50" fmla="*/ 174 w 277"/>
                  <a:gd name="T51" fmla="*/ 71 h 228"/>
                  <a:gd name="T52" fmla="*/ 181 w 277"/>
                  <a:gd name="T53" fmla="*/ 69 h 228"/>
                  <a:gd name="T54" fmla="*/ 191 w 277"/>
                  <a:gd name="T55" fmla="*/ 69 h 228"/>
                  <a:gd name="T56" fmla="*/ 200 w 277"/>
                  <a:gd name="T57" fmla="*/ 71 h 228"/>
                  <a:gd name="T58" fmla="*/ 210 w 277"/>
                  <a:gd name="T59" fmla="*/ 73 h 228"/>
                  <a:gd name="T60" fmla="*/ 219 w 277"/>
                  <a:gd name="T61" fmla="*/ 81 h 228"/>
                  <a:gd name="T62" fmla="*/ 229 w 277"/>
                  <a:gd name="T63" fmla="*/ 90 h 228"/>
                  <a:gd name="T64" fmla="*/ 234 w 277"/>
                  <a:gd name="T65" fmla="*/ 97 h 228"/>
                  <a:gd name="T66" fmla="*/ 236 w 277"/>
                  <a:gd name="T67" fmla="*/ 107 h 228"/>
                  <a:gd name="T68" fmla="*/ 239 w 277"/>
                  <a:gd name="T69" fmla="*/ 116 h 228"/>
                  <a:gd name="T70" fmla="*/ 239 w 277"/>
                  <a:gd name="T71" fmla="*/ 124 h 228"/>
                  <a:gd name="T72" fmla="*/ 236 w 277"/>
                  <a:gd name="T73" fmla="*/ 131 h 228"/>
                  <a:gd name="T74" fmla="*/ 236 w 277"/>
                  <a:gd name="T75" fmla="*/ 138 h 228"/>
                  <a:gd name="T76" fmla="*/ 234 w 277"/>
                  <a:gd name="T77" fmla="*/ 143 h 228"/>
                  <a:gd name="T78" fmla="*/ 234 w 277"/>
                  <a:gd name="T79" fmla="*/ 145 h 228"/>
                  <a:gd name="T80" fmla="*/ 231 w 277"/>
                  <a:gd name="T81" fmla="*/ 145 h 228"/>
                  <a:gd name="T82" fmla="*/ 234 w 277"/>
                  <a:gd name="T83" fmla="*/ 147 h 228"/>
                  <a:gd name="T84" fmla="*/ 236 w 277"/>
                  <a:gd name="T85" fmla="*/ 147 h 228"/>
                  <a:gd name="T86" fmla="*/ 241 w 277"/>
                  <a:gd name="T87" fmla="*/ 152 h 228"/>
                  <a:gd name="T88" fmla="*/ 248 w 277"/>
                  <a:gd name="T89" fmla="*/ 157 h 228"/>
                  <a:gd name="T90" fmla="*/ 253 w 277"/>
                  <a:gd name="T91" fmla="*/ 164 h 228"/>
                  <a:gd name="T92" fmla="*/ 260 w 277"/>
                  <a:gd name="T93" fmla="*/ 174 h 228"/>
                  <a:gd name="T94" fmla="*/ 267 w 277"/>
                  <a:gd name="T95" fmla="*/ 183 h 228"/>
                  <a:gd name="T96" fmla="*/ 272 w 277"/>
                  <a:gd name="T97" fmla="*/ 195 h 228"/>
                  <a:gd name="T98" fmla="*/ 274 w 277"/>
                  <a:gd name="T99" fmla="*/ 212 h 228"/>
                  <a:gd name="T100" fmla="*/ 277 w 277"/>
                  <a:gd name="T101" fmla="*/ 228 h 228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277"/>
                  <a:gd name="T154" fmla="*/ 0 h 228"/>
                  <a:gd name="T155" fmla="*/ 277 w 277"/>
                  <a:gd name="T156" fmla="*/ 228 h 228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277" h="228">
                    <a:moveTo>
                      <a:pt x="0" y="23"/>
                    </a:moveTo>
                    <a:lnTo>
                      <a:pt x="5" y="23"/>
                    </a:lnTo>
                    <a:lnTo>
                      <a:pt x="10" y="19"/>
                    </a:lnTo>
                    <a:lnTo>
                      <a:pt x="17" y="14"/>
                    </a:lnTo>
                    <a:lnTo>
                      <a:pt x="26" y="9"/>
                    </a:lnTo>
                    <a:lnTo>
                      <a:pt x="36" y="4"/>
                    </a:lnTo>
                    <a:lnTo>
                      <a:pt x="50" y="2"/>
                    </a:lnTo>
                    <a:lnTo>
                      <a:pt x="65" y="0"/>
                    </a:lnTo>
                    <a:lnTo>
                      <a:pt x="79" y="0"/>
                    </a:lnTo>
                    <a:lnTo>
                      <a:pt x="96" y="4"/>
                    </a:lnTo>
                    <a:lnTo>
                      <a:pt x="110" y="11"/>
                    </a:lnTo>
                    <a:lnTo>
                      <a:pt x="124" y="23"/>
                    </a:lnTo>
                    <a:lnTo>
                      <a:pt x="134" y="33"/>
                    </a:lnTo>
                    <a:lnTo>
                      <a:pt x="143" y="42"/>
                    </a:lnTo>
                    <a:lnTo>
                      <a:pt x="148" y="52"/>
                    </a:lnTo>
                    <a:lnTo>
                      <a:pt x="150" y="59"/>
                    </a:lnTo>
                    <a:lnTo>
                      <a:pt x="153" y="66"/>
                    </a:lnTo>
                    <a:lnTo>
                      <a:pt x="153" y="73"/>
                    </a:lnTo>
                    <a:lnTo>
                      <a:pt x="153" y="78"/>
                    </a:lnTo>
                    <a:lnTo>
                      <a:pt x="153" y="81"/>
                    </a:lnTo>
                    <a:lnTo>
                      <a:pt x="155" y="78"/>
                    </a:lnTo>
                    <a:lnTo>
                      <a:pt x="160" y="76"/>
                    </a:lnTo>
                    <a:lnTo>
                      <a:pt x="167" y="73"/>
                    </a:lnTo>
                    <a:lnTo>
                      <a:pt x="174" y="71"/>
                    </a:lnTo>
                    <a:lnTo>
                      <a:pt x="181" y="69"/>
                    </a:lnTo>
                    <a:lnTo>
                      <a:pt x="191" y="69"/>
                    </a:lnTo>
                    <a:lnTo>
                      <a:pt x="200" y="71"/>
                    </a:lnTo>
                    <a:lnTo>
                      <a:pt x="210" y="73"/>
                    </a:lnTo>
                    <a:lnTo>
                      <a:pt x="219" y="81"/>
                    </a:lnTo>
                    <a:lnTo>
                      <a:pt x="229" y="90"/>
                    </a:lnTo>
                    <a:lnTo>
                      <a:pt x="234" y="97"/>
                    </a:lnTo>
                    <a:lnTo>
                      <a:pt x="236" y="107"/>
                    </a:lnTo>
                    <a:lnTo>
                      <a:pt x="239" y="116"/>
                    </a:lnTo>
                    <a:lnTo>
                      <a:pt x="239" y="124"/>
                    </a:lnTo>
                    <a:lnTo>
                      <a:pt x="236" y="131"/>
                    </a:lnTo>
                    <a:lnTo>
                      <a:pt x="236" y="138"/>
                    </a:lnTo>
                    <a:lnTo>
                      <a:pt x="234" y="143"/>
                    </a:lnTo>
                    <a:lnTo>
                      <a:pt x="234" y="145"/>
                    </a:lnTo>
                    <a:lnTo>
                      <a:pt x="231" y="145"/>
                    </a:lnTo>
                    <a:lnTo>
                      <a:pt x="234" y="147"/>
                    </a:lnTo>
                    <a:lnTo>
                      <a:pt x="236" y="147"/>
                    </a:lnTo>
                    <a:lnTo>
                      <a:pt x="241" y="152"/>
                    </a:lnTo>
                    <a:lnTo>
                      <a:pt x="248" y="157"/>
                    </a:lnTo>
                    <a:lnTo>
                      <a:pt x="253" y="164"/>
                    </a:lnTo>
                    <a:lnTo>
                      <a:pt x="260" y="174"/>
                    </a:lnTo>
                    <a:lnTo>
                      <a:pt x="267" y="183"/>
                    </a:lnTo>
                    <a:lnTo>
                      <a:pt x="272" y="195"/>
                    </a:lnTo>
                    <a:lnTo>
                      <a:pt x="274" y="212"/>
                    </a:lnTo>
                    <a:lnTo>
                      <a:pt x="277" y="228"/>
                    </a:lnTo>
                  </a:path>
                </a:pathLst>
              </a:custGeom>
              <a:noFill/>
              <a:ln w="12700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23"/>
              <p:cNvSpPr/>
              <p:nvPr/>
            </p:nvSpPr>
            <p:spPr bwMode="auto">
              <a:xfrm>
                <a:off x="3891" y="2677"/>
                <a:ext cx="358" cy="236"/>
              </a:xfrm>
              <a:custGeom>
                <a:avLst/>
                <a:gdLst>
                  <a:gd name="T0" fmla="*/ 2 w 358"/>
                  <a:gd name="T1" fmla="*/ 219 h 236"/>
                  <a:gd name="T2" fmla="*/ 9 w 358"/>
                  <a:gd name="T3" fmla="*/ 193 h 236"/>
                  <a:gd name="T4" fmla="*/ 21 w 358"/>
                  <a:gd name="T5" fmla="*/ 174 h 236"/>
                  <a:gd name="T6" fmla="*/ 33 w 358"/>
                  <a:gd name="T7" fmla="*/ 162 h 236"/>
                  <a:gd name="T8" fmla="*/ 43 w 358"/>
                  <a:gd name="T9" fmla="*/ 155 h 236"/>
                  <a:gd name="T10" fmla="*/ 43 w 358"/>
                  <a:gd name="T11" fmla="*/ 155 h 236"/>
                  <a:gd name="T12" fmla="*/ 40 w 358"/>
                  <a:gd name="T13" fmla="*/ 145 h 236"/>
                  <a:gd name="T14" fmla="*/ 38 w 358"/>
                  <a:gd name="T15" fmla="*/ 134 h 236"/>
                  <a:gd name="T16" fmla="*/ 38 w 358"/>
                  <a:gd name="T17" fmla="*/ 117 h 236"/>
                  <a:gd name="T18" fmla="*/ 48 w 358"/>
                  <a:gd name="T19" fmla="*/ 98 h 236"/>
                  <a:gd name="T20" fmla="*/ 67 w 358"/>
                  <a:gd name="T21" fmla="*/ 83 h 236"/>
                  <a:gd name="T22" fmla="*/ 83 w 358"/>
                  <a:gd name="T23" fmla="*/ 79 h 236"/>
                  <a:gd name="T24" fmla="*/ 102 w 358"/>
                  <a:gd name="T25" fmla="*/ 81 h 236"/>
                  <a:gd name="T26" fmla="*/ 114 w 358"/>
                  <a:gd name="T27" fmla="*/ 86 h 236"/>
                  <a:gd name="T28" fmla="*/ 121 w 358"/>
                  <a:gd name="T29" fmla="*/ 91 h 236"/>
                  <a:gd name="T30" fmla="*/ 124 w 358"/>
                  <a:gd name="T31" fmla="*/ 88 h 236"/>
                  <a:gd name="T32" fmla="*/ 121 w 358"/>
                  <a:gd name="T33" fmla="*/ 81 h 236"/>
                  <a:gd name="T34" fmla="*/ 124 w 358"/>
                  <a:gd name="T35" fmla="*/ 69 h 236"/>
                  <a:gd name="T36" fmla="*/ 133 w 358"/>
                  <a:gd name="T37" fmla="*/ 52 h 236"/>
                  <a:gd name="T38" fmla="*/ 152 w 358"/>
                  <a:gd name="T39" fmla="*/ 31 h 236"/>
                  <a:gd name="T40" fmla="*/ 181 w 358"/>
                  <a:gd name="T41" fmla="*/ 14 h 236"/>
                  <a:gd name="T42" fmla="*/ 212 w 358"/>
                  <a:gd name="T43" fmla="*/ 10 h 236"/>
                  <a:gd name="T44" fmla="*/ 238 w 358"/>
                  <a:gd name="T45" fmla="*/ 14 h 236"/>
                  <a:gd name="T46" fmla="*/ 260 w 358"/>
                  <a:gd name="T47" fmla="*/ 24 h 236"/>
                  <a:gd name="T48" fmla="*/ 272 w 358"/>
                  <a:gd name="T49" fmla="*/ 31 h 236"/>
                  <a:gd name="T50" fmla="*/ 274 w 358"/>
                  <a:gd name="T51" fmla="*/ 31 h 236"/>
                  <a:gd name="T52" fmla="*/ 274 w 358"/>
                  <a:gd name="T53" fmla="*/ 26 h 236"/>
                  <a:gd name="T54" fmla="*/ 279 w 358"/>
                  <a:gd name="T55" fmla="*/ 17 h 236"/>
                  <a:gd name="T56" fmla="*/ 288 w 358"/>
                  <a:gd name="T57" fmla="*/ 7 h 236"/>
                  <a:gd name="T58" fmla="*/ 305 w 358"/>
                  <a:gd name="T59" fmla="*/ 2 h 236"/>
                  <a:gd name="T60" fmla="*/ 327 w 358"/>
                  <a:gd name="T61" fmla="*/ 2 h 236"/>
                  <a:gd name="T62" fmla="*/ 343 w 358"/>
                  <a:gd name="T63" fmla="*/ 7 h 236"/>
                  <a:gd name="T64" fmla="*/ 350 w 358"/>
                  <a:gd name="T65" fmla="*/ 17 h 236"/>
                  <a:gd name="T66" fmla="*/ 355 w 358"/>
                  <a:gd name="T67" fmla="*/ 26 h 236"/>
                  <a:gd name="T68" fmla="*/ 358 w 358"/>
                  <a:gd name="T69" fmla="*/ 31 h 2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358"/>
                  <a:gd name="T106" fmla="*/ 0 h 236"/>
                  <a:gd name="T107" fmla="*/ 358 w 358"/>
                  <a:gd name="T108" fmla="*/ 236 h 2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358" h="236">
                    <a:moveTo>
                      <a:pt x="0" y="236"/>
                    </a:moveTo>
                    <a:lnTo>
                      <a:pt x="2" y="219"/>
                    </a:lnTo>
                    <a:lnTo>
                      <a:pt x="5" y="205"/>
                    </a:lnTo>
                    <a:lnTo>
                      <a:pt x="9" y="193"/>
                    </a:lnTo>
                    <a:lnTo>
                      <a:pt x="14" y="181"/>
                    </a:lnTo>
                    <a:lnTo>
                      <a:pt x="21" y="174"/>
                    </a:lnTo>
                    <a:lnTo>
                      <a:pt x="29" y="167"/>
                    </a:lnTo>
                    <a:lnTo>
                      <a:pt x="33" y="162"/>
                    </a:lnTo>
                    <a:lnTo>
                      <a:pt x="38" y="157"/>
                    </a:lnTo>
                    <a:lnTo>
                      <a:pt x="43" y="155"/>
                    </a:lnTo>
                    <a:lnTo>
                      <a:pt x="40" y="150"/>
                    </a:lnTo>
                    <a:lnTo>
                      <a:pt x="40" y="145"/>
                    </a:lnTo>
                    <a:lnTo>
                      <a:pt x="38" y="141"/>
                    </a:lnTo>
                    <a:lnTo>
                      <a:pt x="38" y="134"/>
                    </a:lnTo>
                    <a:lnTo>
                      <a:pt x="38" y="124"/>
                    </a:lnTo>
                    <a:lnTo>
                      <a:pt x="38" y="117"/>
                    </a:lnTo>
                    <a:lnTo>
                      <a:pt x="43" y="107"/>
                    </a:lnTo>
                    <a:lnTo>
                      <a:pt x="48" y="98"/>
                    </a:lnTo>
                    <a:lnTo>
                      <a:pt x="55" y="91"/>
                    </a:lnTo>
                    <a:lnTo>
                      <a:pt x="67" y="83"/>
                    </a:lnTo>
                    <a:lnTo>
                      <a:pt x="76" y="81"/>
                    </a:lnTo>
                    <a:lnTo>
                      <a:pt x="83" y="79"/>
                    </a:lnTo>
                    <a:lnTo>
                      <a:pt x="93" y="79"/>
                    </a:lnTo>
                    <a:lnTo>
                      <a:pt x="102" y="81"/>
                    </a:lnTo>
                    <a:lnTo>
                      <a:pt x="110" y="83"/>
                    </a:lnTo>
                    <a:lnTo>
                      <a:pt x="114" y="86"/>
                    </a:lnTo>
                    <a:lnTo>
                      <a:pt x="119" y="88"/>
                    </a:lnTo>
                    <a:lnTo>
                      <a:pt x="121" y="91"/>
                    </a:lnTo>
                    <a:lnTo>
                      <a:pt x="124" y="91"/>
                    </a:lnTo>
                    <a:lnTo>
                      <a:pt x="124" y="88"/>
                    </a:lnTo>
                    <a:lnTo>
                      <a:pt x="121" y="86"/>
                    </a:lnTo>
                    <a:lnTo>
                      <a:pt x="121" y="81"/>
                    </a:lnTo>
                    <a:lnTo>
                      <a:pt x="124" y="76"/>
                    </a:lnTo>
                    <a:lnTo>
                      <a:pt x="124" y="69"/>
                    </a:lnTo>
                    <a:lnTo>
                      <a:pt x="129" y="60"/>
                    </a:lnTo>
                    <a:lnTo>
                      <a:pt x="133" y="52"/>
                    </a:lnTo>
                    <a:lnTo>
                      <a:pt x="141" y="43"/>
                    </a:lnTo>
                    <a:lnTo>
                      <a:pt x="152" y="31"/>
                    </a:lnTo>
                    <a:lnTo>
                      <a:pt x="164" y="21"/>
                    </a:lnTo>
                    <a:lnTo>
                      <a:pt x="181" y="14"/>
                    </a:lnTo>
                    <a:lnTo>
                      <a:pt x="195" y="10"/>
                    </a:lnTo>
                    <a:lnTo>
                      <a:pt x="212" y="10"/>
                    </a:lnTo>
                    <a:lnTo>
                      <a:pt x="226" y="10"/>
                    </a:lnTo>
                    <a:lnTo>
                      <a:pt x="238" y="14"/>
                    </a:lnTo>
                    <a:lnTo>
                      <a:pt x="250" y="19"/>
                    </a:lnTo>
                    <a:lnTo>
                      <a:pt x="260" y="24"/>
                    </a:lnTo>
                    <a:lnTo>
                      <a:pt x="267" y="29"/>
                    </a:lnTo>
                    <a:lnTo>
                      <a:pt x="272" y="31"/>
                    </a:lnTo>
                    <a:lnTo>
                      <a:pt x="274" y="33"/>
                    </a:lnTo>
                    <a:lnTo>
                      <a:pt x="274" y="31"/>
                    </a:lnTo>
                    <a:lnTo>
                      <a:pt x="274" y="29"/>
                    </a:lnTo>
                    <a:lnTo>
                      <a:pt x="274" y="26"/>
                    </a:lnTo>
                    <a:lnTo>
                      <a:pt x="276" y="21"/>
                    </a:lnTo>
                    <a:lnTo>
                      <a:pt x="279" y="17"/>
                    </a:lnTo>
                    <a:lnTo>
                      <a:pt x="284" y="12"/>
                    </a:lnTo>
                    <a:lnTo>
                      <a:pt x="288" y="7"/>
                    </a:lnTo>
                    <a:lnTo>
                      <a:pt x="296" y="5"/>
                    </a:lnTo>
                    <a:lnTo>
                      <a:pt x="305" y="2"/>
                    </a:lnTo>
                    <a:lnTo>
                      <a:pt x="315" y="0"/>
                    </a:lnTo>
                    <a:lnTo>
                      <a:pt x="327" y="2"/>
                    </a:lnTo>
                    <a:lnTo>
                      <a:pt x="336" y="5"/>
                    </a:lnTo>
                    <a:lnTo>
                      <a:pt x="343" y="7"/>
                    </a:lnTo>
                    <a:lnTo>
                      <a:pt x="348" y="12"/>
                    </a:lnTo>
                    <a:lnTo>
                      <a:pt x="350" y="17"/>
                    </a:lnTo>
                    <a:lnTo>
                      <a:pt x="355" y="21"/>
                    </a:lnTo>
                    <a:lnTo>
                      <a:pt x="355" y="26"/>
                    </a:lnTo>
                    <a:lnTo>
                      <a:pt x="358" y="29"/>
                    </a:lnTo>
                    <a:lnTo>
                      <a:pt x="358" y="31"/>
                    </a:lnTo>
                    <a:lnTo>
                      <a:pt x="358" y="33"/>
                    </a:lnTo>
                  </a:path>
                </a:pathLst>
              </a:custGeom>
              <a:noFill/>
              <a:ln w="12700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24"/>
              <p:cNvSpPr/>
              <p:nvPr/>
            </p:nvSpPr>
            <p:spPr bwMode="auto">
              <a:xfrm>
                <a:off x="3891" y="2911"/>
                <a:ext cx="272" cy="229"/>
              </a:xfrm>
              <a:custGeom>
                <a:avLst/>
                <a:gdLst>
                  <a:gd name="T0" fmla="*/ 272 w 272"/>
                  <a:gd name="T1" fmla="*/ 202 h 229"/>
                  <a:gd name="T2" fmla="*/ 272 w 272"/>
                  <a:gd name="T3" fmla="*/ 205 h 229"/>
                  <a:gd name="T4" fmla="*/ 267 w 272"/>
                  <a:gd name="T5" fmla="*/ 207 h 229"/>
                  <a:gd name="T6" fmla="*/ 260 w 272"/>
                  <a:gd name="T7" fmla="*/ 212 h 229"/>
                  <a:gd name="T8" fmla="*/ 250 w 272"/>
                  <a:gd name="T9" fmla="*/ 217 h 229"/>
                  <a:gd name="T10" fmla="*/ 238 w 272"/>
                  <a:gd name="T11" fmla="*/ 221 h 229"/>
                  <a:gd name="T12" fmla="*/ 226 w 272"/>
                  <a:gd name="T13" fmla="*/ 226 h 229"/>
                  <a:gd name="T14" fmla="*/ 212 w 272"/>
                  <a:gd name="T15" fmla="*/ 229 h 229"/>
                  <a:gd name="T16" fmla="*/ 195 w 272"/>
                  <a:gd name="T17" fmla="*/ 226 h 229"/>
                  <a:gd name="T18" fmla="*/ 181 w 272"/>
                  <a:gd name="T19" fmla="*/ 224 h 229"/>
                  <a:gd name="T20" fmla="*/ 164 w 272"/>
                  <a:gd name="T21" fmla="*/ 214 h 229"/>
                  <a:gd name="T22" fmla="*/ 152 w 272"/>
                  <a:gd name="T23" fmla="*/ 205 h 229"/>
                  <a:gd name="T24" fmla="*/ 141 w 272"/>
                  <a:gd name="T25" fmla="*/ 195 h 229"/>
                  <a:gd name="T26" fmla="*/ 133 w 272"/>
                  <a:gd name="T27" fmla="*/ 186 h 229"/>
                  <a:gd name="T28" fmla="*/ 129 w 272"/>
                  <a:gd name="T29" fmla="*/ 176 h 229"/>
                  <a:gd name="T30" fmla="*/ 124 w 272"/>
                  <a:gd name="T31" fmla="*/ 167 h 229"/>
                  <a:gd name="T32" fmla="*/ 124 w 272"/>
                  <a:gd name="T33" fmla="*/ 159 h 229"/>
                  <a:gd name="T34" fmla="*/ 121 w 272"/>
                  <a:gd name="T35" fmla="*/ 155 h 229"/>
                  <a:gd name="T36" fmla="*/ 121 w 272"/>
                  <a:gd name="T37" fmla="*/ 150 h 229"/>
                  <a:gd name="T38" fmla="*/ 124 w 272"/>
                  <a:gd name="T39" fmla="*/ 148 h 229"/>
                  <a:gd name="T40" fmla="*/ 124 w 272"/>
                  <a:gd name="T41" fmla="*/ 145 h 229"/>
                  <a:gd name="T42" fmla="*/ 121 w 272"/>
                  <a:gd name="T43" fmla="*/ 148 h 229"/>
                  <a:gd name="T44" fmla="*/ 119 w 272"/>
                  <a:gd name="T45" fmla="*/ 150 h 229"/>
                  <a:gd name="T46" fmla="*/ 114 w 272"/>
                  <a:gd name="T47" fmla="*/ 152 h 229"/>
                  <a:gd name="T48" fmla="*/ 110 w 272"/>
                  <a:gd name="T49" fmla="*/ 155 h 229"/>
                  <a:gd name="T50" fmla="*/ 102 w 272"/>
                  <a:gd name="T51" fmla="*/ 157 h 229"/>
                  <a:gd name="T52" fmla="*/ 93 w 272"/>
                  <a:gd name="T53" fmla="*/ 157 h 229"/>
                  <a:gd name="T54" fmla="*/ 83 w 272"/>
                  <a:gd name="T55" fmla="*/ 157 h 229"/>
                  <a:gd name="T56" fmla="*/ 76 w 272"/>
                  <a:gd name="T57" fmla="*/ 157 h 229"/>
                  <a:gd name="T58" fmla="*/ 67 w 272"/>
                  <a:gd name="T59" fmla="*/ 152 h 229"/>
                  <a:gd name="T60" fmla="*/ 55 w 272"/>
                  <a:gd name="T61" fmla="*/ 145 h 229"/>
                  <a:gd name="T62" fmla="*/ 48 w 272"/>
                  <a:gd name="T63" fmla="*/ 138 h 229"/>
                  <a:gd name="T64" fmla="*/ 43 w 272"/>
                  <a:gd name="T65" fmla="*/ 128 h 229"/>
                  <a:gd name="T66" fmla="*/ 38 w 272"/>
                  <a:gd name="T67" fmla="*/ 121 h 229"/>
                  <a:gd name="T68" fmla="*/ 38 w 272"/>
                  <a:gd name="T69" fmla="*/ 112 h 229"/>
                  <a:gd name="T70" fmla="*/ 38 w 272"/>
                  <a:gd name="T71" fmla="*/ 105 h 229"/>
                  <a:gd name="T72" fmla="*/ 38 w 272"/>
                  <a:gd name="T73" fmla="*/ 97 h 229"/>
                  <a:gd name="T74" fmla="*/ 40 w 272"/>
                  <a:gd name="T75" fmla="*/ 90 h 229"/>
                  <a:gd name="T76" fmla="*/ 40 w 272"/>
                  <a:gd name="T77" fmla="*/ 86 h 229"/>
                  <a:gd name="T78" fmla="*/ 43 w 272"/>
                  <a:gd name="T79" fmla="*/ 83 h 229"/>
                  <a:gd name="T80" fmla="*/ 43 w 272"/>
                  <a:gd name="T81" fmla="*/ 81 h 229"/>
                  <a:gd name="T82" fmla="*/ 43 w 272"/>
                  <a:gd name="T83" fmla="*/ 81 h 229"/>
                  <a:gd name="T84" fmla="*/ 38 w 272"/>
                  <a:gd name="T85" fmla="*/ 78 h 229"/>
                  <a:gd name="T86" fmla="*/ 33 w 272"/>
                  <a:gd name="T87" fmla="*/ 76 h 229"/>
                  <a:gd name="T88" fmla="*/ 29 w 272"/>
                  <a:gd name="T89" fmla="*/ 71 h 229"/>
                  <a:gd name="T90" fmla="*/ 21 w 272"/>
                  <a:gd name="T91" fmla="*/ 64 h 229"/>
                  <a:gd name="T92" fmla="*/ 14 w 272"/>
                  <a:gd name="T93" fmla="*/ 55 h 229"/>
                  <a:gd name="T94" fmla="*/ 9 w 272"/>
                  <a:gd name="T95" fmla="*/ 45 h 229"/>
                  <a:gd name="T96" fmla="*/ 5 w 272"/>
                  <a:gd name="T97" fmla="*/ 31 h 229"/>
                  <a:gd name="T98" fmla="*/ 2 w 272"/>
                  <a:gd name="T99" fmla="*/ 16 h 229"/>
                  <a:gd name="T100" fmla="*/ 0 w 272"/>
                  <a:gd name="T101" fmla="*/ 0 h 229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272"/>
                  <a:gd name="T154" fmla="*/ 0 h 229"/>
                  <a:gd name="T155" fmla="*/ 272 w 272"/>
                  <a:gd name="T156" fmla="*/ 229 h 229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272" h="229">
                    <a:moveTo>
                      <a:pt x="272" y="202"/>
                    </a:moveTo>
                    <a:lnTo>
                      <a:pt x="272" y="205"/>
                    </a:lnTo>
                    <a:lnTo>
                      <a:pt x="267" y="207"/>
                    </a:lnTo>
                    <a:lnTo>
                      <a:pt x="260" y="212"/>
                    </a:lnTo>
                    <a:lnTo>
                      <a:pt x="250" y="217"/>
                    </a:lnTo>
                    <a:lnTo>
                      <a:pt x="238" y="221"/>
                    </a:lnTo>
                    <a:lnTo>
                      <a:pt x="226" y="226"/>
                    </a:lnTo>
                    <a:lnTo>
                      <a:pt x="212" y="229"/>
                    </a:lnTo>
                    <a:lnTo>
                      <a:pt x="195" y="226"/>
                    </a:lnTo>
                    <a:lnTo>
                      <a:pt x="181" y="224"/>
                    </a:lnTo>
                    <a:lnTo>
                      <a:pt x="164" y="214"/>
                    </a:lnTo>
                    <a:lnTo>
                      <a:pt x="152" y="205"/>
                    </a:lnTo>
                    <a:lnTo>
                      <a:pt x="141" y="195"/>
                    </a:lnTo>
                    <a:lnTo>
                      <a:pt x="133" y="186"/>
                    </a:lnTo>
                    <a:lnTo>
                      <a:pt x="129" y="176"/>
                    </a:lnTo>
                    <a:lnTo>
                      <a:pt x="124" y="167"/>
                    </a:lnTo>
                    <a:lnTo>
                      <a:pt x="124" y="159"/>
                    </a:lnTo>
                    <a:lnTo>
                      <a:pt x="121" y="155"/>
                    </a:lnTo>
                    <a:lnTo>
                      <a:pt x="121" y="150"/>
                    </a:lnTo>
                    <a:lnTo>
                      <a:pt x="124" y="148"/>
                    </a:lnTo>
                    <a:lnTo>
                      <a:pt x="124" y="145"/>
                    </a:lnTo>
                    <a:lnTo>
                      <a:pt x="121" y="148"/>
                    </a:lnTo>
                    <a:lnTo>
                      <a:pt x="119" y="150"/>
                    </a:lnTo>
                    <a:lnTo>
                      <a:pt x="114" y="152"/>
                    </a:lnTo>
                    <a:lnTo>
                      <a:pt x="110" y="155"/>
                    </a:lnTo>
                    <a:lnTo>
                      <a:pt x="102" y="157"/>
                    </a:lnTo>
                    <a:lnTo>
                      <a:pt x="93" y="157"/>
                    </a:lnTo>
                    <a:lnTo>
                      <a:pt x="83" y="157"/>
                    </a:lnTo>
                    <a:lnTo>
                      <a:pt x="76" y="157"/>
                    </a:lnTo>
                    <a:lnTo>
                      <a:pt x="67" y="152"/>
                    </a:lnTo>
                    <a:lnTo>
                      <a:pt x="55" y="145"/>
                    </a:lnTo>
                    <a:lnTo>
                      <a:pt x="48" y="138"/>
                    </a:lnTo>
                    <a:lnTo>
                      <a:pt x="43" y="128"/>
                    </a:lnTo>
                    <a:lnTo>
                      <a:pt x="38" y="121"/>
                    </a:lnTo>
                    <a:lnTo>
                      <a:pt x="38" y="112"/>
                    </a:lnTo>
                    <a:lnTo>
                      <a:pt x="38" y="105"/>
                    </a:lnTo>
                    <a:lnTo>
                      <a:pt x="38" y="97"/>
                    </a:lnTo>
                    <a:lnTo>
                      <a:pt x="40" y="90"/>
                    </a:lnTo>
                    <a:lnTo>
                      <a:pt x="40" y="86"/>
                    </a:lnTo>
                    <a:lnTo>
                      <a:pt x="43" y="83"/>
                    </a:lnTo>
                    <a:lnTo>
                      <a:pt x="43" y="81"/>
                    </a:lnTo>
                    <a:lnTo>
                      <a:pt x="38" y="78"/>
                    </a:lnTo>
                    <a:lnTo>
                      <a:pt x="33" y="76"/>
                    </a:lnTo>
                    <a:lnTo>
                      <a:pt x="29" y="71"/>
                    </a:lnTo>
                    <a:lnTo>
                      <a:pt x="21" y="64"/>
                    </a:lnTo>
                    <a:lnTo>
                      <a:pt x="14" y="55"/>
                    </a:lnTo>
                    <a:lnTo>
                      <a:pt x="9" y="45"/>
                    </a:lnTo>
                    <a:lnTo>
                      <a:pt x="5" y="31"/>
                    </a:lnTo>
                    <a:lnTo>
                      <a:pt x="2" y="16"/>
                    </a:ln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25"/>
              <p:cNvSpPr/>
              <p:nvPr/>
            </p:nvSpPr>
            <p:spPr bwMode="auto">
              <a:xfrm>
                <a:off x="4165" y="2911"/>
                <a:ext cx="355" cy="236"/>
              </a:xfrm>
              <a:custGeom>
                <a:avLst/>
                <a:gdLst>
                  <a:gd name="T0" fmla="*/ 355 w 355"/>
                  <a:gd name="T1" fmla="*/ 16 h 236"/>
                  <a:gd name="T2" fmla="*/ 348 w 355"/>
                  <a:gd name="T3" fmla="*/ 45 h 236"/>
                  <a:gd name="T4" fmla="*/ 334 w 355"/>
                  <a:gd name="T5" fmla="*/ 64 h 236"/>
                  <a:gd name="T6" fmla="*/ 322 w 355"/>
                  <a:gd name="T7" fmla="*/ 76 h 236"/>
                  <a:gd name="T8" fmla="*/ 315 w 355"/>
                  <a:gd name="T9" fmla="*/ 81 h 236"/>
                  <a:gd name="T10" fmla="*/ 315 w 355"/>
                  <a:gd name="T11" fmla="*/ 83 h 236"/>
                  <a:gd name="T12" fmla="*/ 317 w 355"/>
                  <a:gd name="T13" fmla="*/ 90 h 236"/>
                  <a:gd name="T14" fmla="*/ 320 w 355"/>
                  <a:gd name="T15" fmla="*/ 105 h 236"/>
                  <a:gd name="T16" fmla="*/ 317 w 355"/>
                  <a:gd name="T17" fmla="*/ 121 h 236"/>
                  <a:gd name="T18" fmla="*/ 310 w 355"/>
                  <a:gd name="T19" fmla="*/ 138 h 236"/>
                  <a:gd name="T20" fmla="*/ 291 w 355"/>
                  <a:gd name="T21" fmla="*/ 152 h 236"/>
                  <a:gd name="T22" fmla="*/ 272 w 355"/>
                  <a:gd name="T23" fmla="*/ 159 h 236"/>
                  <a:gd name="T24" fmla="*/ 255 w 355"/>
                  <a:gd name="T25" fmla="*/ 157 h 236"/>
                  <a:gd name="T26" fmla="*/ 241 w 355"/>
                  <a:gd name="T27" fmla="*/ 152 h 236"/>
                  <a:gd name="T28" fmla="*/ 234 w 355"/>
                  <a:gd name="T29" fmla="*/ 148 h 236"/>
                  <a:gd name="T30" fmla="*/ 234 w 355"/>
                  <a:gd name="T31" fmla="*/ 148 h 236"/>
                  <a:gd name="T32" fmla="*/ 234 w 355"/>
                  <a:gd name="T33" fmla="*/ 155 h 236"/>
                  <a:gd name="T34" fmla="*/ 231 w 355"/>
                  <a:gd name="T35" fmla="*/ 169 h 236"/>
                  <a:gd name="T36" fmla="*/ 224 w 355"/>
                  <a:gd name="T37" fmla="*/ 186 h 236"/>
                  <a:gd name="T38" fmla="*/ 205 w 355"/>
                  <a:gd name="T39" fmla="*/ 205 h 236"/>
                  <a:gd name="T40" fmla="*/ 177 w 355"/>
                  <a:gd name="T41" fmla="*/ 224 h 236"/>
                  <a:gd name="T42" fmla="*/ 146 w 355"/>
                  <a:gd name="T43" fmla="*/ 229 h 236"/>
                  <a:gd name="T44" fmla="*/ 117 w 355"/>
                  <a:gd name="T45" fmla="*/ 224 h 236"/>
                  <a:gd name="T46" fmla="*/ 98 w 355"/>
                  <a:gd name="T47" fmla="*/ 214 h 236"/>
                  <a:gd name="T48" fmla="*/ 86 w 355"/>
                  <a:gd name="T49" fmla="*/ 205 h 236"/>
                  <a:gd name="T50" fmla="*/ 84 w 355"/>
                  <a:gd name="T51" fmla="*/ 205 h 236"/>
                  <a:gd name="T52" fmla="*/ 81 w 355"/>
                  <a:gd name="T53" fmla="*/ 212 h 236"/>
                  <a:gd name="T54" fmla="*/ 76 w 355"/>
                  <a:gd name="T55" fmla="*/ 219 h 236"/>
                  <a:gd name="T56" fmla="*/ 69 w 355"/>
                  <a:gd name="T57" fmla="*/ 229 h 236"/>
                  <a:gd name="T58" fmla="*/ 53 w 355"/>
                  <a:gd name="T59" fmla="*/ 236 h 236"/>
                  <a:gd name="T60" fmla="*/ 31 w 355"/>
                  <a:gd name="T61" fmla="*/ 236 h 236"/>
                  <a:gd name="T62" fmla="*/ 14 w 355"/>
                  <a:gd name="T63" fmla="*/ 229 h 236"/>
                  <a:gd name="T64" fmla="*/ 5 w 355"/>
                  <a:gd name="T65" fmla="*/ 219 h 236"/>
                  <a:gd name="T66" fmla="*/ 0 w 355"/>
                  <a:gd name="T67" fmla="*/ 212 h 236"/>
                  <a:gd name="T68" fmla="*/ 0 w 355"/>
                  <a:gd name="T69" fmla="*/ 205 h 2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355"/>
                  <a:gd name="T106" fmla="*/ 0 h 236"/>
                  <a:gd name="T107" fmla="*/ 355 w 355"/>
                  <a:gd name="T108" fmla="*/ 236 h 2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355" h="236">
                    <a:moveTo>
                      <a:pt x="355" y="0"/>
                    </a:moveTo>
                    <a:lnTo>
                      <a:pt x="355" y="16"/>
                    </a:lnTo>
                    <a:lnTo>
                      <a:pt x="353" y="33"/>
                    </a:lnTo>
                    <a:lnTo>
                      <a:pt x="348" y="45"/>
                    </a:lnTo>
                    <a:lnTo>
                      <a:pt x="341" y="55"/>
                    </a:lnTo>
                    <a:lnTo>
                      <a:pt x="334" y="64"/>
                    </a:lnTo>
                    <a:lnTo>
                      <a:pt x="329" y="71"/>
                    </a:lnTo>
                    <a:lnTo>
                      <a:pt x="322" y="76"/>
                    </a:lnTo>
                    <a:lnTo>
                      <a:pt x="317" y="78"/>
                    </a:lnTo>
                    <a:lnTo>
                      <a:pt x="315" y="81"/>
                    </a:lnTo>
                    <a:lnTo>
                      <a:pt x="312" y="83"/>
                    </a:lnTo>
                    <a:lnTo>
                      <a:pt x="315" y="83"/>
                    </a:lnTo>
                    <a:lnTo>
                      <a:pt x="315" y="86"/>
                    </a:lnTo>
                    <a:lnTo>
                      <a:pt x="317" y="90"/>
                    </a:lnTo>
                    <a:lnTo>
                      <a:pt x="317" y="97"/>
                    </a:lnTo>
                    <a:lnTo>
                      <a:pt x="320" y="105"/>
                    </a:lnTo>
                    <a:lnTo>
                      <a:pt x="320" y="112"/>
                    </a:lnTo>
                    <a:lnTo>
                      <a:pt x="317" y="121"/>
                    </a:lnTo>
                    <a:lnTo>
                      <a:pt x="315" y="131"/>
                    </a:lnTo>
                    <a:lnTo>
                      <a:pt x="310" y="138"/>
                    </a:lnTo>
                    <a:lnTo>
                      <a:pt x="300" y="148"/>
                    </a:lnTo>
                    <a:lnTo>
                      <a:pt x="291" y="152"/>
                    </a:lnTo>
                    <a:lnTo>
                      <a:pt x="281" y="157"/>
                    </a:lnTo>
                    <a:lnTo>
                      <a:pt x="272" y="159"/>
                    </a:lnTo>
                    <a:lnTo>
                      <a:pt x="262" y="159"/>
                    </a:lnTo>
                    <a:lnTo>
                      <a:pt x="255" y="157"/>
                    </a:lnTo>
                    <a:lnTo>
                      <a:pt x="248" y="155"/>
                    </a:lnTo>
                    <a:lnTo>
                      <a:pt x="241" y="152"/>
                    </a:lnTo>
                    <a:lnTo>
                      <a:pt x="236" y="150"/>
                    </a:lnTo>
                    <a:lnTo>
                      <a:pt x="234" y="148"/>
                    </a:lnTo>
                    <a:lnTo>
                      <a:pt x="234" y="150"/>
                    </a:lnTo>
                    <a:lnTo>
                      <a:pt x="234" y="155"/>
                    </a:lnTo>
                    <a:lnTo>
                      <a:pt x="234" y="162"/>
                    </a:lnTo>
                    <a:lnTo>
                      <a:pt x="231" y="169"/>
                    </a:lnTo>
                    <a:lnTo>
                      <a:pt x="229" y="176"/>
                    </a:lnTo>
                    <a:lnTo>
                      <a:pt x="224" y="186"/>
                    </a:lnTo>
                    <a:lnTo>
                      <a:pt x="215" y="195"/>
                    </a:lnTo>
                    <a:lnTo>
                      <a:pt x="205" y="205"/>
                    </a:lnTo>
                    <a:lnTo>
                      <a:pt x="191" y="217"/>
                    </a:lnTo>
                    <a:lnTo>
                      <a:pt x="177" y="224"/>
                    </a:lnTo>
                    <a:lnTo>
                      <a:pt x="160" y="229"/>
                    </a:lnTo>
                    <a:lnTo>
                      <a:pt x="146" y="229"/>
                    </a:lnTo>
                    <a:lnTo>
                      <a:pt x="131" y="226"/>
                    </a:lnTo>
                    <a:lnTo>
                      <a:pt x="117" y="224"/>
                    </a:lnTo>
                    <a:lnTo>
                      <a:pt x="107" y="219"/>
                    </a:lnTo>
                    <a:lnTo>
                      <a:pt x="98" y="214"/>
                    </a:lnTo>
                    <a:lnTo>
                      <a:pt x="91" y="209"/>
                    </a:lnTo>
                    <a:lnTo>
                      <a:pt x="86" y="205"/>
                    </a:lnTo>
                    <a:lnTo>
                      <a:pt x="84" y="205"/>
                    </a:lnTo>
                    <a:lnTo>
                      <a:pt x="84" y="207"/>
                    </a:lnTo>
                    <a:lnTo>
                      <a:pt x="81" y="212"/>
                    </a:lnTo>
                    <a:lnTo>
                      <a:pt x="81" y="214"/>
                    </a:lnTo>
                    <a:lnTo>
                      <a:pt x="76" y="219"/>
                    </a:lnTo>
                    <a:lnTo>
                      <a:pt x="74" y="224"/>
                    </a:lnTo>
                    <a:lnTo>
                      <a:pt x="69" y="229"/>
                    </a:lnTo>
                    <a:lnTo>
                      <a:pt x="62" y="233"/>
                    </a:lnTo>
                    <a:lnTo>
                      <a:pt x="53" y="236"/>
                    </a:lnTo>
                    <a:lnTo>
                      <a:pt x="41" y="236"/>
                    </a:lnTo>
                    <a:lnTo>
                      <a:pt x="31" y="236"/>
                    </a:lnTo>
                    <a:lnTo>
                      <a:pt x="22" y="233"/>
                    </a:lnTo>
                    <a:lnTo>
                      <a:pt x="14" y="229"/>
                    </a:lnTo>
                    <a:lnTo>
                      <a:pt x="10" y="224"/>
                    </a:lnTo>
                    <a:lnTo>
                      <a:pt x="5" y="219"/>
                    </a:lnTo>
                    <a:lnTo>
                      <a:pt x="2" y="214"/>
                    </a:lnTo>
                    <a:lnTo>
                      <a:pt x="0" y="212"/>
                    </a:lnTo>
                    <a:lnTo>
                      <a:pt x="0" y="207"/>
                    </a:lnTo>
                    <a:lnTo>
                      <a:pt x="0" y="205"/>
                    </a:lnTo>
                  </a:path>
                </a:pathLst>
              </a:custGeom>
              <a:noFill/>
              <a:ln w="12700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7" name="Group 26"/>
            <p:cNvGrpSpPr/>
            <p:nvPr/>
          </p:nvGrpSpPr>
          <p:grpSpPr bwMode="auto">
            <a:xfrm>
              <a:off x="3810000" y="4648200"/>
              <a:ext cx="1447800" cy="990600"/>
              <a:chOff x="3891" y="2677"/>
              <a:chExt cx="632" cy="470"/>
            </a:xfrm>
          </p:grpSpPr>
          <p:sp>
            <p:nvSpPr>
              <p:cNvPr id="28" name="Freeform 27"/>
              <p:cNvSpPr/>
              <p:nvPr/>
            </p:nvSpPr>
            <p:spPr bwMode="auto">
              <a:xfrm>
                <a:off x="4246" y="2687"/>
                <a:ext cx="277" cy="228"/>
              </a:xfrm>
              <a:custGeom>
                <a:avLst/>
                <a:gdLst>
                  <a:gd name="T0" fmla="*/ 0 w 277"/>
                  <a:gd name="T1" fmla="*/ 23 h 228"/>
                  <a:gd name="T2" fmla="*/ 5 w 277"/>
                  <a:gd name="T3" fmla="*/ 23 h 228"/>
                  <a:gd name="T4" fmla="*/ 10 w 277"/>
                  <a:gd name="T5" fmla="*/ 19 h 228"/>
                  <a:gd name="T6" fmla="*/ 17 w 277"/>
                  <a:gd name="T7" fmla="*/ 14 h 228"/>
                  <a:gd name="T8" fmla="*/ 26 w 277"/>
                  <a:gd name="T9" fmla="*/ 9 h 228"/>
                  <a:gd name="T10" fmla="*/ 36 w 277"/>
                  <a:gd name="T11" fmla="*/ 4 h 228"/>
                  <a:gd name="T12" fmla="*/ 50 w 277"/>
                  <a:gd name="T13" fmla="*/ 2 h 228"/>
                  <a:gd name="T14" fmla="*/ 65 w 277"/>
                  <a:gd name="T15" fmla="*/ 0 h 228"/>
                  <a:gd name="T16" fmla="*/ 79 w 277"/>
                  <a:gd name="T17" fmla="*/ 0 h 228"/>
                  <a:gd name="T18" fmla="*/ 96 w 277"/>
                  <a:gd name="T19" fmla="*/ 4 h 228"/>
                  <a:gd name="T20" fmla="*/ 110 w 277"/>
                  <a:gd name="T21" fmla="*/ 11 h 228"/>
                  <a:gd name="T22" fmla="*/ 124 w 277"/>
                  <a:gd name="T23" fmla="*/ 23 h 228"/>
                  <a:gd name="T24" fmla="*/ 134 w 277"/>
                  <a:gd name="T25" fmla="*/ 33 h 228"/>
                  <a:gd name="T26" fmla="*/ 143 w 277"/>
                  <a:gd name="T27" fmla="*/ 42 h 228"/>
                  <a:gd name="T28" fmla="*/ 148 w 277"/>
                  <a:gd name="T29" fmla="*/ 52 h 228"/>
                  <a:gd name="T30" fmla="*/ 150 w 277"/>
                  <a:gd name="T31" fmla="*/ 59 h 228"/>
                  <a:gd name="T32" fmla="*/ 153 w 277"/>
                  <a:gd name="T33" fmla="*/ 66 h 228"/>
                  <a:gd name="T34" fmla="*/ 153 w 277"/>
                  <a:gd name="T35" fmla="*/ 73 h 228"/>
                  <a:gd name="T36" fmla="*/ 153 w 277"/>
                  <a:gd name="T37" fmla="*/ 78 h 228"/>
                  <a:gd name="T38" fmla="*/ 153 w 277"/>
                  <a:gd name="T39" fmla="*/ 81 h 228"/>
                  <a:gd name="T40" fmla="*/ 153 w 277"/>
                  <a:gd name="T41" fmla="*/ 81 h 228"/>
                  <a:gd name="T42" fmla="*/ 153 w 277"/>
                  <a:gd name="T43" fmla="*/ 81 h 228"/>
                  <a:gd name="T44" fmla="*/ 155 w 277"/>
                  <a:gd name="T45" fmla="*/ 78 h 228"/>
                  <a:gd name="T46" fmla="*/ 160 w 277"/>
                  <a:gd name="T47" fmla="*/ 76 h 228"/>
                  <a:gd name="T48" fmla="*/ 167 w 277"/>
                  <a:gd name="T49" fmla="*/ 73 h 228"/>
                  <a:gd name="T50" fmla="*/ 174 w 277"/>
                  <a:gd name="T51" fmla="*/ 71 h 228"/>
                  <a:gd name="T52" fmla="*/ 181 w 277"/>
                  <a:gd name="T53" fmla="*/ 69 h 228"/>
                  <a:gd name="T54" fmla="*/ 191 w 277"/>
                  <a:gd name="T55" fmla="*/ 69 h 228"/>
                  <a:gd name="T56" fmla="*/ 200 w 277"/>
                  <a:gd name="T57" fmla="*/ 71 h 228"/>
                  <a:gd name="T58" fmla="*/ 210 w 277"/>
                  <a:gd name="T59" fmla="*/ 73 h 228"/>
                  <a:gd name="T60" fmla="*/ 219 w 277"/>
                  <a:gd name="T61" fmla="*/ 81 h 228"/>
                  <a:gd name="T62" fmla="*/ 229 w 277"/>
                  <a:gd name="T63" fmla="*/ 90 h 228"/>
                  <a:gd name="T64" fmla="*/ 234 w 277"/>
                  <a:gd name="T65" fmla="*/ 97 h 228"/>
                  <a:gd name="T66" fmla="*/ 236 w 277"/>
                  <a:gd name="T67" fmla="*/ 107 h 228"/>
                  <a:gd name="T68" fmla="*/ 239 w 277"/>
                  <a:gd name="T69" fmla="*/ 116 h 228"/>
                  <a:gd name="T70" fmla="*/ 239 w 277"/>
                  <a:gd name="T71" fmla="*/ 124 h 228"/>
                  <a:gd name="T72" fmla="*/ 236 w 277"/>
                  <a:gd name="T73" fmla="*/ 131 h 228"/>
                  <a:gd name="T74" fmla="*/ 236 w 277"/>
                  <a:gd name="T75" fmla="*/ 138 h 228"/>
                  <a:gd name="T76" fmla="*/ 234 w 277"/>
                  <a:gd name="T77" fmla="*/ 143 h 228"/>
                  <a:gd name="T78" fmla="*/ 234 w 277"/>
                  <a:gd name="T79" fmla="*/ 145 h 228"/>
                  <a:gd name="T80" fmla="*/ 231 w 277"/>
                  <a:gd name="T81" fmla="*/ 145 h 228"/>
                  <a:gd name="T82" fmla="*/ 234 w 277"/>
                  <a:gd name="T83" fmla="*/ 147 h 228"/>
                  <a:gd name="T84" fmla="*/ 236 w 277"/>
                  <a:gd name="T85" fmla="*/ 147 h 228"/>
                  <a:gd name="T86" fmla="*/ 241 w 277"/>
                  <a:gd name="T87" fmla="*/ 152 h 228"/>
                  <a:gd name="T88" fmla="*/ 248 w 277"/>
                  <a:gd name="T89" fmla="*/ 157 h 228"/>
                  <a:gd name="T90" fmla="*/ 253 w 277"/>
                  <a:gd name="T91" fmla="*/ 164 h 228"/>
                  <a:gd name="T92" fmla="*/ 260 w 277"/>
                  <a:gd name="T93" fmla="*/ 174 h 228"/>
                  <a:gd name="T94" fmla="*/ 267 w 277"/>
                  <a:gd name="T95" fmla="*/ 183 h 228"/>
                  <a:gd name="T96" fmla="*/ 272 w 277"/>
                  <a:gd name="T97" fmla="*/ 195 h 228"/>
                  <a:gd name="T98" fmla="*/ 274 w 277"/>
                  <a:gd name="T99" fmla="*/ 212 h 228"/>
                  <a:gd name="T100" fmla="*/ 277 w 277"/>
                  <a:gd name="T101" fmla="*/ 228 h 228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277"/>
                  <a:gd name="T154" fmla="*/ 0 h 228"/>
                  <a:gd name="T155" fmla="*/ 277 w 277"/>
                  <a:gd name="T156" fmla="*/ 228 h 228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277" h="228">
                    <a:moveTo>
                      <a:pt x="0" y="23"/>
                    </a:moveTo>
                    <a:lnTo>
                      <a:pt x="5" y="23"/>
                    </a:lnTo>
                    <a:lnTo>
                      <a:pt x="10" y="19"/>
                    </a:lnTo>
                    <a:lnTo>
                      <a:pt x="17" y="14"/>
                    </a:lnTo>
                    <a:lnTo>
                      <a:pt x="26" y="9"/>
                    </a:lnTo>
                    <a:lnTo>
                      <a:pt x="36" y="4"/>
                    </a:lnTo>
                    <a:lnTo>
                      <a:pt x="50" y="2"/>
                    </a:lnTo>
                    <a:lnTo>
                      <a:pt x="65" y="0"/>
                    </a:lnTo>
                    <a:lnTo>
                      <a:pt x="79" y="0"/>
                    </a:lnTo>
                    <a:lnTo>
                      <a:pt x="96" y="4"/>
                    </a:lnTo>
                    <a:lnTo>
                      <a:pt x="110" y="11"/>
                    </a:lnTo>
                    <a:lnTo>
                      <a:pt x="124" y="23"/>
                    </a:lnTo>
                    <a:lnTo>
                      <a:pt x="134" y="33"/>
                    </a:lnTo>
                    <a:lnTo>
                      <a:pt x="143" y="42"/>
                    </a:lnTo>
                    <a:lnTo>
                      <a:pt x="148" y="52"/>
                    </a:lnTo>
                    <a:lnTo>
                      <a:pt x="150" y="59"/>
                    </a:lnTo>
                    <a:lnTo>
                      <a:pt x="153" y="66"/>
                    </a:lnTo>
                    <a:lnTo>
                      <a:pt x="153" y="73"/>
                    </a:lnTo>
                    <a:lnTo>
                      <a:pt x="153" y="78"/>
                    </a:lnTo>
                    <a:lnTo>
                      <a:pt x="153" y="81"/>
                    </a:lnTo>
                    <a:lnTo>
                      <a:pt x="155" y="78"/>
                    </a:lnTo>
                    <a:lnTo>
                      <a:pt x="160" y="76"/>
                    </a:lnTo>
                    <a:lnTo>
                      <a:pt x="167" y="73"/>
                    </a:lnTo>
                    <a:lnTo>
                      <a:pt x="174" y="71"/>
                    </a:lnTo>
                    <a:lnTo>
                      <a:pt x="181" y="69"/>
                    </a:lnTo>
                    <a:lnTo>
                      <a:pt x="191" y="69"/>
                    </a:lnTo>
                    <a:lnTo>
                      <a:pt x="200" y="71"/>
                    </a:lnTo>
                    <a:lnTo>
                      <a:pt x="210" y="73"/>
                    </a:lnTo>
                    <a:lnTo>
                      <a:pt x="219" y="81"/>
                    </a:lnTo>
                    <a:lnTo>
                      <a:pt x="229" y="90"/>
                    </a:lnTo>
                    <a:lnTo>
                      <a:pt x="234" y="97"/>
                    </a:lnTo>
                    <a:lnTo>
                      <a:pt x="236" y="107"/>
                    </a:lnTo>
                    <a:lnTo>
                      <a:pt x="239" y="116"/>
                    </a:lnTo>
                    <a:lnTo>
                      <a:pt x="239" y="124"/>
                    </a:lnTo>
                    <a:lnTo>
                      <a:pt x="236" y="131"/>
                    </a:lnTo>
                    <a:lnTo>
                      <a:pt x="236" y="138"/>
                    </a:lnTo>
                    <a:lnTo>
                      <a:pt x="234" y="143"/>
                    </a:lnTo>
                    <a:lnTo>
                      <a:pt x="234" y="145"/>
                    </a:lnTo>
                    <a:lnTo>
                      <a:pt x="231" y="145"/>
                    </a:lnTo>
                    <a:lnTo>
                      <a:pt x="234" y="147"/>
                    </a:lnTo>
                    <a:lnTo>
                      <a:pt x="236" y="147"/>
                    </a:lnTo>
                    <a:lnTo>
                      <a:pt x="241" y="152"/>
                    </a:lnTo>
                    <a:lnTo>
                      <a:pt x="248" y="157"/>
                    </a:lnTo>
                    <a:lnTo>
                      <a:pt x="253" y="164"/>
                    </a:lnTo>
                    <a:lnTo>
                      <a:pt x="260" y="174"/>
                    </a:lnTo>
                    <a:lnTo>
                      <a:pt x="267" y="183"/>
                    </a:lnTo>
                    <a:lnTo>
                      <a:pt x="272" y="195"/>
                    </a:lnTo>
                    <a:lnTo>
                      <a:pt x="274" y="212"/>
                    </a:lnTo>
                    <a:lnTo>
                      <a:pt x="277" y="228"/>
                    </a:lnTo>
                  </a:path>
                </a:pathLst>
              </a:custGeom>
              <a:noFill/>
              <a:ln w="12700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28"/>
              <p:cNvSpPr/>
              <p:nvPr/>
            </p:nvSpPr>
            <p:spPr bwMode="auto">
              <a:xfrm>
                <a:off x="3891" y="2677"/>
                <a:ext cx="358" cy="236"/>
              </a:xfrm>
              <a:custGeom>
                <a:avLst/>
                <a:gdLst>
                  <a:gd name="T0" fmla="*/ 2 w 358"/>
                  <a:gd name="T1" fmla="*/ 219 h 236"/>
                  <a:gd name="T2" fmla="*/ 9 w 358"/>
                  <a:gd name="T3" fmla="*/ 193 h 236"/>
                  <a:gd name="T4" fmla="*/ 21 w 358"/>
                  <a:gd name="T5" fmla="*/ 174 h 236"/>
                  <a:gd name="T6" fmla="*/ 33 w 358"/>
                  <a:gd name="T7" fmla="*/ 162 h 236"/>
                  <a:gd name="T8" fmla="*/ 43 w 358"/>
                  <a:gd name="T9" fmla="*/ 155 h 236"/>
                  <a:gd name="T10" fmla="*/ 43 w 358"/>
                  <a:gd name="T11" fmla="*/ 155 h 236"/>
                  <a:gd name="T12" fmla="*/ 40 w 358"/>
                  <a:gd name="T13" fmla="*/ 145 h 236"/>
                  <a:gd name="T14" fmla="*/ 38 w 358"/>
                  <a:gd name="T15" fmla="*/ 134 h 236"/>
                  <a:gd name="T16" fmla="*/ 38 w 358"/>
                  <a:gd name="T17" fmla="*/ 117 h 236"/>
                  <a:gd name="T18" fmla="*/ 48 w 358"/>
                  <a:gd name="T19" fmla="*/ 98 h 236"/>
                  <a:gd name="T20" fmla="*/ 67 w 358"/>
                  <a:gd name="T21" fmla="*/ 83 h 236"/>
                  <a:gd name="T22" fmla="*/ 83 w 358"/>
                  <a:gd name="T23" fmla="*/ 79 h 236"/>
                  <a:gd name="T24" fmla="*/ 102 w 358"/>
                  <a:gd name="T25" fmla="*/ 81 h 236"/>
                  <a:gd name="T26" fmla="*/ 114 w 358"/>
                  <a:gd name="T27" fmla="*/ 86 h 236"/>
                  <a:gd name="T28" fmla="*/ 121 w 358"/>
                  <a:gd name="T29" fmla="*/ 91 h 236"/>
                  <a:gd name="T30" fmla="*/ 124 w 358"/>
                  <a:gd name="T31" fmla="*/ 88 h 236"/>
                  <a:gd name="T32" fmla="*/ 121 w 358"/>
                  <a:gd name="T33" fmla="*/ 81 h 236"/>
                  <a:gd name="T34" fmla="*/ 124 w 358"/>
                  <a:gd name="T35" fmla="*/ 69 h 236"/>
                  <a:gd name="T36" fmla="*/ 133 w 358"/>
                  <a:gd name="T37" fmla="*/ 52 h 236"/>
                  <a:gd name="T38" fmla="*/ 152 w 358"/>
                  <a:gd name="T39" fmla="*/ 31 h 236"/>
                  <a:gd name="T40" fmla="*/ 181 w 358"/>
                  <a:gd name="T41" fmla="*/ 14 h 236"/>
                  <a:gd name="T42" fmla="*/ 212 w 358"/>
                  <a:gd name="T43" fmla="*/ 10 h 236"/>
                  <a:gd name="T44" fmla="*/ 238 w 358"/>
                  <a:gd name="T45" fmla="*/ 14 h 236"/>
                  <a:gd name="T46" fmla="*/ 260 w 358"/>
                  <a:gd name="T47" fmla="*/ 24 h 236"/>
                  <a:gd name="T48" fmla="*/ 272 w 358"/>
                  <a:gd name="T49" fmla="*/ 31 h 236"/>
                  <a:gd name="T50" fmla="*/ 274 w 358"/>
                  <a:gd name="T51" fmla="*/ 31 h 236"/>
                  <a:gd name="T52" fmla="*/ 274 w 358"/>
                  <a:gd name="T53" fmla="*/ 26 h 236"/>
                  <a:gd name="T54" fmla="*/ 279 w 358"/>
                  <a:gd name="T55" fmla="*/ 17 h 236"/>
                  <a:gd name="T56" fmla="*/ 288 w 358"/>
                  <a:gd name="T57" fmla="*/ 7 h 236"/>
                  <a:gd name="T58" fmla="*/ 305 w 358"/>
                  <a:gd name="T59" fmla="*/ 2 h 236"/>
                  <a:gd name="T60" fmla="*/ 327 w 358"/>
                  <a:gd name="T61" fmla="*/ 2 h 236"/>
                  <a:gd name="T62" fmla="*/ 343 w 358"/>
                  <a:gd name="T63" fmla="*/ 7 h 236"/>
                  <a:gd name="T64" fmla="*/ 350 w 358"/>
                  <a:gd name="T65" fmla="*/ 17 h 236"/>
                  <a:gd name="T66" fmla="*/ 355 w 358"/>
                  <a:gd name="T67" fmla="*/ 26 h 236"/>
                  <a:gd name="T68" fmla="*/ 358 w 358"/>
                  <a:gd name="T69" fmla="*/ 31 h 2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358"/>
                  <a:gd name="T106" fmla="*/ 0 h 236"/>
                  <a:gd name="T107" fmla="*/ 358 w 358"/>
                  <a:gd name="T108" fmla="*/ 236 h 2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358" h="236">
                    <a:moveTo>
                      <a:pt x="0" y="236"/>
                    </a:moveTo>
                    <a:lnTo>
                      <a:pt x="2" y="219"/>
                    </a:lnTo>
                    <a:lnTo>
                      <a:pt x="5" y="205"/>
                    </a:lnTo>
                    <a:lnTo>
                      <a:pt x="9" y="193"/>
                    </a:lnTo>
                    <a:lnTo>
                      <a:pt x="14" y="181"/>
                    </a:lnTo>
                    <a:lnTo>
                      <a:pt x="21" y="174"/>
                    </a:lnTo>
                    <a:lnTo>
                      <a:pt x="29" y="167"/>
                    </a:lnTo>
                    <a:lnTo>
                      <a:pt x="33" y="162"/>
                    </a:lnTo>
                    <a:lnTo>
                      <a:pt x="38" y="157"/>
                    </a:lnTo>
                    <a:lnTo>
                      <a:pt x="43" y="155"/>
                    </a:lnTo>
                    <a:lnTo>
                      <a:pt x="40" y="150"/>
                    </a:lnTo>
                    <a:lnTo>
                      <a:pt x="40" y="145"/>
                    </a:lnTo>
                    <a:lnTo>
                      <a:pt x="38" y="141"/>
                    </a:lnTo>
                    <a:lnTo>
                      <a:pt x="38" y="134"/>
                    </a:lnTo>
                    <a:lnTo>
                      <a:pt x="38" y="124"/>
                    </a:lnTo>
                    <a:lnTo>
                      <a:pt x="38" y="117"/>
                    </a:lnTo>
                    <a:lnTo>
                      <a:pt x="43" y="107"/>
                    </a:lnTo>
                    <a:lnTo>
                      <a:pt x="48" y="98"/>
                    </a:lnTo>
                    <a:lnTo>
                      <a:pt x="55" y="91"/>
                    </a:lnTo>
                    <a:lnTo>
                      <a:pt x="67" y="83"/>
                    </a:lnTo>
                    <a:lnTo>
                      <a:pt x="76" y="81"/>
                    </a:lnTo>
                    <a:lnTo>
                      <a:pt x="83" y="79"/>
                    </a:lnTo>
                    <a:lnTo>
                      <a:pt x="93" y="79"/>
                    </a:lnTo>
                    <a:lnTo>
                      <a:pt x="102" y="81"/>
                    </a:lnTo>
                    <a:lnTo>
                      <a:pt x="110" y="83"/>
                    </a:lnTo>
                    <a:lnTo>
                      <a:pt x="114" y="86"/>
                    </a:lnTo>
                    <a:lnTo>
                      <a:pt x="119" y="88"/>
                    </a:lnTo>
                    <a:lnTo>
                      <a:pt x="121" y="91"/>
                    </a:lnTo>
                    <a:lnTo>
                      <a:pt x="124" y="91"/>
                    </a:lnTo>
                    <a:lnTo>
                      <a:pt x="124" y="88"/>
                    </a:lnTo>
                    <a:lnTo>
                      <a:pt x="121" y="86"/>
                    </a:lnTo>
                    <a:lnTo>
                      <a:pt x="121" y="81"/>
                    </a:lnTo>
                    <a:lnTo>
                      <a:pt x="124" y="76"/>
                    </a:lnTo>
                    <a:lnTo>
                      <a:pt x="124" y="69"/>
                    </a:lnTo>
                    <a:lnTo>
                      <a:pt x="129" y="60"/>
                    </a:lnTo>
                    <a:lnTo>
                      <a:pt x="133" y="52"/>
                    </a:lnTo>
                    <a:lnTo>
                      <a:pt x="141" y="43"/>
                    </a:lnTo>
                    <a:lnTo>
                      <a:pt x="152" y="31"/>
                    </a:lnTo>
                    <a:lnTo>
                      <a:pt x="164" y="21"/>
                    </a:lnTo>
                    <a:lnTo>
                      <a:pt x="181" y="14"/>
                    </a:lnTo>
                    <a:lnTo>
                      <a:pt x="195" y="10"/>
                    </a:lnTo>
                    <a:lnTo>
                      <a:pt x="212" y="10"/>
                    </a:lnTo>
                    <a:lnTo>
                      <a:pt x="226" y="10"/>
                    </a:lnTo>
                    <a:lnTo>
                      <a:pt x="238" y="14"/>
                    </a:lnTo>
                    <a:lnTo>
                      <a:pt x="250" y="19"/>
                    </a:lnTo>
                    <a:lnTo>
                      <a:pt x="260" y="24"/>
                    </a:lnTo>
                    <a:lnTo>
                      <a:pt x="267" y="29"/>
                    </a:lnTo>
                    <a:lnTo>
                      <a:pt x="272" y="31"/>
                    </a:lnTo>
                    <a:lnTo>
                      <a:pt x="274" y="33"/>
                    </a:lnTo>
                    <a:lnTo>
                      <a:pt x="274" y="31"/>
                    </a:lnTo>
                    <a:lnTo>
                      <a:pt x="274" y="29"/>
                    </a:lnTo>
                    <a:lnTo>
                      <a:pt x="274" y="26"/>
                    </a:lnTo>
                    <a:lnTo>
                      <a:pt x="276" y="21"/>
                    </a:lnTo>
                    <a:lnTo>
                      <a:pt x="279" y="17"/>
                    </a:lnTo>
                    <a:lnTo>
                      <a:pt x="284" y="12"/>
                    </a:lnTo>
                    <a:lnTo>
                      <a:pt x="288" y="7"/>
                    </a:lnTo>
                    <a:lnTo>
                      <a:pt x="296" y="5"/>
                    </a:lnTo>
                    <a:lnTo>
                      <a:pt x="305" y="2"/>
                    </a:lnTo>
                    <a:lnTo>
                      <a:pt x="315" y="0"/>
                    </a:lnTo>
                    <a:lnTo>
                      <a:pt x="327" y="2"/>
                    </a:lnTo>
                    <a:lnTo>
                      <a:pt x="336" y="5"/>
                    </a:lnTo>
                    <a:lnTo>
                      <a:pt x="343" y="7"/>
                    </a:lnTo>
                    <a:lnTo>
                      <a:pt x="348" y="12"/>
                    </a:lnTo>
                    <a:lnTo>
                      <a:pt x="350" y="17"/>
                    </a:lnTo>
                    <a:lnTo>
                      <a:pt x="355" y="21"/>
                    </a:lnTo>
                    <a:lnTo>
                      <a:pt x="355" y="26"/>
                    </a:lnTo>
                    <a:lnTo>
                      <a:pt x="358" y="29"/>
                    </a:lnTo>
                    <a:lnTo>
                      <a:pt x="358" y="31"/>
                    </a:lnTo>
                    <a:lnTo>
                      <a:pt x="358" y="33"/>
                    </a:lnTo>
                  </a:path>
                </a:pathLst>
              </a:custGeom>
              <a:noFill/>
              <a:ln w="12700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29"/>
              <p:cNvSpPr/>
              <p:nvPr/>
            </p:nvSpPr>
            <p:spPr bwMode="auto">
              <a:xfrm>
                <a:off x="3891" y="2911"/>
                <a:ext cx="272" cy="229"/>
              </a:xfrm>
              <a:custGeom>
                <a:avLst/>
                <a:gdLst>
                  <a:gd name="T0" fmla="*/ 272 w 272"/>
                  <a:gd name="T1" fmla="*/ 202 h 229"/>
                  <a:gd name="T2" fmla="*/ 272 w 272"/>
                  <a:gd name="T3" fmla="*/ 205 h 229"/>
                  <a:gd name="T4" fmla="*/ 267 w 272"/>
                  <a:gd name="T5" fmla="*/ 207 h 229"/>
                  <a:gd name="T6" fmla="*/ 260 w 272"/>
                  <a:gd name="T7" fmla="*/ 212 h 229"/>
                  <a:gd name="T8" fmla="*/ 250 w 272"/>
                  <a:gd name="T9" fmla="*/ 217 h 229"/>
                  <a:gd name="T10" fmla="*/ 238 w 272"/>
                  <a:gd name="T11" fmla="*/ 221 h 229"/>
                  <a:gd name="T12" fmla="*/ 226 w 272"/>
                  <a:gd name="T13" fmla="*/ 226 h 229"/>
                  <a:gd name="T14" fmla="*/ 212 w 272"/>
                  <a:gd name="T15" fmla="*/ 229 h 229"/>
                  <a:gd name="T16" fmla="*/ 195 w 272"/>
                  <a:gd name="T17" fmla="*/ 226 h 229"/>
                  <a:gd name="T18" fmla="*/ 181 w 272"/>
                  <a:gd name="T19" fmla="*/ 224 h 229"/>
                  <a:gd name="T20" fmla="*/ 164 w 272"/>
                  <a:gd name="T21" fmla="*/ 214 h 229"/>
                  <a:gd name="T22" fmla="*/ 152 w 272"/>
                  <a:gd name="T23" fmla="*/ 205 h 229"/>
                  <a:gd name="T24" fmla="*/ 141 w 272"/>
                  <a:gd name="T25" fmla="*/ 195 h 229"/>
                  <a:gd name="T26" fmla="*/ 133 w 272"/>
                  <a:gd name="T27" fmla="*/ 186 h 229"/>
                  <a:gd name="T28" fmla="*/ 129 w 272"/>
                  <a:gd name="T29" fmla="*/ 176 h 229"/>
                  <a:gd name="T30" fmla="*/ 124 w 272"/>
                  <a:gd name="T31" fmla="*/ 167 h 229"/>
                  <a:gd name="T32" fmla="*/ 124 w 272"/>
                  <a:gd name="T33" fmla="*/ 159 h 229"/>
                  <a:gd name="T34" fmla="*/ 121 w 272"/>
                  <a:gd name="T35" fmla="*/ 155 h 229"/>
                  <a:gd name="T36" fmla="*/ 121 w 272"/>
                  <a:gd name="T37" fmla="*/ 150 h 229"/>
                  <a:gd name="T38" fmla="*/ 124 w 272"/>
                  <a:gd name="T39" fmla="*/ 148 h 229"/>
                  <a:gd name="T40" fmla="*/ 124 w 272"/>
                  <a:gd name="T41" fmla="*/ 145 h 229"/>
                  <a:gd name="T42" fmla="*/ 121 w 272"/>
                  <a:gd name="T43" fmla="*/ 148 h 229"/>
                  <a:gd name="T44" fmla="*/ 119 w 272"/>
                  <a:gd name="T45" fmla="*/ 150 h 229"/>
                  <a:gd name="T46" fmla="*/ 114 w 272"/>
                  <a:gd name="T47" fmla="*/ 152 h 229"/>
                  <a:gd name="T48" fmla="*/ 110 w 272"/>
                  <a:gd name="T49" fmla="*/ 155 h 229"/>
                  <a:gd name="T50" fmla="*/ 102 w 272"/>
                  <a:gd name="T51" fmla="*/ 157 h 229"/>
                  <a:gd name="T52" fmla="*/ 93 w 272"/>
                  <a:gd name="T53" fmla="*/ 157 h 229"/>
                  <a:gd name="T54" fmla="*/ 83 w 272"/>
                  <a:gd name="T55" fmla="*/ 157 h 229"/>
                  <a:gd name="T56" fmla="*/ 76 w 272"/>
                  <a:gd name="T57" fmla="*/ 157 h 229"/>
                  <a:gd name="T58" fmla="*/ 67 w 272"/>
                  <a:gd name="T59" fmla="*/ 152 h 229"/>
                  <a:gd name="T60" fmla="*/ 55 w 272"/>
                  <a:gd name="T61" fmla="*/ 145 h 229"/>
                  <a:gd name="T62" fmla="*/ 48 w 272"/>
                  <a:gd name="T63" fmla="*/ 138 h 229"/>
                  <a:gd name="T64" fmla="*/ 43 w 272"/>
                  <a:gd name="T65" fmla="*/ 128 h 229"/>
                  <a:gd name="T66" fmla="*/ 38 w 272"/>
                  <a:gd name="T67" fmla="*/ 121 h 229"/>
                  <a:gd name="T68" fmla="*/ 38 w 272"/>
                  <a:gd name="T69" fmla="*/ 112 h 229"/>
                  <a:gd name="T70" fmla="*/ 38 w 272"/>
                  <a:gd name="T71" fmla="*/ 105 h 229"/>
                  <a:gd name="T72" fmla="*/ 38 w 272"/>
                  <a:gd name="T73" fmla="*/ 97 h 229"/>
                  <a:gd name="T74" fmla="*/ 40 w 272"/>
                  <a:gd name="T75" fmla="*/ 90 h 229"/>
                  <a:gd name="T76" fmla="*/ 40 w 272"/>
                  <a:gd name="T77" fmla="*/ 86 h 229"/>
                  <a:gd name="T78" fmla="*/ 43 w 272"/>
                  <a:gd name="T79" fmla="*/ 83 h 229"/>
                  <a:gd name="T80" fmla="*/ 43 w 272"/>
                  <a:gd name="T81" fmla="*/ 81 h 229"/>
                  <a:gd name="T82" fmla="*/ 43 w 272"/>
                  <a:gd name="T83" fmla="*/ 81 h 229"/>
                  <a:gd name="T84" fmla="*/ 38 w 272"/>
                  <a:gd name="T85" fmla="*/ 78 h 229"/>
                  <a:gd name="T86" fmla="*/ 33 w 272"/>
                  <a:gd name="T87" fmla="*/ 76 h 229"/>
                  <a:gd name="T88" fmla="*/ 29 w 272"/>
                  <a:gd name="T89" fmla="*/ 71 h 229"/>
                  <a:gd name="T90" fmla="*/ 21 w 272"/>
                  <a:gd name="T91" fmla="*/ 64 h 229"/>
                  <a:gd name="T92" fmla="*/ 14 w 272"/>
                  <a:gd name="T93" fmla="*/ 55 h 229"/>
                  <a:gd name="T94" fmla="*/ 9 w 272"/>
                  <a:gd name="T95" fmla="*/ 45 h 229"/>
                  <a:gd name="T96" fmla="*/ 5 w 272"/>
                  <a:gd name="T97" fmla="*/ 31 h 229"/>
                  <a:gd name="T98" fmla="*/ 2 w 272"/>
                  <a:gd name="T99" fmla="*/ 16 h 229"/>
                  <a:gd name="T100" fmla="*/ 0 w 272"/>
                  <a:gd name="T101" fmla="*/ 0 h 229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272"/>
                  <a:gd name="T154" fmla="*/ 0 h 229"/>
                  <a:gd name="T155" fmla="*/ 272 w 272"/>
                  <a:gd name="T156" fmla="*/ 229 h 229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272" h="229">
                    <a:moveTo>
                      <a:pt x="272" y="202"/>
                    </a:moveTo>
                    <a:lnTo>
                      <a:pt x="272" y="205"/>
                    </a:lnTo>
                    <a:lnTo>
                      <a:pt x="267" y="207"/>
                    </a:lnTo>
                    <a:lnTo>
                      <a:pt x="260" y="212"/>
                    </a:lnTo>
                    <a:lnTo>
                      <a:pt x="250" y="217"/>
                    </a:lnTo>
                    <a:lnTo>
                      <a:pt x="238" y="221"/>
                    </a:lnTo>
                    <a:lnTo>
                      <a:pt x="226" y="226"/>
                    </a:lnTo>
                    <a:lnTo>
                      <a:pt x="212" y="229"/>
                    </a:lnTo>
                    <a:lnTo>
                      <a:pt x="195" y="226"/>
                    </a:lnTo>
                    <a:lnTo>
                      <a:pt x="181" y="224"/>
                    </a:lnTo>
                    <a:lnTo>
                      <a:pt x="164" y="214"/>
                    </a:lnTo>
                    <a:lnTo>
                      <a:pt x="152" y="205"/>
                    </a:lnTo>
                    <a:lnTo>
                      <a:pt x="141" y="195"/>
                    </a:lnTo>
                    <a:lnTo>
                      <a:pt x="133" y="186"/>
                    </a:lnTo>
                    <a:lnTo>
                      <a:pt x="129" y="176"/>
                    </a:lnTo>
                    <a:lnTo>
                      <a:pt x="124" y="167"/>
                    </a:lnTo>
                    <a:lnTo>
                      <a:pt x="124" y="159"/>
                    </a:lnTo>
                    <a:lnTo>
                      <a:pt x="121" y="155"/>
                    </a:lnTo>
                    <a:lnTo>
                      <a:pt x="121" y="150"/>
                    </a:lnTo>
                    <a:lnTo>
                      <a:pt x="124" y="148"/>
                    </a:lnTo>
                    <a:lnTo>
                      <a:pt x="124" y="145"/>
                    </a:lnTo>
                    <a:lnTo>
                      <a:pt x="121" y="148"/>
                    </a:lnTo>
                    <a:lnTo>
                      <a:pt x="119" y="150"/>
                    </a:lnTo>
                    <a:lnTo>
                      <a:pt x="114" y="152"/>
                    </a:lnTo>
                    <a:lnTo>
                      <a:pt x="110" y="155"/>
                    </a:lnTo>
                    <a:lnTo>
                      <a:pt x="102" y="157"/>
                    </a:lnTo>
                    <a:lnTo>
                      <a:pt x="93" y="157"/>
                    </a:lnTo>
                    <a:lnTo>
                      <a:pt x="83" y="157"/>
                    </a:lnTo>
                    <a:lnTo>
                      <a:pt x="76" y="157"/>
                    </a:lnTo>
                    <a:lnTo>
                      <a:pt x="67" y="152"/>
                    </a:lnTo>
                    <a:lnTo>
                      <a:pt x="55" y="145"/>
                    </a:lnTo>
                    <a:lnTo>
                      <a:pt x="48" y="138"/>
                    </a:lnTo>
                    <a:lnTo>
                      <a:pt x="43" y="128"/>
                    </a:lnTo>
                    <a:lnTo>
                      <a:pt x="38" y="121"/>
                    </a:lnTo>
                    <a:lnTo>
                      <a:pt x="38" y="112"/>
                    </a:lnTo>
                    <a:lnTo>
                      <a:pt x="38" y="105"/>
                    </a:lnTo>
                    <a:lnTo>
                      <a:pt x="38" y="97"/>
                    </a:lnTo>
                    <a:lnTo>
                      <a:pt x="40" y="90"/>
                    </a:lnTo>
                    <a:lnTo>
                      <a:pt x="40" y="86"/>
                    </a:lnTo>
                    <a:lnTo>
                      <a:pt x="43" y="83"/>
                    </a:lnTo>
                    <a:lnTo>
                      <a:pt x="43" y="81"/>
                    </a:lnTo>
                    <a:lnTo>
                      <a:pt x="38" y="78"/>
                    </a:lnTo>
                    <a:lnTo>
                      <a:pt x="33" y="76"/>
                    </a:lnTo>
                    <a:lnTo>
                      <a:pt x="29" y="71"/>
                    </a:lnTo>
                    <a:lnTo>
                      <a:pt x="21" y="64"/>
                    </a:lnTo>
                    <a:lnTo>
                      <a:pt x="14" y="55"/>
                    </a:lnTo>
                    <a:lnTo>
                      <a:pt x="9" y="45"/>
                    </a:lnTo>
                    <a:lnTo>
                      <a:pt x="5" y="31"/>
                    </a:lnTo>
                    <a:lnTo>
                      <a:pt x="2" y="16"/>
                    </a:ln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30"/>
              <p:cNvSpPr/>
              <p:nvPr/>
            </p:nvSpPr>
            <p:spPr bwMode="auto">
              <a:xfrm>
                <a:off x="4165" y="2911"/>
                <a:ext cx="355" cy="236"/>
              </a:xfrm>
              <a:custGeom>
                <a:avLst/>
                <a:gdLst>
                  <a:gd name="T0" fmla="*/ 355 w 355"/>
                  <a:gd name="T1" fmla="*/ 16 h 236"/>
                  <a:gd name="T2" fmla="*/ 348 w 355"/>
                  <a:gd name="T3" fmla="*/ 45 h 236"/>
                  <a:gd name="T4" fmla="*/ 334 w 355"/>
                  <a:gd name="T5" fmla="*/ 64 h 236"/>
                  <a:gd name="T6" fmla="*/ 322 w 355"/>
                  <a:gd name="T7" fmla="*/ 76 h 236"/>
                  <a:gd name="T8" fmla="*/ 315 w 355"/>
                  <a:gd name="T9" fmla="*/ 81 h 236"/>
                  <a:gd name="T10" fmla="*/ 315 w 355"/>
                  <a:gd name="T11" fmla="*/ 83 h 236"/>
                  <a:gd name="T12" fmla="*/ 317 w 355"/>
                  <a:gd name="T13" fmla="*/ 90 h 236"/>
                  <a:gd name="T14" fmla="*/ 320 w 355"/>
                  <a:gd name="T15" fmla="*/ 105 h 236"/>
                  <a:gd name="T16" fmla="*/ 317 w 355"/>
                  <a:gd name="T17" fmla="*/ 121 h 236"/>
                  <a:gd name="T18" fmla="*/ 310 w 355"/>
                  <a:gd name="T19" fmla="*/ 138 h 236"/>
                  <a:gd name="T20" fmla="*/ 291 w 355"/>
                  <a:gd name="T21" fmla="*/ 152 h 236"/>
                  <a:gd name="T22" fmla="*/ 272 w 355"/>
                  <a:gd name="T23" fmla="*/ 159 h 236"/>
                  <a:gd name="T24" fmla="*/ 255 w 355"/>
                  <a:gd name="T25" fmla="*/ 157 h 236"/>
                  <a:gd name="T26" fmla="*/ 241 w 355"/>
                  <a:gd name="T27" fmla="*/ 152 h 236"/>
                  <a:gd name="T28" fmla="*/ 234 w 355"/>
                  <a:gd name="T29" fmla="*/ 148 h 236"/>
                  <a:gd name="T30" fmla="*/ 234 w 355"/>
                  <a:gd name="T31" fmla="*/ 148 h 236"/>
                  <a:gd name="T32" fmla="*/ 234 w 355"/>
                  <a:gd name="T33" fmla="*/ 155 h 236"/>
                  <a:gd name="T34" fmla="*/ 231 w 355"/>
                  <a:gd name="T35" fmla="*/ 169 h 236"/>
                  <a:gd name="T36" fmla="*/ 224 w 355"/>
                  <a:gd name="T37" fmla="*/ 186 h 236"/>
                  <a:gd name="T38" fmla="*/ 205 w 355"/>
                  <a:gd name="T39" fmla="*/ 205 h 236"/>
                  <a:gd name="T40" fmla="*/ 177 w 355"/>
                  <a:gd name="T41" fmla="*/ 224 h 236"/>
                  <a:gd name="T42" fmla="*/ 146 w 355"/>
                  <a:gd name="T43" fmla="*/ 229 h 236"/>
                  <a:gd name="T44" fmla="*/ 117 w 355"/>
                  <a:gd name="T45" fmla="*/ 224 h 236"/>
                  <a:gd name="T46" fmla="*/ 98 w 355"/>
                  <a:gd name="T47" fmla="*/ 214 h 236"/>
                  <a:gd name="T48" fmla="*/ 86 w 355"/>
                  <a:gd name="T49" fmla="*/ 205 h 236"/>
                  <a:gd name="T50" fmla="*/ 84 w 355"/>
                  <a:gd name="T51" fmla="*/ 205 h 236"/>
                  <a:gd name="T52" fmla="*/ 81 w 355"/>
                  <a:gd name="T53" fmla="*/ 212 h 236"/>
                  <a:gd name="T54" fmla="*/ 76 w 355"/>
                  <a:gd name="T55" fmla="*/ 219 h 236"/>
                  <a:gd name="T56" fmla="*/ 69 w 355"/>
                  <a:gd name="T57" fmla="*/ 229 h 236"/>
                  <a:gd name="T58" fmla="*/ 53 w 355"/>
                  <a:gd name="T59" fmla="*/ 236 h 236"/>
                  <a:gd name="T60" fmla="*/ 31 w 355"/>
                  <a:gd name="T61" fmla="*/ 236 h 236"/>
                  <a:gd name="T62" fmla="*/ 14 w 355"/>
                  <a:gd name="T63" fmla="*/ 229 h 236"/>
                  <a:gd name="T64" fmla="*/ 5 w 355"/>
                  <a:gd name="T65" fmla="*/ 219 h 236"/>
                  <a:gd name="T66" fmla="*/ 0 w 355"/>
                  <a:gd name="T67" fmla="*/ 212 h 236"/>
                  <a:gd name="T68" fmla="*/ 0 w 355"/>
                  <a:gd name="T69" fmla="*/ 205 h 2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355"/>
                  <a:gd name="T106" fmla="*/ 0 h 236"/>
                  <a:gd name="T107" fmla="*/ 355 w 355"/>
                  <a:gd name="T108" fmla="*/ 236 h 2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355" h="236">
                    <a:moveTo>
                      <a:pt x="355" y="0"/>
                    </a:moveTo>
                    <a:lnTo>
                      <a:pt x="355" y="16"/>
                    </a:lnTo>
                    <a:lnTo>
                      <a:pt x="353" y="33"/>
                    </a:lnTo>
                    <a:lnTo>
                      <a:pt x="348" y="45"/>
                    </a:lnTo>
                    <a:lnTo>
                      <a:pt x="341" y="55"/>
                    </a:lnTo>
                    <a:lnTo>
                      <a:pt x="334" y="64"/>
                    </a:lnTo>
                    <a:lnTo>
                      <a:pt x="329" y="71"/>
                    </a:lnTo>
                    <a:lnTo>
                      <a:pt x="322" y="76"/>
                    </a:lnTo>
                    <a:lnTo>
                      <a:pt x="317" y="78"/>
                    </a:lnTo>
                    <a:lnTo>
                      <a:pt x="315" y="81"/>
                    </a:lnTo>
                    <a:lnTo>
                      <a:pt x="312" y="83"/>
                    </a:lnTo>
                    <a:lnTo>
                      <a:pt x="315" y="83"/>
                    </a:lnTo>
                    <a:lnTo>
                      <a:pt x="315" y="86"/>
                    </a:lnTo>
                    <a:lnTo>
                      <a:pt x="317" y="90"/>
                    </a:lnTo>
                    <a:lnTo>
                      <a:pt x="317" y="97"/>
                    </a:lnTo>
                    <a:lnTo>
                      <a:pt x="320" y="105"/>
                    </a:lnTo>
                    <a:lnTo>
                      <a:pt x="320" y="112"/>
                    </a:lnTo>
                    <a:lnTo>
                      <a:pt x="317" y="121"/>
                    </a:lnTo>
                    <a:lnTo>
                      <a:pt x="315" y="131"/>
                    </a:lnTo>
                    <a:lnTo>
                      <a:pt x="310" y="138"/>
                    </a:lnTo>
                    <a:lnTo>
                      <a:pt x="300" y="148"/>
                    </a:lnTo>
                    <a:lnTo>
                      <a:pt x="291" y="152"/>
                    </a:lnTo>
                    <a:lnTo>
                      <a:pt x="281" y="157"/>
                    </a:lnTo>
                    <a:lnTo>
                      <a:pt x="272" y="159"/>
                    </a:lnTo>
                    <a:lnTo>
                      <a:pt x="262" y="159"/>
                    </a:lnTo>
                    <a:lnTo>
                      <a:pt x="255" y="157"/>
                    </a:lnTo>
                    <a:lnTo>
                      <a:pt x="248" y="155"/>
                    </a:lnTo>
                    <a:lnTo>
                      <a:pt x="241" y="152"/>
                    </a:lnTo>
                    <a:lnTo>
                      <a:pt x="236" y="150"/>
                    </a:lnTo>
                    <a:lnTo>
                      <a:pt x="234" y="148"/>
                    </a:lnTo>
                    <a:lnTo>
                      <a:pt x="234" y="150"/>
                    </a:lnTo>
                    <a:lnTo>
                      <a:pt x="234" y="155"/>
                    </a:lnTo>
                    <a:lnTo>
                      <a:pt x="234" y="162"/>
                    </a:lnTo>
                    <a:lnTo>
                      <a:pt x="231" y="169"/>
                    </a:lnTo>
                    <a:lnTo>
                      <a:pt x="229" y="176"/>
                    </a:lnTo>
                    <a:lnTo>
                      <a:pt x="224" y="186"/>
                    </a:lnTo>
                    <a:lnTo>
                      <a:pt x="215" y="195"/>
                    </a:lnTo>
                    <a:lnTo>
                      <a:pt x="205" y="205"/>
                    </a:lnTo>
                    <a:lnTo>
                      <a:pt x="191" y="217"/>
                    </a:lnTo>
                    <a:lnTo>
                      <a:pt x="177" y="224"/>
                    </a:lnTo>
                    <a:lnTo>
                      <a:pt x="160" y="229"/>
                    </a:lnTo>
                    <a:lnTo>
                      <a:pt x="146" y="229"/>
                    </a:lnTo>
                    <a:lnTo>
                      <a:pt x="131" y="226"/>
                    </a:lnTo>
                    <a:lnTo>
                      <a:pt x="117" y="224"/>
                    </a:lnTo>
                    <a:lnTo>
                      <a:pt x="107" y="219"/>
                    </a:lnTo>
                    <a:lnTo>
                      <a:pt x="98" y="214"/>
                    </a:lnTo>
                    <a:lnTo>
                      <a:pt x="91" y="209"/>
                    </a:lnTo>
                    <a:lnTo>
                      <a:pt x="86" y="205"/>
                    </a:lnTo>
                    <a:lnTo>
                      <a:pt x="84" y="205"/>
                    </a:lnTo>
                    <a:lnTo>
                      <a:pt x="84" y="207"/>
                    </a:lnTo>
                    <a:lnTo>
                      <a:pt x="81" y="212"/>
                    </a:lnTo>
                    <a:lnTo>
                      <a:pt x="81" y="214"/>
                    </a:lnTo>
                    <a:lnTo>
                      <a:pt x="76" y="219"/>
                    </a:lnTo>
                    <a:lnTo>
                      <a:pt x="74" y="224"/>
                    </a:lnTo>
                    <a:lnTo>
                      <a:pt x="69" y="229"/>
                    </a:lnTo>
                    <a:lnTo>
                      <a:pt x="62" y="233"/>
                    </a:lnTo>
                    <a:lnTo>
                      <a:pt x="53" y="236"/>
                    </a:lnTo>
                    <a:lnTo>
                      <a:pt x="41" y="236"/>
                    </a:lnTo>
                    <a:lnTo>
                      <a:pt x="31" y="236"/>
                    </a:lnTo>
                    <a:lnTo>
                      <a:pt x="22" y="233"/>
                    </a:lnTo>
                    <a:lnTo>
                      <a:pt x="14" y="229"/>
                    </a:lnTo>
                    <a:lnTo>
                      <a:pt x="10" y="224"/>
                    </a:lnTo>
                    <a:lnTo>
                      <a:pt x="5" y="219"/>
                    </a:lnTo>
                    <a:lnTo>
                      <a:pt x="2" y="214"/>
                    </a:lnTo>
                    <a:lnTo>
                      <a:pt x="0" y="212"/>
                    </a:lnTo>
                    <a:lnTo>
                      <a:pt x="0" y="207"/>
                    </a:lnTo>
                    <a:lnTo>
                      <a:pt x="0" y="205"/>
                    </a:lnTo>
                  </a:path>
                </a:pathLst>
              </a:custGeom>
              <a:noFill/>
              <a:ln w="12700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990600" y="5200158"/>
            <a:ext cx="7010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0" dirty="0">
                <a:latin typeface="Helvetica"/>
                <a:cs typeface="Helvetica"/>
              </a:rPr>
              <a:t>Key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problem: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You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never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distinguish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the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data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is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lost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b/c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of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endParaRPr kumimoji="1" lang="en-US" altLang="zh-CN" sz="2000" b="0" dirty="0">
              <a:latin typeface="Helvetica"/>
              <a:cs typeface="Helvetica"/>
            </a:endParaRPr>
          </a:p>
          <a:p>
            <a:r>
              <a:rPr kumimoji="1" lang="en-US" altLang="zh-CN" sz="2000" b="0" dirty="0">
                <a:latin typeface="Helvetica"/>
                <a:cs typeface="Helvetica"/>
              </a:rPr>
              <a:t>1)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a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link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problem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or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2)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because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of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overflow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/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congestion</a:t>
            </a:r>
            <a:endParaRPr kumimoji="1" lang="en-US" altLang="zh-CN" sz="2000" b="0" dirty="0">
              <a:latin typeface="Helvetica"/>
              <a:cs typeface="Helvetica"/>
            </a:endParaRPr>
          </a:p>
          <a:p>
            <a:r>
              <a:rPr kumimoji="1" lang="en-US" altLang="zh-CN" sz="2000" b="0" dirty="0">
                <a:latin typeface="Helvetica"/>
                <a:cs typeface="Helvetica"/>
              </a:rPr>
              <a:t>Nor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can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can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you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distinguish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if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it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is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endParaRPr kumimoji="1" lang="en-US" altLang="zh-CN" sz="2000" b="0" dirty="0">
              <a:latin typeface="Helvetica"/>
              <a:cs typeface="Helvetica"/>
            </a:endParaRPr>
          </a:p>
          <a:p>
            <a:r>
              <a:rPr kumimoji="1" lang="en-US" altLang="zh-CN" sz="2000" b="0" dirty="0">
                <a:latin typeface="Helvetica"/>
                <a:cs typeface="Helvetica"/>
              </a:rPr>
              <a:t>1)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delayed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for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very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long,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or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2)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really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lost</a:t>
            </a:r>
            <a:endParaRPr kumimoji="1" lang="zh-CN" altLang="en-US" sz="2000" b="0" dirty="0">
              <a:latin typeface="Helvetica"/>
              <a:cs typeface="Helvetica"/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/>
              <a:t>Data</a:t>
            </a:r>
            <a:r>
              <a:rPr lang="zh-CN" altLang="en-US" dirty="0"/>
              <a:t> </a:t>
            </a:r>
            <a:r>
              <a:rPr lang="en-US" altLang="zh-CN" dirty="0"/>
              <a:t>may</a:t>
            </a:r>
            <a:r>
              <a:rPr lang="en-US"/>
              <a:t> get </a:t>
            </a:r>
            <a:r>
              <a:rPr lang="en-US">
                <a:solidFill>
                  <a:srgbClr val="FF0000"/>
                </a:solidFill>
              </a:rPr>
              <a:t>Corrupted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grpSp>
        <p:nvGrpSpPr>
          <p:cNvPr id="37" name="Group 36"/>
          <p:cNvGrpSpPr/>
          <p:nvPr/>
        </p:nvGrpSpPr>
        <p:grpSpPr>
          <a:xfrm>
            <a:off x="1236402" y="1524765"/>
            <a:ext cx="6343650" cy="3429000"/>
            <a:chOff x="457200" y="1524000"/>
            <a:chExt cx="8458200" cy="4572000"/>
          </a:xfrm>
        </p:grpSpPr>
        <p:sp>
          <p:nvSpPr>
            <p:cNvPr id="4" name="Rectangle 2"/>
            <p:cNvSpPr>
              <a:spLocks noChangeArrowheads="1"/>
            </p:cNvSpPr>
            <p:nvPr/>
          </p:nvSpPr>
          <p:spPr bwMode="auto">
            <a:xfrm>
              <a:off x="457200" y="3886200"/>
              <a:ext cx="8458200" cy="2209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>
              <a:outerShdw blurRad="63500" dist="107763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lIns="68558" tIns="34281" rIns="68558" bIns="34281" anchor="ctr"/>
            <a:lstStyle/>
            <a:p>
              <a:pPr>
                <a:defRPr/>
              </a:pPr>
              <a:endParaRPr lang="en-US">
                <a:latin typeface="Times New Roman" panose="02020603050405020304" charset="0"/>
                <a:ea typeface="+mn-ea"/>
              </a:endParaRPr>
            </a:p>
          </p:txBody>
        </p:sp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457200" y="1524000"/>
              <a:ext cx="8458200" cy="2209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>
              <a:outerShdw blurRad="63500" dist="107763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lIns="68558" tIns="34281" rIns="68558" bIns="34281" anchor="ctr"/>
            <a:lstStyle/>
            <a:p>
              <a:pPr>
                <a:defRPr/>
              </a:pPr>
              <a:endParaRPr lang="en-US">
                <a:latin typeface="Times New Roman" panose="02020603050405020304" charset="0"/>
                <a:ea typeface="+mn-ea"/>
              </a:endParaRPr>
            </a:p>
          </p:txBody>
        </p:sp>
        <p:sp>
          <p:nvSpPr>
            <p:cNvPr id="6" name="Oval 5"/>
            <p:cNvSpPr>
              <a:spLocks noChangeArrowheads="1"/>
            </p:cNvSpPr>
            <p:nvPr/>
          </p:nvSpPr>
          <p:spPr bwMode="auto">
            <a:xfrm>
              <a:off x="1981200" y="2424113"/>
              <a:ext cx="1503363" cy="61753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lIns="68558" tIns="34281" rIns="68558" bIns="34281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3949165" y="2466963"/>
              <a:ext cx="1125020" cy="4000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52" tIns="34278" rIns="68552" bIns="34278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altLang="en-US" sz="1500">
                  <a:solidFill>
                    <a:srgbClr val="000000"/>
                  </a:solidFill>
                  <a:latin typeface="Arial" panose="020B0604020202020204" pitchFamily="34" charset="0"/>
                </a:rPr>
                <a:t>Internet</a:t>
              </a:r>
              <a:endParaRPr lang="en-US" altLang="en-US" sz="15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>
              <a:off x="5646738" y="2743200"/>
              <a:ext cx="151606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 anchor="ctr"/>
            <a:lstStyle/>
            <a:p>
              <a:endParaRPr lang="en-US"/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5432131" y="2238363"/>
              <a:ext cx="2005603" cy="4000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52" tIns="34278" rIns="68552" bIns="34278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altLang="en-US" sz="1500">
                  <a:solidFill>
                    <a:srgbClr val="000000"/>
                  </a:solidFill>
                  <a:latin typeface="Arial" panose="020B0604020202020204" pitchFamily="34" charset="0"/>
                </a:rPr>
                <a:t>GET inrex.html</a:t>
              </a:r>
              <a:endParaRPr lang="en-US" altLang="en-US" sz="15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1828800" y="2743200"/>
              <a:ext cx="151606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 anchor="ctr"/>
            <a:lstStyle/>
            <a:p>
              <a:endParaRPr lang="en-US"/>
            </a:p>
          </p:txBody>
        </p:sp>
        <p:sp>
          <p:nvSpPr>
            <p:cNvPr id="11" name="Text Box 10"/>
            <p:cNvSpPr txBox="1">
              <a:spLocks noChangeArrowheads="1"/>
            </p:cNvSpPr>
            <p:nvPr/>
          </p:nvSpPr>
          <p:spPr bwMode="auto">
            <a:xfrm>
              <a:off x="1515765" y="2238363"/>
              <a:ext cx="2061172" cy="4000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52" tIns="34278" rIns="68552" bIns="34278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altLang="en-US" sz="1500">
                  <a:solidFill>
                    <a:srgbClr val="000000"/>
                  </a:solidFill>
                  <a:latin typeface="Arial" panose="020B0604020202020204" pitchFamily="34" charset="0"/>
                </a:rPr>
                <a:t>GET index.html</a:t>
              </a:r>
              <a:endParaRPr lang="en-US" altLang="en-US" sz="15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457200" y="3886200"/>
              <a:ext cx="4953000" cy="685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9027" tIns="34514" rIns="69027" bIns="34514"/>
            <a:lstStyle>
              <a:lvl1pPr marL="341630" indent="-34163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500">
                  <a:latin typeface="Arial" panose="020B0604020202020204" pitchFamily="34" charset="0"/>
                </a:rPr>
                <a:t>Solution: Add a </a:t>
              </a:r>
              <a:r>
                <a:rPr lang="en-US" altLang="en-US" sz="1500" i="1">
                  <a:latin typeface="Arial" panose="020B0604020202020204" pitchFamily="34" charset="0"/>
                </a:rPr>
                <a:t>checksum</a:t>
              </a:r>
              <a:endParaRPr lang="en-US" altLang="en-US" sz="1500">
                <a:latin typeface="Arial" panose="020B0604020202020204" pitchFamily="34" charset="0"/>
              </a:endParaRPr>
            </a:p>
          </p:txBody>
        </p:sp>
        <p:pic>
          <p:nvPicPr>
            <p:cNvPr id="13" name="Picture 12" descr="Computer5"/>
            <p:cNvPicPr>
              <a:picLocks noChangeAspect="1" noChangeArrowheads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" y="1981200"/>
              <a:ext cx="1238250" cy="1089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13" descr="paketaro box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91400" y="2057400"/>
              <a:ext cx="1143000" cy="1143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457200" y="1524000"/>
              <a:ext cx="4953000" cy="685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9027" tIns="34514" rIns="69027" bIns="34514"/>
            <a:lstStyle>
              <a:lvl1pPr marL="341630" indent="-34163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500">
                  <a:latin typeface="Arial" panose="020B0604020202020204" pitchFamily="34" charset="0"/>
                </a:rPr>
                <a:t>Problem: Data Corruption</a:t>
              </a:r>
              <a:endParaRPr lang="en-US" altLang="en-US" sz="1500">
                <a:latin typeface="Arial" panose="020B0604020202020204" pitchFamily="34" charset="0"/>
              </a:endParaRPr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1447800" y="5105400"/>
              <a:ext cx="5334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 anchor="ctr"/>
            <a:lstStyle/>
            <a:p>
              <a:endParaRPr lang="en-US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2895600" y="5105400"/>
              <a:ext cx="5334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 anchor="ctr"/>
            <a:lstStyle/>
            <a:p>
              <a:endParaRPr lang="en-US"/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4343400" y="5105400"/>
              <a:ext cx="5334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 anchor="ctr"/>
            <a:lstStyle/>
            <a:p>
              <a:endParaRPr lang="en-US"/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1981200" y="4876800"/>
              <a:ext cx="609600" cy="533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68552" tIns="34278" rIns="68552" bIns="34278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altLang="en-US" sz="1500">
                  <a:solidFill>
                    <a:srgbClr val="000000"/>
                  </a:solidFill>
                  <a:latin typeface="Arial" panose="020B0604020202020204" pitchFamily="34" charset="0"/>
                </a:rPr>
                <a:t>0,9</a:t>
              </a:r>
              <a:endParaRPr lang="en-US" altLang="en-US" sz="15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2590800" y="4876800"/>
              <a:ext cx="228600" cy="533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68552" tIns="34278" rIns="68552" bIns="34278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altLang="en-US" sz="1500">
                  <a:solidFill>
                    <a:srgbClr val="000000"/>
                  </a:solidFill>
                  <a:latin typeface="Arial" panose="020B0604020202020204" pitchFamily="34" charset="0"/>
                </a:rPr>
                <a:t>9</a:t>
              </a:r>
              <a:endParaRPr lang="en-US" altLang="en-US" sz="15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3429000" y="4876800"/>
              <a:ext cx="609600" cy="533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68552" tIns="34278" rIns="68552" bIns="34278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altLang="en-US" sz="1500">
                  <a:solidFill>
                    <a:srgbClr val="000000"/>
                  </a:solidFill>
                  <a:latin typeface="Arial" panose="020B0604020202020204" pitchFamily="34" charset="0"/>
                </a:rPr>
                <a:t>6,7,8</a:t>
              </a:r>
              <a:endParaRPr lang="en-US" altLang="en-US" sz="15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4038600" y="4876800"/>
              <a:ext cx="381000" cy="533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68552" tIns="34278" rIns="68552" bIns="34278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altLang="en-US" sz="1500">
                  <a:solidFill>
                    <a:srgbClr val="000000"/>
                  </a:solidFill>
                  <a:latin typeface="Arial" panose="020B0604020202020204" pitchFamily="34" charset="0"/>
                </a:rPr>
                <a:t>21</a:t>
              </a:r>
              <a:endParaRPr lang="en-US" altLang="en-US" sz="15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" name="Line 22"/>
            <p:cNvSpPr>
              <a:spLocks noChangeShapeType="1"/>
            </p:cNvSpPr>
            <p:nvPr/>
          </p:nvSpPr>
          <p:spPr bwMode="auto">
            <a:xfrm>
              <a:off x="5791200" y="5105400"/>
              <a:ext cx="5334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 anchor="ctr"/>
            <a:lstStyle/>
            <a:p>
              <a:endParaRPr lang="en-US"/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4876800" y="4876800"/>
              <a:ext cx="609600" cy="533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68552" tIns="34278" rIns="68552" bIns="34278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altLang="en-US" sz="1500">
                  <a:solidFill>
                    <a:srgbClr val="000000"/>
                  </a:solidFill>
                  <a:latin typeface="Arial" panose="020B0604020202020204" pitchFamily="34" charset="0"/>
                </a:rPr>
                <a:t>4,5</a:t>
              </a:r>
              <a:endParaRPr lang="en-US" altLang="en-US" sz="15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5486400" y="4876800"/>
              <a:ext cx="228600" cy="533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68552" tIns="34278" rIns="68552" bIns="34278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altLang="en-US" sz="1500">
                  <a:solidFill>
                    <a:srgbClr val="000000"/>
                  </a:solidFill>
                  <a:latin typeface="Arial" panose="020B0604020202020204" pitchFamily="34" charset="0"/>
                </a:rPr>
                <a:t>7</a:t>
              </a:r>
              <a:endParaRPr lang="en-US" altLang="en-US" sz="15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Line 25"/>
            <p:cNvSpPr>
              <a:spLocks noChangeShapeType="1"/>
            </p:cNvSpPr>
            <p:nvPr/>
          </p:nvSpPr>
          <p:spPr bwMode="auto">
            <a:xfrm>
              <a:off x="7162800" y="5105400"/>
              <a:ext cx="5334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 anchor="ctr"/>
            <a:lstStyle/>
            <a:p>
              <a:endParaRPr lang="en-US"/>
            </a:p>
          </p:txBody>
        </p: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6324600" y="4876800"/>
              <a:ext cx="609600" cy="533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68552" tIns="34278" rIns="68552" bIns="34278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altLang="en-US" sz="1500">
                  <a:solidFill>
                    <a:srgbClr val="000000"/>
                  </a:solidFill>
                  <a:latin typeface="Arial" panose="020B0604020202020204" pitchFamily="34" charset="0"/>
                </a:rPr>
                <a:t>1,2,3</a:t>
              </a:r>
              <a:endParaRPr lang="en-US" altLang="en-US" sz="15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6934200" y="4876800"/>
              <a:ext cx="228600" cy="533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68552" tIns="34278" rIns="68552" bIns="34278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altLang="en-US" sz="1500">
                  <a:solidFill>
                    <a:srgbClr val="000000"/>
                  </a:solidFill>
                  <a:latin typeface="Arial" panose="020B0604020202020204" pitchFamily="34" charset="0"/>
                </a:rPr>
                <a:t>6</a:t>
              </a:r>
              <a:endParaRPr lang="en-US" altLang="en-US" sz="15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29" name="Picture 28" descr="Computer5"/>
            <p:cNvPicPr>
              <a:picLocks noChangeAspect="1" noChangeArrowheads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0550" y="4549775"/>
              <a:ext cx="1238250" cy="1089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" name="Picture 29" descr="paketaro box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200" y="4572000"/>
              <a:ext cx="1143000" cy="1143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1" name="Group 30"/>
            <p:cNvGrpSpPr/>
            <p:nvPr/>
          </p:nvGrpSpPr>
          <p:grpSpPr bwMode="auto">
            <a:xfrm>
              <a:off x="3657600" y="2133600"/>
              <a:ext cx="1676400" cy="1066800"/>
              <a:chOff x="3891" y="2677"/>
              <a:chExt cx="632" cy="470"/>
            </a:xfrm>
          </p:grpSpPr>
          <p:sp>
            <p:nvSpPr>
              <p:cNvPr id="32" name="Freeform 31"/>
              <p:cNvSpPr/>
              <p:nvPr/>
            </p:nvSpPr>
            <p:spPr bwMode="auto">
              <a:xfrm>
                <a:off x="4246" y="2687"/>
                <a:ext cx="277" cy="228"/>
              </a:xfrm>
              <a:custGeom>
                <a:avLst/>
                <a:gdLst>
                  <a:gd name="T0" fmla="*/ 0 w 277"/>
                  <a:gd name="T1" fmla="*/ 23 h 228"/>
                  <a:gd name="T2" fmla="*/ 5 w 277"/>
                  <a:gd name="T3" fmla="*/ 23 h 228"/>
                  <a:gd name="T4" fmla="*/ 10 w 277"/>
                  <a:gd name="T5" fmla="*/ 19 h 228"/>
                  <a:gd name="T6" fmla="*/ 17 w 277"/>
                  <a:gd name="T7" fmla="*/ 14 h 228"/>
                  <a:gd name="T8" fmla="*/ 26 w 277"/>
                  <a:gd name="T9" fmla="*/ 9 h 228"/>
                  <a:gd name="T10" fmla="*/ 36 w 277"/>
                  <a:gd name="T11" fmla="*/ 4 h 228"/>
                  <a:gd name="T12" fmla="*/ 50 w 277"/>
                  <a:gd name="T13" fmla="*/ 2 h 228"/>
                  <a:gd name="T14" fmla="*/ 65 w 277"/>
                  <a:gd name="T15" fmla="*/ 0 h 228"/>
                  <a:gd name="T16" fmla="*/ 79 w 277"/>
                  <a:gd name="T17" fmla="*/ 0 h 228"/>
                  <a:gd name="T18" fmla="*/ 96 w 277"/>
                  <a:gd name="T19" fmla="*/ 4 h 228"/>
                  <a:gd name="T20" fmla="*/ 110 w 277"/>
                  <a:gd name="T21" fmla="*/ 11 h 228"/>
                  <a:gd name="T22" fmla="*/ 124 w 277"/>
                  <a:gd name="T23" fmla="*/ 23 h 228"/>
                  <a:gd name="T24" fmla="*/ 134 w 277"/>
                  <a:gd name="T25" fmla="*/ 33 h 228"/>
                  <a:gd name="T26" fmla="*/ 143 w 277"/>
                  <a:gd name="T27" fmla="*/ 42 h 228"/>
                  <a:gd name="T28" fmla="*/ 148 w 277"/>
                  <a:gd name="T29" fmla="*/ 52 h 228"/>
                  <a:gd name="T30" fmla="*/ 150 w 277"/>
                  <a:gd name="T31" fmla="*/ 59 h 228"/>
                  <a:gd name="T32" fmla="*/ 153 w 277"/>
                  <a:gd name="T33" fmla="*/ 66 h 228"/>
                  <a:gd name="T34" fmla="*/ 153 w 277"/>
                  <a:gd name="T35" fmla="*/ 73 h 228"/>
                  <a:gd name="T36" fmla="*/ 153 w 277"/>
                  <a:gd name="T37" fmla="*/ 78 h 228"/>
                  <a:gd name="T38" fmla="*/ 153 w 277"/>
                  <a:gd name="T39" fmla="*/ 81 h 228"/>
                  <a:gd name="T40" fmla="*/ 153 w 277"/>
                  <a:gd name="T41" fmla="*/ 81 h 228"/>
                  <a:gd name="T42" fmla="*/ 153 w 277"/>
                  <a:gd name="T43" fmla="*/ 81 h 228"/>
                  <a:gd name="T44" fmla="*/ 155 w 277"/>
                  <a:gd name="T45" fmla="*/ 78 h 228"/>
                  <a:gd name="T46" fmla="*/ 160 w 277"/>
                  <a:gd name="T47" fmla="*/ 76 h 228"/>
                  <a:gd name="T48" fmla="*/ 167 w 277"/>
                  <a:gd name="T49" fmla="*/ 73 h 228"/>
                  <a:gd name="T50" fmla="*/ 174 w 277"/>
                  <a:gd name="T51" fmla="*/ 71 h 228"/>
                  <a:gd name="T52" fmla="*/ 181 w 277"/>
                  <a:gd name="T53" fmla="*/ 69 h 228"/>
                  <a:gd name="T54" fmla="*/ 191 w 277"/>
                  <a:gd name="T55" fmla="*/ 69 h 228"/>
                  <a:gd name="T56" fmla="*/ 200 w 277"/>
                  <a:gd name="T57" fmla="*/ 71 h 228"/>
                  <a:gd name="T58" fmla="*/ 210 w 277"/>
                  <a:gd name="T59" fmla="*/ 73 h 228"/>
                  <a:gd name="T60" fmla="*/ 219 w 277"/>
                  <a:gd name="T61" fmla="*/ 81 h 228"/>
                  <a:gd name="T62" fmla="*/ 229 w 277"/>
                  <a:gd name="T63" fmla="*/ 90 h 228"/>
                  <a:gd name="T64" fmla="*/ 234 w 277"/>
                  <a:gd name="T65" fmla="*/ 97 h 228"/>
                  <a:gd name="T66" fmla="*/ 236 w 277"/>
                  <a:gd name="T67" fmla="*/ 107 h 228"/>
                  <a:gd name="T68" fmla="*/ 239 w 277"/>
                  <a:gd name="T69" fmla="*/ 116 h 228"/>
                  <a:gd name="T70" fmla="*/ 239 w 277"/>
                  <a:gd name="T71" fmla="*/ 124 h 228"/>
                  <a:gd name="T72" fmla="*/ 236 w 277"/>
                  <a:gd name="T73" fmla="*/ 131 h 228"/>
                  <a:gd name="T74" fmla="*/ 236 w 277"/>
                  <a:gd name="T75" fmla="*/ 138 h 228"/>
                  <a:gd name="T76" fmla="*/ 234 w 277"/>
                  <a:gd name="T77" fmla="*/ 143 h 228"/>
                  <a:gd name="T78" fmla="*/ 234 w 277"/>
                  <a:gd name="T79" fmla="*/ 145 h 228"/>
                  <a:gd name="T80" fmla="*/ 231 w 277"/>
                  <a:gd name="T81" fmla="*/ 145 h 228"/>
                  <a:gd name="T82" fmla="*/ 234 w 277"/>
                  <a:gd name="T83" fmla="*/ 147 h 228"/>
                  <a:gd name="T84" fmla="*/ 236 w 277"/>
                  <a:gd name="T85" fmla="*/ 147 h 228"/>
                  <a:gd name="T86" fmla="*/ 241 w 277"/>
                  <a:gd name="T87" fmla="*/ 152 h 228"/>
                  <a:gd name="T88" fmla="*/ 248 w 277"/>
                  <a:gd name="T89" fmla="*/ 157 h 228"/>
                  <a:gd name="T90" fmla="*/ 253 w 277"/>
                  <a:gd name="T91" fmla="*/ 164 h 228"/>
                  <a:gd name="T92" fmla="*/ 260 w 277"/>
                  <a:gd name="T93" fmla="*/ 174 h 228"/>
                  <a:gd name="T94" fmla="*/ 267 w 277"/>
                  <a:gd name="T95" fmla="*/ 183 h 228"/>
                  <a:gd name="T96" fmla="*/ 272 w 277"/>
                  <a:gd name="T97" fmla="*/ 195 h 228"/>
                  <a:gd name="T98" fmla="*/ 274 w 277"/>
                  <a:gd name="T99" fmla="*/ 212 h 228"/>
                  <a:gd name="T100" fmla="*/ 277 w 277"/>
                  <a:gd name="T101" fmla="*/ 228 h 228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277"/>
                  <a:gd name="T154" fmla="*/ 0 h 228"/>
                  <a:gd name="T155" fmla="*/ 277 w 277"/>
                  <a:gd name="T156" fmla="*/ 228 h 228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277" h="228">
                    <a:moveTo>
                      <a:pt x="0" y="23"/>
                    </a:moveTo>
                    <a:lnTo>
                      <a:pt x="5" y="23"/>
                    </a:lnTo>
                    <a:lnTo>
                      <a:pt x="10" y="19"/>
                    </a:lnTo>
                    <a:lnTo>
                      <a:pt x="17" y="14"/>
                    </a:lnTo>
                    <a:lnTo>
                      <a:pt x="26" y="9"/>
                    </a:lnTo>
                    <a:lnTo>
                      <a:pt x="36" y="4"/>
                    </a:lnTo>
                    <a:lnTo>
                      <a:pt x="50" y="2"/>
                    </a:lnTo>
                    <a:lnTo>
                      <a:pt x="65" y="0"/>
                    </a:lnTo>
                    <a:lnTo>
                      <a:pt x="79" y="0"/>
                    </a:lnTo>
                    <a:lnTo>
                      <a:pt x="96" y="4"/>
                    </a:lnTo>
                    <a:lnTo>
                      <a:pt x="110" y="11"/>
                    </a:lnTo>
                    <a:lnTo>
                      <a:pt x="124" y="23"/>
                    </a:lnTo>
                    <a:lnTo>
                      <a:pt x="134" y="33"/>
                    </a:lnTo>
                    <a:lnTo>
                      <a:pt x="143" y="42"/>
                    </a:lnTo>
                    <a:lnTo>
                      <a:pt x="148" y="52"/>
                    </a:lnTo>
                    <a:lnTo>
                      <a:pt x="150" y="59"/>
                    </a:lnTo>
                    <a:lnTo>
                      <a:pt x="153" y="66"/>
                    </a:lnTo>
                    <a:lnTo>
                      <a:pt x="153" y="73"/>
                    </a:lnTo>
                    <a:lnTo>
                      <a:pt x="153" y="78"/>
                    </a:lnTo>
                    <a:lnTo>
                      <a:pt x="153" y="81"/>
                    </a:lnTo>
                    <a:lnTo>
                      <a:pt x="155" y="78"/>
                    </a:lnTo>
                    <a:lnTo>
                      <a:pt x="160" y="76"/>
                    </a:lnTo>
                    <a:lnTo>
                      <a:pt x="167" y="73"/>
                    </a:lnTo>
                    <a:lnTo>
                      <a:pt x="174" y="71"/>
                    </a:lnTo>
                    <a:lnTo>
                      <a:pt x="181" y="69"/>
                    </a:lnTo>
                    <a:lnTo>
                      <a:pt x="191" y="69"/>
                    </a:lnTo>
                    <a:lnTo>
                      <a:pt x="200" y="71"/>
                    </a:lnTo>
                    <a:lnTo>
                      <a:pt x="210" y="73"/>
                    </a:lnTo>
                    <a:lnTo>
                      <a:pt x="219" y="81"/>
                    </a:lnTo>
                    <a:lnTo>
                      <a:pt x="229" y="90"/>
                    </a:lnTo>
                    <a:lnTo>
                      <a:pt x="234" y="97"/>
                    </a:lnTo>
                    <a:lnTo>
                      <a:pt x="236" y="107"/>
                    </a:lnTo>
                    <a:lnTo>
                      <a:pt x="239" y="116"/>
                    </a:lnTo>
                    <a:lnTo>
                      <a:pt x="239" y="124"/>
                    </a:lnTo>
                    <a:lnTo>
                      <a:pt x="236" y="131"/>
                    </a:lnTo>
                    <a:lnTo>
                      <a:pt x="236" y="138"/>
                    </a:lnTo>
                    <a:lnTo>
                      <a:pt x="234" y="143"/>
                    </a:lnTo>
                    <a:lnTo>
                      <a:pt x="234" y="145"/>
                    </a:lnTo>
                    <a:lnTo>
                      <a:pt x="231" y="145"/>
                    </a:lnTo>
                    <a:lnTo>
                      <a:pt x="234" y="147"/>
                    </a:lnTo>
                    <a:lnTo>
                      <a:pt x="236" y="147"/>
                    </a:lnTo>
                    <a:lnTo>
                      <a:pt x="241" y="152"/>
                    </a:lnTo>
                    <a:lnTo>
                      <a:pt x="248" y="157"/>
                    </a:lnTo>
                    <a:lnTo>
                      <a:pt x="253" y="164"/>
                    </a:lnTo>
                    <a:lnTo>
                      <a:pt x="260" y="174"/>
                    </a:lnTo>
                    <a:lnTo>
                      <a:pt x="267" y="183"/>
                    </a:lnTo>
                    <a:lnTo>
                      <a:pt x="272" y="195"/>
                    </a:lnTo>
                    <a:lnTo>
                      <a:pt x="274" y="212"/>
                    </a:lnTo>
                    <a:lnTo>
                      <a:pt x="277" y="228"/>
                    </a:lnTo>
                  </a:path>
                </a:pathLst>
              </a:custGeom>
              <a:noFill/>
              <a:ln w="12700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32"/>
              <p:cNvSpPr/>
              <p:nvPr/>
            </p:nvSpPr>
            <p:spPr bwMode="auto">
              <a:xfrm>
                <a:off x="3891" y="2677"/>
                <a:ext cx="358" cy="236"/>
              </a:xfrm>
              <a:custGeom>
                <a:avLst/>
                <a:gdLst>
                  <a:gd name="T0" fmla="*/ 2 w 358"/>
                  <a:gd name="T1" fmla="*/ 219 h 236"/>
                  <a:gd name="T2" fmla="*/ 9 w 358"/>
                  <a:gd name="T3" fmla="*/ 193 h 236"/>
                  <a:gd name="T4" fmla="*/ 21 w 358"/>
                  <a:gd name="T5" fmla="*/ 174 h 236"/>
                  <a:gd name="T6" fmla="*/ 33 w 358"/>
                  <a:gd name="T7" fmla="*/ 162 h 236"/>
                  <a:gd name="T8" fmla="*/ 43 w 358"/>
                  <a:gd name="T9" fmla="*/ 155 h 236"/>
                  <a:gd name="T10" fmla="*/ 43 w 358"/>
                  <a:gd name="T11" fmla="*/ 155 h 236"/>
                  <a:gd name="T12" fmla="*/ 40 w 358"/>
                  <a:gd name="T13" fmla="*/ 145 h 236"/>
                  <a:gd name="T14" fmla="*/ 38 w 358"/>
                  <a:gd name="T15" fmla="*/ 134 h 236"/>
                  <a:gd name="T16" fmla="*/ 38 w 358"/>
                  <a:gd name="T17" fmla="*/ 117 h 236"/>
                  <a:gd name="T18" fmla="*/ 48 w 358"/>
                  <a:gd name="T19" fmla="*/ 98 h 236"/>
                  <a:gd name="T20" fmla="*/ 67 w 358"/>
                  <a:gd name="T21" fmla="*/ 83 h 236"/>
                  <a:gd name="T22" fmla="*/ 83 w 358"/>
                  <a:gd name="T23" fmla="*/ 79 h 236"/>
                  <a:gd name="T24" fmla="*/ 102 w 358"/>
                  <a:gd name="T25" fmla="*/ 81 h 236"/>
                  <a:gd name="T26" fmla="*/ 114 w 358"/>
                  <a:gd name="T27" fmla="*/ 86 h 236"/>
                  <a:gd name="T28" fmla="*/ 121 w 358"/>
                  <a:gd name="T29" fmla="*/ 91 h 236"/>
                  <a:gd name="T30" fmla="*/ 124 w 358"/>
                  <a:gd name="T31" fmla="*/ 88 h 236"/>
                  <a:gd name="T32" fmla="*/ 121 w 358"/>
                  <a:gd name="T33" fmla="*/ 81 h 236"/>
                  <a:gd name="T34" fmla="*/ 124 w 358"/>
                  <a:gd name="T35" fmla="*/ 69 h 236"/>
                  <a:gd name="T36" fmla="*/ 133 w 358"/>
                  <a:gd name="T37" fmla="*/ 52 h 236"/>
                  <a:gd name="T38" fmla="*/ 152 w 358"/>
                  <a:gd name="T39" fmla="*/ 31 h 236"/>
                  <a:gd name="T40" fmla="*/ 181 w 358"/>
                  <a:gd name="T41" fmla="*/ 14 h 236"/>
                  <a:gd name="T42" fmla="*/ 212 w 358"/>
                  <a:gd name="T43" fmla="*/ 10 h 236"/>
                  <a:gd name="T44" fmla="*/ 238 w 358"/>
                  <a:gd name="T45" fmla="*/ 14 h 236"/>
                  <a:gd name="T46" fmla="*/ 260 w 358"/>
                  <a:gd name="T47" fmla="*/ 24 h 236"/>
                  <a:gd name="T48" fmla="*/ 272 w 358"/>
                  <a:gd name="T49" fmla="*/ 31 h 236"/>
                  <a:gd name="T50" fmla="*/ 274 w 358"/>
                  <a:gd name="T51" fmla="*/ 31 h 236"/>
                  <a:gd name="T52" fmla="*/ 274 w 358"/>
                  <a:gd name="T53" fmla="*/ 26 h 236"/>
                  <a:gd name="T54" fmla="*/ 279 w 358"/>
                  <a:gd name="T55" fmla="*/ 17 h 236"/>
                  <a:gd name="T56" fmla="*/ 288 w 358"/>
                  <a:gd name="T57" fmla="*/ 7 h 236"/>
                  <a:gd name="T58" fmla="*/ 305 w 358"/>
                  <a:gd name="T59" fmla="*/ 2 h 236"/>
                  <a:gd name="T60" fmla="*/ 327 w 358"/>
                  <a:gd name="T61" fmla="*/ 2 h 236"/>
                  <a:gd name="T62" fmla="*/ 343 w 358"/>
                  <a:gd name="T63" fmla="*/ 7 h 236"/>
                  <a:gd name="T64" fmla="*/ 350 w 358"/>
                  <a:gd name="T65" fmla="*/ 17 h 236"/>
                  <a:gd name="T66" fmla="*/ 355 w 358"/>
                  <a:gd name="T67" fmla="*/ 26 h 236"/>
                  <a:gd name="T68" fmla="*/ 358 w 358"/>
                  <a:gd name="T69" fmla="*/ 31 h 2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358"/>
                  <a:gd name="T106" fmla="*/ 0 h 236"/>
                  <a:gd name="T107" fmla="*/ 358 w 358"/>
                  <a:gd name="T108" fmla="*/ 236 h 2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358" h="236">
                    <a:moveTo>
                      <a:pt x="0" y="236"/>
                    </a:moveTo>
                    <a:lnTo>
                      <a:pt x="2" y="219"/>
                    </a:lnTo>
                    <a:lnTo>
                      <a:pt x="5" y="205"/>
                    </a:lnTo>
                    <a:lnTo>
                      <a:pt x="9" y="193"/>
                    </a:lnTo>
                    <a:lnTo>
                      <a:pt x="14" y="181"/>
                    </a:lnTo>
                    <a:lnTo>
                      <a:pt x="21" y="174"/>
                    </a:lnTo>
                    <a:lnTo>
                      <a:pt x="29" y="167"/>
                    </a:lnTo>
                    <a:lnTo>
                      <a:pt x="33" y="162"/>
                    </a:lnTo>
                    <a:lnTo>
                      <a:pt x="38" y="157"/>
                    </a:lnTo>
                    <a:lnTo>
                      <a:pt x="43" y="155"/>
                    </a:lnTo>
                    <a:lnTo>
                      <a:pt x="40" y="150"/>
                    </a:lnTo>
                    <a:lnTo>
                      <a:pt x="40" y="145"/>
                    </a:lnTo>
                    <a:lnTo>
                      <a:pt x="38" y="141"/>
                    </a:lnTo>
                    <a:lnTo>
                      <a:pt x="38" y="134"/>
                    </a:lnTo>
                    <a:lnTo>
                      <a:pt x="38" y="124"/>
                    </a:lnTo>
                    <a:lnTo>
                      <a:pt x="38" y="117"/>
                    </a:lnTo>
                    <a:lnTo>
                      <a:pt x="43" y="107"/>
                    </a:lnTo>
                    <a:lnTo>
                      <a:pt x="48" y="98"/>
                    </a:lnTo>
                    <a:lnTo>
                      <a:pt x="55" y="91"/>
                    </a:lnTo>
                    <a:lnTo>
                      <a:pt x="67" y="83"/>
                    </a:lnTo>
                    <a:lnTo>
                      <a:pt x="76" y="81"/>
                    </a:lnTo>
                    <a:lnTo>
                      <a:pt x="83" y="79"/>
                    </a:lnTo>
                    <a:lnTo>
                      <a:pt x="93" y="79"/>
                    </a:lnTo>
                    <a:lnTo>
                      <a:pt x="102" y="81"/>
                    </a:lnTo>
                    <a:lnTo>
                      <a:pt x="110" y="83"/>
                    </a:lnTo>
                    <a:lnTo>
                      <a:pt x="114" y="86"/>
                    </a:lnTo>
                    <a:lnTo>
                      <a:pt x="119" y="88"/>
                    </a:lnTo>
                    <a:lnTo>
                      <a:pt x="121" y="91"/>
                    </a:lnTo>
                    <a:lnTo>
                      <a:pt x="124" y="91"/>
                    </a:lnTo>
                    <a:lnTo>
                      <a:pt x="124" y="88"/>
                    </a:lnTo>
                    <a:lnTo>
                      <a:pt x="121" y="86"/>
                    </a:lnTo>
                    <a:lnTo>
                      <a:pt x="121" y="81"/>
                    </a:lnTo>
                    <a:lnTo>
                      <a:pt x="124" y="76"/>
                    </a:lnTo>
                    <a:lnTo>
                      <a:pt x="124" y="69"/>
                    </a:lnTo>
                    <a:lnTo>
                      <a:pt x="129" y="60"/>
                    </a:lnTo>
                    <a:lnTo>
                      <a:pt x="133" y="52"/>
                    </a:lnTo>
                    <a:lnTo>
                      <a:pt x="141" y="43"/>
                    </a:lnTo>
                    <a:lnTo>
                      <a:pt x="152" y="31"/>
                    </a:lnTo>
                    <a:lnTo>
                      <a:pt x="164" y="21"/>
                    </a:lnTo>
                    <a:lnTo>
                      <a:pt x="181" y="14"/>
                    </a:lnTo>
                    <a:lnTo>
                      <a:pt x="195" y="10"/>
                    </a:lnTo>
                    <a:lnTo>
                      <a:pt x="212" y="10"/>
                    </a:lnTo>
                    <a:lnTo>
                      <a:pt x="226" y="10"/>
                    </a:lnTo>
                    <a:lnTo>
                      <a:pt x="238" y="14"/>
                    </a:lnTo>
                    <a:lnTo>
                      <a:pt x="250" y="19"/>
                    </a:lnTo>
                    <a:lnTo>
                      <a:pt x="260" y="24"/>
                    </a:lnTo>
                    <a:lnTo>
                      <a:pt x="267" y="29"/>
                    </a:lnTo>
                    <a:lnTo>
                      <a:pt x="272" y="31"/>
                    </a:lnTo>
                    <a:lnTo>
                      <a:pt x="274" y="33"/>
                    </a:lnTo>
                    <a:lnTo>
                      <a:pt x="274" y="31"/>
                    </a:lnTo>
                    <a:lnTo>
                      <a:pt x="274" y="29"/>
                    </a:lnTo>
                    <a:lnTo>
                      <a:pt x="274" y="26"/>
                    </a:lnTo>
                    <a:lnTo>
                      <a:pt x="276" y="21"/>
                    </a:lnTo>
                    <a:lnTo>
                      <a:pt x="279" y="17"/>
                    </a:lnTo>
                    <a:lnTo>
                      <a:pt x="284" y="12"/>
                    </a:lnTo>
                    <a:lnTo>
                      <a:pt x="288" y="7"/>
                    </a:lnTo>
                    <a:lnTo>
                      <a:pt x="296" y="5"/>
                    </a:lnTo>
                    <a:lnTo>
                      <a:pt x="305" y="2"/>
                    </a:lnTo>
                    <a:lnTo>
                      <a:pt x="315" y="0"/>
                    </a:lnTo>
                    <a:lnTo>
                      <a:pt x="327" y="2"/>
                    </a:lnTo>
                    <a:lnTo>
                      <a:pt x="336" y="5"/>
                    </a:lnTo>
                    <a:lnTo>
                      <a:pt x="343" y="7"/>
                    </a:lnTo>
                    <a:lnTo>
                      <a:pt x="348" y="12"/>
                    </a:lnTo>
                    <a:lnTo>
                      <a:pt x="350" y="17"/>
                    </a:lnTo>
                    <a:lnTo>
                      <a:pt x="355" y="21"/>
                    </a:lnTo>
                    <a:lnTo>
                      <a:pt x="355" y="26"/>
                    </a:lnTo>
                    <a:lnTo>
                      <a:pt x="358" y="29"/>
                    </a:lnTo>
                    <a:lnTo>
                      <a:pt x="358" y="31"/>
                    </a:lnTo>
                    <a:lnTo>
                      <a:pt x="358" y="33"/>
                    </a:lnTo>
                  </a:path>
                </a:pathLst>
              </a:custGeom>
              <a:noFill/>
              <a:ln w="12700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33"/>
              <p:cNvSpPr/>
              <p:nvPr/>
            </p:nvSpPr>
            <p:spPr bwMode="auto">
              <a:xfrm>
                <a:off x="3891" y="2911"/>
                <a:ext cx="272" cy="229"/>
              </a:xfrm>
              <a:custGeom>
                <a:avLst/>
                <a:gdLst>
                  <a:gd name="T0" fmla="*/ 272 w 272"/>
                  <a:gd name="T1" fmla="*/ 202 h 229"/>
                  <a:gd name="T2" fmla="*/ 272 w 272"/>
                  <a:gd name="T3" fmla="*/ 205 h 229"/>
                  <a:gd name="T4" fmla="*/ 267 w 272"/>
                  <a:gd name="T5" fmla="*/ 207 h 229"/>
                  <a:gd name="T6" fmla="*/ 260 w 272"/>
                  <a:gd name="T7" fmla="*/ 212 h 229"/>
                  <a:gd name="T8" fmla="*/ 250 w 272"/>
                  <a:gd name="T9" fmla="*/ 217 h 229"/>
                  <a:gd name="T10" fmla="*/ 238 w 272"/>
                  <a:gd name="T11" fmla="*/ 221 h 229"/>
                  <a:gd name="T12" fmla="*/ 226 w 272"/>
                  <a:gd name="T13" fmla="*/ 226 h 229"/>
                  <a:gd name="T14" fmla="*/ 212 w 272"/>
                  <a:gd name="T15" fmla="*/ 229 h 229"/>
                  <a:gd name="T16" fmla="*/ 195 w 272"/>
                  <a:gd name="T17" fmla="*/ 226 h 229"/>
                  <a:gd name="T18" fmla="*/ 181 w 272"/>
                  <a:gd name="T19" fmla="*/ 224 h 229"/>
                  <a:gd name="T20" fmla="*/ 164 w 272"/>
                  <a:gd name="T21" fmla="*/ 214 h 229"/>
                  <a:gd name="T22" fmla="*/ 152 w 272"/>
                  <a:gd name="T23" fmla="*/ 205 h 229"/>
                  <a:gd name="T24" fmla="*/ 141 w 272"/>
                  <a:gd name="T25" fmla="*/ 195 h 229"/>
                  <a:gd name="T26" fmla="*/ 133 w 272"/>
                  <a:gd name="T27" fmla="*/ 186 h 229"/>
                  <a:gd name="T28" fmla="*/ 129 w 272"/>
                  <a:gd name="T29" fmla="*/ 176 h 229"/>
                  <a:gd name="T30" fmla="*/ 124 w 272"/>
                  <a:gd name="T31" fmla="*/ 167 h 229"/>
                  <a:gd name="T32" fmla="*/ 124 w 272"/>
                  <a:gd name="T33" fmla="*/ 159 h 229"/>
                  <a:gd name="T34" fmla="*/ 121 w 272"/>
                  <a:gd name="T35" fmla="*/ 155 h 229"/>
                  <a:gd name="T36" fmla="*/ 121 w 272"/>
                  <a:gd name="T37" fmla="*/ 150 h 229"/>
                  <a:gd name="T38" fmla="*/ 124 w 272"/>
                  <a:gd name="T39" fmla="*/ 148 h 229"/>
                  <a:gd name="T40" fmla="*/ 124 w 272"/>
                  <a:gd name="T41" fmla="*/ 145 h 229"/>
                  <a:gd name="T42" fmla="*/ 121 w 272"/>
                  <a:gd name="T43" fmla="*/ 148 h 229"/>
                  <a:gd name="T44" fmla="*/ 119 w 272"/>
                  <a:gd name="T45" fmla="*/ 150 h 229"/>
                  <a:gd name="T46" fmla="*/ 114 w 272"/>
                  <a:gd name="T47" fmla="*/ 152 h 229"/>
                  <a:gd name="T48" fmla="*/ 110 w 272"/>
                  <a:gd name="T49" fmla="*/ 155 h 229"/>
                  <a:gd name="T50" fmla="*/ 102 w 272"/>
                  <a:gd name="T51" fmla="*/ 157 h 229"/>
                  <a:gd name="T52" fmla="*/ 93 w 272"/>
                  <a:gd name="T53" fmla="*/ 157 h 229"/>
                  <a:gd name="T54" fmla="*/ 83 w 272"/>
                  <a:gd name="T55" fmla="*/ 157 h 229"/>
                  <a:gd name="T56" fmla="*/ 76 w 272"/>
                  <a:gd name="T57" fmla="*/ 157 h 229"/>
                  <a:gd name="T58" fmla="*/ 67 w 272"/>
                  <a:gd name="T59" fmla="*/ 152 h 229"/>
                  <a:gd name="T60" fmla="*/ 55 w 272"/>
                  <a:gd name="T61" fmla="*/ 145 h 229"/>
                  <a:gd name="T62" fmla="*/ 48 w 272"/>
                  <a:gd name="T63" fmla="*/ 138 h 229"/>
                  <a:gd name="T64" fmla="*/ 43 w 272"/>
                  <a:gd name="T65" fmla="*/ 128 h 229"/>
                  <a:gd name="T66" fmla="*/ 38 w 272"/>
                  <a:gd name="T67" fmla="*/ 121 h 229"/>
                  <a:gd name="T68" fmla="*/ 38 w 272"/>
                  <a:gd name="T69" fmla="*/ 112 h 229"/>
                  <a:gd name="T70" fmla="*/ 38 w 272"/>
                  <a:gd name="T71" fmla="*/ 105 h 229"/>
                  <a:gd name="T72" fmla="*/ 38 w 272"/>
                  <a:gd name="T73" fmla="*/ 97 h 229"/>
                  <a:gd name="T74" fmla="*/ 40 w 272"/>
                  <a:gd name="T75" fmla="*/ 90 h 229"/>
                  <a:gd name="T76" fmla="*/ 40 w 272"/>
                  <a:gd name="T77" fmla="*/ 86 h 229"/>
                  <a:gd name="T78" fmla="*/ 43 w 272"/>
                  <a:gd name="T79" fmla="*/ 83 h 229"/>
                  <a:gd name="T80" fmla="*/ 43 w 272"/>
                  <a:gd name="T81" fmla="*/ 81 h 229"/>
                  <a:gd name="T82" fmla="*/ 43 w 272"/>
                  <a:gd name="T83" fmla="*/ 81 h 229"/>
                  <a:gd name="T84" fmla="*/ 38 w 272"/>
                  <a:gd name="T85" fmla="*/ 78 h 229"/>
                  <a:gd name="T86" fmla="*/ 33 w 272"/>
                  <a:gd name="T87" fmla="*/ 76 h 229"/>
                  <a:gd name="T88" fmla="*/ 29 w 272"/>
                  <a:gd name="T89" fmla="*/ 71 h 229"/>
                  <a:gd name="T90" fmla="*/ 21 w 272"/>
                  <a:gd name="T91" fmla="*/ 64 h 229"/>
                  <a:gd name="T92" fmla="*/ 14 w 272"/>
                  <a:gd name="T93" fmla="*/ 55 h 229"/>
                  <a:gd name="T94" fmla="*/ 9 w 272"/>
                  <a:gd name="T95" fmla="*/ 45 h 229"/>
                  <a:gd name="T96" fmla="*/ 5 w 272"/>
                  <a:gd name="T97" fmla="*/ 31 h 229"/>
                  <a:gd name="T98" fmla="*/ 2 w 272"/>
                  <a:gd name="T99" fmla="*/ 16 h 229"/>
                  <a:gd name="T100" fmla="*/ 0 w 272"/>
                  <a:gd name="T101" fmla="*/ 0 h 229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272"/>
                  <a:gd name="T154" fmla="*/ 0 h 229"/>
                  <a:gd name="T155" fmla="*/ 272 w 272"/>
                  <a:gd name="T156" fmla="*/ 229 h 229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272" h="229">
                    <a:moveTo>
                      <a:pt x="272" y="202"/>
                    </a:moveTo>
                    <a:lnTo>
                      <a:pt x="272" y="205"/>
                    </a:lnTo>
                    <a:lnTo>
                      <a:pt x="267" y="207"/>
                    </a:lnTo>
                    <a:lnTo>
                      <a:pt x="260" y="212"/>
                    </a:lnTo>
                    <a:lnTo>
                      <a:pt x="250" y="217"/>
                    </a:lnTo>
                    <a:lnTo>
                      <a:pt x="238" y="221"/>
                    </a:lnTo>
                    <a:lnTo>
                      <a:pt x="226" y="226"/>
                    </a:lnTo>
                    <a:lnTo>
                      <a:pt x="212" y="229"/>
                    </a:lnTo>
                    <a:lnTo>
                      <a:pt x="195" y="226"/>
                    </a:lnTo>
                    <a:lnTo>
                      <a:pt x="181" y="224"/>
                    </a:lnTo>
                    <a:lnTo>
                      <a:pt x="164" y="214"/>
                    </a:lnTo>
                    <a:lnTo>
                      <a:pt x="152" y="205"/>
                    </a:lnTo>
                    <a:lnTo>
                      <a:pt x="141" y="195"/>
                    </a:lnTo>
                    <a:lnTo>
                      <a:pt x="133" y="186"/>
                    </a:lnTo>
                    <a:lnTo>
                      <a:pt x="129" y="176"/>
                    </a:lnTo>
                    <a:lnTo>
                      <a:pt x="124" y="167"/>
                    </a:lnTo>
                    <a:lnTo>
                      <a:pt x="124" y="159"/>
                    </a:lnTo>
                    <a:lnTo>
                      <a:pt x="121" y="155"/>
                    </a:lnTo>
                    <a:lnTo>
                      <a:pt x="121" y="150"/>
                    </a:lnTo>
                    <a:lnTo>
                      <a:pt x="124" y="148"/>
                    </a:lnTo>
                    <a:lnTo>
                      <a:pt x="124" y="145"/>
                    </a:lnTo>
                    <a:lnTo>
                      <a:pt x="121" y="148"/>
                    </a:lnTo>
                    <a:lnTo>
                      <a:pt x="119" y="150"/>
                    </a:lnTo>
                    <a:lnTo>
                      <a:pt x="114" y="152"/>
                    </a:lnTo>
                    <a:lnTo>
                      <a:pt x="110" y="155"/>
                    </a:lnTo>
                    <a:lnTo>
                      <a:pt x="102" y="157"/>
                    </a:lnTo>
                    <a:lnTo>
                      <a:pt x="93" y="157"/>
                    </a:lnTo>
                    <a:lnTo>
                      <a:pt x="83" y="157"/>
                    </a:lnTo>
                    <a:lnTo>
                      <a:pt x="76" y="157"/>
                    </a:lnTo>
                    <a:lnTo>
                      <a:pt x="67" y="152"/>
                    </a:lnTo>
                    <a:lnTo>
                      <a:pt x="55" y="145"/>
                    </a:lnTo>
                    <a:lnTo>
                      <a:pt x="48" y="138"/>
                    </a:lnTo>
                    <a:lnTo>
                      <a:pt x="43" y="128"/>
                    </a:lnTo>
                    <a:lnTo>
                      <a:pt x="38" y="121"/>
                    </a:lnTo>
                    <a:lnTo>
                      <a:pt x="38" y="112"/>
                    </a:lnTo>
                    <a:lnTo>
                      <a:pt x="38" y="105"/>
                    </a:lnTo>
                    <a:lnTo>
                      <a:pt x="38" y="97"/>
                    </a:lnTo>
                    <a:lnTo>
                      <a:pt x="40" y="90"/>
                    </a:lnTo>
                    <a:lnTo>
                      <a:pt x="40" y="86"/>
                    </a:lnTo>
                    <a:lnTo>
                      <a:pt x="43" y="83"/>
                    </a:lnTo>
                    <a:lnTo>
                      <a:pt x="43" y="81"/>
                    </a:lnTo>
                    <a:lnTo>
                      <a:pt x="38" y="78"/>
                    </a:lnTo>
                    <a:lnTo>
                      <a:pt x="33" y="76"/>
                    </a:lnTo>
                    <a:lnTo>
                      <a:pt x="29" y="71"/>
                    </a:lnTo>
                    <a:lnTo>
                      <a:pt x="21" y="64"/>
                    </a:lnTo>
                    <a:lnTo>
                      <a:pt x="14" y="55"/>
                    </a:lnTo>
                    <a:lnTo>
                      <a:pt x="9" y="45"/>
                    </a:lnTo>
                    <a:lnTo>
                      <a:pt x="5" y="31"/>
                    </a:lnTo>
                    <a:lnTo>
                      <a:pt x="2" y="16"/>
                    </a:ln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34"/>
              <p:cNvSpPr/>
              <p:nvPr/>
            </p:nvSpPr>
            <p:spPr bwMode="auto">
              <a:xfrm>
                <a:off x="4165" y="2911"/>
                <a:ext cx="355" cy="236"/>
              </a:xfrm>
              <a:custGeom>
                <a:avLst/>
                <a:gdLst>
                  <a:gd name="T0" fmla="*/ 355 w 355"/>
                  <a:gd name="T1" fmla="*/ 16 h 236"/>
                  <a:gd name="T2" fmla="*/ 348 w 355"/>
                  <a:gd name="T3" fmla="*/ 45 h 236"/>
                  <a:gd name="T4" fmla="*/ 334 w 355"/>
                  <a:gd name="T5" fmla="*/ 64 h 236"/>
                  <a:gd name="T6" fmla="*/ 322 w 355"/>
                  <a:gd name="T7" fmla="*/ 76 h 236"/>
                  <a:gd name="T8" fmla="*/ 315 w 355"/>
                  <a:gd name="T9" fmla="*/ 81 h 236"/>
                  <a:gd name="T10" fmla="*/ 315 w 355"/>
                  <a:gd name="T11" fmla="*/ 83 h 236"/>
                  <a:gd name="T12" fmla="*/ 317 w 355"/>
                  <a:gd name="T13" fmla="*/ 90 h 236"/>
                  <a:gd name="T14" fmla="*/ 320 w 355"/>
                  <a:gd name="T15" fmla="*/ 105 h 236"/>
                  <a:gd name="T16" fmla="*/ 317 w 355"/>
                  <a:gd name="T17" fmla="*/ 121 h 236"/>
                  <a:gd name="T18" fmla="*/ 310 w 355"/>
                  <a:gd name="T19" fmla="*/ 138 h 236"/>
                  <a:gd name="T20" fmla="*/ 291 w 355"/>
                  <a:gd name="T21" fmla="*/ 152 h 236"/>
                  <a:gd name="T22" fmla="*/ 272 w 355"/>
                  <a:gd name="T23" fmla="*/ 159 h 236"/>
                  <a:gd name="T24" fmla="*/ 255 w 355"/>
                  <a:gd name="T25" fmla="*/ 157 h 236"/>
                  <a:gd name="T26" fmla="*/ 241 w 355"/>
                  <a:gd name="T27" fmla="*/ 152 h 236"/>
                  <a:gd name="T28" fmla="*/ 234 w 355"/>
                  <a:gd name="T29" fmla="*/ 148 h 236"/>
                  <a:gd name="T30" fmla="*/ 234 w 355"/>
                  <a:gd name="T31" fmla="*/ 148 h 236"/>
                  <a:gd name="T32" fmla="*/ 234 w 355"/>
                  <a:gd name="T33" fmla="*/ 155 h 236"/>
                  <a:gd name="T34" fmla="*/ 231 w 355"/>
                  <a:gd name="T35" fmla="*/ 169 h 236"/>
                  <a:gd name="T36" fmla="*/ 224 w 355"/>
                  <a:gd name="T37" fmla="*/ 186 h 236"/>
                  <a:gd name="T38" fmla="*/ 205 w 355"/>
                  <a:gd name="T39" fmla="*/ 205 h 236"/>
                  <a:gd name="T40" fmla="*/ 177 w 355"/>
                  <a:gd name="T41" fmla="*/ 224 h 236"/>
                  <a:gd name="T42" fmla="*/ 146 w 355"/>
                  <a:gd name="T43" fmla="*/ 229 h 236"/>
                  <a:gd name="T44" fmla="*/ 117 w 355"/>
                  <a:gd name="T45" fmla="*/ 224 h 236"/>
                  <a:gd name="T46" fmla="*/ 98 w 355"/>
                  <a:gd name="T47" fmla="*/ 214 h 236"/>
                  <a:gd name="T48" fmla="*/ 86 w 355"/>
                  <a:gd name="T49" fmla="*/ 205 h 236"/>
                  <a:gd name="T50" fmla="*/ 84 w 355"/>
                  <a:gd name="T51" fmla="*/ 205 h 236"/>
                  <a:gd name="T52" fmla="*/ 81 w 355"/>
                  <a:gd name="T53" fmla="*/ 212 h 236"/>
                  <a:gd name="T54" fmla="*/ 76 w 355"/>
                  <a:gd name="T55" fmla="*/ 219 h 236"/>
                  <a:gd name="T56" fmla="*/ 69 w 355"/>
                  <a:gd name="T57" fmla="*/ 229 h 236"/>
                  <a:gd name="T58" fmla="*/ 53 w 355"/>
                  <a:gd name="T59" fmla="*/ 236 h 236"/>
                  <a:gd name="T60" fmla="*/ 31 w 355"/>
                  <a:gd name="T61" fmla="*/ 236 h 236"/>
                  <a:gd name="T62" fmla="*/ 14 w 355"/>
                  <a:gd name="T63" fmla="*/ 229 h 236"/>
                  <a:gd name="T64" fmla="*/ 5 w 355"/>
                  <a:gd name="T65" fmla="*/ 219 h 236"/>
                  <a:gd name="T66" fmla="*/ 0 w 355"/>
                  <a:gd name="T67" fmla="*/ 212 h 236"/>
                  <a:gd name="T68" fmla="*/ 0 w 355"/>
                  <a:gd name="T69" fmla="*/ 205 h 2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355"/>
                  <a:gd name="T106" fmla="*/ 0 h 236"/>
                  <a:gd name="T107" fmla="*/ 355 w 355"/>
                  <a:gd name="T108" fmla="*/ 236 h 2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355" h="236">
                    <a:moveTo>
                      <a:pt x="355" y="0"/>
                    </a:moveTo>
                    <a:lnTo>
                      <a:pt x="355" y="16"/>
                    </a:lnTo>
                    <a:lnTo>
                      <a:pt x="353" y="33"/>
                    </a:lnTo>
                    <a:lnTo>
                      <a:pt x="348" y="45"/>
                    </a:lnTo>
                    <a:lnTo>
                      <a:pt x="341" y="55"/>
                    </a:lnTo>
                    <a:lnTo>
                      <a:pt x="334" y="64"/>
                    </a:lnTo>
                    <a:lnTo>
                      <a:pt x="329" y="71"/>
                    </a:lnTo>
                    <a:lnTo>
                      <a:pt x="322" y="76"/>
                    </a:lnTo>
                    <a:lnTo>
                      <a:pt x="317" y="78"/>
                    </a:lnTo>
                    <a:lnTo>
                      <a:pt x="315" y="81"/>
                    </a:lnTo>
                    <a:lnTo>
                      <a:pt x="312" y="83"/>
                    </a:lnTo>
                    <a:lnTo>
                      <a:pt x="315" y="83"/>
                    </a:lnTo>
                    <a:lnTo>
                      <a:pt x="315" y="86"/>
                    </a:lnTo>
                    <a:lnTo>
                      <a:pt x="317" y="90"/>
                    </a:lnTo>
                    <a:lnTo>
                      <a:pt x="317" y="97"/>
                    </a:lnTo>
                    <a:lnTo>
                      <a:pt x="320" y="105"/>
                    </a:lnTo>
                    <a:lnTo>
                      <a:pt x="320" y="112"/>
                    </a:lnTo>
                    <a:lnTo>
                      <a:pt x="317" y="121"/>
                    </a:lnTo>
                    <a:lnTo>
                      <a:pt x="315" y="131"/>
                    </a:lnTo>
                    <a:lnTo>
                      <a:pt x="310" y="138"/>
                    </a:lnTo>
                    <a:lnTo>
                      <a:pt x="300" y="148"/>
                    </a:lnTo>
                    <a:lnTo>
                      <a:pt x="291" y="152"/>
                    </a:lnTo>
                    <a:lnTo>
                      <a:pt x="281" y="157"/>
                    </a:lnTo>
                    <a:lnTo>
                      <a:pt x="272" y="159"/>
                    </a:lnTo>
                    <a:lnTo>
                      <a:pt x="262" y="159"/>
                    </a:lnTo>
                    <a:lnTo>
                      <a:pt x="255" y="157"/>
                    </a:lnTo>
                    <a:lnTo>
                      <a:pt x="248" y="155"/>
                    </a:lnTo>
                    <a:lnTo>
                      <a:pt x="241" y="152"/>
                    </a:lnTo>
                    <a:lnTo>
                      <a:pt x="236" y="150"/>
                    </a:lnTo>
                    <a:lnTo>
                      <a:pt x="234" y="148"/>
                    </a:lnTo>
                    <a:lnTo>
                      <a:pt x="234" y="150"/>
                    </a:lnTo>
                    <a:lnTo>
                      <a:pt x="234" y="155"/>
                    </a:lnTo>
                    <a:lnTo>
                      <a:pt x="234" y="162"/>
                    </a:lnTo>
                    <a:lnTo>
                      <a:pt x="231" y="169"/>
                    </a:lnTo>
                    <a:lnTo>
                      <a:pt x="229" y="176"/>
                    </a:lnTo>
                    <a:lnTo>
                      <a:pt x="224" y="186"/>
                    </a:lnTo>
                    <a:lnTo>
                      <a:pt x="215" y="195"/>
                    </a:lnTo>
                    <a:lnTo>
                      <a:pt x="205" y="205"/>
                    </a:lnTo>
                    <a:lnTo>
                      <a:pt x="191" y="217"/>
                    </a:lnTo>
                    <a:lnTo>
                      <a:pt x="177" y="224"/>
                    </a:lnTo>
                    <a:lnTo>
                      <a:pt x="160" y="229"/>
                    </a:lnTo>
                    <a:lnTo>
                      <a:pt x="146" y="229"/>
                    </a:lnTo>
                    <a:lnTo>
                      <a:pt x="131" y="226"/>
                    </a:lnTo>
                    <a:lnTo>
                      <a:pt x="117" y="224"/>
                    </a:lnTo>
                    <a:lnTo>
                      <a:pt x="107" y="219"/>
                    </a:lnTo>
                    <a:lnTo>
                      <a:pt x="98" y="214"/>
                    </a:lnTo>
                    <a:lnTo>
                      <a:pt x="91" y="209"/>
                    </a:lnTo>
                    <a:lnTo>
                      <a:pt x="86" y="205"/>
                    </a:lnTo>
                    <a:lnTo>
                      <a:pt x="84" y="205"/>
                    </a:lnTo>
                    <a:lnTo>
                      <a:pt x="84" y="207"/>
                    </a:lnTo>
                    <a:lnTo>
                      <a:pt x="81" y="212"/>
                    </a:lnTo>
                    <a:lnTo>
                      <a:pt x="81" y="214"/>
                    </a:lnTo>
                    <a:lnTo>
                      <a:pt x="76" y="219"/>
                    </a:lnTo>
                    <a:lnTo>
                      <a:pt x="74" y="224"/>
                    </a:lnTo>
                    <a:lnTo>
                      <a:pt x="69" y="229"/>
                    </a:lnTo>
                    <a:lnTo>
                      <a:pt x="62" y="233"/>
                    </a:lnTo>
                    <a:lnTo>
                      <a:pt x="53" y="236"/>
                    </a:lnTo>
                    <a:lnTo>
                      <a:pt x="41" y="236"/>
                    </a:lnTo>
                    <a:lnTo>
                      <a:pt x="31" y="236"/>
                    </a:lnTo>
                    <a:lnTo>
                      <a:pt x="22" y="233"/>
                    </a:lnTo>
                    <a:lnTo>
                      <a:pt x="14" y="229"/>
                    </a:lnTo>
                    <a:lnTo>
                      <a:pt x="10" y="224"/>
                    </a:lnTo>
                    <a:lnTo>
                      <a:pt x="5" y="219"/>
                    </a:lnTo>
                    <a:lnTo>
                      <a:pt x="2" y="214"/>
                    </a:lnTo>
                    <a:lnTo>
                      <a:pt x="0" y="212"/>
                    </a:lnTo>
                    <a:lnTo>
                      <a:pt x="0" y="207"/>
                    </a:lnTo>
                    <a:lnTo>
                      <a:pt x="0" y="205"/>
                    </a:lnTo>
                  </a:path>
                </a:pathLst>
              </a:custGeom>
              <a:noFill/>
              <a:ln w="12700">
                <a:solidFill>
                  <a:srgbClr val="0066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6" name="Text Box 35"/>
            <p:cNvSpPr txBox="1">
              <a:spLocks noChangeArrowheads="1"/>
            </p:cNvSpPr>
            <p:nvPr/>
          </p:nvSpPr>
          <p:spPr bwMode="auto">
            <a:xfrm>
              <a:off x="5005388" y="4343400"/>
              <a:ext cx="633412" cy="923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52" tIns="34278" rIns="68552" bIns="3427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altLang="en-US" sz="4050">
                  <a:solidFill>
                    <a:srgbClr val="FF0000"/>
                  </a:solidFill>
                  <a:latin typeface="Arial" panose="020B0604020202020204" pitchFamily="34" charset="0"/>
                </a:rPr>
                <a:t>X</a:t>
              </a:r>
              <a:endParaRPr lang="en-US" altLang="en-US" sz="405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/>
              <a:t>Data </a:t>
            </a:r>
            <a:r>
              <a:rPr lang="en-US" altLang="zh-CN" dirty="0"/>
              <a:t>may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delivered</a:t>
            </a:r>
            <a:r>
              <a:rPr lang="en-US"/>
              <a:t> </a:t>
            </a:r>
            <a:r>
              <a:rPr lang="en-US" dirty="0">
                <a:solidFill>
                  <a:srgbClr val="FF0000"/>
                </a:solidFill>
              </a:rPr>
              <a:t>Out </a:t>
            </a:r>
            <a:r>
              <a:rPr lang="en-US">
                <a:solidFill>
                  <a:srgbClr val="FF0000"/>
                </a:solidFill>
              </a:rPr>
              <a:t>of Order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grpSp>
        <p:nvGrpSpPr>
          <p:cNvPr id="36" name="Group 35"/>
          <p:cNvGrpSpPr/>
          <p:nvPr/>
        </p:nvGrpSpPr>
        <p:grpSpPr>
          <a:xfrm>
            <a:off x="1336961" y="1538412"/>
            <a:ext cx="6470081" cy="3543300"/>
            <a:chOff x="457200" y="1447800"/>
            <a:chExt cx="8626775" cy="4724400"/>
          </a:xfrm>
        </p:grpSpPr>
        <p:sp>
          <p:nvSpPr>
            <p:cNvPr id="4" name="Rectangle 2"/>
            <p:cNvSpPr>
              <a:spLocks noChangeArrowheads="1"/>
            </p:cNvSpPr>
            <p:nvPr/>
          </p:nvSpPr>
          <p:spPr bwMode="auto">
            <a:xfrm>
              <a:off x="533400" y="3962400"/>
              <a:ext cx="8458200" cy="2209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>
              <a:outerShdw blurRad="63500" dist="107763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lIns="68558" tIns="34281" rIns="68558" bIns="34281" anchor="ctr"/>
            <a:lstStyle/>
            <a:p>
              <a:pPr>
                <a:defRPr/>
              </a:pPr>
              <a:endParaRPr lang="en-US">
                <a:latin typeface="Times New Roman" panose="02020603050405020304" charset="0"/>
                <a:ea typeface="+mn-ea"/>
              </a:endParaRPr>
            </a:p>
          </p:txBody>
        </p:sp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457200" y="3962400"/>
              <a:ext cx="4953000" cy="685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9027" tIns="34514" rIns="69027" bIns="34514"/>
            <a:lstStyle>
              <a:lvl1pPr marL="341630" indent="-34163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500">
                  <a:latin typeface="Arial" panose="020B0604020202020204" pitchFamily="34" charset="0"/>
                </a:rPr>
                <a:t>Solution: Add Sequence Numbers</a:t>
              </a:r>
              <a:endParaRPr lang="en-US" altLang="en-US" sz="1500">
                <a:latin typeface="Arial" panose="020B0604020202020204" pitchFamily="34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457200" y="1447800"/>
              <a:ext cx="8458200" cy="2209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>
              <a:outerShdw blurRad="63500" dist="107763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lIns="68558" tIns="34281" rIns="68558" bIns="34281" anchor="ctr"/>
            <a:lstStyle/>
            <a:p>
              <a:pPr>
                <a:defRPr/>
              </a:pPr>
              <a:endParaRPr lang="en-US">
                <a:latin typeface="Times New Roman" panose="02020603050405020304" charset="0"/>
                <a:ea typeface="+mn-ea"/>
              </a:endParaRPr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457200" y="1524000"/>
              <a:ext cx="4953000" cy="685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9027" tIns="34514" rIns="69027" bIns="34514"/>
            <a:lstStyle>
              <a:lvl1pPr marL="341630" indent="-34163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500">
                  <a:latin typeface="Arial" panose="020B0604020202020204" pitchFamily="34" charset="0"/>
                </a:rPr>
                <a:t>Problem: Out of Order</a:t>
              </a:r>
              <a:endParaRPr lang="en-US" altLang="en-US" sz="1500">
                <a:latin typeface="Arial" panose="020B0604020202020204" pitchFamily="34" charset="0"/>
              </a:endParaRP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6172200" y="2057400"/>
              <a:ext cx="838200" cy="533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68552" tIns="34278" rIns="68552" bIns="34278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altLang="en-US" sz="1500">
                  <a:solidFill>
                    <a:srgbClr val="000000"/>
                  </a:solidFill>
                  <a:latin typeface="Arial" panose="020B0604020202020204" pitchFamily="34" charset="0"/>
                </a:rPr>
                <a:t>GET</a:t>
              </a:r>
              <a:endParaRPr lang="en-US" altLang="en-US" sz="15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4800600" y="2057400"/>
              <a:ext cx="838200" cy="533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68552" tIns="34278" rIns="68552" bIns="34278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altLang="en-US" sz="1500">
                  <a:solidFill>
                    <a:srgbClr val="000000"/>
                  </a:solidFill>
                  <a:latin typeface="Arial" panose="020B0604020202020204" pitchFamily="34" charset="0"/>
                </a:rPr>
                <a:t>x.ht</a:t>
              </a:r>
              <a:endParaRPr lang="en-US" altLang="en-US" sz="15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3429000" y="2057400"/>
              <a:ext cx="838200" cy="533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68552" tIns="34278" rIns="68552" bIns="34278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altLang="en-US" sz="1500">
                  <a:solidFill>
                    <a:srgbClr val="000000"/>
                  </a:solidFill>
                  <a:latin typeface="Arial" panose="020B0604020202020204" pitchFamily="34" charset="0"/>
                </a:rPr>
                <a:t>inde</a:t>
              </a:r>
              <a:endParaRPr lang="en-US" altLang="en-US" sz="15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2057400" y="2057400"/>
              <a:ext cx="838200" cy="533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68552" tIns="34278" rIns="68552" bIns="34278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altLang="en-US" sz="1500">
                  <a:solidFill>
                    <a:srgbClr val="000000"/>
                  </a:solidFill>
                  <a:latin typeface="Arial" panose="020B0604020202020204" pitchFamily="34" charset="0"/>
                </a:rPr>
                <a:t>ml</a:t>
              </a:r>
              <a:endParaRPr lang="en-US" altLang="en-US" sz="15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1524000" y="2286000"/>
              <a:ext cx="5334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 anchor="ctr"/>
            <a:lstStyle/>
            <a:p>
              <a:endParaRPr lang="en-US"/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2895600" y="2286000"/>
              <a:ext cx="5334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 anchor="ctr"/>
            <a:lstStyle/>
            <a:p>
              <a:endParaRPr lang="en-US"/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4267200" y="2286000"/>
              <a:ext cx="5334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 anchor="ctr"/>
            <a:lstStyle/>
            <a:p>
              <a:endParaRPr lang="en-US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5638800" y="2286000"/>
              <a:ext cx="5334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 anchor="ctr"/>
            <a:lstStyle/>
            <a:p>
              <a:endParaRPr lang="en-US"/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7010400" y="2286000"/>
              <a:ext cx="5334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 anchor="ctr"/>
            <a:lstStyle/>
            <a:p>
              <a:endParaRPr lang="en-US"/>
            </a:p>
          </p:txBody>
        </p:sp>
        <p:sp>
          <p:nvSpPr>
            <p:cNvPr id="17" name="Text Box 16"/>
            <p:cNvSpPr txBox="1">
              <a:spLocks noChangeArrowheads="1"/>
            </p:cNvSpPr>
            <p:nvPr/>
          </p:nvSpPr>
          <p:spPr bwMode="auto">
            <a:xfrm>
              <a:off x="6870403" y="3030524"/>
              <a:ext cx="2061172" cy="4000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52" tIns="34278" rIns="68552" bIns="34278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altLang="en-US" sz="1500">
                  <a:solidFill>
                    <a:srgbClr val="FF0000"/>
                  </a:solidFill>
                  <a:latin typeface="Arial" panose="020B0604020202020204" pitchFamily="34" charset="0"/>
                </a:rPr>
                <a:t>GET x.htindeml</a:t>
              </a:r>
              <a:endParaRPr lang="en-US" altLang="en-US" sz="15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1447800" y="5105400"/>
              <a:ext cx="5334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 anchor="ctr"/>
            <a:lstStyle/>
            <a:p>
              <a:endParaRPr lang="en-US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2895600" y="5105400"/>
              <a:ext cx="5334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 anchor="ctr"/>
            <a:lstStyle/>
            <a:p>
              <a:endParaRPr lang="en-US"/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>
              <a:off x="4343400" y="5105400"/>
              <a:ext cx="5334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 anchor="ctr"/>
            <a:lstStyle/>
            <a:p>
              <a:endParaRPr lang="en-US"/>
            </a:p>
          </p:txBody>
        </p:sp>
        <p:sp>
          <p:nvSpPr>
            <p:cNvPr id="21" name="Text Box 20"/>
            <p:cNvSpPr txBox="1">
              <a:spLocks noChangeArrowheads="1"/>
            </p:cNvSpPr>
            <p:nvPr/>
          </p:nvSpPr>
          <p:spPr bwMode="auto">
            <a:xfrm>
              <a:off x="7022803" y="5697524"/>
              <a:ext cx="2061172" cy="4000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52" tIns="34278" rIns="68552" bIns="34278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altLang="en-US" sz="1500">
                  <a:solidFill>
                    <a:srgbClr val="000000"/>
                  </a:solidFill>
                  <a:latin typeface="Arial" panose="020B0604020202020204" pitchFamily="34" charset="0"/>
                </a:rPr>
                <a:t>GET index.html</a:t>
              </a:r>
              <a:endParaRPr lang="en-US" altLang="en-US" sz="15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1981200" y="4876800"/>
              <a:ext cx="609600" cy="533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68552" tIns="34278" rIns="68552" bIns="34278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altLang="en-US" sz="1500">
                  <a:solidFill>
                    <a:srgbClr val="000000"/>
                  </a:solidFill>
                  <a:latin typeface="Arial" panose="020B0604020202020204" pitchFamily="34" charset="0"/>
                </a:rPr>
                <a:t>ml</a:t>
              </a:r>
              <a:endParaRPr lang="en-US" altLang="en-US" sz="15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2590800" y="4876800"/>
              <a:ext cx="228600" cy="533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68552" tIns="34278" rIns="68552" bIns="34278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altLang="en-US" sz="150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en-US" altLang="en-US" sz="15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3429000" y="4876800"/>
              <a:ext cx="609600" cy="533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68552" tIns="34278" rIns="68552" bIns="34278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altLang="en-US" sz="1500">
                  <a:solidFill>
                    <a:srgbClr val="000000"/>
                  </a:solidFill>
                  <a:latin typeface="Arial" panose="020B0604020202020204" pitchFamily="34" charset="0"/>
                </a:rPr>
                <a:t>inde</a:t>
              </a:r>
              <a:endParaRPr lang="en-US" altLang="en-US" sz="15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4038600" y="4876800"/>
              <a:ext cx="228600" cy="533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68552" tIns="34278" rIns="68552" bIns="34278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altLang="en-US" sz="150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endParaRPr lang="en-US" altLang="en-US" sz="15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Line 25"/>
            <p:cNvSpPr>
              <a:spLocks noChangeShapeType="1"/>
            </p:cNvSpPr>
            <p:nvPr/>
          </p:nvSpPr>
          <p:spPr bwMode="auto">
            <a:xfrm>
              <a:off x="5791200" y="5105400"/>
              <a:ext cx="5334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 anchor="ctr"/>
            <a:lstStyle/>
            <a:p>
              <a:endParaRPr lang="en-US"/>
            </a:p>
          </p:txBody>
        </p: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4876800" y="4876800"/>
              <a:ext cx="609600" cy="533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68552" tIns="34278" rIns="68552" bIns="34278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altLang="en-US" sz="1500">
                  <a:solidFill>
                    <a:srgbClr val="000000"/>
                  </a:solidFill>
                  <a:latin typeface="Arial" panose="020B0604020202020204" pitchFamily="34" charset="0"/>
                </a:rPr>
                <a:t>x.ht</a:t>
              </a:r>
              <a:endParaRPr lang="en-US" altLang="en-US" sz="15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5486400" y="4876800"/>
              <a:ext cx="228600" cy="533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68552" tIns="34278" rIns="68552" bIns="34278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altLang="en-US" sz="150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endParaRPr lang="en-US" altLang="en-US" sz="15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" name="Line 28"/>
            <p:cNvSpPr>
              <a:spLocks noChangeShapeType="1"/>
            </p:cNvSpPr>
            <p:nvPr/>
          </p:nvSpPr>
          <p:spPr bwMode="auto">
            <a:xfrm>
              <a:off x="7162800" y="5105400"/>
              <a:ext cx="5334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 anchor="ctr"/>
            <a:lstStyle/>
            <a:p>
              <a:endParaRPr lang="en-US"/>
            </a:p>
          </p:txBody>
        </p:sp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6324600" y="4876800"/>
              <a:ext cx="609600" cy="533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68552" tIns="34278" rIns="68552" bIns="34278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altLang="en-US" sz="1500">
                  <a:solidFill>
                    <a:srgbClr val="000000"/>
                  </a:solidFill>
                  <a:latin typeface="Arial" panose="020B0604020202020204" pitchFamily="34" charset="0"/>
                </a:rPr>
                <a:t>GET</a:t>
              </a:r>
              <a:endParaRPr lang="en-US" altLang="en-US" sz="15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6934200" y="4876800"/>
              <a:ext cx="228600" cy="533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lIns="68552" tIns="34278" rIns="68552" bIns="34278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algn="ctr"/>
              <a:r>
                <a:rPr lang="en-US" altLang="en-US" sz="150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en-US" altLang="en-US" sz="15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32" name="Picture 31" descr="Computer5"/>
            <p:cNvPicPr>
              <a:picLocks noChangeAspect="1" noChangeArrowheads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" y="1882775"/>
              <a:ext cx="1238250" cy="1089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" name="Picture 32" descr="paketaro box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43800" y="1828800"/>
              <a:ext cx="1143000" cy="1143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" name="Picture 33" descr="Computer5"/>
            <p:cNvPicPr>
              <a:picLocks noChangeAspect="1" noChangeArrowheads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0550" y="4549775"/>
              <a:ext cx="1238250" cy="1089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" name="Picture 34" descr="paketaro box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200" y="4572000"/>
              <a:ext cx="1143000" cy="1143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 dirty="0"/>
              <a:t>What If Network is Overloaded?</a:t>
            </a:r>
            <a:endParaRPr 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grpSp>
        <p:nvGrpSpPr>
          <p:cNvPr id="47" name="Group 46"/>
          <p:cNvGrpSpPr/>
          <p:nvPr/>
        </p:nvGrpSpPr>
        <p:grpSpPr>
          <a:xfrm>
            <a:off x="990602" y="1425418"/>
            <a:ext cx="6961451" cy="2207839"/>
            <a:chOff x="457200" y="1524000"/>
            <a:chExt cx="8458200" cy="2209800"/>
          </a:xfrm>
        </p:grpSpPr>
        <p:sp>
          <p:nvSpPr>
            <p:cNvPr id="4" name="Rectangle 3"/>
            <p:cNvSpPr>
              <a:spLocks noChangeArrowheads="1"/>
            </p:cNvSpPr>
            <p:nvPr/>
          </p:nvSpPr>
          <p:spPr bwMode="auto">
            <a:xfrm>
              <a:off x="457200" y="1524000"/>
              <a:ext cx="8458200" cy="2209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>
              <a:outerShdw blurRad="63500" dist="107763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lIns="68558" tIns="34281" rIns="68558" bIns="34281" anchor="ctr"/>
            <a:lstStyle/>
            <a:p>
              <a:pPr>
                <a:defRPr/>
              </a:pPr>
              <a:endParaRPr lang="en-US">
                <a:latin typeface="Times New Roman" panose="02020603050405020304" charset="0"/>
                <a:ea typeface="+mn-ea"/>
              </a:endParaRPr>
            </a:p>
          </p:txBody>
        </p:sp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457200" y="1524000"/>
              <a:ext cx="4953000" cy="685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9027" tIns="34514" rIns="69027" bIns="34514"/>
            <a:lstStyle>
              <a:lvl1pPr marL="341630" indent="-34163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2"/>
                </a:buClr>
              </a:pPr>
              <a:endParaRPr lang="en-US" altLang="en-US" sz="1500">
                <a:latin typeface="Arial" panose="020B0604020202020204" pitchFamily="34" charset="0"/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533400" y="1600200"/>
              <a:ext cx="4953000" cy="685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9027" tIns="34514" rIns="69027" bIns="34514"/>
            <a:lstStyle>
              <a:lvl1pPr marL="341630" indent="-34163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500" dirty="0">
                  <a:latin typeface="+mn-lt"/>
                </a:rPr>
                <a:t>Problem: Network Overload</a:t>
              </a:r>
              <a:endParaRPr lang="en-US" altLang="en-US" sz="1500" dirty="0">
                <a:latin typeface="+mn-lt"/>
              </a:endParaRPr>
            </a:p>
          </p:txBody>
        </p:sp>
        <p:grpSp>
          <p:nvGrpSpPr>
            <p:cNvPr id="7" name="Group 9"/>
            <p:cNvGrpSpPr/>
            <p:nvPr/>
          </p:nvGrpSpPr>
          <p:grpSpPr bwMode="auto">
            <a:xfrm>
              <a:off x="3429000" y="2286000"/>
              <a:ext cx="5056188" cy="1009650"/>
              <a:chOff x="1968" y="1440"/>
              <a:chExt cx="3185" cy="636"/>
            </a:xfrm>
          </p:grpSpPr>
          <p:sp>
            <p:nvSpPr>
              <p:cNvPr id="8" name="Oval 10"/>
              <p:cNvSpPr>
                <a:spLocks noChangeArrowheads="1"/>
              </p:cNvSpPr>
              <p:nvPr/>
            </p:nvSpPr>
            <p:spPr bwMode="auto">
              <a:xfrm>
                <a:off x="1968" y="1440"/>
                <a:ext cx="624" cy="57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9" name="Line 11"/>
              <p:cNvSpPr>
                <a:spLocks noChangeShapeType="1"/>
              </p:cNvSpPr>
              <p:nvPr/>
            </p:nvSpPr>
            <p:spPr bwMode="auto">
              <a:xfrm>
                <a:off x="2474" y="1740"/>
                <a:ext cx="28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Line 12"/>
              <p:cNvSpPr>
                <a:spLocks noChangeShapeType="1"/>
              </p:cNvSpPr>
              <p:nvPr/>
            </p:nvSpPr>
            <p:spPr bwMode="auto">
              <a:xfrm>
                <a:off x="4865" y="1726"/>
                <a:ext cx="28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Rectangle 13"/>
              <p:cNvSpPr>
                <a:spLocks noChangeArrowheads="1"/>
              </p:cNvSpPr>
              <p:nvPr/>
            </p:nvSpPr>
            <p:spPr bwMode="auto">
              <a:xfrm>
                <a:off x="4792" y="1584"/>
                <a:ext cx="48" cy="28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bg2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12" name="Rectangle 14"/>
              <p:cNvSpPr>
                <a:spLocks noChangeArrowheads="1"/>
              </p:cNvSpPr>
              <p:nvPr/>
            </p:nvSpPr>
            <p:spPr bwMode="auto">
              <a:xfrm>
                <a:off x="2296" y="1644"/>
                <a:ext cx="48" cy="19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13" name="Rectangle 15"/>
              <p:cNvSpPr>
                <a:spLocks noChangeArrowheads="1"/>
              </p:cNvSpPr>
              <p:nvPr/>
            </p:nvSpPr>
            <p:spPr bwMode="auto">
              <a:xfrm>
                <a:off x="3072" y="1584"/>
                <a:ext cx="144" cy="288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14" name="Rectangle 16"/>
              <p:cNvSpPr>
                <a:spLocks noChangeArrowheads="1"/>
              </p:cNvSpPr>
              <p:nvPr/>
            </p:nvSpPr>
            <p:spPr bwMode="auto">
              <a:xfrm>
                <a:off x="3208" y="1584"/>
                <a:ext cx="144" cy="288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15" name="Rectangle 17"/>
              <p:cNvSpPr>
                <a:spLocks noChangeArrowheads="1"/>
              </p:cNvSpPr>
              <p:nvPr/>
            </p:nvSpPr>
            <p:spPr bwMode="auto">
              <a:xfrm>
                <a:off x="3736" y="1584"/>
                <a:ext cx="48" cy="28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bg2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16" name="Rectangle 18"/>
              <p:cNvSpPr>
                <a:spLocks noChangeArrowheads="1"/>
              </p:cNvSpPr>
              <p:nvPr/>
            </p:nvSpPr>
            <p:spPr bwMode="auto">
              <a:xfrm>
                <a:off x="3928" y="1584"/>
                <a:ext cx="480" cy="288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17" name="Rectangle 19"/>
              <p:cNvSpPr>
                <a:spLocks noChangeArrowheads="1"/>
              </p:cNvSpPr>
              <p:nvPr/>
            </p:nvSpPr>
            <p:spPr bwMode="auto">
              <a:xfrm>
                <a:off x="4416" y="1584"/>
                <a:ext cx="48" cy="288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18" name="Rectangle 20"/>
              <p:cNvSpPr>
                <a:spLocks noChangeArrowheads="1"/>
              </p:cNvSpPr>
              <p:nvPr/>
            </p:nvSpPr>
            <p:spPr bwMode="auto">
              <a:xfrm>
                <a:off x="4552" y="1584"/>
                <a:ext cx="144" cy="288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19" name="Rectangle 21"/>
              <p:cNvSpPr>
                <a:spLocks noChangeArrowheads="1"/>
              </p:cNvSpPr>
              <p:nvPr/>
            </p:nvSpPr>
            <p:spPr bwMode="auto">
              <a:xfrm>
                <a:off x="3448" y="1584"/>
                <a:ext cx="48" cy="28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bg2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20" name="Rectangle 22"/>
              <p:cNvSpPr>
                <a:spLocks noChangeArrowheads="1"/>
              </p:cNvSpPr>
              <p:nvPr/>
            </p:nvSpPr>
            <p:spPr bwMode="auto">
              <a:xfrm>
                <a:off x="3016" y="1584"/>
                <a:ext cx="48" cy="28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21" name="Rectangle 23"/>
              <p:cNvSpPr>
                <a:spLocks noChangeArrowheads="1"/>
              </p:cNvSpPr>
              <p:nvPr/>
            </p:nvSpPr>
            <p:spPr bwMode="auto">
              <a:xfrm>
                <a:off x="2920" y="1596"/>
                <a:ext cx="88" cy="288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22" name="Rectangle 24"/>
              <p:cNvSpPr>
                <a:spLocks noChangeArrowheads="1"/>
              </p:cNvSpPr>
              <p:nvPr/>
            </p:nvSpPr>
            <p:spPr bwMode="auto">
              <a:xfrm>
                <a:off x="2784" y="1596"/>
                <a:ext cx="88" cy="288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23" name="Rectangle 25"/>
              <p:cNvSpPr>
                <a:spLocks noChangeArrowheads="1"/>
              </p:cNvSpPr>
              <p:nvPr/>
            </p:nvSpPr>
            <p:spPr bwMode="auto">
              <a:xfrm>
                <a:off x="3352" y="1596"/>
                <a:ext cx="96" cy="288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24" name="Rectangle 26"/>
              <p:cNvSpPr>
                <a:spLocks noChangeArrowheads="1"/>
              </p:cNvSpPr>
              <p:nvPr/>
            </p:nvSpPr>
            <p:spPr bwMode="auto">
              <a:xfrm>
                <a:off x="4456" y="1596"/>
                <a:ext cx="88" cy="288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25" name="Rectangle 27"/>
              <p:cNvSpPr>
                <a:spLocks noChangeArrowheads="1"/>
              </p:cNvSpPr>
              <p:nvPr/>
            </p:nvSpPr>
            <p:spPr bwMode="auto">
              <a:xfrm>
                <a:off x="3496" y="1596"/>
                <a:ext cx="88" cy="288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26" name="Rectangle 28"/>
              <p:cNvSpPr>
                <a:spLocks noChangeArrowheads="1"/>
              </p:cNvSpPr>
              <p:nvPr/>
            </p:nvSpPr>
            <p:spPr bwMode="auto">
              <a:xfrm>
                <a:off x="3592" y="1596"/>
                <a:ext cx="144" cy="288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27" name="Rectangle 29"/>
              <p:cNvSpPr>
                <a:spLocks noChangeArrowheads="1"/>
              </p:cNvSpPr>
              <p:nvPr/>
            </p:nvSpPr>
            <p:spPr bwMode="auto">
              <a:xfrm>
                <a:off x="4696" y="1596"/>
                <a:ext cx="88" cy="288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28" name="Rectangle 30"/>
              <p:cNvSpPr>
                <a:spLocks noChangeArrowheads="1"/>
              </p:cNvSpPr>
              <p:nvPr/>
            </p:nvSpPr>
            <p:spPr bwMode="auto">
              <a:xfrm>
                <a:off x="3784" y="1596"/>
                <a:ext cx="144" cy="288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29" name="Rectangle 31"/>
              <p:cNvSpPr>
                <a:spLocks noChangeArrowheads="1"/>
              </p:cNvSpPr>
              <p:nvPr/>
            </p:nvSpPr>
            <p:spPr bwMode="auto">
              <a:xfrm>
                <a:off x="2344" y="1644"/>
                <a:ext cx="96" cy="192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30" name="Rectangle 32"/>
              <p:cNvSpPr>
                <a:spLocks noChangeArrowheads="1"/>
              </p:cNvSpPr>
              <p:nvPr/>
            </p:nvSpPr>
            <p:spPr bwMode="auto">
              <a:xfrm>
                <a:off x="2344" y="1644"/>
                <a:ext cx="48" cy="192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31" name="Rectangle 33"/>
              <p:cNvSpPr>
                <a:spLocks noChangeArrowheads="1"/>
              </p:cNvSpPr>
              <p:nvPr/>
            </p:nvSpPr>
            <p:spPr bwMode="auto">
              <a:xfrm>
                <a:off x="2152" y="1644"/>
                <a:ext cx="48" cy="19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32" name="Rectangle 34"/>
              <p:cNvSpPr>
                <a:spLocks noChangeArrowheads="1"/>
              </p:cNvSpPr>
              <p:nvPr/>
            </p:nvSpPr>
            <p:spPr bwMode="auto">
              <a:xfrm>
                <a:off x="2200" y="1644"/>
                <a:ext cx="96" cy="192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33" name="Rectangle 35"/>
              <p:cNvSpPr>
                <a:spLocks noChangeArrowheads="1"/>
              </p:cNvSpPr>
              <p:nvPr/>
            </p:nvSpPr>
            <p:spPr bwMode="auto">
              <a:xfrm>
                <a:off x="2200" y="1644"/>
                <a:ext cx="48" cy="192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34" name="Freeform 36"/>
              <p:cNvSpPr/>
              <p:nvPr/>
            </p:nvSpPr>
            <p:spPr bwMode="auto">
              <a:xfrm>
                <a:off x="2122" y="1644"/>
                <a:ext cx="318" cy="192"/>
              </a:xfrm>
              <a:custGeom>
                <a:avLst/>
                <a:gdLst>
                  <a:gd name="T0" fmla="*/ 0 w 1012"/>
                  <a:gd name="T1" fmla="*/ 0 h 292"/>
                  <a:gd name="T2" fmla="*/ 0 w 1012"/>
                  <a:gd name="T3" fmla="*/ 0 h 292"/>
                  <a:gd name="T4" fmla="*/ 0 w 1012"/>
                  <a:gd name="T5" fmla="*/ 16 h 292"/>
                  <a:gd name="T6" fmla="*/ 0 w 1012"/>
                  <a:gd name="T7" fmla="*/ 16 h 29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2"/>
                  <a:gd name="T13" fmla="*/ 0 h 292"/>
                  <a:gd name="T14" fmla="*/ 1012 w 1012"/>
                  <a:gd name="T15" fmla="*/ 292 h 29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2" h="292">
                    <a:moveTo>
                      <a:pt x="0" y="0"/>
                    </a:moveTo>
                    <a:lnTo>
                      <a:pt x="1009" y="0"/>
                    </a:lnTo>
                    <a:lnTo>
                      <a:pt x="1012" y="292"/>
                    </a:lnTo>
                    <a:lnTo>
                      <a:pt x="18" y="291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Rectangle 37"/>
              <p:cNvSpPr>
                <a:spLocks noChangeArrowheads="1"/>
              </p:cNvSpPr>
              <p:nvPr/>
            </p:nvSpPr>
            <p:spPr bwMode="auto">
              <a:xfrm rot="1080000">
                <a:off x="2104" y="1884"/>
                <a:ext cx="48" cy="19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36" name="Rectangle 38"/>
              <p:cNvSpPr>
                <a:spLocks noChangeArrowheads="1"/>
              </p:cNvSpPr>
              <p:nvPr/>
            </p:nvSpPr>
            <p:spPr bwMode="auto">
              <a:xfrm rot="-300000">
                <a:off x="2008" y="1884"/>
                <a:ext cx="48" cy="192"/>
              </a:xfrm>
              <a:prstGeom prst="rect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37" name="Rectangle 39"/>
              <p:cNvSpPr>
                <a:spLocks noChangeArrowheads="1"/>
              </p:cNvSpPr>
              <p:nvPr/>
            </p:nvSpPr>
            <p:spPr bwMode="auto">
              <a:xfrm rot="-840000">
                <a:off x="2056" y="1740"/>
                <a:ext cx="48" cy="192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folHlink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38" name="Rectangle 40"/>
              <p:cNvSpPr>
                <a:spLocks noChangeArrowheads="1"/>
              </p:cNvSpPr>
              <p:nvPr/>
            </p:nvSpPr>
            <p:spPr bwMode="auto">
              <a:xfrm>
                <a:off x="2872" y="1584"/>
                <a:ext cx="48" cy="28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charset="0"/>
                    <a:ea typeface="MS PGothic" panose="020B0600070205080204" charset="-128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39" name="Line 41"/>
              <p:cNvSpPr>
                <a:spLocks noChangeShapeType="1"/>
              </p:cNvSpPr>
              <p:nvPr/>
            </p:nvSpPr>
            <p:spPr bwMode="auto">
              <a:xfrm>
                <a:off x="2544" y="1884"/>
                <a:ext cx="240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" name="Line 42"/>
              <p:cNvSpPr>
                <a:spLocks noChangeShapeType="1"/>
              </p:cNvSpPr>
              <p:nvPr/>
            </p:nvSpPr>
            <p:spPr bwMode="auto">
              <a:xfrm>
                <a:off x="2544" y="1584"/>
                <a:ext cx="240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pic>
          <p:nvPicPr>
            <p:cNvPr id="41" name="Picture 43" descr="Click To Preview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6400" y="2895600"/>
              <a:ext cx="731838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2" name="Picture 44" descr="Click To Preview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5963" y="2438400"/>
              <a:ext cx="731837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3" name="Picture 45" descr="Click To Preview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0200" y="1905000"/>
              <a:ext cx="731838" cy="73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" name="Line 46"/>
            <p:cNvSpPr>
              <a:spLocks noChangeShapeType="1"/>
            </p:cNvSpPr>
            <p:nvPr/>
          </p:nvSpPr>
          <p:spPr bwMode="auto">
            <a:xfrm>
              <a:off x="2362200" y="2362200"/>
              <a:ext cx="990600" cy="425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/>
            <a:lstStyle/>
            <a:p>
              <a:endParaRPr lang="en-US"/>
            </a:p>
          </p:txBody>
        </p:sp>
        <p:sp>
          <p:nvSpPr>
            <p:cNvPr id="45" name="Line 47"/>
            <p:cNvSpPr>
              <a:spLocks noChangeShapeType="1"/>
            </p:cNvSpPr>
            <p:nvPr/>
          </p:nvSpPr>
          <p:spPr bwMode="auto">
            <a:xfrm>
              <a:off x="1536700" y="2787650"/>
              <a:ext cx="1816100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/>
            <a:lstStyle/>
            <a:p>
              <a:endParaRPr lang="en-US"/>
            </a:p>
          </p:txBody>
        </p:sp>
        <p:sp>
          <p:nvSpPr>
            <p:cNvPr id="46" name="Line 48"/>
            <p:cNvSpPr>
              <a:spLocks noChangeShapeType="1"/>
            </p:cNvSpPr>
            <p:nvPr/>
          </p:nvSpPr>
          <p:spPr bwMode="auto">
            <a:xfrm flipV="1">
              <a:off x="2438400" y="2787650"/>
              <a:ext cx="914400" cy="41275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58" tIns="34281" rIns="68558" bIns="34281"/>
            <a:lstStyle/>
            <a:p>
              <a:endParaRPr lang="en-US"/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999798" y="3872866"/>
            <a:ext cx="6952255" cy="2316240"/>
            <a:chOff x="457200" y="3962400"/>
            <a:chExt cx="8458200" cy="2209800"/>
          </a:xfrm>
        </p:grpSpPr>
        <p:sp>
          <p:nvSpPr>
            <p:cNvPr id="48" name="Rectangle 5"/>
            <p:cNvSpPr>
              <a:spLocks noChangeArrowheads="1"/>
            </p:cNvSpPr>
            <p:nvPr/>
          </p:nvSpPr>
          <p:spPr bwMode="auto">
            <a:xfrm>
              <a:off x="457200" y="3962400"/>
              <a:ext cx="8458200" cy="2209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>
              <a:outerShdw blurRad="63500" dist="107763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lIns="68558" tIns="34281" rIns="68558" bIns="34281" anchor="ctr"/>
            <a:lstStyle/>
            <a:p>
              <a:pPr>
                <a:defRPr/>
              </a:pPr>
              <a:endParaRPr lang="en-US"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49" name="Rectangle 7"/>
            <p:cNvSpPr txBox="1">
              <a:spLocks noChangeArrowheads="1"/>
            </p:cNvSpPr>
            <p:nvPr/>
          </p:nvSpPr>
          <p:spPr>
            <a:xfrm>
              <a:off x="838200" y="4419600"/>
              <a:ext cx="7765928" cy="1752600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92500" lnSpcReduction="1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en-US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Short bursts: buffer (reduces jitter)</a:t>
              </a:r>
              <a:r>
                <a:rPr lang="zh-CN" altLang="en-US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 </a:t>
              </a:r>
              <a:r>
                <a:rPr lang="en-US" altLang="zh-CN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–</a:t>
              </a:r>
              <a:r>
                <a:rPr lang="zh-CN" altLang="en-US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 </a:t>
              </a:r>
              <a:r>
                <a:rPr lang="en-US" altLang="zh-CN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queuing</a:t>
              </a:r>
              <a:r>
                <a:rPr lang="zh-CN" altLang="en-US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 </a:t>
              </a:r>
              <a:endParaRPr lang="en-US" altLang="en-US" sz="1800" b="0" dirty="0">
                <a:latin typeface="Calibri" panose="020F0502020204030204" pitchFamily="34" charset="0"/>
                <a:ea typeface="MS PGothic" panose="020B0600070205080204" charset="-128"/>
                <a:cs typeface="Calibri" panose="020F0502020204030204" pitchFamily="34" charset="0"/>
              </a:endParaRPr>
            </a:p>
            <a:p>
              <a:r>
                <a:rPr lang="en-US" altLang="en-US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What if buffer overflows?</a:t>
              </a:r>
              <a:endParaRPr lang="en-US" altLang="en-US" sz="1800" b="0" dirty="0">
                <a:latin typeface="Calibri" panose="020F0502020204030204" pitchFamily="34" charset="0"/>
                <a:ea typeface="MS PGothic" panose="020B0600070205080204" charset="-128"/>
                <a:cs typeface="Calibri" panose="020F0502020204030204" pitchFamily="34" charset="0"/>
              </a:endParaRPr>
            </a:p>
            <a:p>
              <a:pPr lvl="1"/>
              <a:r>
                <a:rPr lang="en-US" altLang="en-US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Packets dropped</a:t>
              </a:r>
              <a:endParaRPr lang="en-US" altLang="en-US" sz="1800" b="0" dirty="0">
                <a:latin typeface="Calibri" panose="020F0502020204030204" pitchFamily="34" charset="0"/>
                <a:ea typeface="MS PGothic" panose="020B0600070205080204" charset="-128"/>
                <a:cs typeface="Calibri" panose="020F0502020204030204" pitchFamily="34" charset="0"/>
              </a:endParaRPr>
            </a:p>
            <a:p>
              <a:r>
                <a:rPr lang="en-US" altLang="zh-CN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What</a:t>
              </a:r>
              <a:r>
                <a:rPr lang="zh-CN" altLang="en-US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 </a:t>
              </a:r>
              <a:r>
                <a:rPr lang="en-US" altLang="zh-CN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can</a:t>
              </a:r>
              <a:r>
                <a:rPr lang="zh-CN" altLang="en-US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 </a:t>
              </a:r>
              <a:r>
                <a:rPr lang="en-US" altLang="zh-CN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we</a:t>
              </a:r>
              <a:r>
                <a:rPr lang="zh-CN" altLang="en-US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 </a:t>
              </a:r>
              <a:r>
                <a:rPr lang="en-US" altLang="zh-CN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do?</a:t>
              </a:r>
              <a:endParaRPr lang="en-US" altLang="zh-CN" sz="1800" b="0" dirty="0">
                <a:latin typeface="Calibri" panose="020F0502020204030204" pitchFamily="34" charset="0"/>
                <a:ea typeface="MS PGothic" panose="020B0600070205080204" charset="-128"/>
                <a:cs typeface="Calibri" panose="020F0502020204030204" pitchFamily="34" charset="0"/>
              </a:endParaRPr>
            </a:p>
            <a:p>
              <a:pPr lvl="1"/>
              <a:r>
                <a:rPr lang="en-US" altLang="zh-CN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Avoid:</a:t>
              </a:r>
              <a:r>
                <a:rPr lang="zh-CN" altLang="en-US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 </a:t>
              </a:r>
              <a:r>
                <a:rPr lang="en-US" altLang="zh-CN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make</a:t>
              </a:r>
              <a:r>
                <a:rPr lang="zh-CN" altLang="en-US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 </a:t>
              </a:r>
              <a:r>
                <a:rPr lang="en-US" altLang="zh-CN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sure</a:t>
              </a:r>
              <a:r>
                <a:rPr lang="zh-CN" altLang="en-US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 </a:t>
              </a:r>
              <a:r>
                <a:rPr lang="en-US" altLang="zh-CN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that</a:t>
              </a:r>
              <a:r>
                <a:rPr lang="zh-CN" altLang="en-US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 </a:t>
              </a:r>
              <a:r>
                <a:rPr lang="en-US" altLang="zh-CN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the</a:t>
              </a:r>
              <a:r>
                <a:rPr lang="zh-CN" altLang="en-US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 </a:t>
              </a:r>
              <a:r>
                <a:rPr lang="en-US" altLang="zh-CN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network</a:t>
              </a:r>
              <a:r>
                <a:rPr lang="zh-CN" altLang="en-US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 </a:t>
              </a:r>
              <a:r>
                <a:rPr lang="en-US" altLang="zh-CN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is</a:t>
              </a:r>
              <a:r>
                <a:rPr lang="zh-CN" altLang="en-US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 </a:t>
              </a:r>
              <a:r>
                <a:rPr lang="en-US" altLang="zh-CN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not</a:t>
              </a:r>
              <a:r>
                <a:rPr lang="zh-CN" altLang="en-US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 </a:t>
              </a:r>
              <a:r>
                <a:rPr lang="en-US" altLang="zh-CN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congested</a:t>
              </a:r>
              <a:endParaRPr lang="en-US" altLang="zh-CN" sz="1800" b="0" dirty="0">
                <a:latin typeface="Calibri" panose="020F0502020204030204" pitchFamily="34" charset="0"/>
                <a:ea typeface="MS PGothic" panose="020B0600070205080204" charset="-128"/>
                <a:cs typeface="Calibri" panose="020F0502020204030204" pitchFamily="34" charset="0"/>
              </a:endParaRPr>
            </a:p>
            <a:p>
              <a:pPr lvl="1"/>
              <a:r>
                <a:rPr lang="en-US" altLang="zh-CN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Recover:</a:t>
              </a:r>
              <a:r>
                <a:rPr lang="zh-CN" altLang="en-US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 </a:t>
              </a:r>
              <a:r>
                <a:rPr lang="en-US" altLang="en-US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Sender adjusts rate until </a:t>
              </a:r>
              <a:r>
                <a:rPr lang="en-US" altLang="zh-CN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not</a:t>
              </a:r>
              <a:r>
                <a:rPr lang="zh-CN" altLang="en-US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 </a:t>
              </a:r>
              <a:r>
                <a:rPr lang="en-US" altLang="zh-CN" sz="1800" b="0" dirty="0">
                  <a:latin typeface="Calibri" panose="020F0502020204030204" pitchFamily="34" charset="0"/>
                  <a:ea typeface="MS PGothic" panose="020B0600070205080204" charset="-128"/>
                  <a:cs typeface="Calibri" panose="020F0502020204030204" pitchFamily="34" charset="0"/>
                </a:rPr>
                <a:t>overloaded</a:t>
              </a:r>
              <a:endParaRPr lang="en-US" altLang="zh-CN" sz="1800" b="0" dirty="0">
                <a:latin typeface="Calibri" panose="020F0502020204030204" pitchFamily="34" charset="0"/>
                <a:ea typeface="MS PGothic" panose="020B0600070205080204" charset="-128"/>
                <a:cs typeface="Calibri" panose="020F0502020204030204" pitchFamily="34" charset="0"/>
              </a:endParaRPr>
            </a:p>
          </p:txBody>
        </p:sp>
        <p:sp>
          <p:nvSpPr>
            <p:cNvPr id="50" name="Rectangle 8"/>
            <p:cNvSpPr>
              <a:spLocks noChangeArrowheads="1"/>
            </p:cNvSpPr>
            <p:nvPr/>
          </p:nvSpPr>
          <p:spPr bwMode="auto">
            <a:xfrm>
              <a:off x="533400" y="4038600"/>
              <a:ext cx="5867400" cy="685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9027" tIns="34514" rIns="69027" bIns="34514"/>
            <a:lstStyle>
              <a:lvl1pPr marL="341630" indent="-34163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charset="0"/>
                  <a:ea typeface="MS PGothic" panose="020B0600070205080204" charset="-128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en-US" sz="1800" b="0" dirty="0">
                  <a:latin typeface="Calibri" panose="020F0502020204030204" pitchFamily="34" charset="0"/>
                  <a:cs typeface="Calibri" panose="020F0502020204030204" pitchFamily="34" charset="0"/>
                </a:rPr>
                <a:t>Solution: Buffering and Congestion Control</a:t>
              </a:r>
              <a:endParaRPr lang="en-US" altLang="en-US" sz="1800" b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2182" y="1050878"/>
            <a:ext cx="4822209" cy="5105400"/>
          </a:xfrm>
        </p:spPr>
        <p:txBody>
          <a:bodyPr/>
          <a:lstStyle/>
          <a:p>
            <a:r>
              <a:rPr kumimoji="1" lang="en-US" altLang="zh-CN" dirty="0"/>
              <a:t>A kind of reliable delivery.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Accomplished by using acknowledgements (ACK) and timeouts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Receipt of ACK indicates to sender of original frame that it was successfully delivered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If sender doesn’t receive ACK after a reasonable timeout, it retransmits frame.</a:t>
            </a:r>
            <a:endParaRPr kumimoji="1"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543800" cy="533400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/>
              <a:t>Avoid</a:t>
            </a:r>
            <a:r>
              <a:rPr kumimoji="1" lang="zh-CN" altLang="en-US" dirty="0"/>
              <a:t> </a:t>
            </a:r>
            <a:r>
              <a:rPr kumimoji="1" lang="en-US" altLang="zh-CN" dirty="0"/>
              <a:t>overflowing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receiver:</a:t>
            </a:r>
            <a:br>
              <a:rPr kumimoji="1" lang="en-US" altLang="zh-CN" dirty="0"/>
            </a:br>
            <a:r>
              <a:rPr kumimoji="1" lang="en-US" altLang="zh-CN" dirty="0"/>
              <a:t>Polite Networks: Stop &amp; Wait Protocol</a:t>
            </a:r>
            <a:endParaRPr kumimoji="1"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5172" y="1803400"/>
            <a:ext cx="3467100" cy="32512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7"/>
          <p:cNvSpPr txBox="1">
            <a:spLocks noGrp="1"/>
          </p:cNvSpPr>
          <p:nvPr>
            <p:ph idx="1"/>
          </p:nvPr>
        </p:nvSpPr>
        <p:spPr>
          <a:xfrm>
            <a:off x="930691" y="913211"/>
            <a:ext cx="7532661" cy="31817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51431" tIns="25706" rIns="51431" bIns="25706" numCol="1" rtlCol="0" anchor="t" anchorCtr="0" compatLnSpc="1">
            <a:noAutofit/>
          </a:bodyPr>
          <a:lstStyle/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GB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Sum of a number of different delay components:</a:t>
            </a:r>
            <a:endParaRPr dirty="0"/>
          </a:p>
          <a:p>
            <a:pPr marL="85725" indent="0">
              <a:lnSpc>
                <a:spcPct val="70000"/>
              </a:lnSpc>
              <a:spcBef>
                <a:spcPts val="600"/>
              </a:spcBef>
              <a:buClr>
                <a:schemeClr val="dk1"/>
              </a:buClr>
              <a:buSzPts val="1800"/>
              <a:buNone/>
            </a:pPr>
            <a:endParaRPr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33350">
              <a:lnSpc>
                <a:spcPct val="70000"/>
              </a:lnSpc>
              <a:spcBef>
                <a:spcPts val="600"/>
              </a:spcBef>
              <a:buClr>
                <a:schemeClr val="dk1"/>
              </a:buClr>
              <a:buSzPts val="2600"/>
              <a:buFont typeface="Arial" panose="020B0604020202020204"/>
              <a:buChar char="•"/>
            </a:pPr>
            <a:r>
              <a:rPr lang="en-GB" dirty="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Propagation delay </a:t>
            </a:r>
            <a:r>
              <a:rPr lang="en-GB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on each link.</a:t>
            </a:r>
            <a:endParaRPr dirty="0"/>
          </a:p>
          <a:p>
            <a:pPr marL="390525" lvl="1" indent="-161925">
              <a:lnSpc>
                <a:spcPct val="70000"/>
              </a:lnSpc>
              <a:spcBef>
                <a:spcPts val="300"/>
              </a:spcBef>
              <a:buClr>
                <a:schemeClr val="dk1"/>
              </a:buClr>
              <a:buSzPts val="2200"/>
              <a:buFont typeface="Arial" panose="020B0604020202020204"/>
              <a:buChar char="•"/>
            </a:pPr>
            <a:r>
              <a:rPr lang="en-GB" sz="20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Proportional to the length of the link</a:t>
            </a:r>
            <a:endParaRPr sz="2000" dirty="0"/>
          </a:p>
          <a:p>
            <a:pPr marL="133350">
              <a:lnSpc>
                <a:spcPct val="70000"/>
              </a:lnSpc>
              <a:spcBef>
                <a:spcPts val="600"/>
              </a:spcBef>
              <a:buClr>
                <a:schemeClr val="dk1"/>
              </a:buClr>
              <a:buSzPts val="2600"/>
              <a:buFont typeface="Arial" panose="020B0604020202020204"/>
              <a:buChar char="•"/>
            </a:pPr>
            <a:r>
              <a:rPr lang="en-GB" dirty="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Transmission delay </a:t>
            </a:r>
            <a:r>
              <a:rPr lang="en-GB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on each link.</a:t>
            </a:r>
            <a:endParaRPr dirty="0"/>
          </a:p>
          <a:p>
            <a:pPr marL="390525" lvl="1" indent="-161925">
              <a:lnSpc>
                <a:spcPct val="70000"/>
              </a:lnSpc>
              <a:spcBef>
                <a:spcPts val="300"/>
              </a:spcBef>
              <a:buClr>
                <a:schemeClr val="dk1"/>
              </a:buClr>
              <a:buSzPts val="2200"/>
              <a:buFont typeface="Arial" panose="020B0604020202020204"/>
              <a:buChar char="•"/>
            </a:pPr>
            <a:r>
              <a:rPr lang="en-GB" sz="20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Proportional to the packet size and 1/</a:t>
            </a:r>
            <a:r>
              <a:rPr lang="en-US" altLang="zh-CN" sz="20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</a:t>
            </a:r>
            <a:r>
              <a:rPr lang="en-GB" sz="20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link speed</a:t>
            </a:r>
            <a:r>
              <a:rPr lang="en-US" altLang="zh-CN" sz="20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</a:t>
            </a:r>
            <a:endParaRPr sz="2000" dirty="0"/>
          </a:p>
          <a:p>
            <a:pPr marL="133350">
              <a:lnSpc>
                <a:spcPct val="70000"/>
              </a:lnSpc>
              <a:spcBef>
                <a:spcPts val="600"/>
              </a:spcBef>
              <a:buClr>
                <a:schemeClr val="dk1"/>
              </a:buClr>
              <a:buSzPts val="2600"/>
              <a:buFont typeface="Arial" panose="020B0604020202020204"/>
              <a:buChar char="•"/>
            </a:pPr>
            <a:r>
              <a:rPr lang="en-GB" dirty="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Processing delay </a:t>
            </a:r>
            <a:r>
              <a:rPr lang="en-GB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on each router.</a:t>
            </a:r>
            <a:endParaRPr dirty="0"/>
          </a:p>
          <a:p>
            <a:pPr marL="390525" lvl="1" indent="-161925">
              <a:lnSpc>
                <a:spcPct val="70000"/>
              </a:lnSpc>
              <a:spcBef>
                <a:spcPts val="300"/>
              </a:spcBef>
              <a:buClr>
                <a:schemeClr val="dk1"/>
              </a:buClr>
              <a:buSzPts val="2200"/>
              <a:buFont typeface="Arial" panose="020B0604020202020204"/>
              <a:buChar char="•"/>
            </a:pPr>
            <a:r>
              <a:rPr lang="en-GB" sz="20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Depends on the speed of the router</a:t>
            </a:r>
            <a:endParaRPr sz="2000" dirty="0"/>
          </a:p>
          <a:p>
            <a:pPr marL="133350">
              <a:lnSpc>
                <a:spcPct val="70000"/>
              </a:lnSpc>
              <a:spcBef>
                <a:spcPts val="600"/>
              </a:spcBef>
              <a:buClr>
                <a:schemeClr val="dk1"/>
              </a:buClr>
              <a:buSzPts val="2600"/>
              <a:buFont typeface="Arial" panose="020B0604020202020204"/>
              <a:buChar char="•"/>
            </a:pPr>
            <a:r>
              <a:rPr lang="en-GB" dirty="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Queuing delay </a:t>
            </a:r>
            <a:r>
              <a:rPr lang="en-GB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on each router.</a:t>
            </a:r>
            <a:endParaRPr dirty="0"/>
          </a:p>
          <a:p>
            <a:pPr marL="390525" lvl="1" indent="-161925">
              <a:lnSpc>
                <a:spcPct val="70000"/>
              </a:lnSpc>
              <a:spcBef>
                <a:spcPts val="300"/>
              </a:spcBef>
              <a:buClr>
                <a:schemeClr val="dk1"/>
              </a:buClr>
              <a:buSzPts val="2200"/>
              <a:buFont typeface="Arial" panose="020B0604020202020204"/>
              <a:buChar char="•"/>
            </a:pPr>
            <a:r>
              <a:rPr lang="en-GB" sz="20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Depends on the traffic load and queue size</a:t>
            </a:r>
            <a:endParaRPr sz="2000" dirty="0"/>
          </a:p>
          <a:p>
            <a:pPr marL="133350" indent="-47625">
              <a:lnSpc>
                <a:spcPct val="70000"/>
              </a:lnSpc>
              <a:spcBef>
                <a:spcPts val="600"/>
              </a:spcBef>
              <a:buClr>
                <a:schemeClr val="dk1"/>
              </a:buClr>
              <a:buSzPts val="1800"/>
              <a:buNone/>
            </a:pPr>
            <a:endParaRPr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8" name="Title 1"/>
          <p:cNvSpPr txBox="1"/>
          <p:nvPr/>
        </p:nvSpPr>
        <p:spPr bwMode="auto">
          <a:xfrm>
            <a:off x="990600" y="152400"/>
            <a:ext cx="7162800" cy="53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478" tIns="44445" rIns="90478" bIns="44445" numCol="1" anchor="ctr" anchorCtr="0" compatLnSpc="1"/>
          <a:lstStyle>
            <a:lvl1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2A40E2"/>
                </a:solidFill>
                <a:latin typeface="Helvetica"/>
                <a:ea typeface="MS PGothic" panose="020B0600070205080204" charset="-128"/>
                <a:cs typeface="MS PGothic" panose="020B0600070205080204" charset="-128"/>
              </a:defRPr>
            </a:lvl1pPr>
            <a:lvl2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2A40E2"/>
                </a:solidFill>
                <a:latin typeface="Helvetica" charset="0"/>
                <a:ea typeface="MS PGothic" panose="020B0600070205080204" charset="-128"/>
                <a:cs typeface="MS PGothic" panose="020B0600070205080204" charset="-128"/>
              </a:defRPr>
            </a:lvl2pPr>
            <a:lvl3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2A40E2"/>
                </a:solidFill>
                <a:latin typeface="Helvetica" charset="0"/>
                <a:ea typeface="MS PGothic" panose="020B0600070205080204" charset="-128"/>
                <a:cs typeface="MS PGothic" panose="020B0600070205080204" charset="-128"/>
              </a:defRPr>
            </a:lvl3pPr>
            <a:lvl4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2A40E2"/>
                </a:solidFill>
                <a:latin typeface="Helvetica" charset="0"/>
                <a:ea typeface="MS PGothic" panose="020B0600070205080204" charset="-128"/>
                <a:cs typeface="MS PGothic" panose="020B0600070205080204" charset="-128"/>
              </a:defRPr>
            </a:lvl4pPr>
            <a:lvl5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2A40E2"/>
                </a:solidFill>
                <a:latin typeface="Helvetica" charset="0"/>
                <a:ea typeface="MS PGothic" panose="020B0600070205080204" charset="-128"/>
                <a:cs typeface="MS PGothic" panose="020B0600070205080204" charset="-128"/>
              </a:defRPr>
            </a:lvl5pPr>
            <a:lvl6pPr marL="45720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A40E2"/>
                </a:solidFill>
                <a:latin typeface="Comic Sans MS" panose="030F0702030302020204" charset="0"/>
              </a:defRPr>
            </a:lvl6pPr>
            <a:lvl7pPr marL="91440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A40E2"/>
                </a:solidFill>
                <a:latin typeface="Comic Sans MS" panose="030F0702030302020204" charset="0"/>
              </a:defRPr>
            </a:lvl7pPr>
            <a:lvl8pPr marL="137160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A40E2"/>
                </a:solidFill>
                <a:latin typeface="Comic Sans MS" panose="030F0702030302020204" charset="0"/>
              </a:defRPr>
            </a:lvl8pPr>
            <a:lvl9pPr marL="182880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A40E2"/>
                </a:solidFill>
                <a:latin typeface="Comic Sans MS" panose="030F0702030302020204" charset="0"/>
              </a:defRPr>
            </a:lvl9pPr>
          </a:lstStyle>
          <a:p>
            <a:r>
              <a:rPr lang="en-US" kern="0" dirty="0"/>
              <a:t>Packet Delay</a:t>
            </a:r>
            <a:endParaRPr lang="en-US" kern="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549" y="3945837"/>
            <a:ext cx="6649697" cy="241051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8"/>
          <p:cNvSpPr txBox="1">
            <a:spLocks noGrp="1"/>
          </p:cNvSpPr>
          <p:nvPr>
            <p:ph type="title"/>
          </p:nvPr>
        </p:nvSpPr>
        <p:spPr>
          <a:xfrm>
            <a:off x="1212478" y="26753"/>
            <a:ext cx="6442650" cy="8867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51431" tIns="25706" rIns="51431" bIns="25706" numCol="1" rtlCol="0" anchor="ctr" anchorCtr="0" compatLnSpc="1">
            <a:noAutofit/>
          </a:bodyPr>
          <a:lstStyle/>
          <a:p>
            <a:pPr>
              <a:spcBef>
                <a:spcPts val="0"/>
              </a:spcBef>
              <a:buClr>
                <a:srgbClr val="2F5496"/>
              </a:buClr>
              <a:buSzPts val="4100"/>
            </a:pPr>
            <a:r>
              <a:rPr lang="en-GB" dirty="0"/>
              <a:t>Packet Delay</a:t>
            </a:r>
            <a:endParaRPr sz="825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31" name="Google Shape;531;p38"/>
          <p:cNvSpPr txBox="1"/>
          <p:nvPr/>
        </p:nvSpPr>
        <p:spPr>
          <a:xfrm>
            <a:off x="1713309" y="2339578"/>
            <a:ext cx="228600" cy="228600"/>
          </a:xfrm>
          <a:prstGeom prst="rect">
            <a:avLst/>
          </a:prstGeom>
          <a:solidFill>
            <a:srgbClr val="C7C48F"/>
          </a:solidFill>
          <a:ln w="50800" cap="flat" cmpd="sng">
            <a:solidFill>
              <a:srgbClr val="0033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456" tIns="34219" rIns="68456" bIns="34219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GB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endParaRPr lang="en-GB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32" name="Google Shape;532;p38"/>
          <p:cNvSpPr txBox="1"/>
          <p:nvPr/>
        </p:nvSpPr>
        <p:spPr>
          <a:xfrm>
            <a:off x="3139678" y="2339578"/>
            <a:ext cx="228600" cy="228600"/>
          </a:xfrm>
          <a:prstGeom prst="rect">
            <a:avLst/>
          </a:prstGeom>
          <a:solidFill>
            <a:srgbClr val="C7C48F"/>
          </a:solidFill>
          <a:ln w="50800" cap="flat" cmpd="sng">
            <a:solidFill>
              <a:srgbClr val="0033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456" tIns="34219" rIns="68456" bIns="34219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GB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endParaRPr lang="en-GB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533" name="Google Shape;533;p38"/>
          <p:cNvCxnSpPr/>
          <p:nvPr/>
        </p:nvCxnSpPr>
        <p:spPr>
          <a:xfrm>
            <a:off x="1960959" y="2453878"/>
            <a:ext cx="1159650" cy="0"/>
          </a:xfrm>
          <a:prstGeom prst="straightConnector1">
            <a:avLst/>
          </a:prstGeom>
          <a:noFill/>
          <a:ln w="50800" cap="flat" cmpd="sng">
            <a:solidFill>
              <a:srgbClr val="003366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34" name="Google Shape;534;p38"/>
          <p:cNvSpPr txBox="1"/>
          <p:nvPr/>
        </p:nvSpPr>
        <p:spPr>
          <a:xfrm>
            <a:off x="1713309" y="2796780"/>
            <a:ext cx="228600" cy="227475"/>
          </a:xfrm>
          <a:prstGeom prst="rect">
            <a:avLst/>
          </a:prstGeom>
          <a:solidFill>
            <a:srgbClr val="C7C48F"/>
          </a:solidFill>
          <a:ln w="50800" cap="flat" cmpd="sng">
            <a:solidFill>
              <a:srgbClr val="0033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456" tIns="34219" rIns="68456" bIns="34219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GB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endParaRPr lang="en-GB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35" name="Google Shape;535;p38"/>
          <p:cNvSpPr txBox="1"/>
          <p:nvPr/>
        </p:nvSpPr>
        <p:spPr>
          <a:xfrm>
            <a:off x="3139678" y="2796780"/>
            <a:ext cx="228600" cy="227475"/>
          </a:xfrm>
          <a:prstGeom prst="rect">
            <a:avLst/>
          </a:prstGeom>
          <a:solidFill>
            <a:srgbClr val="C7C48F"/>
          </a:solidFill>
          <a:ln w="50800" cap="flat" cmpd="sng">
            <a:solidFill>
              <a:srgbClr val="0033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456" tIns="34219" rIns="68456" bIns="34219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GB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endParaRPr lang="en-GB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536" name="Google Shape;536;p38"/>
          <p:cNvCxnSpPr/>
          <p:nvPr/>
        </p:nvCxnSpPr>
        <p:spPr>
          <a:xfrm>
            <a:off x="1960959" y="2909888"/>
            <a:ext cx="1159650" cy="0"/>
          </a:xfrm>
          <a:prstGeom prst="straightConnector1">
            <a:avLst/>
          </a:prstGeom>
          <a:noFill/>
          <a:ln w="50800" cap="flat" cmpd="sng">
            <a:solidFill>
              <a:srgbClr val="003366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37" name="Google Shape;537;p38"/>
          <p:cNvSpPr txBox="1"/>
          <p:nvPr/>
        </p:nvSpPr>
        <p:spPr>
          <a:xfrm>
            <a:off x="4452938" y="2796780"/>
            <a:ext cx="228600" cy="227475"/>
          </a:xfrm>
          <a:prstGeom prst="rect">
            <a:avLst/>
          </a:prstGeom>
          <a:solidFill>
            <a:srgbClr val="C7C48F"/>
          </a:solidFill>
          <a:ln w="50800" cap="flat" cmpd="sng">
            <a:solidFill>
              <a:srgbClr val="0033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456" tIns="34219" rIns="68456" bIns="34219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GB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endParaRPr lang="en-GB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538" name="Google Shape;538;p38"/>
          <p:cNvCxnSpPr/>
          <p:nvPr/>
        </p:nvCxnSpPr>
        <p:spPr>
          <a:xfrm>
            <a:off x="3387330" y="2909888"/>
            <a:ext cx="1046475" cy="0"/>
          </a:xfrm>
          <a:prstGeom prst="straightConnector1">
            <a:avLst/>
          </a:prstGeom>
          <a:noFill/>
          <a:ln w="50800" cap="flat" cmpd="sng">
            <a:solidFill>
              <a:srgbClr val="003366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39" name="Google Shape;539;p38"/>
          <p:cNvSpPr txBox="1"/>
          <p:nvPr/>
        </p:nvSpPr>
        <p:spPr>
          <a:xfrm>
            <a:off x="4908947" y="2282430"/>
            <a:ext cx="2625300" cy="134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56" tIns="34219" rIns="68456" bIns="34219" anchor="t" anchorCtr="0">
            <a:noAutofit/>
          </a:bodyPr>
          <a:lstStyle/>
          <a:p>
            <a:pPr>
              <a:buClr>
                <a:srgbClr val="000000"/>
              </a:buClr>
              <a:buSzPts val="2800"/>
            </a:pPr>
            <a:r>
              <a:rPr lang="en-GB" sz="21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Prop + xmit</a:t>
            </a:r>
            <a:endParaRPr lang="en-GB" sz="21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>
              <a:spcBef>
                <a:spcPts val="1050"/>
              </a:spcBef>
              <a:buClr>
                <a:srgbClr val="000000"/>
              </a:buClr>
              <a:buSzPts val="2800"/>
            </a:pPr>
            <a:r>
              <a:rPr lang="en-GB" sz="21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2*(Prop + xmit) </a:t>
            </a:r>
            <a:endParaRPr lang="en-GB" sz="21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>
              <a:spcBef>
                <a:spcPts val="1050"/>
              </a:spcBef>
              <a:buClr>
                <a:srgbClr val="000000"/>
              </a:buClr>
              <a:buSzPts val="2800"/>
            </a:pPr>
            <a:r>
              <a:rPr lang="en-GB" sz="21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2*prop + xmit</a:t>
            </a:r>
            <a:endParaRPr lang="en-GB" sz="21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40" name="Google Shape;540;p38"/>
          <p:cNvSpPr txBox="1"/>
          <p:nvPr/>
        </p:nvSpPr>
        <p:spPr>
          <a:xfrm>
            <a:off x="1656124" y="4231865"/>
            <a:ext cx="5878125" cy="134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56" tIns="34219" rIns="68456" bIns="34219" anchor="t" anchorCtr="0">
            <a:noAutofit/>
          </a:bodyPr>
          <a:lstStyle/>
          <a:p>
            <a:pPr>
              <a:buClr>
                <a:srgbClr val="000000"/>
              </a:buClr>
              <a:buSzPts val="2800"/>
            </a:pPr>
            <a:r>
              <a:rPr lang="en-GB" sz="21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When does cut-through matter?</a:t>
            </a:r>
            <a:endParaRPr dirty="0"/>
          </a:p>
          <a:p>
            <a:pPr>
              <a:spcBef>
                <a:spcPts val="1050"/>
              </a:spcBef>
              <a:buClr>
                <a:srgbClr val="000000"/>
              </a:buClr>
              <a:buSzPts val="2800"/>
            </a:pPr>
            <a:r>
              <a:rPr lang="en-GB" sz="21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Next:  </a:t>
            </a:r>
            <a:r>
              <a:rPr lang="en-GB" sz="21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back-of-the-envelope calculations</a:t>
            </a:r>
            <a:endParaRPr sz="21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>
              <a:spcBef>
                <a:spcPts val="1050"/>
              </a:spcBef>
              <a:buClr>
                <a:srgbClr val="000000"/>
              </a:buClr>
              <a:buSzPts val="2800"/>
            </a:pPr>
            <a:r>
              <a:rPr lang="en-GB" sz="21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(What’s the </a:t>
            </a:r>
            <a:r>
              <a:rPr lang="en-GB" sz="21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xmit</a:t>
            </a:r>
            <a:r>
              <a:rPr lang="en-GB" sz="21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? Which protocol are we using?)</a:t>
            </a:r>
            <a:endParaRPr sz="21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41" name="Google Shape;541;p38"/>
          <p:cNvSpPr txBox="1"/>
          <p:nvPr/>
        </p:nvSpPr>
        <p:spPr>
          <a:xfrm>
            <a:off x="1713309" y="3309940"/>
            <a:ext cx="228600" cy="227475"/>
          </a:xfrm>
          <a:prstGeom prst="rect">
            <a:avLst/>
          </a:prstGeom>
          <a:solidFill>
            <a:srgbClr val="C7C48F"/>
          </a:solidFill>
          <a:ln w="50800" cap="flat" cmpd="sng">
            <a:solidFill>
              <a:srgbClr val="0033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456" tIns="34219" rIns="68456" bIns="34219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GB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endParaRPr lang="en-GB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42" name="Google Shape;542;p38"/>
          <p:cNvSpPr txBox="1"/>
          <p:nvPr/>
        </p:nvSpPr>
        <p:spPr>
          <a:xfrm>
            <a:off x="3139678" y="3309940"/>
            <a:ext cx="228600" cy="227475"/>
          </a:xfrm>
          <a:prstGeom prst="rect">
            <a:avLst/>
          </a:prstGeom>
          <a:solidFill>
            <a:srgbClr val="C7C48F"/>
          </a:solidFill>
          <a:ln w="50800" cap="flat" cmpd="sng">
            <a:solidFill>
              <a:srgbClr val="0033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456" tIns="34219" rIns="68456" bIns="34219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GB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endParaRPr lang="en-GB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543" name="Google Shape;543;p38"/>
          <p:cNvCxnSpPr/>
          <p:nvPr/>
        </p:nvCxnSpPr>
        <p:spPr>
          <a:xfrm>
            <a:off x="1960959" y="3424238"/>
            <a:ext cx="1159650" cy="0"/>
          </a:xfrm>
          <a:prstGeom prst="straightConnector1">
            <a:avLst/>
          </a:prstGeom>
          <a:noFill/>
          <a:ln w="50800" cap="flat" cmpd="sng">
            <a:solidFill>
              <a:srgbClr val="003366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4" name="Google Shape;544;p38"/>
          <p:cNvSpPr txBox="1"/>
          <p:nvPr/>
        </p:nvSpPr>
        <p:spPr>
          <a:xfrm>
            <a:off x="4452938" y="3309940"/>
            <a:ext cx="228600" cy="227475"/>
          </a:xfrm>
          <a:prstGeom prst="rect">
            <a:avLst/>
          </a:prstGeom>
          <a:solidFill>
            <a:srgbClr val="C7C48F"/>
          </a:solidFill>
          <a:ln w="50800" cap="flat" cmpd="sng">
            <a:solidFill>
              <a:srgbClr val="0033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456" tIns="34219" rIns="68456" bIns="34219" anchor="ctr" anchorCtr="0">
            <a:noAutofit/>
          </a:bodyPr>
          <a:lstStyle/>
          <a:p>
            <a:pPr algn="ctr">
              <a:buClr>
                <a:srgbClr val="000000"/>
              </a:buClr>
              <a:buSzPts val="2400"/>
            </a:pPr>
            <a:r>
              <a:rPr lang="en-GB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endParaRPr lang="en-GB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545" name="Google Shape;545;p38"/>
          <p:cNvCxnSpPr/>
          <p:nvPr/>
        </p:nvCxnSpPr>
        <p:spPr>
          <a:xfrm>
            <a:off x="3387330" y="3424238"/>
            <a:ext cx="1046475" cy="0"/>
          </a:xfrm>
          <a:prstGeom prst="straightConnector1">
            <a:avLst/>
          </a:prstGeom>
          <a:noFill/>
          <a:ln w="50800" cap="flat" cmpd="sng">
            <a:solidFill>
              <a:srgbClr val="003366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6" name="Google Shape;546;p38"/>
          <p:cNvSpPr txBox="1"/>
          <p:nvPr/>
        </p:nvSpPr>
        <p:spPr>
          <a:xfrm>
            <a:off x="1941911" y="2967040"/>
            <a:ext cx="1311975" cy="25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56" tIns="34219" rIns="68456" bIns="34219" anchor="t" anchorCtr="0">
            <a:noAutofit/>
          </a:bodyPr>
          <a:lstStyle/>
          <a:p>
            <a:pPr>
              <a:buClr>
                <a:srgbClr val="000000"/>
              </a:buClr>
              <a:buSzPts val="1600"/>
            </a:pPr>
            <a:r>
              <a:rPr lang="en-GB" sz="12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Store &amp; Forward</a:t>
            </a:r>
            <a:endParaRPr lang="en-GB" sz="12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47" name="Google Shape;547;p38"/>
          <p:cNvSpPr txBox="1"/>
          <p:nvPr/>
        </p:nvSpPr>
        <p:spPr>
          <a:xfrm>
            <a:off x="2056211" y="3480199"/>
            <a:ext cx="1311975" cy="25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56" tIns="34219" rIns="68456" bIns="34219" anchor="t" anchorCtr="0">
            <a:noAutofit/>
          </a:bodyPr>
          <a:lstStyle/>
          <a:p>
            <a:pPr>
              <a:buClr>
                <a:srgbClr val="000000"/>
              </a:buClr>
              <a:buSzPts val="1600"/>
            </a:pPr>
            <a:r>
              <a:rPr lang="en-GB" sz="12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Cut-through</a:t>
            </a:r>
            <a:endParaRPr lang="en-GB" sz="12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48" name="Google Shape;548;p38"/>
          <p:cNvSpPr txBox="1"/>
          <p:nvPr/>
        </p:nvSpPr>
        <p:spPr>
          <a:xfrm>
            <a:off x="5786653" y="1550186"/>
            <a:ext cx="3002507" cy="646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en-GB" sz="165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</a:t>
            </a:r>
            <a:r>
              <a:rPr lang="en-GB" sz="165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xmit</a:t>
            </a:r>
            <a:r>
              <a:rPr lang="en-GB" sz="165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= transmission delay)</a:t>
            </a:r>
            <a:endParaRPr sz="165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5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5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5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1"/>
          <p:cNvSpPr txBox="1">
            <a:spLocks noGrp="1"/>
          </p:cNvSpPr>
          <p:nvPr>
            <p:ph idx="1"/>
          </p:nvPr>
        </p:nvSpPr>
        <p:spPr>
          <a:xfrm>
            <a:off x="573209" y="1288709"/>
            <a:ext cx="7770693" cy="258725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51431" tIns="25706" rIns="51431" bIns="25706" numCol="1" rtlCol="0" anchor="t" anchorCtr="0" compatLnSpc="1">
            <a:noAutofit/>
          </a:bodyPr>
          <a:lstStyle/>
          <a:p>
            <a:pPr marL="133350" indent="-161925">
              <a:spcBef>
                <a:spcPts val="0"/>
              </a:spcBef>
              <a:buClr>
                <a:srgbClr val="003366"/>
              </a:buClr>
              <a:buSzPts val="2400"/>
              <a:buFont typeface="Arial" panose="020B0604020202020204"/>
              <a:buChar char="•"/>
            </a:pPr>
            <a:r>
              <a:rPr lang="en-GB" dirty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Cross country latency </a:t>
            </a:r>
            <a:endParaRPr dirty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90525" lvl="1" indent="-152400">
              <a:spcBef>
                <a:spcPts val="300"/>
              </a:spcBef>
              <a:buClr>
                <a:srgbClr val="003366"/>
              </a:buClr>
              <a:buSzPts val="2000"/>
              <a:buFont typeface="Arial" panose="020B0604020202020204"/>
              <a:buChar char="•"/>
            </a:pPr>
            <a:r>
              <a:rPr lang="en-GB" sz="2000" dirty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Distance/speed = 5 * 10^6m / </a:t>
            </a:r>
            <a:r>
              <a:rPr lang="en-GB" sz="2000" dirty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2x10^8m/s</a:t>
            </a:r>
            <a:r>
              <a:rPr lang="en-GB" sz="2000" dirty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= 25 * 10^-3 s = 25ms</a:t>
            </a:r>
            <a:endParaRPr sz="2000" dirty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90525" lvl="1" indent="-152400">
              <a:spcBef>
                <a:spcPts val="300"/>
              </a:spcBef>
              <a:buClr>
                <a:srgbClr val="003366"/>
              </a:buClr>
              <a:buSzPts val="2000"/>
              <a:buFont typeface="Arial" panose="020B0604020202020204"/>
              <a:buChar char="•"/>
            </a:pPr>
            <a:r>
              <a:rPr lang="en-GB" sz="2000" dirty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50ms round-trip-time (RTT) for one bit</a:t>
            </a:r>
            <a:endParaRPr lang="en-GB" dirty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33350" indent="-161925">
              <a:spcBef>
                <a:spcPts val="360"/>
              </a:spcBef>
              <a:buClr>
                <a:srgbClr val="003366"/>
              </a:buClr>
              <a:buSzPts val="2400"/>
              <a:buFont typeface="Arial" panose="020B0604020202020204"/>
              <a:buChar char="•"/>
            </a:pPr>
            <a:r>
              <a:rPr lang="en-GB" dirty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Link speed (capacity) 100Mbps</a:t>
            </a:r>
            <a:endParaRPr lang="en-GB" dirty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33350" indent="-161925">
              <a:spcBef>
                <a:spcPts val="360"/>
              </a:spcBef>
              <a:buClr>
                <a:srgbClr val="003366"/>
              </a:buClr>
              <a:buSzPts val="2400"/>
              <a:buFont typeface="Arial" panose="020B0604020202020204"/>
              <a:buChar char="•"/>
            </a:pPr>
            <a:r>
              <a:rPr lang="en-GB" dirty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Packet size = 1250 bytes = 10 kbits</a:t>
            </a:r>
            <a:endParaRPr dirty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90525" lvl="1" indent="-152400">
              <a:spcBef>
                <a:spcPts val="300"/>
              </a:spcBef>
              <a:buClr>
                <a:srgbClr val="003366"/>
              </a:buClr>
              <a:buSzPts val="2000"/>
              <a:buFont typeface="Arial" panose="020B0604020202020204"/>
              <a:buChar char="•"/>
            </a:pPr>
            <a:r>
              <a:rPr lang="en-GB" sz="2000" dirty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Packet size on networks usually = 1500bytes across wide area or 9000bytes in local area</a:t>
            </a:r>
            <a:endParaRPr sz="20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659" name="Google Shape;659;p41"/>
          <p:cNvSpPr txBox="1">
            <a:spLocks noGrp="1"/>
          </p:cNvSpPr>
          <p:nvPr>
            <p:ph type="body" idx="4294967295"/>
          </p:nvPr>
        </p:nvSpPr>
        <p:spPr>
          <a:xfrm>
            <a:off x="1004888" y="4033838"/>
            <a:ext cx="8139112" cy="23225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51431" tIns="25706" rIns="51431" bIns="25706" numCol="1" rtlCol="0" anchor="t" anchorCtr="0" compatLnSpc="1">
            <a:noAutofit/>
          </a:bodyPr>
          <a:lstStyle/>
          <a:p>
            <a:pPr marL="133350" indent="-161925">
              <a:spcBef>
                <a:spcPts val="360"/>
              </a:spcBef>
              <a:buClr>
                <a:srgbClr val="003366"/>
              </a:buClr>
              <a:buSzPts val="2400"/>
              <a:buFont typeface="Arial" panose="020B0604020202020204"/>
              <a:buChar char="•"/>
            </a:pPr>
            <a:r>
              <a:rPr lang="en-GB" dirty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 packet takes</a:t>
            </a:r>
            <a:endParaRPr dirty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90525" lvl="1" indent="-152400">
              <a:spcBef>
                <a:spcPts val="300"/>
              </a:spcBef>
              <a:buClr>
                <a:srgbClr val="003366"/>
              </a:buClr>
              <a:buSzPts val="2000"/>
              <a:buFont typeface="Arial" panose="020B0604020202020204"/>
              <a:buChar char="•"/>
            </a:pPr>
            <a:r>
              <a:rPr lang="en-GB" sz="2000" dirty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10k/100M = .1 </a:t>
            </a:r>
            <a:r>
              <a:rPr lang="en-GB" sz="2000" dirty="0" err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ms</a:t>
            </a:r>
            <a:r>
              <a:rPr lang="en-GB" sz="2000" dirty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to transmit</a:t>
            </a:r>
            <a:endParaRPr sz="2000" dirty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90525" lvl="1" indent="-152400">
              <a:spcBef>
                <a:spcPts val="300"/>
              </a:spcBef>
              <a:buClr>
                <a:srgbClr val="003366"/>
              </a:buClr>
              <a:buSzPts val="2000"/>
              <a:buFont typeface="Arial" panose="020B0604020202020204"/>
              <a:buChar char="•"/>
            </a:pPr>
            <a:r>
              <a:rPr lang="en-GB" sz="2000" dirty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25ms to reach there</a:t>
            </a:r>
            <a:endParaRPr sz="2000" dirty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90525" lvl="1" indent="-152400">
              <a:spcBef>
                <a:spcPts val="300"/>
              </a:spcBef>
              <a:buClr>
                <a:srgbClr val="003366"/>
              </a:buClr>
              <a:buSzPts val="2000"/>
              <a:buFont typeface="Arial" panose="020B0604020202020204"/>
              <a:buChar char="•"/>
            </a:pPr>
            <a:r>
              <a:rPr lang="en-GB" sz="2000" dirty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ACKs are small → so 0ms to transmit</a:t>
            </a:r>
            <a:endParaRPr sz="2000" dirty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90525" lvl="1" indent="-152400">
              <a:spcBef>
                <a:spcPts val="300"/>
              </a:spcBef>
              <a:buClr>
                <a:srgbClr val="003366"/>
              </a:buClr>
              <a:buSzPts val="2000"/>
              <a:buFont typeface="Arial" panose="020B0604020202020204"/>
              <a:buChar char="•"/>
            </a:pPr>
            <a:r>
              <a:rPr lang="en-GB" sz="2000" dirty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25ms to get back</a:t>
            </a:r>
            <a:endParaRPr sz="2000" dirty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33350" indent="-161925">
              <a:spcBef>
                <a:spcPts val="360"/>
              </a:spcBef>
              <a:buClr>
                <a:srgbClr val="003366"/>
              </a:buClr>
              <a:buSzPts val="2400"/>
              <a:buFont typeface="Arial" panose="020B0604020202020204"/>
              <a:buChar char="•"/>
            </a:pPr>
            <a:r>
              <a:rPr lang="en-GB" dirty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Effective bandwidth = 10kbits/50.1ms = 200kbits/sec ☹</a:t>
            </a:r>
            <a:endParaRPr dirty="0"/>
          </a:p>
        </p:txBody>
      </p:sp>
      <p:sp>
        <p:nvSpPr>
          <p:cNvPr id="6" name="标题 1"/>
          <p:cNvSpPr txBox="1"/>
          <p:nvPr/>
        </p:nvSpPr>
        <p:spPr bwMode="auto">
          <a:xfrm>
            <a:off x="800100" y="351490"/>
            <a:ext cx="7543800" cy="53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478" tIns="44445" rIns="90478" bIns="44445" numCol="1" anchor="ctr" anchorCtr="0" compatLnSpc="1"/>
          <a:lstStyle>
            <a:lvl1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2A40E2"/>
                </a:solidFill>
                <a:latin typeface="Helvetica"/>
                <a:ea typeface="MS PGothic" panose="020B0600070205080204" charset="-128"/>
                <a:cs typeface="MS PGothic" panose="020B0600070205080204" charset="-128"/>
              </a:defRPr>
            </a:lvl1pPr>
            <a:lvl2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2A40E2"/>
                </a:solidFill>
                <a:latin typeface="Helvetica" charset="0"/>
                <a:ea typeface="MS PGothic" panose="020B0600070205080204" charset="-128"/>
                <a:cs typeface="MS PGothic" panose="020B0600070205080204" charset="-128"/>
              </a:defRPr>
            </a:lvl2pPr>
            <a:lvl3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2A40E2"/>
                </a:solidFill>
                <a:latin typeface="Helvetica" charset="0"/>
                <a:ea typeface="MS PGothic" panose="020B0600070205080204" charset="-128"/>
                <a:cs typeface="MS PGothic" panose="020B0600070205080204" charset="-128"/>
              </a:defRPr>
            </a:lvl3pPr>
            <a:lvl4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2A40E2"/>
                </a:solidFill>
                <a:latin typeface="Helvetica" charset="0"/>
                <a:ea typeface="MS PGothic" panose="020B0600070205080204" charset="-128"/>
                <a:cs typeface="MS PGothic" panose="020B0600070205080204" charset="-128"/>
              </a:defRPr>
            </a:lvl4pPr>
            <a:lvl5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2A40E2"/>
                </a:solidFill>
                <a:latin typeface="Helvetica" charset="0"/>
                <a:ea typeface="MS PGothic" panose="020B0600070205080204" charset="-128"/>
                <a:cs typeface="MS PGothic" panose="020B0600070205080204" charset="-128"/>
              </a:defRPr>
            </a:lvl5pPr>
            <a:lvl6pPr marL="45720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A40E2"/>
                </a:solidFill>
                <a:latin typeface="Comic Sans MS" panose="030F0702030302020204" charset="0"/>
              </a:defRPr>
            </a:lvl6pPr>
            <a:lvl7pPr marL="91440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A40E2"/>
                </a:solidFill>
                <a:latin typeface="Comic Sans MS" panose="030F0702030302020204" charset="0"/>
              </a:defRPr>
            </a:lvl7pPr>
            <a:lvl8pPr marL="137160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A40E2"/>
                </a:solidFill>
                <a:latin typeface="Comic Sans MS" panose="030F0702030302020204" charset="0"/>
              </a:defRPr>
            </a:lvl8pPr>
            <a:lvl9pPr marL="182880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A40E2"/>
                </a:solidFill>
                <a:latin typeface="Comic Sans MS" panose="030F0702030302020204" charset="0"/>
              </a:defRPr>
            </a:lvl9pPr>
          </a:lstStyle>
          <a:p>
            <a:r>
              <a:rPr kumimoji="1" lang="en-US" altLang="zh-CN" kern="0" dirty="0"/>
              <a:t>Back-of-the-Envelope Bandwidth Calculation</a:t>
            </a:r>
            <a:endParaRPr kumimoji="1" lang="zh-CN" altLang="en-US" kern="0" dirty="0"/>
          </a:p>
        </p:txBody>
      </p:sp>
      <p:sp>
        <p:nvSpPr>
          <p:cNvPr id="3" name="文本框 2"/>
          <p:cNvSpPr txBox="1"/>
          <p:nvPr/>
        </p:nvSpPr>
        <p:spPr>
          <a:xfrm>
            <a:off x="5867400" y="3657602"/>
            <a:ext cx="3048000" cy="1152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3350">
              <a:lnSpc>
                <a:spcPct val="70000"/>
              </a:lnSpc>
              <a:spcBef>
                <a:spcPts val="600"/>
              </a:spcBef>
              <a:buClr>
                <a:schemeClr val="dk1"/>
              </a:buClr>
              <a:buSzPts val="2600"/>
              <a:buFont typeface="Arial" panose="020B0604020202020204"/>
              <a:buChar char="•"/>
            </a:pPr>
            <a:r>
              <a:rPr lang="en-US" altLang="zh-CN" dirty="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Propagation delay</a:t>
            </a:r>
            <a:endParaRPr lang="en-US" altLang="zh-CN" sz="2000" dirty="0"/>
          </a:p>
          <a:p>
            <a:pPr marL="133350">
              <a:lnSpc>
                <a:spcPct val="70000"/>
              </a:lnSpc>
              <a:spcBef>
                <a:spcPts val="600"/>
              </a:spcBef>
              <a:buClr>
                <a:schemeClr val="dk1"/>
              </a:buClr>
              <a:buSzPts val="2600"/>
              <a:buFont typeface="Arial" panose="020B0604020202020204"/>
              <a:buChar char="•"/>
            </a:pPr>
            <a:r>
              <a:rPr lang="en-US" altLang="zh-CN" dirty="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Transmission delay </a:t>
            </a:r>
            <a:endParaRPr lang="en-US" altLang="zh-CN" dirty="0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33350">
              <a:lnSpc>
                <a:spcPct val="70000"/>
              </a:lnSpc>
              <a:spcBef>
                <a:spcPts val="600"/>
              </a:spcBef>
              <a:buClr>
                <a:schemeClr val="dk1"/>
              </a:buClr>
              <a:buSzPts val="2600"/>
              <a:buFont typeface="Arial" panose="020B0604020202020204"/>
              <a:buChar char="•"/>
            </a:pPr>
            <a:r>
              <a:rPr lang="en-US" altLang="zh-CN" dirty="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Processing delay </a:t>
            </a:r>
            <a:endParaRPr lang="en-US" altLang="zh-CN" dirty="0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33350">
              <a:lnSpc>
                <a:spcPct val="70000"/>
              </a:lnSpc>
              <a:spcBef>
                <a:spcPts val="600"/>
              </a:spcBef>
              <a:buClr>
                <a:schemeClr val="dk1"/>
              </a:buClr>
              <a:buSzPts val="2600"/>
              <a:buFont typeface="Arial" panose="020B0604020202020204"/>
              <a:buChar char="•"/>
            </a:pPr>
            <a:r>
              <a:rPr lang="en-US" altLang="zh-CN" dirty="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Queuing delay</a:t>
            </a:r>
            <a:endParaRPr lang="en-US" altLang="zh-CN" sz="2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42"/>
          <p:cNvSpPr txBox="1">
            <a:spLocks noGrp="1"/>
          </p:cNvSpPr>
          <p:nvPr>
            <p:ph idx="1"/>
          </p:nvPr>
        </p:nvSpPr>
        <p:spPr>
          <a:xfrm>
            <a:off x="733874" y="1325476"/>
            <a:ext cx="7983941" cy="2796300"/>
          </a:xfrm>
          <a:prstGeom prst="rect">
            <a:avLst/>
          </a:prstGeom>
        </p:spPr>
        <p:txBody>
          <a:bodyPr spcFirstLastPara="1" vert="horz" wrap="square" lIns="51431" tIns="25706" rIns="51431" bIns="25706" numCol="1" rtlCol="0" anchor="t" anchorCtr="0" compatLnSpc="1">
            <a:noAutofit/>
          </a:bodyPr>
          <a:lstStyle/>
          <a:p>
            <a:pPr marL="255905" indent="-255905">
              <a:lnSpc>
                <a:spcPct val="100000"/>
              </a:lnSpc>
              <a:spcBef>
                <a:spcPts val="0"/>
              </a:spcBef>
              <a:buClr>
                <a:srgbClr val="003366"/>
              </a:buClr>
              <a:buSzPts val="2800"/>
              <a:buFont typeface="Lato"/>
              <a:buChar char="•"/>
            </a:pPr>
            <a:r>
              <a:rPr lang="en-GB" dirty="0">
                <a:latin typeface="Lato"/>
                <a:ea typeface="Lato"/>
                <a:cs typeface="Lato"/>
                <a:sym typeface="Lato"/>
              </a:rPr>
              <a:t>What if we sent two packets before waiting for an ACK</a:t>
            </a:r>
            <a:endParaRPr dirty="0">
              <a:latin typeface="Lato"/>
              <a:ea typeface="Lato"/>
              <a:cs typeface="Lato"/>
              <a:sym typeface="Lato"/>
            </a:endParaRPr>
          </a:p>
          <a:p>
            <a:pPr marL="556260" lvl="1" indent="-213360">
              <a:lnSpc>
                <a:spcPct val="100000"/>
              </a:lnSpc>
              <a:spcBef>
                <a:spcPts val="360"/>
              </a:spcBef>
              <a:buClr>
                <a:srgbClr val="003366"/>
              </a:buClr>
              <a:buSzPts val="2400"/>
              <a:buFont typeface="Lato"/>
              <a:buChar char="•"/>
            </a:pPr>
            <a:r>
              <a:rPr lang="en-GB" dirty="0">
                <a:latin typeface="Lato"/>
                <a:ea typeface="Lato"/>
                <a:cs typeface="Lato"/>
                <a:sym typeface="Lato"/>
              </a:rPr>
              <a:t>What if we sent N packets?</a:t>
            </a:r>
            <a:endParaRPr dirty="0">
              <a:latin typeface="Lato"/>
              <a:ea typeface="Lato"/>
              <a:cs typeface="Lato"/>
              <a:sym typeface="Lato"/>
            </a:endParaRPr>
          </a:p>
          <a:p>
            <a:pPr marL="556260" lvl="1" indent="-213360">
              <a:lnSpc>
                <a:spcPct val="100000"/>
              </a:lnSpc>
              <a:spcBef>
                <a:spcPts val="360"/>
              </a:spcBef>
              <a:buClr>
                <a:srgbClr val="003366"/>
              </a:buClr>
              <a:buSzPts val="2400"/>
              <a:buFont typeface="Lato"/>
              <a:buChar char="•"/>
            </a:pPr>
            <a:r>
              <a:rPr lang="en-GB" dirty="0">
                <a:latin typeface="Lato"/>
                <a:ea typeface="Lato"/>
                <a:cs typeface="Lato"/>
                <a:sym typeface="Lato"/>
              </a:rPr>
              <a:t>How many packets do we need to send before we use up the capacity of the link?</a:t>
            </a:r>
            <a:endParaRPr lang="en-GB" dirty="0">
              <a:latin typeface="Lato"/>
              <a:ea typeface="Lato"/>
              <a:cs typeface="Lato"/>
              <a:sym typeface="Lato"/>
            </a:endParaRPr>
          </a:p>
          <a:p>
            <a:pPr marL="156210" indent="-213360">
              <a:lnSpc>
                <a:spcPct val="100000"/>
              </a:lnSpc>
              <a:spcBef>
                <a:spcPts val="360"/>
              </a:spcBef>
              <a:buClr>
                <a:srgbClr val="003366"/>
              </a:buClr>
              <a:buSzPts val="2400"/>
              <a:buFont typeface="Lato"/>
              <a:buChar char="•"/>
            </a:pPr>
            <a:endParaRPr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4" name="Google Shape;664;p42"/>
          <p:cNvSpPr txBox="1">
            <a:spLocks noGrp="1"/>
          </p:cNvSpPr>
          <p:nvPr>
            <p:ph type="title"/>
          </p:nvPr>
        </p:nvSpPr>
        <p:spPr>
          <a:xfrm>
            <a:off x="1086863" y="2"/>
            <a:ext cx="6442650" cy="886725"/>
          </a:xfrm>
          <a:prstGeom prst="rect">
            <a:avLst/>
          </a:prstGeom>
        </p:spPr>
        <p:txBody>
          <a:bodyPr spcFirstLastPara="1" vert="horz" wrap="square" lIns="51431" tIns="25706" rIns="51431" bIns="25706" numCol="1" rtlCol="0" anchor="ctr" anchorCtr="0" compatLnSpc="1">
            <a:noAutofit/>
          </a:bodyPr>
          <a:lstStyle/>
          <a:p>
            <a:pPr>
              <a:spcBef>
                <a:spcPts val="0"/>
              </a:spcBef>
            </a:pPr>
            <a:r>
              <a:rPr lang="en-GB" dirty="0"/>
              <a:t>Think about this…</a:t>
            </a:r>
            <a:endParaRPr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6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9" name="Google Shape;629;p48"/>
          <p:cNvCxnSpPr/>
          <p:nvPr/>
        </p:nvCxnSpPr>
        <p:spPr>
          <a:xfrm rot="10800000">
            <a:off x="2555017" y="2353614"/>
            <a:ext cx="0" cy="2150775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miter lim="800000"/>
            <a:headEnd type="stealth" w="med" len="med"/>
            <a:tailEnd type="none" w="med" len="med"/>
          </a:ln>
        </p:spPr>
      </p:cxnSp>
      <p:sp>
        <p:nvSpPr>
          <p:cNvPr id="630" name="Google Shape;630;p48"/>
          <p:cNvSpPr/>
          <p:nvPr/>
        </p:nvSpPr>
        <p:spPr>
          <a:xfrm>
            <a:off x="1847785" y="3299604"/>
            <a:ext cx="644112" cy="50953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algn="ctr">
              <a:buClr>
                <a:schemeClr val="dk1"/>
              </a:buClr>
              <a:buSzPts val="3000"/>
            </a:pPr>
            <a:r>
              <a:rPr lang="en-GB" sz="225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Time</a:t>
            </a:r>
            <a:endParaRPr lang="en-GB" sz="22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1" name="Google Shape;631;p48"/>
          <p:cNvSpPr/>
          <p:nvPr/>
        </p:nvSpPr>
        <p:spPr>
          <a:xfrm>
            <a:off x="2592507" y="1965440"/>
            <a:ext cx="959500" cy="38219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algn="ctr">
              <a:buClr>
                <a:schemeClr val="dk1"/>
              </a:buClr>
              <a:buSzPts val="3000"/>
            </a:pPr>
            <a:r>
              <a:rPr lang="en-GB" sz="225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Source</a:t>
            </a:r>
            <a:endParaRPr dirty="0"/>
          </a:p>
        </p:txBody>
      </p:sp>
      <p:sp>
        <p:nvSpPr>
          <p:cNvPr id="632" name="Google Shape;632;p48"/>
          <p:cNvSpPr/>
          <p:nvPr/>
        </p:nvSpPr>
        <p:spPr>
          <a:xfrm>
            <a:off x="5716413" y="1972107"/>
            <a:ext cx="1444533" cy="38219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algn="ctr">
              <a:buClr>
                <a:schemeClr val="dk1"/>
              </a:buClr>
              <a:buSzPts val="3000"/>
            </a:pPr>
            <a:r>
              <a:rPr lang="en-GB" sz="225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Destination</a:t>
            </a:r>
            <a:endParaRPr dirty="0"/>
          </a:p>
        </p:txBody>
      </p:sp>
      <p:cxnSp>
        <p:nvCxnSpPr>
          <p:cNvPr id="633" name="Google Shape;633;p48"/>
          <p:cNvCxnSpPr/>
          <p:nvPr/>
        </p:nvCxnSpPr>
        <p:spPr>
          <a:xfrm rot="10800000">
            <a:off x="3097980" y="2521720"/>
            <a:ext cx="2939625" cy="509625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miter lim="800000"/>
            <a:headEnd type="stealth" w="med" len="med"/>
            <a:tailEnd type="none" w="med" len="med"/>
          </a:ln>
        </p:spPr>
      </p:cxnSp>
      <p:sp>
        <p:nvSpPr>
          <p:cNvPr id="634" name="Google Shape;634;p48"/>
          <p:cNvSpPr/>
          <p:nvPr/>
        </p:nvSpPr>
        <p:spPr>
          <a:xfrm>
            <a:off x="3782561" y="2194033"/>
            <a:ext cx="1444521" cy="38219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algn="ctr">
              <a:buClr>
                <a:schemeClr val="dk1"/>
              </a:buClr>
              <a:buSzPts val="3000"/>
            </a:pPr>
            <a:r>
              <a:rPr lang="en-GB" sz="225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 pkt</a:t>
            </a:r>
            <a:endParaRPr lang="en-GB" sz="22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635" name="Google Shape;635;p48"/>
          <p:cNvCxnSpPr/>
          <p:nvPr/>
        </p:nvCxnSpPr>
        <p:spPr>
          <a:xfrm rot="10800000">
            <a:off x="3170672" y="3366173"/>
            <a:ext cx="2940750" cy="50805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miter lim="800000"/>
            <a:headEnd type="stealth" w="med" len="med"/>
            <a:tailEnd type="none" w="med" len="med"/>
          </a:ln>
        </p:spPr>
      </p:cxnSp>
      <p:cxnSp>
        <p:nvCxnSpPr>
          <p:cNvPr id="636" name="Google Shape;636;p48"/>
          <p:cNvCxnSpPr/>
          <p:nvPr/>
        </p:nvCxnSpPr>
        <p:spPr>
          <a:xfrm rot="10800000">
            <a:off x="3170672" y="3455077"/>
            <a:ext cx="2940750" cy="509625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miter lim="800000"/>
            <a:headEnd type="stealth" w="med" len="med"/>
            <a:tailEnd type="none" w="med" len="med"/>
          </a:ln>
        </p:spPr>
      </p:cxnSp>
      <p:cxnSp>
        <p:nvCxnSpPr>
          <p:cNvPr id="637" name="Google Shape;637;p48"/>
          <p:cNvCxnSpPr/>
          <p:nvPr/>
        </p:nvCxnSpPr>
        <p:spPr>
          <a:xfrm rot="10800000">
            <a:off x="3170672" y="3553492"/>
            <a:ext cx="2940750" cy="509625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miter lim="800000"/>
            <a:headEnd type="stealth" w="med" len="med"/>
            <a:tailEnd type="none" w="med" len="med"/>
          </a:ln>
        </p:spPr>
      </p:cxnSp>
      <p:cxnSp>
        <p:nvCxnSpPr>
          <p:cNvPr id="638" name="Google Shape;638;p48"/>
          <p:cNvCxnSpPr/>
          <p:nvPr/>
        </p:nvCxnSpPr>
        <p:spPr>
          <a:xfrm rot="10800000" flipH="1">
            <a:off x="3153966" y="3102825"/>
            <a:ext cx="2843100" cy="170550"/>
          </a:xfrm>
          <a:prstGeom prst="straightConnector1">
            <a:avLst/>
          </a:prstGeom>
          <a:noFill/>
          <a:ln w="38100" cap="rnd" cmpd="sng">
            <a:solidFill>
              <a:srgbClr val="000000"/>
            </a:solidFill>
            <a:prstDash val="solid"/>
            <a:miter lim="800000"/>
            <a:headEnd type="stealth" w="med" len="med"/>
            <a:tailEnd type="none" w="med" len="med"/>
          </a:ln>
        </p:spPr>
      </p:cxnSp>
      <p:sp>
        <p:nvSpPr>
          <p:cNvPr id="639" name="Google Shape;639;p48"/>
          <p:cNvSpPr/>
          <p:nvPr/>
        </p:nvSpPr>
        <p:spPr>
          <a:xfrm rot="-164101">
            <a:off x="4090099" y="3073669"/>
            <a:ext cx="2626316" cy="50954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algn="ctr">
              <a:buClr>
                <a:schemeClr val="dk1"/>
              </a:buClr>
              <a:buSzPts val="3000"/>
            </a:pPr>
            <a:r>
              <a:rPr lang="en-GB" sz="2250" dirty="0" err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ACKnowledgement</a:t>
            </a:r>
            <a:endParaRPr dirty="0"/>
          </a:p>
        </p:txBody>
      </p:sp>
      <p:cxnSp>
        <p:nvCxnSpPr>
          <p:cNvPr id="640" name="Google Shape;640;p48"/>
          <p:cNvCxnSpPr/>
          <p:nvPr/>
        </p:nvCxnSpPr>
        <p:spPr>
          <a:xfrm rot="-749312">
            <a:off x="3236342" y="4065501"/>
            <a:ext cx="2846782" cy="115898"/>
          </a:xfrm>
          <a:prstGeom prst="straightConnector1">
            <a:avLst/>
          </a:prstGeom>
          <a:noFill/>
          <a:ln w="38100" cap="rnd" cmpd="sng">
            <a:solidFill>
              <a:srgbClr val="000000"/>
            </a:solidFill>
            <a:prstDash val="solid"/>
            <a:miter lim="800000"/>
            <a:headEnd type="stealth" w="med" len="med"/>
            <a:tailEnd type="none" w="med" len="med"/>
          </a:ln>
        </p:spPr>
      </p:cxnSp>
      <p:cxnSp>
        <p:nvCxnSpPr>
          <p:cNvPr id="641" name="Google Shape;641;p48"/>
          <p:cNvCxnSpPr/>
          <p:nvPr/>
        </p:nvCxnSpPr>
        <p:spPr>
          <a:xfrm rot="-749312">
            <a:off x="3257283" y="4160037"/>
            <a:ext cx="2846782" cy="115898"/>
          </a:xfrm>
          <a:prstGeom prst="straightConnector1">
            <a:avLst/>
          </a:prstGeom>
          <a:noFill/>
          <a:ln w="38100" cap="rnd" cmpd="sng">
            <a:solidFill>
              <a:srgbClr val="000000"/>
            </a:solidFill>
            <a:prstDash val="solid"/>
            <a:miter lim="800000"/>
            <a:headEnd type="stealth" w="med" len="med"/>
            <a:tailEnd type="none" w="med" len="med"/>
          </a:ln>
        </p:spPr>
      </p:cxnSp>
      <p:cxnSp>
        <p:nvCxnSpPr>
          <p:cNvPr id="642" name="Google Shape;642;p48"/>
          <p:cNvCxnSpPr/>
          <p:nvPr/>
        </p:nvCxnSpPr>
        <p:spPr>
          <a:xfrm rot="-749312">
            <a:off x="3278567" y="4256123"/>
            <a:ext cx="2846782" cy="115898"/>
          </a:xfrm>
          <a:prstGeom prst="straightConnector1">
            <a:avLst/>
          </a:prstGeom>
          <a:noFill/>
          <a:ln w="38100" cap="rnd" cmpd="sng">
            <a:solidFill>
              <a:srgbClr val="000000"/>
            </a:solidFill>
            <a:prstDash val="solid"/>
            <a:miter lim="800000"/>
            <a:headEnd type="stealth" w="med" len="med"/>
            <a:tailEnd type="none" w="med" len="med"/>
          </a:ln>
        </p:spPr>
      </p:cxnSp>
      <p:sp>
        <p:nvSpPr>
          <p:cNvPr id="643" name="Google Shape;643;p48"/>
          <p:cNvSpPr/>
          <p:nvPr/>
        </p:nvSpPr>
        <p:spPr>
          <a:xfrm>
            <a:off x="362869" y="5060635"/>
            <a:ext cx="8316667" cy="138370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/>
          <a:p>
            <a:pPr marL="179705" lvl="1">
              <a:buClr>
                <a:schemeClr val="dk1"/>
              </a:buClr>
              <a:buSzPts val="1800"/>
            </a:pPr>
            <a:r>
              <a:rPr lang="en-GB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What TCP does:</a:t>
            </a:r>
            <a:br>
              <a:rPr lang="en-GB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altLang="zh-CN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1)</a:t>
            </a:r>
            <a:r>
              <a:rPr lang="zh-CN" altLang="en-US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zh-CN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Allow</a:t>
            </a:r>
            <a:r>
              <a:rPr lang="zh-CN" altLang="en-US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zh-CN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</a:t>
            </a:r>
            <a:r>
              <a:rPr lang="zh-CN" altLang="en-US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zh-CN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packets</a:t>
            </a:r>
            <a:r>
              <a:rPr lang="zh-CN" altLang="en-US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zh-CN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before</a:t>
            </a:r>
            <a:r>
              <a:rPr lang="zh-CN" altLang="en-US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zh-CN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requiring</a:t>
            </a:r>
            <a:r>
              <a:rPr lang="zh-CN" altLang="en-US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zh-CN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</a:t>
            </a:r>
            <a:r>
              <a:rPr lang="zh-CN" altLang="en-US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zh-CN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ACK</a:t>
            </a:r>
            <a:endParaRPr lang="en-GB" sz="2000" b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9705" lvl="1">
              <a:buClr>
                <a:schemeClr val="dk1"/>
              </a:buClr>
              <a:buSzPts val="1800"/>
            </a:pPr>
            <a:r>
              <a:rPr lang="en-US" altLang="zh-CN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2)</a:t>
            </a:r>
            <a:r>
              <a:rPr lang="zh-CN" altLang="en-US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zh-CN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Need</a:t>
            </a:r>
            <a:r>
              <a:rPr lang="zh-CN" altLang="en-US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zh-CN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</a:t>
            </a:r>
            <a:r>
              <a:rPr lang="zh-CN" altLang="en-US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zh-CN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</a:t>
            </a:r>
            <a:r>
              <a:rPr lang="en-GB" sz="2000" b="0" dirty="0" err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igure</a:t>
            </a:r>
            <a:r>
              <a:rPr lang="en-GB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out </a:t>
            </a:r>
            <a:r>
              <a:rPr lang="en-US" altLang="zh-CN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</a:t>
            </a:r>
            <a:r>
              <a:rPr lang="zh-CN" altLang="en-US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altLang="zh-CN" sz="2000" b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79705" lvl="1">
              <a:buClr>
                <a:schemeClr val="dk1"/>
              </a:buClr>
              <a:buSzPts val="1800"/>
            </a:pPr>
            <a:r>
              <a:rPr lang="en-US" altLang="zh-CN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3)</a:t>
            </a:r>
            <a:r>
              <a:rPr lang="zh-CN" altLang="en-US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zh-CN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Also</a:t>
            </a:r>
            <a:r>
              <a:rPr lang="zh-CN" altLang="en-US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zh-CN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need</a:t>
            </a:r>
            <a:r>
              <a:rPr lang="zh-CN" altLang="en-US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zh-CN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</a:t>
            </a:r>
            <a:r>
              <a:rPr lang="zh-CN" altLang="en-US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zh-CN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figure</a:t>
            </a:r>
            <a:r>
              <a:rPr lang="zh-CN" altLang="en-US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zh-CN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</a:t>
            </a:r>
            <a:r>
              <a:rPr lang="zh-CN" altLang="en-US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GB" sz="2000" b="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which packets got lost</a:t>
            </a:r>
            <a:endParaRPr lang="en-US" altLang="zh-CN" sz="2000" b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44" name="Google Shape;644;p48"/>
          <p:cNvSpPr/>
          <p:nvPr/>
        </p:nvSpPr>
        <p:spPr>
          <a:xfrm>
            <a:off x="1724294" y="1199784"/>
            <a:ext cx="5724513" cy="38219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solidFill>
            <a:srgbClr val="FFFE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dk1"/>
              </a:buClr>
              <a:buSzPts val="3000"/>
            </a:pPr>
            <a:r>
              <a:rPr lang="en-GB" sz="225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This is a </a:t>
            </a:r>
            <a:r>
              <a:rPr lang="en-GB" sz="2250" i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very</a:t>
            </a:r>
            <a:r>
              <a:rPr lang="en-GB" sz="225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incomplete view. :)</a:t>
            </a:r>
            <a:endParaRPr dirty="0"/>
          </a:p>
        </p:txBody>
      </p:sp>
      <p:sp>
        <p:nvSpPr>
          <p:cNvPr id="20" name="Google Shape;617;p47"/>
          <p:cNvSpPr txBox="1"/>
          <p:nvPr/>
        </p:nvSpPr>
        <p:spPr bwMode="auto">
          <a:xfrm>
            <a:off x="990602" y="0"/>
            <a:ext cx="7214635" cy="914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50" tIns="34275" rIns="68550" bIns="34275" numCol="1" rtlCol="0" anchor="ctr" anchorCtr="0" compatLnSpc="1">
            <a:noAutofit/>
          </a:bodyPr>
          <a:lstStyle>
            <a:lvl1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2A40E2"/>
                </a:solidFill>
                <a:latin typeface="Helvetica"/>
                <a:ea typeface="MS PGothic" panose="020B0600070205080204" charset="-128"/>
                <a:cs typeface="MS PGothic" panose="020B0600070205080204" charset="-128"/>
              </a:defRPr>
            </a:lvl1pPr>
            <a:lvl2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2A40E2"/>
                </a:solidFill>
                <a:latin typeface="Helvetica" charset="0"/>
                <a:ea typeface="MS PGothic" panose="020B0600070205080204" charset="-128"/>
                <a:cs typeface="MS PGothic" panose="020B0600070205080204" charset="-128"/>
              </a:defRPr>
            </a:lvl2pPr>
            <a:lvl3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2A40E2"/>
                </a:solidFill>
                <a:latin typeface="Helvetica" charset="0"/>
                <a:ea typeface="MS PGothic" panose="020B0600070205080204" charset="-128"/>
                <a:cs typeface="MS PGothic" panose="020B0600070205080204" charset="-128"/>
              </a:defRPr>
            </a:lvl3pPr>
            <a:lvl4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2A40E2"/>
                </a:solidFill>
                <a:latin typeface="Helvetica" charset="0"/>
                <a:ea typeface="MS PGothic" panose="020B0600070205080204" charset="-128"/>
                <a:cs typeface="MS PGothic" panose="020B0600070205080204" charset="-128"/>
              </a:defRPr>
            </a:lvl4pPr>
            <a:lvl5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2A40E2"/>
                </a:solidFill>
                <a:latin typeface="Helvetica" charset="0"/>
                <a:ea typeface="MS PGothic" panose="020B0600070205080204" charset="-128"/>
                <a:cs typeface="MS PGothic" panose="020B0600070205080204" charset="-128"/>
              </a:defRPr>
            </a:lvl5pPr>
            <a:lvl6pPr marL="45720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A40E2"/>
                </a:solidFill>
                <a:latin typeface="Comic Sans MS" panose="030F0702030302020204" charset="0"/>
              </a:defRPr>
            </a:lvl6pPr>
            <a:lvl7pPr marL="91440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A40E2"/>
                </a:solidFill>
                <a:latin typeface="Comic Sans MS" panose="030F0702030302020204" charset="0"/>
              </a:defRPr>
            </a:lvl7pPr>
            <a:lvl8pPr marL="137160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A40E2"/>
                </a:solidFill>
                <a:latin typeface="Comic Sans MS" panose="030F0702030302020204" charset="0"/>
              </a:defRPr>
            </a:lvl8pPr>
            <a:lvl9pPr marL="182880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A40E2"/>
                </a:solidFill>
                <a:latin typeface="Comic Sans MS" panose="030F0702030302020204" charset="0"/>
              </a:defRPr>
            </a:lvl9pPr>
          </a:lstStyle>
          <a:p>
            <a:pPr>
              <a:lnSpc>
                <a:spcPct val="85000"/>
              </a:lnSpc>
              <a:spcBef>
                <a:spcPts val="0"/>
              </a:spcBef>
              <a:buClr>
                <a:schemeClr val="folHlink"/>
              </a:buClr>
              <a:buSzPts val="3200"/>
            </a:pPr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does</a:t>
            </a:r>
            <a:r>
              <a:rPr kumimoji="1" lang="zh-CN" altLang="en-US" dirty="0"/>
              <a:t> </a:t>
            </a:r>
            <a:r>
              <a:rPr kumimoji="1" lang="en-US" altLang="zh-CN" dirty="0"/>
              <a:t>it</a:t>
            </a:r>
            <a:r>
              <a:rPr kumimoji="1" lang="zh-CN" altLang="en-US" dirty="0"/>
              <a:t> </a:t>
            </a:r>
            <a:r>
              <a:rPr kumimoji="1" lang="en-US" altLang="zh-CN" dirty="0"/>
              <a:t>work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reality?</a:t>
            </a:r>
            <a:r>
              <a:rPr kumimoji="1" lang="zh-CN" altLang="en-US" dirty="0"/>
              <a:t> </a:t>
            </a:r>
            <a:r>
              <a:rPr kumimoji="1" lang="en-US" altLang="zh-CN" dirty="0"/>
              <a:t>(TCP)</a:t>
            </a:r>
            <a:endParaRPr lang="en-US" kern="0" dirty="0"/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Intuitive</a:t>
            </a:r>
            <a:r>
              <a:rPr kumimoji="1" lang="zh-CN" altLang="en-US" dirty="0"/>
              <a:t> </a:t>
            </a:r>
            <a:r>
              <a:rPr kumimoji="1" lang="en-US" altLang="zh-CN" dirty="0"/>
              <a:t>TCP</a:t>
            </a:r>
            <a:r>
              <a:rPr kumimoji="1" lang="zh-CN" altLang="en-US" dirty="0"/>
              <a:t> </a:t>
            </a:r>
            <a:r>
              <a:rPr kumimoji="1" lang="en-US" altLang="zh-CN" dirty="0"/>
              <a:t>flow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control</a:t>
            </a:r>
            <a:endParaRPr kumimoji="1"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81000" y="1066800"/>
            <a:ext cx="77724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000" b="0" dirty="0">
                <a:latin typeface="Helvetica"/>
                <a:cs typeface="Helvetica"/>
              </a:rPr>
              <a:t>Retransmit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lost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packets</a:t>
            </a:r>
            <a:endParaRPr kumimoji="1" lang="zh-CN" altLang="en-US" sz="2000" b="0" dirty="0">
              <a:latin typeface="Helvetica"/>
              <a:cs typeface="Helvetic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zh-CN" sz="2000" b="0" dirty="0">
                <a:latin typeface="Helvetica"/>
                <a:cs typeface="Helvetica"/>
              </a:rPr>
              <a:t>Keep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a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sequence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number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on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each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packet</a:t>
            </a:r>
            <a:endParaRPr kumimoji="1" lang="en-US" altLang="zh-CN" sz="2000" b="0" dirty="0">
              <a:latin typeface="Helvetica"/>
              <a:cs typeface="Helvetic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000" b="0" dirty="0">
                <a:latin typeface="Helvetica"/>
                <a:cs typeface="Helvetica"/>
              </a:rPr>
              <a:t>Figuring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out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the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rate</a:t>
            </a:r>
            <a:endParaRPr kumimoji="1" lang="en-US" altLang="zh-CN" sz="2000" b="0" dirty="0">
              <a:latin typeface="Helvetica"/>
              <a:cs typeface="Helvetic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zh-CN" sz="2000" b="0" dirty="0">
                <a:latin typeface="Helvetica"/>
                <a:cs typeface="Helvetica"/>
              </a:rPr>
              <a:t>Slow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start</a:t>
            </a:r>
            <a:endParaRPr kumimoji="1" lang="en-US" altLang="zh-CN" sz="2000" b="0" dirty="0">
              <a:latin typeface="Helvetica"/>
              <a:cs typeface="Helvetica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kumimoji="1" lang="en-US" altLang="zh-CN" sz="2000" b="0" dirty="0">
                <a:latin typeface="Helvetica"/>
                <a:cs typeface="Helvetica"/>
              </a:rPr>
              <a:t>Start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with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very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small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sending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rate,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increase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fast</a:t>
            </a:r>
            <a:endParaRPr kumimoji="1" lang="en-US" altLang="zh-CN" sz="2000" b="0" dirty="0">
              <a:latin typeface="Helvetica"/>
              <a:cs typeface="Helvetica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kumimoji="1" lang="en-US" altLang="zh-CN" sz="2000" b="0" dirty="0">
                <a:latin typeface="Helvetica"/>
                <a:cs typeface="Helvetica"/>
              </a:rPr>
              <a:t>Until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detect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overflow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(how?)</a:t>
            </a:r>
            <a:endParaRPr kumimoji="1" lang="en-US" altLang="zh-CN" sz="2000" b="0" dirty="0">
              <a:latin typeface="Helvetica"/>
              <a:cs typeface="Helvetic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zh-CN" sz="2000" b="0" dirty="0">
                <a:latin typeface="Helvetica"/>
                <a:cs typeface="Helvetica"/>
              </a:rPr>
              <a:t>Slowdown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quickly,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then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increase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slowly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until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overflow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again</a:t>
            </a:r>
            <a:endParaRPr kumimoji="1" lang="en-US" altLang="zh-CN" sz="2000" b="0" dirty="0">
              <a:latin typeface="Helvetica"/>
              <a:cs typeface="Helvetic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zh-CN" sz="2000" b="0" dirty="0">
                <a:latin typeface="Helvetica"/>
                <a:cs typeface="Helvetica"/>
              </a:rPr>
              <a:t>AIMD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=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additive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increment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multiplicative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decrement</a:t>
            </a:r>
            <a:endParaRPr kumimoji="1" lang="en-US" altLang="zh-CN" sz="2000" b="0" dirty="0">
              <a:latin typeface="Helvetica"/>
              <a:cs typeface="Helvetic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CN" sz="2000" b="0" dirty="0">
              <a:latin typeface="Helvetica"/>
              <a:cs typeface="Helvetic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000" b="0" dirty="0">
                <a:latin typeface="Helvetica"/>
                <a:cs typeface="Helvetica"/>
              </a:rPr>
              <a:t>Congestion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control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endParaRPr kumimoji="1" lang="en-US" altLang="zh-CN" sz="2000" b="0" dirty="0">
              <a:latin typeface="Helvetica"/>
              <a:cs typeface="Helvetic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CN" sz="2000" b="0" dirty="0">
              <a:latin typeface="Helvetica"/>
              <a:cs typeface="Helvetic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000" b="0" dirty="0">
                <a:latin typeface="Helvetica"/>
                <a:cs typeface="Helvetica"/>
              </a:rPr>
              <a:t>Many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details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+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optimizations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endParaRPr kumimoji="1" lang="en-US" altLang="zh-CN" sz="2000" b="0" dirty="0">
              <a:latin typeface="Helvetica"/>
              <a:cs typeface="Helvetica"/>
            </a:endParaRPr>
          </a:p>
          <a:p>
            <a:r>
              <a:rPr kumimoji="1" lang="en-US" altLang="zh-CN" sz="2000" b="0" dirty="0">
                <a:latin typeface="Helvetica"/>
                <a:cs typeface="Helvetica"/>
              </a:rPr>
              <a:t>in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networking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course</a:t>
            </a:r>
            <a:endParaRPr kumimoji="1" lang="en-US" altLang="zh-CN" sz="2000" b="0" dirty="0">
              <a:latin typeface="Helvetica"/>
              <a:cs typeface="Helvetica"/>
            </a:endParaRPr>
          </a:p>
        </p:txBody>
      </p:sp>
      <p:pic>
        <p:nvPicPr>
          <p:cNvPr id="66562" name="Picture 2" descr="Dynamics of TCP Congestion Control | Download Scientific Diagram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810002"/>
            <a:ext cx="3657600" cy="249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layering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4876800" y="2057400"/>
            <a:ext cx="838200" cy="457200"/>
          </a:xfrm>
          <a:prstGeom prst="rect">
            <a:avLst/>
          </a:prstGeom>
          <a:solidFill>
            <a:srgbClr val="99CCFF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Helvetica" charset="0"/>
            </a:endParaRPr>
          </a:p>
        </p:txBody>
      </p:sp>
      <p:sp>
        <p:nvSpPr>
          <p:cNvPr id="1260548" name="Rectangle 4"/>
          <p:cNvSpPr>
            <a:spLocks noGrp="1" noChangeArrowheads="1"/>
          </p:cNvSpPr>
          <p:nvPr>
            <p:ph idx="1"/>
          </p:nvPr>
        </p:nvSpPr>
        <p:spPr>
          <a:xfrm>
            <a:off x="754065" y="4292602"/>
            <a:ext cx="7710487" cy="1400175"/>
          </a:xfrm>
        </p:spPr>
        <p:txBody>
          <a:bodyPr/>
          <a:lstStyle/>
          <a:p>
            <a:r>
              <a:rPr lang="en-US">
                <a:latin typeface="Helvetica" charset="0"/>
                <a:ea typeface="MS PGothic" panose="020B0600070205080204" charset="-128"/>
              </a:rPr>
              <a:t>Re-implement every application for every technology?</a:t>
            </a:r>
            <a:endParaRPr lang="en-US">
              <a:latin typeface="Helvetica" charset="0"/>
              <a:ea typeface="MS PGothic" panose="020B0600070205080204" charset="-128"/>
            </a:endParaRPr>
          </a:p>
          <a:p>
            <a:r>
              <a:rPr lang="en-US">
                <a:latin typeface="Helvetica" charset="0"/>
                <a:ea typeface="MS PGothic" panose="020B0600070205080204" charset="-128"/>
              </a:rPr>
              <a:t>No! But how does the Internet design avoid this?</a:t>
            </a:r>
            <a:endParaRPr lang="en-US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>
                <a:latin typeface="Helvetica" charset="0"/>
                <a:ea typeface="MS PGothic" panose="020B0600070205080204" charset="-128"/>
              </a:rPr>
              <a:t>The Problem (cont’</a:t>
            </a:r>
            <a:r>
              <a:rPr lang="en-US" altLang="ja-JP">
                <a:latin typeface="Helvetica" charset="0"/>
                <a:ea typeface="MS PGothic" panose="020B0600070205080204" charset="-128"/>
              </a:rPr>
              <a:t>d)</a:t>
            </a:r>
            <a:endParaRPr lang="en-US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0181" name="Rectangle 5"/>
          <p:cNvSpPr>
            <a:spLocks noChangeArrowheads="1"/>
          </p:cNvSpPr>
          <p:nvPr/>
        </p:nvSpPr>
        <p:spPr bwMode="auto">
          <a:xfrm>
            <a:off x="2819400" y="2057400"/>
            <a:ext cx="914400" cy="457200"/>
          </a:xfrm>
          <a:prstGeom prst="rect">
            <a:avLst/>
          </a:prstGeom>
          <a:solidFill>
            <a:srgbClr val="99CCFF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Helvetica" charset="0"/>
            </a:endParaRPr>
          </a:p>
        </p:txBody>
      </p:sp>
      <p:sp>
        <p:nvSpPr>
          <p:cNvPr id="50182" name="Rectangle 6"/>
          <p:cNvSpPr>
            <a:spLocks noChangeArrowheads="1"/>
          </p:cNvSpPr>
          <p:nvPr/>
        </p:nvSpPr>
        <p:spPr bwMode="auto">
          <a:xfrm>
            <a:off x="3962400" y="2057400"/>
            <a:ext cx="685800" cy="457200"/>
          </a:xfrm>
          <a:prstGeom prst="rect">
            <a:avLst/>
          </a:prstGeom>
          <a:solidFill>
            <a:srgbClr val="99CCFF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Helvetica" charset="0"/>
            </a:endParaRPr>
          </a:p>
        </p:txBody>
      </p:sp>
      <p:sp>
        <p:nvSpPr>
          <p:cNvPr id="50183" name="Text Box 7"/>
          <p:cNvSpPr txBox="1">
            <a:spLocks noChangeArrowheads="1"/>
          </p:cNvSpPr>
          <p:nvPr/>
        </p:nvSpPr>
        <p:spPr bwMode="auto">
          <a:xfrm>
            <a:off x="2808290" y="2133602"/>
            <a:ext cx="1011795" cy="400101"/>
          </a:xfrm>
          <a:prstGeom prst="rect">
            <a:avLst/>
          </a:prstGeom>
          <a:noFill/>
          <a:ln>
            <a:noFill/>
          </a:ln>
        </p:spPr>
        <p:txBody>
          <a:bodyPr wrap="none" lIns="91430" tIns="45716" rIns="91430" bIns="45716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r>
              <a:rPr lang="en-US" sz="2000">
                <a:latin typeface="Helvetica" charset="0"/>
              </a:rPr>
              <a:t>Skype </a:t>
            </a:r>
            <a:endParaRPr lang="en-US" sz="2000">
              <a:latin typeface="Helvetica" charset="0"/>
            </a:endParaRPr>
          </a:p>
        </p:txBody>
      </p:sp>
      <p:sp>
        <p:nvSpPr>
          <p:cNvPr id="50184" name="Text Box 8"/>
          <p:cNvSpPr txBox="1">
            <a:spLocks noChangeArrowheads="1"/>
          </p:cNvSpPr>
          <p:nvPr/>
        </p:nvSpPr>
        <p:spPr bwMode="auto">
          <a:xfrm>
            <a:off x="3962402" y="2117727"/>
            <a:ext cx="713637" cy="400101"/>
          </a:xfrm>
          <a:prstGeom prst="rect">
            <a:avLst/>
          </a:prstGeom>
          <a:noFill/>
          <a:ln>
            <a:noFill/>
          </a:ln>
        </p:spPr>
        <p:txBody>
          <a:bodyPr wrap="none" lIns="91430" tIns="45716" rIns="91430" bIns="45716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r>
              <a:rPr lang="en-US" sz="2000">
                <a:latin typeface="Helvetica" charset="0"/>
              </a:rPr>
              <a:t>SSH</a:t>
            </a:r>
            <a:endParaRPr lang="en-US" sz="2000">
              <a:latin typeface="Helvetica" charset="0"/>
            </a:endParaRPr>
          </a:p>
        </p:txBody>
      </p:sp>
      <p:sp>
        <p:nvSpPr>
          <p:cNvPr id="50185" name="Text Box 9"/>
          <p:cNvSpPr txBox="1">
            <a:spLocks noChangeArrowheads="1"/>
          </p:cNvSpPr>
          <p:nvPr/>
        </p:nvSpPr>
        <p:spPr bwMode="auto">
          <a:xfrm>
            <a:off x="4945063" y="2117727"/>
            <a:ext cx="699210" cy="400101"/>
          </a:xfrm>
          <a:prstGeom prst="rect">
            <a:avLst/>
          </a:prstGeom>
          <a:noFill/>
          <a:ln>
            <a:noFill/>
          </a:ln>
        </p:spPr>
        <p:txBody>
          <a:bodyPr wrap="none" lIns="91430" tIns="45716" rIns="91430" bIns="45716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r>
              <a:rPr lang="en-US" sz="2000">
                <a:latin typeface="Helvetica" charset="0"/>
              </a:rPr>
              <a:t>NFS</a:t>
            </a:r>
            <a:endParaRPr lang="en-US" sz="2000">
              <a:latin typeface="Helvetica" charset="0"/>
            </a:endParaRPr>
          </a:p>
        </p:txBody>
      </p:sp>
      <p:grpSp>
        <p:nvGrpSpPr>
          <p:cNvPr id="2" name="Group 10"/>
          <p:cNvGrpSpPr/>
          <p:nvPr/>
        </p:nvGrpSpPr>
        <p:grpSpPr bwMode="auto">
          <a:xfrm>
            <a:off x="5943602" y="3047998"/>
            <a:ext cx="1077913" cy="725340"/>
            <a:chOff x="3456" y="2400"/>
            <a:chExt cx="679" cy="277"/>
          </a:xfrm>
        </p:grpSpPr>
        <p:sp>
          <p:nvSpPr>
            <p:cNvPr id="50211" name="Rectangle 11"/>
            <p:cNvSpPr>
              <a:spLocks noChangeArrowheads="1"/>
            </p:cNvSpPr>
            <p:nvPr/>
          </p:nvSpPr>
          <p:spPr bwMode="auto">
            <a:xfrm>
              <a:off x="3456" y="2400"/>
              <a:ext cx="672" cy="141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91430" tIns="45716" rIns="91430" bIns="45716">
              <a:spAutoFit/>
            </a:bodyPr>
            <a:lstStyle/>
            <a:p>
              <a:endParaRPr lang="en-US">
                <a:latin typeface="Helvetica" charset="0"/>
              </a:endParaRPr>
            </a:p>
          </p:txBody>
        </p:sp>
        <p:sp>
          <p:nvSpPr>
            <p:cNvPr id="50212" name="Text Box 12"/>
            <p:cNvSpPr txBox="1">
              <a:spLocks noChangeArrowheads="1"/>
            </p:cNvSpPr>
            <p:nvPr/>
          </p:nvSpPr>
          <p:spPr bwMode="auto">
            <a:xfrm>
              <a:off x="3494" y="2407"/>
              <a:ext cx="641" cy="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9pPr>
            </a:lstStyle>
            <a:p>
              <a:r>
                <a:rPr lang="en-US" sz="2000">
                  <a:latin typeface="Helvetica" charset="0"/>
                </a:rPr>
                <a:t>Packet</a:t>
              </a:r>
              <a:endParaRPr lang="en-US" sz="2000">
                <a:latin typeface="Helvetica" charset="0"/>
              </a:endParaRPr>
            </a:p>
            <a:p>
              <a:r>
                <a:rPr lang="en-US" sz="2000">
                  <a:latin typeface="Helvetica" charset="0"/>
                </a:rPr>
                <a:t>Radio</a:t>
              </a:r>
              <a:endParaRPr lang="en-US" sz="2000">
                <a:latin typeface="Helvetica" charset="0"/>
              </a:endParaRPr>
            </a:p>
          </p:txBody>
        </p:sp>
      </p:grpSp>
      <p:sp>
        <p:nvSpPr>
          <p:cNvPr id="50187" name="Rectangle 13"/>
          <p:cNvSpPr>
            <a:spLocks noChangeArrowheads="1"/>
          </p:cNvSpPr>
          <p:nvPr/>
        </p:nvSpPr>
        <p:spPr bwMode="auto">
          <a:xfrm>
            <a:off x="3276600" y="3048000"/>
            <a:ext cx="1143000" cy="762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Helvetica" charset="0"/>
            </a:endParaRPr>
          </a:p>
        </p:txBody>
      </p:sp>
      <p:sp>
        <p:nvSpPr>
          <p:cNvPr id="50188" name="Text Box 14"/>
          <p:cNvSpPr txBox="1">
            <a:spLocks noChangeArrowheads="1"/>
          </p:cNvSpPr>
          <p:nvPr/>
        </p:nvSpPr>
        <p:spPr bwMode="auto">
          <a:xfrm>
            <a:off x="3336927" y="3059113"/>
            <a:ext cx="1167287" cy="707878"/>
          </a:xfrm>
          <a:prstGeom prst="rect">
            <a:avLst/>
          </a:prstGeom>
          <a:noFill/>
          <a:ln>
            <a:noFill/>
          </a:ln>
        </p:spPr>
        <p:txBody>
          <a:bodyPr wrap="none" lIns="91430" tIns="45716" rIns="91430" bIns="45716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r>
              <a:rPr lang="en-US" sz="2000">
                <a:latin typeface="Helvetica" charset="0"/>
              </a:rPr>
              <a:t>Coaxial </a:t>
            </a:r>
            <a:endParaRPr lang="en-US" sz="2000">
              <a:latin typeface="Helvetica" charset="0"/>
            </a:endParaRPr>
          </a:p>
          <a:p>
            <a:r>
              <a:rPr lang="en-US" sz="2000">
                <a:latin typeface="Helvetica" charset="0"/>
              </a:rPr>
              <a:t>cable</a:t>
            </a:r>
            <a:endParaRPr lang="en-US" sz="2000">
              <a:latin typeface="Helvetica" charset="0"/>
            </a:endParaRPr>
          </a:p>
        </p:txBody>
      </p:sp>
      <p:sp>
        <p:nvSpPr>
          <p:cNvPr id="50189" name="Rectangle 15"/>
          <p:cNvSpPr>
            <a:spLocks noChangeArrowheads="1"/>
          </p:cNvSpPr>
          <p:nvPr/>
        </p:nvSpPr>
        <p:spPr bwMode="auto">
          <a:xfrm>
            <a:off x="4724400" y="3048000"/>
            <a:ext cx="990600" cy="762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Helvetica" charset="0"/>
            </a:endParaRPr>
          </a:p>
        </p:txBody>
      </p:sp>
      <p:sp>
        <p:nvSpPr>
          <p:cNvPr id="50190" name="Text Box 16"/>
          <p:cNvSpPr txBox="1">
            <a:spLocks noChangeArrowheads="1"/>
          </p:cNvSpPr>
          <p:nvPr/>
        </p:nvSpPr>
        <p:spPr bwMode="auto">
          <a:xfrm>
            <a:off x="4784727" y="3059115"/>
            <a:ext cx="804863" cy="701675"/>
          </a:xfrm>
          <a:prstGeom prst="rect">
            <a:avLst/>
          </a:prstGeom>
          <a:noFill/>
          <a:ln>
            <a:noFill/>
          </a:ln>
        </p:spPr>
        <p:txBody>
          <a:bodyPr wrap="none" lIns="91430" tIns="45716" rIns="91430" bIns="45716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r>
              <a:rPr lang="en-US" sz="2000">
                <a:latin typeface="Helvetica" charset="0"/>
              </a:rPr>
              <a:t>Fiber</a:t>
            </a:r>
            <a:endParaRPr lang="en-US" sz="2000">
              <a:latin typeface="Helvetica" charset="0"/>
            </a:endParaRPr>
          </a:p>
          <a:p>
            <a:r>
              <a:rPr lang="en-US" sz="2000">
                <a:latin typeface="Helvetica" charset="0"/>
              </a:rPr>
              <a:t>optic</a:t>
            </a:r>
            <a:endParaRPr lang="en-US" sz="2000">
              <a:latin typeface="Helvetica" charset="0"/>
            </a:endParaRPr>
          </a:p>
        </p:txBody>
      </p:sp>
      <p:sp>
        <p:nvSpPr>
          <p:cNvPr id="50191" name="Line 17"/>
          <p:cNvSpPr>
            <a:spLocks noChangeShapeType="1"/>
          </p:cNvSpPr>
          <p:nvPr/>
        </p:nvSpPr>
        <p:spPr bwMode="auto">
          <a:xfrm>
            <a:off x="2438400" y="2819400"/>
            <a:ext cx="44958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92" name="Text Box 18"/>
          <p:cNvSpPr txBox="1">
            <a:spLocks noChangeArrowheads="1"/>
          </p:cNvSpPr>
          <p:nvPr/>
        </p:nvSpPr>
        <p:spPr bwMode="auto">
          <a:xfrm>
            <a:off x="871538" y="2144715"/>
            <a:ext cx="1566862" cy="396875"/>
          </a:xfrm>
          <a:prstGeom prst="rect">
            <a:avLst/>
          </a:prstGeom>
          <a:noFill/>
          <a:ln>
            <a:noFill/>
          </a:ln>
        </p:spPr>
        <p:txBody>
          <a:bodyPr wrap="none" lIns="91430" tIns="45716" rIns="91430" bIns="45716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r>
              <a:rPr lang="en-US" sz="2000">
                <a:latin typeface="Helvetica" charset="0"/>
              </a:rPr>
              <a:t>Application</a:t>
            </a:r>
            <a:endParaRPr lang="en-US" sz="2000">
              <a:latin typeface="Helvetica" charset="0"/>
            </a:endParaRPr>
          </a:p>
        </p:txBody>
      </p:sp>
      <p:sp>
        <p:nvSpPr>
          <p:cNvPr id="50193" name="Text Box 19"/>
          <p:cNvSpPr txBox="1">
            <a:spLocks noChangeArrowheads="1"/>
          </p:cNvSpPr>
          <p:nvPr/>
        </p:nvSpPr>
        <p:spPr bwMode="auto">
          <a:xfrm>
            <a:off x="898525" y="3124202"/>
            <a:ext cx="1835150" cy="701675"/>
          </a:xfrm>
          <a:prstGeom prst="rect">
            <a:avLst/>
          </a:prstGeom>
          <a:noFill/>
          <a:ln>
            <a:noFill/>
          </a:ln>
        </p:spPr>
        <p:txBody>
          <a:bodyPr wrap="none" lIns="91430" tIns="45716" rIns="91430" bIns="45716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r>
              <a:rPr lang="en-US" sz="2000">
                <a:latin typeface="Helvetica" charset="0"/>
              </a:rPr>
              <a:t>Transmission</a:t>
            </a:r>
            <a:endParaRPr lang="en-US" sz="2000">
              <a:latin typeface="Helvetica" charset="0"/>
            </a:endParaRPr>
          </a:p>
          <a:p>
            <a:r>
              <a:rPr lang="en-US" sz="2000">
                <a:latin typeface="Helvetica" charset="0"/>
              </a:rPr>
              <a:t>Media</a:t>
            </a:r>
            <a:endParaRPr lang="en-US" sz="2000">
              <a:latin typeface="Helvetica" charset="0"/>
            </a:endParaRPr>
          </a:p>
        </p:txBody>
      </p:sp>
      <p:cxnSp>
        <p:nvCxnSpPr>
          <p:cNvPr id="50194" name="AutoShape 20"/>
          <p:cNvCxnSpPr>
            <a:cxnSpLocks noChangeShapeType="1"/>
            <a:stCxn id="50183" idx="2"/>
            <a:endCxn id="50188" idx="0"/>
          </p:cNvCxnSpPr>
          <p:nvPr/>
        </p:nvCxnSpPr>
        <p:spPr bwMode="auto">
          <a:xfrm>
            <a:off x="3314188" y="2533701"/>
            <a:ext cx="606383" cy="525412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</p:spPr>
      </p:cxnSp>
      <p:cxnSp>
        <p:nvCxnSpPr>
          <p:cNvPr id="50195" name="AutoShape 21"/>
          <p:cNvCxnSpPr>
            <a:cxnSpLocks noChangeShapeType="1"/>
            <a:stCxn id="50183" idx="2"/>
            <a:endCxn id="50189" idx="0"/>
          </p:cNvCxnSpPr>
          <p:nvPr/>
        </p:nvCxnSpPr>
        <p:spPr bwMode="auto">
          <a:xfrm>
            <a:off x="3314186" y="2533703"/>
            <a:ext cx="1905514" cy="514299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</p:spPr>
      </p:cxnSp>
      <p:cxnSp>
        <p:nvCxnSpPr>
          <p:cNvPr id="50196" name="AutoShape 22"/>
          <p:cNvCxnSpPr>
            <a:cxnSpLocks noChangeShapeType="1"/>
            <a:stCxn id="50184" idx="2"/>
            <a:endCxn id="50187" idx="0"/>
          </p:cNvCxnSpPr>
          <p:nvPr/>
        </p:nvCxnSpPr>
        <p:spPr bwMode="auto">
          <a:xfrm flipH="1">
            <a:off x="3848102" y="2517826"/>
            <a:ext cx="471119" cy="530174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</p:spPr>
      </p:cxnSp>
      <p:cxnSp>
        <p:nvCxnSpPr>
          <p:cNvPr id="50197" name="AutoShape 23"/>
          <p:cNvCxnSpPr>
            <a:cxnSpLocks noChangeShapeType="1"/>
            <a:stCxn id="50182" idx="2"/>
            <a:endCxn id="50189" idx="0"/>
          </p:cNvCxnSpPr>
          <p:nvPr/>
        </p:nvCxnSpPr>
        <p:spPr bwMode="auto">
          <a:xfrm>
            <a:off x="4305300" y="2524125"/>
            <a:ext cx="914400" cy="51435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</p:spPr>
      </p:cxnSp>
      <p:cxnSp>
        <p:nvCxnSpPr>
          <p:cNvPr id="50198" name="AutoShape 24"/>
          <p:cNvCxnSpPr>
            <a:cxnSpLocks noChangeShapeType="1"/>
            <a:stCxn id="50178" idx="2"/>
            <a:endCxn id="50187" idx="0"/>
          </p:cNvCxnSpPr>
          <p:nvPr/>
        </p:nvCxnSpPr>
        <p:spPr bwMode="auto">
          <a:xfrm flipH="1">
            <a:off x="3848100" y="2524125"/>
            <a:ext cx="1447800" cy="51435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</p:spPr>
      </p:cxnSp>
      <p:cxnSp>
        <p:nvCxnSpPr>
          <p:cNvPr id="50199" name="AutoShape 25"/>
          <p:cNvCxnSpPr>
            <a:cxnSpLocks noChangeShapeType="1"/>
            <a:stCxn id="50178" idx="2"/>
            <a:endCxn id="50189" idx="0"/>
          </p:cNvCxnSpPr>
          <p:nvPr/>
        </p:nvCxnSpPr>
        <p:spPr bwMode="auto">
          <a:xfrm flipH="1">
            <a:off x="5219700" y="2524125"/>
            <a:ext cx="76200" cy="51435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</p:spPr>
      </p:cxnSp>
      <p:grpSp>
        <p:nvGrpSpPr>
          <p:cNvPr id="3" name="Group 26"/>
          <p:cNvGrpSpPr/>
          <p:nvPr/>
        </p:nvGrpSpPr>
        <p:grpSpPr bwMode="auto">
          <a:xfrm>
            <a:off x="5943605" y="2057399"/>
            <a:ext cx="855663" cy="460375"/>
            <a:chOff x="3456" y="1776"/>
            <a:chExt cx="539" cy="290"/>
          </a:xfrm>
        </p:grpSpPr>
        <p:sp>
          <p:nvSpPr>
            <p:cNvPr id="50209" name="Rectangle 27"/>
            <p:cNvSpPr>
              <a:spLocks noChangeArrowheads="1"/>
            </p:cNvSpPr>
            <p:nvPr/>
          </p:nvSpPr>
          <p:spPr bwMode="auto">
            <a:xfrm>
              <a:off x="3463" y="1776"/>
              <a:ext cx="521" cy="23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91430" tIns="45716" rIns="91430" bIns="45716">
              <a:spAutoFit/>
            </a:bodyPr>
            <a:lstStyle/>
            <a:p>
              <a:endParaRPr lang="en-US">
                <a:latin typeface="Helvetica" charset="0"/>
              </a:endParaRPr>
            </a:p>
          </p:txBody>
        </p:sp>
        <p:sp>
          <p:nvSpPr>
            <p:cNvPr id="50210" name="Text Box 28"/>
            <p:cNvSpPr txBox="1">
              <a:spLocks noChangeArrowheads="1"/>
            </p:cNvSpPr>
            <p:nvPr/>
          </p:nvSpPr>
          <p:spPr bwMode="auto">
            <a:xfrm>
              <a:off x="3456" y="1814"/>
              <a:ext cx="539" cy="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9pPr>
            </a:lstStyle>
            <a:p>
              <a:r>
                <a:rPr lang="en-US" sz="2000">
                  <a:latin typeface="Helvetica" charset="0"/>
                </a:rPr>
                <a:t>HTTP</a:t>
              </a:r>
              <a:endParaRPr lang="en-US" sz="2000">
                <a:latin typeface="Helvetica" charset="0"/>
              </a:endParaRPr>
            </a:p>
          </p:txBody>
        </p:sp>
      </p:grpSp>
      <p:grpSp>
        <p:nvGrpSpPr>
          <p:cNvPr id="4" name="Group 29"/>
          <p:cNvGrpSpPr/>
          <p:nvPr/>
        </p:nvGrpSpPr>
        <p:grpSpPr bwMode="auto">
          <a:xfrm>
            <a:off x="3276600" y="2524125"/>
            <a:ext cx="3200400" cy="514350"/>
            <a:chOff x="1776" y="2070"/>
            <a:chExt cx="2016" cy="324"/>
          </a:xfrm>
        </p:grpSpPr>
        <p:cxnSp>
          <p:nvCxnSpPr>
            <p:cNvPr id="50205" name="AutoShape 30"/>
            <p:cNvCxnSpPr>
              <a:cxnSpLocks noChangeShapeType="1"/>
            </p:cNvCxnSpPr>
            <p:nvPr/>
          </p:nvCxnSpPr>
          <p:spPr bwMode="auto">
            <a:xfrm>
              <a:off x="1776" y="2070"/>
              <a:ext cx="2016" cy="324"/>
            </a:xfrm>
            <a:prstGeom prst="straightConnector1">
              <a:avLst/>
            </a:prstGeom>
            <a:noFill/>
            <a:ln w="25400">
              <a:solidFill>
                <a:schemeClr val="accent1"/>
              </a:solidFill>
              <a:round/>
              <a:tailEnd type="triangle" w="med" len="med"/>
            </a:ln>
          </p:spPr>
        </p:cxnSp>
        <p:cxnSp>
          <p:nvCxnSpPr>
            <p:cNvPr id="50206" name="AutoShape 31"/>
            <p:cNvCxnSpPr>
              <a:cxnSpLocks noChangeShapeType="1"/>
            </p:cNvCxnSpPr>
            <p:nvPr/>
          </p:nvCxnSpPr>
          <p:spPr bwMode="auto">
            <a:xfrm>
              <a:off x="2424" y="2070"/>
              <a:ext cx="1368" cy="324"/>
            </a:xfrm>
            <a:prstGeom prst="straightConnector1">
              <a:avLst/>
            </a:prstGeom>
            <a:noFill/>
            <a:ln w="25400">
              <a:solidFill>
                <a:schemeClr val="accent1"/>
              </a:solidFill>
              <a:round/>
              <a:tailEnd type="triangle" w="med" len="med"/>
            </a:ln>
          </p:spPr>
        </p:cxnSp>
        <p:cxnSp>
          <p:nvCxnSpPr>
            <p:cNvPr id="50207" name="AutoShape 32"/>
            <p:cNvCxnSpPr>
              <a:cxnSpLocks noChangeShapeType="1"/>
            </p:cNvCxnSpPr>
            <p:nvPr/>
          </p:nvCxnSpPr>
          <p:spPr bwMode="auto">
            <a:xfrm>
              <a:off x="3048" y="2070"/>
              <a:ext cx="744" cy="324"/>
            </a:xfrm>
            <a:prstGeom prst="straightConnector1">
              <a:avLst/>
            </a:prstGeom>
            <a:noFill/>
            <a:ln w="25400">
              <a:solidFill>
                <a:schemeClr val="accent1"/>
              </a:solidFill>
              <a:round/>
              <a:tailEnd type="triangle" w="med" len="med"/>
            </a:ln>
          </p:spPr>
        </p:cxnSp>
        <p:cxnSp>
          <p:nvCxnSpPr>
            <p:cNvPr id="50208" name="AutoShape 33"/>
            <p:cNvCxnSpPr>
              <a:cxnSpLocks noChangeShapeType="1"/>
            </p:cNvCxnSpPr>
            <p:nvPr/>
          </p:nvCxnSpPr>
          <p:spPr bwMode="auto">
            <a:xfrm>
              <a:off x="3727" y="2070"/>
              <a:ext cx="65" cy="324"/>
            </a:xfrm>
            <a:prstGeom prst="straightConnector1">
              <a:avLst/>
            </a:prstGeom>
            <a:noFill/>
            <a:ln w="25400">
              <a:solidFill>
                <a:schemeClr val="accent1"/>
              </a:solidFill>
              <a:round/>
              <a:tailEnd type="triangle" w="med" len="med"/>
            </a:ln>
          </p:spPr>
        </p:cxnSp>
      </p:grpSp>
      <p:grpSp>
        <p:nvGrpSpPr>
          <p:cNvPr id="5" name="Group 34"/>
          <p:cNvGrpSpPr/>
          <p:nvPr/>
        </p:nvGrpSpPr>
        <p:grpSpPr bwMode="auto">
          <a:xfrm>
            <a:off x="3848102" y="2514602"/>
            <a:ext cx="2525713" cy="523875"/>
            <a:chOff x="2136" y="2064"/>
            <a:chExt cx="1591" cy="330"/>
          </a:xfrm>
        </p:grpSpPr>
        <p:cxnSp>
          <p:nvCxnSpPr>
            <p:cNvPr id="50203" name="AutoShape 35"/>
            <p:cNvCxnSpPr>
              <a:cxnSpLocks noChangeShapeType="1"/>
            </p:cNvCxnSpPr>
            <p:nvPr/>
          </p:nvCxnSpPr>
          <p:spPr bwMode="auto">
            <a:xfrm flipH="1">
              <a:off x="2136" y="2064"/>
              <a:ext cx="1548" cy="33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tailEnd type="triangle" w="med" len="med"/>
            </a:ln>
          </p:spPr>
        </p:cxnSp>
        <p:cxnSp>
          <p:nvCxnSpPr>
            <p:cNvPr id="50204" name="AutoShape 36"/>
            <p:cNvCxnSpPr>
              <a:cxnSpLocks noChangeShapeType="1"/>
            </p:cNvCxnSpPr>
            <p:nvPr/>
          </p:nvCxnSpPr>
          <p:spPr bwMode="auto">
            <a:xfrm flipH="1">
              <a:off x="3000" y="2070"/>
              <a:ext cx="727" cy="324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tailEnd type="triangle" w="med" len="med"/>
            </a:ln>
          </p:spPr>
        </p:cxnSp>
      </p:grpSp>
      <p:sp>
        <p:nvSpPr>
          <p:cNvPr id="37" name="圆角矩形 36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5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0548" grpId="0" autoUpdateAnimBg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447800"/>
            <a:ext cx="8839200" cy="1524000"/>
          </a:xfrm>
        </p:spPr>
        <p:txBody>
          <a:bodyPr>
            <a:normAutofit/>
          </a:bodyPr>
          <a:lstStyle/>
          <a:p>
            <a:r>
              <a:rPr lang="en-US">
                <a:latin typeface="Helvetica" charset="0"/>
                <a:ea typeface="MS PGothic" panose="020B0600070205080204" charset="-128"/>
              </a:rPr>
              <a:t>Introduce intermediate layers that provide </a:t>
            </a:r>
            <a:r>
              <a:rPr lang="en-US">
                <a:solidFill>
                  <a:srgbClr val="FF3300"/>
                </a:solidFill>
                <a:latin typeface="Helvetica" charset="0"/>
                <a:ea typeface="MS PGothic" panose="020B0600070205080204" charset="-128"/>
              </a:rPr>
              <a:t>set of abstractions</a:t>
            </a:r>
            <a:r>
              <a:rPr lang="en-US">
                <a:latin typeface="Helvetica" charset="0"/>
                <a:ea typeface="MS PGothic" panose="020B0600070205080204" charset="-128"/>
              </a:rPr>
              <a:t> for various network functionality &amp; technologies</a:t>
            </a:r>
            <a:endParaRPr lang="en-US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sz="2000">
                <a:latin typeface="Helvetica" charset="0"/>
                <a:ea typeface="MS PGothic" panose="020B0600070205080204" charset="-128"/>
              </a:rPr>
              <a:t>A new app/media implemented only once</a:t>
            </a:r>
            <a:endParaRPr lang="en-US" sz="200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sz="2000">
                <a:latin typeface="Helvetica" charset="0"/>
                <a:ea typeface="MS PGothic" panose="020B0600070205080204" charset="-128"/>
              </a:rPr>
              <a:t>Variation on </a:t>
            </a:r>
            <a:r>
              <a:rPr lang="ja-JP" altLang="en-US" sz="2000">
                <a:latin typeface="Helvetica" charset="0"/>
                <a:ea typeface="MS PGothic" panose="020B0600070205080204" charset="-128"/>
              </a:rPr>
              <a:t>“</a:t>
            </a:r>
            <a:r>
              <a:rPr lang="en-US" altLang="ja-JP" sz="2000">
                <a:latin typeface="Helvetica" charset="0"/>
                <a:ea typeface="MS PGothic" panose="020B0600070205080204" charset="-128"/>
              </a:rPr>
              <a:t>add another level of indirection</a:t>
            </a:r>
            <a:r>
              <a:rPr lang="ja-JP" altLang="en-US" sz="2000">
                <a:latin typeface="Helvetica" charset="0"/>
                <a:ea typeface="MS PGothic" panose="020B0600070205080204" charset="-128"/>
              </a:rPr>
              <a:t>”</a:t>
            </a:r>
            <a:endParaRPr lang="en-US" sz="200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>
                <a:latin typeface="Helvetica" charset="0"/>
                <a:ea typeface="MS PGothic" panose="020B0600070205080204" charset="-128"/>
              </a:rPr>
              <a:t>Solution: Intermediate Layers</a:t>
            </a:r>
            <a:endParaRPr lang="en-US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1204" name="Rectangle 4"/>
          <p:cNvSpPr>
            <a:spLocks noChangeArrowheads="1"/>
          </p:cNvSpPr>
          <p:nvPr/>
        </p:nvSpPr>
        <p:spPr bwMode="auto">
          <a:xfrm>
            <a:off x="4800600" y="3321050"/>
            <a:ext cx="838200" cy="457200"/>
          </a:xfrm>
          <a:prstGeom prst="rect">
            <a:avLst/>
          </a:prstGeom>
          <a:solidFill>
            <a:srgbClr val="99CCFF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Helvetica" charset="0"/>
            </a:endParaRPr>
          </a:p>
        </p:txBody>
      </p:sp>
      <p:sp>
        <p:nvSpPr>
          <p:cNvPr id="51205" name="Rectangle 5"/>
          <p:cNvSpPr>
            <a:spLocks noChangeArrowheads="1"/>
          </p:cNvSpPr>
          <p:nvPr/>
        </p:nvSpPr>
        <p:spPr bwMode="auto">
          <a:xfrm>
            <a:off x="2743200" y="3321050"/>
            <a:ext cx="914400" cy="457200"/>
          </a:xfrm>
          <a:prstGeom prst="rect">
            <a:avLst/>
          </a:prstGeom>
          <a:solidFill>
            <a:srgbClr val="99CCFF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Helvetica" charset="0"/>
            </a:endParaRPr>
          </a:p>
        </p:txBody>
      </p:sp>
      <p:sp>
        <p:nvSpPr>
          <p:cNvPr id="51206" name="Rectangle 6"/>
          <p:cNvSpPr>
            <a:spLocks noChangeArrowheads="1"/>
          </p:cNvSpPr>
          <p:nvPr/>
        </p:nvSpPr>
        <p:spPr bwMode="auto">
          <a:xfrm>
            <a:off x="3886200" y="3321050"/>
            <a:ext cx="685800" cy="457200"/>
          </a:xfrm>
          <a:prstGeom prst="rect">
            <a:avLst/>
          </a:prstGeom>
          <a:solidFill>
            <a:srgbClr val="99CCFF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Helvetica" charset="0"/>
            </a:endParaRPr>
          </a:p>
        </p:txBody>
      </p:sp>
      <p:sp>
        <p:nvSpPr>
          <p:cNvPr id="51207" name="Text Box 7"/>
          <p:cNvSpPr txBox="1">
            <a:spLocks noChangeArrowheads="1"/>
          </p:cNvSpPr>
          <p:nvPr/>
        </p:nvSpPr>
        <p:spPr bwMode="auto">
          <a:xfrm>
            <a:off x="2732090" y="3397252"/>
            <a:ext cx="1011795" cy="400101"/>
          </a:xfrm>
          <a:prstGeom prst="rect">
            <a:avLst/>
          </a:prstGeom>
          <a:noFill/>
          <a:ln>
            <a:noFill/>
          </a:ln>
        </p:spPr>
        <p:txBody>
          <a:bodyPr wrap="none" lIns="91430" tIns="45716" rIns="91430" bIns="45716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r>
              <a:rPr lang="en-US" sz="2000">
                <a:latin typeface="Helvetica" charset="0"/>
              </a:rPr>
              <a:t>Skype </a:t>
            </a:r>
            <a:endParaRPr lang="en-US" sz="2000">
              <a:latin typeface="Helvetica" charset="0"/>
            </a:endParaRPr>
          </a:p>
        </p:txBody>
      </p:sp>
      <p:sp>
        <p:nvSpPr>
          <p:cNvPr id="51208" name="Text Box 8"/>
          <p:cNvSpPr txBox="1">
            <a:spLocks noChangeArrowheads="1"/>
          </p:cNvSpPr>
          <p:nvPr/>
        </p:nvSpPr>
        <p:spPr bwMode="auto">
          <a:xfrm>
            <a:off x="3886202" y="3381377"/>
            <a:ext cx="713637" cy="400101"/>
          </a:xfrm>
          <a:prstGeom prst="rect">
            <a:avLst/>
          </a:prstGeom>
          <a:noFill/>
          <a:ln>
            <a:noFill/>
          </a:ln>
        </p:spPr>
        <p:txBody>
          <a:bodyPr wrap="none" lIns="91430" tIns="45716" rIns="91430" bIns="45716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r>
              <a:rPr lang="en-US" sz="2000">
                <a:latin typeface="Helvetica" charset="0"/>
              </a:rPr>
              <a:t>SSH</a:t>
            </a:r>
            <a:endParaRPr lang="en-US" sz="2000">
              <a:latin typeface="Helvetica" charset="0"/>
            </a:endParaRPr>
          </a:p>
        </p:txBody>
      </p:sp>
      <p:sp>
        <p:nvSpPr>
          <p:cNvPr id="51209" name="Text Box 9"/>
          <p:cNvSpPr txBox="1">
            <a:spLocks noChangeArrowheads="1"/>
          </p:cNvSpPr>
          <p:nvPr/>
        </p:nvSpPr>
        <p:spPr bwMode="auto">
          <a:xfrm>
            <a:off x="4868863" y="3381377"/>
            <a:ext cx="699210" cy="400101"/>
          </a:xfrm>
          <a:prstGeom prst="rect">
            <a:avLst/>
          </a:prstGeom>
          <a:noFill/>
          <a:ln>
            <a:noFill/>
          </a:ln>
        </p:spPr>
        <p:txBody>
          <a:bodyPr wrap="none" lIns="91430" tIns="45716" rIns="91430" bIns="45716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r>
              <a:rPr lang="en-US" sz="2000">
                <a:latin typeface="Helvetica" charset="0"/>
              </a:rPr>
              <a:t>NFS</a:t>
            </a:r>
            <a:endParaRPr lang="en-US" sz="2000">
              <a:latin typeface="Helvetica" charset="0"/>
            </a:endParaRPr>
          </a:p>
        </p:txBody>
      </p:sp>
      <p:grpSp>
        <p:nvGrpSpPr>
          <p:cNvPr id="2" name="Group 10"/>
          <p:cNvGrpSpPr/>
          <p:nvPr/>
        </p:nvGrpSpPr>
        <p:grpSpPr bwMode="auto">
          <a:xfrm>
            <a:off x="5867402" y="5089535"/>
            <a:ext cx="1071563" cy="727959"/>
            <a:chOff x="3456" y="2400"/>
            <a:chExt cx="675" cy="267"/>
          </a:xfrm>
        </p:grpSpPr>
        <p:sp>
          <p:nvSpPr>
            <p:cNvPr id="51231" name="Rectangle 11"/>
            <p:cNvSpPr>
              <a:spLocks noChangeArrowheads="1"/>
            </p:cNvSpPr>
            <p:nvPr/>
          </p:nvSpPr>
          <p:spPr bwMode="auto">
            <a:xfrm>
              <a:off x="3456" y="2400"/>
              <a:ext cx="672" cy="135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91430" tIns="45716" rIns="91430" bIns="45716">
              <a:spAutoFit/>
            </a:bodyPr>
            <a:lstStyle/>
            <a:p>
              <a:endParaRPr lang="en-US">
                <a:latin typeface="Helvetica" charset="0"/>
              </a:endParaRPr>
            </a:p>
          </p:txBody>
        </p:sp>
        <p:sp>
          <p:nvSpPr>
            <p:cNvPr id="51232" name="Text Box 12"/>
            <p:cNvSpPr txBox="1">
              <a:spLocks noChangeArrowheads="1"/>
            </p:cNvSpPr>
            <p:nvPr/>
          </p:nvSpPr>
          <p:spPr bwMode="auto">
            <a:xfrm>
              <a:off x="3494" y="2407"/>
              <a:ext cx="637" cy="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9pPr>
            </a:lstStyle>
            <a:p>
              <a:r>
                <a:rPr lang="en-US" sz="2000">
                  <a:latin typeface="Helvetica" charset="0"/>
                </a:rPr>
                <a:t>Packet</a:t>
              </a:r>
              <a:endParaRPr lang="en-US" sz="2000">
                <a:latin typeface="Helvetica" charset="0"/>
              </a:endParaRPr>
            </a:p>
            <a:p>
              <a:r>
                <a:rPr lang="en-US" sz="2000">
                  <a:latin typeface="Helvetica" charset="0"/>
                </a:rPr>
                <a:t>radio</a:t>
              </a:r>
              <a:endParaRPr lang="en-US" sz="2000">
                <a:latin typeface="Helvetica" charset="0"/>
              </a:endParaRPr>
            </a:p>
          </p:txBody>
        </p:sp>
      </p:grpSp>
      <p:sp>
        <p:nvSpPr>
          <p:cNvPr id="51211" name="Rectangle 13"/>
          <p:cNvSpPr>
            <a:spLocks noChangeArrowheads="1"/>
          </p:cNvSpPr>
          <p:nvPr/>
        </p:nvSpPr>
        <p:spPr bwMode="auto">
          <a:xfrm>
            <a:off x="3200400" y="5089525"/>
            <a:ext cx="1143000" cy="762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Helvetica" charset="0"/>
            </a:endParaRPr>
          </a:p>
        </p:txBody>
      </p:sp>
      <p:sp>
        <p:nvSpPr>
          <p:cNvPr id="51212" name="Text Box 14"/>
          <p:cNvSpPr txBox="1">
            <a:spLocks noChangeArrowheads="1"/>
          </p:cNvSpPr>
          <p:nvPr/>
        </p:nvSpPr>
        <p:spPr bwMode="auto">
          <a:xfrm>
            <a:off x="3260727" y="5100638"/>
            <a:ext cx="1167287" cy="707878"/>
          </a:xfrm>
          <a:prstGeom prst="rect">
            <a:avLst/>
          </a:prstGeom>
          <a:noFill/>
          <a:ln>
            <a:noFill/>
          </a:ln>
        </p:spPr>
        <p:txBody>
          <a:bodyPr wrap="none" lIns="91430" tIns="45716" rIns="91430" bIns="45716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r>
              <a:rPr lang="en-US" sz="2000">
                <a:latin typeface="Helvetica" charset="0"/>
              </a:rPr>
              <a:t>Coaxial </a:t>
            </a:r>
            <a:endParaRPr lang="en-US" sz="2000">
              <a:latin typeface="Helvetica" charset="0"/>
            </a:endParaRPr>
          </a:p>
          <a:p>
            <a:r>
              <a:rPr lang="en-US" sz="2000">
                <a:latin typeface="Helvetica" charset="0"/>
              </a:rPr>
              <a:t>cable</a:t>
            </a:r>
            <a:endParaRPr lang="en-US" sz="2000">
              <a:latin typeface="Helvetica" charset="0"/>
            </a:endParaRPr>
          </a:p>
        </p:txBody>
      </p:sp>
      <p:sp>
        <p:nvSpPr>
          <p:cNvPr id="51213" name="Rectangle 15"/>
          <p:cNvSpPr>
            <a:spLocks noChangeArrowheads="1"/>
          </p:cNvSpPr>
          <p:nvPr/>
        </p:nvSpPr>
        <p:spPr bwMode="auto">
          <a:xfrm>
            <a:off x="4648200" y="5089525"/>
            <a:ext cx="990600" cy="762000"/>
          </a:xfrm>
          <a:prstGeom prst="rect">
            <a:avLst/>
          </a:prstGeom>
          <a:solidFill>
            <a:srgbClr val="FFFFCC"/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Helvetica" charset="0"/>
            </a:endParaRPr>
          </a:p>
        </p:txBody>
      </p:sp>
      <p:sp>
        <p:nvSpPr>
          <p:cNvPr id="51214" name="Text Box 16"/>
          <p:cNvSpPr txBox="1">
            <a:spLocks noChangeArrowheads="1"/>
          </p:cNvSpPr>
          <p:nvPr/>
        </p:nvSpPr>
        <p:spPr bwMode="auto">
          <a:xfrm>
            <a:off x="4708527" y="5100640"/>
            <a:ext cx="804863" cy="701675"/>
          </a:xfrm>
          <a:prstGeom prst="rect">
            <a:avLst/>
          </a:prstGeom>
          <a:noFill/>
          <a:ln>
            <a:noFill/>
          </a:ln>
        </p:spPr>
        <p:txBody>
          <a:bodyPr wrap="none" lIns="91430" tIns="45716" rIns="91430" bIns="45716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r>
              <a:rPr lang="en-US" sz="2000">
                <a:latin typeface="Helvetica" charset="0"/>
              </a:rPr>
              <a:t>Fiber</a:t>
            </a:r>
            <a:endParaRPr lang="en-US" sz="2000">
              <a:latin typeface="Helvetica" charset="0"/>
            </a:endParaRPr>
          </a:p>
          <a:p>
            <a:r>
              <a:rPr lang="en-US" sz="2000">
                <a:latin typeface="Helvetica" charset="0"/>
              </a:rPr>
              <a:t>optic</a:t>
            </a:r>
            <a:endParaRPr lang="en-US" sz="2000">
              <a:latin typeface="Helvetica" charset="0"/>
            </a:endParaRPr>
          </a:p>
        </p:txBody>
      </p:sp>
      <p:sp>
        <p:nvSpPr>
          <p:cNvPr id="51215" name="Line 17"/>
          <p:cNvSpPr>
            <a:spLocks noChangeShapeType="1"/>
          </p:cNvSpPr>
          <p:nvPr/>
        </p:nvSpPr>
        <p:spPr bwMode="auto">
          <a:xfrm flipV="1">
            <a:off x="2514600" y="4098927"/>
            <a:ext cx="4343400" cy="15875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16" name="Text Box 18"/>
          <p:cNvSpPr txBox="1">
            <a:spLocks noChangeArrowheads="1"/>
          </p:cNvSpPr>
          <p:nvPr/>
        </p:nvSpPr>
        <p:spPr bwMode="auto">
          <a:xfrm>
            <a:off x="795338" y="3408365"/>
            <a:ext cx="1566862" cy="396875"/>
          </a:xfrm>
          <a:prstGeom prst="rect">
            <a:avLst/>
          </a:prstGeom>
          <a:noFill/>
          <a:ln>
            <a:noFill/>
          </a:ln>
        </p:spPr>
        <p:txBody>
          <a:bodyPr wrap="none" lIns="91430" tIns="45716" rIns="91430" bIns="45716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r>
              <a:rPr lang="en-US" sz="2000">
                <a:latin typeface="Helvetica" charset="0"/>
              </a:rPr>
              <a:t>Application</a:t>
            </a:r>
            <a:endParaRPr lang="en-US" sz="2000">
              <a:latin typeface="Helvetica" charset="0"/>
            </a:endParaRPr>
          </a:p>
        </p:txBody>
      </p:sp>
      <p:sp>
        <p:nvSpPr>
          <p:cNvPr id="51217" name="Text Box 19"/>
          <p:cNvSpPr txBox="1">
            <a:spLocks noChangeArrowheads="1"/>
          </p:cNvSpPr>
          <p:nvPr/>
        </p:nvSpPr>
        <p:spPr bwMode="auto">
          <a:xfrm>
            <a:off x="822325" y="5165727"/>
            <a:ext cx="1835150" cy="701675"/>
          </a:xfrm>
          <a:prstGeom prst="rect">
            <a:avLst/>
          </a:prstGeom>
          <a:noFill/>
          <a:ln>
            <a:noFill/>
          </a:ln>
        </p:spPr>
        <p:txBody>
          <a:bodyPr wrap="none" lIns="91430" tIns="45716" rIns="91430" bIns="45716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r>
              <a:rPr lang="en-US" sz="2000">
                <a:latin typeface="Helvetica" charset="0"/>
              </a:rPr>
              <a:t>Transmission</a:t>
            </a:r>
            <a:endParaRPr lang="en-US" sz="2000">
              <a:latin typeface="Helvetica" charset="0"/>
            </a:endParaRPr>
          </a:p>
          <a:p>
            <a:r>
              <a:rPr lang="en-US" sz="2000">
                <a:latin typeface="Helvetica" charset="0"/>
              </a:rPr>
              <a:t>Media</a:t>
            </a:r>
            <a:endParaRPr lang="en-US" sz="2000">
              <a:latin typeface="Helvetica" charset="0"/>
            </a:endParaRPr>
          </a:p>
        </p:txBody>
      </p:sp>
      <p:grpSp>
        <p:nvGrpSpPr>
          <p:cNvPr id="3" name="Group 20"/>
          <p:cNvGrpSpPr/>
          <p:nvPr/>
        </p:nvGrpSpPr>
        <p:grpSpPr bwMode="auto">
          <a:xfrm>
            <a:off x="5867405" y="3321049"/>
            <a:ext cx="855663" cy="460375"/>
            <a:chOff x="3456" y="1776"/>
            <a:chExt cx="539" cy="290"/>
          </a:xfrm>
        </p:grpSpPr>
        <p:sp>
          <p:nvSpPr>
            <p:cNvPr id="51229" name="Rectangle 21"/>
            <p:cNvSpPr>
              <a:spLocks noChangeArrowheads="1"/>
            </p:cNvSpPr>
            <p:nvPr/>
          </p:nvSpPr>
          <p:spPr bwMode="auto">
            <a:xfrm>
              <a:off x="3463" y="1776"/>
              <a:ext cx="521" cy="23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91430" tIns="45716" rIns="91430" bIns="45716">
              <a:spAutoFit/>
            </a:bodyPr>
            <a:lstStyle/>
            <a:p>
              <a:endParaRPr lang="en-US">
                <a:latin typeface="Helvetica" charset="0"/>
              </a:endParaRPr>
            </a:p>
          </p:txBody>
        </p:sp>
        <p:sp>
          <p:nvSpPr>
            <p:cNvPr id="51230" name="Text Box 22"/>
            <p:cNvSpPr txBox="1">
              <a:spLocks noChangeArrowheads="1"/>
            </p:cNvSpPr>
            <p:nvPr/>
          </p:nvSpPr>
          <p:spPr bwMode="auto">
            <a:xfrm>
              <a:off x="3456" y="1814"/>
              <a:ext cx="539" cy="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9pPr>
            </a:lstStyle>
            <a:p>
              <a:r>
                <a:rPr lang="en-US" sz="2000">
                  <a:latin typeface="Helvetica" charset="0"/>
                </a:rPr>
                <a:t>HTTP</a:t>
              </a:r>
              <a:endParaRPr lang="en-US" sz="2000">
                <a:latin typeface="Helvetica" charset="0"/>
              </a:endParaRPr>
            </a:p>
          </p:txBody>
        </p:sp>
      </p:grpSp>
      <p:sp>
        <p:nvSpPr>
          <p:cNvPr id="51219" name="Rectangle 23"/>
          <p:cNvSpPr>
            <a:spLocks noChangeArrowheads="1"/>
          </p:cNvSpPr>
          <p:nvPr/>
        </p:nvSpPr>
        <p:spPr bwMode="auto">
          <a:xfrm>
            <a:off x="3886200" y="4343400"/>
            <a:ext cx="1447800" cy="228600"/>
          </a:xfrm>
          <a:prstGeom prst="rect">
            <a:avLst/>
          </a:prstGeom>
          <a:solidFill>
            <a:srgbClr val="EAEAEA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Helvetica" charset="0"/>
            </a:endParaRPr>
          </a:p>
        </p:txBody>
      </p:sp>
      <p:sp>
        <p:nvSpPr>
          <p:cNvPr id="51220" name="Line 24"/>
          <p:cNvSpPr>
            <a:spLocks noChangeShapeType="1"/>
          </p:cNvSpPr>
          <p:nvPr/>
        </p:nvSpPr>
        <p:spPr bwMode="auto">
          <a:xfrm flipV="1">
            <a:off x="2514600" y="4784727"/>
            <a:ext cx="4343400" cy="15875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21" name="Text Box 25"/>
          <p:cNvSpPr txBox="1">
            <a:spLocks noChangeArrowheads="1"/>
          </p:cNvSpPr>
          <p:nvPr/>
        </p:nvSpPr>
        <p:spPr bwMode="auto">
          <a:xfrm>
            <a:off x="838200" y="4114802"/>
            <a:ext cx="1765300" cy="701675"/>
          </a:xfrm>
          <a:prstGeom prst="rect">
            <a:avLst/>
          </a:prstGeom>
          <a:noFill/>
          <a:ln>
            <a:noFill/>
          </a:ln>
        </p:spPr>
        <p:txBody>
          <a:bodyPr wrap="none" lIns="91430" tIns="45716" rIns="91430" bIns="45716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r>
              <a:rPr lang="en-US" sz="2000">
                <a:latin typeface="Helvetica" charset="0"/>
              </a:rPr>
              <a:t>Intermediate </a:t>
            </a:r>
            <a:endParaRPr lang="en-US" sz="2000">
              <a:latin typeface="Helvetica" charset="0"/>
            </a:endParaRPr>
          </a:p>
          <a:p>
            <a:r>
              <a:rPr lang="en-US" sz="2000">
                <a:latin typeface="Helvetica" charset="0"/>
              </a:rPr>
              <a:t>layers</a:t>
            </a:r>
            <a:endParaRPr lang="en-US" sz="2000">
              <a:latin typeface="Helvetica" charset="0"/>
            </a:endParaRPr>
          </a:p>
        </p:txBody>
      </p:sp>
      <p:cxnSp>
        <p:nvCxnSpPr>
          <p:cNvPr id="51222" name="AutoShape 26"/>
          <p:cNvCxnSpPr>
            <a:cxnSpLocks noChangeShapeType="1"/>
            <a:stCxn id="51205" idx="2"/>
            <a:endCxn id="51219" idx="0"/>
          </p:cNvCxnSpPr>
          <p:nvPr/>
        </p:nvCxnSpPr>
        <p:spPr bwMode="auto">
          <a:xfrm>
            <a:off x="3200400" y="3787777"/>
            <a:ext cx="1409700" cy="5429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</p:spPr>
      </p:cxnSp>
      <p:cxnSp>
        <p:nvCxnSpPr>
          <p:cNvPr id="51223" name="AutoShape 27"/>
          <p:cNvCxnSpPr>
            <a:cxnSpLocks noChangeShapeType="1"/>
            <a:stCxn id="51206" idx="2"/>
            <a:endCxn id="51219" idx="0"/>
          </p:cNvCxnSpPr>
          <p:nvPr/>
        </p:nvCxnSpPr>
        <p:spPr bwMode="auto">
          <a:xfrm>
            <a:off x="4229100" y="3787777"/>
            <a:ext cx="381000" cy="5429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</p:spPr>
      </p:cxnSp>
      <p:cxnSp>
        <p:nvCxnSpPr>
          <p:cNvPr id="51224" name="AutoShape 28"/>
          <p:cNvCxnSpPr>
            <a:cxnSpLocks noChangeShapeType="1"/>
            <a:stCxn id="51204" idx="2"/>
            <a:endCxn id="51219" idx="0"/>
          </p:cNvCxnSpPr>
          <p:nvPr/>
        </p:nvCxnSpPr>
        <p:spPr bwMode="auto">
          <a:xfrm flipH="1">
            <a:off x="4610100" y="3787777"/>
            <a:ext cx="609600" cy="5429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</p:spPr>
      </p:cxnSp>
      <p:cxnSp>
        <p:nvCxnSpPr>
          <p:cNvPr id="51225" name="AutoShape 29"/>
          <p:cNvCxnSpPr>
            <a:cxnSpLocks noChangeShapeType="1"/>
            <a:stCxn id="51219" idx="2"/>
            <a:endCxn id="51211" idx="0"/>
          </p:cNvCxnSpPr>
          <p:nvPr/>
        </p:nvCxnSpPr>
        <p:spPr bwMode="auto">
          <a:xfrm flipH="1">
            <a:off x="3771900" y="4584700"/>
            <a:ext cx="838200" cy="4953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</p:spPr>
      </p:cxnSp>
      <p:cxnSp>
        <p:nvCxnSpPr>
          <p:cNvPr id="51226" name="AutoShape 30"/>
          <p:cNvCxnSpPr>
            <a:cxnSpLocks noChangeShapeType="1"/>
            <a:stCxn id="51219" idx="2"/>
            <a:endCxn id="51213" idx="0"/>
          </p:cNvCxnSpPr>
          <p:nvPr/>
        </p:nvCxnSpPr>
        <p:spPr bwMode="auto">
          <a:xfrm>
            <a:off x="4610100" y="4584700"/>
            <a:ext cx="533400" cy="4953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</p:spPr>
      </p:cxnSp>
      <p:cxnSp>
        <p:nvCxnSpPr>
          <p:cNvPr id="1262623" name="AutoShape 31"/>
          <p:cNvCxnSpPr>
            <a:cxnSpLocks noChangeShapeType="1"/>
            <a:stCxn id="51229" idx="2"/>
            <a:endCxn id="51219" idx="0"/>
          </p:cNvCxnSpPr>
          <p:nvPr/>
        </p:nvCxnSpPr>
        <p:spPr bwMode="auto">
          <a:xfrm flipH="1">
            <a:off x="4610101" y="3690936"/>
            <a:ext cx="1681961" cy="652464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</p:spPr>
      </p:cxnSp>
      <p:cxnSp>
        <p:nvCxnSpPr>
          <p:cNvPr id="1262624" name="AutoShape 32"/>
          <p:cNvCxnSpPr>
            <a:cxnSpLocks noChangeShapeType="1"/>
            <a:stCxn id="51219" idx="2"/>
            <a:endCxn id="51231" idx="0"/>
          </p:cNvCxnSpPr>
          <p:nvPr/>
        </p:nvCxnSpPr>
        <p:spPr bwMode="auto">
          <a:xfrm>
            <a:off x="4610101" y="4572000"/>
            <a:ext cx="1790701" cy="517534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  <a:tailEnd type="triangle" w="med" len="med"/>
          </a:ln>
        </p:spPr>
      </p:cxnSp>
      <p:sp>
        <p:nvSpPr>
          <p:cNvPr id="33" name="圆角矩形 32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2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2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buFontTx/>
              <a:buNone/>
            </a:pPr>
            <a:r>
              <a:rPr lang="en-US">
                <a:latin typeface="Helvetica" charset="0"/>
                <a:ea typeface="MS PGothic" panose="020B0600070205080204" charset="-128"/>
              </a:rPr>
              <a:t>Partition system into modules &amp; abstractions:</a:t>
            </a:r>
            <a:endParaRPr lang="en-US">
              <a:latin typeface="Helvetica" charset="0"/>
              <a:ea typeface="MS PGothic" panose="020B0600070205080204" charset="-128"/>
            </a:endParaRPr>
          </a:p>
          <a:p>
            <a:pPr>
              <a:lnSpc>
                <a:spcPct val="100000"/>
              </a:lnSpc>
            </a:pPr>
            <a:r>
              <a:rPr lang="en-US">
                <a:latin typeface="Helvetica" charset="0"/>
                <a:ea typeface="MS PGothic" panose="020B0600070205080204" charset="-128"/>
              </a:rPr>
              <a:t>Well-defined interfaces give flexibility</a:t>
            </a:r>
            <a:endParaRPr lang="en-US">
              <a:latin typeface="Helvetica" charset="0"/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r>
              <a:rPr lang="en-US" sz="2000" b="1" i="1">
                <a:latin typeface="Helvetica" charset="0"/>
                <a:ea typeface="MS PGothic" panose="020B0600070205080204" charset="-128"/>
              </a:rPr>
              <a:t>Hides</a:t>
            </a:r>
            <a:r>
              <a:rPr lang="en-US" sz="2000">
                <a:latin typeface="Helvetica" charset="0"/>
                <a:ea typeface="MS PGothic" panose="020B0600070205080204" charset="-128"/>
              </a:rPr>
              <a:t> implementation - thus, it can be freely changed</a:t>
            </a:r>
            <a:endParaRPr lang="en-US" sz="2000">
              <a:latin typeface="Helvetica" charset="0"/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r>
              <a:rPr lang="en-US" sz="2000">
                <a:latin typeface="Helvetica" charset="0"/>
                <a:ea typeface="MS PGothic" panose="020B0600070205080204" charset="-128"/>
              </a:rPr>
              <a:t>Extend functionality of system by adding new modules</a:t>
            </a:r>
            <a:endParaRPr lang="en-US" sz="2000">
              <a:latin typeface="Helvetica" charset="0"/>
              <a:ea typeface="MS PGothic" panose="020B0600070205080204" charset="-128"/>
            </a:endParaRPr>
          </a:p>
          <a:p>
            <a:pPr>
              <a:lnSpc>
                <a:spcPct val="100000"/>
              </a:lnSpc>
            </a:pPr>
            <a:r>
              <a:rPr lang="en-US">
                <a:latin typeface="Helvetica" charset="0"/>
                <a:ea typeface="MS PGothic" panose="020B0600070205080204" charset="-128"/>
              </a:rPr>
              <a:t>E.g., libraries encapsulating set of functionality</a:t>
            </a:r>
            <a:endParaRPr lang="en-US">
              <a:latin typeface="Helvetica" charset="0"/>
              <a:ea typeface="MS PGothic" panose="020B0600070205080204" charset="-128"/>
            </a:endParaRPr>
          </a:p>
          <a:p>
            <a:pPr>
              <a:lnSpc>
                <a:spcPct val="100000"/>
              </a:lnSpc>
            </a:pPr>
            <a:r>
              <a:rPr lang="en-US">
                <a:latin typeface="Helvetica" charset="0"/>
                <a:ea typeface="MS PGothic" panose="020B0600070205080204" charset="-128"/>
              </a:rPr>
              <a:t>E.g., programming language + compiler abstracts away not only how the particular CPU works …</a:t>
            </a:r>
            <a:endParaRPr lang="en-US">
              <a:latin typeface="Helvetica" charset="0"/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r>
              <a:rPr lang="en-US" sz="2000">
                <a:latin typeface="Helvetica" charset="0"/>
                <a:ea typeface="MS PGothic" panose="020B0600070205080204" charset="-128"/>
              </a:rPr>
              <a:t>… but also the </a:t>
            </a:r>
            <a:r>
              <a:rPr lang="en-US" sz="200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basic computational model </a:t>
            </a:r>
            <a:endParaRPr lang="en-US" sz="2000">
              <a:latin typeface="Helvetica" charset="0"/>
              <a:ea typeface="MS PGothic" panose="020B0600070205080204" charset="-128"/>
            </a:endParaRPr>
          </a:p>
          <a:p>
            <a:pPr>
              <a:lnSpc>
                <a:spcPct val="100000"/>
              </a:lnSpc>
            </a:pPr>
            <a:r>
              <a:rPr lang="en-US">
                <a:latin typeface="Helvetica" charset="0"/>
                <a:ea typeface="MS PGothic" panose="020B0600070205080204" charset="-128"/>
              </a:rPr>
              <a:t>Well-defined interfaces hide information</a:t>
            </a:r>
            <a:endParaRPr lang="en-US">
              <a:latin typeface="Helvetica" charset="0"/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r>
              <a:rPr lang="en-US" sz="2000">
                <a:latin typeface="Helvetica" charset="0"/>
                <a:ea typeface="MS PGothic" panose="020B0600070205080204" charset="-128"/>
              </a:rPr>
              <a:t>Present high-level </a:t>
            </a:r>
            <a:r>
              <a:rPr lang="en-US" sz="200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abstractions</a:t>
            </a:r>
            <a:endParaRPr lang="en-US" sz="2000">
              <a:latin typeface="Helvetica" charset="0"/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r>
              <a:rPr lang="en-US" sz="2000" b="1">
                <a:latin typeface="Helvetica" charset="0"/>
                <a:ea typeface="MS PGothic" panose="020B0600070205080204" charset="-128"/>
              </a:rPr>
              <a:t>But can impair performance</a:t>
            </a:r>
            <a:endParaRPr lang="en-US" sz="200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>
                <a:latin typeface="Helvetica" charset="0"/>
                <a:ea typeface="MS PGothic" panose="020B0600070205080204" charset="-128"/>
              </a:rPr>
              <a:t>Software System Modularity</a:t>
            </a:r>
            <a:endParaRPr lang="en-US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圆角矩形 3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608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7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2"/>
            <a:ext cx="8229600" cy="404336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dirty="0">
                <a:latin typeface="Helvetica" charset="0"/>
                <a:ea typeface="MS PGothic" panose="020B0600070205080204" charset="-128"/>
              </a:rPr>
              <a:t>Like software modularity, but:</a:t>
            </a:r>
            <a:endParaRPr lang="en-US" altLang="zh-CN" dirty="0">
              <a:latin typeface="Helvetica" charset="0"/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latin typeface="Helvetica" charset="0"/>
                <a:ea typeface="MS PGothic" panose="020B0600070205080204" charset="-128"/>
              </a:rPr>
              <a:t>Implementation distributed across many machines (routers and hosts)</a:t>
            </a:r>
            <a:endParaRPr lang="en-US" altLang="zh-CN" dirty="0">
              <a:latin typeface="Helvetica" charset="0"/>
              <a:ea typeface="MS PGothic" panose="020B0600070205080204" charset="-128"/>
            </a:endParaRPr>
          </a:p>
          <a:p>
            <a:pPr marL="0" indent="0">
              <a:buNone/>
            </a:pPr>
            <a:endParaRPr lang="en-US" dirty="0">
              <a:latin typeface="Helvetica" charset="0"/>
              <a:ea typeface="MS PGothic" panose="020B0600070205080204" charset="-128"/>
            </a:endParaRPr>
          </a:p>
          <a:p>
            <a:r>
              <a:rPr lang="en-US" dirty="0">
                <a:latin typeface="Helvetica" charset="0"/>
                <a:ea typeface="MS PGothic" panose="020B0600070205080204" charset="-128"/>
              </a:rPr>
              <a:t>Partition the system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dirty="0">
                <a:latin typeface="Helvetica" charset="0"/>
                <a:ea typeface="MS PGothic" panose="020B0600070205080204" charset="-128"/>
              </a:rPr>
              <a:t>Each layer </a:t>
            </a:r>
            <a:r>
              <a:rPr lang="en-US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solely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 relies on services from layer below 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dirty="0">
                <a:latin typeface="Helvetica" charset="0"/>
                <a:ea typeface="MS PGothic" panose="020B0600070205080204" charset="-128"/>
              </a:rPr>
              <a:t>Each layer </a:t>
            </a:r>
            <a:r>
              <a:rPr lang="en-US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solely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 exports services to layer above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marL="0" indent="0">
              <a:buNone/>
            </a:pPr>
            <a:endParaRPr lang="en-US" dirty="0">
              <a:latin typeface="Helvetica" charset="0"/>
              <a:ea typeface="MS PGothic" panose="020B0600070205080204" charset="-128"/>
            </a:endParaRPr>
          </a:p>
          <a:p>
            <a:r>
              <a:rPr lang="en-US" dirty="0">
                <a:latin typeface="Helvetica" charset="0"/>
                <a:ea typeface="MS PGothic" panose="020B0600070205080204" charset="-128"/>
              </a:rPr>
              <a:t>Interface between layers defines interaction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dirty="0">
                <a:latin typeface="Helvetica" charset="0"/>
                <a:ea typeface="MS PGothic" panose="020B0600070205080204" charset="-128"/>
              </a:rPr>
              <a:t>Hides implementation details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dirty="0">
                <a:latin typeface="Helvetica" charset="0"/>
                <a:ea typeface="MS PGothic" panose="020B0600070205080204" charset="-128"/>
              </a:rPr>
              <a:t>Layers can change without disturbing other layers</a:t>
            </a:r>
            <a:endParaRPr lang="en-US" sz="2800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162800" cy="533400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panose="020B0600070205080204" charset="-128"/>
              </a:rPr>
              <a:t>Layering: A Modular Approach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in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Networking</a:t>
            </a:r>
            <a:endParaRPr lang="en-US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圆角矩形 3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0787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8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54115"/>
            <a:ext cx="8305800" cy="3798887"/>
          </a:xfrm>
        </p:spPr>
        <p:txBody>
          <a:bodyPr/>
          <a:lstStyle/>
          <a:p>
            <a:r>
              <a:rPr lang="en-US" b="1" dirty="0">
                <a:latin typeface="Helvetica" charset="0"/>
                <a:ea typeface="MS PGothic" panose="020B0600070205080204" charset="-128"/>
              </a:rPr>
              <a:t>Service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: </a:t>
            </a:r>
            <a:r>
              <a:rPr lang="en-US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what 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a layer does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(functionality)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r>
              <a:rPr lang="en-US" b="1" dirty="0">
                <a:latin typeface="Helvetica" charset="0"/>
                <a:ea typeface="MS PGothic" panose="020B0600070205080204" charset="-128"/>
              </a:rPr>
              <a:t>Service interface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: </a:t>
            </a:r>
            <a:r>
              <a:rPr lang="en-US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how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 to </a:t>
            </a:r>
            <a:r>
              <a:rPr lang="en-US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access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 the service 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dirty="0">
                <a:latin typeface="Helvetica" charset="0"/>
                <a:ea typeface="MS PGothic" panose="020B0600070205080204" charset="-128"/>
              </a:rPr>
              <a:t>Interface for layer above 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endParaRPr lang="en-US" b="1" dirty="0">
              <a:latin typeface="Helvetica" charset="0"/>
              <a:ea typeface="MS PGothic" panose="020B0600070205080204" charset="-128"/>
            </a:endParaRPr>
          </a:p>
          <a:p>
            <a:r>
              <a:rPr lang="en-US" b="1" dirty="0">
                <a:latin typeface="Helvetica" charset="0"/>
                <a:ea typeface="MS PGothic" panose="020B0600070205080204" charset="-128"/>
              </a:rPr>
              <a:t>Protocol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: </a:t>
            </a:r>
            <a:r>
              <a:rPr lang="en-US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how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 peers communicate to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use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 the service</a:t>
            </a:r>
            <a:endParaRPr lang="en-US" dirty="0">
              <a:solidFill>
                <a:srgbClr val="FF0000"/>
              </a:solidFill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dirty="0">
                <a:latin typeface="Helvetica" charset="0"/>
                <a:ea typeface="MS PGothic" panose="020B0600070205080204" charset="-128"/>
              </a:rPr>
              <a:t>Set of rules and formats that specify the communication between network elements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dirty="0">
                <a:latin typeface="Helvetica" charset="0"/>
                <a:ea typeface="MS PGothic" panose="020B0600070205080204" charset="-128"/>
              </a:rPr>
              <a:t>Does </a:t>
            </a:r>
            <a:r>
              <a:rPr lang="en-US" b="1" i="1" dirty="0">
                <a:latin typeface="Helvetica" charset="0"/>
                <a:ea typeface="MS PGothic" panose="020B0600070205080204" charset="-128"/>
              </a:rPr>
              <a:t>not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 specify the implementation on a single machine, but how the layer is implemented </a:t>
            </a:r>
            <a:r>
              <a:rPr lang="en-US" b="1" i="1" dirty="0">
                <a:latin typeface="Helvetica" charset="0"/>
                <a:ea typeface="MS PGothic" panose="020B0600070205080204" charset="-128"/>
              </a:rPr>
              <a:t>between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 machines</a:t>
            </a:r>
            <a:endParaRPr lang="en-US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>
                <a:latin typeface="Helvetica" charset="0"/>
                <a:ea typeface="MS PGothic" panose="020B0600070205080204" charset="-128"/>
              </a:rPr>
              <a:t>Properties of Layers</a:t>
            </a:r>
            <a:endParaRPr lang="en-US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圆角矩形 3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2835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4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</a:pPr>
            <a:r>
              <a:rPr lang="en-US" dirty="0">
                <a:latin typeface="Helvetica" charset="0"/>
                <a:ea typeface="MS PGothic" panose="020B0600070205080204" charset="-128"/>
              </a:rPr>
              <a:t>Ensure communicating hosts speak the same protocol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 eaLnBrk="1" hangingPunct="1">
              <a:lnSpc>
                <a:spcPct val="100000"/>
              </a:lnSpc>
            </a:pPr>
            <a:r>
              <a:rPr lang="en-US" sz="2000" dirty="0">
                <a:latin typeface="Helvetica" charset="0"/>
                <a:ea typeface="MS PGothic" panose="020B0600070205080204" charset="-128"/>
              </a:rPr>
              <a:t>Standardization to enable multiple implementations</a:t>
            </a:r>
            <a:endParaRPr lang="en-US" sz="2000" dirty="0">
              <a:latin typeface="Helvetica" charset="0"/>
              <a:ea typeface="MS PGothic" panose="020B0600070205080204" charset="-128"/>
            </a:endParaRPr>
          </a:p>
          <a:p>
            <a:pPr lvl="1" eaLnBrk="1" hangingPunct="1">
              <a:lnSpc>
                <a:spcPct val="100000"/>
              </a:lnSpc>
            </a:pPr>
            <a:r>
              <a:rPr lang="en-US" sz="2000" dirty="0">
                <a:latin typeface="Helvetica" charset="0"/>
                <a:ea typeface="MS PGothic" panose="020B0600070205080204" charset="-128"/>
              </a:rPr>
              <a:t>Or, the same folks have to write all the software</a:t>
            </a:r>
            <a:endParaRPr lang="en-US" sz="2000" dirty="0">
              <a:latin typeface="Helvetica" charset="0"/>
              <a:ea typeface="MS PGothic" panose="020B0600070205080204" charset="-128"/>
            </a:endParaRPr>
          </a:p>
          <a:p>
            <a:pPr eaLnBrk="1" hangingPunct="1">
              <a:lnSpc>
                <a:spcPct val="100000"/>
              </a:lnSpc>
            </a:pPr>
            <a:r>
              <a:rPr lang="en-US" dirty="0">
                <a:latin typeface="Helvetica" charset="0"/>
                <a:ea typeface="MS PGothic" panose="020B0600070205080204" charset="-128"/>
              </a:rPr>
              <a:t>Standardization: Internet Engineering Task Force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 eaLnBrk="1" hangingPunct="1">
              <a:lnSpc>
                <a:spcPct val="100000"/>
              </a:lnSpc>
            </a:pPr>
            <a:r>
              <a:rPr lang="en-US" sz="2000" dirty="0">
                <a:latin typeface="Helvetica" charset="0"/>
                <a:ea typeface="MS PGothic" panose="020B0600070205080204" charset="-128"/>
              </a:rPr>
              <a:t>Based on working groups that focus on specific issues</a:t>
            </a:r>
            <a:endParaRPr lang="en-US" sz="2000" dirty="0">
              <a:latin typeface="Helvetica" charset="0"/>
              <a:ea typeface="MS PGothic" panose="020B0600070205080204" charset="-128"/>
            </a:endParaRPr>
          </a:p>
          <a:p>
            <a:pPr lvl="1" eaLnBrk="1" hangingPunct="1">
              <a:lnSpc>
                <a:spcPct val="100000"/>
              </a:lnSpc>
            </a:pPr>
            <a:r>
              <a:rPr lang="en-US" sz="2000" dirty="0">
                <a:latin typeface="Helvetica" charset="0"/>
                <a:ea typeface="MS PGothic" panose="020B0600070205080204" charset="-128"/>
              </a:rPr>
              <a:t>Produces </a:t>
            </a:r>
            <a:r>
              <a:rPr lang="ja-JP" altLang="en-US" sz="2000" dirty="0">
                <a:latin typeface="Helvetica" charset="0"/>
                <a:ea typeface="MS PGothic" panose="020B0600070205080204" charset="-128"/>
              </a:rPr>
              <a:t>“</a:t>
            </a:r>
            <a:r>
              <a:rPr lang="en-US" altLang="ja-JP" sz="2000" dirty="0">
                <a:latin typeface="Helvetica" charset="0"/>
                <a:ea typeface="MS PGothic" panose="020B0600070205080204" charset="-128"/>
              </a:rPr>
              <a:t>Request For Comments</a:t>
            </a:r>
            <a:r>
              <a:rPr lang="ja-JP" altLang="en-US" sz="2000" dirty="0">
                <a:latin typeface="Helvetica" charset="0"/>
                <a:ea typeface="MS PGothic" panose="020B0600070205080204" charset="-128"/>
              </a:rPr>
              <a:t>”</a:t>
            </a:r>
            <a:r>
              <a:rPr lang="en-US" altLang="ja-JP" sz="2000" dirty="0">
                <a:latin typeface="Helvetica" charset="0"/>
                <a:ea typeface="MS PGothic" panose="020B0600070205080204" charset="-128"/>
              </a:rPr>
              <a:t> (RFCs)</a:t>
            </a:r>
            <a:endParaRPr lang="en-US" altLang="ja-JP" sz="2000" dirty="0">
              <a:latin typeface="Helvetica" charset="0"/>
              <a:ea typeface="MS PGothic" panose="020B0600070205080204" charset="-128"/>
            </a:endParaRPr>
          </a:p>
          <a:p>
            <a:pPr lvl="2" eaLnBrk="1" hangingPunct="1">
              <a:lnSpc>
                <a:spcPct val="100000"/>
              </a:lnSpc>
            </a:pPr>
            <a:r>
              <a:rPr lang="en-US" sz="1800" dirty="0">
                <a:latin typeface="Helvetica" charset="0"/>
                <a:ea typeface="MS PGothic" panose="020B0600070205080204" charset="-128"/>
              </a:rPr>
              <a:t>Promoted to standards via rough consensus and running code</a:t>
            </a:r>
            <a:endParaRPr lang="en-US" sz="1800" dirty="0">
              <a:latin typeface="Helvetica" charset="0"/>
              <a:ea typeface="MS PGothic" panose="020B0600070205080204" charset="-128"/>
            </a:endParaRPr>
          </a:p>
          <a:p>
            <a:pPr lvl="1" eaLnBrk="1" hangingPunct="1">
              <a:lnSpc>
                <a:spcPct val="100000"/>
              </a:lnSpc>
            </a:pPr>
            <a:r>
              <a:rPr lang="en-US" sz="2000" dirty="0">
                <a:latin typeface="Helvetica" charset="0"/>
                <a:ea typeface="MS PGothic" panose="020B0600070205080204" charset="-128"/>
              </a:rPr>
              <a:t>IETF Web site is </a:t>
            </a:r>
            <a:r>
              <a:rPr lang="en-US" sz="2000" b="1" i="1" dirty="0">
                <a:latin typeface="Helvetica" charset="0"/>
                <a:ea typeface="MS PGothic" panose="020B0600070205080204" charset="-128"/>
                <a:hlinkClick r:id="rId1"/>
              </a:rPr>
              <a:t>http://www.ietf.org/</a:t>
            </a:r>
            <a:r>
              <a:rPr lang="en-US" sz="2000" b="1" i="1" dirty="0">
                <a:latin typeface="Helvetica" charset="0"/>
                <a:ea typeface="MS PGothic" panose="020B0600070205080204" charset="-128"/>
              </a:rPr>
              <a:t> </a:t>
            </a:r>
            <a:endParaRPr lang="en-US" sz="2000" dirty="0">
              <a:latin typeface="Helvetica" charset="0"/>
              <a:ea typeface="MS PGothic" panose="020B0600070205080204" charset="-128"/>
            </a:endParaRPr>
          </a:p>
          <a:p>
            <a:pPr lvl="1" eaLnBrk="1" hangingPunct="1">
              <a:lnSpc>
                <a:spcPct val="100000"/>
              </a:lnSpc>
            </a:pPr>
            <a:r>
              <a:rPr lang="en-US" sz="2000" dirty="0">
                <a:latin typeface="Helvetica" charset="0"/>
                <a:ea typeface="MS PGothic" panose="020B0600070205080204" charset="-128"/>
              </a:rPr>
              <a:t>RFCs archived at </a:t>
            </a:r>
            <a:r>
              <a:rPr lang="en-US" sz="2000" b="1" i="1" dirty="0">
                <a:latin typeface="Helvetica" charset="0"/>
                <a:ea typeface="MS PGothic" panose="020B0600070205080204" charset="-128"/>
                <a:hlinkClick r:id="rId2"/>
              </a:rPr>
              <a:t>http://www.rfc-editor.org/</a:t>
            </a:r>
            <a:r>
              <a:rPr lang="en-US" sz="2000" b="1" i="1" dirty="0">
                <a:latin typeface="Helvetica" charset="0"/>
                <a:ea typeface="MS PGothic" panose="020B0600070205080204" charset="-128"/>
              </a:rPr>
              <a:t> </a:t>
            </a:r>
            <a:endParaRPr lang="en-US" sz="2000" dirty="0">
              <a:latin typeface="Helvetica" charset="0"/>
              <a:ea typeface="MS PGothic" panose="020B0600070205080204" charset="-128"/>
            </a:endParaRPr>
          </a:p>
          <a:p>
            <a:pPr eaLnBrk="1" hangingPunct="1">
              <a:lnSpc>
                <a:spcPct val="100000"/>
              </a:lnSpc>
            </a:pPr>
            <a:r>
              <a:rPr lang="en-US" i="1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De facto 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standards: same folks writing the code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 eaLnBrk="1" hangingPunct="1">
              <a:lnSpc>
                <a:spcPct val="100000"/>
              </a:lnSpc>
            </a:pPr>
            <a:r>
              <a:rPr lang="en-US" sz="2000" dirty="0">
                <a:latin typeface="Helvetica" charset="0"/>
                <a:ea typeface="MS PGothic" panose="020B0600070205080204" charset="-128"/>
              </a:rPr>
              <a:t>P2P file sharing, Skype, &lt;your protocol here&gt;…</a:t>
            </a:r>
            <a:endParaRPr lang="en-US" sz="2000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pPr eaLnBrk="1" hangingPunct="1"/>
            <a:r>
              <a:rPr lang="en-US">
                <a:latin typeface="Helvetica" charset="0"/>
                <a:ea typeface="MS PGothic" panose="020B0600070205080204" charset="-128"/>
              </a:rPr>
              <a:t>Protocol Standardization</a:t>
            </a:r>
            <a:endParaRPr lang="en-US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圆角矩形 3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8451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6400800" cy="5105400"/>
          </a:xfrm>
        </p:spPr>
        <p:txBody>
          <a:bodyPr/>
          <a:lstStyle/>
          <a:p>
            <a:r>
              <a:rPr lang="en-US">
                <a:latin typeface="Helvetica" charset="0"/>
                <a:ea typeface="MS PGothic" panose="020B0600070205080204" charset="-128"/>
              </a:rPr>
              <a:t>Open Systems Interconnection (OSI) model</a:t>
            </a:r>
            <a:endParaRPr lang="en-US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>
                <a:latin typeface="Helvetica" charset="0"/>
                <a:ea typeface="MS PGothic" panose="020B0600070205080204" charset="-128"/>
              </a:rPr>
              <a:t>Developed by International Organization for Standardization (ISO) in 1984</a:t>
            </a:r>
            <a:endParaRPr lang="en-US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b="1">
                <a:latin typeface="Helvetica" charset="0"/>
                <a:ea typeface="MS PGothic" panose="020B0600070205080204" charset="-128"/>
              </a:rPr>
              <a:t>Seven </a:t>
            </a:r>
            <a:r>
              <a:rPr lang="en-US">
                <a:latin typeface="Helvetica" charset="0"/>
                <a:ea typeface="MS PGothic" panose="020B0600070205080204" charset="-128"/>
              </a:rPr>
              <a:t>layers </a:t>
            </a:r>
            <a:endParaRPr lang="en-US">
              <a:latin typeface="Helvetica" charset="0"/>
              <a:ea typeface="MS PGothic" panose="020B0600070205080204" charset="-128"/>
            </a:endParaRPr>
          </a:p>
          <a:p>
            <a:endParaRPr lang="en-US">
              <a:latin typeface="Helvetica" charset="0"/>
              <a:ea typeface="MS PGothic" panose="020B0600070205080204" charset="-128"/>
            </a:endParaRPr>
          </a:p>
          <a:p>
            <a:r>
              <a:rPr lang="en-US">
                <a:latin typeface="Helvetica" charset="0"/>
                <a:ea typeface="MS PGothic" panose="020B0600070205080204" charset="-128"/>
              </a:rPr>
              <a:t>Internet Protocol (IP)</a:t>
            </a:r>
            <a:endParaRPr lang="en-US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>
                <a:latin typeface="Helvetica" charset="0"/>
                <a:ea typeface="MS PGothic" panose="020B0600070205080204" charset="-128"/>
              </a:rPr>
              <a:t>Only </a:t>
            </a:r>
            <a:r>
              <a:rPr lang="en-US" b="1">
                <a:latin typeface="Helvetica" charset="0"/>
                <a:ea typeface="MS PGothic" panose="020B0600070205080204" charset="-128"/>
              </a:rPr>
              <a:t>five</a:t>
            </a:r>
            <a:r>
              <a:rPr lang="en-US">
                <a:latin typeface="Helvetica" charset="0"/>
                <a:ea typeface="MS PGothic" panose="020B0600070205080204" charset="-128"/>
              </a:rPr>
              <a:t> layers</a:t>
            </a:r>
            <a:endParaRPr lang="en-US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>
                <a:latin typeface="Helvetica" charset="0"/>
                <a:ea typeface="MS PGothic" panose="020B0600070205080204" charset="-128"/>
              </a:rPr>
              <a:t>The functionalities of the missing layers (i.e., Presentation and Session) are provided by the Application layer</a:t>
            </a:r>
            <a:endParaRPr lang="en-US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>
                <a:latin typeface="Helvetica" charset="0"/>
                <a:ea typeface="MS PGothic" panose="020B0600070205080204" charset="-128"/>
              </a:rPr>
              <a:t>OSI Layering Model</a:t>
            </a:r>
            <a:endParaRPr lang="en-US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6388" name="Rectangle 14"/>
          <p:cNvSpPr>
            <a:spLocks noChangeArrowheads="1"/>
          </p:cNvSpPr>
          <p:nvPr/>
        </p:nvSpPr>
        <p:spPr bwMode="auto">
          <a:xfrm>
            <a:off x="6907215" y="2798765"/>
            <a:ext cx="1931987" cy="5746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Transport</a:t>
            </a:r>
            <a:endParaRPr lang="en-US">
              <a:latin typeface="Helvetica" charset="0"/>
            </a:endParaRPr>
          </a:p>
        </p:txBody>
      </p:sp>
      <p:sp>
        <p:nvSpPr>
          <p:cNvPr id="16389" name="Rectangle 15"/>
          <p:cNvSpPr>
            <a:spLocks noChangeArrowheads="1"/>
          </p:cNvSpPr>
          <p:nvPr/>
        </p:nvSpPr>
        <p:spPr bwMode="auto">
          <a:xfrm>
            <a:off x="6907215" y="3373438"/>
            <a:ext cx="1931987" cy="57626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Network</a:t>
            </a:r>
            <a:endParaRPr lang="en-US">
              <a:latin typeface="Helvetica" charset="0"/>
            </a:endParaRPr>
          </a:p>
        </p:txBody>
      </p:sp>
      <p:sp>
        <p:nvSpPr>
          <p:cNvPr id="16390" name="Rectangle 16"/>
          <p:cNvSpPr>
            <a:spLocks noChangeArrowheads="1"/>
          </p:cNvSpPr>
          <p:nvPr/>
        </p:nvSpPr>
        <p:spPr bwMode="auto">
          <a:xfrm>
            <a:off x="6907215" y="3949700"/>
            <a:ext cx="1931987" cy="577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Datalink</a:t>
            </a:r>
            <a:endParaRPr lang="en-US">
              <a:latin typeface="Helvetica" charset="0"/>
            </a:endParaRPr>
          </a:p>
        </p:txBody>
      </p:sp>
      <p:sp>
        <p:nvSpPr>
          <p:cNvPr id="16391" name="Rectangle 18"/>
          <p:cNvSpPr>
            <a:spLocks noChangeArrowheads="1"/>
          </p:cNvSpPr>
          <p:nvPr/>
        </p:nvSpPr>
        <p:spPr bwMode="auto">
          <a:xfrm>
            <a:off x="6907215" y="2222502"/>
            <a:ext cx="1931987" cy="576263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ot"/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folHlink"/>
                </a:solidFill>
                <a:latin typeface="Helvetica" charset="0"/>
              </a:rPr>
              <a:t>Session</a:t>
            </a:r>
            <a:endParaRPr lang="en-US">
              <a:solidFill>
                <a:schemeClr val="folHlink"/>
              </a:solidFill>
              <a:latin typeface="Helvetica" charset="0"/>
            </a:endParaRPr>
          </a:p>
        </p:txBody>
      </p:sp>
      <p:sp>
        <p:nvSpPr>
          <p:cNvPr id="16392" name="Rectangle 19"/>
          <p:cNvSpPr>
            <a:spLocks noChangeArrowheads="1"/>
          </p:cNvSpPr>
          <p:nvPr/>
        </p:nvSpPr>
        <p:spPr bwMode="auto">
          <a:xfrm>
            <a:off x="6907215" y="1644650"/>
            <a:ext cx="1931987" cy="577850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ot"/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folHlink"/>
                </a:solidFill>
                <a:latin typeface="Helvetica" charset="0"/>
              </a:rPr>
              <a:t>Presentation</a:t>
            </a:r>
            <a:endParaRPr lang="en-US">
              <a:solidFill>
                <a:schemeClr val="folHlink"/>
              </a:solidFill>
              <a:latin typeface="Helvetica" charset="0"/>
            </a:endParaRPr>
          </a:p>
        </p:txBody>
      </p:sp>
      <p:sp>
        <p:nvSpPr>
          <p:cNvPr id="16393" name="Rectangle 20"/>
          <p:cNvSpPr>
            <a:spLocks noChangeArrowheads="1"/>
          </p:cNvSpPr>
          <p:nvPr/>
        </p:nvSpPr>
        <p:spPr bwMode="auto">
          <a:xfrm>
            <a:off x="6907215" y="1066800"/>
            <a:ext cx="1931987" cy="577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Application</a:t>
            </a:r>
            <a:endParaRPr lang="en-US">
              <a:latin typeface="Helvetica" charset="0"/>
            </a:endParaRPr>
          </a:p>
        </p:txBody>
      </p:sp>
      <p:sp>
        <p:nvSpPr>
          <p:cNvPr id="16394" name="Rectangle 16"/>
          <p:cNvSpPr>
            <a:spLocks noChangeArrowheads="1"/>
          </p:cNvSpPr>
          <p:nvPr/>
        </p:nvSpPr>
        <p:spPr bwMode="auto">
          <a:xfrm>
            <a:off x="6907215" y="4527550"/>
            <a:ext cx="1931987" cy="577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Physical</a:t>
            </a:r>
            <a:endParaRPr lang="en-US">
              <a:latin typeface="Helvetica" charset="0"/>
            </a:endParaRPr>
          </a:p>
        </p:txBody>
      </p:sp>
      <p:sp>
        <p:nvSpPr>
          <p:cNvPr id="11" name="圆角矩形 10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56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838200"/>
            <a:ext cx="7924800" cy="3429000"/>
          </a:xfrm>
        </p:spPr>
        <p:txBody>
          <a:bodyPr/>
          <a:lstStyle/>
          <a:p>
            <a:r>
              <a:rPr lang="en-US" b="1">
                <a:latin typeface="Helvetica" charset="0"/>
                <a:ea typeface="MS PGothic" panose="020B0600070205080204" charset="-128"/>
              </a:rPr>
              <a:t>Service</a:t>
            </a:r>
            <a:r>
              <a:rPr lang="en-US">
                <a:latin typeface="Helvetica" charset="0"/>
                <a:ea typeface="MS PGothic" panose="020B0600070205080204" charset="-128"/>
              </a:rPr>
              <a:t>: move information between two systems connected by a physical link</a:t>
            </a:r>
            <a:endParaRPr lang="en-US">
              <a:latin typeface="Helvetica" charset="0"/>
              <a:ea typeface="MS PGothic" panose="020B0600070205080204" charset="-128"/>
            </a:endParaRPr>
          </a:p>
          <a:p>
            <a:r>
              <a:rPr lang="en-US" b="1">
                <a:latin typeface="Helvetica" charset="0"/>
                <a:ea typeface="MS PGothic" panose="020B0600070205080204" charset="-128"/>
              </a:rPr>
              <a:t>Interface</a:t>
            </a:r>
            <a:r>
              <a:rPr lang="en-US">
                <a:latin typeface="Helvetica" charset="0"/>
                <a:ea typeface="MS PGothic" panose="020B0600070205080204" charset="-128"/>
              </a:rPr>
              <a:t>: specifies how to send and receive bits </a:t>
            </a:r>
            <a:endParaRPr lang="en-US">
              <a:latin typeface="Helvetica" charset="0"/>
              <a:ea typeface="MS PGothic" panose="020B0600070205080204" charset="-128"/>
            </a:endParaRPr>
          </a:p>
          <a:p>
            <a:r>
              <a:rPr lang="en-US" b="1">
                <a:latin typeface="Helvetica" charset="0"/>
                <a:ea typeface="MS PGothic" panose="020B0600070205080204" charset="-128"/>
              </a:rPr>
              <a:t>Protocol</a:t>
            </a:r>
            <a:r>
              <a:rPr lang="en-US">
                <a:latin typeface="Helvetica" charset="0"/>
                <a:ea typeface="MS PGothic" panose="020B0600070205080204" charset="-128"/>
              </a:rPr>
              <a:t>: </a:t>
            </a:r>
            <a:r>
              <a:rPr lang="en-US">
                <a:solidFill>
                  <a:srgbClr val="FF3300"/>
                </a:solidFill>
                <a:latin typeface="Helvetica" charset="0"/>
                <a:ea typeface="MS PGothic" panose="020B0600070205080204" charset="-128"/>
              </a:rPr>
              <a:t>coding scheme</a:t>
            </a:r>
            <a:r>
              <a:rPr lang="en-US">
                <a:latin typeface="Helvetica" charset="0"/>
                <a:ea typeface="MS PGothic" panose="020B0600070205080204" charset="-128"/>
              </a:rPr>
              <a:t> used to represent a bit, voltage levels, duration of a bit</a:t>
            </a:r>
            <a:endParaRPr lang="en-US">
              <a:latin typeface="Helvetica" charset="0"/>
              <a:ea typeface="MS PGothic" panose="020B0600070205080204" charset="-128"/>
            </a:endParaRPr>
          </a:p>
          <a:p>
            <a:r>
              <a:rPr lang="en-US">
                <a:latin typeface="Helvetica" charset="0"/>
                <a:ea typeface="MS PGothic" panose="020B0600070205080204" charset="-128"/>
              </a:rPr>
              <a:t>Examples: coaxial cable, optical fiber links; transmitters, receivers </a:t>
            </a:r>
            <a:endParaRPr lang="en-US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>
                <a:latin typeface="Helvetica" charset="0"/>
                <a:ea typeface="MS PGothic" panose="020B0600070205080204" charset="-128"/>
              </a:rPr>
              <a:t>Physical Layer (1)</a:t>
            </a:r>
            <a:endParaRPr lang="en-US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7412" name="Rectangle 14"/>
          <p:cNvSpPr>
            <a:spLocks noChangeArrowheads="1"/>
          </p:cNvSpPr>
          <p:nvPr/>
        </p:nvSpPr>
        <p:spPr bwMode="auto">
          <a:xfrm>
            <a:off x="7772400" y="795340"/>
            <a:ext cx="1322388" cy="2381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Transport</a:t>
            </a:r>
            <a:endParaRPr lang="en-US">
              <a:latin typeface="Helvetica" charset="0"/>
            </a:endParaRPr>
          </a:p>
        </p:txBody>
      </p:sp>
      <p:sp>
        <p:nvSpPr>
          <p:cNvPr id="17413" name="Rectangle 15"/>
          <p:cNvSpPr>
            <a:spLocks noChangeArrowheads="1"/>
          </p:cNvSpPr>
          <p:nvPr/>
        </p:nvSpPr>
        <p:spPr bwMode="auto">
          <a:xfrm>
            <a:off x="7772400" y="1033463"/>
            <a:ext cx="1322388" cy="2397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Network</a:t>
            </a:r>
            <a:endParaRPr lang="en-US">
              <a:latin typeface="Helvetica" charset="0"/>
            </a:endParaRPr>
          </a:p>
        </p:txBody>
      </p:sp>
      <p:sp>
        <p:nvSpPr>
          <p:cNvPr id="17414" name="Rectangle 16"/>
          <p:cNvSpPr>
            <a:spLocks noChangeArrowheads="1"/>
          </p:cNvSpPr>
          <p:nvPr/>
        </p:nvSpPr>
        <p:spPr bwMode="auto">
          <a:xfrm>
            <a:off x="7772400" y="1273177"/>
            <a:ext cx="1322388" cy="23971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Datalink</a:t>
            </a:r>
            <a:endParaRPr lang="en-US">
              <a:latin typeface="Helvetica" charset="0"/>
            </a:endParaRPr>
          </a:p>
        </p:txBody>
      </p:sp>
      <p:sp>
        <p:nvSpPr>
          <p:cNvPr id="17415" name="Rectangle 17"/>
          <p:cNvSpPr>
            <a:spLocks noChangeArrowheads="1"/>
          </p:cNvSpPr>
          <p:nvPr/>
        </p:nvSpPr>
        <p:spPr bwMode="auto">
          <a:xfrm>
            <a:off x="7772400" y="1512888"/>
            <a:ext cx="1322388" cy="239712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Helvetica" charset="0"/>
              </a:rPr>
              <a:t>Physical</a:t>
            </a:r>
            <a:endParaRPr lang="en-US">
              <a:solidFill>
                <a:schemeClr val="bg1"/>
              </a:solidFill>
              <a:latin typeface="Helvetica" charset="0"/>
            </a:endParaRPr>
          </a:p>
        </p:txBody>
      </p:sp>
      <p:sp>
        <p:nvSpPr>
          <p:cNvPr id="17416" name="Rectangle 18"/>
          <p:cNvSpPr>
            <a:spLocks noChangeArrowheads="1"/>
          </p:cNvSpPr>
          <p:nvPr/>
        </p:nvSpPr>
        <p:spPr bwMode="auto">
          <a:xfrm>
            <a:off x="7772400" y="555627"/>
            <a:ext cx="1322388" cy="239713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ot"/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folHlink"/>
                </a:solidFill>
                <a:latin typeface="Helvetica" charset="0"/>
              </a:rPr>
              <a:t>Session</a:t>
            </a:r>
            <a:endParaRPr lang="en-US">
              <a:solidFill>
                <a:schemeClr val="folHlink"/>
              </a:solidFill>
              <a:latin typeface="Helvetica" charset="0"/>
            </a:endParaRPr>
          </a:p>
        </p:txBody>
      </p:sp>
      <p:sp>
        <p:nvSpPr>
          <p:cNvPr id="17417" name="Rectangle 19"/>
          <p:cNvSpPr>
            <a:spLocks noChangeArrowheads="1"/>
          </p:cNvSpPr>
          <p:nvPr/>
        </p:nvSpPr>
        <p:spPr bwMode="auto">
          <a:xfrm>
            <a:off x="7772400" y="315913"/>
            <a:ext cx="1322388" cy="239712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ot"/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folHlink"/>
                </a:solidFill>
                <a:latin typeface="Helvetica" charset="0"/>
              </a:rPr>
              <a:t>Present.</a:t>
            </a:r>
            <a:endParaRPr lang="en-US">
              <a:solidFill>
                <a:schemeClr val="folHlink"/>
              </a:solidFill>
              <a:latin typeface="Helvetica" charset="0"/>
            </a:endParaRPr>
          </a:p>
        </p:txBody>
      </p:sp>
      <p:sp>
        <p:nvSpPr>
          <p:cNvPr id="17418" name="Rectangle 20"/>
          <p:cNvSpPr>
            <a:spLocks noChangeArrowheads="1"/>
          </p:cNvSpPr>
          <p:nvPr/>
        </p:nvSpPr>
        <p:spPr bwMode="auto">
          <a:xfrm>
            <a:off x="7772400" y="76202"/>
            <a:ext cx="1322388" cy="23971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Application</a:t>
            </a:r>
            <a:endParaRPr lang="en-US">
              <a:latin typeface="Helvetica" charset="0"/>
            </a:endParaRPr>
          </a:p>
        </p:txBody>
      </p:sp>
      <p:pic>
        <p:nvPicPr>
          <p:cNvPr id="17419" name="Picture 6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219450"/>
            <a:ext cx="1352550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20" name="Picture 6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7650" y="1828800"/>
            <a:ext cx="1276350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21" name="Picture 6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3127377"/>
            <a:ext cx="1377950" cy="98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Rectangle 48"/>
          <p:cNvSpPr/>
          <p:nvPr/>
        </p:nvSpPr>
        <p:spPr bwMode="auto">
          <a:xfrm>
            <a:off x="1371600" y="5638800"/>
            <a:ext cx="2286000" cy="5334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600" b="0" dirty="0">
              <a:latin typeface="Helvetica"/>
              <a:ea typeface="MS PGothic" panose="020B0600070205080204" charset="-128"/>
              <a:cs typeface="Helvetica"/>
            </a:endParaRPr>
          </a:p>
        </p:txBody>
      </p:sp>
      <p:sp>
        <p:nvSpPr>
          <p:cNvPr id="50" name="TextBox 2"/>
          <p:cNvSpPr txBox="1">
            <a:spLocks noChangeArrowheads="1"/>
          </p:cNvSpPr>
          <p:nvPr/>
        </p:nvSpPr>
        <p:spPr bwMode="auto">
          <a:xfrm>
            <a:off x="1371600" y="5715000"/>
            <a:ext cx="2243138" cy="40005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b="0" dirty="0">
                <a:latin typeface="Arial Narrow" panose="020B0606020202030204"/>
                <a:ea typeface="Helvetica" charset="0"/>
                <a:cs typeface="Arial Narrow" panose="020B0606020202030204"/>
              </a:rPr>
              <a:t>101010100110101110</a:t>
            </a:r>
            <a:endParaRPr lang="en-US" sz="2000" b="0" dirty="0">
              <a:latin typeface="Arial Narrow" panose="020B0606020202030204"/>
              <a:ea typeface="Helvetica" charset="0"/>
              <a:cs typeface="Arial Narrow" panose="020B0606020202030204"/>
            </a:endParaRPr>
          </a:p>
        </p:txBody>
      </p:sp>
      <p:sp>
        <p:nvSpPr>
          <p:cNvPr id="60" name="Rectangle 59"/>
          <p:cNvSpPr>
            <a:spLocks noChangeArrowheads="1"/>
          </p:cNvSpPr>
          <p:nvPr/>
        </p:nvSpPr>
        <p:spPr bwMode="auto">
          <a:xfrm>
            <a:off x="0" y="5486400"/>
            <a:ext cx="1295400" cy="762000"/>
          </a:xfrm>
          <a:prstGeom prst="rect">
            <a:avLst/>
          </a:prstGeom>
          <a:solidFill>
            <a:srgbClr val="BDBDBD"/>
          </a:solidFill>
          <a:ln w="25400">
            <a:solidFill>
              <a:schemeClr val="tx1"/>
            </a:solidFill>
            <a:round/>
            <a:headEnd type="triangle" w="med" len="med"/>
          </a:ln>
          <a:effectLst>
            <a:outerShdw blurRad="50800" dist="38100" dir="2700000" rotWithShape="0">
              <a:srgbClr val="000000">
                <a:alpha val="42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2000" b="0" dirty="0">
                <a:latin typeface="Helvetica"/>
                <a:ea typeface="MS PGothic" panose="020B0600070205080204" charset="-128"/>
                <a:cs typeface="Helvetica"/>
              </a:rPr>
              <a:t>Physical Layer </a:t>
            </a:r>
            <a:endParaRPr lang="en-US" sz="2000" b="0" dirty="0">
              <a:latin typeface="Helvetica"/>
              <a:ea typeface="MS PGothic" panose="020B0600070205080204" charset="-128"/>
              <a:cs typeface="Helvetica"/>
            </a:endParaRPr>
          </a:p>
        </p:txBody>
      </p:sp>
      <p:sp>
        <p:nvSpPr>
          <p:cNvPr id="61" name="Rectangle 60"/>
          <p:cNvSpPr>
            <a:spLocks noChangeArrowheads="1"/>
          </p:cNvSpPr>
          <p:nvPr/>
        </p:nvSpPr>
        <p:spPr bwMode="auto">
          <a:xfrm>
            <a:off x="7848600" y="5486400"/>
            <a:ext cx="1295400" cy="762000"/>
          </a:xfrm>
          <a:prstGeom prst="rect">
            <a:avLst/>
          </a:prstGeom>
          <a:solidFill>
            <a:srgbClr val="BDBDBD"/>
          </a:solidFill>
          <a:ln w="25400">
            <a:solidFill>
              <a:schemeClr val="tx1"/>
            </a:solidFill>
            <a:round/>
            <a:headEnd type="triangle" w="med" len="med"/>
          </a:ln>
          <a:effectLst>
            <a:outerShdw blurRad="50800" dist="38100" dir="2700000" rotWithShape="0">
              <a:srgbClr val="000000">
                <a:alpha val="42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2000" b="0" dirty="0">
                <a:latin typeface="Helvetica"/>
                <a:ea typeface="MS PGothic" panose="020B0600070205080204" charset="-128"/>
                <a:cs typeface="Helvetica"/>
              </a:rPr>
              <a:t>Physical Layer </a:t>
            </a:r>
            <a:endParaRPr lang="en-US" sz="2000" b="0" dirty="0">
              <a:latin typeface="Helvetica"/>
              <a:ea typeface="MS PGothic" panose="020B0600070205080204" charset="-128"/>
              <a:cs typeface="Helvetica"/>
            </a:endParaRPr>
          </a:p>
        </p:txBody>
      </p:sp>
      <p:sp>
        <p:nvSpPr>
          <p:cNvPr id="17426" name="TextBox 68"/>
          <p:cNvSpPr txBox="1">
            <a:spLocks noChangeArrowheads="1"/>
          </p:cNvSpPr>
          <p:nvPr/>
        </p:nvSpPr>
        <p:spPr bwMode="auto">
          <a:xfrm>
            <a:off x="71909" y="4397375"/>
            <a:ext cx="1183337" cy="707886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algn="ctr" eaLnBrk="1" hangingPunct="1"/>
            <a:r>
              <a:rPr lang="en-US" sz="2000" b="0">
                <a:latin typeface="Helvetica" charset="0"/>
              </a:rPr>
              <a:t>Datalink </a:t>
            </a:r>
            <a:endParaRPr lang="en-US" sz="2000" b="0">
              <a:latin typeface="Helvetica" charset="0"/>
            </a:endParaRPr>
          </a:p>
          <a:p>
            <a:pPr algn="ctr" eaLnBrk="1" hangingPunct="1"/>
            <a:r>
              <a:rPr lang="en-US" sz="2000" b="0">
                <a:latin typeface="Helvetica" charset="0"/>
              </a:rPr>
              <a:t>layer</a:t>
            </a:r>
            <a:endParaRPr lang="en-US" sz="2000" b="0">
              <a:latin typeface="Helvetica" charset="0"/>
            </a:endParaRPr>
          </a:p>
        </p:txBody>
      </p:sp>
      <p:sp>
        <p:nvSpPr>
          <p:cNvPr id="17427" name="TextBox 69"/>
          <p:cNvSpPr txBox="1">
            <a:spLocks noChangeArrowheads="1"/>
          </p:cNvSpPr>
          <p:nvPr/>
        </p:nvSpPr>
        <p:spPr bwMode="auto">
          <a:xfrm>
            <a:off x="7996709" y="4397375"/>
            <a:ext cx="1183337" cy="707886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algn="ctr" eaLnBrk="1" hangingPunct="1"/>
            <a:r>
              <a:rPr lang="en-US" sz="2000" b="0">
                <a:latin typeface="Helvetica" charset="0"/>
              </a:rPr>
              <a:t>Datalink </a:t>
            </a:r>
            <a:endParaRPr lang="en-US" sz="2000" b="0">
              <a:latin typeface="Helvetica" charset="0"/>
            </a:endParaRPr>
          </a:p>
          <a:p>
            <a:pPr algn="ctr" eaLnBrk="1" hangingPunct="1"/>
            <a:r>
              <a:rPr lang="en-US" sz="2000" b="0">
                <a:latin typeface="Helvetica" charset="0"/>
              </a:rPr>
              <a:t>layer</a:t>
            </a:r>
            <a:endParaRPr lang="en-US" sz="2000" b="0">
              <a:latin typeface="Helvetica" charset="0"/>
            </a:endParaRPr>
          </a:p>
        </p:txBody>
      </p:sp>
      <p:sp>
        <p:nvSpPr>
          <p:cNvPr id="72" name="Rectangle 71"/>
          <p:cNvSpPr/>
          <p:nvPr/>
        </p:nvSpPr>
        <p:spPr bwMode="auto">
          <a:xfrm>
            <a:off x="5486400" y="5638800"/>
            <a:ext cx="2286000" cy="5334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600" b="0" dirty="0">
              <a:latin typeface="Helvetica"/>
              <a:ea typeface="MS PGothic" panose="020B0600070205080204" charset="-128"/>
              <a:cs typeface="Helvetica"/>
            </a:endParaRPr>
          </a:p>
        </p:txBody>
      </p:sp>
      <p:sp>
        <p:nvSpPr>
          <p:cNvPr id="73" name="TextBox 2"/>
          <p:cNvSpPr txBox="1">
            <a:spLocks noChangeArrowheads="1"/>
          </p:cNvSpPr>
          <p:nvPr/>
        </p:nvSpPr>
        <p:spPr bwMode="auto">
          <a:xfrm>
            <a:off x="5529265" y="5715000"/>
            <a:ext cx="2243137" cy="40005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b="0" dirty="0">
                <a:latin typeface="Arial Narrow" panose="020B0606020202030204"/>
                <a:ea typeface="Helvetica" charset="0"/>
                <a:cs typeface="Arial Narrow" panose="020B0606020202030204"/>
              </a:rPr>
              <a:t>101010100110101110</a:t>
            </a:r>
            <a:endParaRPr lang="en-US" sz="2000" b="0" dirty="0">
              <a:latin typeface="Arial Narrow" panose="020B0606020202030204"/>
              <a:ea typeface="Helvetica" charset="0"/>
              <a:cs typeface="Arial Narrow" panose="020B0606020202030204"/>
            </a:endParaRPr>
          </a:p>
        </p:txBody>
      </p:sp>
      <p:sp>
        <p:nvSpPr>
          <p:cNvPr id="17430" name="TextBox 10"/>
          <p:cNvSpPr txBox="1">
            <a:spLocks noChangeArrowheads="1"/>
          </p:cNvSpPr>
          <p:nvPr/>
        </p:nvSpPr>
        <p:spPr bwMode="auto">
          <a:xfrm>
            <a:off x="3697959" y="5029200"/>
            <a:ext cx="1771896" cy="707886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algn="ctr" eaLnBrk="1" hangingPunct="1"/>
            <a:r>
              <a:rPr lang="en-US" sz="2000" b="0">
                <a:latin typeface="Helvetica" charset="0"/>
              </a:rPr>
              <a:t>Transmission </a:t>
            </a:r>
            <a:endParaRPr lang="en-US" sz="2000" b="0">
              <a:latin typeface="Helvetica" charset="0"/>
            </a:endParaRPr>
          </a:p>
          <a:p>
            <a:pPr algn="ctr" eaLnBrk="1" hangingPunct="1"/>
            <a:r>
              <a:rPr lang="en-US" sz="2000" b="0">
                <a:latin typeface="Helvetica" charset="0"/>
              </a:rPr>
              <a:t>medium</a:t>
            </a:r>
            <a:endParaRPr lang="en-US" sz="2000" b="0">
              <a:latin typeface="Helvetica" charset="0"/>
            </a:endParaRPr>
          </a:p>
        </p:txBody>
      </p:sp>
      <p:grpSp>
        <p:nvGrpSpPr>
          <p:cNvPr id="17431" name="Group 96"/>
          <p:cNvGrpSpPr/>
          <p:nvPr/>
        </p:nvGrpSpPr>
        <p:grpSpPr bwMode="auto">
          <a:xfrm>
            <a:off x="3810000" y="5715000"/>
            <a:ext cx="1524000" cy="457200"/>
            <a:chOff x="2667000" y="4648200"/>
            <a:chExt cx="3276600" cy="457200"/>
          </a:xfrm>
        </p:grpSpPr>
        <p:sp>
          <p:nvSpPr>
            <p:cNvPr id="17436" name="Rectangle 8"/>
            <p:cNvSpPr>
              <a:spLocks noChangeArrowheads="1"/>
            </p:cNvSpPr>
            <p:nvPr/>
          </p:nvSpPr>
          <p:spPr bwMode="auto">
            <a:xfrm>
              <a:off x="2819400" y="4648200"/>
              <a:ext cx="2971800" cy="4572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round/>
              <a:headEnd type="triangle" w="med" len="med"/>
            </a:ln>
          </p:spPr>
          <p:txBody>
            <a:bodyPr anchor="ctr"/>
            <a:lstStyle/>
            <a:p>
              <a:pPr algn="ctr"/>
              <a:endParaRPr lang="en-US" b="0">
                <a:latin typeface="Helvetica" charset="0"/>
              </a:endParaRPr>
            </a:p>
          </p:txBody>
        </p:sp>
        <p:sp>
          <p:nvSpPr>
            <p:cNvPr id="17437" name="Oval 7"/>
            <p:cNvSpPr>
              <a:spLocks noChangeArrowheads="1"/>
            </p:cNvSpPr>
            <p:nvPr/>
          </p:nvSpPr>
          <p:spPr bwMode="auto">
            <a:xfrm>
              <a:off x="2667000" y="4648200"/>
              <a:ext cx="228600" cy="4572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round/>
              <a:headEnd type="triangle" w="med" len="med"/>
            </a:ln>
          </p:spPr>
          <p:txBody>
            <a:bodyPr anchor="ctr"/>
            <a:lstStyle/>
            <a:p>
              <a:pPr algn="ctr"/>
              <a:endParaRPr lang="en-US" b="0">
                <a:latin typeface="Helvetica" charset="0"/>
              </a:endParaRPr>
            </a:p>
          </p:txBody>
        </p:sp>
        <p:sp>
          <p:nvSpPr>
            <p:cNvPr id="17438" name="Oval 25"/>
            <p:cNvSpPr>
              <a:spLocks noChangeArrowheads="1"/>
            </p:cNvSpPr>
            <p:nvPr/>
          </p:nvSpPr>
          <p:spPr bwMode="auto">
            <a:xfrm>
              <a:off x="5715000" y="4648200"/>
              <a:ext cx="228600" cy="4572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round/>
              <a:headEnd type="triangle" w="med" len="med"/>
            </a:ln>
          </p:spPr>
          <p:txBody>
            <a:bodyPr anchor="ctr"/>
            <a:lstStyle/>
            <a:p>
              <a:pPr algn="ctr"/>
              <a:endParaRPr lang="en-US" b="0">
                <a:latin typeface="Helvetica" charset="0"/>
              </a:endParaRPr>
            </a:p>
          </p:txBody>
        </p:sp>
        <p:sp>
          <p:nvSpPr>
            <p:cNvPr id="17439" name="Rectangle 9"/>
            <p:cNvSpPr>
              <a:spLocks noChangeArrowheads="1"/>
            </p:cNvSpPr>
            <p:nvPr/>
          </p:nvSpPr>
          <p:spPr bwMode="auto">
            <a:xfrm>
              <a:off x="5638800" y="4648200"/>
              <a:ext cx="152400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en-US" b="0">
                <a:latin typeface="Helvetica" charset="0"/>
              </a:endParaRPr>
            </a:p>
          </p:txBody>
        </p:sp>
        <p:grpSp>
          <p:nvGrpSpPr>
            <p:cNvPr id="17440" name="Group 27"/>
            <p:cNvGrpSpPr/>
            <p:nvPr/>
          </p:nvGrpSpPr>
          <p:grpSpPr bwMode="auto">
            <a:xfrm>
              <a:off x="3048000" y="4724400"/>
              <a:ext cx="2743200" cy="228600"/>
              <a:chOff x="5562600" y="4191000"/>
              <a:chExt cx="2743200" cy="228600"/>
            </a:xfrm>
          </p:grpSpPr>
          <p:cxnSp>
            <p:nvCxnSpPr>
              <p:cNvPr id="17441" name="Straight Connector 14"/>
              <p:cNvCxnSpPr>
                <a:cxnSpLocks noChangeShapeType="1"/>
              </p:cNvCxnSpPr>
              <p:nvPr/>
            </p:nvCxnSpPr>
            <p:spPr bwMode="auto">
              <a:xfrm>
                <a:off x="5562600" y="4191000"/>
                <a:ext cx="0" cy="2286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</p:spPr>
          </p:cxnSp>
          <p:cxnSp>
            <p:nvCxnSpPr>
              <p:cNvPr id="17442" name="Straight Connector 33"/>
              <p:cNvCxnSpPr>
                <a:cxnSpLocks noChangeShapeType="1"/>
              </p:cNvCxnSpPr>
              <p:nvPr/>
            </p:nvCxnSpPr>
            <p:spPr bwMode="auto">
              <a:xfrm>
                <a:off x="5791200" y="4191000"/>
                <a:ext cx="0" cy="2286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</p:spPr>
          </p:cxnSp>
          <p:cxnSp>
            <p:nvCxnSpPr>
              <p:cNvPr id="17443" name="Straight Connector 34"/>
              <p:cNvCxnSpPr>
                <a:cxnSpLocks noChangeShapeType="1"/>
              </p:cNvCxnSpPr>
              <p:nvPr/>
            </p:nvCxnSpPr>
            <p:spPr bwMode="auto">
              <a:xfrm>
                <a:off x="6019800" y="4191000"/>
                <a:ext cx="0" cy="2286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</p:spPr>
          </p:cxnSp>
          <p:cxnSp>
            <p:nvCxnSpPr>
              <p:cNvPr id="17444" name="Straight Connector 35"/>
              <p:cNvCxnSpPr>
                <a:cxnSpLocks noChangeShapeType="1"/>
              </p:cNvCxnSpPr>
              <p:nvPr/>
            </p:nvCxnSpPr>
            <p:spPr bwMode="auto">
              <a:xfrm>
                <a:off x="6248400" y="4191000"/>
                <a:ext cx="0" cy="2286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</p:spPr>
          </p:cxnSp>
          <p:cxnSp>
            <p:nvCxnSpPr>
              <p:cNvPr id="17445" name="Straight Connector 36"/>
              <p:cNvCxnSpPr>
                <a:cxnSpLocks noChangeShapeType="1"/>
              </p:cNvCxnSpPr>
              <p:nvPr/>
            </p:nvCxnSpPr>
            <p:spPr bwMode="auto">
              <a:xfrm>
                <a:off x="6477000" y="4191000"/>
                <a:ext cx="0" cy="2286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</p:spPr>
          </p:cxnSp>
          <p:cxnSp>
            <p:nvCxnSpPr>
              <p:cNvPr id="17446" name="Straight Connector 37"/>
              <p:cNvCxnSpPr>
                <a:cxnSpLocks noChangeShapeType="1"/>
              </p:cNvCxnSpPr>
              <p:nvPr/>
            </p:nvCxnSpPr>
            <p:spPr bwMode="auto">
              <a:xfrm>
                <a:off x="6705600" y="4191000"/>
                <a:ext cx="0" cy="2286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</p:spPr>
          </p:cxnSp>
          <p:cxnSp>
            <p:nvCxnSpPr>
              <p:cNvPr id="17447" name="Straight Connector 40"/>
              <p:cNvCxnSpPr>
                <a:cxnSpLocks noChangeShapeType="1"/>
              </p:cNvCxnSpPr>
              <p:nvPr/>
            </p:nvCxnSpPr>
            <p:spPr bwMode="auto">
              <a:xfrm>
                <a:off x="7391400" y="4191000"/>
                <a:ext cx="0" cy="2286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</p:spPr>
          </p:cxnSp>
          <p:cxnSp>
            <p:nvCxnSpPr>
              <p:cNvPr id="17448" name="Straight Connector 44"/>
              <p:cNvCxnSpPr>
                <a:cxnSpLocks noChangeShapeType="1"/>
              </p:cNvCxnSpPr>
              <p:nvPr/>
            </p:nvCxnSpPr>
            <p:spPr bwMode="auto">
              <a:xfrm flipH="1">
                <a:off x="5562600" y="4191000"/>
                <a:ext cx="2286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</p:spPr>
          </p:cxnSp>
          <p:cxnSp>
            <p:nvCxnSpPr>
              <p:cNvPr id="17449" name="Straight Connector 46"/>
              <p:cNvCxnSpPr>
                <a:cxnSpLocks noChangeShapeType="1"/>
              </p:cNvCxnSpPr>
              <p:nvPr/>
            </p:nvCxnSpPr>
            <p:spPr bwMode="auto">
              <a:xfrm flipH="1">
                <a:off x="5791200" y="4419600"/>
                <a:ext cx="2286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</p:spPr>
          </p:cxnSp>
          <p:cxnSp>
            <p:nvCxnSpPr>
              <p:cNvPr id="17450" name="Straight Connector 48"/>
              <p:cNvCxnSpPr>
                <a:cxnSpLocks noChangeShapeType="1"/>
              </p:cNvCxnSpPr>
              <p:nvPr/>
            </p:nvCxnSpPr>
            <p:spPr bwMode="auto">
              <a:xfrm flipH="1">
                <a:off x="6019800" y="4191000"/>
                <a:ext cx="2286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</p:spPr>
          </p:cxnSp>
          <p:cxnSp>
            <p:nvCxnSpPr>
              <p:cNvPr id="17451" name="Straight Connector 49"/>
              <p:cNvCxnSpPr>
                <a:cxnSpLocks noChangeShapeType="1"/>
              </p:cNvCxnSpPr>
              <p:nvPr/>
            </p:nvCxnSpPr>
            <p:spPr bwMode="auto">
              <a:xfrm flipH="1">
                <a:off x="6248400" y="4419600"/>
                <a:ext cx="2286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</p:spPr>
          </p:cxnSp>
          <p:cxnSp>
            <p:nvCxnSpPr>
              <p:cNvPr id="17452" name="Straight Connector 50"/>
              <p:cNvCxnSpPr>
                <a:cxnSpLocks noChangeShapeType="1"/>
              </p:cNvCxnSpPr>
              <p:nvPr/>
            </p:nvCxnSpPr>
            <p:spPr bwMode="auto">
              <a:xfrm flipH="1">
                <a:off x="6477000" y="4191000"/>
                <a:ext cx="2286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</p:spPr>
          </p:cxnSp>
          <p:cxnSp>
            <p:nvCxnSpPr>
              <p:cNvPr id="17453" name="Straight Connector 51"/>
              <p:cNvCxnSpPr>
                <a:cxnSpLocks noChangeShapeType="1"/>
              </p:cNvCxnSpPr>
              <p:nvPr/>
            </p:nvCxnSpPr>
            <p:spPr bwMode="auto">
              <a:xfrm flipH="1">
                <a:off x="6705600" y="4419600"/>
                <a:ext cx="6858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</p:spPr>
          </p:cxnSp>
          <p:cxnSp>
            <p:nvCxnSpPr>
              <p:cNvPr id="17454" name="Straight Connector 53"/>
              <p:cNvCxnSpPr>
                <a:cxnSpLocks noChangeShapeType="1"/>
              </p:cNvCxnSpPr>
              <p:nvPr/>
            </p:nvCxnSpPr>
            <p:spPr bwMode="auto">
              <a:xfrm>
                <a:off x="8077200" y="4191000"/>
                <a:ext cx="0" cy="2286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</p:spPr>
          </p:cxnSp>
          <p:cxnSp>
            <p:nvCxnSpPr>
              <p:cNvPr id="17455" name="Straight Connector 54"/>
              <p:cNvCxnSpPr>
                <a:cxnSpLocks noChangeShapeType="1"/>
              </p:cNvCxnSpPr>
              <p:nvPr/>
            </p:nvCxnSpPr>
            <p:spPr bwMode="auto">
              <a:xfrm>
                <a:off x="8305800" y="4191000"/>
                <a:ext cx="0" cy="2286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</p:spPr>
          </p:cxnSp>
          <p:cxnSp>
            <p:nvCxnSpPr>
              <p:cNvPr id="17456" name="Straight Connector 55"/>
              <p:cNvCxnSpPr>
                <a:cxnSpLocks noChangeShapeType="1"/>
              </p:cNvCxnSpPr>
              <p:nvPr/>
            </p:nvCxnSpPr>
            <p:spPr bwMode="auto">
              <a:xfrm flipH="1">
                <a:off x="7391400" y="4191000"/>
                <a:ext cx="6858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</p:spPr>
          </p:cxnSp>
          <p:cxnSp>
            <p:nvCxnSpPr>
              <p:cNvPr id="17457" name="Straight Connector 56"/>
              <p:cNvCxnSpPr>
                <a:cxnSpLocks noChangeShapeType="1"/>
              </p:cNvCxnSpPr>
              <p:nvPr/>
            </p:nvCxnSpPr>
            <p:spPr bwMode="auto">
              <a:xfrm flipH="1">
                <a:off x="8077200" y="4419600"/>
                <a:ext cx="2286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</p:spPr>
          </p:cxnSp>
        </p:grpSp>
      </p:grpSp>
      <p:cxnSp>
        <p:nvCxnSpPr>
          <p:cNvPr id="17432" name="Straight Arrow Connector 98"/>
          <p:cNvCxnSpPr>
            <a:cxnSpLocks noChangeShapeType="1"/>
          </p:cNvCxnSpPr>
          <p:nvPr/>
        </p:nvCxnSpPr>
        <p:spPr bwMode="auto">
          <a:xfrm>
            <a:off x="3581400" y="5942015"/>
            <a:ext cx="304800" cy="158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17433" name="Straight Arrow Connector 100"/>
          <p:cNvCxnSpPr>
            <a:cxnSpLocks noChangeShapeType="1"/>
          </p:cNvCxnSpPr>
          <p:nvPr/>
        </p:nvCxnSpPr>
        <p:spPr bwMode="auto">
          <a:xfrm>
            <a:off x="5257800" y="5943600"/>
            <a:ext cx="304800" cy="15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7434" name="Up-Down Arrow 101"/>
          <p:cNvSpPr>
            <a:spLocks noChangeArrowheads="1"/>
          </p:cNvSpPr>
          <p:nvPr/>
        </p:nvSpPr>
        <p:spPr bwMode="auto">
          <a:xfrm>
            <a:off x="8458200" y="5105400"/>
            <a:ext cx="228600" cy="3810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17435" name="Up-Down Arrow 102"/>
          <p:cNvSpPr>
            <a:spLocks noChangeArrowheads="1"/>
          </p:cNvSpPr>
          <p:nvPr/>
        </p:nvSpPr>
        <p:spPr bwMode="auto">
          <a:xfrm>
            <a:off x="533400" y="5105400"/>
            <a:ext cx="228600" cy="3810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51" name="圆角矩形 50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656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179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393031"/>
            <a:ext cx="8839200" cy="5334000"/>
          </a:xfrm>
        </p:spPr>
        <p:txBody>
          <a:bodyPr/>
          <a:lstStyle/>
          <a:p>
            <a:r>
              <a:rPr lang="en-US" b="1" dirty="0">
                <a:latin typeface="Helvetica" charset="0"/>
                <a:ea typeface="MS PGothic" panose="020B0600070205080204" charset="-128"/>
              </a:rPr>
              <a:t>Service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: 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dirty="0">
                <a:latin typeface="Helvetica" charset="0"/>
                <a:ea typeface="MS PGothic" panose="020B0600070205080204" charset="-128"/>
              </a:rPr>
              <a:t>Enable end hosts to exchange </a:t>
            </a:r>
            <a:r>
              <a:rPr lang="en-US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frames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 (atomic messages) on the same physical line or wireless link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dirty="0">
                <a:latin typeface="Helvetica" charset="0"/>
                <a:ea typeface="MS PGothic" panose="020B0600070205080204" charset="-128"/>
              </a:rPr>
              <a:t>Possible other services: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2">
              <a:buClr>
                <a:schemeClr val="tx2"/>
              </a:buClr>
            </a:pPr>
            <a:r>
              <a:rPr lang="en-US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Arbitrate access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 to common physical media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2">
              <a:buClr>
                <a:schemeClr val="tx2"/>
              </a:buClr>
            </a:pPr>
            <a:r>
              <a:rPr lang="en-US" i="1" dirty="0">
                <a:latin typeface="Helvetica" charset="0"/>
                <a:ea typeface="MS PGothic" panose="020B0600070205080204" charset="-128"/>
              </a:rPr>
              <a:t>May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 provide</a:t>
            </a:r>
            <a:r>
              <a:rPr lang="en-US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 reliable transmission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,</a:t>
            </a:r>
            <a:r>
              <a:rPr lang="en-US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 flow control</a:t>
            </a:r>
            <a:r>
              <a:rPr lang="zh-CN" altLang="en-US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(not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common)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r>
              <a:rPr lang="en-US" b="1" dirty="0">
                <a:latin typeface="Helvetica" charset="0"/>
                <a:ea typeface="MS PGothic" panose="020B0600070205080204" charset="-128"/>
              </a:rPr>
              <a:t>Interface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: send </a:t>
            </a:r>
            <a:r>
              <a:rPr lang="en-US" i="1" dirty="0">
                <a:latin typeface="Helvetica" charset="0"/>
                <a:ea typeface="MS PGothic" panose="020B0600070205080204" charset="-128"/>
              </a:rPr>
              <a:t>frames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 to other end </a:t>
            </a:r>
            <a:r>
              <a:rPr lang="en-US" i="1" dirty="0">
                <a:latin typeface="Helvetica" charset="0"/>
                <a:ea typeface="MS PGothic" panose="020B0600070205080204" charset="-128"/>
              </a:rPr>
              <a:t>hosts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; receive </a:t>
            </a:r>
            <a:r>
              <a:rPr lang="en-US" i="1" dirty="0">
                <a:latin typeface="Helvetica" charset="0"/>
                <a:ea typeface="MS PGothic" panose="020B0600070205080204" charset="-128"/>
              </a:rPr>
              <a:t>frames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 addressed to end host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r>
              <a:rPr lang="en-US" b="1" dirty="0">
                <a:latin typeface="Helvetica" charset="0"/>
                <a:ea typeface="MS PGothic" panose="020B0600070205080204" charset="-128"/>
              </a:rPr>
              <a:t>Protocols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: 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dirty="0">
                <a:latin typeface="Helvetica" charset="0"/>
                <a:ea typeface="MS PGothic" panose="020B0600070205080204" charset="-128"/>
              </a:rPr>
              <a:t>Addressing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: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ARP</a:t>
            </a:r>
            <a:endParaRPr lang="en-US" altLang="zh-CN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dirty="0">
                <a:latin typeface="Helvetica" charset="0"/>
                <a:ea typeface="MS PGothic" panose="020B0600070205080204" charset="-128"/>
              </a:rPr>
              <a:t>Media Access Control (MAC)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: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e.g., CSMA/CD - </a:t>
            </a:r>
            <a:r>
              <a:rPr lang="en-US" sz="2000" i="1" dirty="0">
                <a:latin typeface="Helvetica" charset="0"/>
                <a:ea typeface="MS PGothic" panose="020B0600070205080204" charset="-128"/>
              </a:rPr>
              <a:t>Carrier Sense Multiple Access / Collision Detection</a:t>
            </a:r>
            <a:endParaRPr lang="en-US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>
                <a:latin typeface="Helvetica" charset="0"/>
                <a:ea typeface="MS PGothic" panose="020B0600070205080204" charset="-128"/>
              </a:rPr>
              <a:t>Datalink Layer (2)</a:t>
            </a:r>
            <a:endParaRPr lang="en-US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7772400" y="795340"/>
            <a:ext cx="1322388" cy="2381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Transport</a:t>
            </a:r>
            <a:endParaRPr lang="en-US">
              <a:latin typeface="Helvetica" charset="0"/>
            </a:endParaRPr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7772400" y="1033463"/>
            <a:ext cx="1322388" cy="2397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Network</a:t>
            </a:r>
            <a:endParaRPr lang="en-US">
              <a:latin typeface="Helvetica" charset="0"/>
            </a:endParaRPr>
          </a:p>
        </p:txBody>
      </p:sp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7772400" y="1273177"/>
            <a:ext cx="1322388" cy="239713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Helvetica" charset="0"/>
              </a:rPr>
              <a:t>Datalink</a:t>
            </a:r>
            <a:endParaRPr lang="en-US">
              <a:solidFill>
                <a:schemeClr val="bg1"/>
              </a:solidFill>
              <a:latin typeface="Helvetica" charset="0"/>
            </a:endParaRPr>
          </a:p>
        </p:txBody>
      </p:sp>
      <p:sp>
        <p:nvSpPr>
          <p:cNvPr id="18439" name="Rectangle 7"/>
          <p:cNvSpPr>
            <a:spLocks noChangeArrowheads="1"/>
          </p:cNvSpPr>
          <p:nvPr/>
        </p:nvSpPr>
        <p:spPr bwMode="auto">
          <a:xfrm>
            <a:off x="7772400" y="1512888"/>
            <a:ext cx="1322388" cy="2397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Physical</a:t>
            </a:r>
            <a:endParaRPr lang="en-US">
              <a:latin typeface="Helvetica" charset="0"/>
            </a:endParaRPr>
          </a:p>
        </p:txBody>
      </p:sp>
      <p:sp>
        <p:nvSpPr>
          <p:cNvPr id="18440" name="Rectangle 8"/>
          <p:cNvSpPr>
            <a:spLocks noChangeArrowheads="1"/>
          </p:cNvSpPr>
          <p:nvPr/>
        </p:nvSpPr>
        <p:spPr bwMode="auto">
          <a:xfrm>
            <a:off x="7772400" y="555627"/>
            <a:ext cx="1322388" cy="239713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ot"/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folHlink"/>
                </a:solidFill>
                <a:latin typeface="Helvetica" charset="0"/>
              </a:rPr>
              <a:t>Session</a:t>
            </a:r>
            <a:endParaRPr lang="en-US">
              <a:solidFill>
                <a:schemeClr val="folHlink"/>
              </a:solidFill>
              <a:latin typeface="Helvetica" charset="0"/>
            </a:endParaRPr>
          </a:p>
        </p:txBody>
      </p:sp>
      <p:sp>
        <p:nvSpPr>
          <p:cNvPr id="18441" name="Rectangle 9"/>
          <p:cNvSpPr>
            <a:spLocks noChangeArrowheads="1"/>
          </p:cNvSpPr>
          <p:nvPr/>
        </p:nvSpPr>
        <p:spPr bwMode="auto">
          <a:xfrm>
            <a:off x="7772400" y="315913"/>
            <a:ext cx="1322388" cy="239712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ot"/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folHlink"/>
                </a:solidFill>
                <a:latin typeface="Helvetica" charset="0"/>
              </a:rPr>
              <a:t>Present.</a:t>
            </a:r>
            <a:endParaRPr lang="en-US">
              <a:solidFill>
                <a:schemeClr val="folHlink"/>
              </a:solidFill>
              <a:latin typeface="Helvetica" charset="0"/>
            </a:endParaRPr>
          </a:p>
        </p:txBody>
      </p:sp>
      <p:sp>
        <p:nvSpPr>
          <p:cNvPr id="18442" name="Rectangle 10"/>
          <p:cNvSpPr>
            <a:spLocks noChangeArrowheads="1"/>
          </p:cNvSpPr>
          <p:nvPr/>
        </p:nvSpPr>
        <p:spPr bwMode="auto">
          <a:xfrm>
            <a:off x="7772400" y="76202"/>
            <a:ext cx="1322388" cy="23971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Application</a:t>
            </a:r>
            <a:endParaRPr lang="en-US">
              <a:latin typeface="Helvetica" charset="0"/>
            </a:endParaRPr>
          </a:p>
        </p:txBody>
      </p:sp>
      <p:sp>
        <p:nvSpPr>
          <p:cNvPr id="11" name="圆角矩形 10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0179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7239000" cy="1752600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panose="020B0600070205080204" charset="-128"/>
              </a:rPr>
              <a:t>Each </a:t>
            </a:r>
            <a:r>
              <a:rPr lang="en-US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frame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 has a header which contains a source and a destination MAC address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r>
              <a:rPr lang="en-US" altLang="zh-CN" dirty="0">
                <a:latin typeface="Helvetica" charset="0"/>
                <a:ea typeface="MS PGothic" panose="020B0600070205080204" charset="-128"/>
              </a:rPr>
              <a:t>ARP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to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address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(using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broadcast)</a:t>
            </a:r>
            <a:endParaRPr lang="en-US" altLang="zh-CN" dirty="0">
              <a:latin typeface="Helvetica" charset="0"/>
              <a:ea typeface="MS PGothic" panose="020B0600070205080204" charset="-128"/>
            </a:endParaRPr>
          </a:p>
          <a:p>
            <a:r>
              <a:rPr lang="en-US" altLang="zh-CN" dirty="0">
                <a:latin typeface="Helvetica" charset="0"/>
                <a:ea typeface="MS PGothic" panose="020B0600070205080204" charset="-128"/>
              </a:rPr>
              <a:t>Can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have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flow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control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or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not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>
              <a:buFontTx/>
              <a:buNone/>
            </a:pPr>
            <a:endParaRPr lang="en-US" dirty="0">
              <a:latin typeface="Helvetica" charset="0"/>
              <a:ea typeface="MS PGothic" panose="020B0600070205080204" charset="-128"/>
            </a:endParaRPr>
          </a:p>
          <a:p>
            <a:endParaRPr lang="en-US" dirty="0">
              <a:latin typeface="Helvetica" charset="0"/>
              <a:ea typeface="MS PGothic" panose="020B0600070205080204" charset="-128"/>
            </a:endParaRPr>
          </a:p>
          <a:p>
            <a:pPr>
              <a:buFontTx/>
              <a:buNone/>
            </a:pPr>
            <a:endParaRPr lang="en-US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>
                <a:latin typeface="Helvetica" charset="0"/>
                <a:ea typeface="MS PGothic" panose="020B0600070205080204" charset="-128"/>
              </a:rPr>
              <a:t>Datalink Layer (2)</a:t>
            </a:r>
            <a:endParaRPr lang="en-US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Rectangle 3"/>
          <p:cNvSpPr/>
          <p:nvPr/>
        </p:nvSpPr>
        <p:spPr bwMode="auto">
          <a:xfrm>
            <a:off x="1447800" y="5638800"/>
            <a:ext cx="2743200" cy="5334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600" b="0" dirty="0">
              <a:latin typeface="Helvetica"/>
              <a:ea typeface="MS PGothic" panose="020B0600070205080204" charset="-128"/>
              <a:cs typeface="Helvetica"/>
            </a:endParaRP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1447800" y="5715000"/>
            <a:ext cx="2698750" cy="40005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>
            <a:noFill/>
            <a:miter lim="800000"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9pPr>
          </a:lstStyle>
          <a:p>
            <a:pPr eaLnBrk="1" hangingPunct="1">
              <a:defRPr/>
            </a:pPr>
            <a:r>
              <a:rPr lang="en-US" sz="2000" b="0">
                <a:latin typeface="Helvetica" charset="0"/>
                <a:cs typeface="Helvetica" charset="0"/>
              </a:rPr>
              <a:t>101010100110101110</a:t>
            </a:r>
            <a:endParaRPr lang="en-US" sz="2000" b="0">
              <a:latin typeface="Helvetica" charset="0"/>
              <a:cs typeface="Helvetica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4343400"/>
            <a:ext cx="1295400" cy="762000"/>
          </a:xfrm>
          <a:prstGeom prst="rect">
            <a:avLst/>
          </a:prstGeom>
          <a:solidFill>
            <a:srgbClr val="FECF59"/>
          </a:solidFill>
          <a:ln w="25400">
            <a:solidFill>
              <a:schemeClr val="tx1"/>
            </a:solidFill>
            <a:round/>
            <a:headEnd type="triangle" w="med" len="med"/>
          </a:ln>
          <a:effectLst>
            <a:outerShdw blurRad="50800" dist="38100" dir="2700000" rotWithShape="0">
              <a:srgbClr val="000000">
                <a:alpha val="42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2000" b="0" dirty="0" err="1">
                <a:latin typeface="Helvetica"/>
                <a:ea typeface="MS PGothic" panose="020B0600070205080204" charset="-128"/>
                <a:cs typeface="Helvetica"/>
              </a:rPr>
              <a:t>Datalink</a:t>
            </a:r>
            <a:r>
              <a:rPr lang="en-US" sz="2000" b="0" dirty="0">
                <a:latin typeface="Helvetica"/>
                <a:ea typeface="MS PGothic" panose="020B0600070205080204" charset="-128"/>
                <a:cs typeface="Helvetica"/>
              </a:rPr>
              <a:t> Layer </a:t>
            </a:r>
            <a:endParaRPr lang="en-US" sz="2000" b="0" dirty="0">
              <a:latin typeface="Helvetica"/>
              <a:ea typeface="MS PGothic" panose="020B0600070205080204" charset="-128"/>
              <a:cs typeface="Helvetica"/>
            </a:endParaRPr>
          </a:p>
        </p:txBody>
      </p:sp>
      <p:sp>
        <p:nvSpPr>
          <p:cNvPr id="19463" name="Rectangle 6"/>
          <p:cNvSpPr>
            <a:spLocks noChangeArrowheads="1"/>
          </p:cNvSpPr>
          <p:nvPr/>
        </p:nvSpPr>
        <p:spPr bwMode="auto">
          <a:xfrm>
            <a:off x="1447800" y="4419600"/>
            <a:ext cx="685800" cy="609600"/>
          </a:xfrm>
          <a:prstGeom prst="rect">
            <a:avLst/>
          </a:prstGeom>
          <a:solidFill>
            <a:srgbClr val="FECF59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Arial Narrow" panose="020B0606020202030204" charset="0"/>
              </a:rPr>
              <a:t>Frame</a:t>
            </a:r>
            <a:endParaRPr lang="en-US" sz="1600" b="0">
              <a:latin typeface="Arial Narrow" panose="020B0606020202030204" charset="0"/>
            </a:endParaRPr>
          </a:p>
          <a:p>
            <a:pPr algn="ctr"/>
            <a:r>
              <a:rPr lang="en-US" sz="1600" b="0">
                <a:latin typeface="Arial Narrow" panose="020B0606020202030204" charset="0"/>
              </a:rPr>
              <a:t>Hdr.</a:t>
            </a:r>
            <a:endParaRPr lang="en-US" sz="1600" b="0">
              <a:latin typeface="Arial Narrow" panose="020B060602020203020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848600" y="4343400"/>
            <a:ext cx="1295400" cy="762000"/>
          </a:xfrm>
          <a:prstGeom prst="rect">
            <a:avLst/>
          </a:prstGeom>
          <a:solidFill>
            <a:srgbClr val="FECF59"/>
          </a:solidFill>
          <a:ln w="25400">
            <a:solidFill>
              <a:schemeClr val="tx1"/>
            </a:solidFill>
            <a:round/>
            <a:headEnd type="triangle" w="med" len="med"/>
          </a:ln>
          <a:effectLst>
            <a:outerShdw blurRad="50800" dist="38100" dir="2700000" rotWithShape="0">
              <a:srgbClr val="000000">
                <a:alpha val="42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2000" b="0" dirty="0" err="1">
                <a:latin typeface="Helvetica"/>
                <a:ea typeface="MS PGothic" panose="020B0600070205080204" charset="-128"/>
                <a:cs typeface="Helvetica"/>
              </a:rPr>
              <a:t>Datalink</a:t>
            </a:r>
            <a:r>
              <a:rPr lang="en-US" sz="2000" b="0" dirty="0">
                <a:latin typeface="Helvetica"/>
                <a:ea typeface="MS PGothic" panose="020B0600070205080204" charset="-128"/>
                <a:cs typeface="Helvetica"/>
              </a:rPr>
              <a:t> Layer </a:t>
            </a:r>
            <a:endParaRPr lang="en-US" sz="2000" b="0" dirty="0">
              <a:latin typeface="Helvetica"/>
              <a:ea typeface="MS PGothic" panose="020B0600070205080204" charset="-128"/>
              <a:cs typeface="Helvetica"/>
            </a:endParaRPr>
          </a:p>
        </p:txBody>
      </p:sp>
      <p:sp>
        <p:nvSpPr>
          <p:cNvPr id="19465" name="Rectangle 8"/>
          <p:cNvSpPr>
            <a:spLocks noChangeArrowheads="1"/>
          </p:cNvSpPr>
          <p:nvPr/>
        </p:nvSpPr>
        <p:spPr bwMode="auto">
          <a:xfrm>
            <a:off x="4953000" y="4419600"/>
            <a:ext cx="685800" cy="609600"/>
          </a:xfrm>
          <a:prstGeom prst="rect">
            <a:avLst/>
          </a:prstGeom>
          <a:solidFill>
            <a:srgbClr val="FECF59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Arial Narrow" panose="020B0606020202030204" charset="0"/>
              </a:rPr>
              <a:t>Frame</a:t>
            </a:r>
            <a:endParaRPr lang="en-US" sz="1600" b="0">
              <a:latin typeface="Arial Narrow" panose="020B0606020202030204" charset="0"/>
            </a:endParaRPr>
          </a:p>
          <a:p>
            <a:pPr algn="ctr"/>
            <a:r>
              <a:rPr lang="en-US" sz="1600" b="0">
                <a:latin typeface="Arial Narrow" panose="020B0606020202030204" charset="0"/>
              </a:rPr>
              <a:t>Hdr.</a:t>
            </a:r>
            <a:endParaRPr lang="en-US" sz="1600" b="0">
              <a:latin typeface="Arial Narrow" panose="020B0606020202030204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5486400"/>
            <a:ext cx="1295400" cy="762000"/>
          </a:xfrm>
          <a:prstGeom prst="rect">
            <a:avLst/>
          </a:prstGeom>
          <a:solidFill>
            <a:srgbClr val="BDBDBD"/>
          </a:solidFill>
          <a:ln w="25400">
            <a:solidFill>
              <a:schemeClr val="tx1"/>
            </a:solidFill>
            <a:round/>
            <a:headEnd type="triangle" w="med" len="med"/>
          </a:ln>
          <a:effectLst>
            <a:outerShdw blurRad="50800" dist="38100" dir="2700000" rotWithShape="0">
              <a:srgbClr val="000000">
                <a:alpha val="42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2000" b="0" dirty="0">
                <a:latin typeface="Helvetica"/>
                <a:ea typeface="MS PGothic" panose="020B0600070205080204" charset="-128"/>
                <a:cs typeface="Helvetica"/>
              </a:rPr>
              <a:t>Physical Layer </a:t>
            </a:r>
            <a:endParaRPr lang="en-US" sz="2000" b="0" dirty="0">
              <a:latin typeface="Helvetica"/>
              <a:ea typeface="MS PGothic" panose="020B0600070205080204" charset="-128"/>
              <a:cs typeface="Helvetica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848600" y="5486400"/>
            <a:ext cx="1295400" cy="762000"/>
          </a:xfrm>
          <a:prstGeom prst="rect">
            <a:avLst/>
          </a:prstGeom>
          <a:solidFill>
            <a:srgbClr val="BDBDBD"/>
          </a:solidFill>
          <a:ln w="25400">
            <a:solidFill>
              <a:schemeClr val="tx1"/>
            </a:solidFill>
            <a:round/>
            <a:headEnd type="triangle" w="med" len="med"/>
          </a:ln>
          <a:effectLst>
            <a:outerShdw blurRad="50800" dist="38100" dir="2700000" rotWithShape="0">
              <a:srgbClr val="000000">
                <a:alpha val="42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2000" b="0" dirty="0">
                <a:latin typeface="Helvetica"/>
                <a:ea typeface="MS PGothic" panose="020B0600070205080204" charset="-128"/>
                <a:cs typeface="Helvetica"/>
              </a:rPr>
              <a:t>Physical Layer </a:t>
            </a:r>
            <a:endParaRPr lang="en-US" sz="2000" b="0" dirty="0">
              <a:latin typeface="Helvetica"/>
              <a:ea typeface="MS PGothic" panose="020B0600070205080204" charset="-128"/>
              <a:cs typeface="Helvetica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4953000" y="5638800"/>
            <a:ext cx="2743200" cy="5334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600" b="0" dirty="0">
              <a:latin typeface="Helvetica"/>
              <a:ea typeface="MS PGothic" panose="020B0600070205080204" charset="-128"/>
              <a:cs typeface="Helvetica"/>
            </a:endParaRPr>
          </a:p>
        </p:txBody>
      </p:sp>
      <p:sp>
        <p:nvSpPr>
          <p:cNvPr id="13" name="TextBox 2"/>
          <p:cNvSpPr txBox="1">
            <a:spLocks noChangeArrowheads="1"/>
          </p:cNvSpPr>
          <p:nvPr/>
        </p:nvSpPr>
        <p:spPr bwMode="auto">
          <a:xfrm>
            <a:off x="4953000" y="5715000"/>
            <a:ext cx="2698750" cy="40005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>
            <a:noFill/>
            <a:miter lim="800000"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9pPr>
          </a:lstStyle>
          <a:p>
            <a:pPr eaLnBrk="1" hangingPunct="1">
              <a:defRPr/>
            </a:pPr>
            <a:r>
              <a:rPr lang="en-US" sz="2000" b="0">
                <a:latin typeface="Helvetica" charset="0"/>
                <a:cs typeface="Helvetica" charset="0"/>
              </a:rPr>
              <a:t>101010100110101110</a:t>
            </a:r>
            <a:endParaRPr lang="en-US" sz="2000" b="0">
              <a:latin typeface="Helvetica" charset="0"/>
              <a:cs typeface="Helvetica" charset="0"/>
            </a:endParaRPr>
          </a:p>
        </p:txBody>
      </p:sp>
      <p:sp>
        <p:nvSpPr>
          <p:cNvPr id="19470" name="Rectangle 13"/>
          <p:cNvSpPr>
            <a:spLocks noChangeArrowheads="1"/>
          </p:cNvSpPr>
          <p:nvPr/>
        </p:nvSpPr>
        <p:spPr bwMode="auto">
          <a:xfrm>
            <a:off x="2133600" y="4419600"/>
            <a:ext cx="2057400" cy="609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Helvetica" charset="0"/>
              </a:rPr>
              <a:t>Frame Payload</a:t>
            </a:r>
            <a:endParaRPr lang="en-US" sz="1600" b="0">
              <a:latin typeface="Helvetica" charset="0"/>
            </a:endParaRPr>
          </a:p>
        </p:txBody>
      </p:sp>
      <p:sp>
        <p:nvSpPr>
          <p:cNvPr id="19471" name="Rectangle 14"/>
          <p:cNvSpPr>
            <a:spLocks noChangeArrowheads="1"/>
          </p:cNvSpPr>
          <p:nvPr/>
        </p:nvSpPr>
        <p:spPr bwMode="auto">
          <a:xfrm>
            <a:off x="5638800" y="4419600"/>
            <a:ext cx="2057400" cy="609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Helvetica" charset="0"/>
              </a:rPr>
              <a:t>Frame Payload</a:t>
            </a:r>
            <a:endParaRPr lang="en-US" sz="1600" b="0">
              <a:latin typeface="Helvetica" charset="0"/>
            </a:endParaRPr>
          </a:p>
        </p:txBody>
      </p:sp>
      <p:cxnSp>
        <p:nvCxnSpPr>
          <p:cNvPr id="19472" name="Straight Arrow Connector 15"/>
          <p:cNvCxnSpPr>
            <a:cxnSpLocks noChangeShapeType="1"/>
            <a:stCxn id="4" idx="3"/>
            <a:endCxn id="13" idx="1"/>
          </p:cNvCxnSpPr>
          <p:nvPr/>
        </p:nvCxnSpPr>
        <p:spPr bwMode="auto">
          <a:xfrm>
            <a:off x="4191000" y="5905502"/>
            <a:ext cx="762000" cy="9525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9473" name="TextBox 16"/>
          <p:cNvSpPr txBox="1">
            <a:spLocks noChangeArrowheads="1"/>
          </p:cNvSpPr>
          <p:nvPr/>
        </p:nvSpPr>
        <p:spPr bwMode="auto">
          <a:xfrm>
            <a:off x="93665" y="3200402"/>
            <a:ext cx="1125537" cy="70802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algn="ctr" eaLnBrk="1" hangingPunct="1"/>
            <a:r>
              <a:rPr lang="en-US" sz="2000" b="0">
                <a:latin typeface="Helvetica" charset="0"/>
              </a:rPr>
              <a:t>Network</a:t>
            </a:r>
            <a:endParaRPr lang="en-US" sz="2000" b="0">
              <a:latin typeface="Helvetica" charset="0"/>
            </a:endParaRPr>
          </a:p>
          <a:p>
            <a:pPr algn="ctr" eaLnBrk="1" hangingPunct="1"/>
            <a:r>
              <a:rPr lang="en-US" sz="2000" b="0">
                <a:latin typeface="Helvetica" charset="0"/>
              </a:rPr>
              <a:t>Layer</a:t>
            </a:r>
            <a:endParaRPr lang="en-US" sz="2000" b="0">
              <a:latin typeface="Helvetica" charset="0"/>
            </a:endParaRPr>
          </a:p>
        </p:txBody>
      </p:sp>
      <p:sp>
        <p:nvSpPr>
          <p:cNvPr id="19474" name="TextBox 17"/>
          <p:cNvSpPr txBox="1">
            <a:spLocks noChangeArrowheads="1"/>
          </p:cNvSpPr>
          <p:nvPr/>
        </p:nvSpPr>
        <p:spPr bwMode="auto">
          <a:xfrm>
            <a:off x="8018465" y="3200402"/>
            <a:ext cx="1125537" cy="70802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algn="ctr" eaLnBrk="1" hangingPunct="1"/>
            <a:r>
              <a:rPr lang="en-US" sz="2000" b="0">
                <a:latin typeface="Helvetica" charset="0"/>
              </a:rPr>
              <a:t>Network</a:t>
            </a:r>
            <a:endParaRPr lang="en-US" sz="2000" b="0">
              <a:latin typeface="Helvetica" charset="0"/>
            </a:endParaRPr>
          </a:p>
          <a:p>
            <a:pPr algn="ctr" eaLnBrk="1" hangingPunct="1"/>
            <a:r>
              <a:rPr lang="en-US" sz="2000" b="0">
                <a:latin typeface="Helvetica" charset="0"/>
              </a:rPr>
              <a:t>Layer</a:t>
            </a:r>
            <a:endParaRPr lang="en-US" sz="2000" b="0">
              <a:latin typeface="Helvetica" charset="0"/>
            </a:endParaRPr>
          </a:p>
        </p:txBody>
      </p:sp>
      <p:cxnSp>
        <p:nvCxnSpPr>
          <p:cNvPr id="19475" name="Straight Arrow Connector 18"/>
          <p:cNvCxnSpPr>
            <a:cxnSpLocks noChangeShapeType="1"/>
          </p:cNvCxnSpPr>
          <p:nvPr/>
        </p:nvCxnSpPr>
        <p:spPr bwMode="auto">
          <a:xfrm>
            <a:off x="4191000" y="4724402"/>
            <a:ext cx="762000" cy="9525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ysDash"/>
            <a:round/>
            <a:headEnd type="triangle" w="med" len="med"/>
            <a:tailEnd type="triangle" w="med" len="med"/>
          </a:ln>
        </p:spPr>
      </p:cxnSp>
      <p:sp>
        <p:nvSpPr>
          <p:cNvPr id="19476" name="Up-Down Arrow 19"/>
          <p:cNvSpPr>
            <a:spLocks noChangeArrowheads="1"/>
          </p:cNvSpPr>
          <p:nvPr/>
        </p:nvSpPr>
        <p:spPr bwMode="auto">
          <a:xfrm>
            <a:off x="533400" y="5105400"/>
            <a:ext cx="228600" cy="3810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19477" name="Up-Down Arrow 20"/>
          <p:cNvSpPr>
            <a:spLocks noChangeArrowheads="1"/>
          </p:cNvSpPr>
          <p:nvPr/>
        </p:nvSpPr>
        <p:spPr bwMode="auto">
          <a:xfrm>
            <a:off x="8382000" y="5105400"/>
            <a:ext cx="228600" cy="3810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19478" name="Up-Down Arrow 21"/>
          <p:cNvSpPr>
            <a:spLocks noChangeArrowheads="1"/>
          </p:cNvSpPr>
          <p:nvPr/>
        </p:nvSpPr>
        <p:spPr bwMode="auto">
          <a:xfrm>
            <a:off x="533400" y="3962400"/>
            <a:ext cx="228600" cy="3810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19479" name="Up-Down Arrow 22"/>
          <p:cNvSpPr>
            <a:spLocks noChangeArrowheads="1"/>
          </p:cNvSpPr>
          <p:nvPr/>
        </p:nvSpPr>
        <p:spPr bwMode="auto">
          <a:xfrm>
            <a:off x="8382000" y="3962400"/>
            <a:ext cx="228600" cy="3810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19480" name="Rectangular Callout 23"/>
          <p:cNvSpPr>
            <a:spLocks noChangeArrowheads="1"/>
          </p:cNvSpPr>
          <p:nvPr/>
        </p:nvSpPr>
        <p:spPr bwMode="auto">
          <a:xfrm>
            <a:off x="1905000" y="3048000"/>
            <a:ext cx="2971800" cy="1066800"/>
          </a:xfrm>
          <a:prstGeom prst="wedgeRectCallout">
            <a:avLst>
              <a:gd name="adj1" fmla="val -54861"/>
              <a:gd name="adj2" fmla="val 81546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0">
                <a:latin typeface="Helvetica" charset="0"/>
              </a:rPr>
              <a:t> MAC Dest. Address</a:t>
            </a:r>
            <a:endParaRPr lang="en-US" sz="2000" b="0">
              <a:latin typeface="Helvetica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>
                <a:latin typeface="Helvetica" charset="0"/>
              </a:rPr>
              <a:t> MAC Src. Address</a:t>
            </a:r>
            <a:endParaRPr lang="en-US" sz="2000" b="0">
              <a:latin typeface="Helvetica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>
                <a:latin typeface="Helvetica" charset="0"/>
              </a:rPr>
              <a:t>…</a:t>
            </a:r>
            <a:endParaRPr lang="en-US" sz="2000" b="0">
              <a:latin typeface="Helvetica" charset="0"/>
            </a:endParaRPr>
          </a:p>
        </p:txBody>
      </p:sp>
      <p:sp>
        <p:nvSpPr>
          <p:cNvPr id="19481" name="Rectangle 4"/>
          <p:cNvSpPr>
            <a:spLocks noChangeArrowheads="1"/>
          </p:cNvSpPr>
          <p:nvPr/>
        </p:nvSpPr>
        <p:spPr bwMode="auto">
          <a:xfrm>
            <a:off x="7772400" y="795340"/>
            <a:ext cx="1322388" cy="2381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Transport</a:t>
            </a:r>
            <a:endParaRPr lang="en-US">
              <a:latin typeface="Helvetica" charset="0"/>
            </a:endParaRPr>
          </a:p>
        </p:txBody>
      </p:sp>
      <p:sp>
        <p:nvSpPr>
          <p:cNvPr id="19482" name="Rectangle 5"/>
          <p:cNvSpPr>
            <a:spLocks noChangeArrowheads="1"/>
          </p:cNvSpPr>
          <p:nvPr/>
        </p:nvSpPr>
        <p:spPr bwMode="auto">
          <a:xfrm>
            <a:off x="7772400" y="1033463"/>
            <a:ext cx="1322388" cy="2397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Network</a:t>
            </a:r>
            <a:endParaRPr lang="en-US">
              <a:latin typeface="Helvetica" charset="0"/>
            </a:endParaRPr>
          </a:p>
        </p:txBody>
      </p:sp>
      <p:sp>
        <p:nvSpPr>
          <p:cNvPr id="19483" name="Rectangle 6"/>
          <p:cNvSpPr>
            <a:spLocks noChangeArrowheads="1"/>
          </p:cNvSpPr>
          <p:nvPr/>
        </p:nvSpPr>
        <p:spPr bwMode="auto">
          <a:xfrm>
            <a:off x="7772400" y="1273177"/>
            <a:ext cx="1322388" cy="239713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Helvetica" charset="0"/>
              </a:rPr>
              <a:t>Datalink</a:t>
            </a:r>
            <a:endParaRPr lang="en-US">
              <a:solidFill>
                <a:schemeClr val="bg1"/>
              </a:solidFill>
              <a:latin typeface="Helvetica" charset="0"/>
            </a:endParaRPr>
          </a:p>
        </p:txBody>
      </p:sp>
      <p:sp>
        <p:nvSpPr>
          <p:cNvPr id="19484" name="Rectangle 7"/>
          <p:cNvSpPr>
            <a:spLocks noChangeArrowheads="1"/>
          </p:cNvSpPr>
          <p:nvPr/>
        </p:nvSpPr>
        <p:spPr bwMode="auto">
          <a:xfrm>
            <a:off x="7772400" y="1512888"/>
            <a:ext cx="1322388" cy="2397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Physical</a:t>
            </a:r>
            <a:endParaRPr lang="en-US">
              <a:latin typeface="Helvetica" charset="0"/>
            </a:endParaRPr>
          </a:p>
        </p:txBody>
      </p:sp>
      <p:sp>
        <p:nvSpPr>
          <p:cNvPr id="19485" name="Rectangle 8"/>
          <p:cNvSpPr>
            <a:spLocks noChangeArrowheads="1"/>
          </p:cNvSpPr>
          <p:nvPr/>
        </p:nvSpPr>
        <p:spPr bwMode="auto">
          <a:xfrm>
            <a:off x="7772400" y="555627"/>
            <a:ext cx="1322388" cy="239713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ot"/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folHlink"/>
                </a:solidFill>
                <a:latin typeface="Helvetica" charset="0"/>
              </a:rPr>
              <a:t>Session</a:t>
            </a:r>
            <a:endParaRPr lang="en-US">
              <a:solidFill>
                <a:schemeClr val="folHlink"/>
              </a:solidFill>
              <a:latin typeface="Helvetica" charset="0"/>
            </a:endParaRPr>
          </a:p>
        </p:txBody>
      </p:sp>
      <p:sp>
        <p:nvSpPr>
          <p:cNvPr id="19486" name="Rectangle 9"/>
          <p:cNvSpPr>
            <a:spLocks noChangeArrowheads="1"/>
          </p:cNvSpPr>
          <p:nvPr/>
        </p:nvSpPr>
        <p:spPr bwMode="auto">
          <a:xfrm>
            <a:off x="7772400" y="315913"/>
            <a:ext cx="1322388" cy="239712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ot"/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folHlink"/>
                </a:solidFill>
                <a:latin typeface="Helvetica" charset="0"/>
              </a:rPr>
              <a:t>Present.</a:t>
            </a:r>
            <a:endParaRPr lang="en-US">
              <a:solidFill>
                <a:schemeClr val="folHlink"/>
              </a:solidFill>
              <a:latin typeface="Helvetica" charset="0"/>
            </a:endParaRPr>
          </a:p>
        </p:txBody>
      </p:sp>
      <p:sp>
        <p:nvSpPr>
          <p:cNvPr id="19487" name="Rectangle 10"/>
          <p:cNvSpPr>
            <a:spLocks noChangeArrowheads="1"/>
          </p:cNvSpPr>
          <p:nvPr/>
        </p:nvSpPr>
        <p:spPr bwMode="auto">
          <a:xfrm>
            <a:off x="7772400" y="76202"/>
            <a:ext cx="1322388" cy="23971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Application</a:t>
            </a:r>
            <a:endParaRPr lang="en-US">
              <a:latin typeface="Helvetica" charset="0"/>
            </a:endParaRPr>
          </a:p>
        </p:txBody>
      </p:sp>
      <p:sp>
        <p:nvSpPr>
          <p:cNvPr id="32" name="圆角矩形 31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227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90600"/>
            <a:ext cx="8229600" cy="51054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b="1" dirty="0">
                <a:latin typeface="Helvetica" charset="0"/>
                <a:ea typeface="MS PGothic" panose="020B0600070205080204" charset="-128"/>
              </a:rPr>
              <a:t>Service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: 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r>
              <a:rPr lang="en-US" dirty="0">
                <a:latin typeface="Helvetica" charset="0"/>
                <a:ea typeface="MS PGothic" panose="020B0600070205080204" charset="-128"/>
              </a:rPr>
              <a:t>Deliver packets to specified </a:t>
            </a:r>
            <a:r>
              <a:rPr lang="en-US" b="1" dirty="0">
                <a:latin typeface="Helvetica" charset="0"/>
                <a:ea typeface="MS PGothic" panose="020B0600070205080204" charset="-128"/>
              </a:rPr>
              <a:t>network (IP) addresses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 across multiple datalink layer networks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r>
              <a:rPr lang="en-US" dirty="0">
                <a:latin typeface="Helvetica" charset="0"/>
                <a:ea typeface="MS PGothic" panose="020B0600070205080204" charset="-128"/>
              </a:rPr>
              <a:t>Possible other services: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2">
              <a:lnSpc>
                <a:spcPct val="100000"/>
              </a:lnSpc>
            </a:pPr>
            <a:r>
              <a:rPr lang="en-US" sz="2200" dirty="0">
                <a:latin typeface="Helvetica" charset="0"/>
                <a:ea typeface="MS PGothic" panose="020B0600070205080204" charset="-128"/>
              </a:rPr>
              <a:t>Packet </a:t>
            </a:r>
            <a:r>
              <a:rPr lang="en-US" sz="2200" i="1" dirty="0">
                <a:latin typeface="Helvetica" charset="0"/>
                <a:ea typeface="MS PGothic" panose="020B0600070205080204" charset="-128"/>
              </a:rPr>
              <a:t>scheduling/priority</a:t>
            </a:r>
            <a:endParaRPr lang="en-US" sz="2200" dirty="0">
              <a:latin typeface="Helvetica" charset="0"/>
              <a:ea typeface="MS PGothic" panose="020B0600070205080204" charset="-128"/>
            </a:endParaRPr>
          </a:p>
          <a:p>
            <a:pPr lvl="2">
              <a:lnSpc>
                <a:spcPct val="100000"/>
              </a:lnSpc>
            </a:pPr>
            <a:r>
              <a:rPr lang="en-US" sz="2200" dirty="0">
                <a:latin typeface="Helvetica" charset="0"/>
                <a:ea typeface="MS PGothic" panose="020B0600070205080204" charset="-128"/>
              </a:rPr>
              <a:t>Buffer management</a:t>
            </a:r>
            <a:endParaRPr lang="en-US" sz="2200" dirty="0">
              <a:latin typeface="Helvetica" charset="0"/>
              <a:ea typeface="MS PGothic" panose="020B0600070205080204" charset="-128"/>
            </a:endParaRPr>
          </a:p>
          <a:p>
            <a:pPr>
              <a:lnSpc>
                <a:spcPct val="100000"/>
              </a:lnSpc>
            </a:pPr>
            <a:endParaRPr lang="en-US" b="1" dirty="0">
              <a:latin typeface="Helvetica" charset="0"/>
              <a:ea typeface="MS PGothic" panose="020B0600070205080204" charset="-128"/>
            </a:endParaRPr>
          </a:p>
          <a:p>
            <a:pPr>
              <a:lnSpc>
                <a:spcPct val="100000"/>
              </a:lnSpc>
            </a:pPr>
            <a:r>
              <a:rPr lang="en-US" b="1" dirty="0">
                <a:latin typeface="Helvetica" charset="0"/>
                <a:ea typeface="MS PGothic" panose="020B0600070205080204" charset="-128"/>
              </a:rPr>
              <a:t>Interface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: send </a:t>
            </a:r>
            <a:r>
              <a:rPr lang="en-US" i="1" dirty="0">
                <a:latin typeface="Helvetica" charset="0"/>
                <a:ea typeface="MS PGothic" panose="020B0600070205080204" charset="-128"/>
              </a:rPr>
              <a:t>packets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 to specified network address destination; receive packets destined for end host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>
              <a:lnSpc>
                <a:spcPct val="100000"/>
              </a:lnSpc>
            </a:pPr>
            <a:r>
              <a:rPr lang="en-US" b="1" dirty="0">
                <a:latin typeface="Helvetica" charset="0"/>
                <a:ea typeface="MS PGothic" panose="020B0600070205080204" charset="-128"/>
              </a:rPr>
              <a:t>Protocols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: define network addresses (globally unique); construct forwarding tables; packet forwarding</a:t>
            </a:r>
            <a:endParaRPr lang="en-US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>
                <a:latin typeface="Helvetica" charset="0"/>
                <a:ea typeface="MS PGothic" panose="020B0600070205080204" charset="-128"/>
              </a:rPr>
              <a:t>(Inter) Network Layer (3)</a:t>
            </a:r>
            <a:endParaRPr lang="en-US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7772400" y="795340"/>
            <a:ext cx="1322388" cy="2381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Transport</a:t>
            </a:r>
            <a:endParaRPr lang="en-US">
              <a:latin typeface="Helvetica" charset="0"/>
            </a:endParaRPr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7772400" y="1033463"/>
            <a:ext cx="1322388" cy="239712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Helvetica" charset="0"/>
              </a:rPr>
              <a:t>Network</a:t>
            </a:r>
            <a:endParaRPr lang="en-US">
              <a:solidFill>
                <a:schemeClr val="bg1"/>
              </a:solidFill>
              <a:latin typeface="Helvetica" charset="0"/>
            </a:endParaRPr>
          </a:p>
        </p:txBody>
      </p:sp>
      <p:sp>
        <p:nvSpPr>
          <p:cNvPr id="32774" name="Rectangle 6"/>
          <p:cNvSpPr>
            <a:spLocks noChangeArrowheads="1"/>
          </p:cNvSpPr>
          <p:nvPr/>
        </p:nvSpPr>
        <p:spPr bwMode="auto">
          <a:xfrm>
            <a:off x="7772400" y="1273177"/>
            <a:ext cx="1322388" cy="23971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Datalink</a:t>
            </a:r>
            <a:endParaRPr lang="en-US">
              <a:latin typeface="Helvetica" charset="0"/>
            </a:endParaRPr>
          </a:p>
        </p:txBody>
      </p:sp>
      <p:sp>
        <p:nvSpPr>
          <p:cNvPr id="32775" name="Rectangle 7"/>
          <p:cNvSpPr>
            <a:spLocks noChangeArrowheads="1"/>
          </p:cNvSpPr>
          <p:nvPr/>
        </p:nvSpPr>
        <p:spPr bwMode="auto">
          <a:xfrm>
            <a:off x="7772400" y="1512888"/>
            <a:ext cx="1322388" cy="2397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Physical</a:t>
            </a:r>
            <a:endParaRPr lang="en-US">
              <a:latin typeface="Helvetica" charset="0"/>
            </a:endParaRPr>
          </a:p>
        </p:txBody>
      </p:sp>
      <p:sp>
        <p:nvSpPr>
          <p:cNvPr id="32776" name="Rectangle 8"/>
          <p:cNvSpPr>
            <a:spLocks noChangeArrowheads="1"/>
          </p:cNvSpPr>
          <p:nvPr/>
        </p:nvSpPr>
        <p:spPr bwMode="auto">
          <a:xfrm>
            <a:off x="7772400" y="555627"/>
            <a:ext cx="1322388" cy="239713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ot"/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folHlink"/>
                </a:solidFill>
                <a:latin typeface="Helvetica" charset="0"/>
              </a:rPr>
              <a:t>Session</a:t>
            </a:r>
            <a:endParaRPr lang="en-US">
              <a:solidFill>
                <a:schemeClr val="folHlink"/>
              </a:solidFill>
              <a:latin typeface="Helvetica" charset="0"/>
            </a:endParaRPr>
          </a:p>
        </p:txBody>
      </p:sp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7772400" y="315913"/>
            <a:ext cx="1322388" cy="239712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ot"/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folHlink"/>
                </a:solidFill>
                <a:latin typeface="Helvetica" charset="0"/>
              </a:rPr>
              <a:t>Present.</a:t>
            </a:r>
            <a:endParaRPr lang="en-US">
              <a:solidFill>
                <a:schemeClr val="folHlink"/>
              </a:solidFill>
              <a:latin typeface="Helvetica" charset="0"/>
            </a:endParaRPr>
          </a:p>
        </p:txBody>
      </p:sp>
      <p:sp>
        <p:nvSpPr>
          <p:cNvPr id="32778" name="Rectangle 10"/>
          <p:cNvSpPr>
            <a:spLocks noChangeArrowheads="1"/>
          </p:cNvSpPr>
          <p:nvPr/>
        </p:nvSpPr>
        <p:spPr bwMode="auto">
          <a:xfrm>
            <a:off x="7772400" y="76202"/>
            <a:ext cx="1322388" cy="23971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Application</a:t>
            </a:r>
            <a:endParaRPr lang="en-US">
              <a:latin typeface="Helvetica" charset="0"/>
            </a:endParaRPr>
          </a:p>
        </p:txBody>
      </p:sp>
      <p:sp>
        <p:nvSpPr>
          <p:cNvPr id="11" name="圆角矩形 10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227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7772400" cy="5105400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IP address</a:t>
            </a:r>
            <a:r>
              <a:rPr lang="en-US" dirty="0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:</a:t>
            </a:r>
            <a:r>
              <a:rPr lang="zh-CN" altLang="en-US" dirty="0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source</a:t>
            </a:r>
            <a:r>
              <a:rPr lang="zh-CN" altLang="en-US" dirty="0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+</a:t>
            </a:r>
            <a:r>
              <a:rPr lang="zh-CN" altLang="en-US" dirty="0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ea typeface="MS PGothic" panose="020B0600070205080204" charset="-128"/>
                <a:cs typeface="Arial" panose="020B0604020202020204" pitchFamily="34" charset="0"/>
              </a:rPr>
              <a:t>destination</a:t>
            </a:r>
            <a:endParaRPr lang="en-US" dirty="0">
              <a:latin typeface="Arial" panose="020B0604020202020204" pitchFamily="34" charset="0"/>
              <a:ea typeface="MS PGothic" panose="020B0600070205080204" charset="-128"/>
              <a:cs typeface="Arial" panose="020B0604020202020204" pitchFamily="34" charset="0"/>
            </a:endParaRPr>
          </a:p>
        </p:txBody>
      </p:sp>
      <p:sp>
        <p:nvSpPr>
          <p:cNvPr id="33794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>
                <a:latin typeface="Helvetica" charset="0"/>
                <a:ea typeface="MS PGothic" panose="020B0600070205080204" charset="-128"/>
              </a:rPr>
              <a:t>(Inter) Network Layer (3)</a:t>
            </a:r>
            <a:endParaRPr lang="en-US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Rectangle 3"/>
          <p:cNvSpPr/>
          <p:nvPr/>
        </p:nvSpPr>
        <p:spPr bwMode="auto">
          <a:xfrm>
            <a:off x="1447800" y="5638800"/>
            <a:ext cx="2743200" cy="5334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600" b="0" dirty="0">
              <a:latin typeface="Helvetica"/>
              <a:ea typeface="MS PGothic" panose="020B0600070205080204" charset="-128"/>
              <a:cs typeface="Helvetica"/>
            </a:endParaRPr>
          </a:p>
        </p:txBody>
      </p:sp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1447800" y="5715000"/>
            <a:ext cx="2698750" cy="40005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>
            <a:noFill/>
            <a:miter lim="800000"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9pPr>
          </a:lstStyle>
          <a:p>
            <a:pPr eaLnBrk="1" hangingPunct="1">
              <a:defRPr/>
            </a:pPr>
            <a:r>
              <a:rPr lang="en-US" sz="2000" b="0">
                <a:latin typeface="Helvetica" charset="0"/>
                <a:cs typeface="Helvetica" charset="0"/>
              </a:rPr>
              <a:t>101010100110101110</a:t>
            </a:r>
            <a:endParaRPr lang="en-US" sz="2000" b="0">
              <a:latin typeface="Helvetica" charset="0"/>
              <a:cs typeface="Helvetica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4343400"/>
            <a:ext cx="1295400" cy="762000"/>
          </a:xfrm>
          <a:prstGeom prst="rect">
            <a:avLst/>
          </a:prstGeom>
          <a:solidFill>
            <a:srgbClr val="FECF59"/>
          </a:solidFill>
          <a:ln w="25400">
            <a:solidFill>
              <a:schemeClr val="tx1"/>
            </a:solidFill>
            <a:round/>
            <a:headEnd type="triangle" w="med" len="med"/>
          </a:ln>
          <a:effectLst>
            <a:outerShdw blurRad="50800" dist="38100" dir="2700000" rotWithShape="0">
              <a:srgbClr val="000000">
                <a:alpha val="42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2000" b="0" dirty="0" err="1">
                <a:latin typeface="Helvetica"/>
                <a:ea typeface="MS PGothic" panose="020B0600070205080204" charset="-128"/>
                <a:cs typeface="Helvetica"/>
              </a:rPr>
              <a:t>Datalink</a:t>
            </a:r>
            <a:r>
              <a:rPr lang="en-US" sz="2000" b="0" dirty="0">
                <a:latin typeface="Helvetica"/>
                <a:ea typeface="MS PGothic" panose="020B0600070205080204" charset="-128"/>
                <a:cs typeface="Helvetica"/>
              </a:rPr>
              <a:t> Layer </a:t>
            </a:r>
            <a:endParaRPr lang="en-US" sz="2000" b="0" dirty="0">
              <a:latin typeface="Helvetica"/>
              <a:ea typeface="MS PGothic" panose="020B0600070205080204" charset="-128"/>
              <a:cs typeface="Helvetica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2133600" y="4419600"/>
            <a:ext cx="685800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1600" b="0" dirty="0">
                <a:latin typeface="Arial Narrow" panose="020B0606020202030204"/>
                <a:ea typeface="MS PGothic" panose="020B0600070205080204" charset="-128"/>
                <a:cs typeface="Arial Narrow" panose="020B0606020202030204"/>
              </a:rPr>
              <a:t>Net.</a:t>
            </a:r>
            <a:endParaRPr lang="en-US" sz="1600" b="0" dirty="0">
              <a:latin typeface="Arial Narrow" panose="020B0606020202030204"/>
              <a:ea typeface="MS PGothic" panose="020B0600070205080204" charset="-128"/>
              <a:cs typeface="Arial Narrow" panose="020B0606020202030204"/>
            </a:endParaRPr>
          </a:p>
          <a:p>
            <a:pPr algn="ctr">
              <a:defRPr/>
            </a:pPr>
            <a:r>
              <a:rPr lang="en-US" sz="1600" b="0" dirty="0" err="1">
                <a:latin typeface="Arial Narrow" panose="020B0606020202030204"/>
                <a:ea typeface="MS PGothic" panose="020B0600070205080204" charset="-128"/>
                <a:cs typeface="Arial Narrow" panose="020B0606020202030204"/>
              </a:rPr>
              <a:t>Hdr</a:t>
            </a:r>
            <a:r>
              <a:rPr lang="en-US" sz="1600" b="0" dirty="0">
                <a:latin typeface="Arial Narrow" panose="020B0606020202030204"/>
                <a:ea typeface="MS PGothic" panose="020B0600070205080204" charset="-128"/>
                <a:cs typeface="Arial Narrow" panose="020B0606020202030204"/>
              </a:rPr>
              <a:t>.</a:t>
            </a:r>
            <a:endParaRPr lang="en-US" sz="1600" b="0" dirty="0">
              <a:latin typeface="Arial Narrow" panose="020B0606020202030204"/>
              <a:ea typeface="MS PGothic" panose="020B0600070205080204" charset="-128"/>
              <a:cs typeface="Arial Narrow" panose="020B0606020202030204"/>
            </a:endParaRPr>
          </a:p>
        </p:txBody>
      </p:sp>
      <p:sp>
        <p:nvSpPr>
          <p:cNvPr id="33800" name="Rectangle 11"/>
          <p:cNvSpPr>
            <a:spLocks noChangeArrowheads="1"/>
          </p:cNvSpPr>
          <p:nvPr/>
        </p:nvSpPr>
        <p:spPr bwMode="auto">
          <a:xfrm>
            <a:off x="1447800" y="4419600"/>
            <a:ext cx="685800" cy="609600"/>
          </a:xfrm>
          <a:prstGeom prst="rect">
            <a:avLst/>
          </a:prstGeom>
          <a:solidFill>
            <a:srgbClr val="FECF59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Arial Narrow" panose="020B0606020202030204" charset="0"/>
              </a:rPr>
              <a:t>Frame</a:t>
            </a:r>
            <a:endParaRPr lang="en-US" sz="1600" b="0">
              <a:latin typeface="Arial Narrow" panose="020B0606020202030204" charset="0"/>
            </a:endParaRPr>
          </a:p>
          <a:p>
            <a:pPr algn="ctr"/>
            <a:r>
              <a:rPr lang="en-US" sz="1600" b="0">
                <a:latin typeface="Arial Narrow" panose="020B0606020202030204" charset="0"/>
              </a:rPr>
              <a:t>Hdr.</a:t>
            </a:r>
            <a:endParaRPr lang="en-US" sz="1600" b="0">
              <a:latin typeface="Arial Narrow" panose="020B0606020202030204" charset="0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7848600" y="4343400"/>
            <a:ext cx="1295400" cy="762000"/>
          </a:xfrm>
          <a:prstGeom prst="rect">
            <a:avLst/>
          </a:prstGeom>
          <a:solidFill>
            <a:srgbClr val="FECF59"/>
          </a:solidFill>
          <a:ln w="25400">
            <a:solidFill>
              <a:schemeClr val="tx1"/>
            </a:solidFill>
            <a:round/>
            <a:headEnd type="triangle" w="med" len="med"/>
          </a:ln>
          <a:effectLst>
            <a:outerShdw blurRad="50800" dist="38100" dir="2700000" rotWithShape="0">
              <a:srgbClr val="000000">
                <a:alpha val="42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2000" b="0" dirty="0" err="1">
                <a:latin typeface="Helvetica"/>
                <a:ea typeface="MS PGothic" panose="020B0600070205080204" charset="-128"/>
                <a:cs typeface="Helvetica"/>
              </a:rPr>
              <a:t>Datalink</a:t>
            </a:r>
            <a:r>
              <a:rPr lang="en-US" sz="2000" b="0" dirty="0">
                <a:latin typeface="Helvetica"/>
                <a:ea typeface="MS PGothic" panose="020B0600070205080204" charset="-128"/>
                <a:cs typeface="Helvetica"/>
              </a:rPr>
              <a:t> Layer </a:t>
            </a:r>
            <a:endParaRPr lang="en-US" sz="2000" b="0" dirty="0">
              <a:latin typeface="Helvetica"/>
              <a:ea typeface="MS PGothic" panose="020B0600070205080204" charset="-128"/>
              <a:cs typeface="Helvetica"/>
            </a:endParaRPr>
          </a:p>
        </p:txBody>
      </p:sp>
      <p:sp>
        <p:nvSpPr>
          <p:cNvPr id="33802" name="Rectangle 13"/>
          <p:cNvSpPr>
            <a:spLocks noChangeArrowheads="1"/>
          </p:cNvSpPr>
          <p:nvPr/>
        </p:nvSpPr>
        <p:spPr bwMode="auto">
          <a:xfrm>
            <a:off x="5638800" y="4419600"/>
            <a:ext cx="685800" cy="609600"/>
          </a:xfrm>
          <a:prstGeom prst="rect">
            <a:avLst/>
          </a:prstGeom>
          <a:solidFill>
            <a:srgbClr val="A0BCFE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Arial Narrow" panose="020B0606020202030204" charset="0"/>
              </a:rPr>
              <a:t>Net.</a:t>
            </a:r>
            <a:endParaRPr lang="en-US" sz="1600" b="0">
              <a:latin typeface="Arial Narrow" panose="020B0606020202030204" charset="0"/>
            </a:endParaRPr>
          </a:p>
          <a:p>
            <a:pPr algn="ctr"/>
            <a:r>
              <a:rPr lang="en-US" sz="1600" b="0">
                <a:latin typeface="Arial Narrow" panose="020B0606020202030204" charset="0"/>
              </a:rPr>
              <a:t>Hdr.</a:t>
            </a:r>
            <a:endParaRPr lang="en-US" sz="1600" b="0">
              <a:latin typeface="Arial Narrow" panose="020B0606020202030204" charset="0"/>
            </a:endParaRPr>
          </a:p>
        </p:txBody>
      </p:sp>
      <p:sp>
        <p:nvSpPr>
          <p:cNvPr id="33803" name="Rectangle 14"/>
          <p:cNvSpPr>
            <a:spLocks noChangeArrowheads="1"/>
          </p:cNvSpPr>
          <p:nvPr/>
        </p:nvSpPr>
        <p:spPr bwMode="auto">
          <a:xfrm>
            <a:off x="4953000" y="4419600"/>
            <a:ext cx="685800" cy="609600"/>
          </a:xfrm>
          <a:prstGeom prst="rect">
            <a:avLst/>
          </a:prstGeom>
          <a:solidFill>
            <a:srgbClr val="FECF59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Arial Narrow" panose="020B0606020202030204" charset="0"/>
              </a:rPr>
              <a:t>Frame</a:t>
            </a:r>
            <a:endParaRPr lang="en-US" sz="1600" b="0">
              <a:latin typeface="Arial Narrow" panose="020B0606020202030204" charset="0"/>
            </a:endParaRPr>
          </a:p>
          <a:p>
            <a:pPr algn="ctr"/>
            <a:r>
              <a:rPr lang="en-US" sz="1600" b="0">
                <a:latin typeface="Arial Narrow" panose="020B0606020202030204" charset="0"/>
              </a:rPr>
              <a:t>Hdr.</a:t>
            </a:r>
            <a:endParaRPr lang="en-US" sz="1600" b="0">
              <a:latin typeface="Arial Narrow" panose="020B0606020202030204" charset="0"/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0" y="5486400"/>
            <a:ext cx="1295400" cy="762000"/>
          </a:xfrm>
          <a:prstGeom prst="rect">
            <a:avLst/>
          </a:prstGeom>
          <a:solidFill>
            <a:srgbClr val="BDBDBD"/>
          </a:solidFill>
          <a:ln w="25400">
            <a:solidFill>
              <a:schemeClr val="tx1"/>
            </a:solidFill>
            <a:round/>
            <a:headEnd type="triangle" w="med" len="med"/>
          </a:ln>
          <a:effectLst>
            <a:outerShdw blurRad="50800" dist="38100" dir="2700000" rotWithShape="0">
              <a:srgbClr val="000000">
                <a:alpha val="42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2000" b="0" dirty="0">
                <a:latin typeface="Helvetica"/>
                <a:ea typeface="MS PGothic" panose="020B0600070205080204" charset="-128"/>
                <a:cs typeface="Helvetica"/>
              </a:rPr>
              <a:t>Physical Layer </a:t>
            </a:r>
            <a:endParaRPr lang="en-US" sz="2000" b="0" dirty="0">
              <a:latin typeface="Helvetica"/>
              <a:ea typeface="MS PGothic" panose="020B0600070205080204" charset="-128"/>
              <a:cs typeface="Helvetica"/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7848600" y="5486400"/>
            <a:ext cx="1295400" cy="762000"/>
          </a:xfrm>
          <a:prstGeom prst="rect">
            <a:avLst/>
          </a:prstGeom>
          <a:solidFill>
            <a:srgbClr val="BDBDBD"/>
          </a:solidFill>
          <a:ln w="25400">
            <a:solidFill>
              <a:schemeClr val="tx1"/>
            </a:solidFill>
            <a:round/>
            <a:headEnd type="triangle" w="med" len="med"/>
          </a:ln>
          <a:effectLst>
            <a:outerShdw blurRad="50800" dist="38100" dir="2700000" rotWithShape="0">
              <a:srgbClr val="000000">
                <a:alpha val="42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2000" b="0" dirty="0">
                <a:latin typeface="Helvetica"/>
                <a:ea typeface="MS PGothic" panose="020B0600070205080204" charset="-128"/>
                <a:cs typeface="Helvetica"/>
              </a:rPr>
              <a:t>Physical Layer </a:t>
            </a:r>
            <a:endParaRPr lang="en-US" sz="2000" b="0" dirty="0">
              <a:latin typeface="Helvetica"/>
              <a:ea typeface="MS PGothic" panose="020B0600070205080204" charset="-128"/>
              <a:cs typeface="Helvetica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4953000" y="5638800"/>
            <a:ext cx="2743200" cy="5334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600" b="0" dirty="0">
              <a:latin typeface="Helvetica"/>
              <a:ea typeface="MS PGothic" panose="020B0600070205080204" charset="-128"/>
              <a:cs typeface="Helvetica"/>
            </a:endParaRPr>
          </a:p>
        </p:txBody>
      </p:sp>
      <p:sp>
        <p:nvSpPr>
          <p:cNvPr id="19" name="TextBox 2"/>
          <p:cNvSpPr txBox="1">
            <a:spLocks noChangeArrowheads="1"/>
          </p:cNvSpPr>
          <p:nvPr/>
        </p:nvSpPr>
        <p:spPr bwMode="auto">
          <a:xfrm>
            <a:off x="4953000" y="5715000"/>
            <a:ext cx="2698750" cy="40005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>
            <a:noFill/>
            <a:miter lim="800000"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9pPr>
          </a:lstStyle>
          <a:p>
            <a:pPr eaLnBrk="1" hangingPunct="1">
              <a:defRPr/>
            </a:pPr>
            <a:r>
              <a:rPr lang="en-US" sz="2000" b="0">
                <a:latin typeface="Helvetica" charset="0"/>
                <a:cs typeface="Helvetica" charset="0"/>
              </a:rPr>
              <a:t>101010100110101110</a:t>
            </a:r>
            <a:endParaRPr lang="en-US" sz="2000" b="0">
              <a:latin typeface="Helvetica" charset="0"/>
              <a:cs typeface="Helvetica" charset="0"/>
            </a:endParaRPr>
          </a:p>
        </p:txBody>
      </p:sp>
      <p:sp>
        <p:nvSpPr>
          <p:cNvPr id="33808" name="Rectangle 20"/>
          <p:cNvSpPr>
            <a:spLocks noChangeArrowheads="1"/>
          </p:cNvSpPr>
          <p:nvPr/>
        </p:nvSpPr>
        <p:spPr bwMode="auto">
          <a:xfrm>
            <a:off x="2743200" y="4419600"/>
            <a:ext cx="1447800" cy="609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Helvetica" charset="0"/>
              </a:rPr>
              <a:t>Net. Payload</a:t>
            </a:r>
            <a:endParaRPr lang="en-US" sz="1600" b="0">
              <a:latin typeface="Helvetica" charset="0"/>
            </a:endParaRPr>
          </a:p>
        </p:txBody>
      </p:sp>
      <p:sp>
        <p:nvSpPr>
          <p:cNvPr id="33809" name="Rectangle 22"/>
          <p:cNvSpPr>
            <a:spLocks noChangeArrowheads="1"/>
          </p:cNvSpPr>
          <p:nvPr/>
        </p:nvSpPr>
        <p:spPr bwMode="auto">
          <a:xfrm>
            <a:off x="6324600" y="4419600"/>
            <a:ext cx="1447800" cy="609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Helvetica" charset="0"/>
              </a:rPr>
              <a:t>Net. Payload</a:t>
            </a:r>
            <a:endParaRPr lang="en-US" sz="1600" b="0">
              <a:latin typeface="Helvetica" charset="0"/>
            </a:endParaRPr>
          </a:p>
        </p:txBody>
      </p:sp>
      <p:sp>
        <p:nvSpPr>
          <p:cNvPr id="33810" name="Up-Down Arrow 23"/>
          <p:cNvSpPr>
            <a:spLocks noChangeArrowheads="1"/>
          </p:cNvSpPr>
          <p:nvPr/>
        </p:nvSpPr>
        <p:spPr bwMode="auto">
          <a:xfrm>
            <a:off x="533400" y="5105400"/>
            <a:ext cx="228600" cy="3810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33811" name="Up-Down Arrow 24"/>
          <p:cNvSpPr>
            <a:spLocks noChangeArrowheads="1"/>
          </p:cNvSpPr>
          <p:nvPr/>
        </p:nvSpPr>
        <p:spPr bwMode="auto">
          <a:xfrm>
            <a:off x="533400" y="3962400"/>
            <a:ext cx="228600" cy="3810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33812" name="Up-Down Arrow 25"/>
          <p:cNvSpPr>
            <a:spLocks noChangeArrowheads="1"/>
          </p:cNvSpPr>
          <p:nvPr/>
        </p:nvSpPr>
        <p:spPr bwMode="auto">
          <a:xfrm>
            <a:off x="8382000" y="5105400"/>
            <a:ext cx="228600" cy="3810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33813" name="Up-Down Arrow 26"/>
          <p:cNvSpPr>
            <a:spLocks noChangeArrowheads="1"/>
          </p:cNvSpPr>
          <p:nvPr/>
        </p:nvSpPr>
        <p:spPr bwMode="auto">
          <a:xfrm>
            <a:off x="8382000" y="3962400"/>
            <a:ext cx="228600" cy="3810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cxnSp>
        <p:nvCxnSpPr>
          <p:cNvPr id="33814" name="Straight Arrow Connector 29"/>
          <p:cNvCxnSpPr>
            <a:cxnSpLocks noChangeShapeType="1"/>
          </p:cNvCxnSpPr>
          <p:nvPr/>
        </p:nvCxnSpPr>
        <p:spPr bwMode="auto">
          <a:xfrm>
            <a:off x="4191000" y="4724402"/>
            <a:ext cx="762000" cy="9525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ysDash"/>
            <a:round/>
            <a:headEnd type="triangle" w="med" len="med"/>
            <a:tailEnd type="triangle" w="med" len="med"/>
          </a:ln>
        </p:spPr>
      </p:cxnSp>
      <p:grpSp>
        <p:nvGrpSpPr>
          <p:cNvPr id="2" name="Group 44"/>
          <p:cNvGrpSpPr/>
          <p:nvPr/>
        </p:nvGrpSpPr>
        <p:grpSpPr bwMode="auto">
          <a:xfrm>
            <a:off x="0" y="3200400"/>
            <a:ext cx="9144000" cy="762000"/>
            <a:chOff x="0" y="3200400"/>
            <a:chExt cx="9144000" cy="762000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0" y="3200400"/>
              <a:ext cx="1295400" cy="762000"/>
            </a:xfrm>
            <a:prstGeom prst="rect">
              <a:avLst/>
            </a:prstGeom>
            <a:solidFill>
              <a:srgbClr val="A0BCFE"/>
            </a:solidFill>
            <a:ln w="25400">
              <a:solidFill>
                <a:schemeClr val="tx1"/>
              </a:solidFill>
              <a:round/>
              <a:headEnd type="triangle" w="med" len="med"/>
            </a:ln>
            <a:effectLst>
              <a:outerShdw blurRad="50800" dist="38100" dir="2700000" rotWithShape="0">
                <a:srgbClr val="000000">
                  <a:alpha val="42998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sz="2000" b="0" dirty="0">
                  <a:latin typeface="Helvetica"/>
                  <a:ea typeface="MS PGothic" panose="020B0600070205080204" charset="-128"/>
                  <a:cs typeface="Helvetica"/>
                </a:rPr>
                <a:t>Network Layer </a:t>
              </a:r>
              <a:endParaRPr lang="en-US" sz="2000" b="0" dirty="0">
                <a:latin typeface="Helvetica"/>
                <a:ea typeface="MS PGothic" panose="020B0600070205080204" charset="-128"/>
                <a:cs typeface="Helvetica"/>
              </a:endParaRP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2133600" y="3276600"/>
              <a:ext cx="685800" cy="6096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r>
                <a:rPr lang="en-US" sz="1600" b="0" dirty="0">
                  <a:latin typeface="Arial Narrow" panose="020B0606020202030204"/>
                  <a:ea typeface="MS PGothic" panose="020B0600070205080204" charset="-128"/>
                  <a:cs typeface="Arial Narrow" panose="020B0606020202030204"/>
                </a:rPr>
                <a:t>Net.</a:t>
              </a:r>
              <a:endParaRPr lang="en-US" sz="1600" b="0" dirty="0">
                <a:latin typeface="Arial Narrow" panose="020B0606020202030204"/>
                <a:ea typeface="MS PGothic" panose="020B0600070205080204" charset="-128"/>
                <a:cs typeface="Arial Narrow" panose="020B0606020202030204"/>
              </a:endParaRPr>
            </a:p>
            <a:p>
              <a:pPr algn="ctr">
                <a:defRPr/>
              </a:pPr>
              <a:r>
                <a:rPr lang="en-US" sz="1600" b="0" dirty="0" err="1">
                  <a:latin typeface="Arial Narrow" panose="020B0606020202030204"/>
                  <a:ea typeface="MS PGothic" panose="020B0600070205080204" charset="-128"/>
                  <a:cs typeface="Arial Narrow" panose="020B0606020202030204"/>
                </a:rPr>
                <a:t>Hdr</a:t>
              </a:r>
              <a:r>
                <a:rPr lang="en-US" sz="1600" b="0" dirty="0">
                  <a:latin typeface="Arial Narrow" panose="020B0606020202030204"/>
                  <a:ea typeface="MS PGothic" panose="020B0600070205080204" charset="-128"/>
                  <a:cs typeface="Arial Narrow" panose="020B0606020202030204"/>
                </a:rPr>
                <a:t>.</a:t>
              </a:r>
              <a:endParaRPr lang="en-US" sz="1600" b="0" dirty="0">
                <a:latin typeface="Arial Narrow" panose="020B0606020202030204"/>
                <a:ea typeface="MS PGothic" panose="020B0600070205080204" charset="-128"/>
                <a:cs typeface="Arial Narrow" panose="020B0606020202030204"/>
              </a:endParaRP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7848600" y="3200400"/>
              <a:ext cx="1295400" cy="762000"/>
            </a:xfrm>
            <a:prstGeom prst="rect">
              <a:avLst/>
            </a:prstGeom>
            <a:solidFill>
              <a:srgbClr val="A0BCFE"/>
            </a:solidFill>
            <a:ln w="25400">
              <a:solidFill>
                <a:schemeClr val="tx1"/>
              </a:solidFill>
              <a:round/>
              <a:headEnd type="triangle" w="med" len="med"/>
            </a:ln>
            <a:effectLst>
              <a:outerShdw blurRad="50800" dist="38100" dir="2700000" rotWithShape="0">
                <a:srgbClr val="000000">
                  <a:alpha val="42998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sz="2000" b="0" dirty="0">
                  <a:latin typeface="Helvetica"/>
                  <a:ea typeface="MS PGothic" panose="020B0600070205080204" charset="-128"/>
                  <a:cs typeface="Helvetica"/>
                </a:rPr>
                <a:t>Network Layer </a:t>
              </a:r>
              <a:endParaRPr lang="en-US" sz="2000" b="0" dirty="0">
                <a:latin typeface="Helvetica"/>
                <a:ea typeface="MS PGothic" panose="020B0600070205080204" charset="-128"/>
                <a:cs typeface="Helvetica"/>
              </a:endParaRPr>
            </a:p>
          </p:txBody>
        </p:sp>
        <p:sp>
          <p:nvSpPr>
            <p:cNvPr id="33836" name="Rectangle 8"/>
            <p:cNvSpPr>
              <a:spLocks noChangeArrowheads="1"/>
            </p:cNvSpPr>
            <p:nvPr/>
          </p:nvSpPr>
          <p:spPr bwMode="auto">
            <a:xfrm>
              <a:off x="5638800" y="3276600"/>
              <a:ext cx="685800" cy="609600"/>
            </a:xfrm>
            <a:prstGeom prst="rect">
              <a:avLst/>
            </a:prstGeom>
            <a:solidFill>
              <a:srgbClr val="A0BCFE"/>
            </a:solidFill>
            <a:ln w="25400">
              <a:solidFill>
                <a:schemeClr val="tx1"/>
              </a:solidFill>
              <a:round/>
              <a:headEnd type="triangle" w="med" len="med"/>
            </a:ln>
          </p:spPr>
          <p:txBody>
            <a:bodyPr anchor="ctr"/>
            <a:lstStyle/>
            <a:p>
              <a:pPr algn="ctr"/>
              <a:r>
                <a:rPr lang="en-US" sz="1600" b="0">
                  <a:latin typeface="Arial Narrow" panose="020B0606020202030204" charset="0"/>
                </a:rPr>
                <a:t>Net.</a:t>
              </a:r>
              <a:endParaRPr lang="en-US" sz="1600" b="0">
                <a:latin typeface="Arial Narrow" panose="020B0606020202030204" charset="0"/>
              </a:endParaRPr>
            </a:p>
            <a:p>
              <a:pPr algn="ctr"/>
              <a:r>
                <a:rPr lang="en-US" sz="1600" b="0">
                  <a:latin typeface="Arial Narrow" panose="020B0606020202030204" charset="0"/>
                </a:rPr>
                <a:t>Hdr.</a:t>
              </a:r>
              <a:endParaRPr lang="en-US" sz="1600" b="0">
                <a:latin typeface="Arial Narrow" panose="020B0606020202030204" charset="0"/>
              </a:endParaRPr>
            </a:p>
          </p:txBody>
        </p:sp>
        <p:sp>
          <p:nvSpPr>
            <p:cNvPr id="33837" name="Rectangle 19"/>
            <p:cNvSpPr>
              <a:spLocks noChangeArrowheads="1"/>
            </p:cNvSpPr>
            <p:nvPr/>
          </p:nvSpPr>
          <p:spPr bwMode="auto">
            <a:xfrm>
              <a:off x="2819400" y="3276600"/>
              <a:ext cx="1371600" cy="6096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 type="triangle" w="med" len="med"/>
            </a:ln>
          </p:spPr>
          <p:txBody>
            <a:bodyPr anchor="ctr"/>
            <a:lstStyle/>
            <a:p>
              <a:pPr algn="ctr"/>
              <a:r>
                <a:rPr lang="en-US" sz="1600" b="0">
                  <a:latin typeface="Helvetica" charset="0"/>
                </a:rPr>
                <a:t>Net. Payload</a:t>
              </a:r>
              <a:endParaRPr lang="en-US" sz="1600" b="0">
                <a:latin typeface="Helvetica" charset="0"/>
              </a:endParaRPr>
            </a:p>
          </p:txBody>
        </p:sp>
        <p:sp>
          <p:nvSpPr>
            <p:cNvPr id="33838" name="Rectangle 21"/>
            <p:cNvSpPr>
              <a:spLocks noChangeArrowheads="1"/>
            </p:cNvSpPr>
            <p:nvPr/>
          </p:nvSpPr>
          <p:spPr bwMode="auto">
            <a:xfrm>
              <a:off x="6324600" y="3276600"/>
              <a:ext cx="1447800" cy="6096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 type="triangle" w="med" len="med"/>
            </a:ln>
          </p:spPr>
          <p:txBody>
            <a:bodyPr anchor="ctr"/>
            <a:lstStyle/>
            <a:p>
              <a:pPr algn="ctr"/>
              <a:r>
                <a:rPr lang="en-US" sz="1600" b="0">
                  <a:latin typeface="Helvetica" charset="0"/>
                </a:rPr>
                <a:t>Net. Payload</a:t>
              </a:r>
              <a:endParaRPr lang="en-US" sz="1600" b="0">
                <a:latin typeface="Helvetica" charset="0"/>
              </a:endParaRPr>
            </a:p>
          </p:txBody>
        </p:sp>
        <p:cxnSp>
          <p:nvCxnSpPr>
            <p:cNvPr id="33839" name="Straight Arrow Connector 30"/>
            <p:cNvCxnSpPr>
              <a:cxnSpLocks noChangeShapeType="1"/>
              <a:endCxn id="33836" idx="1"/>
            </p:cNvCxnSpPr>
            <p:nvPr/>
          </p:nvCxnSpPr>
          <p:spPr bwMode="auto">
            <a:xfrm>
              <a:off x="4191000" y="3581400"/>
              <a:ext cx="1447800" cy="158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prstDash val="sysDash"/>
              <a:round/>
              <a:headEnd type="triangle" w="med" len="med"/>
              <a:tailEnd type="triangle" w="med" len="med"/>
            </a:ln>
          </p:spPr>
        </p:cxnSp>
      </p:grpSp>
      <p:cxnSp>
        <p:nvCxnSpPr>
          <p:cNvPr id="33816" name="Straight Arrow Connector 31"/>
          <p:cNvCxnSpPr>
            <a:cxnSpLocks noChangeShapeType="1"/>
          </p:cNvCxnSpPr>
          <p:nvPr/>
        </p:nvCxnSpPr>
        <p:spPr bwMode="auto">
          <a:xfrm>
            <a:off x="4191000" y="5905502"/>
            <a:ext cx="762000" cy="9525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grpSp>
        <p:nvGrpSpPr>
          <p:cNvPr id="3" name="Group 45"/>
          <p:cNvGrpSpPr/>
          <p:nvPr/>
        </p:nvGrpSpPr>
        <p:grpSpPr bwMode="auto">
          <a:xfrm>
            <a:off x="20640" y="2057400"/>
            <a:ext cx="1271587" cy="1143000"/>
            <a:chOff x="20638" y="2057400"/>
            <a:chExt cx="1271587" cy="1143000"/>
          </a:xfrm>
        </p:grpSpPr>
        <p:sp>
          <p:nvSpPr>
            <p:cNvPr id="33831" name="Up-Down Arrow 27"/>
            <p:cNvSpPr>
              <a:spLocks noChangeArrowheads="1"/>
            </p:cNvSpPr>
            <p:nvPr/>
          </p:nvSpPr>
          <p:spPr bwMode="auto">
            <a:xfrm>
              <a:off x="533400" y="2819400"/>
              <a:ext cx="228600" cy="381000"/>
            </a:xfrm>
            <a:prstGeom prst="upDownArrow">
              <a:avLst>
                <a:gd name="adj1" fmla="val 50000"/>
                <a:gd name="adj2" fmla="val 50000"/>
              </a:avLst>
            </a:prstGeom>
            <a:solidFill>
              <a:srgbClr val="FFFFFF"/>
            </a:solidFill>
            <a:ln w="25400">
              <a:solidFill>
                <a:schemeClr val="tx1"/>
              </a:solidFill>
              <a:round/>
              <a:headEnd type="triangle" w="med" len="med"/>
            </a:ln>
          </p:spPr>
          <p:txBody>
            <a:bodyPr anchor="ctr"/>
            <a:lstStyle/>
            <a:p>
              <a:pPr algn="ctr"/>
              <a:endParaRPr lang="en-US" b="0">
                <a:latin typeface="Helvetica" charset="0"/>
              </a:endParaRPr>
            </a:p>
          </p:txBody>
        </p:sp>
        <p:sp>
          <p:nvSpPr>
            <p:cNvPr id="33832" name="TextBox 32"/>
            <p:cNvSpPr txBox="1">
              <a:spLocks noChangeArrowheads="1"/>
            </p:cNvSpPr>
            <p:nvPr/>
          </p:nvSpPr>
          <p:spPr bwMode="auto">
            <a:xfrm>
              <a:off x="20638" y="2057400"/>
              <a:ext cx="1271587" cy="70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9pPr>
            </a:lstStyle>
            <a:p>
              <a:pPr algn="ctr" eaLnBrk="1" hangingPunct="1"/>
              <a:r>
                <a:rPr lang="en-US" sz="2000" b="0">
                  <a:latin typeface="Helvetica" charset="0"/>
                </a:rPr>
                <a:t>Transport</a:t>
              </a:r>
              <a:endParaRPr lang="en-US" sz="2000" b="0">
                <a:latin typeface="Helvetica" charset="0"/>
              </a:endParaRPr>
            </a:p>
            <a:p>
              <a:pPr algn="ctr" eaLnBrk="1" hangingPunct="1"/>
              <a:r>
                <a:rPr lang="en-US" sz="2000" b="0">
                  <a:latin typeface="Helvetica" charset="0"/>
                </a:rPr>
                <a:t>Layer</a:t>
              </a:r>
              <a:endParaRPr lang="en-US" sz="2000" b="0">
                <a:latin typeface="Helvetica" charset="0"/>
              </a:endParaRPr>
            </a:p>
          </p:txBody>
        </p:sp>
      </p:grpSp>
      <p:grpSp>
        <p:nvGrpSpPr>
          <p:cNvPr id="9" name="Group 46"/>
          <p:cNvGrpSpPr/>
          <p:nvPr/>
        </p:nvGrpSpPr>
        <p:grpSpPr bwMode="auto">
          <a:xfrm>
            <a:off x="7870827" y="2133600"/>
            <a:ext cx="1273175" cy="1066800"/>
            <a:chOff x="7870825" y="2133600"/>
            <a:chExt cx="1273175" cy="1066800"/>
          </a:xfrm>
        </p:grpSpPr>
        <p:sp>
          <p:nvSpPr>
            <p:cNvPr id="33829" name="Up-Down Arrow 28"/>
            <p:cNvSpPr>
              <a:spLocks noChangeArrowheads="1"/>
            </p:cNvSpPr>
            <p:nvPr/>
          </p:nvSpPr>
          <p:spPr bwMode="auto">
            <a:xfrm>
              <a:off x="8382000" y="2819400"/>
              <a:ext cx="228600" cy="381000"/>
            </a:xfrm>
            <a:prstGeom prst="upDownArrow">
              <a:avLst>
                <a:gd name="adj1" fmla="val 50000"/>
                <a:gd name="adj2" fmla="val 50000"/>
              </a:avLst>
            </a:prstGeom>
            <a:solidFill>
              <a:srgbClr val="FFFFFF"/>
            </a:solidFill>
            <a:ln w="25400">
              <a:solidFill>
                <a:schemeClr val="tx1"/>
              </a:solidFill>
              <a:round/>
              <a:headEnd type="triangle" w="med" len="med"/>
            </a:ln>
          </p:spPr>
          <p:txBody>
            <a:bodyPr anchor="ctr"/>
            <a:lstStyle/>
            <a:p>
              <a:pPr algn="ctr"/>
              <a:endParaRPr lang="en-US" b="0">
                <a:latin typeface="Helvetica" charset="0"/>
              </a:endParaRPr>
            </a:p>
          </p:txBody>
        </p:sp>
        <p:sp>
          <p:nvSpPr>
            <p:cNvPr id="33830" name="TextBox 33"/>
            <p:cNvSpPr txBox="1">
              <a:spLocks noChangeArrowheads="1"/>
            </p:cNvSpPr>
            <p:nvPr/>
          </p:nvSpPr>
          <p:spPr bwMode="auto">
            <a:xfrm>
              <a:off x="7870825" y="2133600"/>
              <a:ext cx="1273175" cy="70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9pPr>
            </a:lstStyle>
            <a:p>
              <a:pPr algn="ctr" eaLnBrk="1" hangingPunct="1"/>
              <a:r>
                <a:rPr lang="en-US" sz="2000" b="0">
                  <a:latin typeface="Helvetica" charset="0"/>
                </a:rPr>
                <a:t>Transport</a:t>
              </a:r>
              <a:endParaRPr lang="en-US" sz="2000" b="0">
                <a:latin typeface="Helvetica" charset="0"/>
              </a:endParaRPr>
            </a:p>
            <a:p>
              <a:pPr algn="ctr" eaLnBrk="1" hangingPunct="1"/>
              <a:r>
                <a:rPr lang="en-US" sz="2000" b="0">
                  <a:latin typeface="Helvetica" charset="0"/>
                </a:rPr>
                <a:t>Layer</a:t>
              </a:r>
              <a:endParaRPr lang="en-US" sz="2000" b="0">
                <a:latin typeface="Helvetica" charset="0"/>
              </a:endParaRPr>
            </a:p>
          </p:txBody>
        </p:sp>
      </p:grpSp>
      <p:sp>
        <p:nvSpPr>
          <p:cNvPr id="33819" name="Right Brace 34"/>
          <p:cNvSpPr/>
          <p:nvPr/>
        </p:nvSpPr>
        <p:spPr bwMode="auto">
          <a:xfrm rot="16200000" flipV="1">
            <a:off x="3086100" y="3238500"/>
            <a:ext cx="152400" cy="2057400"/>
          </a:xfrm>
          <a:prstGeom prst="rightBrace">
            <a:avLst>
              <a:gd name="adj1" fmla="val 8313"/>
              <a:gd name="adj2" fmla="val 50000"/>
            </a:avLst>
          </a:prstGeom>
          <a:noFill/>
          <a:ln w="38100">
            <a:solidFill>
              <a:schemeClr val="tx1"/>
            </a:solidFill>
            <a:round/>
          </a:ln>
        </p:spPr>
        <p:txBody>
          <a:bodyPr anchor="ctr"/>
          <a:lstStyle/>
          <a:p>
            <a:pPr algn="ctr"/>
            <a:endParaRPr lang="en-US"/>
          </a:p>
        </p:txBody>
      </p:sp>
      <p:sp>
        <p:nvSpPr>
          <p:cNvPr id="33820" name="TextBox 35"/>
          <p:cNvSpPr txBox="1">
            <a:spLocks noChangeArrowheads="1"/>
          </p:cNvSpPr>
          <p:nvPr/>
        </p:nvSpPr>
        <p:spPr bwMode="auto">
          <a:xfrm>
            <a:off x="2462215" y="3886200"/>
            <a:ext cx="1576387" cy="3381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r>
              <a:rPr lang="en-US" sz="1600" b="0">
                <a:latin typeface="Helvetica" charset="0"/>
              </a:rPr>
              <a:t>Frame Payload</a:t>
            </a:r>
            <a:endParaRPr lang="en-US" sz="1600" b="0">
              <a:latin typeface="Helvetica" charset="0"/>
            </a:endParaRPr>
          </a:p>
        </p:txBody>
      </p:sp>
      <p:sp>
        <p:nvSpPr>
          <p:cNvPr id="38949" name="Rectangular Callout 36"/>
          <p:cNvSpPr>
            <a:spLocks noChangeArrowheads="1"/>
          </p:cNvSpPr>
          <p:nvPr/>
        </p:nvSpPr>
        <p:spPr bwMode="auto">
          <a:xfrm>
            <a:off x="2514600" y="1981200"/>
            <a:ext cx="2971800" cy="1066800"/>
          </a:xfrm>
          <a:prstGeom prst="wedgeRectCallout">
            <a:avLst>
              <a:gd name="adj1" fmla="val -54292"/>
              <a:gd name="adj2" fmla="val 68847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0">
                <a:latin typeface="Helvetica" charset="0"/>
              </a:rPr>
              <a:t> IP Dest. Address</a:t>
            </a:r>
            <a:endParaRPr lang="en-US" sz="2000" b="0">
              <a:latin typeface="Helvetica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>
                <a:latin typeface="Helvetica" charset="0"/>
              </a:rPr>
              <a:t> IP Src. Address</a:t>
            </a:r>
            <a:endParaRPr lang="en-US" sz="2000" b="0">
              <a:latin typeface="Helvetica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>
                <a:latin typeface="Helvetica" charset="0"/>
              </a:rPr>
              <a:t>…</a:t>
            </a:r>
            <a:endParaRPr lang="en-US" sz="2000" b="0">
              <a:latin typeface="Helvetica" charset="0"/>
            </a:endParaRPr>
          </a:p>
        </p:txBody>
      </p:sp>
      <p:sp>
        <p:nvSpPr>
          <p:cNvPr id="33822" name="Rectangle 4"/>
          <p:cNvSpPr>
            <a:spLocks noChangeArrowheads="1"/>
          </p:cNvSpPr>
          <p:nvPr/>
        </p:nvSpPr>
        <p:spPr bwMode="auto">
          <a:xfrm>
            <a:off x="7772400" y="795340"/>
            <a:ext cx="1322388" cy="2381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Transport</a:t>
            </a:r>
            <a:endParaRPr lang="en-US">
              <a:latin typeface="Helvetica" charset="0"/>
            </a:endParaRPr>
          </a:p>
        </p:txBody>
      </p:sp>
      <p:sp>
        <p:nvSpPr>
          <p:cNvPr id="33823" name="Rectangle 5"/>
          <p:cNvSpPr>
            <a:spLocks noChangeArrowheads="1"/>
          </p:cNvSpPr>
          <p:nvPr/>
        </p:nvSpPr>
        <p:spPr bwMode="auto">
          <a:xfrm>
            <a:off x="7772400" y="1033463"/>
            <a:ext cx="1322388" cy="239712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Helvetica" charset="0"/>
              </a:rPr>
              <a:t>Network</a:t>
            </a:r>
            <a:endParaRPr lang="en-US">
              <a:solidFill>
                <a:schemeClr val="bg1"/>
              </a:solidFill>
              <a:latin typeface="Helvetica" charset="0"/>
            </a:endParaRPr>
          </a:p>
        </p:txBody>
      </p:sp>
      <p:sp>
        <p:nvSpPr>
          <p:cNvPr id="33824" name="Rectangle 6"/>
          <p:cNvSpPr>
            <a:spLocks noChangeArrowheads="1"/>
          </p:cNvSpPr>
          <p:nvPr/>
        </p:nvSpPr>
        <p:spPr bwMode="auto">
          <a:xfrm>
            <a:off x="7772400" y="1273177"/>
            <a:ext cx="1322388" cy="23971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Datalink</a:t>
            </a:r>
            <a:endParaRPr lang="en-US">
              <a:latin typeface="Helvetica" charset="0"/>
            </a:endParaRPr>
          </a:p>
        </p:txBody>
      </p:sp>
      <p:sp>
        <p:nvSpPr>
          <p:cNvPr id="33825" name="Rectangle 7"/>
          <p:cNvSpPr>
            <a:spLocks noChangeArrowheads="1"/>
          </p:cNvSpPr>
          <p:nvPr/>
        </p:nvSpPr>
        <p:spPr bwMode="auto">
          <a:xfrm>
            <a:off x="7772400" y="1512888"/>
            <a:ext cx="1322388" cy="2397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Physical</a:t>
            </a:r>
            <a:endParaRPr lang="en-US">
              <a:latin typeface="Helvetica" charset="0"/>
            </a:endParaRPr>
          </a:p>
        </p:txBody>
      </p:sp>
      <p:sp>
        <p:nvSpPr>
          <p:cNvPr id="33826" name="Rectangle 8"/>
          <p:cNvSpPr>
            <a:spLocks noChangeArrowheads="1"/>
          </p:cNvSpPr>
          <p:nvPr/>
        </p:nvSpPr>
        <p:spPr bwMode="auto">
          <a:xfrm>
            <a:off x="7772400" y="555627"/>
            <a:ext cx="1322388" cy="239713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ot"/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folHlink"/>
                </a:solidFill>
                <a:latin typeface="Helvetica" charset="0"/>
              </a:rPr>
              <a:t>Session</a:t>
            </a:r>
            <a:endParaRPr lang="en-US">
              <a:solidFill>
                <a:schemeClr val="folHlink"/>
              </a:solidFill>
              <a:latin typeface="Helvetica" charset="0"/>
            </a:endParaRPr>
          </a:p>
        </p:txBody>
      </p:sp>
      <p:sp>
        <p:nvSpPr>
          <p:cNvPr id="33827" name="Rectangle 9"/>
          <p:cNvSpPr>
            <a:spLocks noChangeArrowheads="1"/>
          </p:cNvSpPr>
          <p:nvPr/>
        </p:nvSpPr>
        <p:spPr bwMode="auto">
          <a:xfrm>
            <a:off x="7772400" y="315913"/>
            <a:ext cx="1322388" cy="239712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ot"/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folHlink"/>
                </a:solidFill>
                <a:latin typeface="Helvetica" charset="0"/>
              </a:rPr>
              <a:t>Present.</a:t>
            </a:r>
            <a:endParaRPr lang="en-US">
              <a:solidFill>
                <a:schemeClr val="folHlink"/>
              </a:solidFill>
              <a:latin typeface="Helvetica" charset="0"/>
            </a:endParaRPr>
          </a:p>
        </p:txBody>
      </p:sp>
      <p:sp>
        <p:nvSpPr>
          <p:cNvPr id="33828" name="Rectangle 10"/>
          <p:cNvSpPr>
            <a:spLocks noChangeArrowheads="1"/>
          </p:cNvSpPr>
          <p:nvPr/>
        </p:nvSpPr>
        <p:spPr bwMode="auto">
          <a:xfrm>
            <a:off x="7772400" y="76202"/>
            <a:ext cx="1322388" cy="23971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Application</a:t>
            </a:r>
            <a:endParaRPr lang="en-US">
              <a:latin typeface="Helvetica" charset="0"/>
            </a:endParaRPr>
          </a:p>
        </p:txBody>
      </p:sp>
      <p:sp>
        <p:nvSpPr>
          <p:cNvPr id="48" name="圆角矩形 47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8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4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8" name="Picture 4" descr="j0285750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5400" y="3452412"/>
            <a:ext cx="1473200" cy="901700"/>
          </a:xfrm>
          <a:noFill/>
        </p:spPr>
      </p:pic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-240507"/>
            <a:ext cx="8534400" cy="1371600"/>
          </a:xfrm>
        </p:spPr>
        <p:txBody>
          <a:bodyPr/>
          <a:lstStyle/>
          <a:p>
            <a:pPr eaLnBrk="1" hangingPunct="1"/>
            <a:r>
              <a:rPr lang="en-US" sz="3500" dirty="0">
                <a:latin typeface="Helvetica" charset="0"/>
                <a:ea typeface="MS PGothic" panose="020B0600070205080204" charset="-128"/>
              </a:rPr>
              <a:t>The Internet Protocol (IP)</a:t>
            </a:r>
            <a:endParaRPr lang="en-US" sz="3500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993772"/>
            <a:ext cx="8229600" cy="1855790"/>
          </a:xfrm>
        </p:spPr>
        <p:txBody>
          <a:bodyPr/>
          <a:lstStyle/>
          <a:p>
            <a:pPr eaLnBrk="1" hangingPunct="1"/>
            <a:r>
              <a:rPr lang="en-US" dirty="0">
                <a:latin typeface="Helvetica" charset="0"/>
                <a:ea typeface="MS PGothic" panose="020B0600070205080204" charset="-128"/>
              </a:rPr>
              <a:t>Internet Protocol: Internet’</a:t>
            </a:r>
            <a:r>
              <a:rPr lang="en-US" altLang="ja-JP" dirty="0">
                <a:latin typeface="Helvetica" charset="0"/>
                <a:ea typeface="MS PGothic" panose="020B0600070205080204" charset="-128"/>
              </a:rPr>
              <a:t>s network layer</a:t>
            </a:r>
            <a:endParaRPr lang="en-US" altLang="ja-JP" dirty="0">
              <a:latin typeface="Helvetica" charset="0"/>
              <a:ea typeface="MS PGothic" panose="020B0600070205080204" charset="-128"/>
            </a:endParaRPr>
          </a:p>
          <a:p>
            <a:pPr eaLnBrk="1" hangingPunct="1"/>
            <a:r>
              <a:rPr lang="en-US" dirty="0">
                <a:latin typeface="Helvetica" charset="0"/>
                <a:ea typeface="MS PGothic" panose="020B0600070205080204" charset="-128"/>
              </a:rPr>
              <a:t>Service it provides: </a:t>
            </a:r>
            <a:r>
              <a:rPr lang="ja-JP" altLang="en-US">
                <a:latin typeface="Helvetica" charset="0"/>
                <a:ea typeface="MS PGothic" panose="020B0600070205080204" charset="-128"/>
              </a:rPr>
              <a:t>“</a:t>
            </a:r>
            <a:r>
              <a:rPr lang="en-US" altLang="ja-JP" dirty="0">
                <a:latin typeface="Helvetica" charset="0"/>
                <a:ea typeface="MS PGothic" panose="020B0600070205080204" charset="-128"/>
              </a:rPr>
              <a:t>Best-Effort</a:t>
            </a:r>
            <a:r>
              <a:rPr lang="ja-JP" altLang="en-US">
                <a:latin typeface="Helvetica" charset="0"/>
                <a:ea typeface="MS PGothic" panose="020B0600070205080204" charset="-128"/>
              </a:rPr>
              <a:t>”</a:t>
            </a:r>
            <a:r>
              <a:rPr lang="en-US" altLang="ja-JP" dirty="0">
                <a:latin typeface="Helvetica" charset="0"/>
                <a:ea typeface="MS PGothic" panose="020B0600070205080204" charset="-128"/>
              </a:rPr>
              <a:t> Packet Delivery</a:t>
            </a:r>
            <a:endParaRPr lang="en-US" altLang="ja-JP" dirty="0">
              <a:latin typeface="Helvetica" charset="0"/>
              <a:ea typeface="MS PGothic" panose="020B0600070205080204" charset="-128"/>
            </a:endParaRPr>
          </a:p>
          <a:p>
            <a:pPr lvl="1" eaLnBrk="1" hangingPunct="1"/>
            <a:r>
              <a:rPr lang="en-US" dirty="0">
                <a:latin typeface="Helvetica" charset="0"/>
                <a:ea typeface="MS PGothic" panose="020B0600070205080204" charset="-128"/>
              </a:rPr>
              <a:t>Tries it’</a:t>
            </a:r>
            <a:r>
              <a:rPr lang="en-US" altLang="ja-JP" dirty="0">
                <a:latin typeface="Helvetica" charset="0"/>
                <a:ea typeface="MS PGothic" panose="020B0600070205080204" charset="-128"/>
              </a:rPr>
              <a:t>s </a:t>
            </a:r>
            <a:r>
              <a:rPr lang="ja-JP" altLang="en-US">
                <a:latin typeface="Helvetica" charset="0"/>
                <a:ea typeface="MS PGothic" panose="020B0600070205080204" charset="-128"/>
              </a:rPr>
              <a:t>“</a:t>
            </a:r>
            <a:r>
              <a:rPr lang="en-US" altLang="ja-JP" dirty="0">
                <a:latin typeface="Helvetica" charset="0"/>
                <a:ea typeface="MS PGothic" panose="020B0600070205080204" charset="-128"/>
              </a:rPr>
              <a:t>best</a:t>
            </a:r>
            <a:r>
              <a:rPr lang="ja-JP" altLang="en-US">
                <a:latin typeface="Helvetica" charset="0"/>
                <a:ea typeface="MS PGothic" panose="020B0600070205080204" charset="-128"/>
              </a:rPr>
              <a:t>”</a:t>
            </a:r>
            <a:r>
              <a:rPr lang="en-US" altLang="ja-JP" dirty="0">
                <a:latin typeface="Helvetica" charset="0"/>
                <a:ea typeface="MS PGothic" panose="020B0600070205080204" charset="-128"/>
              </a:rPr>
              <a:t> to deliver packet to its destination </a:t>
            </a:r>
            <a:endParaRPr lang="en-US" altLang="ja-JP" dirty="0">
              <a:latin typeface="Helvetica" charset="0"/>
              <a:ea typeface="MS PGothic" panose="020B0600070205080204" charset="-128"/>
            </a:endParaRPr>
          </a:p>
          <a:p>
            <a:pPr lvl="1" eaLnBrk="1" hangingPunct="1"/>
            <a:r>
              <a:rPr lang="en-US" dirty="0">
                <a:latin typeface="Helvetica" charset="0"/>
                <a:ea typeface="MS PGothic" panose="020B0600070205080204" charset="-128"/>
              </a:rPr>
              <a:t>Packets may be lost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/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corrupted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/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out of order</a:t>
            </a:r>
            <a:endParaRPr lang="en-US" dirty="0">
              <a:latin typeface="Helvetica" charset="0"/>
              <a:ea typeface="MS PGothic" panose="020B0600070205080204" charset="-128"/>
            </a:endParaRPr>
          </a:p>
        </p:txBody>
      </p:sp>
      <p:pic>
        <p:nvPicPr>
          <p:cNvPr id="41994" name="Picture 10" descr="MCj02957280000[1]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" y="4433888"/>
            <a:ext cx="1928813" cy="1630362"/>
          </a:xfrm>
          <a:noFill/>
        </p:spPr>
      </p:pic>
      <p:graphicFrame>
        <p:nvGraphicFramePr>
          <p:cNvPr id="41989" name="Object 2"/>
          <p:cNvGraphicFramePr>
            <a:graphicFrameLocks noChangeAspect="1"/>
          </p:cNvGraphicFramePr>
          <p:nvPr/>
        </p:nvGraphicFramePr>
        <p:xfrm>
          <a:off x="2724150" y="4186238"/>
          <a:ext cx="3608388" cy="206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Photo Editor Photo" r:id="rId3" imgW="1905000" imgH="1390650" progId="">
                  <p:embed/>
                </p:oleObj>
              </mc:Choice>
              <mc:Fallback>
                <p:oleObj name="Photo Editor Photo" r:id="rId3" imgW="1905000" imgH="139065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4150" y="4186238"/>
                        <a:ext cx="3608388" cy="206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0" name="Line 6"/>
          <p:cNvSpPr>
            <a:spLocks noChangeShapeType="1"/>
          </p:cNvSpPr>
          <p:nvPr/>
        </p:nvSpPr>
        <p:spPr bwMode="auto">
          <a:xfrm flipV="1">
            <a:off x="1714502" y="5308602"/>
            <a:ext cx="1344613" cy="15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1991" name="Line 7"/>
          <p:cNvSpPr>
            <a:spLocks noChangeShapeType="1"/>
          </p:cNvSpPr>
          <p:nvPr/>
        </p:nvSpPr>
        <p:spPr bwMode="auto">
          <a:xfrm flipV="1">
            <a:off x="6122990" y="5160963"/>
            <a:ext cx="10953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1992" name="Text Box 8"/>
          <p:cNvSpPr txBox="1">
            <a:spLocks noChangeArrowheads="1"/>
          </p:cNvSpPr>
          <p:nvPr/>
        </p:nvSpPr>
        <p:spPr bwMode="auto">
          <a:xfrm>
            <a:off x="2" y="4002088"/>
            <a:ext cx="1108075" cy="4619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r>
              <a:rPr lang="en-US" b="0">
                <a:latin typeface="Helvetica" charset="0"/>
              </a:rPr>
              <a:t>source</a:t>
            </a:r>
            <a:endParaRPr lang="en-US" b="0">
              <a:latin typeface="Helvetica" charset="0"/>
            </a:endParaRPr>
          </a:p>
        </p:txBody>
      </p:sp>
      <p:sp>
        <p:nvSpPr>
          <p:cNvPr id="41993" name="Text Box 9"/>
          <p:cNvSpPr txBox="1">
            <a:spLocks noChangeArrowheads="1"/>
          </p:cNvSpPr>
          <p:nvPr/>
        </p:nvSpPr>
        <p:spPr bwMode="auto">
          <a:xfrm>
            <a:off x="7224715" y="4084638"/>
            <a:ext cx="1673225" cy="4619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eaLnBrk="1" hangingPunct="1"/>
            <a:r>
              <a:rPr lang="en-US" b="0">
                <a:latin typeface="Helvetica" charset="0"/>
              </a:rPr>
              <a:t>destination</a:t>
            </a:r>
            <a:endParaRPr lang="en-US" b="0">
              <a:latin typeface="Helvetica" charset="0"/>
            </a:endParaRPr>
          </a:p>
        </p:txBody>
      </p:sp>
      <p:sp>
        <p:nvSpPr>
          <p:cNvPr id="41995" name="Text Box 11"/>
          <p:cNvSpPr txBox="1">
            <a:spLocks noChangeArrowheads="1"/>
          </p:cNvSpPr>
          <p:nvPr/>
        </p:nvSpPr>
        <p:spPr bwMode="auto">
          <a:xfrm>
            <a:off x="3521077" y="4876802"/>
            <a:ext cx="1890713" cy="519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algn="ctr" eaLnBrk="1" hangingPunct="1"/>
            <a:r>
              <a:rPr lang="en-US" sz="2800" b="0">
                <a:latin typeface="Helvetica" charset="0"/>
              </a:rPr>
              <a:t>IP network</a:t>
            </a:r>
            <a:endParaRPr lang="en-US" sz="2800" b="0">
              <a:latin typeface="Helvetica" charset="0"/>
            </a:endParaRPr>
          </a:p>
        </p:txBody>
      </p:sp>
      <p:grpSp>
        <p:nvGrpSpPr>
          <p:cNvPr id="41996" name="Group 12"/>
          <p:cNvGrpSpPr/>
          <p:nvPr/>
        </p:nvGrpSpPr>
        <p:grpSpPr bwMode="auto">
          <a:xfrm>
            <a:off x="2089152" y="4770438"/>
            <a:ext cx="327025" cy="457200"/>
            <a:chOff x="4505" y="1615"/>
            <a:chExt cx="206" cy="288"/>
          </a:xfrm>
        </p:grpSpPr>
        <p:sp>
          <p:nvSpPr>
            <p:cNvPr id="42010" name="Rectangle 13"/>
            <p:cNvSpPr>
              <a:spLocks noChangeArrowheads="1"/>
            </p:cNvSpPr>
            <p:nvPr/>
          </p:nvSpPr>
          <p:spPr bwMode="auto">
            <a:xfrm>
              <a:off x="4506" y="1615"/>
              <a:ext cx="205" cy="288"/>
            </a:xfrm>
            <a:prstGeom prst="rect">
              <a:avLst/>
            </a:prstGeom>
            <a:solidFill>
              <a:schemeClr val="bg2"/>
            </a:solidFill>
            <a:ln w="38100">
              <a:solidFill>
                <a:schemeClr val="bg2"/>
              </a:solidFill>
              <a:miter lim="800000"/>
            </a:ln>
          </p:spPr>
          <p:txBody>
            <a:bodyPr wrap="none" anchor="ctr"/>
            <a:lstStyle/>
            <a:p>
              <a:endParaRPr lang="en-US">
                <a:latin typeface="Helvetica" charset="0"/>
              </a:endParaRPr>
            </a:p>
          </p:txBody>
        </p:sp>
        <p:sp>
          <p:nvSpPr>
            <p:cNvPr id="42011" name="Rectangle 14"/>
            <p:cNvSpPr>
              <a:spLocks noChangeArrowheads="1"/>
            </p:cNvSpPr>
            <p:nvPr/>
          </p:nvSpPr>
          <p:spPr bwMode="auto">
            <a:xfrm>
              <a:off x="4505" y="1615"/>
              <a:ext cx="205" cy="56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accent2"/>
              </a:solidFill>
              <a:miter lim="800000"/>
            </a:ln>
          </p:spPr>
          <p:txBody>
            <a:bodyPr wrap="none" anchor="ctr"/>
            <a:lstStyle/>
            <a:p>
              <a:endParaRPr lang="en-US">
                <a:latin typeface="Helvetica" charset="0"/>
              </a:endParaRPr>
            </a:p>
          </p:txBody>
        </p:sp>
      </p:grpSp>
      <p:grpSp>
        <p:nvGrpSpPr>
          <p:cNvPr id="41997" name="Group 15"/>
          <p:cNvGrpSpPr/>
          <p:nvPr/>
        </p:nvGrpSpPr>
        <p:grpSpPr bwMode="auto">
          <a:xfrm>
            <a:off x="2584452" y="4775200"/>
            <a:ext cx="327025" cy="457200"/>
            <a:chOff x="4505" y="1615"/>
            <a:chExt cx="206" cy="288"/>
          </a:xfrm>
        </p:grpSpPr>
        <p:sp>
          <p:nvSpPr>
            <p:cNvPr id="42008" name="Rectangle 16"/>
            <p:cNvSpPr>
              <a:spLocks noChangeArrowheads="1"/>
            </p:cNvSpPr>
            <p:nvPr/>
          </p:nvSpPr>
          <p:spPr bwMode="auto">
            <a:xfrm>
              <a:off x="4506" y="1615"/>
              <a:ext cx="205" cy="288"/>
            </a:xfrm>
            <a:prstGeom prst="rect">
              <a:avLst/>
            </a:prstGeom>
            <a:solidFill>
              <a:schemeClr val="bg2"/>
            </a:solidFill>
            <a:ln w="38100">
              <a:solidFill>
                <a:schemeClr val="bg2"/>
              </a:solidFill>
              <a:miter lim="800000"/>
            </a:ln>
          </p:spPr>
          <p:txBody>
            <a:bodyPr wrap="none" anchor="ctr"/>
            <a:lstStyle/>
            <a:p>
              <a:endParaRPr lang="en-US">
                <a:latin typeface="Helvetica" charset="0"/>
              </a:endParaRPr>
            </a:p>
          </p:txBody>
        </p:sp>
        <p:sp>
          <p:nvSpPr>
            <p:cNvPr id="42009" name="Rectangle 17"/>
            <p:cNvSpPr>
              <a:spLocks noChangeArrowheads="1"/>
            </p:cNvSpPr>
            <p:nvPr/>
          </p:nvSpPr>
          <p:spPr bwMode="auto">
            <a:xfrm>
              <a:off x="4505" y="1615"/>
              <a:ext cx="205" cy="56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accent2"/>
              </a:solidFill>
              <a:miter lim="800000"/>
            </a:ln>
          </p:spPr>
          <p:txBody>
            <a:bodyPr wrap="none" anchor="ctr"/>
            <a:lstStyle/>
            <a:p>
              <a:endParaRPr lang="en-US">
                <a:latin typeface="Helvetica" charset="0"/>
              </a:endParaRPr>
            </a:p>
          </p:txBody>
        </p:sp>
      </p:grpSp>
      <p:grpSp>
        <p:nvGrpSpPr>
          <p:cNvPr id="41998" name="Group 18"/>
          <p:cNvGrpSpPr/>
          <p:nvPr/>
        </p:nvGrpSpPr>
        <p:grpSpPr bwMode="auto">
          <a:xfrm>
            <a:off x="6438902" y="4629150"/>
            <a:ext cx="327025" cy="457200"/>
            <a:chOff x="4505" y="1615"/>
            <a:chExt cx="206" cy="288"/>
          </a:xfrm>
        </p:grpSpPr>
        <p:sp>
          <p:nvSpPr>
            <p:cNvPr id="42006" name="Rectangle 19"/>
            <p:cNvSpPr>
              <a:spLocks noChangeArrowheads="1"/>
            </p:cNvSpPr>
            <p:nvPr/>
          </p:nvSpPr>
          <p:spPr bwMode="auto">
            <a:xfrm>
              <a:off x="4506" y="1615"/>
              <a:ext cx="205" cy="288"/>
            </a:xfrm>
            <a:prstGeom prst="rect">
              <a:avLst/>
            </a:prstGeom>
            <a:solidFill>
              <a:schemeClr val="bg2"/>
            </a:solidFill>
            <a:ln w="38100">
              <a:solidFill>
                <a:schemeClr val="bg2"/>
              </a:solidFill>
              <a:miter lim="800000"/>
            </a:ln>
          </p:spPr>
          <p:txBody>
            <a:bodyPr wrap="none" anchor="ctr"/>
            <a:lstStyle/>
            <a:p>
              <a:endParaRPr lang="en-US">
                <a:latin typeface="Helvetica" charset="0"/>
              </a:endParaRPr>
            </a:p>
          </p:txBody>
        </p:sp>
        <p:sp>
          <p:nvSpPr>
            <p:cNvPr id="42007" name="Rectangle 20"/>
            <p:cNvSpPr>
              <a:spLocks noChangeArrowheads="1"/>
            </p:cNvSpPr>
            <p:nvPr/>
          </p:nvSpPr>
          <p:spPr bwMode="auto">
            <a:xfrm>
              <a:off x="4505" y="1615"/>
              <a:ext cx="205" cy="56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accent2"/>
              </a:solidFill>
              <a:miter lim="800000"/>
            </a:ln>
          </p:spPr>
          <p:txBody>
            <a:bodyPr wrap="none" anchor="ctr"/>
            <a:lstStyle/>
            <a:p>
              <a:endParaRPr lang="en-US">
                <a:latin typeface="Helvetica" charset="0"/>
              </a:endParaRPr>
            </a:p>
          </p:txBody>
        </p:sp>
      </p:grpSp>
      <p:sp>
        <p:nvSpPr>
          <p:cNvPr id="41999" name="Rectangle 4"/>
          <p:cNvSpPr>
            <a:spLocks noChangeArrowheads="1"/>
          </p:cNvSpPr>
          <p:nvPr/>
        </p:nvSpPr>
        <p:spPr bwMode="auto">
          <a:xfrm>
            <a:off x="7772400" y="795340"/>
            <a:ext cx="1322388" cy="2381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Transport</a:t>
            </a:r>
            <a:endParaRPr lang="en-US">
              <a:latin typeface="Helvetica" charset="0"/>
            </a:endParaRPr>
          </a:p>
        </p:txBody>
      </p:sp>
      <p:sp>
        <p:nvSpPr>
          <p:cNvPr id="42000" name="Rectangle 5"/>
          <p:cNvSpPr>
            <a:spLocks noChangeArrowheads="1"/>
          </p:cNvSpPr>
          <p:nvPr/>
        </p:nvSpPr>
        <p:spPr bwMode="auto">
          <a:xfrm>
            <a:off x="7772400" y="1033463"/>
            <a:ext cx="1322388" cy="239712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Helvetica" charset="0"/>
              </a:rPr>
              <a:t>Network</a:t>
            </a:r>
            <a:endParaRPr lang="en-US">
              <a:solidFill>
                <a:schemeClr val="bg1"/>
              </a:solidFill>
              <a:latin typeface="Helvetica" charset="0"/>
            </a:endParaRPr>
          </a:p>
        </p:txBody>
      </p:sp>
      <p:sp>
        <p:nvSpPr>
          <p:cNvPr id="42001" name="Rectangle 6"/>
          <p:cNvSpPr>
            <a:spLocks noChangeArrowheads="1"/>
          </p:cNvSpPr>
          <p:nvPr/>
        </p:nvSpPr>
        <p:spPr bwMode="auto">
          <a:xfrm>
            <a:off x="7772400" y="1273177"/>
            <a:ext cx="1322388" cy="23971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Datalink</a:t>
            </a:r>
            <a:endParaRPr lang="en-US">
              <a:latin typeface="Helvetica" charset="0"/>
            </a:endParaRPr>
          </a:p>
        </p:txBody>
      </p:sp>
      <p:sp>
        <p:nvSpPr>
          <p:cNvPr id="42002" name="Rectangle 7"/>
          <p:cNvSpPr>
            <a:spLocks noChangeArrowheads="1"/>
          </p:cNvSpPr>
          <p:nvPr/>
        </p:nvSpPr>
        <p:spPr bwMode="auto">
          <a:xfrm>
            <a:off x="7772400" y="1512888"/>
            <a:ext cx="1322388" cy="2397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Physical</a:t>
            </a:r>
            <a:endParaRPr lang="en-US">
              <a:latin typeface="Helvetica" charset="0"/>
            </a:endParaRPr>
          </a:p>
        </p:txBody>
      </p:sp>
      <p:sp>
        <p:nvSpPr>
          <p:cNvPr id="42003" name="Rectangle 8"/>
          <p:cNvSpPr>
            <a:spLocks noChangeArrowheads="1"/>
          </p:cNvSpPr>
          <p:nvPr/>
        </p:nvSpPr>
        <p:spPr bwMode="auto">
          <a:xfrm>
            <a:off x="7772400" y="555627"/>
            <a:ext cx="1322388" cy="239713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ot"/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folHlink"/>
                </a:solidFill>
                <a:latin typeface="Helvetica" charset="0"/>
              </a:rPr>
              <a:t>Session</a:t>
            </a:r>
            <a:endParaRPr lang="en-US">
              <a:solidFill>
                <a:schemeClr val="folHlink"/>
              </a:solidFill>
              <a:latin typeface="Helvetica" charset="0"/>
            </a:endParaRPr>
          </a:p>
        </p:txBody>
      </p:sp>
      <p:sp>
        <p:nvSpPr>
          <p:cNvPr id="42004" name="Rectangle 9"/>
          <p:cNvSpPr>
            <a:spLocks noChangeArrowheads="1"/>
          </p:cNvSpPr>
          <p:nvPr/>
        </p:nvSpPr>
        <p:spPr bwMode="auto">
          <a:xfrm>
            <a:off x="7772400" y="315913"/>
            <a:ext cx="1322388" cy="239712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ot"/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folHlink"/>
                </a:solidFill>
                <a:latin typeface="Helvetica" charset="0"/>
              </a:rPr>
              <a:t>Present.</a:t>
            </a:r>
            <a:endParaRPr lang="en-US">
              <a:solidFill>
                <a:schemeClr val="folHlink"/>
              </a:solidFill>
              <a:latin typeface="Helvetica" charset="0"/>
            </a:endParaRPr>
          </a:p>
        </p:txBody>
      </p:sp>
      <p:sp>
        <p:nvSpPr>
          <p:cNvPr id="42005" name="Rectangle 10"/>
          <p:cNvSpPr>
            <a:spLocks noChangeArrowheads="1"/>
          </p:cNvSpPr>
          <p:nvPr/>
        </p:nvSpPr>
        <p:spPr bwMode="auto">
          <a:xfrm>
            <a:off x="7772400" y="76202"/>
            <a:ext cx="1322388" cy="23971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Application</a:t>
            </a:r>
            <a:endParaRPr lang="en-US">
              <a:latin typeface="Helvetica" charset="0"/>
            </a:endParaRPr>
          </a:p>
        </p:txBody>
      </p:sp>
      <p:sp>
        <p:nvSpPr>
          <p:cNvPr id="28" name="圆角矩形 27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角矩形 10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  <p:sp>
        <p:nvSpPr>
          <p:cNvPr id="133427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838200"/>
            <a:ext cx="7924800" cy="558643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b="1" dirty="0">
                <a:latin typeface="Helvetica" charset="0"/>
                <a:ea typeface="MS PGothic" panose="020B0600070205080204" charset="-128"/>
              </a:rPr>
              <a:t>Service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: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Helvetica" charset="0"/>
                <a:ea typeface="MS PGothic" panose="020B0600070205080204" charset="-128"/>
              </a:rPr>
              <a:t>Port:</a:t>
            </a:r>
            <a:r>
              <a:rPr lang="zh-CN" altLang="en-US" sz="2000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sz="2000" dirty="0">
                <a:latin typeface="Helvetica" charset="0"/>
                <a:ea typeface="MS PGothic" panose="020B0600070205080204" charset="-128"/>
              </a:rPr>
              <a:t>end-to-end communication between </a:t>
            </a:r>
            <a:r>
              <a:rPr lang="en-US" sz="2000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processes</a:t>
            </a:r>
            <a:endParaRPr lang="en-US" sz="2000" dirty="0">
              <a:solidFill>
                <a:srgbClr val="FF0000"/>
              </a:solidFill>
              <a:latin typeface="Helvetica" charset="0"/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  <a:buClr>
                <a:schemeClr val="tx2"/>
              </a:buClr>
            </a:pPr>
            <a:r>
              <a:rPr lang="en-US" sz="2000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Demultiplexing</a:t>
            </a:r>
            <a:r>
              <a:rPr lang="en-US" sz="2000" dirty="0">
                <a:latin typeface="Helvetica" charset="0"/>
                <a:ea typeface="MS PGothic" panose="020B0600070205080204" charset="-128"/>
              </a:rPr>
              <a:t> of communication between hosts: </a:t>
            </a:r>
            <a:r>
              <a:rPr lang="en-US" sz="1800" dirty="0">
                <a:latin typeface="Helvetica" charset="0"/>
                <a:ea typeface="MS PGothic" panose="020B0600070205080204" charset="-128"/>
              </a:rPr>
              <a:t>Multiple processes on the same hosts communicating simultaneously</a:t>
            </a:r>
            <a:endParaRPr lang="en-US" sz="1800" dirty="0">
              <a:latin typeface="Helvetica" charset="0"/>
              <a:ea typeface="MS PGothic" panose="020B0600070205080204" charset="-128"/>
            </a:endParaRPr>
          </a:p>
          <a:p>
            <a:pPr lvl="1">
              <a:lnSpc>
                <a:spcPct val="100000"/>
              </a:lnSpc>
            </a:pPr>
            <a:r>
              <a:rPr lang="en-US" altLang="zh-CN" sz="2000" i="1" dirty="0">
                <a:latin typeface="Helvetica" charset="0"/>
                <a:ea typeface="MS PGothic" panose="020B0600070205080204" charset="-128"/>
              </a:rPr>
              <a:t>Optional</a:t>
            </a:r>
            <a:r>
              <a:rPr lang="en-US" sz="2000" dirty="0">
                <a:latin typeface="Helvetica" charset="0"/>
                <a:ea typeface="MS PGothic" panose="020B0600070205080204" charset="-128"/>
              </a:rPr>
              <a:t> other services:</a:t>
            </a:r>
            <a:endParaRPr lang="en-US" sz="2000" dirty="0">
              <a:latin typeface="Helvetica" charset="0"/>
              <a:ea typeface="MS PGothic" panose="020B0600070205080204" charset="-128"/>
            </a:endParaRPr>
          </a:p>
          <a:p>
            <a:pPr lvl="2">
              <a:lnSpc>
                <a:spcPct val="100000"/>
              </a:lnSpc>
              <a:buClr>
                <a:schemeClr val="tx2"/>
              </a:buClr>
            </a:pPr>
            <a:r>
              <a:rPr lang="en-US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Reliability </a:t>
            </a:r>
            <a:r>
              <a:rPr lang="en-US" dirty="0">
                <a:solidFill>
                  <a:schemeClr val="tx2"/>
                </a:solidFill>
                <a:latin typeface="Helvetica" charset="0"/>
                <a:ea typeface="MS PGothic" panose="020B0600070205080204" charset="-128"/>
              </a:rPr>
              <a:t>in the presence of errors</a:t>
            </a:r>
            <a:endParaRPr lang="en-US" dirty="0">
              <a:solidFill>
                <a:srgbClr val="FF0000"/>
              </a:solidFill>
              <a:latin typeface="Helvetica" charset="0"/>
              <a:ea typeface="MS PGothic" panose="020B0600070205080204" charset="-128"/>
            </a:endParaRPr>
          </a:p>
          <a:p>
            <a:pPr lvl="2">
              <a:lnSpc>
                <a:spcPct val="100000"/>
              </a:lnSpc>
              <a:buClr>
                <a:schemeClr val="tx2"/>
              </a:buClr>
            </a:pPr>
            <a:r>
              <a:rPr lang="en-US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Timing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 properties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2">
              <a:lnSpc>
                <a:spcPct val="100000"/>
              </a:lnSpc>
              <a:buClr>
                <a:schemeClr val="tx2"/>
              </a:buClr>
            </a:pPr>
            <a:r>
              <a:rPr lang="en-US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Rate adaption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 (flow-control, congestion control)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>
              <a:lnSpc>
                <a:spcPct val="100000"/>
              </a:lnSpc>
            </a:pPr>
            <a:r>
              <a:rPr lang="en-US" b="1" dirty="0">
                <a:latin typeface="Helvetica" charset="0"/>
                <a:ea typeface="MS PGothic" panose="020B0600070205080204" charset="-128"/>
              </a:rPr>
              <a:t>Interface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: send message to specific process at given destination; local process receives messages sent to it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>
              <a:lnSpc>
                <a:spcPct val="100000"/>
              </a:lnSpc>
            </a:pPr>
            <a:r>
              <a:rPr lang="en-US" b="1" dirty="0">
                <a:latin typeface="Helvetica" charset="0"/>
                <a:ea typeface="MS PGothic" panose="020B0600070205080204" charset="-128"/>
              </a:rPr>
              <a:t>Protocol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: port numbers, perhaps implement reliability, flow control, packetization of large messages, framing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Helvetica" charset="0"/>
                <a:ea typeface="MS PGothic" panose="020B0600070205080204" charset="-128"/>
              </a:rPr>
              <a:t>Examples: TCP and UDP</a:t>
            </a:r>
            <a:endParaRPr lang="en-US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>
                <a:latin typeface="Helvetica" charset="0"/>
                <a:ea typeface="MS PGothic" panose="020B0600070205080204" charset="-128"/>
              </a:rPr>
              <a:t>Transport Layer (4)</a:t>
            </a:r>
            <a:endParaRPr lang="en-US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7772400" y="795340"/>
            <a:ext cx="1322388" cy="238125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Helvetica" charset="0"/>
              </a:rPr>
              <a:t>Transport</a:t>
            </a:r>
            <a:endParaRPr lang="en-US">
              <a:solidFill>
                <a:schemeClr val="bg1"/>
              </a:solidFill>
              <a:latin typeface="Helvetica" charset="0"/>
            </a:endParaRPr>
          </a:p>
        </p:txBody>
      </p:sp>
      <p:sp>
        <p:nvSpPr>
          <p:cNvPr id="43013" name="Rectangle 5"/>
          <p:cNvSpPr>
            <a:spLocks noChangeArrowheads="1"/>
          </p:cNvSpPr>
          <p:nvPr/>
        </p:nvSpPr>
        <p:spPr bwMode="auto">
          <a:xfrm>
            <a:off x="7772400" y="1033463"/>
            <a:ext cx="1322388" cy="2397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Network</a:t>
            </a:r>
            <a:endParaRPr lang="en-US">
              <a:latin typeface="Helvetica" charset="0"/>
            </a:endParaRPr>
          </a:p>
        </p:txBody>
      </p:sp>
      <p:sp>
        <p:nvSpPr>
          <p:cNvPr id="43014" name="Rectangle 6"/>
          <p:cNvSpPr>
            <a:spLocks noChangeArrowheads="1"/>
          </p:cNvSpPr>
          <p:nvPr/>
        </p:nvSpPr>
        <p:spPr bwMode="auto">
          <a:xfrm>
            <a:off x="7772400" y="1273177"/>
            <a:ext cx="1322388" cy="23971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Datalink</a:t>
            </a:r>
            <a:endParaRPr lang="en-US">
              <a:latin typeface="Helvetica" charset="0"/>
            </a:endParaRPr>
          </a:p>
        </p:txBody>
      </p:sp>
      <p:sp>
        <p:nvSpPr>
          <p:cNvPr id="43015" name="Rectangle 7"/>
          <p:cNvSpPr>
            <a:spLocks noChangeArrowheads="1"/>
          </p:cNvSpPr>
          <p:nvPr/>
        </p:nvSpPr>
        <p:spPr bwMode="auto">
          <a:xfrm>
            <a:off x="7772400" y="1512888"/>
            <a:ext cx="1322388" cy="2397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Physical</a:t>
            </a:r>
            <a:endParaRPr lang="en-US">
              <a:latin typeface="Helvetica" charset="0"/>
            </a:endParaRPr>
          </a:p>
        </p:txBody>
      </p:sp>
      <p:sp>
        <p:nvSpPr>
          <p:cNvPr id="43016" name="Rectangle 8"/>
          <p:cNvSpPr>
            <a:spLocks noChangeArrowheads="1"/>
          </p:cNvSpPr>
          <p:nvPr/>
        </p:nvSpPr>
        <p:spPr bwMode="auto">
          <a:xfrm>
            <a:off x="7772400" y="555627"/>
            <a:ext cx="1322388" cy="239713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ot"/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folHlink"/>
                </a:solidFill>
                <a:latin typeface="Helvetica" charset="0"/>
              </a:rPr>
              <a:t>Session</a:t>
            </a:r>
            <a:endParaRPr lang="en-US">
              <a:solidFill>
                <a:schemeClr val="folHlink"/>
              </a:solidFill>
              <a:latin typeface="Helvetica" charset="0"/>
            </a:endParaRPr>
          </a:p>
        </p:txBody>
      </p:sp>
      <p:sp>
        <p:nvSpPr>
          <p:cNvPr id="43017" name="Rectangle 9"/>
          <p:cNvSpPr>
            <a:spLocks noChangeArrowheads="1"/>
          </p:cNvSpPr>
          <p:nvPr/>
        </p:nvSpPr>
        <p:spPr bwMode="auto">
          <a:xfrm>
            <a:off x="7772400" y="315913"/>
            <a:ext cx="1322388" cy="239712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ot"/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folHlink"/>
                </a:solidFill>
                <a:latin typeface="Helvetica" charset="0"/>
              </a:rPr>
              <a:t>Present.</a:t>
            </a:r>
            <a:endParaRPr lang="en-US">
              <a:solidFill>
                <a:schemeClr val="folHlink"/>
              </a:solidFill>
              <a:latin typeface="Helvetica" charset="0"/>
            </a:endParaRPr>
          </a:p>
        </p:txBody>
      </p:sp>
      <p:sp>
        <p:nvSpPr>
          <p:cNvPr id="43018" name="Rectangle 10"/>
          <p:cNvSpPr>
            <a:spLocks noChangeArrowheads="1"/>
          </p:cNvSpPr>
          <p:nvPr/>
        </p:nvSpPr>
        <p:spPr bwMode="auto">
          <a:xfrm>
            <a:off x="7772400" y="76202"/>
            <a:ext cx="1322388" cy="23971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Application</a:t>
            </a:r>
            <a:endParaRPr lang="en-US">
              <a:latin typeface="Helvetica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4275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609600"/>
            <a:ext cx="7391400" cy="990600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panose="020B0600070205080204" charset="-128"/>
              </a:rPr>
              <a:t>Port number: 16-bit number identifying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a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process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on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destination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host</a:t>
            </a:r>
            <a:endParaRPr lang="en-US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76200"/>
            <a:ext cx="7162800" cy="533400"/>
          </a:xfrm>
        </p:spPr>
        <p:txBody>
          <a:bodyPr>
            <a:normAutofit/>
          </a:bodyPr>
          <a:lstStyle/>
          <a:p>
            <a:r>
              <a:rPr lang="en-US">
                <a:latin typeface="Helvetica" charset="0"/>
                <a:ea typeface="MS PGothic" panose="020B0600070205080204" charset="-128"/>
              </a:rPr>
              <a:t>Port Numbers</a:t>
            </a:r>
            <a:endParaRPr lang="en-US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44036" name="Rectangle 4"/>
          <p:cNvSpPr>
            <a:spLocks noChangeArrowheads="1"/>
          </p:cNvSpPr>
          <p:nvPr/>
        </p:nvSpPr>
        <p:spPr bwMode="auto">
          <a:xfrm>
            <a:off x="7772400" y="795340"/>
            <a:ext cx="1322388" cy="238125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Helvetica" charset="0"/>
              </a:rPr>
              <a:t>Transport</a:t>
            </a:r>
            <a:endParaRPr lang="en-US">
              <a:solidFill>
                <a:schemeClr val="bg1"/>
              </a:solidFill>
              <a:latin typeface="Helvetica" charset="0"/>
            </a:endParaRPr>
          </a:p>
        </p:txBody>
      </p:sp>
      <p:sp>
        <p:nvSpPr>
          <p:cNvPr id="44037" name="Rectangle 5"/>
          <p:cNvSpPr>
            <a:spLocks noChangeArrowheads="1"/>
          </p:cNvSpPr>
          <p:nvPr/>
        </p:nvSpPr>
        <p:spPr bwMode="auto">
          <a:xfrm>
            <a:off x="7772400" y="1033463"/>
            <a:ext cx="1322388" cy="2397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Network</a:t>
            </a:r>
            <a:endParaRPr lang="en-US">
              <a:latin typeface="Helvetica" charset="0"/>
            </a:endParaRPr>
          </a:p>
        </p:txBody>
      </p:sp>
      <p:sp>
        <p:nvSpPr>
          <p:cNvPr id="44038" name="Rectangle 6"/>
          <p:cNvSpPr>
            <a:spLocks noChangeArrowheads="1"/>
          </p:cNvSpPr>
          <p:nvPr/>
        </p:nvSpPr>
        <p:spPr bwMode="auto">
          <a:xfrm>
            <a:off x="7772400" y="1273177"/>
            <a:ext cx="1322388" cy="23971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Datalink</a:t>
            </a:r>
            <a:endParaRPr lang="en-US">
              <a:latin typeface="Helvetica" charset="0"/>
            </a:endParaRPr>
          </a:p>
        </p:txBody>
      </p:sp>
      <p:sp>
        <p:nvSpPr>
          <p:cNvPr id="44039" name="Rectangle 7"/>
          <p:cNvSpPr>
            <a:spLocks noChangeArrowheads="1"/>
          </p:cNvSpPr>
          <p:nvPr/>
        </p:nvSpPr>
        <p:spPr bwMode="auto">
          <a:xfrm>
            <a:off x="7772400" y="1512888"/>
            <a:ext cx="1322388" cy="2397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Physical</a:t>
            </a:r>
            <a:endParaRPr lang="en-US">
              <a:latin typeface="Helvetica" charset="0"/>
            </a:endParaRPr>
          </a:p>
        </p:txBody>
      </p:sp>
      <p:sp>
        <p:nvSpPr>
          <p:cNvPr id="44040" name="Rectangle 8"/>
          <p:cNvSpPr>
            <a:spLocks noChangeArrowheads="1"/>
          </p:cNvSpPr>
          <p:nvPr/>
        </p:nvSpPr>
        <p:spPr bwMode="auto">
          <a:xfrm>
            <a:off x="7772400" y="555627"/>
            <a:ext cx="1322388" cy="239713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ot"/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folHlink"/>
                </a:solidFill>
                <a:latin typeface="Helvetica" charset="0"/>
              </a:rPr>
              <a:t>Session</a:t>
            </a:r>
            <a:endParaRPr lang="en-US">
              <a:solidFill>
                <a:schemeClr val="folHlink"/>
              </a:solidFill>
              <a:latin typeface="Helvetica" charset="0"/>
            </a:endParaRPr>
          </a:p>
        </p:txBody>
      </p:sp>
      <p:sp>
        <p:nvSpPr>
          <p:cNvPr id="44041" name="Rectangle 9"/>
          <p:cNvSpPr>
            <a:spLocks noChangeArrowheads="1"/>
          </p:cNvSpPr>
          <p:nvPr/>
        </p:nvSpPr>
        <p:spPr bwMode="auto">
          <a:xfrm>
            <a:off x="7772400" y="315913"/>
            <a:ext cx="1322388" cy="239712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ot"/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folHlink"/>
                </a:solidFill>
                <a:latin typeface="Helvetica" charset="0"/>
              </a:rPr>
              <a:t>Present.</a:t>
            </a:r>
            <a:endParaRPr lang="en-US">
              <a:solidFill>
                <a:schemeClr val="folHlink"/>
              </a:solidFill>
              <a:latin typeface="Helvetica" charset="0"/>
            </a:endParaRPr>
          </a:p>
        </p:txBody>
      </p:sp>
      <p:sp>
        <p:nvSpPr>
          <p:cNvPr id="44042" name="Rectangle 10"/>
          <p:cNvSpPr>
            <a:spLocks noChangeArrowheads="1"/>
          </p:cNvSpPr>
          <p:nvPr/>
        </p:nvSpPr>
        <p:spPr bwMode="auto">
          <a:xfrm>
            <a:off x="7772400" y="76202"/>
            <a:ext cx="1322388" cy="23971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Application</a:t>
            </a:r>
            <a:endParaRPr lang="en-US">
              <a:latin typeface="Helvetica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1447800" y="5638800"/>
            <a:ext cx="2743200" cy="5334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600" b="0" dirty="0">
              <a:latin typeface="Helvetica"/>
              <a:ea typeface="MS PGothic" panose="020B0600070205080204" charset="-128"/>
              <a:cs typeface="Helvetica"/>
            </a:endParaRPr>
          </a:p>
        </p:txBody>
      </p:sp>
      <p:sp>
        <p:nvSpPr>
          <p:cNvPr id="12" name="TextBox 2"/>
          <p:cNvSpPr txBox="1">
            <a:spLocks noChangeArrowheads="1"/>
          </p:cNvSpPr>
          <p:nvPr/>
        </p:nvSpPr>
        <p:spPr bwMode="auto">
          <a:xfrm>
            <a:off x="1447800" y="5715000"/>
            <a:ext cx="2698750" cy="40005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>
            <a:noFill/>
            <a:miter lim="800000"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9pPr>
          </a:lstStyle>
          <a:p>
            <a:pPr eaLnBrk="1" hangingPunct="1">
              <a:defRPr/>
            </a:pPr>
            <a:r>
              <a:rPr lang="en-US" sz="2000" b="0">
                <a:latin typeface="Helvetica" charset="0"/>
                <a:cs typeface="Helvetica" charset="0"/>
              </a:rPr>
              <a:t>101010100110101110</a:t>
            </a:r>
            <a:endParaRPr lang="en-US" sz="2000" b="0">
              <a:latin typeface="Helvetica" charset="0"/>
              <a:cs typeface="Helvetica" charset="0"/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0" y="3200400"/>
            <a:ext cx="1295400" cy="762000"/>
          </a:xfrm>
          <a:prstGeom prst="rect">
            <a:avLst/>
          </a:prstGeom>
          <a:solidFill>
            <a:srgbClr val="A0BCFE"/>
          </a:solidFill>
          <a:ln w="25400">
            <a:solidFill>
              <a:schemeClr val="tx1"/>
            </a:solidFill>
            <a:round/>
            <a:headEnd type="triangle" w="med" len="med"/>
          </a:ln>
          <a:effectLst>
            <a:outerShdw blurRad="50800" dist="38100" dir="2700000" rotWithShape="0">
              <a:srgbClr val="000000">
                <a:alpha val="42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2000" b="0" dirty="0">
                <a:latin typeface="Helvetica"/>
                <a:ea typeface="MS PGothic" panose="020B0600070205080204" charset="-128"/>
                <a:cs typeface="Helvetica"/>
              </a:rPr>
              <a:t>Network Layer </a:t>
            </a:r>
            <a:endParaRPr lang="en-US" sz="2000" b="0" dirty="0">
              <a:latin typeface="Helvetica"/>
              <a:ea typeface="MS PGothic" panose="020B0600070205080204" charset="-128"/>
              <a:cs typeface="Helvetica"/>
            </a:endParaRPr>
          </a:p>
        </p:txBody>
      </p:sp>
      <p:sp>
        <p:nvSpPr>
          <p:cNvPr id="44046" name="Rectangle 60"/>
          <p:cNvSpPr>
            <a:spLocks noChangeArrowheads="1"/>
          </p:cNvSpPr>
          <p:nvPr/>
        </p:nvSpPr>
        <p:spPr bwMode="auto">
          <a:xfrm>
            <a:off x="2819400" y="3276600"/>
            <a:ext cx="685800" cy="6096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Arial Narrow" panose="020B0606020202030204" charset="0"/>
              </a:rPr>
              <a:t>Trans.</a:t>
            </a:r>
            <a:endParaRPr lang="en-US" sz="1600" b="0">
              <a:latin typeface="Arial Narrow" panose="020B0606020202030204" charset="0"/>
            </a:endParaRPr>
          </a:p>
          <a:p>
            <a:pPr algn="ctr"/>
            <a:r>
              <a:rPr lang="en-US" sz="1600" b="0">
                <a:latin typeface="Arial Narrow" panose="020B0606020202030204" charset="0"/>
              </a:rPr>
              <a:t>Hdr.</a:t>
            </a:r>
            <a:endParaRPr lang="en-US" sz="1600" b="0">
              <a:latin typeface="Arial Narrow" panose="020B0606020202030204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2133600" y="3276600"/>
            <a:ext cx="685800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1600" b="0" dirty="0">
                <a:latin typeface="Arial Narrow" panose="020B0606020202030204"/>
                <a:ea typeface="MS PGothic" panose="020B0600070205080204" charset="-128"/>
                <a:cs typeface="Arial Narrow" panose="020B0606020202030204"/>
              </a:rPr>
              <a:t>Net.</a:t>
            </a:r>
            <a:endParaRPr lang="en-US" sz="1600" b="0" dirty="0">
              <a:latin typeface="Arial Narrow" panose="020B0606020202030204"/>
              <a:ea typeface="MS PGothic" panose="020B0600070205080204" charset="-128"/>
              <a:cs typeface="Arial Narrow" panose="020B0606020202030204"/>
            </a:endParaRPr>
          </a:p>
          <a:p>
            <a:pPr algn="ctr">
              <a:defRPr/>
            </a:pPr>
            <a:r>
              <a:rPr lang="en-US" sz="1600" b="0" dirty="0" err="1">
                <a:latin typeface="Arial Narrow" panose="020B0606020202030204"/>
                <a:ea typeface="MS PGothic" panose="020B0600070205080204" charset="-128"/>
                <a:cs typeface="Arial Narrow" panose="020B0606020202030204"/>
              </a:rPr>
              <a:t>Hdr</a:t>
            </a:r>
            <a:r>
              <a:rPr lang="en-US" sz="1600" b="0" dirty="0">
                <a:latin typeface="Arial Narrow" panose="020B0606020202030204"/>
                <a:ea typeface="MS PGothic" panose="020B0600070205080204" charset="-128"/>
                <a:cs typeface="Arial Narrow" panose="020B0606020202030204"/>
              </a:rPr>
              <a:t>.</a:t>
            </a:r>
            <a:endParaRPr lang="en-US" sz="1600" b="0" dirty="0">
              <a:latin typeface="Arial Narrow" panose="020B0606020202030204"/>
              <a:ea typeface="MS PGothic" panose="020B0600070205080204" charset="-128"/>
              <a:cs typeface="Arial Narrow" panose="020B0606020202030204"/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7848600" y="3200400"/>
            <a:ext cx="1295400" cy="762000"/>
          </a:xfrm>
          <a:prstGeom prst="rect">
            <a:avLst/>
          </a:prstGeom>
          <a:solidFill>
            <a:srgbClr val="A0BCFE"/>
          </a:solidFill>
          <a:ln w="25400">
            <a:solidFill>
              <a:schemeClr val="tx1"/>
            </a:solidFill>
            <a:round/>
            <a:headEnd type="triangle" w="med" len="med"/>
          </a:ln>
          <a:effectLst>
            <a:outerShdw blurRad="50800" dist="38100" dir="2700000" rotWithShape="0">
              <a:srgbClr val="000000">
                <a:alpha val="42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2000" b="0" dirty="0">
                <a:latin typeface="Helvetica"/>
                <a:ea typeface="MS PGothic" panose="020B0600070205080204" charset="-128"/>
                <a:cs typeface="Helvetica"/>
              </a:rPr>
              <a:t>Network Layer </a:t>
            </a:r>
            <a:endParaRPr lang="en-US" sz="2000" b="0" dirty="0">
              <a:latin typeface="Helvetica"/>
              <a:ea typeface="MS PGothic" panose="020B0600070205080204" charset="-128"/>
              <a:cs typeface="Helvetica"/>
            </a:endParaRPr>
          </a:p>
        </p:txBody>
      </p:sp>
      <p:sp>
        <p:nvSpPr>
          <p:cNvPr id="44049" name="Rectangle 65"/>
          <p:cNvSpPr>
            <a:spLocks noChangeArrowheads="1"/>
          </p:cNvSpPr>
          <p:nvPr/>
        </p:nvSpPr>
        <p:spPr bwMode="auto">
          <a:xfrm>
            <a:off x="6324600" y="3276600"/>
            <a:ext cx="685800" cy="6096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Arial Narrow" panose="020B0606020202030204" charset="0"/>
              </a:rPr>
              <a:t>Trans.</a:t>
            </a:r>
            <a:endParaRPr lang="en-US" sz="1600" b="0">
              <a:latin typeface="Arial Narrow" panose="020B0606020202030204" charset="0"/>
            </a:endParaRPr>
          </a:p>
          <a:p>
            <a:pPr algn="ctr"/>
            <a:r>
              <a:rPr lang="en-US" sz="1600" b="0">
                <a:latin typeface="Arial Narrow" panose="020B0606020202030204" charset="0"/>
              </a:rPr>
              <a:t>Hdr.</a:t>
            </a:r>
            <a:endParaRPr lang="en-US" sz="1600" b="0">
              <a:latin typeface="Arial Narrow" panose="020B0606020202030204" charset="0"/>
            </a:endParaRPr>
          </a:p>
        </p:txBody>
      </p:sp>
      <p:sp>
        <p:nvSpPr>
          <p:cNvPr id="44050" name="Rectangle 67"/>
          <p:cNvSpPr>
            <a:spLocks noChangeArrowheads="1"/>
          </p:cNvSpPr>
          <p:nvPr/>
        </p:nvSpPr>
        <p:spPr bwMode="auto">
          <a:xfrm>
            <a:off x="5638800" y="3276600"/>
            <a:ext cx="685800" cy="609600"/>
          </a:xfrm>
          <a:prstGeom prst="rect">
            <a:avLst/>
          </a:prstGeom>
          <a:solidFill>
            <a:srgbClr val="A0BCFE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Arial Narrow" panose="020B0606020202030204" charset="0"/>
              </a:rPr>
              <a:t>Net.</a:t>
            </a:r>
            <a:endParaRPr lang="en-US" sz="1600" b="0">
              <a:latin typeface="Arial Narrow" panose="020B0606020202030204" charset="0"/>
            </a:endParaRPr>
          </a:p>
          <a:p>
            <a:pPr algn="ctr"/>
            <a:r>
              <a:rPr lang="en-US" sz="1600" b="0">
                <a:latin typeface="Arial Narrow" panose="020B0606020202030204" charset="0"/>
              </a:rPr>
              <a:t>Hdr.</a:t>
            </a:r>
            <a:endParaRPr lang="en-US" sz="1600" b="0">
              <a:latin typeface="Arial Narrow" panose="020B0606020202030204" charset="0"/>
            </a:endParaRP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0" y="4343400"/>
            <a:ext cx="1295400" cy="762000"/>
          </a:xfrm>
          <a:prstGeom prst="rect">
            <a:avLst/>
          </a:prstGeom>
          <a:solidFill>
            <a:srgbClr val="FECF59"/>
          </a:solidFill>
          <a:ln w="25400">
            <a:solidFill>
              <a:schemeClr val="tx1"/>
            </a:solidFill>
            <a:round/>
            <a:headEnd type="triangle" w="med" len="med"/>
          </a:ln>
          <a:effectLst>
            <a:outerShdw blurRad="50800" dist="38100" dir="2700000" rotWithShape="0">
              <a:srgbClr val="000000">
                <a:alpha val="42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2000" b="0" dirty="0" err="1">
                <a:latin typeface="Helvetica"/>
                <a:ea typeface="MS PGothic" panose="020B0600070205080204" charset="-128"/>
                <a:cs typeface="Helvetica"/>
              </a:rPr>
              <a:t>Datalink</a:t>
            </a:r>
            <a:r>
              <a:rPr lang="en-US" sz="2000" b="0" dirty="0">
                <a:latin typeface="Helvetica"/>
                <a:ea typeface="MS PGothic" panose="020B0600070205080204" charset="-128"/>
                <a:cs typeface="Helvetica"/>
              </a:rPr>
              <a:t> Layer </a:t>
            </a:r>
            <a:endParaRPr lang="en-US" sz="2000" b="0" dirty="0">
              <a:latin typeface="Helvetica"/>
              <a:ea typeface="MS PGothic" panose="020B0600070205080204" charset="-128"/>
              <a:cs typeface="Helvetica"/>
            </a:endParaRPr>
          </a:p>
        </p:txBody>
      </p:sp>
      <p:sp>
        <p:nvSpPr>
          <p:cNvPr id="44052" name="Rectangle 70"/>
          <p:cNvSpPr>
            <a:spLocks noChangeArrowheads="1"/>
          </p:cNvSpPr>
          <p:nvPr/>
        </p:nvSpPr>
        <p:spPr bwMode="auto">
          <a:xfrm>
            <a:off x="2819400" y="4419600"/>
            <a:ext cx="685800" cy="6096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Arial Narrow" panose="020B0606020202030204" charset="0"/>
              </a:rPr>
              <a:t>Trans.</a:t>
            </a:r>
            <a:endParaRPr lang="en-US" sz="1600" b="0">
              <a:latin typeface="Arial Narrow" panose="020B0606020202030204" charset="0"/>
            </a:endParaRPr>
          </a:p>
          <a:p>
            <a:pPr algn="ctr"/>
            <a:r>
              <a:rPr lang="en-US" sz="1600" b="0">
                <a:latin typeface="Arial Narrow" panose="020B0606020202030204" charset="0"/>
              </a:rPr>
              <a:t>Hdr.</a:t>
            </a:r>
            <a:endParaRPr lang="en-US" sz="1600" b="0">
              <a:latin typeface="Arial Narrow" panose="020B0606020202030204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2133600" y="4419600"/>
            <a:ext cx="685800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1600" b="0" dirty="0">
                <a:latin typeface="Arial Narrow" panose="020B0606020202030204"/>
                <a:ea typeface="MS PGothic" panose="020B0600070205080204" charset="-128"/>
                <a:cs typeface="Arial Narrow" panose="020B0606020202030204"/>
              </a:rPr>
              <a:t>Net.</a:t>
            </a:r>
            <a:endParaRPr lang="en-US" sz="1600" b="0" dirty="0">
              <a:latin typeface="Arial Narrow" panose="020B0606020202030204"/>
              <a:ea typeface="MS PGothic" panose="020B0600070205080204" charset="-128"/>
              <a:cs typeface="Arial Narrow" panose="020B0606020202030204"/>
            </a:endParaRPr>
          </a:p>
          <a:p>
            <a:pPr algn="ctr">
              <a:defRPr/>
            </a:pPr>
            <a:r>
              <a:rPr lang="en-US" sz="1600" b="0" dirty="0" err="1">
                <a:latin typeface="Arial Narrow" panose="020B0606020202030204"/>
                <a:ea typeface="MS PGothic" panose="020B0600070205080204" charset="-128"/>
                <a:cs typeface="Arial Narrow" panose="020B0606020202030204"/>
              </a:rPr>
              <a:t>Hdr</a:t>
            </a:r>
            <a:r>
              <a:rPr lang="en-US" sz="1600" b="0" dirty="0">
                <a:latin typeface="Arial Narrow" panose="020B0606020202030204"/>
                <a:ea typeface="MS PGothic" panose="020B0600070205080204" charset="-128"/>
                <a:cs typeface="Arial Narrow" panose="020B0606020202030204"/>
              </a:rPr>
              <a:t>.</a:t>
            </a:r>
            <a:endParaRPr lang="en-US" sz="1600" b="0" dirty="0">
              <a:latin typeface="Arial Narrow" panose="020B0606020202030204"/>
              <a:ea typeface="MS PGothic" panose="020B0600070205080204" charset="-128"/>
              <a:cs typeface="Arial Narrow" panose="020B0606020202030204"/>
            </a:endParaRPr>
          </a:p>
        </p:txBody>
      </p:sp>
      <p:sp>
        <p:nvSpPr>
          <p:cNvPr id="44054" name="Rectangle 73"/>
          <p:cNvSpPr>
            <a:spLocks noChangeArrowheads="1"/>
          </p:cNvSpPr>
          <p:nvPr/>
        </p:nvSpPr>
        <p:spPr bwMode="auto">
          <a:xfrm>
            <a:off x="1447800" y="4419600"/>
            <a:ext cx="685800" cy="609600"/>
          </a:xfrm>
          <a:prstGeom prst="rect">
            <a:avLst/>
          </a:prstGeom>
          <a:solidFill>
            <a:srgbClr val="FECF59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Arial Narrow" panose="020B0606020202030204" charset="0"/>
              </a:rPr>
              <a:t>Frame</a:t>
            </a:r>
            <a:endParaRPr lang="en-US" sz="1600" b="0">
              <a:latin typeface="Arial Narrow" panose="020B0606020202030204" charset="0"/>
            </a:endParaRPr>
          </a:p>
          <a:p>
            <a:pPr algn="ctr"/>
            <a:r>
              <a:rPr lang="en-US" sz="1600" b="0">
                <a:latin typeface="Arial Narrow" panose="020B0606020202030204" charset="0"/>
              </a:rPr>
              <a:t>Hdr.</a:t>
            </a:r>
            <a:endParaRPr lang="en-US" sz="1600" b="0">
              <a:latin typeface="Arial Narrow" panose="020B0606020202030204" charset="0"/>
            </a:endParaRPr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7848600" y="4343400"/>
            <a:ext cx="1295400" cy="762000"/>
          </a:xfrm>
          <a:prstGeom prst="rect">
            <a:avLst/>
          </a:prstGeom>
          <a:solidFill>
            <a:srgbClr val="FECF59"/>
          </a:solidFill>
          <a:ln w="25400">
            <a:solidFill>
              <a:schemeClr val="tx1"/>
            </a:solidFill>
            <a:round/>
            <a:headEnd type="triangle" w="med" len="med"/>
          </a:ln>
          <a:effectLst>
            <a:outerShdw blurRad="50800" dist="38100" dir="2700000" rotWithShape="0">
              <a:srgbClr val="000000">
                <a:alpha val="42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2000" b="0" dirty="0" err="1">
                <a:latin typeface="Helvetica"/>
                <a:ea typeface="MS PGothic" panose="020B0600070205080204" charset="-128"/>
                <a:cs typeface="Helvetica"/>
              </a:rPr>
              <a:t>Datalink</a:t>
            </a:r>
            <a:r>
              <a:rPr lang="en-US" sz="2000" b="0" dirty="0">
                <a:latin typeface="Helvetica"/>
                <a:ea typeface="MS PGothic" panose="020B0600070205080204" charset="-128"/>
                <a:cs typeface="Helvetica"/>
              </a:rPr>
              <a:t> Layer </a:t>
            </a:r>
            <a:endParaRPr lang="en-US" sz="2000" b="0" dirty="0">
              <a:latin typeface="Helvetica"/>
              <a:ea typeface="MS PGothic" panose="020B0600070205080204" charset="-128"/>
              <a:cs typeface="Helvetica"/>
            </a:endParaRPr>
          </a:p>
        </p:txBody>
      </p:sp>
      <p:sp>
        <p:nvSpPr>
          <p:cNvPr id="44056" name="Rectangle 75"/>
          <p:cNvSpPr>
            <a:spLocks noChangeArrowheads="1"/>
          </p:cNvSpPr>
          <p:nvPr/>
        </p:nvSpPr>
        <p:spPr bwMode="auto">
          <a:xfrm>
            <a:off x="6324600" y="4419600"/>
            <a:ext cx="685800" cy="6096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Arial Narrow" panose="020B0606020202030204" charset="0"/>
              </a:rPr>
              <a:t>Trans.</a:t>
            </a:r>
            <a:endParaRPr lang="en-US" sz="1600" b="0">
              <a:latin typeface="Arial Narrow" panose="020B0606020202030204" charset="0"/>
            </a:endParaRPr>
          </a:p>
          <a:p>
            <a:pPr algn="ctr"/>
            <a:r>
              <a:rPr lang="en-US" sz="1600" b="0">
                <a:latin typeface="Arial Narrow" panose="020B0606020202030204" charset="0"/>
              </a:rPr>
              <a:t>Hdr.</a:t>
            </a:r>
            <a:endParaRPr lang="en-US" sz="1600" b="0">
              <a:latin typeface="Arial Narrow" panose="020B0606020202030204" charset="0"/>
            </a:endParaRPr>
          </a:p>
        </p:txBody>
      </p:sp>
      <p:sp>
        <p:nvSpPr>
          <p:cNvPr id="44057" name="Rectangle 77"/>
          <p:cNvSpPr>
            <a:spLocks noChangeArrowheads="1"/>
          </p:cNvSpPr>
          <p:nvPr/>
        </p:nvSpPr>
        <p:spPr bwMode="auto">
          <a:xfrm>
            <a:off x="5638800" y="4419600"/>
            <a:ext cx="685800" cy="609600"/>
          </a:xfrm>
          <a:prstGeom prst="rect">
            <a:avLst/>
          </a:prstGeom>
          <a:solidFill>
            <a:srgbClr val="A0BCFE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Arial Narrow" panose="020B0606020202030204" charset="0"/>
              </a:rPr>
              <a:t>Net.</a:t>
            </a:r>
            <a:endParaRPr lang="en-US" sz="1600" b="0">
              <a:latin typeface="Arial Narrow" panose="020B0606020202030204" charset="0"/>
            </a:endParaRPr>
          </a:p>
          <a:p>
            <a:pPr algn="ctr"/>
            <a:r>
              <a:rPr lang="en-US" sz="1600" b="0">
                <a:latin typeface="Arial Narrow" panose="020B0606020202030204" charset="0"/>
              </a:rPr>
              <a:t>Hdr.</a:t>
            </a:r>
            <a:endParaRPr lang="en-US" sz="1600" b="0">
              <a:latin typeface="Arial Narrow" panose="020B0606020202030204" charset="0"/>
            </a:endParaRPr>
          </a:p>
        </p:txBody>
      </p:sp>
      <p:sp>
        <p:nvSpPr>
          <p:cNvPr id="44058" name="Rectangle 78"/>
          <p:cNvSpPr>
            <a:spLocks noChangeArrowheads="1"/>
          </p:cNvSpPr>
          <p:nvPr/>
        </p:nvSpPr>
        <p:spPr bwMode="auto">
          <a:xfrm>
            <a:off x="4953000" y="4419600"/>
            <a:ext cx="685800" cy="609600"/>
          </a:xfrm>
          <a:prstGeom prst="rect">
            <a:avLst/>
          </a:prstGeom>
          <a:solidFill>
            <a:srgbClr val="FECF59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Arial Narrow" panose="020B0606020202030204" charset="0"/>
              </a:rPr>
              <a:t>Frame</a:t>
            </a:r>
            <a:endParaRPr lang="en-US" sz="1600" b="0">
              <a:latin typeface="Arial Narrow" panose="020B0606020202030204" charset="0"/>
            </a:endParaRPr>
          </a:p>
          <a:p>
            <a:pPr algn="ctr"/>
            <a:r>
              <a:rPr lang="en-US" sz="1600" b="0">
                <a:latin typeface="Arial Narrow" panose="020B0606020202030204" charset="0"/>
              </a:rPr>
              <a:t>Hdr.</a:t>
            </a:r>
            <a:endParaRPr lang="en-US" sz="1600" b="0">
              <a:latin typeface="Arial Narrow" panose="020B0606020202030204" charset="0"/>
            </a:endParaRPr>
          </a:p>
        </p:txBody>
      </p:sp>
      <p:sp>
        <p:nvSpPr>
          <p:cNvPr id="31" name="Rectangle 30"/>
          <p:cNvSpPr>
            <a:spLocks noChangeArrowheads="1"/>
          </p:cNvSpPr>
          <p:nvPr/>
        </p:nvSpPr>
        <p:spPr bwMode="auto">
          <a:xfrm>
            <a:off x="0" y="5486400"/>
            <a:ext cx="1295400" cy="762000"/>
          </a:xfrm>
          <a:prstGeom prst="rect">
            <a:avLst/>
          </a:prstGeom>
          <a:solidFill>
            <a:srgbClr val="BDBDBD"/>
          </a:solidFill>
          <a:ln w="25400">
            <a:solidFill>
              <a:schemeClr val="tx1"/>
            </a:solidFill>
            <a:round/>
            <a:headEnd type="triangle" w="med" len="med"/>
          </a:ln>
          <a:effectLst>
            <a:outerShdw blurRad="50800" dist="38100" dir="2700000" rotWithShape="0">
              <a:srgbClr val="000000">
                <a:alpha val="42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2000" b="0" dirty="0">
                <a:latin typeface="Helvetica"/>
                <a:ea typeface="MS PGothic" panose="020B0600070205080204" charset="-128"/>
                <a:cs typeface="Helvetica"/>
              </a:rPr>
              <a:t>Physical Layer </a:t>
            </a:r>
            <a:endParaRPr lang="en-US" sz="2000" b="0" dirty="0">
              <a:latin typeface="Helvetica"/>
              <a:ea typeface="MS PGothic" panose="020B0600070205080204" charset="-128"/>
              <a:cs typeface="Helvetica"/>
            </a:endParaRP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7848600" y="5486400"/>
            <a:ext cx="1295400" cy="762000"/>
          </a:xfrm>
          <a:prstGeom prst="rect">
            <a:avLst/>
          </a:prstGeom>
          <a:solidFill>
            <a:srgbClr val="BDBDBD"/>
          </a:solidFill>
          <a:ln w="25400">
            <a:solidFill>
              <a:schemeClr val="tx1"/>
            </a:solidFill>
            <a:round/>
            <a:headEnd type="triangle" w="med" len="med"/>
          </a:ln>
          <a:effectLst>
            <a:outerShdw blurRad="50800" dist="38100" dir="2700000" rotWithShape="0">
              <a:srgbClr val="000000">
                <a:alpha val="42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2000" b="0" dirty="0">
                <a:latin typeface="Helvetica"/>
                <a:ea typeface="MS PGothic" panose="020B0600070205080204" charset="-128"/>
                <a:cs typeface="Helvetica"/>
              </a:rPr>
              <a:t>Physical Layer </a:t>
            </a:r>
            <a:endParaRPr lang="en-US" sz="2000" b="0" dirty="0">
              <a:latin typeface="Helvetica"/>
              <a:ea typeface="MS PGothic" panose="020B0600070205080204" charset="-128"/>
              <a:cs typeface="Helvetica"/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4953000" y="5638800"/>
            <a:ext cx="2743200" cy="5334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600" b="0" dirty="0">
              <a:latin typeface="Helvetica"/>
              <a:ea typeface="MS PGothic" panose="020B0600070205080204" charset="-128"/>
              <a:cs typeface="Helvetica"/>
            </a:endParaRPr>
          </a:p>
        </p:txBody>
      </p:sp>
      <p:sp>
        <p:nvSpPr>
          <p:cNvPr id="34" name="TextBox 2"/>
          <p:cNvSpPr txBox="1">
            <a:spLocks noChangeArrowheads="1"/>
          </p:cNvSpPr>
          <p:nvPr/>
        </p:nvSpPr>
        <p:spPr bwMode="auto">
          <a:xfrm>
            <a:off x="4953000" y="5715000"/>
            <a:ext cx="2698750" cy="40005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>
            <a:noFill/>
            <a:miter lim="800000"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9pPr>
          </a:lstStyle>
          <a:p>
            <a:pPr eaLnBrk="1" hangingPunct="1">
              <a:defRPr/>
            </a:pPr>
            <a:r>
              <a:rPr lang="en-US" sz="2000" b="0">
                <a:latin typeface="Helvetica" charset="0"/>
                <a:cs typeface="Helvetica" charset="0"/>
              </a:rPr>
              <a:t>101010100110101110</a:t>
            </a:r>
            <a:endParaRPr lang="en-US" sz="2000" b="0">
              <a:latin typeface="Helvetica" charset="0"/>
              <a:cs typeface="Helvetica" charset="0"/>
            </a:endParaRPr>
          </a:p>
        </p:txBody>
      </p:sp>
      <p:sp>
        <p:nvSpPr>
          <p:cNvPr id="44063" name="Rectangle 97"/>
          <p:cNvSpPr>
            <a:spLocks noChangeArrowheads="1"/>
          </p:cNvSpPr>
          <p:nvPr/>
        </p:nvSpPr>
        <p:spPr bwMode="auto">
          <a:xfrm>
            <a:off x="3505200" y="3276600"/>
            <a:ext cx="685800" cy="609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Helvetica" charset="0"/>
              </a:rPr>
              <a:t>Data</a:t>
            </a:r>
            <a:endParaRPr lang="en-US" sz="1600" b="0">
              <a:latin typeface="Helvetica" charset="0"/>
            </a:endParaRPr>
          </a:p>
        </p:txBody>
      </p:sp>
      <p:sp>
        <p:nvSpPr>
          <p:cNvPr id="44064" name="Rectangle 98"/>
          <p:cNvSpPr>
            <a:spLocks noChangeArrowheads="1"/>
          </p:cNvSpPr>
          <p:nvPr/>
        </p:nvSpPr>
        <p:spPr bwMode="auto">
          <a:xfrm>
            <a:off x="3505200" y="4419600"/>
            <a:ext cx="685800" cy="609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Helvetica" charset="0"/>
              </a:rPr>
              <a:t>Data</a:t>
            </a:r>
            <a:endParaRPr lang="en-US" sz="1600" b="0">
              <a:latin typeface="Helvetica" charset="0"/>
            </a:endParaRPr>
          </a:p>
        </p:txBody>
      </p:sp>
      <p:sp>
        <p:nvSpPr>
          <p:cNvPr id="44065" name="Rectangle 101"/>
          <p:cNvSpPr>
            <a:spLocks noChangeArrowheads="1"/>
          </p:cNvSpPr>
          <p:nvPr/>
        </p:nvSpPr>
        <p:spPr bwMode="auto">
          <a:xfrm>
            <a:off x="7010400" y="3276600"/>
            <a:ext cx="685800" cy="609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Helvetica" charset="0"/>
              </a:rPr>
              <a:t>Data</a:t>
            </a:r>
            <a:endParaRPr lang="en-US" sz="1600" b="0">
              <a:latin typeface="Helvetica" charset="0"/>
            </a:endParaRPr>
          </a:p>
        </p:txBody>
      </p:sp>
      <p:sp>
        <p:nvSpPr>
          <p:cNvPr id="44066" name="Rectangle 102"/>
          <p:cNvSpPr>
            <a:spLocks noChangeArrowheads="1"/>
          </p:cNvSpPr>
          <p:nvPr/>
        </p:nvSpPr>
        <p:spPr bwMode="auto">
          <a:xfrm>
            <a:off x="7010400" y="4419600"/>
            <a:ext cx="685800" cy="609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Helvetica" charset="0"/>
              </a:rPr>
              <a:t>Data</a:t>
            </a:r>
            <a:endParaRPr lang="en-US" sz="1600" b="0">
              <a:latin typeface="Helvetica" charset="0"/>
            </a:endParaRPr>
          </a:p>
        </p:txBody>
      </p:sp>
      <p:cxnSp>
        <p:nvCxnSpPr>
          <p:cNvPr id="44067" name="Straight Arrow Connector 29"/>
          <p:cNvCxnSpPr>
            <a:cxnSpLocks noChangeShapeType="1"/>
          </p:cNvCxnSpPr>
          <p:nvPr/>
        </p:nvCxnSpPr>
        <p:spPr bwMode="auto">
          <a:xfrm>
            <a:off x="4191000" y="4724402"/>
            <a:ext cx="762000" cy="9525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ysDash"/>
            <a:round/>
            <a:headEnd type="triangle" w="med" len="med"/>
            <a:tailEnd type="triangle" w="med" len="med"/>
          </a:ln>
        </p:spPr>
      </p:cxnSp>
      <p:cxnSp>
        <p:nvCxnSpPr>
          <p:cNvPr id="44068" name="Straight Arrow Connector 31"/>
          <p:cNvCxnSpPr>
            <a:cxnSpLocks noChangeShapeType="1"/>
          </p:cNvCxnSpPr>
          <p:nvPr/>
        </p:nvCxnSpPr>
        <p:spPr bwMode="auto">
          <a:xfrm>
            <a:off x="4191000" y="5905502"/>
            <a:ext cx="762000" cy="9525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44069" name="Straight Arrow Connector 30"/>
          <p:cNvCxnSpPr>
            <a:cxnSpLocks noChangeShapeType="1"/>
          </p:cNvCxnSpPr>
          <p:nvPr/>
        </p:nvCxnSpPr>
        <p:spPr bwMode="auto">
          <a:xfrm>
            <a:off x="4191000" y="3581400"/>
            <a:ext cx="1447800" cy="1588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ysDash"/>
            <a:round/>
            <a:headEnd type="triangle" w="med" len="med"/>
            <a:tailEnd type="triangle" w="med" len="med"/>
          </a:ln>
        </p:spPr>
      </p:cxnSp>
      <p:sp>
        <p:nvSpPr>
          <p:cNvPr id="44070" name="Up-Down Arrow 23"/>
          <p:cNvSpPr>
            <a:spLocks noChangeArrowheads="1"/>
          </p:cNvSpPr>
          <p:nvPr/>
        </p:nvSpPr>
        <p:spPr bwMode="auto">
          <a:xfrm>
            <a:off x="533400" y="5105400"/>
            <a:ext cx="228600" cy="3810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44071" name="Up-Down Arrow 24"/>
          <p:cNvSpPr>
            <a:spLocks noChangeArrowheads="1"/>
          </p:cNvSpPr>
          <p:nvPr/>
        </p:nvSpPr>
        <p:spPr bwMode="auto">
          <a:xfrm>
            <a:off x="533400" y="3962400"/>
            <a:ext cx="228600" cy="3810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44072" name="Up-Down Arrow 23"/>
          <p:cNvSpPr>
            <a:spLocks noChangeArrowheads="1"/>
          </p:cNvSpPr>
          <p:nvPr/>
        </p:nvSpPr>
        <p:spPr bwMode="auto">
          <a:xfrm>
            <a:off x="8382000" y="5105400"/>
            <a:ext cx="228600" cy="3810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44073" name="Up-Down Arrow 24"/>
          <p:cNvSpPr>
            <a:spLocks noChangeArrowheads="1"/>
          </p:cNvSpPr>
          <p:nvPr/>
        </p:nvSpPr>
        <p:spPr bwMode="auto">
          <a:xfrm>
            <a:off x="8382000" y="3962400"/>
            <a:ext cx="228600" cy="3810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grpSp>
        <p:nvGrpSpPr>
          <p:cNvPr id="2" name="Group 50"/>
          <p:cNvGrpSpPr/>
          <p:nvPr/>
        </p:nvGrpSpPr>
        <p:grpSpPr bwMode="auto">
          <a:xfrm>
            <a:off x="0" y="2057400"/>
            <a:ext cx="9144000" cy="1143000"/>
            <a:chOff x="0" y="2057400"/>
            <a:chExt cx="9144000" cy="1143000"/>
          </a:xfrm>
        </p:grpSpPr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0" y="2057400"/>
              <a:ext cx="1295400" cy="762000"/>
            </a:xfrm>
            <a:prstGeom prst="rect">
              <a:avLst/>
            </a:prstGeom>
            <a:solidFill>
              <a:srgbClr val="CCFFCC"/>
            </a:solidFill>
            <a:ln w="25400">
              <a:solidFill>
                <a:schemeClr val="tx1"/>
              </a:solidFill>
              <a:round/>
              <a:headEnd type="triangle" w="med" len="med"/>
            </a:ln>
            <a:effectLst>
              <a:outerShdw blurRad="50800" dist="38100" dir="2700000" rotWithShape="0">
                <a:srgbClr val="000000">
                  <a:alpha val="42998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sz="2000" b="0" dirty="0">
                  <a:latin typeface="Helvetica"/>
                  <a:ea typeface="MS PGothic" panose="020B0600070205080204" charset="-128"/>
                  <a:cs typeface="Helvetica"/>
                </a:rPr>
                <a:t>Transport Layer </a:t>
              </a:r>
              <a:endParaRPr lang="en-US" sz="2000" b="0" dirty="0">
                <a:latin typeface="Helvetica"/>
                <a:ea typeface="MS PGothic" panose="020B0600070205080204" charset="-128"/>
                <a:cs typeface="Helvetica"/>
              </a:endParaRPr>
            </a:p>
          </p:txBody>
        </p:sp>
        <p:sp>
          <p:nvSpPr>
            <p:cNvPr id="44076" name="Rectangle 45"/>
            <p:cNvSpPr>
              <a:spLocks noChangeArrowheads="1"/>
            </p:cNvSpPr>
            <p:nvPr/>
          </p:nvSpPr>
          <p:spPr bwMode="auto">
            <a:xfrm>
              <a:off x="2819400" y="2133600"/>
              <a:ext cx="685800" cy="609600"/>
            </a:xfrm>
            <a:prstGeom prst="rect">
              <a:avLst/>
            </a:prstGeom>
            <a:solidFill>
              <a:srgbClr val="CCFFCC"/>
            </a:solidFill>
            <a:ln w="25400">
              <a:solidFill>
                <a:schemeClr val="tx1"/>
              </a:solidFill>
              <a:round/>
              <a:headEnd type="triangle" w="med" len="med"/>
            </a:ln>
          </p:spPr>
          <p:txBody>
            <a:bodyPr anchor="ctr"/>
            <a:lstStyle/>
            <a:p>
              <a:pPr algn="ctr"/>
              <a:r>
                <a:rPr lang="en-US" sz="1600" b="0">
                  <a:latin typeface="Arial Narrow" panose="020B0606020202030204" charset="0"/>
                </a:rPr>
                <a:t>Trans.</a:t>
              </a:r>
              <a:endParaRPr lang="en-US" sz="1600" b="0">
                <a:latin typeface="Arial Narrow" panose="020B0606020202030204" charset="0"/>
              </a:endParaRPr>
            </a:p>
            <a:p>
              <a:pPr algn="ctr"/>
              <a:r>
                <a:rPr lang="en-US" sz="1600" b="0">
                  <a:latin typeface="Arial Narrow" panose="020B0606020202030204" charset="0"/>
                </a:rPr>
                <a:t>Hdr.</a:t>
              </a:r>
              <a:endParaRPr lang="en-US" sz="1600" b="0">
                <a:latin typeface="Arial Narrow" panose="020B0606020202030204" charset="0"/>
              </a:endParaRPr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7848600" y="2057400"/>
              <a:ext cx="1295400" cy="762000"/>
            </a:xfrm>
            <a:prstGeom prst="rect">
              <a:avLst/>
            </a:prstGeom>
            <a:solidFill>
              <a:srgbClr val="CCFFCC"/>
            </a:solidFill>
            <a:ln w="25400">
              <a:solidFill>
                <a:schemeClr val="tx1"/>
              </a:solidFill>
              <a:round/>
              <a:headEnd type="triangle" w="med" len="med"/>
            </a:ln>
            <a:effectLst>
              <a:outerShdw blurRad="50800" dist="38100" dir="2700000" rotWithShape="0">
                <a:srgbClr val="000000">
                  <a:alpha val="42998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sz="2000" b="0" dirty="0">
                  <a:latin typeface="Helvetica"/>
                  <a:ea typeface="MS PGothic" panose="020B0600070205080204" charset="-128"/>
                  <a:cs typeface="Helvetica"/>
                </a:rPr>
                <a:t>Transport Layer </a:t>
              </a:r>
              <a:endParaRPr lang="en-US" sz="2000" b="0" dirty="0">
                <a:latin typeface="Helvetica"/>
                <a:ea typeface="MS PGothic" panose="020B0600070205080204" charset="-128"/>
                <a:cs typeface="Helvetica"/>
              </a:endParaRPr>
            </a:p>
          </p:txBody>
        </p:sp>
        <p:sp>
          <p:nvSpPr>
            <p:cNvPr id="44078" name="Rectangle 55"/>
            <p:cNvSpPr>
              <a:spLocks noChangeArrowheads="1"/>
            </p:cNvSpPr>
            <p:nvPr/>
          </p:nvSpPr>
          <p:spPr bwMode="auto">
            <a:xfrm>
              <a:off x="6324600" y="2133600"/>
              <a:ext cx="685800" cy="609600"/>
            </a:xfrm>
            <a:prstGeom prst="rect">
              <a:avLst/>
            </a:prstGeom>
            <a:solidFill>
              <a:srgbClr val="CCFFCC"/>
            </a:solidFill>
            <a:ln w="25400">
              <a:solidFill>
                <a:schemeClr val="tx1"/>
              </a:solidFill>
              <a:round/>
              <a:headEnd type="triangle" w="med" len="med"/>
            </a:ln>
          </p:spPr>
          <p:txBody>
            <a:bodyPr anchor="ctr"/>
            <a:lstStyle/>
            <a:p>
              <a:pPr algn="ctr"/>
              <a:r>
                <a:rPr lang="en-US" sz="1600" b="0">
                  <a:latin typeface="Arial Narrow" panose="020B0606020202030204" charset="0"/>
                </a:rPr>
                <a:t>Trans.</a:t>
              </a:r>
              <a:endParaRPr lang="en-US" sz="1600" b="0">
                <a:latin typeface="Arial Narrow" panose="020B0606020202030204" charset="0"/>
              </a:endParaRPr>
            </a:p>
            <a:p>
              <a:pPr algn="ctr"/>
              <a:r>
                <a:rPr lang="en-US" sz="1600" b="0">
                  <a:latin typeface="Arial Narrow" panose="020B0606020202030204" charset="0"/>
                </a:rPr>
                <a:t>Hdr.</a:t>
              </a:r>
              <a:endParaRPr lang="en-US" sz="1600" b="0">
                <a:latin typeface="Arial Narrow" panose="020B0606020202030204" charset="0"/>
              </a:endParaRPr>
            </a:p>
          </p:txBody>
        </p:sp>
        <p:sp>
          <p:nvSpPr>
            <p:cNvPr id="44079" name="Rectangle 96"/>
            <p:cNvSpPr>
              <a:spLocks noChangeArrowheads="1"/>
            </p:cNvSpPr>
            <p:nvPr/>
          </p:nvSpPr>
          <p:spPr bwMode="auto">
            <a:xfrm>
              <a:off x="3505200" y="2133600"/>
              <a:ext cx="685800" cy="6096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 type="triangle" w="med" len="med"/>
            </a:ln>
          </p:spPr>
          <p:txBody>
            <a:bodyPr anchor="ctr"/>
            <a:lstStyle/>
            <a:p>
              <a:pPr algn="ctr"/>
              <a:r>
                <a:rPr lang="en-US" sz="1600" b="0">
                  <a:latin typeface="Helvetica" charset="0"/>
                </a:rPr>
                <a:t>Data</a:t>
              </a:r>
              <a:endParaRPr lang="en-US" sz="1600" b="0">
                <a:latin typeface="Helvetica" charset="0"/>
              </a:endParaRPr>
            </a:p>
          </p:txBody>
        </p:sp>
        <p:sp>
          <p:nvSpPr>
            <p:cNvPr id="44080" name="Rectangle 100"/>
            <p:cNvSpPr>
              <a:spLocks noChangeArrowheads="1"/>
            </p:cNvSpPr>
            <p:nvPr/>
          </p:nvSpPr>
          <p:spPr bwMode="auto">
            <a:xfrm>
              <a:off x="7010400" y="2133600"/>
              <a:ext cx="685800" cy="6096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 type="triangle" w="med" len="med"/>
            </a:ln>
          </p:spPr>
          <p:txBody>
            <a:bodyPr anchor="ctr"/>
            <a:lstStyle/>
            <a:p>
              <a:pPr algn="ctr"/>
              <a:r>
                <a:rPr lang="en-US" sz="1600" b="0">
                  <a:latin typeface="Helvetica" charset="0"/>
                </a:rPr>
                <a:t>Data</a:t>
              </a:r>
              <a:endParaRPr lang="en-US" sz="1600" b="0">
                <a:latin typeface="Helvetica" charset="0"/>
              </a:endParaRPr>
            </a:p>
          </p:txBody>
        </p:sp>
        <p:cxnSp>
          <p:nvCxnSpPr>
            <p:cNvPr id="44081" name="Straight Arrow Connector 30"/>
            <p:cNvCxnSpPr>
              <a:cxnSpLocks noChangeShapeType="1"/>
              <a:endCxn id="44078" idx="1"/>
            </p:cNvCxnSpPr>
            <p:nvPr/>
          </p:nvCxnSpPr>
          <p:spPr bwMode="auto">
            <a:xfrm>
              <a:off x="4191000" y="2438400"/>
              <a:ext cx="2133600" cy="158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prstDash val="sysDash"/>
              <a:round/>
              <a:headEnd type="triangle" w="med" len="med"/>
              <a:tailEnd type="triangle" w="med" len="med"/>
            </a:ln>
          </p:spPr>
        </p:cxnSp>
        <p:sp>
          <p:nvSpPr>
            <p:cNvPr id="44082" name="Up-Down Arrow 27"/>
            <p:cNvSpPr>
              <a:spLocks noChangeArrowheads="1"/>
            </p:cNvSpPr>
            <p:nvPr/>
          </p:nvSpPr>
          <p:spPr bwMode="auto">
            <a:xfrm>
              <a:off x="533400" y="2819400"/>
              <a:ext cx="228600" cy="381000"/>
            </a:xfrm>
            <a:prstGeom prst="upDownArrow">
              <a:avLst>
                <a:gd name="adj1" fmla="val 50000"/>
                <a:gd name="adj2" fmla="val 50000"/>
              </a:avLst>
            </a:prstGeom>
            <a:solidFill>
              <a:srgbClr val="FFFFFF"/>
            </a:solidFill>
            <a:ln w="25400">
              <a:solidFill>
                <a:schemeClr val="tx1"/>
              </a:solidFill>
              <a:round/>
              <a:headEnd type="triangle" w="med" len="med"/>
            </a:ln>
          </p:spPr>
          <p:txBody>
            <a:bodyPr anchor="ctr"/>
            <a:lstStyle/>
            <a:p>
              <a:pPr algn="ctr"/>
              <a:endParaRPr lang="en-US" b="0">
                <a:latin typeface="Helvetica" charset="0"/>
              </a:endParaRPr>
            </a:p>
          </p:txBody>
        </p:sp>
        <p:sp>
          <p:nvSpPr>
            <p:cNvPr id="44083" name="Up-Down Arrow 27"/>
            <p:cNvSpPr>
              <a:spLocks noChangeArrowheads="1"/>
            </p:cNvSpPr>
            <p:nvPr/>
          </p:nvSpPr>
          <p:spPr bwMode="auto">
            <a:xfrm>
              <a:off x="8382000" y="2819400"/>
              <a:ext cx="228600" cy="381000"/>
            </a:xfrm>
            <a:prstGeom prst="upDownArrow">
              <a:avLst>
                <a:gd name="adj1" fmla="val 50000"/>
                <a:gd name="adj2" fmla="val 50000"/>
              </a:avLst>
            </a:prstGeom>
            <a:solidFill>
              <a:srgbClr val="FFFFFF"/>
            </a:solidFill>
            <a:ln w="25400">
              <a:solidFill>
                <a:schemeClr val="tx1"/>
              </a:solidFill>
              <a:round/>
              <a:headEnd type="triangle" w="med" len="med"/>
            </a:ln>
          </p:spPr>
          <p:txBody>
            <a:bodyPr anchor="ctr"/>
            <a:lstStyle/>
            <a:p>
              <a:pPr algn="ctr"/>
              <a:endParaRPr lang="en-US" b="0">
                <a:latin typeface="Helvetica" charset="0"/>
              </a:endParaRPr>
            </a:p>
          </p:txBody>
        </p:sp>
      </p:grpSp>
      <p:sp>
        <p:nvSpPr>
          <p:cNvPr id="52" name="圆角矩形 51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Helvetica" charset="0"/>
                <a:ea typeface="MS PGothic" panose="020B0600070205080204" charset="-128"/>
              </a:rPr>
              <a:t>Datagram service (</a:t>
            </a:r>
            <a:r>
              <a:rPr lang="en-US" b="1" dirty="0">
                <a:latin typeface="Helvetica" charset="0"/>
                <a:ea typeface="MS PGothic" panose="020B0600070205080204" charset="-128"/>
              </a:rPr>
              <a:t>UDP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)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dirty="0">
                <a:latin typeface="Helvetica" charset="0"/>
                <a:ea typeface="MS PGothic" panose="020B0600070205080204" charset="-128"/>
              </a:rPr>
              <a:t>No-frills extension of </a:t>
            </a:r>
            <a:r>
              <a:rPr lang="ja-JP" altLang="en-US">
                <a:latin typeface="Helvetica" charset="0"/>
                <a:ea typeface="MS PGothic" panose="020B0600070205080204" charset="-128"/>
              </a:rPr>
              <a:t>“</a:t>
            </a:r>
            <a:r>
              <a:rPr lang="en-US" altLang="ja-JP" dirty="0">
                <a:latin typeface="Helvetica" charset="0"/>
                <a:ea typeface="MS PGothic" panose="020B0600070205080204" charset="-128"/>
              </a:rPr>
              <a:t>best-effort</a:t>
            </a:r>
            <a:r>
              <a:rPr lang="ja-JP" altLang="en-US">
                <a:latin typeface="Helvetica" charset="0"/>
                <a:ea typeface="MS PGothic" panose="020B0600070205080204" charset="-128"/>
              </a:rPr>
              <a:t>”</a:t>
            </a:r>
            <a:r>
              <a:rPr lang="en-US" altLang="ja-JP" dirty="0">
                <a:latin typeface="Helvetica" charset="0"/>
                <a:ea typeface="MS PGothic" panose="020B0600070205080204" charset="-128"/>
              </a:rPr>
              <a:t> IP</a:t>
            </a:r>
            <a:endParaRPr lang="en-US" altLang="ja-JP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dirty="0">
                <a:latin typeface="Helvetica" charset="0"/>
                <a:ea typeface="MS PGothic" panose="020B0600070205080204" charset="-128"/>
              </a:rPr>
              <a:t>Multiplexing/Demultiplexing among processes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r>
              <a:rPr lang="en-US" dirty="0">
                <a:latin typeface="Helvetica" charset="0"/>
                <a:ea typeface="MS PGothic" panose="020B0600070205080204" charset="-128"/>
              </a:rPr>
              <a:t>Reliable, in-order delivery (</a:t>
            </a:r>
            <a:r>
              <a:rPr lang="en-US" b="1" dirty="0">
                <a:latin typeface="Helvetica" charset="0"/>
                <a:ea typeface="MS PGothic" panose="020B0600070205080204" charset="-128"/>
              </a:rPr>
              <a:t>TCP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)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dirty="0">
                <a:latin typeface="Helvetica" charset="0"/>
                <a:ea typeface="MS PGothic" panose="020B0600070205080204" charset="-128"/>
              </a:rPr>
              <a:t>Connection set-up &amp; tear-down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dirty="0">
                <a:latin typeface="Helvetica" charset="0"/>
                <a:ea typeface="MS PGothic" panose="020B0600070205080204" charset="-128"/>
              </a:rPr>
              <a:t>Discarding corrupted packets (segments)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dirty="0">
                <a:latin typeface="Helvetica" charset="0"/>
                <a:ea typeface="MS PGothic" panose="020B0600070205080204" charset="-128"/>
              </a:rPr>
              <a:t>Retransmission of lost packets (segments)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dirty="0">
                <a:latin typeface="Helvetica" charset="0"/>
                <a:ea typeface="MS PGothic" panose="020B0600070205080204" charset="-128"/>
              </a:rPr>
              <a:t>Flow control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dirty="0">
                <a:latin typeface="Helvetica" charset="0"/>
                <a:ea typeface="MS PGothic" panose="020B0600070205080204" charset="-128"/>
              </a:rPr>
              <a:t>Congestion control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endParaRPr lang="en-US" dirty="0">
              <a:latin typeface="Helvetica" charset="0"/>
              <a:ea typeface="MS PGothic" panose="020B0600070205080204" charset="-128"/>
            </a:endParaRPr>
          </a:p>
          <a:p>
            <a:r>
              <a:rPr lang="en-US" dirty="0">
                <a:latin typeface="Helvetica" charset="0"/>
                <a:ea typeface="MS PGothic" panose="020B0600070205080204" charset="-128"/>
              </a:rPr>
              <a:t>Services </a:t>
            </a:r>
            <a:r>
              <a:rPr lang="en-US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not available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dirty="0">
                <a:latin typeface="Helvetica" charset="0"/>
                <a:ea typeface="MS PGothic" panose="020B0600070205080204" charset="-128"/>
              </a:rPr>
              <a:t>Delay and/or bandwidth guarantees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dirty="0">
                <a:latin typeface="Helvetica" charset="0"/>
                <a:ea typeface="MS PGothic" panose="020B0600070205080204" charset="-128"/>
              </a:rPr>
              <a:t>Sessions that survive change-of-IP-address</a:t>
            </a:r>
            <a:endParaRPr lang="en-US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77552"/>
            <a:ext cx="7162800" cy="533400"/>
          </a:xfrm>
        </p:spPr>
        <p:txBody>
          <a:bodyPr>
            <a:normAutofit/>
          </a:bodyPr>
          <a:lstStyle/>
          <a:p>
            <a:r>
              <a:rPr lang="en-US">
                <a:latin typeface="Helvetica" charset="0"/>
                <a:ea typeface="MS PGothic" panose="020B0600070205080204" charset="-128"/>
              </a:rPr>
              <a:t>Internet Transport Protocols</a:t>
            </a:r>
            <a:endParaRPr lang="en-US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45060" name="Rectangle 4"/>
          <p:cNvSpPr>
            <a:spLocks noChangeArrowheads="1"/>
          </p:cNvSpPr>
          <p:nvPr/>
        </p:nvSpPr>
        <p:spPr bwMode="auto">
          <a:xfrm>
            <a:off x="7772400" y="795340"/>
            <a:ext cx="1322388" cy="238125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Helvetica" charset="0"/>
              </a:rPr>
              <a:t>Transport</a:t>
            </a:r>
            <a:endParaRPr lang="en-US">
              <a:solidFill>
                <a:schemeClr val="bg1"/>
              </a:solidFill>
              <a:latin typeface="Helvetica" charset="0"/>
            </a:endParaRPr>
          </a:p>
        </p:txBody>
      </p:sp>
      <p:sp>
        <p:nvSpPr>
          <p:cNvPr id="45061" name="Rectangle 5"/>
          <p:cNvSpPr>
            <a:spLocks noChangeArrowheads="1"/>
          </p:cNvSpPr>
          <p:nvPr/>
        </p:nvSpPr>
        <p:spPr bwMode="auto">
          <a:xfrm>
            <a:off x="7772400" y="1033463"/>
            <a:ext cx="1322388" cy="2397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Network</a:t>
            </a:r>
            <a:endParaRPr lang="en-US">
              <a:latin typeface="Helvetica" charset="0"/>
            </a:endParaRPr>
          </a:p>
        </p:txBody>
      </p:sp>
      <p:sp>
        <p:nvSpPr>
          <p:cNvPr id="45062" name="Rectangle 6"/>
          <p:cNvSpPr>
            <a:spLocks noChangeArrowheads="1"/>
          </p:cNvSpPr>
          <p:nvPr/>
        </p:nvSpPr>
        <p:spPr bwMode="auto">
          <a:xfrm>
            <a:off x="7772400" y="1273177"/>
            <a:ext cx="1322388" cy="23971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Datalink</a:t>
            </a:r>
            <a:endParaRPr lang="en-US">
              <a:latin typeface="Helvetica" charset="0"/>
            </a:endParaRPr>
          </a:p>
        </p:txBody>
      </p:sp>
      <p:sp>
        <p:nvSpPr>
          <p:cNvPr id="45063" name="Rectangle 7"/>
          <p:cNvSpPr>
            <a:spLocks noChangeArrowheads="1"/>
          </p:cNvSpPr>
          <p:nvPr/>
        </p:nvSpPr>
        <p:spPr bwMode="auto">
          <a:xfrm>
            <a:off x="7772400" y="1512888"/>
            <a:ext cx="1322388" cy="2397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Physical</a:t>
            </a:r>
            <a:endParaRPr lang="en-US">
              <a:latin typeface="Helvetica" charset="0"/>
            </a:endParaRPr>
          </a:p>
        </p:txBody>
      </p:sp>
      <p:sp>
        <p:nvSpPr>
          <p:cNvPr id="45064" name="Rectangle 8"/>
          <p:cNvSpPr>
            <a:spLocks noChangeArrowheads="1"/>
          </p:cNvSpPr>
          <p:nvPr/>
        </p:nvSpPr>
        <p:spPr bwMode="auto">
          <a:xfrm>
            <a:off x="7772400" y="555627"/>
            <a:ext cx="1322388" cy="239713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ot"/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folHlink"/>
                </a:solidFill>
                <a:latin typeface="Helvetica" charset="0"/>
              </a:rPr>
              <a:t>Session</a:t>
            </a:r>
            <a:endParaRPr lang="en-US">
              <a:solidFill>
                <a:schemeClr val="folHlink"/>
              </a:solidFill>
              <a:latin typeface="Helvetica" charset="0"/>
            </a:endParaRPr>
          </a:p>
        </p:txBody>
      </p:sp>
      <p:sp>
        <p:nvSpPr>
          <p:cNvPr id="45065" name="Rectangle 9"/>
          <p:cNvSpPr>
            <a:spLocks noChangeArrowheads="1"/>
          </p:cNvSpPr>
          <p:nvPr/>
        </p:nvSpPr>
        <p:spPr bwMode="auto">
          <a:xfrm>
            <a:off x="7772400" y="315913"/>
            <a:ext cx="1322388" cy="239712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ot"/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folHlink"/>
                </a:solidFill>
                <a:latin typeface="Helvetica" charset="0"/>
              </a:rPr>
              <a:t>Present.</a:t>
            </a:r>
            <a:endParaRPr lang="en-US">
              <a:solidFill>
                <a:schemeClr val="folHlink"/>
              </a:solidFill>
              <a:latin typeface="Helvetica" charset="0"/>
            </a:endParaRPr>
          </a:p>
        </p:txBody>
      </p:sp>
      <p:sp>
        <p:nvSpPr>
          <p:cNvPr id="45066" name="Rectangle 10"/>
          <p:cNvSpPr>
            <a:spLocks noChangeArrowheads="1"/>
          </p:cNvSpPr>
          <p:nvPr/>
        </p:nvSpPr>
        <p:spPr bwMode="auto">
          <a:xfrm>
            <a:off x="7772400" y="76202"/>
            <a:ext cx="1322388" cy="23971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Application</a:t>
            </a:r>
            <a:endParaRPr lang="en-US">
              <a:latin typeface="Helvetica" charset="0"/>
            </a:endParaRPr>
          </a:p>
        </p:txBody>
      </p:sp>
      <p:sp>
        <p:nvSpPr>
          <p:cNvPr id="11" name="圆角矩形 10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4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4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4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4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4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4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4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4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4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4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46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46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675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0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Helvetica" charset="0"/>
                <a:ea typeface="MS PGothic" panose="020B0600070205080204" charset="-128"/>
              </a:rPr>
              <a:t>Service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: any service provided to the end user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r>
              <a:rPr lang="en-US" b="1" dirty="0">
                <a:latin typeface="Helvetica" charset="0"/>
                <a:ea typeface="MS PGothic" panose="020B0600070205080204" charset="-128"/>
              </a:rPr>
              <a:t>Interface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: depends on the application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r>
              <a:rPr lang="en-US" b="1" dirty="0">
                <a:latin typeface="Helvetica" charset="0"/>
                <a:ea typeface="MS PGothic" panose="020B0600070205080204" charset="-128"/>
              </a:rPr>
              <a:t>Protocol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: depends on the application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endParaRPr lang="en-US" dirty="0">
              <a:latin typeface="Helvetica" charset="0"/>
              <a:ea typeface="MS PGothic" panose="020B0600070205080204" charset="-128"/>
            </a:endParaRPr>
          </a:p>
          <a:p>
            <a:r>
              <a:rPr lang="en-US" dirty="0">
                <a:latin typeface="Helvetica" charset="0"/>
                <a:ea typeface="MS PGothic" panose="020B0600070205080204" charset="-128"/>
              </a:rPr>
              <a:t>Examples: Skype, SMTP (email), HTTP (Web), BitTorrent  …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endParaRPr lang="en-US" dirty="0">
              <a:latin typeface="Helvetica" charset="0"/>
              <a:ea typeface="MS PGothic" panose="020B0600070205080204" charset="-128"/>
            </a:endParaRPr>
          </a:p>
          <a:p>
            <a:r>
              <a:rPr lang="en-US" dirty="0">
                <a:latin typeface="Helvetica" charset="0"/>
                <a:ea typeface="MS PGothic" panose="020B0600070205080204" charset="-128"/>
              </a:rPr>
              <a:t>What happened to layers 5 &amp; 6?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ja-JP" altLang="en-US">
                <a:latin typeface="Helvetica" charset="0"/>
                <a:ea typeface="MS PGothic" panose="020B0600070205080204" charset="-128"/>
              </a:rPr>
              <a:t>“</a:t>
            </a:r>
            <a:r>
              <a:rPr lang="en-US" altLang="ja-JP" dirty="0">
                <a:latin typeface="Helvetica" charset="0"/>
                <a:ea typeface="MS PGothic" panose="020B0600070205080204" charset="-128"/>
              </a:rPr>
              <a:t>Session</a:t>
            </a:r>
            <a:r>
              <a:rPr lang="ja-JP" altLang="en-US">
                <a:latin typeface="Helvetica" charset="0"/>
                <a:ea typeface="MS PGothic" panose="020B0600070205080204" charset="-128"/>
              </a:rPr>
              <a:t>”</a:t>
            </a:r>
            <a:r>
              <a:rPr lang="en-US" altLang="ja-JP" dirty="0">
                <a:latin typeface="Helvetica" charset="0"/>
                <a:ea typeface="MS PGothic" panose="020B0600070205080204" charset="-128"/>
              </a:rPr>
              <a:t> and </a:t>
            </a:r>
            <a:r>
              <a:rPr lang="ja-JP" altLang="en-US">
                <a:latin typeface="Helvetica" charset="0"/>
                <a:ea typeface="MS PGothic" panose="020B0600070205080204" charset="-128"/>
              </a:rPr>
              <a:t>“</a:t>
            </a:r>
            <a:r>
              <a:rPr lang="en-US" altLang="ja-JP" dirty="0">
                <a:latin typeface="Helvetica" charset="0"/>
                <a:ea typeface="MS PGothic" panose="020B0600070205080204" charset="-128"/>
              </a:rPr>
              <a:t>Presentation</a:t>
            </a:r>
            <a:r>
              <a:rPr lang="ja-JP" altLang="en-US">
                <a:latin typeface="Helvetica" charset="0"/>
                <a:ea typeface="MS PGothic" panose="020B0600070205080204" charset="-128"/>
              </a:rPr>
              <a:t>”</a:t>
            </a:r>
            <a:r>
              <a:rPr lang="en-US" altLang="ja-JP" dirty="0">
                <a:latin typeface="Helvetica" charset="0"/>
                <a:ea typeface="MS PGothic" panose="020B0600070205080204" charset="-128"/>
              </a:rPr>
              <a:t> layers</a:t>
            </a:r>
            <a:endParaRPr lang="en-US" altLang="ja-JP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dirty="0">
                <a:latin typeface="Helvetica" charset="0"/>
                <a:ea typeface="MS PGothic" panose="020B0600070205080204" charset="-128"/>
              </a:rPr>
              <a:t>Part of </a:t>
            </a:r>
            <a:r>
              <a:rPr lang="en-US" b="1" i="1" dirty="0">
                <a:latin typeface="Helvetica" charset="0"/>
                <a:ea typeface="MS PGothic" panose="020B0600070205080204" charset="-128"/>
              </a:rPr>
              <a:t>OSI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 architecture, but not Internet architecture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dirty="0">
                <a:latin typeface="Helvetica" charset="0"/>
                <a:ea typeface="MS PGothic" panose="020B0600070205080204" charset="-128"/>
              </a:rPr>
              <a:t>Their functionality is provided by application layer</a:t>
            </a:r>
            <a:endParaRPr lang="en-US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>
                <a:latin typeface="Helvetica" charset="0"/>
                <a:ea typeface="MS PGothic" panose="020B0600070205080204" charset="-128"/>
              </a:rPr>
              <a:t>Application Layer (7 - not 5!)</a:t>
            </a:r>
            <a:endParaRPr lang="en-US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46084" name="Rectangle 4"/>
          <p:cNvSpPr>
            <a:spLocks noChangeArrowheads="1"/>
          </p:cNvSpPr>
          <p:nvPr/>
        </p:nvSpPr>
        <p:spPr bwMode="auto">
          <a:xfrm>
            <a:off x="7772400" y="795340"/>
            <a:ext cx="1322388" cy="2381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Transport</a:t>
            </a:r>
            <a:endParaRPr lang="en-US">
              <a:latin typeface="Helvetica" charset="0"/>
            </a:endParaRPr>
          </a:p>
        </p:txBody>
      </p:sp>
      <p:sp>
        <p:nvSpPr>
          <p:cNvPr id="46085" name="Rectangle 5"/>
          <p:cNvSpPr>
            <a:spLocks noChangeArrowheads="1"/>
          </p:cNvSpPr>
          <p:nvPr/>
        </p:nvSpPr>
        <p:spPr bwMode="auto">
          <a:xfrm>
            <a:off x="7772400" y="1033463"/>
            <a:ext cx="1322388" cy="2397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Network</a:t>
            </a:r>
            <a:endParaRPr lang="en-US">
              <a:latin typeface="Helvetica" charset="0"/>
            </a:endParaRPr>
          </a:p>
        </p:txBody>
      </p:sp>
      <p:sp>
        <p:nvSpPr>
          <p:cNvPr id="46086" name="Rectangle 6"/>
          <p:cNvSpPr>
            <a:spLocks noChangeArrowheads="1"/>
          </p:cNvSpPr>
          <p:nvPr/>
        </p:nvSpPr>
        <p:spPr bwMode="auto">
          <a:xfrm>
            <a:off x="7772400" y="1273177"/>
            <a:ext cx="1322388" cy="23971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Datalink</a:t>
            </a:r>
            <a:endParaRPr lang="en-US">
              <a:latin typeface="Helvetica" charset="0"/>
            </a:endParaRPr>
          </a:p>
        </p:txBody>
      </p:sp>
      <p:sp>
        <p:nvSpPr>
          <p:cNvPr id="46087" name="Rectangle 7"/>
          <p:cNvSpPr>
            <a:spLocks noChangeArrowheads="1"/>
          </p:cNvSpPr>
          <p:nvPr/>
        </p:nvSpPr>
        <p:spPr bwMode="auto">
          <a:xfrm>
            <a:off x="7772400" y="1512888"/>
            <a:ext cx="1322388" cy="2397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Physical</a:t>
            </a:r>
            <a:endParaRPr lang="en-US">
              <a:latin typeface="Helvetica" charset="0"/>
            </a:endParaRPr>
          </a:p>
        </p:txBody>
      </p:sp>
      <p:sp>
        <p:nvSpPr>
          <p:cNvPr id="46088" name="Rectangle 8"/>
          <p:cNvSpPr>
            <a:spLocks noChangeArrowheads="1"/>
          </p:cNvSpPr>
          <p:nvPr/>
        </p:nvSpPr>
        <p:spPr bwMode="auto">
          <a:xfrm>
            <a:off x="7772400" y="555627"/>
            <a:ext cx="1322388" cy="239713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ot"/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folHlink"/>
                </a:solidFill>
                <a:latin typeface="Helvetica" charset="0"/>
              </a:rPr>
              <a:t>Session</a:t>
            </a:r>
            <a:endParaRPr lang="en-US">
              <a:solidFill>
                <a:schemeClr val="folHlink"/>
              </a:solidFill>
              <a:latin typeface="Helvetica" charset="0"/>
            </a:endParaRPr>
          </a:p>
        </p:txBody>
      </p:sp>
      <p:sp>
        <p:nvSpPr>
          <p:cNvPr id="46089" name="Rectangle 9"/>
          <p:cNvSpPr>
            <a:spLocks noChangeArrowheads="1"/>
          </p:cNvSpPr>
          <p:nvPr/>
        </p:nvSpPr>
        <p:spPr bwMode="auto">
          <a:xfrm>
            <a:off x="7772400" y="315913"/>
            <a:ext cx="1322388" cy="239712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ot"/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folHlink"/>
                </a:solidFill>
                <a:latin typeface="Helvetica" charset="0"/>
              </a:rPr>
              <a:t>Present.</a:t>
            </a:r>
            <a:endParaRPr lang="en-US">
              <a:solidFill>
                <a:schemeClr val="folHlink"/>
              </a:solidFill>
              <a:latin typeface="Helvetica" charset="0"/>
            </a:endParaRPr>
          </a:p>
        </p:txBody>
      </p:sp>
      <p:sp>
        <p:nvSpPr>
          <p:cNvPr id="46090" name="Rectangle 10"/>
          <p:cNvSpPr>
            <a:spLocks noChangeArrowheads="1"/>
          </p:cNvSpPr>
          <p:nvPr/>
        </p:nvSpPr>
        <p:spPr bwMode="auto">
          <a:xfrm>
            <a:off x="7772400" y="76202"/>
            <a:ext cx="1322388" cy="239713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Helvetica" charset="0"/>
              </a:rPr>
              <a:t>Application</a:t>
            </a:r>
            <a:endParaRPr lang="en-US">
              <a:solidFill>
                <a:schemeClr val="bg1"/>
              </a:solidFill>
              <a:latin typeface="Helvetica" charset="0"/>
            </a:endParaRPr>
          </a:p>
        </p:txBody>
      </p:sp>
      <p:sp>
        <p:nvSpPr>
          <p:cNvPr id="11" name="圆角矩形 10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0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3075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 altLang="zh-CN" dirty="0">
                <a:latin typeface="Helvetica" charset="0"/>
                <a:ea typeface="MS PGothic" panose="020B0600070205080204" charset="-128"/>
              </a:rPr>
              <a:t>The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entire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stack</a:t>
            </a:r>
            <a:endParaRPr lang="en-US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46" name="Rectangle 45"/>
          <p:cNvSpPr/>
          <p:nvPr/>
        </p:nvSpPr>
        <p:spPr bwMode="auto">
          <a:xfrm>
            <a:off x="1447800" y="5638800"/>
            <a:ext cx="2743200" cy="5334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600" b="0" dirty="0">
              <a:latin typeface="Helvetica"/>
              <a:ea typeface="MS PGothic" panose="020B0600070205080204" charset="-128"/>
              <a:cs typeface="Helvetica"/>
            </a:endParaRPr>
          </a:p>
        </p:txBody>
      </p:sp>
      <p:sp>
        <p:nvSpPr>
          <p:cNvPr id="47" name="TextBox 2"/>
          <p:cNvSpPr txBox="1">
            <a:spLocks noChangeArrowheads="1"/>
          </p:cNvSpPr>
          <p:nvPr/>
        </p:nvSpPr>
        <p:spPr bwMode="auto">
          <a:xfrm>
            <a:off x="1447800" y="5715000"/>
            <a:ext cx="2698750" cy="40005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>
            <a:noFill/>
            <a:miter lim="800000"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9pPr>
          </a:lstStyle>
          <a:p>
            <a:pPr eaLnBrk="1" hangingPunct="1">
              <a:defRPr/>
            </a:pPr>
            <a:r>
              <a:rPr lang="en-US" sz="2000" b="0">
                <a:latin typeface="Helvetica" charset="0"/>
                <a:cs typeface="Helvetica" charset="0"/>
              </a:rPr>
              <a:t>101010100110101110</a:t>
            </a:r>
            <a:endParaRPr lang="en-US" sz="2000" b="0">
              <a:latin typeface="Helvetica" charset="0"/>
              <a:cs typeface="Helvetica" charset="0"/>
            </a:endParaRPr>
          </a:p>
        </p:txBody>
      </p:sp>
      <p:sp>
        <p:nvSpPr>
          <p:cNvPr id="48" name="Rectangle 47"/>
          <p:cNvSpPr>
            <a:spLocks noChangeArrowheads="1"/>
          </p:cNvSpPr>
          <p:nvPr/>
        </p:nvSpPr>
        <p:spPr bwMode="auto">
          <a:xfrm>
            <a:off x="0" y="2057400"/>
            <a:ext cx="1295400" cy="7620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round/>
            <a:headEnd type="triangle" w="med" len="med"/>
          </a:ln>
          <a:effectLst>
            <a:outerShdw blurRad="50800" dist="38100" dir="2700000" rotWithShape="0">
              <a:srgbClr val="000000">
                <a:alpha val="42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2000" b="0" dirty="0">
                <a:latin typeface="Helvetica"/>
                <a:ea typeface="MS PGothic" panose="020B0600070205080204" charset="-128"/>
                <a:cs typeface="Helvetica"/>
              </a:rPr>
              <a:t>Transport Layer </a:t>
            </a:r>
            <a:endParaRPr lang="en-US" sz="2000" b="0" dirty="0">
              <a:latin typeface="Helvetica"/>
              <a:ea typeface="MS PGothic" panose="020B0600070205080204" charset="-128"/>
              <a:cs typeface="Helvetica"/>
            </a:endParaRPr>
          </a:p>
        </p:txBody>
      </p:sp>
      <p:sp>
        <p:nvSpPr>
          <p:cNvPr id="47110" name="Rectangle 45"/>
          <p:cNvSpPr>
            <a:spLocks noChangeArrowheads="1"/>
          </p:cNvSpPr>
          <p:nvPr/>
        </p:nvSpPr>
        <p:spPr bwMode="auto">
          <a:xfrm>
            <a:off x="2819400" y="2133600"/>
            <a:ext cx="685800" cy="6096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Arial Narrow" panose="020B0606020202030204" charset="0"/>
              </a:rPr>
              <a:t>Trans.</a:t>
            </a:r>
            <a:endParaRPr lang="en-US" sz="1600" b="0">
              <a:latin typeface="Arial Narrow" panose="020B0606020202030204" charset="0"/>
            </a:endParaRPr>
          </a:p>
          <a:p>
            <a:pPr algn="ctr"/>
            <a:r>
              <a:rPr lang="en-US" sz="1600" b="0">
                <a:latin typeface="Arial Narrow" panose="020B0606020202030204" charset="0"/>
              </a:rPr>
              <a:t>Hdr.</a:t>
            </a:r>
            <a:endParaRPr lang="en-US" sz="1600" b="0">
              <a:latin typeface="Arial Narrow" panose="020B0606020202030204" charset="0"/>
            </a:endParaRPr>
          </a:p>
        </p:txBody>
      </p:sp>
      <p:sp>
        <p:nvSpPr>
          <p:cNvPr id="51" name="Rectangle 50"/>
          <p:cNvSpPr>
            <a:spLocks noChangeArrowheads="1"/>
          </p:cNvSpPr>
          <p:nvPr/>
        </p:nvSpPr>
        <p:spPr bwMode="auto">
          <a:xfrm>
            <a:off x="7848600" y="2057400"/>
            <a:ext cx="1295400" cy="7620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round/>
            <a:headEnd type="triangle" w="med" len="med"/>
          </a:ln>
          <a:effectLst>
            <a:outerShdw blurRad="50800" dist="38100" dir="2700000" rotWithShape="0">
              <a:srgbClr val="000000">
                <a:alpha val="42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2000" b="0" dirty="0">
                <a:latin typeface="Helvetica"/>
                <a:ea typeface="MS PGothic" panose="020B0600070205080204" charset="-128"/>
                <a:cs typeface="Helvetica"/>
              </a:rPr>
              <a:t>Transport Layer </a:t>
            </a:r>
            <a:endParaRPr lang="en-US" sz="2000" b="0" dirty="0">
              <a:latin typeface="Helvetica"/>
              <a:ea typeface="MS PGothic" panose="020B0600070205080204" charset="-128"/>
              <a:cs typeface="Helvetica"/>
            </a:endParaRPr>
          </a:p>
        </p:txBody>
      </p:sp>
      <p:sp>
        <p:nvSpPr>
          <p:cNvPr id="47112" name="Rectangle 55"/>
          <p:cNvSpPr>
            <a:spLocks noChangeArrowheads="1"/>
          </p:cNvSpPr>
          <p:nvPr/>
        </p:nvSpPr>
        <p:spPr bwMode="auto">
          <a:xfrm>
            <a:off x="6324600" y="2133600"/>
            <a:ext cx="685800" cy="6096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Arial Narrow" panose="020B0606020202030204" charset="0"/>
              </a:rPr>
              <a:t>Trans.</a:t>
            </a:r>
            <a:endParaRPr lang="en-US" sz="1600" b="0">
              <a:latin typeface="Arial Narrow" panose="020B0606020202030204" charset="0"/>
            </a:endParaRPr>
          </a:p>
          <a:p>
            <a:pPr algn="ctr"/>
            <a:r>
              <a:rPr lang="en-US" sz="1600" b="0">
                <a:latin typeface="Arial Narrow" panose="020B0606020202030204" charset="0"/>
              </a:rPr>
              <a:t>Hdr.</a:t>
            </a:r>
            <a:endParaRPr lang="en-US" sz="1600" b="0">
              <a:latin typeface="Arial Narrow" panose="020B0606020202030204" charset="0"/>
            </a:endParaRPr>
          </a:p>
        </p:txBody>
      </p:sp>
      <p:sp>
        <p:nvSpPr>
          <p:cNvPr id="53" name="Rectangle 52"/>
          <p:cNvSpPr>
            <a:spLocks noChangeArrowheads="1"/>
          </p:cNvSpPr>
          <p:nvPr/>
        </p:nvSpPr>
        <p:spPr bwMode="auto">
          <a:xfrm>
            <a:off x="0" y="3200400"/>
            <a:ext cx="1295400" cy="762000"/>
          </a:xfrm>
          <a:prstGeom prst="rect">
            <a:avLst/>
          </a:prstGeom>
          <a:solidFill>
            <a:srgbClr val="A0BCFE"/>
          </a:solidFill>
          <a:ln w="25400">
            <a:solidFill>
              <a:schemeClr val="tx1"/>
            </a:solidFill>
            <a:round/>
            <a:headEnd type="triangle" w="med" len="med"/>
          </a:ln>
          <a:effectLst>
            <a:outerShdw blurRad="50800" dist="38100" dir="2700000" rotWithShape="0">
              <a:srgbClr val="000000">
                <a:alpha val="42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2000" b="0" dirty="0">
                <a:latin typeface="Helvetica"/>
                <a:ea typeface="MS PGothic" panose="020B0600070205080204" charset="-128"/>
                <a:cs typeface="Helvetica"/>
              </a:rPr>
              <a:t>Network Layer </a:t>
            </a:r>
            <a:endParaRPr lang="en-US" sz="2000" b="0" dirty="0">
              <a:latin typeface="Helvetica"/>
              <a:ea typeface="MS PGothic" panose="020B0600070205080204" charset="-128"/>
              <a:cs typeface="Helvetica"/>
            </a:endParaRPr>
          </a:p>
        </p:txBody>
      </p:sp>
      <p:sp>
        <p:nvSpPr>
          <p:cNvPr id="47114" name="Rectangle 60"/>
          <p:cNvSpPr>
            <a:spLocks noChangeArrowheads="1"/>
          </p:cNvSpPr>
          <p:nvPr/>
        </p:nvSpPr>
        <p:spPr bwMode="auto">
          <a:xfrm>
            <a:off x="2819400" y="3276600"/>
            <a:ext cx="685800" cy="6096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Arial Narrow" panose="020B0606020202030204" charset="0"/>
              </a:rPr>
              <a:t>Trans.</a:t>
            </a:r>
            <a:endParaRPr lang="en-US" sz="1600" b="0">
              <a:latin typeface="Arial Narrow" panose="020B0606020202030204" charset="0"/>
            </a:endParaRPr>
          </a:p>
          <a:p>
            <a:pPr algn="ctr"/>
            <a:r>
              <a:rPr lang="en-US" sz="1600" b="0">
                <a:latin typeface="Arial Narrow" panose="020B0606020202030204" charset="0"/>
              </a:rPr>
              <a:t>Hdr.</a:t>
            </a:r>
            <a:endParaRPr lang="en-US" sz="1600" b="0">
              <a:latin typeface="Arial Narrow" panose="020B0606020202030204" charset="0"/>
            </a:endParaRPr>
          </a:p>
        </p:txBody>
      </p:sp>
      <p:sp>
        <p:nvSpPr>
          <p:cNvPr id="55" name="Rectangle 54"/>
          <p:cNvSpPr/>
          <p:nvPr/>
        </p:nvSpPr>
        <p:spPr bwMode="auto">
          <a:xfrm>
            <a:off x="2133600" y="3276600"/>
            <a:ext cx="685800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1600" b="0" dirty="0">
                <a:latin typeface="Arial Narrow" panose="020B0606020202030204"/>
                <a:ea typeface="MS PGothic" panose="020B0600070205080204" charset="-128"/>
                <a:cs typeface="Arial Narrow" panose="020B0606020202030204"/>
              </a:rPr>
              <a:t>Net.</a:t>
            </a:r>
            <a:endParaRPr lang="en-US" sz="1600" b="0" dirty="0">
              <a:latin typeface="Arial Narrow" panose="020B0606020202030204"/>
              <a:ea typeface="MS PGothic" panose="020B0600070205080204" charset="-128"/>
              <a:cs typeface="Arial Narrow" panose="020B0606020202030204"/>
            </a:endParaRPr>
          </a:p>
          <a:p>
            <a:pPr algn="ctr">
              <a:defRPr/>
            </a:pPr>
            <a:r>
              <a:rPr lang="en-US" sz="1600" b="0" dirty="0" err="1">
                <a:latin typeface="Arial Narrow" panose="020B0606020202030204"/>
                <a:ea typeface="MS PGothic" panose="020B0600070205080204" charset="-128"/>
                <a:cs typeface="Arial Narrow" panose="020B0606020202030204"/>
              </a:rPr>
              <a:t>Hdr</a:t>
            </a:r>
            <a:r>
              <a:rPr lang="en-US" sz="1600" b="0" dirty="0">
                <a:latin typeface="Arial Narrow" panose="020B0606020202030204"/>
                <a:ea typeface="MS PGothic" panose="020B0600070205080204" charset="-128"/>
                <a:cs typeface="Arial Narrow" panose="020B0606020202030204"/>
              </a:rPr>
              <a:t>.</a:t>
            </a:r>
            <a:endParaRPr lang="en-US" sz="1600" b="0" dirty="0">
              <a:latin typeface="Arial Narrow" panose="020B0606020202030204"/>
              <a:ea typeface="MS PGothic" panose="020B0600070205080204" charset="-128"/>
              <a:cs typeface="Arial Narrow" panose="020B0606020202030204"/>
            </a:endParaRPr>
          </a:p>
        </p:txBody>
      </p:sp>
      <p:sp>
        <p:nvSpPr>
          <p:cNvPr id="56" name="Rectangle 55"/>
          <p:cNvSpPr>
            <a:spLocks noChangeArrowheads="1"/>
          </p:cNvSpPr>
          <p:nvPr/>
        </p:nvSpPr>
        <p:spPr bwMode="auto">
          <a:xfrm>
            <a:off x="7848600" y="3200400"/>
            <a:ext cx="1295400" cy="762000"/>
          </a:xfrm>
          <a:prstGeom prst="rect">
            <a:avLst/>
          </a:prstGeom>
          <a:solidFill>
            <a:srgbClr val="A0BCFE"/>
          </a:solidFill>
          <a:ln w="25400">
            <a:solidFill>
              <a:schemeClr val="tx1"/>
            </a:solidFill>
            <a:round/>
            <a:headEnd type="triangle" w="med" len="med"/>
          </a:ln>
          <a:effectLst>
            <a:outerShdw blurRad="50800" dist="38100" dir="2700000" rotWithShape="0">
              <a:srgbClr val="000000">
                <a:alpha val="42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2000" b="0" dirty="0">
                <a:latin typeface="Helvetica"/>
                <a:ea typeface="MS PGothic" panose="020B0600070205080204" charset="-128"/>
                <a:cs typeface="Helvetica"/>
              </a:rPr>
              <a:t>Network Layer </a:t>
            </a:r>
            <a:endParaRPr lang="en-US" sz="2000" b="0" dirty="0">
              <a:latin typeface="Helvetica"/>
              <a:ea typeface="MS PGothic" panose="020B0600070205080204" charset="-128"/>
              <a:cs typeface="Helvetica"/>
            </a:endParaRPr>
          </a:p>
        </p:txBody>
      </p:sp>
      <p:sp>
        <p:nvSpPr>
          <p:cNvPr id="47117" name="Rectangle 65"/>
          <p:cNvSpPr>
            <a:spLocks noChangeArrowheads="1"/>
          </p:cNvSpPr>
          <p:nvPr/>
        </p:nvSpPr>
        <p:spPr bwMode="auto">
          <a:xfrm>
            <a:off x="6324600" y="3276600"/>
            <a:ext cx="685800" cy="6096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Arial Narrow" panose="020B0606020202030204" charset="0"/>
              </a:rPr>
              <a:t>Trans.</a:t>
            </a:r>
            <a:endParaRPr lang="en-US" sz="1600" b="0">
              <a:latin typeface="Arial Narrow" panose="020B0606020202030204" charset="0"/>
            </a:endParaRPr>
          </a:p>
          <a:p>
            <a:pPr algn="ctr"/>
            <a:r>
              <a:rPr lang="en-US" sz="1600" b="0">
                <a:latin typeface="Arial Narrow" panose="020B0606020202030204" charset="0"/>
              </a:rPr>
              <a:t>Hdr.</a:t>
            </a:r>
            <a:endParaRPr lang="en-US" sz="1600" b="0">
              <a:latin typeface="Arial Narrow" panose="020B0606020202030204" charset="0"/>
            </a:endParaRPr>
          </a:p>
        </p:txBody>
      </p:sp>
      <p:sp>
        <p:nvSpPr>
          <p:cNvPr id="47118" name="Rectangle 67"/>
          <p:cNvSpPr>
            <a:spLocks noChangeArrowheads="1"/>
          </p:cNvSpPr>
          <p:nvPr/>
        </p:nvSpPr>
        <p:spPr bwMode="auto">
          <a:xfrm>
            <a:off x="5638800" y="3276600"/>
            <a:ext cx="685800" cy="609600"/>
          </a:xfrm>
          <a:prstGeom prst="rect">
            <a:avLst/>
          </a:prstGeom>
          <a:solidFill>
            <a:srgbClr val="A0BCFE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Arial Narrow" panose="020B0606020202030204" charset="0"/>
              </a:rPr>
              <a:t>Net.</a:t>
            </a:r>
            <a:endParaRPr lang="en-US" sz="1600" b="0">
              <a:latin typeface="Arial Narrow" panose="020B0606020202030204" charset="0"/>
            </a:endParaRPr>
          </a:p>
          <a:p>
            <a:pPr algn="ctr"/>
            <a:r>
              <a:rPr lang="en-US" sz="1600" b="0">
                <a:latin typeface="Arial Narrow" panose="020B0606020202030204" charset="0"/>
              </a:rPr>
              <a:t>Hdr.</a:t>
            </a:r>
            <a:endParaRPr lang="en-US" sz="1600" b="0">
              <a:latin typeface="Arial Narrow" panose="020B0606020202030204" charset="0"/>
            </a:endParaRPr>
          </a:p>
        </p:txBody>
      </p:sp>
      <p:sp>
        <p:nvSpPr>
          <p:cNvPr id="59" name="Rectangle 58"/>
          <p:cNvSpPr>
            <a:spLocks noChangeArrowheads="1"/>
          </p:cNvSpPr>
          <p:nvPr/>
        </p:nvSpPr>
        <p:spPr bwMode="auto">
          <a:xfrm>
            <a:off x="0" y="4343400"/>
            <a:ext cx="1295400" cy="762000"/>
          </a:xfrm>
          <a:prstGeom prst="rect">
            <a:avLst/>
          </a:prstGeom>
          <a:solidFill>
            <a:srgbClr val="FECF59"/>
          </a:solidFill>
          <a:ln w="25400">
            <a:solidFill>
              <a:schemeClr val="tx1"/>
            </a:solidFill>
            <a:round/>
            <a:headEnd type="triangle" w="med" len="med"/>
          </a:ln>
          <a:effectLst>
            <a:outerShdw blurRad="50800" dist="38100" dir="2700000" rotWithShape="0">
              <a:srgbClr val="000000">
                <a:alpha val="42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2000" b="0" dirty="0" err="1">
                <a:latin typeface="Helvetica"/>
                <a:ea typeface="MS PGothic" panose="020B0600070205080204" charset="-128"/>
                <a:cs typeface="Helvetica"/>
              </a:rPr>
              <a:t>Datalink</a:t>
            </a:r>
            <a:r>
              <a:rPr lang="en-US" sz="2000" b="0" dirty="0">
                <a:latin typeface="Helvetica"/>
                <a:ea typeface="MS PGothic" panose="020B0600070205080204" charset="-128"/>
                <a:cs typeface="Helvetica"/>
              </a:rPr>
              <a:t> Layer </a:t>
            </a:r>
            <a:endParaRPr lang="en-US" sz="2000" b="0" dirty="0">
              <a:latin typeface="Helvetica"/>
              <a:ea typeface="MS PGothic" panose="020B0600070205080204" charset="-128"/>
              <a:cs typeface="Helvetica"/>
            </a:endParaRPr>
          </a:p>
        </p:txBody>
      </p:sp>
      <p:sp>
        <p:nvSpPr>
          <p:cNvPr id="47120" name="Rectangle 70"/>
          <p:cNvSpPr>
            <a:spLocks noChangeArrowheads="1"/>
          </p:cNvSpPr>
          <p:nvPr/>
        </p:nvSpPr>
        <p:spPr bwMode="auto">
          <a:xfrm>
            <a:off x="2819400" y="4419600"/>
            <a:ext cx="685800" cy="6096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Arial Narrow" panose="020B0606020202030204" charset="0"/>
              </a:rPr>
              <a:t>Trans.</a:t>
            </a:r>
            <a:endParaRPr lang="en-US" sz="1600" b="0">
              <a:latin typeface="Arial Narrow" panose="020B0606020202030204" charset="0"/>
            </a:endParaRPr>
          </a:p>
          <a:p>
            <a:pPr algn="ctr"/>
            <a:r>
              <a:rPr lang="en-US" sz="1600" b="0">
                <a:latin typeface="Arial Narrow" panose="020B0606020202030204" charset="0"/>
              </a:rPr>
              <a:t>Hdr.</a:t>
            </a:r>
            <a:endParaRPr lang="en-US" sz="1600" b="0">
              <a:latin typeface="Arial Narrow" panose="020B0606020202030204" charset="0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2133600" y="4419600"/>
            <a:ext cx="685800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1600" b="0" dirty="0">
                <a:latin typeface="Arial Narrow" panose="020B0606020202030204"/>
                <a:ea typeface="MS PGothic" panose="020B0600070205080204" charset="-128"/>
                <a:cs typeface="Arial Narrow" panose="020B0606020202030204"/>
              </a:rPr>
              <a:t>Net.</a:t>
            </a:r>
            <a:endParaRPr lang="en-US" sz="1600" b="0" dirty="0">
              <a:latin typeface="Arial Narrow" panose="020B0606020202030204"/>
              <a:ea typeface="MS PGothic" panose="020B0600070205080204" charset="-128"/>
              <a:cs typeface="Arial Narrow" panose="020B0606020202030204"/>
            </a:endParaRPr>
          </a:p>
          <a:p>
            <a:pPr algn="ctr">
              <a:defRPr/>
            </a:pPr>
            <a:r>
              <a:rPr lang="en-US" sz="1600" b="0" dirty="0" err="1">
                <a:latin typeface="Arial Narrow" panose="020B0606020202030204"/>
                <a:ea typeface="MS PGothic" panose="020B0600070205080204" charset="-128"/>
                <a:cs typeface="Arial Narrow" panose="020B0606020202030204"/>
              </a:rPr>
              <a:t>Hdr</a:t>
            </a:r>
            <a:r>
              <a:rPr lang="en-US" sz="1600" b="0" dirty="0">
                <a:latin typeface="Arial Narrow" panose="020B0606020202030204"/>
                <a:ea typeface="MS PGothic" panose="020B0600070205080204" charset="-128"/>
                <a:cs typeface="Arial Narrow" panose="020B0606020202030204"/>
              </a:rPr>
              <a:t>.</a:t>
            </a:r>
            <a:endParaRPr lang="en-US" sz="1600" b="0" dirty="0">
              <a:latin typeface="Arial Narrow" panose="020B0606020202030204"/>
              <a:ea typeface="MS PGothic" panose="020B0600070205080204" charset="-128"/>
              <a:cs typeface="Arial Narrow" panose="020B0606020202030204"/>
            </a:endParaRPr>
          </a:p>
        </p:txBody>
      </p:sp>
      <p:sp>
        <p:nvSpPr>
          <p:cNvPr id="47122" name="Rectangle 73"/>
          <p:cNvSpPr>
            <a:spLocks noChangeArrowheads="1"/>
          </p:cNvSpPr>
          <p:nvPr/>
        </p:nvSpPr>
        <p:spPr bwMode="auto">
          <a:xfrm>
            <a:off x="1447800" y="4419600"/>
            <a:ext cx="685800" cy="609600"/>
          </a:xfrm>
          <a:prstGeom prst="rect">
            <a:avLst/>
          </a:prstGeom>
          <a:solidFill>
            <a:srgbClr val="FECF59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Arial Narrow" panose="020B0606020202030204" charset="0"/>
              </a:rPr>
              <a:t>Frame</a:t>
            </a:r>
            <a:endParaRPr lang="en-US" sz="1600" b="0">
              <a:latin typeface="Arial Narrow" panose="020B0606020202030204" charset="0"/>
            </a:endParaRPr>
          </a:p>
          <a:p>
            <a:pPr algn="ctr"/>
            <a:r>
              <a:rPr lang="en-US" sz="1600" b="0">
                <a:latin typeface="Arial Narrow" panose="020B0606020202030204" charset="0"/>
              </a:rPr>
              <a:t>Hdr.</a:t>
            </a:r>
            <a:endParaRPr lang="en-US" sz="1600" b="0">
              <a:latin typeface="Arial Narrow" panose="020B0606020202030204" charset="0"/>
            </a:endParaRPr>
          </a:p>
        </p:txBody>
      </p:sp>
      <p:sp>
        <p:nvSpPr>
          <p:cNvPr id="66" name="Rectangle 65"/>
          <p:cNvSpPr>
            <a:spLocks noChangeArrowheads="1"/>
          </p:cNvSpPr>
          <p:nvPr/>
        </p:nvSpPr>
        <p:spPr bwMode="auto">
          <a:xfrm>
            <a:off x="7848600" y="4343400"/>
            <a:ext cx="1295400" cy="762000"/>
          </a:xfrm>
          <a:prstGeom prst="rect">
            <a:avLst/>
          </a:prstGeom>
          <a:solidFill>
            <a:srgbClr val="FECF59"/>
          </a:solidFill>
          <a:ln w="25400">
            <a:solidFill>
              <a:schemeClr val="tx1"/>
            </a:solidFill>
            <a:round/>
            <a:headEnd type="triangle" w="med" len="med"/>
          </a:ln>
          <a:effectLst>
            <a:outerShdw blurRad="50800" dist="38100" dir="2700000" rotWithShape="0">
              <a:srgbClr val="000000">
                <a:alpha val="42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2000" b="0" dirty="0" err="1">
                <a:latin typeface="Helvetica"/>
                <a:ea typeface="MS PGothic" panose="020B0600070205080204" charset="-128"/>
                <a:cs typeface="Helvetica"/>
              </a:rPr>
              <a:t>Datalink</a:t>
            </a:r>
            <a:r>
              <a:rPr lang="en-US" sz="2000" b="0" dirty="0">
                <a:latin typeface="Helvetica"/>
                <a:ea typeface="MS PGothic" panose="020B0600070205080204" charset="-128"/>
                <a:cs typeface="Helvetica"/>
              </a:rPr>
              <a:t> Layer </a:t>
            </a:r>
            <a:endParaRPr lang="en-US" sz="2000" b="0" dirty="0">
              <a:latin typeface="Helvetica"/>
              <a:ea typeface="MS PGothic" panose="020B0600070205080204" charset="-128"/>
              <a:cs typeface="Helvetica"/>
            </a:endParaRPr>
          </a:p>
        </p:txBody>
      </p:sp>
      <p:sp>
        <p:nvSpPr>
          <p:cNvPr id="47124" name="Rectangle 75"/>
          <p:cNvSpPr>
            <a:spLocks noChangeArrowheads="1"/>
          </p:cNvSpPr>
          <p:nvPr/>
        </p:nvSpPr>
        <p:spPr bwMode="auto">
          <a:xfrm>
            <a:off x="6324600" y="4419600"/>
            <a:ext cx="685800" cy="6096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Arial Narrow" panose="020B0606020202030204" charset="0"/>
              </a:rPr>
              <a:t>Trans.</a:t>
            </a:r>
            <a:endParaRPr lang="en-US" sz="1600" b="0">
              <a:latin typeface="Arial Narrow" panose="020B0606020202030204" charset="0"/>
            </a:endParaRPr>
          </a:p>
          <a:p>
            <a:pPr algn="ctr"/>
            <a:r>
              <a:rPr lang="en-US" sz="1600" b="0">
                <a:latin typeface="Arial Narrow" panose="020B0606020202030204" charset="0"/>
              </a:rPr>
              <a:t>Hdr.</a:t>
            </a:r>
            <a:endParaRPr lang="en-US" sz="1600" b="0">
              <a:latin typeface="Arial Narrow" panose="020B0606020202030204" charset="0"/>
            </a:endParaRPr>
          </a:p>
        </p:txBody>
      </p:sp>
      <p:sp>
        <p:nvSpPr>
          <p:cNvPr id="47125" name="Rectangle 77"/>
          <p:cNvSpPr>
            <a:spLocks noChangeArrowheads="1"/>
          </p:cNvSpPr>
          <p:nvPr/>
        </p:nvSpPr>
        <p:spPr bwMode="auto">
          <a:xfrm>
            <a:off x="5638800" y="4419600"/>
            <a:ext cx="685800" cy="609600"/>
          </a:xfrm>
          <a:prstGeom prst="rect">
            <a:avLst/>
          </a:prstGeom>
          <a:solidFill>
            <a:srgbClr val="A0BCFE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Arial Narrow" panose="020B0606020202030204" charset="0"/>
              </a:rPr>
              <a:t>Net.</a:t>
            </a:r>
            <a:endParaRPr lang="en-US" sz="1600" b="0">
              <a:latin typeface="Arial Narrow" panose="020B0606020202030204" charset="0"/>
            </a:endParaRPr>
          </a:p>
          <a:p>
            <a:pPr algn="ctr"/>
            <a:r>
              <a:rPr lang="en-US" sz="1600" b="0">
                <a:latin typeface="Arial Narrow" panose="020B0606020202030204" charset="0"/>
              </a:rPr>
              <a:t>Hdr.</a:t>
            </a:r>
            <a:endParaRPr lang="en-US" sz="1600" b="0">
              <a:latin typeface="Arial Narrow" panose="020B0606020202030204" charset="0"/>
            </a:endParaRPr>
          </a:p>
        </p:txBody>
      </p:sp>
      <p:sp>
        <p:nvSpPr>
          <p:cNvPr id="47126" name="Rectangle 78"/>
          <p:cNvSpPr>
            <a:spLocks noChangeArrowheads="1"/>
          </p:cNvSpPr>
          <p:nvPr/>
        </p:nvSpPr>
        <p:spPr bwMode="auto">
          <a:xfrm>
            <a:off x="4953000" y="4419600"/>
            <a:ext cx="685800" cy="609600"/>
          </a:xfrm>
          <a:prstGeom prst="rect">
            <a:avLst/>
          </a:prstGeom>
          <a:solidFill>
            <a:srgbClr val="FECF59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Arial Narrow" panose="020B0606020202030204" charset="0"/>
              </a:rPr>
              <a:t>Frame</a:t>
            </a:r>
            <a:endParaRPr lang="en-US" sz="1600" b="0">
              <a:latin typeface="Arial Narrow" panose="020B0606020202030204" charset="0"/>
            </a:endParaRPr>
          </a:p>
          <a:p>
            <a:pPr algn="ctr"/>
            <a:r>
              <a:rPr lang="en-US" sz="1600" b="0">
                <a:latin typeface="Arial Narrow" panose="020B0606020202030204" charset="0"/>
              </a:rPr>
              <a:t>Hdr.</a:t>
            </a:r>
            <a:endParaRPr lang="en-US" sz="1600" b="0">
              <a:latin typeface="Arial Narrow" panose="020B0606020202030204" charset="0"/>
            </a:endParaRPr>
          </a:p>
        </p:txBody>
      </p:sp>
      <p:sp>
        <p:nvSpPr>
          <p:cNvPr id="71" name="Rectangle 70"/>
          <p:cNvSpPr>
            <a:spLocks noChangeArrowheads="1"/>
          </p:cNvSpPr>
          <p:nvPr/>
        </p:nvSpPr>
        <p:spPr bwMode="auto">
          <a:xfrm>
            <a:off x="0" y="5486400"/>
            <a:ext cx="1295400" cy="762000"/>
          </a:xfrm>
          <a:prstGeom prst="rect">
            <a:avLst/>
          </a:prstGeom>
          <a:solidFill>
            <a:srgbClr val="BDBDBD"/>
          </a:solidFill>
          <a:ln w="25400">
            <a:solidFill>
              <a:schemeClr val="tx1"/>
            </a:solidFill>
            <a:round/>
            <a:headEnd type="triangle" w="med" len="med"/>
          </a:ln>
          <a:effectLst>
            <a:outerShdw blurRad="50800" dist="38100" dir="2700000" rotWithShape="0">
              <a:srgbClr val="000000">
                <a:alpha val="42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2000" b="0" dirty="0">
                <a:latin typeface="Helvetica"/>
                <a:ea typeface="MS PGothic" panose="020B0600070205080204" charset="-128"/>
                <a:cs typeface="Helvetica"/>
              </a:rPr>
              <a:t>Physical Layer </a:t>
            </a:r>
            <a:endParaRPr lang="en-US" sz="2000" b="0" dirty="0">
              <a:latin typeface="Helvetica"/>
              <a:ea typeface="MS PGothic" panose="020B0600070205080204" charset="-128"/>
              <a:cs typeface="Helvetica"/>
            </a:endParaRPr>
          </a:p>
        </p:txBody>
      </p:sp>
      <p:sp>
        <p:nvSpPr>
          <p:cNvPr id="72" name="Rectangle 71"/>
          <p:cNvSpPr>
            <a:spLocks noChangeArrowheads="1"/>
          </p:cNvSpPr>
          <p:nvPr/>
        </p:nvSpPr>
        <p:spPr bwMode="auto">
          <a:xfrm>
            <a:off x="7848600" y="5486400"/>
            <a:ext cx="1295400" cy="762000"/>
          </a:xfrm>
          <a:prstGeom prst="rect">
            <a:avLst/>
          </a:prstGeom>
          <a:solidFill>
            <a:srgbClr val="BDBDBD"/>
          </a:solidFill>
          <a:ln w="25400">
            <a:solidFill>
              <a:schemeClr val="tx1"/>
            </a:solidFill>
            <a:round/>
            <a:headEnd type="triangle" w="med" len="med"/>
          </a:ln>
          <a:effectLst>
            <a:outerShdw blurRad="50800" dist="38100" dir="2700000" rotWithShape="0">
              <a:srgbClr val="000000">
                <a:alpha val="42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sz="2000" b="0" dirty="0">
                <a:latin typeface="Helvetica"/>
                <a:ea typeface="MS PGothic" panose="020B0600070205080204" charset="-128"/>
                <a:cs typeface="Helvetica"/>
              </a:rPr>
              <a:t>Physical Layer </a:t>
            </a:r>
            <a:endParaRPr lang="en-US" sz="2000" b="0" dirty="0">
              <a:latin typeface="Helvetica"/>
              <a:ea typeface="MS PGothic" panose="020B0600070205080204" charset="-128"/>
              <a:cs typeface="Helvetica"/>
            </a:endParaRPr>
          </a:p>
        </p:txBody>
      </p:sp>
      <p:sp>
        <p:nvSpPr>
          <p:cNvPr id="74" name="Rectangle 73"/>
          <p:cNvSpPr/>
          <p:nvPr/>
        </p:nvSpPr>
        <p:spPr bwMode="auto">
          <a:xfrm>
            <a:off x="4953000" y="5638800"/>
            <a:ext cx="2743200" cy="5334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sz="1600" b="0" dirty="0">
              <a:latin typeface="Helvetica"/>
              <a:ea typeface="MS PGothic" panose="020B0600070205080204" charset="-128"/>
              <a:cs typeface="Helvetica"/>
            </a:endParaRPr>
          </a:p>
        </p:txBody>
      </p:sp>
      <p:sp>
        <p:nvSpPr>
          <p:cNvPr id="76" name="TextBox 2"/>
          <p:cNvSpPr txBox="1">
            <a:spLocks noChangeArrowheads="1"/>
          </p:cNvSpPr>
          <p:nvPr/>
        </p:nvSpPr>
        <p:spPr bwMode="auto">
          <a:xfrm>
            <a:off x="4953000" y="5715000"/>
            <a:ext cx="2698750" cy="40005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>
            <a:noFill/>
            <a:miter lim="800000"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</a:defRPr>
            </a:lvl9pPr>
          </a:lstStyle>
          <a:p>
            <a:pPr eaLnBrk="1" hangingPunct="1">
              <a:defRPr/>
            </a:pPr>
            <a:r>
              <a:rPr lang="en-US" sz="2000" b="0">
                <a:latin typeface="Helvetica" charset="0"/>
                <a:cs typeface="Helvetica" charset="0"/>
              </a:rPr>
              <a:t>101010100110101110</a:t>
            </a:r>
            <a:endParaRPr lang="en-US" sz="2000" b="0">
              <a:latin typeface="Helvetica" charset="0"/>
              <a:cs typeface="Helvetica" charset="0"/>
            </a:endParaRPr>
          </a:p>
        </p:txBody>
      </p:sp>
      <p:sp>
        <p:nvSpPr>
          <p:cNvPr id="47131" name="Rectangle 96"/>
          <p:cNvSpPr>
            <a:spLocks noChangeArrowheads="1"/>
          </p:cNvSpPr>
          <p:nvPr/>
        </p:nvSpPr>
        <p:spPr bwMode="auto">
          <a:xfrm>
            <a:off x="3505200" y="2133600"/>
            <a:ext cx="685800" cy="609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Helvetica" charset="0"/>
              </a:rPr>
              <a:t>Data</a:t>
            </a:r>
            <a:endParaRPr lang="en-US" sz="1600" b="0">
              <a:latin typeface="Helvetica" charset="0"/>
            </a:endParaRPr>
          </a:p>
        </p:txBody>
      </p:sp>
      <p:sp>
        <p:nvSpPr>
          <p:cNvPr id="47132" name="Rectangle 97"/>
          <p:cNvSpPr>
            <a:spLocks noChangeArrowheads="1"/>
          </p:cNvSpPr>
          <p:nvPr/>
        </p:nvSpPr>
        <p:spPr bwMode="auto">
          <a:xfrm>
            <a:off x="3505200" y="3276600"/>
            <a:ext cx="685800" cy="609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Helvetica" charset="0"/>
              </a:rPr>
              <a:t>Data</a:t>
            </a:r>
            <a:endParaRPr lang="en-US" sz="1600" b="0">
              <a:latin typeface="Helvetica" charset="0"/>
            </a:endParaRPr>
          </a:p>
        </p:txBody>
      </p:sp>
      <p:sp>
        <p:nvSpPr>
          <p:cNvPr id="47133" name="Rectangle 98"/>
          <p:cNvSpPr>
            <a:spLocks noChangeArrowheads="1"/>
          </p:cNvSpPr>
          <p:nvPr/>
        </p:nvSpPr>
        <p:spPr bwMode="auto">
          <a:xfrm>
            <a:off x="3505200" y="4419600"/>
            <a:ext cx="685800" cy="609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Helvetica" charset="0"/>
              </a:rPr>
              <a:t>Data</a:t>
            </a:r>
            <a:endParaRPr lang="en-US" sz="1600" b="0">
              <a:latin typeface="Helvetica" charset="0"/>
            </a:endParaRPr>
          </a:p>
        </p:txBody>
      </p:sp>
      <p:sp>
        <p:nvSpPr>
          <p:cNvPr id="47134" name="Rectangle 100"/>
          <p:cNvSpPr>
            <a:spLocks noChangeArrowheads="1"/>
          </p:cNvSpPr>
          <p:nvPr/>
        </p:nvSpPr>
        <p:spPr bwMode="auto">
          <a:xfrm>
            <a:off x="7010400" y="2133600"/>
            <a:ext cx="685800" cy="609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Helvetica" charset="0"/>
              </a:rPr>
              <a:t>Data</a:t>
            </a:r>
            <a:endParaRPr lang="en-US" sz="1600" b="0">
              <a:latin typeface="Helvetica" charset="0"/>
            </a:endParaRPr>
          </a:p>
        </p:txBody>
      </p:sp>
      <p:sp>
        <p:nvSpPr>
          <p:cNvPr id="47135" name="Rectangle 101"/>
          <p:cNvSpPr>
            <a:spLocks noChangeArrowheads="1"/>
          </p:cNvSpPr>
          <p:nvPr/>
        </p:nvSpPr>
        <p:spPr bwMode="auto">
          <a:xfrm>
            <a:off x="7010400" y="3276600"/>
            <a:ext cx="685800" cy="609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Helvetica" charset="0"/>
              </a:rPr>
              <a:t>Data</a:t>
            </a:r>
            <a:endParaRPr lang="en-US" sz="1600" b="0">
              <a:latin typeface="Helvetica" charset="0"/>
            </a:endParaRPr>
          </a:p>
        </p:txBody>
      </p:sp>
      <p:sp>
        <p:nvSpPr>
          <p:cNvPr id="47136" name="Rectangle 102"/>
          <p:cNvSpPr>
            <a:spLocks noChangeArrowheads="1"/>
          </p:cNvSpPr>
          <p:nvPr/>
        </p:nvSpPr>
        <p:spPr bwMode="auto">
          <a:xfrm>
            <a:off x="7010400" y="4419600"/>
            <a:ext cx="685800" cy="609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r>
              <a:rPr lang="en-US" sz="1600" b="0">
                <a:latin typeface="Helvetica" charset="0"/>
              </a:rPr>
              <a:t>Data</a:t>
            </a:r>
            <a:endParaRPr lang="en-US" sz="1600" b="0">
              <a:latin typeface="Helvetica" charset="0"/>
            </a:endParaRPr>
          </a:p>
        </p:txBody>
      </p:sp>
      <p:cxnSp>
        <p:nvCxnSpPr>
          <p:cNvPr id="47137" name="Straight Arrow Connector 29"/>
          <p:cNvCxnSpPr>
            <a:cxnSpLocks noChangeShapeType="1"/>
          </p:cNvCxnSpPr>
          <p:nvPr/>
        </p:nvCxnSpPr>
        <p:spPr bwMode="auto">
          <a:xfrm>
            <a:off x="4191000" y="4724402"/>
            <a:ext cx="762000" cy="9525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ysDash"/>
            <a:round/>
            <a:headEnd type="triangle" w="med" len="med"/>
            <a:tailEnd type="triangle" w="med" len="med"/>
          </a:ln>
        </p:spPr>
      </p:cxnSp>
      <p:cxnSp>
        <p:nvCxnSpPr>
          <p:cNvPr id="47138" name="Straight Arrow Connector 31"/>
          <p:cNvCxnSpPr>
            <a:cxnSpLocks noChangeShapeType="1"/>
          </p:cNvCxnSpPr>
          <p:nvPr/>
        </p:nvCxnSpPr>
        <p:spPr bwMode="auto">
          <a:xfrm>
            <a:off x="4191000" y="5905502"/>
            <a:ext cx="762000" cy="9525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 type="triangle" w="med" len="med"/>
            <a:tailEnd type="triangle" w="med" len="med"/>
          </a:ln>
        </p:spPr>
      </p:cxnSp>
      <p:cxnSp>
        <p:nvCxnSpPr>
          <p:cNvPr id="47139" name="Straight Arrow Connector 30"/>
          <p:cNvCxnSpPr>
            <a:cxnSpLocks noChangeShapeType="1"/>
          </p:cNvCxnSpPr>
          <p:nvPr/>
        </p:nvCxnSpPr>
        <p:spPr bwMode="auto">
          <a:xfrm>
            <a:off x="4191000" y="3581400"/>
            <a:ext cx="1447800" cy="1588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ysDash"/>
            <a:round/>
            <a:headEnd type="triangle" w="med" len="med"/>
            <a:tailEnd type="triangle" w="med" len="med"/>
          </a:ln>
        </p:spPr>
      </p:cxnSp>
      <p:cxnSp>
        <p:nvCxnSpPr>
          <p:cNvPr id="47140" name="Straight Arrow Connector 30"/>
          <p:cNvCxnSpPr>
            <a:cxnSpLocks noChangeShapeType="1"/>
            <a:endCxn id="47112" idx="1"/>
          </p:cNvCxnSpPr>
          <p:nvPr/>
        </p:nvCxnSpPr>
        <p:spPr bwMode="auto">
          <a:xfrm>
            <a:off x="4191000" y="2438400"/>
            <a:ext cx="2133600" cy="1588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ysDash"/>
            <a:round/>
            <a:headEnd type="triangle" w="med" len="med"/>
            <a:tailEnd type="triangle" w="med" len="med"/>
          </a:ln>
        </p:spPr>
      </p:cxnSp>
      <p:sp>
        <p:nvSpPr>
          <p:cNvPr id="47141" name="Up-Down Arrow 23"/>
          <p:cNvSpPr>
            <a:spLocks noChangeArrowheads="1"/>
          </p:cNvSpPr>
          <p:nvPr/>
        </p:nvSpPr>
        <p:spPr bwMode="auto">
          <a:xfrm>
            <a:off x="533400" y="5105400"/>
            <a:ext cx="228600" cy="3810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47142" name="Up-Down Arrow 24"/>
          <p:cNvSpPr>
            <a:spLocks noChangeArrowheads="1"/>
          </p:cNvSpPr>
          <p:nvPr/>
        </p:nvSpPr>
        <p:spPr bwMode="auto">
          <a:xfrm>
            <a:off x="533400" y="3962400"/>
            <a:ext cx="228600" cy="3810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47143" name="Up-Down Arrow 27"/>
          <p:cNvSpPr>
            <a:spLocks noChangeArrowheads="1"/>
          </p:cNvSpPr>
          <p:nvPr/>
        </p:nvSpPr>
        <p:spPr bwMode="auto">
          <a:xfrm>
            <a:off x="533400" y="2819400"/>
            <a:ext cx="228600" cy="3810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47144" name="Up-Down Arrow 23"/>
          <p:cNvSpPr>
            <a:spLocks noChangeArrowheads="1"/>
          </p:cNvSpPr>
          <p:nvPr/>
        </p:nvSpPr>
        <p:spPr bwMode="auto">
          <a:xfrm>
            <a:off x="8382000" y="5105400"/>
            <a:ext cx="228600" cy="3810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47145" name="Up-Down Arrow 24"/>
          <p:cNvSpPr>
            <a:spLocks noChangeArrowheads="1"/>
          </p:cNvSpPr>
          <p:nvPr/>
        </p:nvSpPr>
        <p:spPr bwMode="auto">
          <a:xfrm>
            <a:off x="8382000" y="3962400"/>
            <a:ext cx="228600" cy="3810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47146" name="Up-Down Arrow 27"/>
          <p:cNvSpPr>
            <a:spLocks noChangeArrowheads="1"/>
          </p:cNvSpPr>
          <p:nvPr/>
        </p:nvSpPr>
        <p:spPr bwMode="auto">
          <a:xfrm>
            <a:off x="8382000" y="2819400"/>
            <a:ext cx="228600" cy="3810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grpSp>
        <p:nvGrpSpPr>
          <p:cNvPr id="2" name="Group 101"/>
          <p:cNvGrpSpPr/>
          <p:nvPr/>
        </p:nvGrpSpPr>
        <p:grpSpPr bwMode="auto">
          <a:xfrm>
            <a:off x="0" y="914400"/>
            <a:ext cx="9144000" cy="1143000"/>
            <a:chOff x="0" y="914400"/>
            <a:chExt cx="9144000" cy="1143000"/>
          </a:xfrm>
        </p:grpSpPr>
        <p:sp>
          <p:nvSpPr>
            <p:cNvPr id="47148" name="Rectangle 90"/>
            <p:cNvSpPr>
              <a:spLocks noChangeArrowheads="1"/>
            </p:cNvSpPr>
            <p:nvPr/>
          </p:nvSpPr>
          <p:spPr bwMode="auto">
            <a:xfrm>
              <a:off x="3505200" y="1066800"/>
              <a:ext cx="685800" cy="6096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 type="triangle" w="med" len="med"/>
            </a:ln>
          </p:spPr>
          <p:txBody>
            <a:bodyPr anchor="ctr"/>
            <a:lstStyle/>
            <a:p>
              <a:pPr algn="ctr"/>
              <a:r>
                <a:rPr lang="en-US" sz="1600" b="0">
                  <a:latin typeface="Helvetica" charset="0"/>
                </a:rPr>
                <a:t>Data</a:t>
              </a:r>
              <a:endParaRPr lang="en-US" sz="1600" b="0">
                <a:latin typeface="Helvetica" charset="0"/>
              </a:endParaRPr>
            </a:p>
          </p:txBody>
        </p:sp>
        <p:sp>
          <p:nvSpPr>
            <p:cNvPr id="92" name="Rectangle 91"/>
            <p:cNvSpPr>
              <a:spLocks noChangeArrowheads="1"/>
            </p:cNvSpPr>
            <p:nvPr/>
          </p:nvSpPr>
          <p:spPr bwMode="auto">
            <a:xfrm>
              <a:off x="0" y="914400"/>
              <a:ext cx="1295400" cy="7620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round/>
              <a:headEnd type="triangle" w="med" len="med"/>
            </a:ln>
            <a:effectLst>
              <a:outerShdw blurRad="50800" dist="38100" dir="2700000" rotWithShape="0">
                <a:srgbClr val="000000">
                  <a:alpha val="42998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sz="2000" b="0" dirty="0">
                  <a:latin typeface="Arial Narrow" panose="020B0606020202030204"/>
                  <a:ea typeface="MS PGothic" panose="020B0600070205080204" charset="-128"/>
                  <a:cs typeface="Arial Narrow" panose="020B0606020202030204"/>
                </a:rPr>
                <a:t>Application Layer </a:t>
              </a:r>
              <a:endParaRPr lang="en-US" sz="2000" b="0" dirty="0">
                <a:latin typeface="Arial Narrow" panose="020B0606020202030204"/>
                <a:ea typeface="MS PGothic" panose="020B0600070205080204" charset="-128"/>
                <a:cs typeface="Arial Narrow" panose="020B0606020202030204"/>
              </a:endParaRPr>
            </a:p>
          </p:txBody>
        </p:sp>
        <p:sp>
          <p:nvSpPr>
            <p:cNvPr id="94" name="Rectangle 93"/>
            <p:cNvSpPr>
              <a:spLocks noChangeArrowheads="1"/>
            </p:cNvSpPr>
            <p:nvPr/>
          </p:nvSpPr>
          <p:spPr bwMode="auto">
            <a:xfrm>
              <a:off x="7848600" y="914400"/>
              <a:ext cx="1295400" cy="7620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round/>
              <a:headEnd type="triangle" w="med" len="med"/>
            </a:ln>
            <a:effectLst>
              <a:outerShdw blurRad="50800" dist="38100" dir="2700000" rotWithShape="0">
                <a:srgbClr val="000000">
                  <a:alpha val="42998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sz="2000" b="0" dirty="0">
                  <a:latin typeface="Arial Narrow" panose="020B0606020202030204"/>
                  <a:ea typeface="MS PGothic" panose="020B0600070205080204" charset="-128"/>
                  <a:cs typeface="Arial Narrow" panose="020B0606020202030204"/>
                </a:rPr>
                <a:t>Application Layer </a:t>
              </a:r>
              <a:endParaRPr lang="en-US" sz="2000" b="0" dirty="0">
                <a:latin typeface="Arial Narrow" panose="020B0606020202030204"/>
                <a:ea typeface="MS PGothic" panose="020B0600070205080204" charset="-128"/>
                <a:cs typeface="Arial Narrow" panose="020B0606020202030204"/>
              </a:endParaRPr>
            </a:p>
          </p:txBody>
        </p:sp>
        <p:sp>
          <p:nvSpPr>
            <p:cNvPr id="47151" name="Rectangle 99"/>
            <p:cNvSpPr>
              <a:spLocks noChangeArrowheads="1"/>
            </p:cNvSpPr>
            <p:nvPr/>
          </p:nvSpPr>
          <p:spPr bwMode="auto">
            <a:xfrm>
              <a:off x="7010400" y="1066800"/>
              <a:ext cx="685800" cy="6096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 type="triangle" w="med" len="med"/>
            </a:ln>
          </p:spPr>
          <p:txBody>
            <a:bodyPr anchor="ctr"/>
            <a:lstStyle/>
            <a:p>
              <a:pPr algn="ctr"/>
              <a:r>
                <a:rPr lang="en-US" sz="1600" b="0">
                  <a:latin typeface="Helvetica" charset="0"/>
                </a:rPr>
                <a:t>Data</a:t>
              </a:r>
              <a:endParaRPr lang="en-US" sz="1600" b="0">
                <a:latin typeface="Helvetica" charset="0"/>
              </a:endParaRPr>
            </a:p>
          </p:txBody>
        </p:sp>
        <p:sp>
          <p:nvSpPr>
            <p:cNvPr id="47152" name="Up-Down Arrow 27"/>
            <p:cNvSpPr>
              <a:spLocks noChangeArrowheads="1"/>
            </p:cNvSpPr>
            <p:nvPr/>
          </p:nvSpPr>
          <p:spPr bwMode="auto">
            <a:xfrm>
              <a:off x="533400" y="1676400"/>
              <a:ext cx="228600" cy="381000"/>
            </a:xfrm>
            <a:prstGeom prst="upDownArrow">
              <a:avLst>
                <a:gd name="adj1" fmla="val 50000"/>
                <a:gd name="adj2" fmla="val 50000"/>
              </a:avLst>
            </a:prstGeom>
            <a:solidFill>
              <a:srgbClr val="FFFFFF"/>
            </a:solidFill>
            <a:ln w="25400">
              <a:solidFill>
                <a:schemeClr val="tx1"/>
              </a:solidFill>
              <a:round/>
              <a:headEnd type="triangle" w="med" len="med"/>
            </a:ln>
          </p:spPr>
          <p:txBody>
            <a:bodyPr anchor="ctr"/>
            <a:lstStyle/>
            <a:p>
              <a:pPr algn="ctr"/>
              <a:endParaRPr lang="en-US" b="0">
                <a:latin typeface="Helvetica" charset="0"/>
              </a:endParaRPr>
            </a:p>
          </p:txBody>
        </p:sp>
        <p:sp>
          <p:nvSpPr>
            <p:cNvPr id="47153" name="Up-Down Arrow 27"/>
            <p:cNvSpPr>
              <a:spLocks noChangeArrowheads="1"/>
            </p:cNvSpPr>
            <p:nvPr/>
          </p:nvSpPr>
          <p:spPr bwMode="auto">
            <a:xfrm>
              <a:off x="8382000" y="1676400"/>
              <a:ext cx="228600" cy="381000"/>
            </a:xfrm>
            <a:prstGeom prst="upDownArrow">
              <a:avLst>
                <a:gd name="adj1" fmla="val 50000"/>
                <a:gd name="adj2" fmla="val 50000"/>
              </a:avLst>
            </a:prstGeom>
            <a:solidFill>
              <a:srgbClr val="FFFFFF"/>
            </a:solidFill>
            <a:ln w="25400">
              <a:solidFill>
                <a:schemeClr val="tx1"/>
              </a:solidFill>
              <a:round/>
              <a:headEnd type="triangle" w="med" len="med"/>
            </a:ln>
          </p:spPr>
          <p:txBody>
            <a:bodyPr anchor="ctr"/>
            <a:lstStyle/>
            <a:p>
              <a:pPr algn="ctr"/>
              <a:endParaRPr lang="en-US" b="0">
                <a:latin typeface="Helvetica" charset="0"/>
              </a:endParaRPr>
            </a:p>
          </p:txBody>
        </p:sp>
      </p:grpSp>
      <p:sp>
        <p:nvSpPr>
          <p:cNvPr id="50" name="圆角矩形 49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610529" y="1136935"/>
            <a:ext cx="7562850" cy="1676400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panose="020B0600070205080204" charset="-128"/>
              </a:rPr>
              <a:t>Lower three layers implemented everywhere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r>
              <a:rPr lang="en-US" altLang="zh-CN" dirty="0">
                <a:latin typeface="Helvetica" charset="0"/>
                <a:ea typeface="MS PGothic" panose="020B0600070205080204" charset="-128"/>
              </a:rPr>
              <a:t>Ideally,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t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op two layers implemented only at hosts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altLang="zh-CN" dirty="0">
                <a:latin typeface="Helvetica" charset="0"/>
                <a:ea typeface="MS PGothic" panose="020B0600070205080204" charset="-128"/>
              </a:rPr>
              <a:t>But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there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are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“smart”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network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devices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nowadays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too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endParaRPr lang="en-US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>
                <a:latin typeface="Helvetica" charset="0"/>
                <a:ea typeface="MS PGothic" panose="020B0600070205080204" charset="-128"/>
              </a:rPr>
              <a:t>Five Layers Summary</a:t>
            </a:r>
            <a:endParaRPr lang="en-US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48132" name="Rectangle 4"/>
          <p:cNvSpPr>
            <a:spLocks noChangeArrowheads="1"/>
          </p:cNvSpPr>
          <p:nvPr/>
        </p:nvSpPr>
        <p:spPr bwMode="auto">
          <a:xfrm>
            <a:off x="1059791" y="2895600"/>
            <a:ext cx="1703388" cy="381000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Helvetica" charset="0"/>
            </a:endParaRPr>
          </a:p>
        </p:txBody>
      </p:sp>
      <p:sp>
        <p:nvSpPr>
          <p:cNvPr id="48133" name="Text Box 5"/>
          <p:cNvSpPr txBox="1">
            <a:spLocks noChangeArrowheads="1"/>
          </p:cNvSpPr>
          <p:nvPr/>
        </p:nvSpPr>
        <p:spPr bwMode="auto">
          <a:xfrm>
            <a:off x="1226479" y="2879727"/>
            <a:ext cx="1370012" cy="396875"/>
          </a:xfrm>
          <a:prstGeom prst="rect">
            <a:avLst/>
          </a:prstGeom>
          <a:noFill/>
          <a:ln>
            <a:noFill/>
          </a:ln>
        </p:spPr>
        <p:txBody>
          <a:bodyPr wrap="none" lIns="91430" tIns="45716" rIns="91430" bIns="45716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r>
              <a:rPr lang="en-US" sz="2000">
                <a:latin typeface="Helvetica" charset="0"/>
              </a:rPr>
              <a:t>Transport</a:t>
            </a:r>
            <a:endParaRPr lang="en-US" sz="2000">
              <a:latin typeface="Helvetica" charset="0"/>
            </a:endParaRPr>
          </a:p>
        </p:txBody>
      </p:sp>
      <p:sp>
        <p:nvSpPr>
          <p:cNvPr id="48134" name="Rectangle 6"/>
          <p:cNvSpPr>
            <a:spLocks noChangeArrowheads="1"/>
          </p:cNvSpPr>
          <p:nvPr/>
        </p:nvSpPr>
        <p:spPr bwMode="auto">
          <a:xfrm>
            <a:off x="1059791" y="3276600"/>
            <a:ext cx="1703388" cy="381000"/>
          </a:xfrm>
          <a:prstGeom prst="rect">
            <a:avLst/>
          </a:prstGeom>
          <a:solidFill>
            <a:srgbClr val="99CCF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Helvetica" charset="0"/>
            </a:endParaRPr>
          </a:p>
        </p:txBody>
      </p:sp>
      <p:sp>
        <p:nvSpPr>
          <p:cNvPr id="48135" name="Text Box 7"/>
          <p:cNvSpPr txBox="1">
            <a:spLocks noChangeArrowheads="1"/>
          </p:cNvSpPr>
          <p:nvPr/>
        </p:nvSpPr>
        <p:spPr bwMode="auto">
          <a:xfrm>
            <a:off x="1318554" y="3260727"/>
            <a:ext cx="1185862" cy="396875"/>
          </a:xfrm>
          <a:prstGeom prst="rect">
            <a:avLst/>
          </a:prstGeom>
          <a:noFill/>
          <a:ln>
            <a:noFill/>
          </a:ln>
        </p:spPr>
        <p:txBody>
          <a:bodyPr wrap="none" lIns="91430" tIns="45716" rIns="91430" bIns="45716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r>
              <a:rPr lang="en-US" sz="2000">
                <a:latin typeface="Helvetica" charset="0"/>
              </a:rPr>
              <a:t>Network</a:t>
            </a:r>
            <a:endParaRPr lang="en-US" sz="2000">
              <a:latin typeface="Helvetica" charset="0"/>
            </a:endParaRPr>
          </a:p>
        </p:txBody>
      </p:sp>
      <p:sp>
        <p:nvSpPr>
          <p:cNvPr id="48136" name="Rectangle 8"/>
          <p:cNvSpPr>
            <a:spLocks noChangeArrowheads="1"/>
          </p:cNvSpPr>
          <p:nvPr/>
        </p:nvSpPr>
        <p:spPr bwMode="auto">
          <a:xfrm>
            <a:off x="1059791" y="3657600"/>
            <a:ext cx="1703388" cy="381000"/>
          </a:xfrm>
          <a:prstGeom prst="rect">
            <a:avLst/>
          </a:prstGeom>
          <a:solidFill>
            <a:srgbClr val="99CCF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Helvetica" charset="0"/>
            </a:endParaRPr>
          </a:p>
        </p:txBody>
      </p:sp>
      <p:sp>
        <p:nvSpPr>
          <p:cNvPr id="48137" name="Text Box 9"/>
          <p:cNvSpPr txBox="1">
            <a:spLocks noChangeArrowheads="1"/>
          </p:cNvSpPr>
          <p:nvPr/>
        </p:nvSpPr>
        <p:spPr bwMode="auto">
          <a:xfrm>
            <a:off x="1324906" y="3641727"/>
            <a:ext cx="1171575" cy="396875"/>
          </a:xfrm>
          <a:prstGeom prst="rect">
            <a:avLst/>
          </a:prstGeom>
          <a:noFill/>
          <a:ln>
            <a:noFill/>
          </a:ln>
        </p:spPr>
        <p:txBody>
          <a:bodyPr wrap="none" lIns="91430" tIns="45716" rIns="91430" bIns="45716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r>
              <a:rPr lang="en-US" sz="2000">
                <a:latin typeface="Helvetica" charset="0"/>
              </a:rPr>
              <a:t>Datalink</a:t>
            </a:r>
            <a:endParaRPr lang="en-US" sz="2000">
              <a:latin typeface="Helvetica" charset="0"/>
            </a:endParaRPr>
          </a:p>
        </p:txBody>
      </p:sp>
      <p:sp>
        <p:nvSpPr>
          <p:cNvPr id="48138" name="Rectangle 10"/>
          <p:cNvSpPr>
            <a:spLocks noChangeArrowheads="1"/>
          </p:cNvSpPr>
          <p:nvPr/>
        </p:nvSpPr>
        <p:spPr bwMode="auto">
          <a:xfrm>
            <a:off x="1059791" y="4038600"/>
            <a:ext cx="1703388" cy="381000"/>
          </a:xfrm>
          <a:prstGeom prst="rect">
            <a:avLst/>
          </a:prstGeom>
          <a:solidFill>
            <a:srgbClr val="99CCF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Helvetica" charset="0"/>
            </a:endParaRPr>
          </a:p>
        </p:txBody>
      </p:sp>
      <p:sp>
        <p:nvSpPr>
          <p:cNvPr id="48139" name="Text Box 11"/>
          <p:cNvSpPr txBox="1">
            <a:spLocks noChangeArrowheads="1"/>
          </p:cNvSpPr>
          <p:nvPr/>
        </p:nvSpPr>
        <p:spPr bwMode="auto">
          <a:xfrm>
            <a:off x="1304266" y="4022727"/>
            <a:ext cx="1214438" cy="396875"/>
          </a:xfrm>
          <a:prstGeom prst="rect">
            <a:avLst/>
          </a:prstGeom>
          <a:noFill/>
          <a:ln>
            <a:noFill/>
          </a:ln>
        </p:spPr>
        <p:txBody>
          <a:bodyPr wrap="none" lIns="91430" tIns="45716" rIns="91430" bIns="45716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r>
              <a:rPr lang="en-US" sz="2000">
                <a:latin typeface="Helvetica" charset="0"/>
              </a:rPr>
              <a:t>Physical</a:t>
            </a:r>
            <a:endParaRPr lang="en-US" sz="2000">
              <a:latin typeface="Helvetica" charset="0"/>
            </a:endParaRPr>
          </a:p>
        </p:txBody>
      </p:sp>
      <p:sp>
        <p:nvSpPr>
          <p:cNvPr id="48140" name="Rectangle 12"/>
          <p:cNvSpPr>
            <a:spLocks noChangeArrowheads="1"/>
          </p:cNvSpPr>
          <p:nvPr/>
        </p:nvSpPr>
        <p:spPr bwMode="auto">
          <a:xfrm>
            <a:off x="6469991" y="2895600"/>
            <a:ext cx="1703388" cy="381000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Helvetica" charset="0"/>
            </a:endParaRPr>
          </a:p>
        </p:txBody>
      </p:sp>
      <p:sp>
        <p:nvSpPr>
          <p:cNvPr id="48141" name="Text Box 13"/>
          <p:cNvSpPr txBox="1">
            <a:spLocks noChangeArrowheads="1"/>
          </p:cNvSpPr>
          <p:nvPr/>
        </p:nvSpPr>
        <p:spPr bwMode="auto">
          <a:xfrm>
            <a:off x="6636679" y="2879727"/>
            <a:ext cx="1370012" cy="396875"/>
          </a:xfrm>
          <a:prstGeom prst="rect">
            <a:avLst/>
          </a:prstGeom>
          <a:noFill/>
          <a:ln>
            <a:noFill/>
          </a:ln>
        </p:spPr>
        <p:txBody>
          <a:bodyPr wrap="none" lIns="91430" tIns="45716" rIns="91430" bIns="45716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r>
              <a:rPr lang="en-US" sz="2000">
                <a:latin typeface="Helvetica" charset="0"/>
              </a:rPr>
              <a:t>Transport</a:t>
            </a:r>
            <a:endParaRPr lang="en-US" sz="2000">
              <a:latin typeface="Helvetica" charset="0"/>
            </a:endParaRPr>
          </a:p>
        </p:txBody>
      </p:sp>
      <p:sp>
        <p:nvSpPr>
          <p:cNvPr id="48142" name="Rectangle 14"/>
          <p:cNvSpPr>
            <a:spLocks noChangeArrowheads="1"/>
          </p:cNvSpPr>
          <p:nvPr/>
        </p:nvSpPr>
        <p:spPr bwMode="auto">
          <a:xfrm>
            <a:off x="6469991" y="3276600"/>
            <a:ext cx="1703388" cy="381000"/>
          </a:xfrm>
          <a:prstGeom prst="rect">
            <a:avLst/>
          </a:prstGeom>
          <a:solidFill>
            <a:srgbClr val="99CCF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Helvetica" charset="0"/>
            </a:endParaRPr>
          </a:p>
        </p:txBody>
      </p:sp>
      <p:sp>
        <p:nvSpPr>
          <p:cNvPr id="48143" name="Text Box 15"/>
          <p:cNvSpPr txBox="1">
            <a:spLocks noChangeArrowheads="1"/>
          </p:cNvSpPr>
          <p:nvPr/>
        </p:nvSpPr>
        <p:spPr bwMode="auto">
          <a:xfrm>
            <a:off x="6728754" y="3260727"/>
            <a:ext cx="1185862" cy="396875"/>
          </a:xfrm>
          <a:prstGeom prst="rect">
            <a:avLst/>
          </a:prstGeom>
          <a:noFill/>
          <a:ln>
            <a:noFill/>
          </a:ln>
        </p:spPr>
        <p:txBody>
          <a:bodyPr wrap="none" lIns="91430" tIns="45716" rIns="91430" bIns="45716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r>
              <a:rPr lang="en-US" sz="2000">
                <a:latin typeface="Helvetica" charset="0"/>
              </a:rPr>
              <a:t>Network</a:t>
            </a:r>
            <a:endParaRPr lang="en-US" sz="2000">
              <a:latin typeface="Helvetica" charset="0"/>
            </a:endParaRPr>
          </a:p>
        </p:txBody>
      </p:sp>
      <p:sp>
        <p:nvSpPr>
          <p:cNvPr id="48144" name="Rectangle 16"/>
          <p:cNvSpPr>
            <a:spLocks noChangeArrowheads="1"/>
          </p:cNvSpPr>
          <p:nvPr/>
        </p:nvSpPr>
        <p:spPr bwMode="auto">
          <a:xfrm>
            <a:off x="6469991" y="3657600"/>
            <a:ext cx="1703388" cy="381000"/>
          </a:xfrm>
          <a:prstGeom prst="rect">
            <a:avLst/>
          </a:prstGeom>
          <a:solidFill>
            <a:srgbClr val="99CCF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Helvetica" charset="0"/>
            </a:endParaRPr>
          </a:p>
        </p:txBody>
      </p:sp>
      <p:sp>
        <p:nvSpPr>
          <p:cNvPr id="48145" name="Text Box 17"/>
          <p:cNvSpPr txBox="1">
            <a:spLocks noChangeArrowheads="1"/>
          </p:cNvSpPr>
          <p:nvPr/>
        </p:nvSpPr>
        <p:spPr bwMode="auto">
          <a:xfrm>
            <a:off x="6735106" y="3641727"/>
            <a:ext cx="1171575" cy="396875"/>
          </a:xfrm>
          <a:prstGeom prst="rect">
            <a:avLst/>
          </a:prstGeom>
          <a:noFill/>
          <a:ln>
            <a:noFill/>
          </a:ln>
        </p:spPr>
        <p:txBody>
          <a:bodyPr wrap="none" lIns="91430" tIns="45716" rIns="91430" bIns="45716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r>
              <a:rPr lang="en-US" sz="2000">
                <a:latin typeface="Helvetica" charset="0"/>
              </a:rPr>
              <a:t>Datalink</a:t>
            </a:r>
            <a:endParaRPr lang="en-US" sz="2000">
              <a:latin typeface="Helvetica" charset="0"/>
            </a:endParaRPr>
          </a:p>
        </p:txBody>
      </p:sp>
      <p:sp>
        <p:nvSpPr>
          <p:cNvPr id="48146" name="Rectangle 18"/>
          <p:cNvSpPr>
            <a:spLocks noChangeArrowheads="1"/>
          </p:cNvSpPr>
          <p:nvPr/>
        </p:nvSpPr>
        <p:spPr bwMode="auto">
          <a:xfrm>
            <a:off x="6469991" y="4038600"/>
            <a:ext cx="1703388" cy="381000"/>
          </a:xfrm>
          <a:prstGeom prst="rect">
            <a:avLst/>
          </a:prstGeom>
          <a:solidFill>
            <a:srgbClr val="99CCF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Helvetica" charset="0"/>
            </a:endParaRPr>
          </a:p>
        </p:txBody>
      </p:sp>
      <p:sp>
        <p:nvSpPr>
          <p:cNvPr id="48147" name="Text Box 19"/>
          <p:cNvSpPr txBox="1">
            <a:spLocks noChangeArrowheads="1"/>
          </p:cNvSpPr>
          <p:nvPr/>
        </p:nvSpPr>
        <p:spPr bwMode="auto">
          <a:xfrm>
            <a:off x="6714466" y="4022727"/>
            <a:ext cx="1214438" cy="396875"/>
          </a:xfrm>
          <a:prstGeom prst="rect">
            <a:avLst/>
          </a:prstGeom>
          <a:noFill/>
          <a:ln>
            <a:noFill/>
          </a:ln>
        </p:spPr>
        <p:txBody>
          <a:bodyPr wrap="none" lIns="91430" tIns="45716" rIns="91430" bIns="45716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r>
              <a:rPr lang="en-US" sz="2000">
                <a:latin typeface="Helvetica" charset="0"/>
              </a:rPr>
              <a:t>Physical</a:t>
            </a:r>
            <a:endParaRPr lang="en-US" sz="2000">
              <a:latin typeface="Helvetica" charset="0"/>
            </a:endParaRPr>
          </a:p>
        </p:txBody>
      </p:sp>
      <p:sp>
        <p:nvSpPr>
          <p:cNvPr id="48148" name="Rectangle 20"/>
          <p:cNvSpPr>
            <a:spLocks noChangeArrowheads="1"/>
          </p:cNvSpPr>
          <p:nvPr/>
        </p:nvSpPr>
        <p:spPr bwMode="auto">
          <a:xfrm>
            <a:off x="3699806" y="3276600"/>
            <a:ext cx="1703387" cy="381000"/>
          </a:xfrm>
          <a:prstGeom prst="rect">
            <a:avLst/>
          </a:prstGeom>
          <a:solidFill>
            <a:srgbClr val="99CCF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Helvetica" charset="0"/>
            </a:endParaRPr>
          </a:p>
        </p:txBody>
      </p:sp>
      <p:sp>
        <p:nvSpPr>
          <p:cNvPr id="48149" name="Text Box 21"/>
          <p:cNvSpPr txBox="1">
            <a:spLocks noChangeArrowheads="1"/>
          </p:cNvSpPr>
          <p:nvPr/>
        </p:nvSpPr>
        <p:spPr bwMode="auto">
          <a:xfrm>
            <a:off x="3958568" y="3260727"/>
            <a:ext cx="1185863" cy="396875"/>
          </a:xfrm>
          <a:prstGeom prst="rect">
            <a:avLst/>
          </a:prstGeom>
          <a:noFill/>
          <a:ln>
            <a:noFill/>
          </a:ln>
        </p:spPr>
        <p:txBody>
          <a:bodyPr wrap="none" lIns="91430" tIns="45716" rIns="91430" bIns="45716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r>
              <a:rPr lang="en-US" sz="2000">
                <a:latin typeface="Helvetica" charset="0"/>
              </a:rPr>
              <a:t>Network</a:t>
            </a:r>
            <a:endParaRPr lang="en-US" sz="2000">
              <a:latin typeface="Helvetica" charset="0"/>
            </a:endParaRPr>
          </a:p>
        </p:txBody>
      </p:sp>
      <p:sp>
        <p:nvSpPr>
          <p:cNvPr id="48150" name="Rectangle 22"/>
          <p:cNvSpPr>
            <a:spLocks noChangeArrowheads="1"/>
          </p:cNvSpPr>
          <p:nvPr/>
        </p:nvSpPr>
        <p:spPr bwMode="auto">
          <a:xfrm>
            <a:off x="3699806" y="3657600"/>
            <a:ext cx="1703387" cy="381000"/>
          </a:xfrm>
          <a:prstGeom prst="rect">
            <a:avLst/>
          </a:prstGeom>
          <a:solidFill>
            <a:srgbClr val="99CCF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Helvetica" charset="0"/>
            </a:endParaRPr>
          </a:p>
        </p:txBody>
      </p:sp>
      <p:sp>
        <p:nvSpPr>
          <p:cNvPr id="48151" name="Text Box 23"/>
          <p:cNvSpPr txBox="1">
            <a:spLocks noChangeArrowheads="1"/>
          </p:cNvSpPr>
          <p:nvPr/>
        </p:nvSpPr>
        <p:spPr bwMode="auto">
          <a:xfrm>
            <a:off x="3964918" y="3641727"/>
            <a:ext cx="1171575" cy="396875"/>
          </a:xfrm>
          <a:prstGeom prst="rect">
            <a:avLst/>
          </a:prstGeom>
          <a:noFill/>
          <a:ln>
            <a:noFill/>
          </a:ln>
        </p:spPr>
        <p:txBody>
          <a:bodyPr wrap="none" lIns="91430" tIns="45716" rIns="91430" bIns="45716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r>
              <a:rPr lang="en-US" sz="2000">
                <a:latin typeface="Helvetica" charset="0"/>
              </a:rPr>
              <a:t>Datalink</a:t>
            </a:r>
            <a:endParaRPr lang="en-US" sz="2000">
              <a:latin typeface="Helvetica" charset="0"/>
            </a:endParaRPr>
          </a:p>
        </p:txBody>
      </p:sp>
      <p:sp>
        <p:nvSpPr>
          <p:cNvPr id="48152" name="Rectangle 24"/>
          <p:cNvSpPr>
            <a:spLocks noChangeArrowheads="1"/>
          </p:cNvSpPr>
          <p:nvPr/>
        </p:nvSpPr>
        <p:spPr bwMode="auto">
          <a:xfrm>
            <a:off x="3699806" y="4038600"/>
            <a:ext cx="1703387" cy="381000"/>
          </a:xfrm>
          <a:prstGeom prst="rect">
            <a:avLst/>
          </a:prstGeom>
          <a:solidFill>
            <a:srgbClr val="99CCF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>
              <a:latin typeface="Helvetica" charset="0"/>
            </a:endParaRPr>
          </a:p>
        </p:txBody>
      </p:sp>
      <p:sp>
        <p:nvSpPr>
          <p:cNvPr id="48153" name="Text Box 25"/>
          <p:cNvSpPr txBox="1">
            <a:spLocks noChangeArrowheads="1"/>
          </p:cNvSpPr>
          <p:nvPr/>
        </p:nvSpPr>
        <p:spPr bwMode="auto">
          <a:xfrm>
            <a:off x="3944281" y="4022727"/>
            <a:ext cx="1214437" cy="396875"/>
          </a:xfrm>
          <a:prstGeom prst="rect">
            <a:avLst/>
          </a:prstGeom>
          <a:noFill/>
          <a:ln>
            <a:noFill/>
          </a:ln>
        </p:spPr>
        <p:txBody>
          <a:bodyPr wrap="none" lIns="91430" tIns="45716" rIns="91430" bIns="45716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r>
              <a:rPr lang="en-US" sz="2000">
                <a:latin typeface="Helvetica" charset="0"/>
              </a:rPr>
              <a:t>Physical</a:t>
            </a:r>
            <a:endParaRPr lang="en-US" sz="2000">
              <a:latin typeface="Helvetica" charset="0"/>
            </a:endParaRPr>
          </a:p>
        </p:txBody>
      </p:sp>
      <p:cxnSp>
        <p:nvCxnSpPr>
          <p:cNvPr id="48154" name="AutoShape 26"/>
          <p:cNvCxnSpPr>
            <a:cxnSpLocks noChangeShapeType="1"/>
            <a:stCxn id="48138" idx="3"/>
            <a:endCxn id="48152" idx="1"/>
          </p:cNvCxnSpPr>
          <p:nvPr/>
        </p:nvCxnSpPr>
        <p:spPr bwMode="auto">
          <a:xfrm>
            <a:off x="2775881" y="42291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</p:spPr>
      </p:cxnSp>
      <p:cxnSp>
        <p:nvCxnSpPr>
          <p:cNvPr id="48155" name="AutoShape 27"/>
          <p:cNvCxnSpPr>
            <a:cxnSpLocks noChangeShapeType="1"/>
            <a:stCxn id="48136" idx="3"/>
            <a:endCxn id="48150" idx="1"/>
          </p:cNvCxnSpPr>
          <p:nvPr/>
        </p:nvCxnSpPr>
        <p:spPr bwMode="auto">
          <a:xfrm>
            <a:off x="2775881" y="38481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</p:spPr>
      </p:cxnSp>
      <p:cxnSp>
        <p:nvCxnSpPr>
          <p:cNvPr id="48156" name="AutoShape 28"/>
          <p:cNvCxnSpPr>
            <a:cxnSpLocks noChangeShapeType="1"/>
            <a:stCxn id="48134" idx="3"/>
            <a:endCxn id="48148" idx="1"/>
          </p:cNvCxnSpPr>
          <p:nvPr/>
        </p:nvCxnSpPr>
        <p:spPr bwMode="auto">
          <a:xfrm>
            <a:off x="2775881" y="34671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</p:spPr>
      </p:cxnSp>
      <p:cxnSp>
        <p:nvCxnSpPr>
          <p:cNvPr id="48157" name="AutoShape 29"/>
          <p:cNvCxnSpPr>
            <a:cxnSpLocks noChangeShapeType="1"/>
            <a:stCxn id="48152" idx="3"/>
            <a:endCxn id="48146" idx="1"/>
          </p:cNvCxnSpPr>
          <p:nvPr/>
        </p:nvCxnSpPr>
        <p:spPr bwMode="auto">
          <a:xfrm>
            <a:off x="5415891" y="42291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</p:spPr>
      </p:cxnSp>
      <p:cxnSp>
        <p:nvCxnSpPr>
          <p:cNvPr id="48158" name="AutoShape 30"/>
          <p:cNvCxnSpPr>
            <a:cxnSpLocks noChangeShapeType="1"/>
            <a:stCxn id="48150" idx="3"/>
            <a:endCxn id="48144" idx="1"/>
          </p:cNvCxnSpPr>
          <p:nvPr/>
        </p:nvCxnSpPr>
        <p:spPr bwMode="auto">
          <a:xfrm>
            <a:off x="5415891" y="38481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</p:spPr>
      </p:cxnSp>
      <p:cxnSp>
        <p:nvCxnSpPr>
          <p:cNvPr id="48159" name="AutoShape 31"/>
          <p:cNvCxnSpPr>
            <a:cxnSpLocks noChangeShapeType="1"/>
            <a:stCxn id="48148" idx="3"/>
            <a:endCxn id="48142" idx="1"/>
          </p:cNvCxnSpPr>
          <p:nvPr/>
        </p:nvCxnSpPr>
        <p:spPr bwMode="auto">
          <a:xfrm>
            <a:off x="5415891" y="34671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</p:spPr>
      </p:cxnSp>
      <p:cxnSp>
        <p:nvCxnSpPr>
          <p:cNvPr id="48160" name="AutoShape 32"/>
          <p:cNvCxnSpPr>
            <a:cxnSpLocks noChangeShapeType="1"/>
            <a:stCxn id="48132" idx="3"/>
            <a:endCxn id="48140" idx="1"/>
          </p:cNvCxnSpPr>
          <p:nvPr/>
        </p:nvCxnSpPr>
        <p:spPr bwMode="auto">
          <a:xfrm>
            <a:off x="2775879" y="3086100"/>
            <a:ext cx="36814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</p:spPr>
      </p:cxnSp>
      <p:grpSp>
        <p:nvGrpSpPr>
          <p:cNvPr id="48161" name="Group 33"/>
          <p:cNvGrpSpPr/>
          <p:nvPr/>
        </p:nvGrpSpPr>
        <p:grpSpPr bwMode="auto">
          <a:xfrm>
            <a:off x="1059791" y="2514602"/>
            <a:ext cx="7113588" cy="396875"/>
            <a:chOff x="647" y="2280"/>
            <a:chExt cx="4481" cy="250"/>
          </a:xfrm>
        </p:grpSpPr>
        <p:sp>
          <p:nvSpPr>
            <p:cNvPr id="48165" name="Rectangle 34"/>
            <p:cNvSpPr>
              <a:spLocks noChangeArrowheads="1"/>
            </p:cNvSpPr>
            <p:nvPr/>
          </p:nvSpPr>
          <p:spPr bwMode="auto">
            <a:xfrm>
              <a:off x="647" y="2280"/>
              <a:ext cx="1073" cy="240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en-US">
                <a:latin typeface="Helvetica" charset="0"/>
              </a:endParaRPr>
            </a:p>
          </p:txBody>
        </p:sp>
        <p:sp>
          <p:nvSpPr>
            <p:cNvPr id="48166" name="Text Box 35"/>
            <p:cNvSpPr txBox="1">
              <a:spLocks noChangeArrowheads="1"/>
            </p:cNvSpPr>
            <p:nvPr/>
          </p:nvSpPr>
          <p:spPr bwMode="auto">
            <a:xfrm>
              <a:off x="695" y="2280"/>
              <a:ext cx="987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9pPr>
            </a:lstStyle>
            <a:p>
              <a:r>
                <a:rPr lang="en-US" sz="2000">
                  <a:latin typeface="Helvetica" charset="0"/>
                </a:rPr>
                <a:t>Application</a:t>
              </a:r>
              <a:endParaRPr lang="en-US" sz="2000">
                <a:latin typeface="Helvetica" charset="0"/>
              </a:endParaRPr>
            </a:p>
          </p:txBody>
        </p:sp>
        <p:sp>
          <p:nvSpPr>
            <p:cNvPr id="48167" name="Rectangle 36"/>
            <p:cNvSpPr>
              <a:spLocks noChangeArrowheads="1"/>
            </p:cNvSpPr>
            <p:nvPr/>
          </p:nvSpPr>
          <p:spPr bwMode="auto">
            <a:xfrm>
              <a:off x="4055" y="2280"/>
              <a:ext cx="1073" cy="240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en-US">
                <a:latin typeface="Helvetica" charset="0"/>
              </a:endParaRPr>
            </a:p>
          </p:txBody>
        </p:sp>
        <p:sp>
          <p:nvSpPr>
            <p:cNvPr id="48168" name="Text Box 37"/>
            <p:cNvSpPr txBox="1">
              <a:spLocks noChangeArrowheads="1"/>
            </p:cNvSpPr>
            <p:nvPr/>
          </p:nvSpPr>
          <p:spPr bwMode="auto">
            <a:xfrm>
              <a:off x="4076" y="2280"/>
              <a:ext cx="987" cy="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9pPr>
            </a:lstStyle>
            <a:p>
              <a:r>
                <a:rPr lang="en-US" sz="2000">
                  <a:latin typeface="Helvetica" charset="0"/>
                </a:rPr>
                <a:t>Application</a:t>
              </a:r>
              <a:endParaRPr lang="en-US" sz="2000">
                <a:latin typeface="Helvetica" charset="0"/>
              </a:endParaRPr>
            </a:p>
          </p:txBody>
        </p:sp>
        <p:cxnSp>
          <p:nvCxnSpPr>
            <p:cNvPr id="48169" name="AutoShape 38"/>
            <p:cNvCxnSpPr>
              <a:cxnSpLocks noChangeShapeType="1"/>
              <a:stCxn id="48165" idx="3"/>
              <a:endCxn id="48168" idx="1"/>
            </p:cNvCxnSpPr>
            <p:nvPr/>
          </p:nvCxnSpPr>
          <p:spPr bwMode="auto">
            <a:xfrm>
              <a:off x="1728" y="2400"/>
              <a:ext cx="2348" cy="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48162" name="Text Box 39"/>
          <p:cNvSpPr txBox="1">
            <a:spLocks noChangeArrowheads="1"/>
          </p:cNvSpPr>
          <p:nvPr/>
        </p:nvSpPr>
        <p:spPr bwMode="auto">
          <a:xfrm>
            <a:off x="1409041" y="4572002"/>
            <a:ext cx="1003300" cy="396875"/>
          </a:xfrm>
          <a:prstGeom prst="rect">
            <a:avLst/>
          </a:prstGeom>
          <a:noFill/>
          <a:ln>
            <a:noFill/>
          </a:ln>
        </p:spPr>
        <p:txBody>
          <a:bodyPr wrap="none" lIns="90343" tIns="44379" rIns="90343" bIns="44379">
            <a:spAutoFit/>
          </a:bodyPr>
          <a:lstStyle>
            <a:lvl1pPr defTabSz="91313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defTabSz="91313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defTabSz="91313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defTabSz="91313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defTabSz="91313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algn="ctr"/>
            <a:r>
              <a:rPr lang="en-US" sz="2000">
                <a:solidFill>
                  <a:srgbClr val="FF3300"/>
                </a:solidFill>
                <a:latin typeface="Helvetica" charset="0"/>
              </a:rPr>
              <a:t>Host A</a:t>
            </a:r>
            <a:endParaRPr lang="en-US" sz="2000">
              <a:solidFill>
                <a:srgbClr val="FF3300"/>
              </a:solidFill>
              <a:latin typeface="Helvetica" charset="0"/>
            </a:endParaRPr>
          </a:p>
        </p:txBody>
      </p:sp>
      <p:sp>
        <p:nvSpPr>
          <p:cNvPr id="48163" name="Text Box 40"/>
          <p:cNvSpPr txBox="1">
            <a:spLocks noChangeArrowheads="1"/>
          </p:cNvSpPr>
          <p:nvPr/>
        </p:nvSpPr>
        <p:spPr bwMode="auto">
          <a:xfrm>
            <a:off x="6817654" y="4572002"/>
            <a:ext cx="1009650" cy="396875"/>
          </a:xfrm>
          <a:prstGeom prst="rect">
            <a:avLst/>
          </a:prstGeom>
          <a:noFill/>
          <a:ln>
            <a:noFill/>
          </a:ln>
        </p:spPr>
        <p:txBody>
          <a:bodyPr wrap="none" lIns="90343" tIns="44379" rIns="90343" bIns="44379">
            <a:spAutoFit/>
          </a:bodyPr>
          <a:lstStyle>
            <a:lvl1pPr defTabSz="91313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defTabSz="91313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defTabSz="91313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defTabSz="91313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defTabSz="91313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algn="ctr"/>
            <a:r>
              <a:rPr lang="en-US" sz="2000">
                <a:solidFill>
                  <a:srgbClr val="FF3300"/>
                </a:solidFill>
                <a:latin typeface="Helvetica" charset="0"/>
              </a:rPr>
              <a:t>Host B</a:t>
            </a:r>
            <a:endParaRPr lang="en-US" sz="2000">
              <a:solidFill>
                <a:srgbClr val="FF3300"/>
              </a:solidFill>
              <a:latin typeface="Helvetica" charset="0"/>
            </a:endParaRPr>
          </a:p>
        </p:txBody>
      </p:sp>
      <p:sp>
        <p:nvSpPr>
          <p:cNvPr id="48164" name="Text Box 41"/>
          <p:cNvSpPr txBox="1">
            <a:spLocks noChangeArrowheads="1"/>
          </p:cNvSpPr>
          <p:nvPr/>
        </p:nvSpPr>
        <p:spPr bwMode="auto">
          <a:xfrm>
            <a:off x="4045879" y="4572002"/>
            <a:ext cx="1009650" cy="396875"/>
          </a:xfrm>
          <a:prstGeom prst="rect">
            <a:avLst/>
          </a:prstGeom>
          <a:noFill/>
          <a:ln>
            <a:noFill/>
          </a:ln>
        </p:spPr>
        <p:txBody>
          <a:bodyPr wrap="none" lIns="90343" tIns="44379" rIns="90343" bIns="44379">
            <a:spAutoFit/>
          </a:bodyPr>
          <a:lstStyle>
            <a:lvl1pPr defTabSz="91313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defTabSz="91313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defTabSz="91313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defTabSz="91313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defTabSz="91313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algn="ctr"/>
            <a:r>
              <a:rPr lang="en-US" sz="2000">
                <a:solidFill>
                  <a:srgbClr val="FF3300"/>
                </a:solidFill>
                <a:latin typeface="Helvetica" charset="0"/>
              </a:rPr>
              <a:t>Router</a:t>
            </a:r>
            <a:endParaRPr lang="en-US" sz="2000">
              <a:solidFill>
                <a:srgbClr val="FF3300"/>
              </a:solidFill>
              <a:latin typeface="Helvetica" charset="0"/>
            </a:endParaRPr>
          </a:p>
        </p:txBody>
      </p:sp>
      <p:sp>
        <p:nvSpPr>
          <p:cNvPr id="42" name="圆角矩形 41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  <p:sp>
        <p:nvSpPr>
          <p:cNvPr id="3" name="Freeform 42"/>
          <p:cNvSpPr/>
          <p:nvPr/>
        </p:nvSpPr>
        <p:spPr bwMode="auto">
          <a:xfrm>
            <a:off x="2431393" y="2514600"/>
            <a:ext cx="4422775" cy="1670050"/>
          </a:xfrm>
          <a:custGeom>
            <a:avLst/>
            <a:gdLst>
              <a:gd name="T0" fmla="*/ 0 w 2352"/>
              <a:gd name="T1" fmla="*/ 0 h 1968"/>
              <a:gd name="T2" fmla="*/ 0 w 2352"/>
              <a:gd name="T3" fmla="*/ 2147483647 h 1968"/>
              <a:gd name="T4" fmla="*/ 2147483647 w 2352"/>
              <a:gd name="T5" fmla="*/ 2147483647 h 1968"/>
              <a:gd name="T6" fmla="*/ 2147483647 w 2352"/>
              <a:gd name="T7" fmla="*/ 2147483647 h 1968"/>
              <a:gd name="T8" fmla="*/ 2147483647 w 2352"/>
              <a:gd name="T9" fmla="*/ 2147483647 h 1968"/>
              <a:gd name="T10" fmla="*/ 2147483647 w 2352"/>
              <a:gd name="T11" fmla="*/ 2147483647 h 1968"/>
              <a:gd name="T12" fmla="*/ 2147483647 w 2352"/>
              <a:gd name="T13" fmla="*/ 2147483647 h 1968"/>
              <a:gd name="T14" fmla="*/ 2147483647 w 2352"/>
              <a:gd name="T15" fmla="*/ 2147483647 h 1968"/>
              <a:gd name="T16" fmla="*/ 2147483647 w 2352"/>
              <a:gd name="T17" fmla="*/ 2147483647 h 1968"/>
              <a:gd name="T18" fmla="*/ 2147483647 w 2352"/>
              <a:gd name="T19" fmla="*/ 0 h 196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352"/>
              <a:gd name="T31" fmla="*/ 0 h 1968"/>
              <a:gd name="T32" fmla="*/ 2352 w 2352"/>
              <a:gd name="T33" fmla="*/ 1968 h 196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352" h="1968">
                <a:moveTo>
                  <a:pt x="0" y="0"/>
                </a:moveTo>
                <a:lnTo>
                  <a:pt x="0" y="1824"/>
                </a:lnTo>
                <a:lnTo>
                  <a:pt x="96" y="1968"/>
                </a:lnTo>
                <a:lnTo>
                  <a:pt x="864" y="1968"/>
                </a:lnTo>
                <a:lnTo>
                  <a:pt x="864" y="1200"/>
                </a:lnTo>
                <a:lnTo>
                  <a:pt x="1488" y="1200"/>
                </a:lnTo>
                <a:lnTo>
                  <a:pt x="1488" y="1968"/>
                </a:lnTo>
                <a:lnTo>
                  <a:pt x="2256" y="1968"/>
                </a:lnTo>
                <a:lnTo>
                  <a:pt x="2352" y="1824"/>
                </a:lnTo>
                <a:lnTo>
                  <a:pt x="2352" y="0"/>
                </a:lnTo>
              </a:path>
            </a:pathLst>
          </a:custGeom>
          <a:noFill/>
          <a:ln w="50800">
            <a:solidFill>
              <a:srgbClr val="FF0000"/>
            </a:solidFill>
            <a:round/>
            <a:tailEnd type="triangle" w="med" len="med"/>
          </a:ln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990600" y="5185703"/>
            <a:ext cx="7562850" cy="16764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478" tIns="44445" rIns="90478" bIns="44445" numCol="1" anchor="t" anchorCtr="0" compatLnSpc="1"/>
          <a:lstStyle>
            <a:lvl1pPr marL="285750" indent="-285750" algn="l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Helvetica"/>
                <a:ea typeface="MS PGothic" panose="020B0600070205080204" charset="-128"/>
                <a:cs typeface="MS PGothic" panose="020B0600070205080204" charset="-128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Helvetica"/>
                <a:ea typeface="MS PGothic" panose="020B0600070205080204" charset="-128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Helvetica"/>
                <a:ea typeface="MS PGothic" panose="020B0600070205080204" charset="-128"/>
              </a:defRPr>
            </a:lvl3pPr>
            <a:lvl4pPr marL="1543050" indent="-171450" algn="l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Helvetica"/>
                <a:ea typeface="MS PGothic" panose="020B0600070205080204" charset="-128"/>
              </a:defRPr>
            </a:lvl4pPr>
            <a:lvl5pPr marL="2000250" indent="-171450" algn="l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Helvetica"/>
                <a:ea typeface="MS PGothic" panose="020B0600070205080204" charset="-128"/>
              </a:defRPr>
            </a:lvl5pPr>
            <a:lvl6pPr marL="2457450" indent="-171450" algn="l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  <a:ea typeface="MS PGothic" panose="020B0600070205080204" charset="-128"/>
              </a:defRPr>
            </a:lvl6pPr>
            <a:lvl7pPr marL="2914650" indent="-171450" algn="l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  <a:ea typeface="MS PGothic" panose="020B0600070205080204" charset="-128"/>
              </a:defRPr>
            </a:lvl7pPr>
            <a:lvl8pPr marL="3371850" indent="-171450" algn="l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  <a:ea typeface="MS PGothic" panose="020B0600070205080204" charset="-128"/>
              </a:defRPr>
            </a:lvl8pPr>
            <a:lvl9pPr marL="3829050" indent="-171450" algn="l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  <a:ea typeface="MS PGothic" panose="020B0600070205080204" charset="-128"/>
              </a:defRPr>
            </a:lvl9pPr>
          </a:lstStyle>
          <a:p>
            <a:r>
              <a:rPr lang="en-US" b="0" kern="0">
                <a:latin typeface="Helvetica" charset="0"/>
                <a:ea typeface="MS PGothic" panose="020B0600070205080204" charset="-128"/>
              </a:rPr>
              <a:t>Communication goes down to physical network</a:t>
            </a:r>
            <a:endParaRPr lang="en-US" b="0" kern="0">
              <a:latin typeface="Helvetica" charset="0"/>
              <a:ea typeface="MS PGothic" panose="020B0600070205080204" charset="-128"/>
            </a:endParaRPr>
          </a:p>
          <a:p>
            <a:r>
              <a:rPr lang="en-US" b="0" kern="0">
                <a:latin typeface="Helvetica" charset="0"/>
                <a:ea typeface="MS PGothic" panose="020B0600070205080204" charset="-128"/>
              </a:rPr>
              <a:t>Then from network peer to peer</a:t>
            </a:r>
            <a:endParaRPr lang="en-US" b="0" kern="0">
              <a:latin typeface="Helvetica" charset="0"/>
              <a:ea typeface="MS PGothic" panose="020B0600070205080204" charset="-128"/>
            </a:endParaRPr>
          </a:p>
          <a:p>
            <a:r>
              <a:rPr lang="en-US" b="0" kern="0">
                <a:latin typeface="Helvetica" charset="0"/>
                <a:ea typeface="MS PGothic" panose="020B0600070205080204" charset="-128"/>
              </a:rPr>
              <a:t>Then up to relevant layer</a:t>
            </a:r>
            <a:endParaRPr lang="en-US" b="0" kern="0" dirty="0">
              <a:latin typeface="Helvetica" charset="0"/>
              <a:ea typeface="MS PGothic" panose="020B0600070205080204" charset="-128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506" name="Rectangle 2"/>
          <p:cNvSpPr>
            <a:spLocks noChangeArrowheads="1"/>
          </p:cNvSpPr>
          <p:nvPr/>
        </p:nvSpPr>
        <p:spPr bwMode="auto">
          <a:xfrm>
            <a:off x="533400" y="990600"/>
            <a:ext cx="8077200" cy="4343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latin typeface="Helvetica"/>
              <a:ea typeface="MS PGothic" panose="020B0600070205080204" charset="-128"/>
              <a:cs typeface="Helvetica"/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title"/>
          </p:nvPr>
        </p:nvSpPr>
        <p:spPr>
          <a:xfrm>
            <a:off x="471488" y="66675"/>
            <a:ext cx="7453312" cy="1143000"/>
          </a:xfrm>
        </p:spPr>
        <p:txBody>
          <a:bodyPr vert="horz" wrap="square" lIns="90452" tIns="44434" rIns="90452" bIns="44434" numCol="1" anchor="ctr" anchorCtr="0" compatLnSpc="1"/>
          <a:lstStyle/>
          <a:p>
            <a:r>
              <a:rPr lang="en-US">
                <a:latin typeface="Helvetica" charset="0"/>
                <a:ea typeface="MS PGothic" panose="020B0600070205080204" charset="-128"/>
              </a:rPr>
              <a:t>The Internet </a:t>
            </a:r>
            <a:r>
              <a:rPr lang="en-US" i="1">
                <a:latin typeface="Helvetica" charset="0"/>
                <a:ea typeface="MS PGothic" panose="020B0600070205080204" charset="-128"/>
              </a:rPr>
              <a:t>Hourglass</a:t>
            </a:r>
            <a:endParaRPr lang="en-US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0180" name="Line 4"/>
          <p:cNvSpPr>
            <a:spLocks noChangeShapeType="1"/>
          </p:cNvSpPr>
          <p:nvPr/>
        </p:nvSpPr>
        <p:spPr bwMode="auto">
          <a:xfrm>
            <a:off x="2971800" y="3429000"/>
            <a:ext cx="281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81" name="Arc 5"/>
          <p:cNvSpPr/>
          <p:nvPr/>
        </p:nvSpPr>
        <p:spPr bwMode="auto">
          <a:xfrm>
            <a:off x="6553200" y="3386138"/>
            <a:ext cx="1181100" cy="13462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lnTo>
                  <a:pt x="0" y="-1"/>
                </a:lnTo>
                <a:close/>
              </a:path>
            </a:pathLst>
          </a:custGeom>
          <a:solidFill>
            <a:srgbClr val="FF6600"/>
          </a:solidFill>
          <a:ln w="76200" cap="rnd">
            <a:solidFill>
              <a:schemeClr val="accent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82" name="Arc 6"/>
          <p:cNvSpPr/>
          <p:nvPr/>
        </p:nvSpPr>
        <p:spPr bwMode="auto">
          <a:xfrm>
            <a:off x="5373688" y="3386138"/>
            <a:ext cx="1181100" cy="1346200"/>
          </a:xfrm>
          <a:custGeom>
            <a:avLst/>
            <a:gdLst>
              <a:gd name="T0" fmla="*/ 0 w 21600"/>
              <a:gd name="T1" fmla="*/ 2147483647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21599"/>
                </a:moveTo>
                <a:cubicBezTo>
                  <a:pt x="-1" y="9681"/>
                  <a:pt x="9652" y="16"/>
                  <a:pt x="21571" y="0"/>
                </a:cubicBezTo>
              </a:path>
              <a:path w="21600" h="21600" stroke="0" extrusionOk="0">
                <a:moveTo>
                  <a:pt x="-1" y="21599"/>
                </a:moveTo>
                <a:cubicBezTo>
                  <a:pt x="-1" y="9681"/>
                  <a:pt x="9652" y="16"/>
                  <a:pt x="21571" y="0"/>
                </a:cubicBezTo>
                <a:lnTo>
                  <a:pt x="21600" y="21600"/>
                </a:lnTo>
                <a:lnTo>
                  <a:pt x="-1" y="21599"/>
                </a:lnTo>
                <a:close/>
              </a:path>
            </a:pathLst>
          </a:custGeom>
          <a:solidFill>
            <a:srgbClr val="FF6600"/>
          </a:solidFill>
          <a:ln w="76200" cap="rnd">
            <a:solidFill>
              <a:schemeClr val="accent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83" name="Arc 7"/>
          <p:cNvSpPr/>
          <p:nvPr/>
        </p:nvSpPr>
        <p:spPr bwMode="auto">
          <a:xfrm rot="10800000">
            <a:off x="6543677" y="1600200"/>
            <a:ext cx="1230313" cy="1677988"/>
          </a:xfrm>
          <a:custGeom>
            <a:avLst/>
            <a:gdLst>
              <a:gd name="T0" fmla="*/ 0 w 21600"/>
              <a:gd name="T1" fmla="*/ 2147483647 h 21600"/>
              <a:gd name="T2" fmla="*/ 2147483647 w 21600"/>
              <a:gd name="T3" fmla="*/ 0 h 21600"/>
              <a:gd name="T4" fmla="*/ 2147483647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21599"/>
                </a:moveTo>
                <a:cubicBezTo>
                  <a:pt x="-1" y="9681"/>
                  <a:pt x="9652" y="16"/>
                  <a:pt x="21571" y="0"/>
                </a:cubicBezTo>
              </a:path>
              <a:path w="21600" h="21600" stroke="0" extrusionOk="0">
                <a:moveTo>
                  <a:pt x="-1" y="21599"/>
                </a:moveTo>
                <a:cubicBezTo>
                  <a:pt x="-1" y="9681"/>
                  <a:pt x="9652" y="16"/>
                  <a:pt x="21571" y="0"/>
                </a:cubicBezTo>
                <a:lnTo>
                  <a:pt x="21600" y="21600"/>
                </a:lnTo>
                <a:lnTo>
                  <a:pt x="-1" y="21599"/>
                </a:lnTo>
                <a:close/>
              </a:path>
            </a:pathLst>
          </a:custGeom>
          <a:solidFill>
            <a:srgbClr val="FF6600"/>
          </a:solidFill>
          <a:ln w="76200" cap="rnd">
            <a:solidFill>
              <a:schemeClr val="accent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84" name="Arc 8"/>
          <p:cNvSpPr/>
          <p:nvPr/>
        </p:nvSpPr>
        <p:spPr bwMode="auto">
          <a:xfrm rot="10800000">
            <a:off x="5334002" y="1600200"/>
            <a:ext cx="1209675" cy="1677988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lnTo>
                  <a:pt x="0" y="-1"/>
                </a:lnTo>
                <a:close/>
              </a:path>
            </a:pathLst>
          </a:custGeom>
          <a:solidFill>
            <a:srgbClr val="FF6600"/>
          </a:solidFill>
          <a:ln w="76200" cap="rnd">
            <a:solidFill>
              <a:schemeClr val="accent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85" name="Line 9"/>
          <p:cNvSpPr>
            <a:spLocks noChangeShapeType="1"/>
          </p:cNvSpPr>
          <p:nvPr/>
        </p:nvSpPr>
        <p:spPr bwMode="auto">
          <a:xfrm flipV="1">
            <a:off x="5326065" y="1600200"/>
            <a:ext cx="2435225" cy="0"/>
          </a:xfrm>
          <a:prstGeom prst="line">
            <a:avLst/>
          </a:prstGeom>
          <a:noFill/>
          <a:ln w="76200">
            <a:solidFill>
              <a:schemeClr val="accent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86" name="Line 10"/>
          <p:cNvSpPr>
            <a:spLocks noChangeShapeType="1"/>
          </p:cNvSpPr>
          <p:nvPr/>
        </p:nvSpPr>
        <p:spPr bwMode="auto">
          <a:xfrm flipV="1">
            <a:off x="5326065" y="4719638"/>
            <a:ext cx="2359025" cy="0"/>
          </a:xfrm>
          <a:prstGeom prst="line">
            <a:avLst/>
          </a:prstGeom>
          <a:noFill/>
          <a:ln w="76200">
            <a:solidFill>
              <a:schemeClr val="accent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87" name="Rectangle 11"/>
          <p:cNvSpPr>
            <a:spLocks noChangeArrowheads="1"/>
          </p:cNvSpPr>
          <p:nvPr/>
        </p:nvSpPr>
        <p:spPr bwMode="auto">
          <a:xfrm>
            <a:off x="6400800" y="3203575"/>
            <a:ext cx="304800" cy="217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/>
          <a:p>
            <a:endParaRPr lang="en-US">
              <a:latin typeface="Helvetica" charset="0"/>
            </a:endParaRPr>
          </a:p>
        </p:txBody>
      </p:sp>
      <p:sp>
        <p:nvSpPr>
          <p:cNvPr id="50188" name="Rectangle 12"/>
          <p:cNvSpPr>
            <a:spLocks noChangeArrowheads="1"/>
          </p:cNvSpPr>
          <p:nvPr/>
        </p:nvSpPr>
        <p:spPr bwMode="auto">
          <a:xfrm>
            <a:off x="5954714" y="3763965"/>
            <a:ext cx="1221417" cy="366735"/>
          </a:xfrm>
          <a:prstGeom prst="rect">
            <a:avLst/>
          </a:prstGeom>
          <a:noFill/>
          <a:ln>
            <a:noFill/>
          </a:ln>
        </p:spPr>
        <p:txBody>
          <a:bodyPr wrap="none" lIns="90452" tIns="44434" rIns="90452" bIns="44434">
            <a:spAutoFit/>
          </a:bodyPr>
          <a:lstStyle/>
          <a:p>
            <a:pPr eaLnBrk="0" hangingPunct="0"/>
            <a:r>
              <a:rPr lang="en-US">
                <a:latin typeface="Helvetica" charset="0"/>
              </a:rPr>
              <a:t>Data Link</a:t>
            </a:r>
            <a:endParaRPr lang="en-US">
              <a:latin typeface="Helvetica" charset="0"/>
            </a:endParaRPr>
          </a:p>
        </p:txBody>
      </p:sp>
      <p:sp>
        <p:nvSpPr>
          <p:cNvPr id="50189" name="Rectangle 13"/>
          <p:cNvSpPr>
            <a:spLocks noChangeArrowheads="1"/>
          </p:cNvSpPr>
          <p:nvPr/>
        </p:nvSpPr>
        <p:spPr bwMode="auto">
          <a:xfrm>
            <a:off x="6005514" y="4198940"/>
            <a:ext cx="1118824" cy="366735"/>
          </a:xfrm>
          <a:prstGeom prst="rect">
            <a:avLst/>
          </a:prstGeom>
          <a:noFill/>
          <a:ln>
            <a:noFill/>
          </a:ln>
        </p:spPr>
        <p:txBody>
          <a:bodyPr wrap="none" lIns="90452" tIns="44434" rIns="90452" bIns="44434">
            <a:spAutoFit/>
          </a:bodyPr>
          <a:lstStyle/>
          <a:p>
            <a:pPr eaLnBrk="0" hangingPunct="0"/>
            <a:r>
              <a:rPr lang="en-US">
                <a:latin typeface="Helvetica" charset="0"/>
              </a:rPr>
              <a:t>Physical</a:t>
            </a:r>
            <a:endParaRPr lang="en-US">
              <a:latin typeface="Helvetica" charset="0"/>
            </a:endParaRPr>
          </a:p>
        </p:txBody>
      </p:sp>
      <p:sp>
        <p:nvSpPr>
          <p:cNvPr id="50190" name="Rectangle 14"/>
          <p:cNvSpPr>
            <a:spLocks noChangeArrowheads="1"/>
          </p:cNvSpPr>
          <p:nvPr/>
        </p:nvSpPr>
        <p:spPr bwMode="auto">
          <a:xfrm>
            <a:off x="5783265" y="1801815"/>
            <a:ext cx="1567665" cy="366735"/>
          </a:xfrm>
          <a:prstGeom prst="rect">
            <a:avLst/>
          </a:prstGeom>
          <a:noFill/>
          <a:ln>
            <a:noFill/>
          </a:ln>
        </p:spPr>
        <p:txBody>
          <a:bodyPr wrap="none" lIns="90452" tIns="44434" rIns="90452" bIns="44434">
            <a:spAutoFit/>
          </a:bodyPr>
          <a:lstStyle/>
          <a:p>
            <a:pPr eaLnBrk="0" hangingPunct="0"/>
            <a:r>
              <a:rPr lang="en-US">
                <a:latin typeface="Helvetica" charset="0"/>
              </a:rPr>
              <a:t>Applications</a:t>
            </a:r>
            <a:endParaRPr lang="en-US">
              <a:latin typeface="Helvetica" charset="0"/>
            </a:endParaRPr>
          </a:p>
        </p:txBody>
      </p:sp>
      <p:sp>
        <p:nvSpPr>
          <p:cNvPr id="50191" name="Text Box 15"/>
          <p:cNvSpPr txBox="1">
            <a:spLocks noChangeArrowheads="1"/>
          </p:cNvSpPr>
          <p:nvPr/>
        </p:nvSpPr>
        <p:spPr bwMode="auto">
          <a:xfrm>
            <a:off x="5086350" y="4722813"/>
            <a:ext cx="3297238" cy="461962"/>
          </a:xfrm>
          <a:prstGeom prst="rect">
            <a:avLst/>
          </a:prstGeom>
          <a:noFill/>
          <a:ln>
            <a:noFill/>
          </a:ln>
        </p:spPr>
        <p:txBody>
          <a:bodyPr wrap="none" lIns="91267" tIns="45632" rIns="91267" bIns="45632">
            <a:spAutoFit/>
          </a:bodyPr>
          <a:lstStyle>
            <a:lvl1pPr defTabSz="91313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defTabSz="91313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defTabSz="91313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defTabSz="91313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defTabSz="91313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r>
              <a:rPr lang="en-US">
                <a:latin typeface="Helvetica" charset="0"/>
              </a:rPr>
              <a:t>The Hourglass Model</a:t>
            </a:r>
            <a:endParaRPr lang="en-US">
              <a:latin typeface="Helvetica" charset="0"/>
            </a:endParaRPr>
          </a:p>
        </p:txBody>
      </p:sp>
      <p:sp>
        <p:nvSpPr>
          <p:cNvPr id="50192" name="Text Box 16"/>
          <p:cNvSpPr txBox="1">
            <a:spLocks noChangeArrowheads="1"/>
          </p:cNvSpPr>
          <p:nvPr/>
        </p:nvSpPr>
        <p:spPr bwMode="auto">
          <a:xfrm>
            <a:off x="3962402" y="2971802"/>
            <a:ext cx="1597025" cy="519113"/>
          </a:xfrm>
          <a:prstGeom prst="rect">
            <a:avLst/>
          </a:prstGeom>
          <a:noFill/>
          <a:ln>
            <a:noFill/>
          </a:ln>
        </p:spPr>
        <p:txBody>
          <a:bodyPr lIns="91267" tIns="45632" rIns="91267" bIns="45632">
            <a:spAutoFit/>
          </a:bodyPr>
          <a:lstStyle>
            <a:lvl1pPr defTabSz="91313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defTabSz="91313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defTabSz="91313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defTabSz="91313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defTabSz="91313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800" b="0">
                <a:latin typeface="Helvetica" charset="0"/>
              </a:rPr>
              <a:t>Waist</a:t>
            </a:r>
            <a:endParaRPr lang="en-US" sz="2800" b="0">
              <a:latin typeface="Helvetica" charset="0"/>
            </a:endParaRPr>
          </a:p>
        </p:txBody>
      </p:sp>
      <p:sp>
        <p:nvSpPr>
          <p:cNvPr id="50193" name="Text Box 17"/>
          <p:cNvSpPr txBox="1">
            <a:spLocks noChangeArrowheads="1"/>
          </p:cNvSpPr>
          <p:nvPr/>
        </p:nvSpPr>
        <p:spPr bwMode="auto">
          <a:xfrm>
            <a:off x="533400" y="5334000"/>
            <a:ext cx="7696200" cy="954088"/>
          </a:xfrm>
          <a:prstGeom prst="rect">
            <a:avLst/>
          </a:prstGeom>
          <a:noFill/>
          <a:ln>
            <a:noFill/>
          </a:ln>
        </p:spPr>
        <p:txBody>
          <a:bodyPr lIns="91267" tIns="45632" rIns="91267" bIns="45632">
            <a:spAutoFit/>
          </a:bodyPr>
          <a:lstStyle>
            <a:lvl1pPr defTabSz="91313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defTabSz="91313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defTabSz="91313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defTabSz="91313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defTabSz="91313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800" b="0">
                <a:latin typeface="Helvetica" charset="0"/>
              </a:rPr>
              <a:t>There is just </a:t>
            </a:r>
            <a:r>
              <a:rPr lang="en-US" sz="2800" b="0">
                <a:solidFill>
                  <a:srgbClr val="FF0000"/>
                </a:solidFill>
                <a:latin typeface="Helvetica" charset="0"/>
              </a:rPr>
              <a:t>one</a:t>
            </a:r>
            <a:r>
              <a:rPr lang="en-US" sz="2800" b="0">
                <a:latin typeface="Helvetica" charset="0"/>
              </a:rPr>
              <a:t> network-layer protocol, </a:t>
            </a:r>
            <a:r>
              <a:rPr lang="en-US" sz="2800">
                <a:latin typeface="Helvetica" charset="0"/>
              </a:rPr>
              <a:t>IP</a:t>
            </a:r>
            <a:endParaRPr lang="en-US" sz="2800" b="0">
              <a:latin typeface="Helvetica" charset="0"/>
            </a:endParaRPr>
          </a:p>
          <a:p>
            <a:pPr>
              <a:lnSpc>
                <a:spcPct val="40000"/>
              </a:lnSpc>
              <a:spcBef>
                <a:spcPct val="50000"/>
              </a:spcBef>
            </a:pPr>
            <a:r>
              <a:rPr lang="en-US" sz="2800" b="0">
                <a:latin typeface="Helvetica" charset="0"/>
              </a:rPr>
              <a:t>The </a:t>
            </a:r>
            <a:r>
              <a:rPr lang="ja-JP" altLang="en-US" sz="2800" b="0">
                <a:latin typeface="Helvetica" charset="0"/>
              </a:rPr>
              <a:t>“</a:t>
            </a:r>
            <a:r>
              <a:rPr lang="en-US" altLang="ja-JP" sz="2800" b="0">
                <a:latin typeface="Helvetica" charset="0"/>
              </a:rPr>
              <a:t>narrow waist</a:t>
            </a:r>
            <a:r>
              <a:rPr lang="ja-JP" altLang="en-US" sz="2800" b="0">
                <a:latin typeface="Helvetica" charset="0"/>
              </a:rPr>
              <a:t>”</a:t>
            </a:r>
            <a:r>
              <a:rPr lang="en-US" altLang="ja-JP" sz="2800" b="0">
                <a:latin typeface="Helvetica" charset="0"/>
              </a:rPr>
              <a:t> facilitates </a:t>
            </a:r>
            <a:r>
              <a:rPr lang="en-US" altLang="ja-JP" sz="2800" b="0">
                <a:solidFill>
                  <a:srgbClr val="FF0000"/>
                </a:solidFill>
                <a:latin typeface="Helvetica" charset="0"/>
              </a:rPr>
              <a:t>interoperability</a:t>
            </a:r>
            <a:endParaRPr lang="en-US" sz="2800" b="0">
              <a:latin typeface="Helvetica" charset="0"/>
            </a:endParaRPr>
          </a:p>
        </p:txBody>
      </p:sp>
      <p:sp>
        <p:nvSpPr>
          <p:cNvPr id="50194" name="Rectangle 18"/>
          <p:cNvSpPr>
            <a:spLocks noChangeArrowheads="1"/>
          </p:cNvSpPr>
          <p:nvPr/>
        </p:nvSpPr>
        <p:spPr bwMode="auto">
          <a:xfrm>
            <a:off x="914400" y="1828800"/>
            <a:ext cx="685800" cy="381000"/>
          </a:xfrm>
          <a:prstGeom prst="rect">
            <a:avLst/>
          </a:prstGeom>
          <a:solidFill>
            <a:srgbClr val="00CC66"/>
          </a:solidFill>
          <a:ln w="9525">
            <a:solidFill>
              <a:schemeClr val="tx1"/>
            </a:solidFill>
            <a:miter lim="800000"/>
          </a:ln>
        </p:spPr>
        <p:txBody>
          <a:bodyPr wrap="none" lIns="91420" tIns="45712" rIns="91420" bIns="45712" anchor="ctr"/>
          <a:lstStyle/>
          <a:p>
            <a:pPr algn="ctr"/>
            <a:r>
              <a:rPr lang="en-US" sz="2000" b="0">
                <a:solidFill>
                  <a:schemeClr val="bg1"/>
                </a:solidFill>
                <a:latin typeface="Helvetica" charset="0"/>
              </a:rPr>
              <a:t>SMTP</a:t>
            </a:r>
            <a:endParaRPr lang="en-US" sz="2000" b="0">
              <a:solidFill>
                <a:schemeClr val="bg1"/>
              </a:solidFill>
              <a:latin typeface="Helvetica" charset="0"/>
            </a:endParaRPr>
          </a:p>
        </p:txBody>
      </p:sp>
      <p:sp>
        <p:nvSpPr>
          <p:cNvPr id="50195" name="Rectangle 19"/>
          <p:cNvSpPr>
            <a:spLocks noChangeArrowheads="1"/>
          </p:cNvSpPr>
          <p:nvPr/>
        </p:nvSpPr>
        <p:spPr bwMode="auto">
          <a:xfrm>
            <a:off x="1752600" y="1828800"/>
            <a:ext cx="685800" cy="381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</p:spPr>
        <p:txBody>
          <a:bodyPr wrap="none" lIns="91420" tIns="45712" rIns="91420" bIns="45712" anchor="ctr"/>
          <a:lstStyle/>
          <a:p>
            <a:pPr algn="ctr"/>
            <a:r>
              <a:rPr lang="en-US" sz="2000" b="0">
                <a:solidFill>
                  <a:srgbClr val="000000"/>
                </a:solidFill>
                <a:latin typeface="Helvetica" charset="0"/>
              </a:rPr>
              <a:t>HTTP</a:t>
            </a:r>
            <a:endParaRPr lang="en-US" sz="2000" b="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0196" name="Rectangle 20"/>
          <p:cNvSpPr>
            <a:spLocks noChangeArrowheads="1"/>
          </p:cNvSpPr>
          <p:nvPr/>
        </p:nvSpPr>
        <p:spPr bwMode="auto">
          <a:xfrm>
            <a:off x="3429000" y="1828800"/>
            <a:ext cx="685800" cy="381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</p:spPr>
        <p:txBody>
          <a:bodyPr wrap="none" lIns="91420" tIns="45712" rIns="91420" bIns="45712" anchor="ctr"/>
          <a:lstStyle/>
          <a:p>
            <a:pPr algn="ctr"/>
            <a:r>
              <a:rPr lang="en-US" sz="2000" b="0">
                <a:solidFill>
                  <a:srgbClr val="000000"/>
                </a:solidFill>
                <a:latin typeface="Helvetica" charset="0"/>
              </a:rPr>
              <a:t>NTP</a:t>
            </a:r>
            <a:endParaRPr lang="en-US" sz="2000" b="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0197" name="Rectangle 21"/>
          <p:cNvSpPr>
            <a:spLocks noChangeArrowheads="1"/>
          </p:cNvSpPr>
          <p:nvPr/>
        </p:nvSpPr>
        <p:spPr bwMode="auto">
          <a:xfrm>
            <a:off x="2590800" y="1828800"/>
            <a:ext cx="685800" cy="381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</p:spPr>
        <p:txBody>
          <a:bodyPr wrap="none" lIns="91420" tIns="45712" rIns="91420" bIns="45712" anchor="ctr"/>
          <a:lstStyle/>
          <a:p>
            <a:pPr algn="ctr"/>
            <a:r>
              <a:rPr lang="en-US" sz="2000" b="0">
                <a:solidFill>
                  <a:srgbClr val="000000"/>
                </a:solidFill>
                <a:latin typeface="Helvetica" charset="0"/>
              </a:rPr>
              <a:t>DNS</a:t>
            </a:r>
            <a:endParaRPr lang="en-US" sz="2000" b="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0198" name="Rectangle 22"/>
          <p:cNvSpPr>
            <a:spLocks noChangeArrowheads="1"/>
          </p:cNvSpPr>
          <p:nvPr/>
        </p:nvSpPr>
        <p:spPr bwMode="auto">
          <a:xfrm>
            <a:off x="1295400" y="2514600"/>
            <a:ext cx="6858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</a:ln>
        </p:spPr>
        <p:txBody>
          <a:bodyPr wrap="none" lIns="91420" tIns="45712" rIns="91420" bIns="45712" anchor="ctr"/>
          <a:lstStyle/>
          <a:p>
            <a:pPr algn="ctr"/>
            <a:r>
              <a:rPr lang="en-US" sz="2000" b="0">
                <a:solidFill>
                  <a:schemeClr val="bg1"/>
                </a:solidFill>
                <a:latin typeface="Helvetica" charset="0"/>
              </a:rPr>
              <a:t>TCP</a:t>
            </a:r>
            <a:endParaRPr lang="en-US" sz="2000" b="0">
              <a:solidFill>
                <a:schemeClr val="bg1"/>
              </a:solidFill>
              <a:latin typeface="Helvetica" charset="0"/>
            </a:endParaRPr>
          </a:p>
        </p:txBody>
      </p:sp>
      <p:sp>
        <p:nvSpPr>
          <p:cNvPr id="50199" name="Rectangle 23"/>
          <p:cNvSpPr>
            <a:spLocks noChangeArrowheads="1"/>
          </p:cNvSpPr>
          <p:nvPr/>
        </p:nvSpPr>
        <p:spPr bwMode="auto">
          <a:xfrm>
            <a:off x="3048000" y="2514600"/>
            <a:ext cx="685800" cy="381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</p:spPr>
        <p:txBody>
          <a:bodyPr wrap="none" lIns="91420" tIns="45712" rIns="91420" bIns="45712" anchor="ctr"/>
          <a:lstStyle/>
          <a:p>
            <a:pPr algn="ctr"/>
            <a:r>
              <a:rPr lang="en-US" sz="2000" b="0">
                <a:solidFill>
                  <a:srgbClr val="000000"/>
                </a:solidFill>
                <a:latin typeface="Helvetica" charset="0"/>
              </a:rPr>
              <a:t>UDP</a:t>
            </a:r>
            <a:endParaRPr lang="en-US" sz="2000" b="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0200" name="Rectangle 24"/>
          <p:cNvSpPr>
            <a:spLocks noChangeArrowheads="1"/>
          </p:cNvSpPr>
          <p:nvPr/>
        </p:nvSpPr>
        <p:spPr bwMode="auto">
          <a:xfrm>
            <a:off x="2209800" y="3276600"/>
            <a:ext cx="685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lIns="91420" tIns="45712" rIns="91420" bIns="45712" anchor="ctr"/>
          <a:lstStyle/>
          <a:p>
            <a:pPr algn="ctr"/>
            <a:r>
              <a:rPr lang="en-US" sz="2000" b="0">
                <a:solidFill>
                  <a:schemeClr val="bg1"/>
                </a:solidFill>
                <a:latin typeface="Helvetica" charset="0"/>
              </a:rPr>
              <a:t>IP</a:t>
            </a:r>
            <a:endParaRPr lang="en-US" sz="2000" b="0">
              <a:solidFill>
                <a:schemeClr val="bg1"/>
              </a:solidFill>
              <a:latin typeface="Helvetica" charset="0"/>
            </a:endParaRPr>
          </a:p>
        </p:txBody>
      </p:sp>
      <p:sp>
        <p:nvSpPr>
          <p:cNvPr id="50201" name="Rectangle 25"/>
          <p:cNvSpPr>
            <a:spLocks noChangeArrowheads="1"/>
          </p:cNvSpPr>
          <p:nvPr/>
        </p:nvSpPr>
        <p:spPr bwMode="auto">
          <a:xfrm>
            <a:off x="609600" y="4076700"/>
            <a:ext cx="1219200" cy="4572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lIns="91420" tIns="45712" rIns="91420" bIns="45712" anchor="ctr"/>
          <a:lstStyle/>
          <a:p>
            <a:pPr algn="ctr"/>
            <a:r>
              <a:rPr lang="en-US" sz="2000" b="0">
                <a:solidFill>
                  <a:schemeClr val="bg1"/>
                </a:solidFill>
                <a:latin typeface="Helvetica" charset="0"/>
              </a:rPr>
              <a:t>Ethernet</a:t>
            </a:r>
            <a:endParaRPr lang="en-US" sz="2000" b="0" baseline="-25000">
              <a:solidFill>
                <a:schemeClr val="bg1"/>
              </a:solidFill>
              <a:latin typeface="Helvetica" charset="0"/>
            </a:endParaRPr>
          </a:p>
        </p:txBody>
      </p:sp>
      <p:sp>
        <p:nvSpPr>
          <p:cNvPr id="50202" name="Rectangle 26"/>
          <p:cNvSpPr>
            <a:spLocks noChangeArrowheads="1"/>
          </p:cNvSpPr>
          <p:nvPr/>
        </p:nvSpPr>
        <p:spPr bwMode="auto">
          <a:xfrm>
            <a:off x="1981200" y="4076700"/>
            <a:ext cx="990600" cy="457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</p:spPr>
        <p:txBody>
          <a:bodyPr wrap="none" lIns="91420" tIns="45712" rIns="91420" bIns="45712" anchor="ctr"/>
          <a:lstStyle/>
          <a:p>
            <a:pPr algn="ctr"/>
            <a:r>
              <a:rPr lang="en-US" sz="2000" b="0">
                <a:solidFill>
                  <a:srgbClr val="000000"/>
                </a:solidFill>
                <a:latin typeface="Helvetica" charset="0"/>
              </a:rPr>
              <a:t>SONET</a:t>
            </a:r>
            <a:endParaRPr lang="en-US" sz="2000" b="0" baseline="-25000">
              <a:solidFill>
                <a:srgbClr val="000000"/>
              </a:solidFill>
              <a:latin typeface="Helvetica" charset="0"/>
            </a:endParaRPr>
          </a:p>
        </p:txBody>
      </p:sp>
      <p:sp>
        <p:nvSpPr>
          <p:cNvPr id="50203" name="Rectangle 27"/>
          <p:cNvSpPr>
            <a:spLocks noChangeArrowheads="1"/>
          </p:cNvSpPr>
          <p:nvPr/>
        </p:nvSpPr>
        <p:spPr bwMode="auto">
          <a:xfrm>
            <a:off x="3352800" y="4038600"/>
            <a:ext cx="914400" cy="533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</p:spPr>
        <p:txBody>
          <a:bodyPr wrap="none" lIns="91420" tIns="45712" rIns="91420" bIns="45712" anchor="ctr"/>
          <a:lstStyle/>
          <a:p>
            <a:pPr algn="ctr"/>
            <a:r>
              <a:rPr lang="en-US" sz="2000" b="0">
                <a:solidFill>
                  <a:srgbClr val="000000"/>
                </a:solidFill>
                <a:latin typeface="Helvetica" charset="0"/>
              </a:rPr>
              <a:t>802.11</a:t>
            </a:r>
            <a:endParaRPr lang="en-US" sz="2000" b="0" baseline="-25000">
              <a:solidFill>
                <a:srgbClr val="000000"/>
              </a:solidFill>
              <a:latin typeface="Helvetica" charset="0"/>
            </a:endParaRPr>
          </a:p>
        </p:txBody>
      </p:sp>
      <p:cxnSp>
        <p:nvCxnSpPr>
          <p:cNvPr id="50204" name="AutoShape 28"/>
          <p:cNvCxnSpPr>
            <a:cxnSpLocks noChangeShapeType="1"/>
            <a:stCxn id="50194" idx="2"/>
            <a:endCxn id="50198" idx="0"/>
          </p:cNvCxnSpPr>
          <p:nvPr/>
        </p:nvCxnSpPr>
        <p:spPr bwMode="auto">
          <a:xfrm>
            <a:off x="1257300" y="2209800"/>
            <a:ext cx="381000" cy="3048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</p:spPr>
      </p:cxnSp>
      <p:cxnSp>
        <p:nvCxnSpPr>
          <p:cNvPr id="50205" name="AutoShape 29"/>
          <p:cNvCxnSpPr>
            <a:cxnSpLocks noChangeShapeType="1"/>
            <a:endCxn id="50198" idx="0"/>
          </p:cNvCxnSpPr>
          <p:nvPr/>
        </p:nvCxnSpPr>
        <p:spPr bwMode="auto">
          <a:xfrm flipH="1">
            <a:off x="1638300" y="2209800"/>
            <a:ext cx="419100" cy="3048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</p:spPr>
      </p:cxnSp>
      <p:cxnSp>
        <p:nvCxnSpPr>
          <p:cNvPr id="50206" name="AutoShape 30"/>
          <p:cNvCxnSpPr>
            <a:cxnSpLocks noChangeShapeType="1"/>
            <a:stCxn id="50197" idx="2"/>
          </p:cNvCxnSpPr>
          <p:nvPr/>
        </p:nvCxnSpPr>
        <p:spPr bwMode="auto">
          <a:xfrm>
            <a:off x="2933700" y="2209800"/>
            <a:ext cx="419100" cy="3048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</p:spPr>
      </p:cxnSp>
      <p:cxnSp>
        <p:nvCxnSpPr>
          <p:cNvPr id="50207" name="AutoShape 31"/>
          <p:cNvCxnSpPr>
            <a:cxnSpLocks noChangeShapeType="1"/>
            <a:stCxn id="50196" idx="2"/>
          </p:cNvCxnSpPr>
          <p:nvPr/>
        </p:nvCxnSpPr>
        <p:spPr bwMode="auto">
          <a:xfrm flipH="1">
            <a:off x="3352800" y="2209800"/>
            <a:ext cx="419100" cy="3048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</p:spPr>
      </p:cxnSp>
      <p:cxnSp>
        <p:nvCxnSpPr>
          <p:cNvPr id="50208" name="AutoShape 32"/>
          <p:cNvCxnSpPr>
            <a:cxnSpLocks noChangeShapeType="1"/>
            <a:stCxn id="50198" idx="2"/>
            <a:endCxn id="50200" idx="0"/>
          </p:cNvCxnSpPr>
          <p:nvPr/>
        </p:nvCxnSpPr>
        <p:spPr bwMode="auto">
          <a:xfrm>
            <a:off x="1638300" y="2895600"/>
            <a:ext cx="914400" cy="3810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</p:spPr>
      </p:cxnSp>
      <p:cxnSp>
        <p:nvCxnSpPr>
          <p:cNvPr id="50209" name="AutoShape 33"/>
          <p:cNvCxnSpPr>
            <a:cxnSpLocks noChangeShapeType="1"/>
            <a:stCxn id="50199" idx="2"/>
            <a:endCxn id="50200" idx="0"/>
          </p:cNvCxnSpPr>
          <p:nvPr/>
        </p:nvCxnSpPr>
        <p:spPr bwMode="auto">
          <a:xfrm flipH="1">
            <a:off x="2552700" y="2895600"/>
            <a:ext cx="838200" cy="3810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</p:spPr>
      </p:cxnSp>
      <p:cxnSp>
        <p:nvCxnSpPr>
          <p:cNvPr id="50210" name="AutoShape 34"/>
          <p:cNvCxnSpPr>
            <a:cxnSpLocks noChangeShapeType="1"/>
            <a:stCxn id="50200" idx="2"/>
            <a:endCxn id="50203" idx="0"/>
          </p:cNvCxnSpPr>
          <p:nvPr/>
        </p:nvCxnSpPr>
        <p:spPr bwMode="auto">
          <a:xfrm>
            <a:off x="2552700" y="3657600"/>
            <a:ext cx="1257300" cy="3810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</p:spPr>
      </p:cxnSp>
      <p:cxnSp>
        <p:nvCxnSpPr>
          <p:cNvPr id="50211" name="AutoShape 35"/>
          <p:cNvCxnSpPr>
            <a:cxnSpLocks noChangeShapeType="1"/>
            <a:stCxn id="50200" idx="2"/>
            <a:endCxn id="50201" idx="0"/>
          </p:cNvCxnSpPr>
          <p:nvPr/>
        </p:nvCxnSpPr>
        <p:spPr bwMode="auto">
          <a:xfrm flipH="1">
            <a:off x="1219200" y="3657600"/>
            <a:ext cx="1333500" cy="4191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</p:spPr>
      </p:cxnSp>
      <p:cxnSp>
        <p:nvCxnSpPr>
          <p:cNvPr id="50212" name="AutoShape 36"/>
          <p:cNvCxnSpPr>
            <a:cxnSpLocks noChangeShapeType="1"/>
            <a:stCxn id="50200" idx="2"/>
            <a:endCxn id="50202" idx="0"/>
          </p:cNvCxnSpPr>
          <p:nvPr/>
        </p:nvCxnSpPr>
        <p:spPr bwMode="auto">
          <a:xfrm flipH="1">
            <a:off x="2476500" y="3657600"/>
            <a:ext cx="76200" cy="4191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</p:spPr>
      </p:cxnSp>
      <p:sp>
        <p:nvSpPr>
          <p:cNvPr id="50213" name="Rectangle 37"/>
          <p:cNvSpPr>
            <a:spLocks noChangeArrowheads="1"/>
          </p:cNvSpPr>
          <p:nvPr/>
        </p:nvSpPr>
        <p:spPr bwMode="auto">
          <a:xfrm>
            <a:off x="5943601" y="2514601"/>
            <a:ext cx="1247257" cy="366735"/>
          </a:xfrm>
          <a:prstGeom prst="rect">
            <a:avLst/>
          </a:prstGeom>
          <a:noFill/>
          <a:ln>
            <a:noFill/>
          </a:ln>
        </p:spPr>
        <p:txBody>
          <a:bodyPr wrap="none" lIns="90452" tIns="44434" rIns="90452" bIns="44434">
            <a:spAutoFit/>
          </a:bodyPr>
          <a:lstStyle/>
          <a:p>
            <a:pPr eaLnBrk="0" hangingPunct="0"/>
            <a:r>
              <a:rPr lang="en-US">
                <a:latin typeface="Helvetica" charset="0"/>
              </a:rPr>
              <a:t>Transport</a:t>
            </a:r>
            <a:endParaRPr lang="en-US">
              <a:latin typeface="Helvetica" charset="0"/>
            </a:endParaRPr>
          </a:p>
        </p:txBody>
      </p:sp>
      <p:cxnSp>
        <p:nvCxnSpPr>
          <p:cNvPr id="50214" name="AutoShape 38"/>
          <p:cNvCxnSpPr>
            <a:cxnSpLocks noChangeShapeType="1"/>
            <a:stCxn id="50215" idx="0"/>
            <a:endCxn id="50201" idx="2"/>
          </p:cNvCxnSpPr>
          <p:nvPr/>
        </p:nvCxnSpPr>
        <p:spPr bwMode="auto">
          <a:xfrm flipH="1" flipV="1">
            <a:off x="1219200" y="4533900"/>
            <a:ext cx="1333500" cy="2286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</p:spPr>
      </p:cxnSp>
      <p:sp>
        <p:nvSpPr>
          <p:cNvPr id="50215" name="Rectangle 39"/>
          <p:cNvSpPr>
            <a:spLocks noChangeArrowheads="1"/>
          </p:cNvSpPr>
          <p:nvPr/>
        </p:nvSpPr>
        <p:spPr bwMode="auto">
          <a:xfrm>
            <a:off x="2057400" y="4762500"/>
            <a:ext cx="990600" cy="457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</p:spPr>
        <p:txBody>
          <a:bodyPr wrap="none" lIns="91420" tIns="45712" rIns="91420" bIns="45712" anchor="ctr"/>
          <a:lstStyle/>
          <a:p>
            <a:pPr algn="ctr"/>
            <a:r>
              <a:rPr lang="en-US" sz="2000" b="0">
                <a:solidFill>
                  <a:srgbClr val="000000"/>
                </a:solidFill>
                <a:latin typeface="Helvetica" charset="0"/>
              </a:rPr>
              <a:t>Fiber</a:t>
            </a:r>
            <a:endParaRPr lang="en-US" sz="2000" b="0" baseline="-25000">
              <a:solidFill>
                <a:srgbClr val="000000"/>
              </a:solidFill>
              <a:latin typeface="Helvetica" charset="0"/>
            </a:endParaRPr>
          </a:p>
        </p:txBody>
      </p:sp>
      <p:cxnSp>
        <p:nvCxnSpPr>
          <p:cNvPr id="50216" name="AutoShape 40"/>
          <p:cNvCxnSpPr>
            <a:cxnSpLocks noChangeShapeType="1"/>
            <a:stCxn id="50217" idx="0"/>
            <a:endCxn id="50201" idx="2"/>
          </p:cNvCxnSpPr>
          <p:nvPr/>
        </p:nvCxnSpPr>
        <p:spPr bwMode="auto">
          <a:xfrm flipH="1" flipV="1">
            <a:off x="1219200" y="4533900"/>
            <a:ext cx="266700" cy="2286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</p:spPr>
      </p:cxnSp>
      <p:sp>
        <p:nvSpPr>
          <p:cNvPr id="50217" name="Rectangle 41"/>
          <p:cNvSpPr>
            <a:spLocks noChangeArrowheads="1"/>
          </p:cNvSpPr>
          <p:nvPr/>
        </p:nvSpPr>
        <p:spPr bwMode="auto">
          <a:xfrm>
            <a:off x="990600" y="4762500"/>
            <a:ext cx="990600" cy="457200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</a:ln>
        </p:spPr>
        <p:txBody>
          <a:bodyPr wrap="none" lIns="91420" tIns="45712" rIns="91420" bIns="45712" anchor="ctr"/>
          <a:lstStyle/>
          <a:p>
            <a:pPr algn="ctr"/>
            <a:r>
              <a:rPr lang="en-US" sz="2000" b="0">
                <a:solidFill>
                  <a:srgbClr val="000000"/>
                </a:solidFill>
                <a:latin typeface="Helvetica" charset="0"/>
              </a:rPr>
              <a:t>Copper</a:t>
            </a:r>
            <a:endParaRPr lang="en-US" sz="2000" b="0" baseline="-25000">
              <a:solidFill>
                <a:srgbClr val="000000"/>
              </a:solidFill>
              <a:latin typeface="Helvetica" charset="0"/>
            </a:endParaRPr>
          </a:p>
        </p:txBody>
      </p:sp>
      <p:cxnSp>
        <p:nvCxnSpPr>
          <p:cNvPr id="50218" name="AutoShape 42"/>
          <p:cNvCxnSpPr>
            <a:cxnSpLocks noChangeShapeType="1"/>
            <a:stCxn id="50219" idx="0"/>
            <a:endCxn id="50203" idx="2"/>
          </p:cNvCxnSpPr>
          <p:nvPr/>
        </p:nvCxnSpPr>
        <p:spPr bwMode="auto">
          <a:xfrm flipH="1" flipV="1">
            <a:off x="3810000" y="4572000"/>
            <a:ext cx="342900" cy="1905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</p:spPr>
      </p:cxnSp>
      <p:sp>
        <p:nvSpPr>
          <p:cNvPr id="50219" name="Rectangle 43"/>
          <p:cNvSpPr>
            <a:spLocks noChangeArrowheads="1"/>
          </p:cNvSpPr>
          <p:nvPr/>
        </p:nvSpPr>
        <p:spPr bwMode="auto">
          <a:xfrm>
            <a:off x="3657600" y="4762500"/>
            <a:ext cx="990600" cy="457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</p:spPr>
        <p:txBody>
          <a:bodyPr wrap="none" lIns="91420" tIns="45712" rIns="91420" bIns="45712" anchor="ctr"/>
          <a:lstStyle/>
          <a:p>
            <a:pPr algn="ctr"/>
            <a:r>
              <a:rPr lang="en-US" sz="2000" b="0">
                <a:solidFill>
                  <a:srgbClr val="000000"/>
                </a:solidFill>
                <a:latin typeface="Helvetica" charset="0"/>
              </a:rPr>
              <a:t>Radio</a:t>
            </a:r>
            <a:endParaRPr lang="en-US" sz="2000" b="0" baseline="-25000">
              <a:solidFill>
                <a:srgbClr val="000000"/>
              </a:solidFill>
              <a:latin typeface="Helvetica" charset="0"/>
            </a:endParaRPr>
          </a:p>
        </p:txBody>
      </p:sp>
      <p:cxnSp>
        <p:nvCxnSpPr>
          <p:cNvPr id="50220" name="AutoShape 44"/>
          <p:cNvCxnSpPr>
            <a:cxnSpLocks noChangeShapeType="1"/>
            <a:stCxn id="50215" idx="0"/>
            <a:endCxn id="50202" idx="2"/>
          </p:cNvCxnSpPr>
          <p:nvPr/>
        </p:nvCxnSpPr>
        <p:spPr bwMode="auto">
          <a:xfrm flipH="1" flipV="1">
            <a:off x="2476500" y="4533900"/>
            <a:ext cx="76200" cy="2286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</p:spPr>
      </p:cxnSp>
      <p:sp>
        <p:nvSpPr>
          <p:cNvPr id="45" name="圆角矩形 44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555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295400"/>
            <a:ext cx="8077200" cy="4167188"/>
          </a:xfrm>
        </p:spPr>
        <p:txBody>
          <a:bodyPr/>
          <a:lstStyle/>
          <a:p>
            <a:pPr>
              <a:buFontTx/>
              <a:buNone/>
            </a:pPr>
            <a:r>
              <a:rPr lang="en-US" dirty="0">
                <a:latin typeface="Helvetica" charset="0"/>
                <a:ea typeface="MS PGothic" panose="020B0600070205080204" charset="-128"/>
              </a:rPr>
              <a:t>Single Internet-layer module (</a:t>
            </a:r>
            <a:r>
              <a:rPr lang="en-US" b="1" dirty="0">
                <a:latin typeface="Helvetica" charset="0"/>
                <a:ea typeface="MS PGothic" panose="020B0600070205080204" charset="-128"/>
              </a:rPr>
              <a:t>IP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)</a:t>
            </a:r>
            <a:r>
              <a:rPr lang="en-US" b="1" dirty="0">
                <a:latin typeface="Helvetica" charset="0"/>
                <a:ea typeface="MS PGothic" panose="020B0600070205080204" charset="-128"/>
              </a:rPr>
              <a:t>: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r>
              <a:rPr lang="en-US" dirty="0">
                <a:latin typeface="Helvetica" charset="0"/>
                <a:ea typeface="MS PGothic" panose="020B0600070205080204" charset="-128"/>
              </a:rPr>
              <a:t>Allows arbitrary networks to interoperate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dirty="0">
                <a:latin typeface="Helvetica" charset="0"/>
                <a:ea typeface="MS PGothic" panose="020B0600070205080204" charset="-128"/>
              </a:rPr>
              <a:t>Any network technology that supports IP can exchange packets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r>
              <a:rPr lang="en-US" dirty="0">
                <a:latin typeface="Helvetica" charset="0"/>
                <a:ea typeface="MS PGothic" panose="020B0600070205080204" charset="-128"/>
              </a:rPr>
              <a:t>Allows applications to function on all networks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dirty="0">
                <a:latin typeface="Helvetica" charset="0"/>
                <a:ea typeface="MS PGothic" panose="020B0600070205080204" charset="-128"/>
              </a:rPr>
              <a:t>Applications that can run on IP can</a:t>
            </a:r>
            <a:r>
              <a:rPr lang="en-US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 use any network</a:t>
            </a:r>
            <a:endParaRPr lang="en-US" dirty="0">
              <a:solidFill>
                <a:srgbClr val="FF0000"/>
              </a:solidFill>
              <a:latin typeface="Helvetica" charset="0"/>
              <a:ea typeface="MS PGothic" panose="020B0600070205080204" charset="-128"/>
            </a:endParaRPr>
          </a:p>
          <a:p>
            <a:r>
              <a:rPr lang="en-US" dirty="0">
                <a:latin typeface="Helvetica" charset="0"/>
                <a:ea typeface="MS PGothic" panose="020B0600070205080204" charset="-128"/>
              </a:rPr>
              <a:t>Supports simultaneous innovations </a:t>
            </a:r>
            <a:r>
              <a:rPr lang="en-US" i="1" dirty="0">
                <a:latin typeface="Helvetica" charset="0"/>
                <a:ea typeface="MS PGothic" panose="020B0600070205080204" charset="-128"/>
              </a:rPr>
              <a:t>above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 and </a:t>
            </a:r>
            <a:r>
              <a:rPr lang="en-US" i="1" dirty="0">
                <a:latin typeface="Helvetica" charset="0"/>
                <a:ea typeface="MS PGothic" panose="020B0600070205080204" charset="-128"/>
              </a:rPr>
              <a:t>below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 IP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dirty="0">
                <a:latin typeface="Helvetica" charset="0"/>
                <a:ea typeface="MS PGothic" panose="020B0600070205080204" charset="-128"/>
              </a:rPr>
              <a:t>But changing IP itself, i.e., </a:t>
            </a:r>
            <a:r>
              <a:rPr lang="en-US" b="1" dirty="0">
                <a:latin typeface="Helvetica" charset="0"/>
                <a:ea typeface="MS PGothic" panose="020B0600070205080204" charset="-128"/>
              </a:rPr>
              <a:t>IPv6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 is very complicated and slow</a:t>
            </a:r>
            <a:endParaRPr lang="en-US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>
                <a:latin typeface="Helvetica" charset="0"/>
                <a:ea typeface="MS PGothic" panose="020B0600070205080204" charset="-128"/>
              </a:rPr>
              <a:t>Implications of Hourglass</a:t>
            </a:r>
            <a:endParaRPr lang="en-US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圆角矩形 3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0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0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0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0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3555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Helvetica" charset="0"/>
                <a:ea typeface="MS PGothic" panose="020B0600070205080204" charset="-128"/>
              </a:rPr>
              <a:t>Layering can hurt performance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sz="2000" dirty="0">
                <a:latin typeface="Helvetica" charset="0"/>
                <a:ea typeface="MS PGothic" panose="020B0600070205080204" charset="-128"/>
              </a:rPr>
              <a:t>E.g., hiding details about what is really going on</a:t>
            </a:r>
            <a:endParaRPr lang="en-US" sz="2000" dirty="0">
              <a:latin typeface="Helvetica" charset="0"/>
              <a:ea typeface="MS PGothic" panose="020B0600070205080204" charset="-128"/>
            </a:endParaRPr>
          </a:p>
          <a:p>
            <a:endParaRPr lang="en-US" dirty="0">
              <a:latin typeface="Helvetica" charset="0"/>
              <a:ea typeface="MS PGothic" panose="020B0600070205080204" charset="-128"/>
            </a:endParaRPr>
          </a:p>
          <a:p>
            <a:r>
              <a:rPr lang="en-US" dirty="0">
                <a:latin typeface="Helvetica" charset="0"/>
                <a:ea typeface="MS PGothic" panose="020B0600070205080204" charset="-128"/>
              </a:rPr>
              <a:t>Headers start to get really big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sz="2000" dirty="0">
                <a:latin typeface="Helvetica" charset="0"/>
                <a:ea typeface="MS PGothic" panose="020B0600070205080204" charset="-128"/>
              </a:rPr>
              <a:t>Sometimes header bytes &gt;&gt; actual content</a:t>
            </a:r>
            <a:endParaRPr lang="en-US" sz="2000" dirty="0">
              <a:latin typeface="Helvetica" charset="0"/>
              <a:ea typeface="MS PGothic" panose="020B0600070205080204" charset="-128"/>
            </a:endParaRPr>
          </a:p>
          <a:p>
            <a:endParaRPr lang="en-US" dirty="0">
              <a:latin typeface="Helvetica" charset="0"/>
              <a:ea typeface="MS PGothic" panose="020B0600070205080204" charset="-128"/>
            </a:endParaRPr>
          </a:p>
          <a:p>
            <a:r>
              <a:rPr lang="en-US" dirty="0">
                <a:latin typeface="Helvetica" charset="0"/>
                <a:ea typeface="MS PGothic" panose="020B0600070205080204" charset="-128"/>
              </a:rPr>
              <a:t>Layer N may duplicate layer N-1 functionality 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sz="2000" dirty="0">
                <a:latin typeface="Helvetica" charset="0"/>
                <a:ea typeface="MS PGothic" panose="020B0600070205080204" charset="-128"/>
              </a:rPr>
              <a:t>E.g., error recovery to retransmit lost data</a:t>
            </a:r>
            <a:endParaRPr lang="en-US" sz="2000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altLang="zh-CN" sz="2000" dirty="0">
                <a:latin typeface="Helvetica" charset="0"/>
                <a:ea typeface="MS PGothic" panose="020B0600070205080204" charset="-128"/>
              </a:rPr>
              <a:t>Modern</a:t>
            </a:r>
            <a:r>
              <a:rPr lang="zh-CN" altLang="en-US" sz="2000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sz="2000" dirty="0">
                <a:latin typeface="Helvetica" charset="0"/>
                <a:ea typeface="MS PGothic" panose="020B0600070205080204" charset="-128"/>
              </a:rPr>
              <a:t>model</a:t>
            </a:r>
            <a:r>
              <a:rPr lang="zh-CN" altLang="en-US" sz="2000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sz="2000" dirty="0">
                <a:latin typeface="Helvetica" charset="0"/>
                <a:ea typeface="MS PGothic" panose="020B0600070205080204" charset="-128"/>
              </a:rPr>
              <a:t>training</a:t>
            </a:r>
            <a:r>
              <a:rPr lang="zh-CN" altLang="en-US" sz="2000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sz="2000" dirty="0">
                <a:latin typeface="Helvetica" charset="0"/>
                <a:ea typeface="MS PGothic" panose="020B0600070205080204" charset="-128"/>
              </a:rPr>
              <a:t>software</a:t>
            </a:r>
            <a:r>
              <a:rPr lang="zh-CN" altLang="en-US" sz="2000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sz="2000" dirty="0">
                <a:latin typeface="Helvetica" charset="0"/>
                <a:ea typeface="MS PGothic" panose="020B0600070205080204" charset="-128"/>
              </a:rPr>
              <a:t>build</a:t>
            </a:r>
            <a:r>
              <a:rPr lang="zh-CN" altLang="en-US" sz="2000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sz="2000" dirty="0">
                <a:latin typeface="Helvetica" charset="0"/>
                <a:ea typeface="MS PGothic" panose="020B0600070205080204" charset="-128"/>
              </a:rPr>
              <a:t>on</a:t>
            </a:r>
            <a:r>
              <a:rPr lang="zh-CN" altLang="en-US" sz="2000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sz="2000" dirty="0">
                <a:latin typeface="Helvetica" charset="0"/>
                <a:ea typeface="MS PGothic" panose="020B0600070205080204" charset="-128"/>
              </a:rPr>
              <a:t>IB,</a:t>
            </a:r>
            <a:r>
              <a:rPr lang="zh-CN" altLang="en-US" sz="2000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sz="2000" dirty="0">
                <a:latin typeface="Helvetica" charset="0"/>
                <a:ea typeface="MS PGothic" panose="020B0600070205080204" charset="-128"/>
              </a:rPr>
              <a:t>a</a:t>
            </a:r>
            <a:r>
              <a:rPr lang="zh-CN" altLang="en-US" sz="2000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sz="2000" dirty="0">
                <a:latin typeface="Helvetica" charset="0"/>
                <a:ea typeface="MS PGothic" panose="020B0600070205080204" charset="-128"/>
              </a:rPr>
              <a:t>layer-2</a:t>
            </a:r>
            <a:r>
              <a:rPr lang="zh-CN" altLang="en-US" sz="2000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sz="2000" dirty="0">
                <a:latin typeface="Helvetica" charset="0"/>
                <a:ea typeface="MS PGothic" panose="020B0600070205080204" charset="-128"/>
              </a:rPr>
              <a:t>directly</a:t>
            </a:r>
            <a:endParaRPr lang="en-US" sz="2000" dirty="0">
              <a:latin typeface="Helvetica" charset="0"/>
              <a:ea typeface="MS PGothic" panose="020B0600070205080204" charset="-128"/>
            </a:endParaRPr>
          </a:p>
          <a:p>
            <a:endParaRPr lang="en-US" dirty="0">
              <a:latin typeface="Helvetica" charset="0"/>
              <a:ea typeface="MS PGothic" panose="020B0600070205080204" charset="-128"/>
            </a:endParaRPr>
          </a:p>
          <a:p>
            <a:r>
              <a:rPr lang="en-US" dirty="0">
                <a:latin typeface="Helvetica" charset="0"/>
                <a:ea typeface="MS PGothic" panose="020B0600070205080204" charset="-128"/>
              </a:rPr>
              <a:t>Layers may need same information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1"/>
            <a:r>
              <a:rPr lang="en-US" sz="2000" dirty="0">
                <a:latin typeface="Helvetica" charset="0"/>
                <a:ea typeface="MS PGothic" panose="020B0600070205080204" charset="-128"/>
              </a:rPr>
              <a:t>E.g., timestamps, maximum transmission unit size</a:t>
            </a:r>
            <a:endParaRPr lang="en-US" sz="2000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>
                <a:latin typeface="Helvetica" charset="0"/>
                <a:ea typeface="MS PGothic" panose="020B0600070205080204" charset="-128"/>
              </a:rPr>
              <a:t>Drawbacks of Layering</a:t>
            </a:r>
            <a:endParaRPr lang="en-US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圆角矩形 3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914400"/>
            <a:ext cx="8229600" cy="5105400"/>
          </a:xfrm>
        </p:spPr>
        <p:txBody>
          <a:bodyPr/>
          <a:lstStyle/>
          <a:p>
            <a:r>
              <a:rPr kumimoji="1" lang="en-US" altLang="zh-CN" dirty="0"/>
              <a:t>Deals with where to place functionality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Inside the network (in switching elements)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At the edges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en-US" altLang="zh-CN" dirty="0"/>
              <a:t>Argument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If you have to implement a function end-to-end anyway, </a:t>
            </a:r>
            <a:r>
              <a:rPr kumimoji="1" lang="en-US" altLang="zh-CN" dirty="0">
                <a:solidFill>
                  <a:srgbClr val="FF0000"/>
                </a:solidFill>
              </a:rPr>
              <a:t>don’t implement it inside the communication system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pPr lvl="1"/>
            <a:r>
              <a:rPr kumimoji="1" lang="en-US" altLang="zh-CN" dirty="0"/>
              <a:t>True</a:t>
            </a:r>
            <a:r>
              <a:rPr kumimoji="1" lang="zh-CN" altLang="en-US" dirty="0"/>
              <a:t> </a:t>
            </a:r>
            <a:r>
              <a:rPr kumimoji="1" lang="en-US" altLang="zh-CN" dirty="0"/>
              <a:t>or</a:t>
            </a:r>
            <a:r>
              <a:rPr kumimoji="1" lang="zh-CN" altLang="en-US" dirty="0"/>
              <a:t> </a:t>
            </a:r>
            <a:r>
              <a:rPr kumimoji="1" lang="en-US" altLang="zh-CN" dirty="0"/>
              <a:t>False:</a:t>
            </a:r>
            <a:r>
              <a:rPr kumimoji="1" lang="zh-CN" altLang="en-US" dirty="0"/>
              <a:t> </a:t>
            </a:r>
            <a:r>
              <a:rPr kumimoji="1" lang="en-US" altLang="zh-CN" dirty="0"/>
              <a:t>if</a:t>
            </a:r>
            <a:r>
              <a:rPr kumimoji="1" lang="zh-CN" altLang="en-US" dirty="0"/>
              <a:t> </a:t>
            </a:r>
            <a:r>
              <a:rPr kumimoji="1" lang="en-US" altLang="zh-CN" dirty="0"/>
              <a:t>network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provide</a:t>
            </a:r>
            <a:r>
              <a:rPr kumimoji="1" lang="zh-CN" altLang="en-US" dirty="0"/>
              <a:t> </a:t>
            </a:r>
            <a:r>
              <a:rPr kumimoji="1" lang="en-US" altLang="zh-CN" dirty="0"/>
              <a:t>perfect</a:t>
            </a:r>
            <a:r>
              <a:rPr kumimoji="1" lang="zh-CN" altLang="en-US" dirty="0"/>
              <a:t> </a:t>
            </a:r>
            <a:r>
              <a:rPr kumimoji="1" lang="en-US" altLang="zh-CN" dirty="0"/>
              <a:t>delivery,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do</a:t>
            </a:r>
            <a:r>
              <a:rPr kumimoji="1" lang="zh-CN" altLang="en-US" dirty="0"/>
              <a:t> </a:t>
            </a:r>
            <a:r>
              <a:rPr kumimoji="1" lang="en-US" altLang="zh-CN" dirty="0"/>
              <a:t>not</a:t>
            </a:r>
            <a:r>
              <a:rPr kumimoji="1" lang="zh-CN" altLang="en-US" dirty="0"/>
              <a:t> </a:t>
            </a:r>
            <a:r>
              <a:rPr kumimoji="1" lang="en-US" altLang="zh-CN" dirty="0"/>
              <a:t>need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handle</a:t>
            </a:r>
            <a:r>
              <a:rPr kumimoji="1" lang="zh-CN" altLang="en-US" dirty="0"/>
              <a:t> </a:t>
            </a:r>
            <a:r>
              <a:rPr kumimoji="1" lang="en-US" altLang="zh-CN" dirty="0"/>
              <a:t>network</a:t>
            </a:r>
            <a:r>
              <a:rPr kumimoji="1" lang="zh-CN" altLang="en-US" dirty="0"/>
              <a:t> </a:t>
            </a:r>
            <a:r>
              <a:rPr kumimoji="1" lang="en-US" altLang="zh-CN" dirty="0"/>
              <a:t>I/O</a:t>
            </a:r>
            <a:r>
              <a:rPr kumimoji="1" lang="zh-CN" altLang="en-US" dirty="0"/>
              <a:t> </a:t>
            </a:r>
            <a:r>
              <a:rPr kumimoji="1" lang="en-US" altLang="zh-CN" dirty="0"/>
              <a:t>errors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software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Unless there’s a compelling performance enhancement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en-US" altLang="zh-CN" dirty="0"/>
              <a:t>Key motivation for split of functionality between TCP,UPD and IP</a:t>
            </a:r>
            <a:endParaRPr kumimoji="1"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kumimoji="1" lang="en-US" altLang="zh-CN" dirty="0"/>
              <a:t>End-to-End Argument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/</a:t>
            </a:r>
            <a:r>
              <a:rPr kumimoji="1" lang="zh-CN" altLang="en-US" dirty="0"/>
              <a:t> </a:t>
            </a:r>
            <a:r>
              <a:rPr kumimoji="1" lang="en-US" altLang="zh-CN" dirty="0"/>
              <a:t>Reasoning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886" y="6172201"/>
            <a:ext cx="8763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“End-to-End Arguments in System Design.” Saltzer, Reed, and Clark.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Remote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procedure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calls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Recall: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“virtual</a:t>
            </a:r>
            <a:r>
              <a:rPr kumimoji="1" lang="zh-CN" altLang="en-US" dirty="0"/>
              <a:t> </a:t>
            </a:r>
            <a:r>
              <a:rPr kumimoji="1" lang="en-US" altLang="zh-CN" dirty="0"/>
              <a:t>machine”,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cannot</a:t>
            </a:r>
            <a:r>
              <a:rPr kumimoji="1" lang="zh-CN" altLang="en-US" dirty="0"/>
              <a:t> </a:t>
            </a:r>
            <a:r>
              <a:rPr kumimoji="1" lang="en-US" altLang="zh-CN" dirty="0"/>
              <a:t>see</a:t>
            </a:r>
            <a:r>
              <a:rPr kumimoji="1" lang="zh-CN" altLang="en-US" dirty="0"/>
              <a:t> </a:t>
            </a:r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other</a:t>
            </a:r>
            <a:endParaRPr kumimoji="1" lang="en-US" altLang="zh-CN" dirty="0"/>
          </a:p>
          <a:p>
            <a:r>
              <a:rPr kumimoji="1" lang="en-US" altLang="zh-CN" dirty="0"/>
              <a:t>Recall: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inter-process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communication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mechanisms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learned</a:t>
            </a:r>
            <a:r>
              <a:rPr kumimoji="1" lang="zh-CN" altLang="en-US" dirty="0"/>
              <a:t> </a:t>
            </a:r>
            <a:r>
              <a:rPr kumimoji="1" lang="en-US" altLang="zh-CN" dirty="0"/>
              <a:t>so</a:t>
            </a:r>
            <a:r>
              <a:rPr kumimoji="1" lang="zh-CN" altLang="en-US" dirty="0"/>
              <a:t> </a:t>
            </a:r>
            <a:r>
              <a:rPr kumimoji="1" lang="en-US" altLang="zh-CN" dirty="0"/>
              <a:t>far..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fork()</a:t>
            </a:r>
            <a:r>
              <a:rPr kumimoji="1" lang="zh-CN" altLang="en-US" dirty="0"/>
              <a:t> </a:t>
            </a:r>
            <a:r>
              <a:rPr kumimoji="1" lang="en-US" altLang="zh-CN" dirty="0"/>
              <a:t>–</a:t>
            </a:r>
            <a:r>
              <a:rPr kumimoji="1" lang="zh-CN" altLang="en-US" dirty="0"/>
              <a:t> </a:t>
            </a:r>
            <a:r>
              <a:rPr kumimoji="1" lang="en-US" altLang="zh-CN" dirty="0"/>
              <a:t>return</a:t>
            </a:r>
            <a:r>
              <a:rPr kumimoji="1" lang="zh-CN" altLang="en-US" dirty="0"/>
              <a:t> </a:t>
            </a:r>
            <a:r>
              <a:rPr kumimoji="1" lang="en-US" altLang="zh-CN" dirty="0"/>
              <a:t>values</a:t>
            </a:r>
            <a:endParaRPr kumimoji="1" lang="en-US" altLang="zh-CN" dirty="0"/>
          </a:p>
          <a:p>
            <a:r>
              <a:rPr kumimoji="1" lang="en-US" altLang="zh-CN" dirty="0"/>
              <a:t>Signal</a:t>
            </a:r>
            <a:endParaRPr kumimoji="1" lang="en-US" altLang="zh-CN" dirty="0"/>
          </a:p>
          <a:p>
            <a:r>
              <a:rPr kumimoji="1" lang="en-US" altLang="zh-CN" dirty="0"/>
              <a:t>File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including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stdin</a:t>
            </a:r>
            <a:r>
              <a:rPr kumimoji="1" lang="zh-CN" altLang="en-US" dirty="0"/>
              <a:t> </a:t>
            </a:r>
            <a:r>
              <a:rPr kumimoji="1" lang="en-US" altLang="zh-CN" dirty="0"/>
              <a:t>/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stdout</a:t>
            </a:r>
            <a:endParaRPr kumimoji="1" lang="en-US" altLang="zh-CN" dirty="0"/>
          </a:p>
          <a:p>
            <a:r>
              <a:rPr kumimoji="1" lang="en-US" altLang="zh-CN" dirty="0"/>
              <a:t>Pipes</a:t>
            </a:r>
            <a:endParaRPr kumimoji="1" lang="en-US" altLang="zh-CN" dirty="0"/>
          </a:p>
          <a:p>
            <a:r>
              <a:rPr kumimoji="1" lang="en-US" altLang="zh-CN" dirty="0"/>
              <a:t>Shared</a:t>
            </a:r>
            <a:r>
              <a:rPr kumimoji="1" lang="zh-CN" altLang="en-US" dirty="0"/>
              <a:t> </a:t>
            </a:r>
            <a:r>
              <a:rPr kumimoji="1" lang="en-US" altLang="zh-CN" dirty="0"/>
              <a:t>memory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segments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Networking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-</a:t>
            </a:r>
            <a:r>
              <a:rPr kumimoji="1" lang="zh-CN" altLang="en-US" dirty="0"/>
              <a:t> </a:t>
            </a:r>
            <a:r>
              <a:rPr kumimoji="1" lang="en-US" altLang="zh-CN" dirty="0"/>
              <a:t>Socket</a:t>
            </a:r>
            <a:endParaRPr kumimoji="1"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kumimoji="1" lang="en-US" altLang="zh-CN" dirty="0"/>
              <a:t>Inter-process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communication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(IPC)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7" name="Google Shape;927;p53"/>
          <p:cNvGrpSpPr/>
          <p:nvPr/>
        </p:nvGrpSpPr>
        <p:grpSpPr>
          <a:xfrm>
            <a:off x="990600" y="1066800"/>
            <a:ext cx="7098108" cy="4679156"/>
            <a:chOff x="0" y="0"/>
            <a:chExt cx="2147483646" cy="2147483647"/>
          </a:xfrm>
        </p:grpSpPr>
        <p:grpSp>
          <p:nvGrpSpPr>
            <p:cNvPr id="928" name="Google Shape;928;p53"/>
            <p:cNvGrpSpPr/>
            <p:nvPr/>
          </p:nvGrpSpPr>
          <p:grpSpPr>
            <a:xfrm>
              <a:off x="41163292" y="1133199839"/>
              <a:ext cx="1737498295" cy="534168204"/>
              <a:chOff x="0" y="0"/>
              <a:chExt cx="2147483647" cy="2147483647"/>
            </a:xfrm>
          </p:grpSpPr>
          <p:sp>
            <p:nvSpPr>
              <p:cNvPr id="929" name="Google Shape;929;p53"/>
              <p:cNvSpPr/>
              <p:nvPr/>
            </p:nvSpPr>
            <p:spPr>
              <a:xfrm>
                <a:off x="341888034" y="0"/>
                <a:ext cx="1805595612" cy="21470112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599"/>
                    </a:lnTo>
                    <a:lnTo>
                      <a:pt x="0" y="2159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DA9"/>
              </a:solidFill>
              <a:ln w="12600" cap="flat" cmpd="sng">
                <a:solidFill>
                  <a:srgbClr val="011279"/>
                </a:solidFill>
                <a:prstDash val="solid"/>
                <a:miter lim="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endParaRPr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grpSp>
            <p:nvGrpSpPr>
              <p:cNvPr id="930" name="Google Shape;930;p53"/>
              <p:cNvGrpSpPr/>
              <p:nvPr/>
            </p:nvGrpSpPr>
            <p:grpSpPr>
              <a:xfrm>
                <a:off x="1952118938" y="564992734"/>
                <a:ext cx="129734398" cy="1129985218"/>
                <a:chOff x="35002764" y="-453910"/>
                <a:chExt cx="914120636" cy="1632688110"/>
              </a:xfrm>
            </p:grpSpPr>
            <p:cxnSp>
              <p:nvCxnSpPr>
                <p:cNvPr id="931" name="Google Shape;931;p53"/>
                <p:cNvCxnSpPr/>
                <p:nvPr/>
              </p:nvCxnSpPr>
              <p:spPr>
                <a:xfrm>
                  <a:off x="78020863" y="1591602100"/>
                  <a:ext cx="835255188" cy="3695700"/>
                </a:xfrm>
                <a:prstGeom prst="straightConnector1">
                  <a:avLst/>
                </a:prstGeom>
                <a:noFill/>
                <a:ln w="12600" cap="flat" cmpd="sng">
                  <a:solidFill>
                    <a:srgbClr val="011279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32" name="Google Shape;932;p53"/>
                <p:cNvCxnSpPr/>
                <p:nvPr/>
              </p:nvCxnSpPr>
              <p:spPr>
                <a:xfrm rot="10800000" flipH="1">
                  <a:off x="906105300" y="-453910"/>
                  <a:ext cx="3582987" cy="1632688110"/>
                </a:xfrm>
                <a:prstGeom prst="straightConnector1">
                  <a:avLst/>
                </a:prstGeom>
                <a:noFill/>
                <a:ln w="12600" cap="flat" cmpd="sng">
                  <a:solidFill>
                    <a:srgbClr val="011279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33" name="Google Shape;933;p53"/>
                <p:cNvCxnSpPr/>
                <p:nvPr/>
              </p:nvCxnSpPr>
              <p:spPr>
                <a:xfrm flipH="1">
                  <a:off x="35002764" y="43872150"/>
                  <a:ext cx="914120636" cy="3692525"/>
                </a:xfrm>
                <a:prstGeom prst="straightConnector1">
                  <a:avLst/>
                </a:prstGeom>
                <a:noFill/>
                <a:ln w="12600" cap="flat" cmpd="sng">
                  <a:solidFill>
                    <a:srgbClr val="011279"/>
                  </a:solidFill>
                  <a:prstDash val="solid"/>
                  <a:miter lim="800000"/>
                  <a:headEnd type="none" w="med" len="med"/>
                  <a:tailEnd type="triangle" w="med" len="med"/>
                </a:ln>
              </p:spPr>
            </p:cxnSp>
          </p:grpSp>
          <p:grpSp>
            <p:nvGrpSpPr>
              <p:cNvPr id="934" name="Google Shape;934;p53"/>
              <p:cNvGrpSpPr/>
              <p:nvPr/>
            </p:nvGrpSpPr>
            <p:grpSpPr>
              <a:xfrm>
                <a:off x="457885554" y="564992734"/>
                <a:ext cx="134313205" cy="1129985218"/>
                <a:chOff x="1081082" y="-453910"/>
                <a:chExt cx="946384918" cy="1632688110"/>
              </a:xfrm>
            </p:grpSpPr>
            <p:cxnSp>
              <p:nvCxnSpPr>
                <p:cNvPr id="935" name="Google Shape;935;p53"/>
                <p:cNvCxnSpPr/>
                <p:nvPr/>
              </p:nvCxnSpPr>
              <p:spPr>
                <a:xfrm flipH="1">
                  <a:off x="1081082" y="1591602100"/>
                  <a:ext cx="946384918" cy="3695700"/>
                </a:xfrm>
                <a:prstGeom prst="straightConnector1">
                  <a:avLst/>
                </a:prstGeom>
                <a:noFill/>
                <a:ln w="12600" cap="flat" cmpd="sng">
                  <a:solidFill>
                    <a:srgbClr val="011279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36" name="Google Shape;936;p53"/>
                <p:cNvCxnSpPr/>
                <p:nvPr/>
              </p:nvCxnSpPr>
              <p:spPr>
                <a:xfrm rot="10800000" flipH="1">
                  <a:off x="44099163" y="-453910"/>
                  <a:ext cx="3582987" cy="1632688110"/>
                </a:xfrm>
                <a:prstGeom prst="straightConnector1">
                  <a:avLst/>
                </a:prstGeom>
                <a:noFill/>
                <a:ln w="12600" cap="flat" cmpd="sng">
                  <a:solidFill>
                    <a:srgbClr val="011279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37" name="Google Shape;937;p53"/>
                <p:cNvCxnSpPr/>
                <p:nvPr/>
              </p:nvCxnSpPr>
              <p:spPr>
                <a:xfrm>
                  <a:off x="44099163" y="43872150"/>
                  <a:ext cx="867519562" cy="3692525"/>
                </a:xfrm>
                <a:prstGeom prst="straightConnector1">
                  <a:avLst/>
                </a:prstGeom>
                <a:noFill/>
                <a:ln w="12600" cap="flat" cmpd="sng">
                  <a:solidFill>
                    <a:srgbClr val="011279"/>
                  </a:solidFill>
                  <a:prstDash val="solid"/>
                  <a:miter lim="800000"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938" name="Google Shape;938;p53"/>
              <p:cNvSpPr/>
              <p:nvPr/>
            </p:nvSpPr>
            <p:spPr>
              <a:xfrm>
                <a:off x="0" y="521531015"/>
                <a:ext cx="320519945" cy="119901277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38100" tIns="38100" rIns="38100" bIns="38100" anchor="ctr" anchorCtr="0">
                <a:noAutofit/>
              </a:bodyPr>
              <a:lstStyle/>
              <a:p>
                <a:pPr marL="28575">
                  <a:buClr>
                    <a:srgbClr val="011279"/>
                  </a:buClr>
                  <a:buSzPts val="1500"/>
                </a:pPr>
                <a:r>
                  <a:rPr lang="en-GB" sz="1125">
                    <a:solidFill>
                      <a:srgbClr val="011279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Client / Server</a:t>
                </a:r>
                <a:endParaRPr lang="en-GB" sz="1125">
                  <a:solidFill>
                    <a:srgbClr val="011279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  <a:p>
                <a:pPr marL="28575">
                  <a:buClr>
                    <a:srgbClr val="011279"/>
                  </a:buClr>
                  <a:buSzPts val="1500"/>
                </a:pPr>
                <a:r>
                  <a:rPr lang="en-GB" sz="1125">
                    <a:solidFill>
                      <a:srgbClr val="011279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Session</a:t>
                </a:r>
                <a:endParaRPr lang="en-GB" sz="1125">
                  <a:solidFill>
                    <a:srgbClr val="011279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939" name="Google Shape;939;p53"/>
            <p:cNvSpPr/>
            <p:nvPr/>
          </p:nvSpPr>
          <p:spPr>
            <a:xfrm>
              <a:off x="630620190" y="0"/>
              <a:ext cx="172473645" cy="11828013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26775" tIns="26775" rIns="26775" bIns="26775" anchor="ctr" anchorCtr="0">
              <a:noAutofit/>
            </a:bodyPr>
            <a:lstStyle/>
            <a:p>
              <a:pPr marL="28575" algn="ctr">
                <a:buClr>
                  <a:srgbClr val="011279"/>
                </a:buClr>
                <a:buSzPts val="1500"/>
              </a:pPr>
              <a:r>
                <a:rPr lang="en-GB" sz="1125">
                  <a:solidFill>
                    <a:srgbClr val="011279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Client</a:t>
              </a:r>
              <a:endParaRPr lang="en-GB" sz="1125">
                <a:solidFill>
                  <a:srgbClr val="01127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40" name="Google Shape;940;p53"/>
            <p:cNvSpPr/>
            <p:nvPr/>
          </p:nvSpPr>
          <p:spPr>
            <a:xfrm>
              <a:off x="1356327166" y="0"/>
              <a:ext cx="189762342" cy="11828013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26775" tIns="26775" rIns="26775" bIns="26775" anchor="ctr" anchorCtr="0">
              <a:noAutofit/>
            </a:bodyPr>
            <a:lstStyle/>
            <a:p>
              <a:pPr marL="28575" algn="ctr">
                <a:buClr>
                  <a:srgbClr val="011279"/>
                </a:buClr>
                <a:buSzPts val="1500"/>
              </a:pPr>
              <a:r>
                <a:rPr lang="en-GB" sz="1125">
                  <a:solidFill>
                    <a:srgbClr val="011279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Server</a:t>
              </a:r>
              <a:endParaRPr lang="en-GB" sz="1125">
                <a:solidFill>
                  <a:srgbClr val="01127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cxnSp>
          <p:nvCxnSpPr>
            <p:cNvPr id="941" name="Google Shape;941;p53"/>
            <p:cNvCxnSpPr/>
            <p:nvPr/>
          </p:nvCxnSpPr>
          <p:spPr>
            <a:xfrm>
              <a:off x="712946405" y="303331412"/>
              <a:ext cx="0" cy="653083926"/>
            </a:xfrm>
            <a:prstGeom prst="straightConnector1">
              <a:avLst/>
            </a:prstGeom>
            <a:noFill/>
            <a:ln w="12600" cap="flat" cmpd="sng">
              <a:solidFill>
                <a:srgbClr val="011279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cxnSp>
          <p:nvCxnSpPr>
            <p:cNvPr id="942" name="Google Shape;942;p53"/>
            <p:cNvCxnSpPr/>
            <p:nvPr/>
          </p:nvCxnSpPr>
          <p:spPr>
            <a:xfrm>
              <a:off x="1444004789" y="280438602"/>
              <a:ext cx="0" cy="117643858"/>
            </a:xfrm>
            <a:prstGeom prst="straightConnector1">
              <a:avLst/>
            </a:prstGeom>
            <a:noFill/>
            <a:ln w="12600" cap="flat" cmpd="sng">
              <a:solidFill>
                <a:srgbClr val="011279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cxnSp>
          <p:nvCxnSpPr>
            <p:cNvPr id="943" name="Google Shape;943;p53"/>
            <p:cNvCxnSpPr/>
            <p:nvPr/>
          </p:nvCxnSpPr>
          <p:spPr>
            <a:xfrm>
              <a:off x="1444004789" y="546886482"/>
              <a:ext cx="0" cy="118280133"/>
            </a:xfrm>
            <a:prstGeom prst="straightConnector1">
              <a:avLst/>
            </a:prstGeom>
            <a:noFill/>
            <a:ln w="12600" cap="flat" cmpd="sng">
              <a:solidFill>
                <a:srgbClr val="011279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cxnSp>
          <p:nvCxnSpPr>
            <p:cNvPr id="944" name="Google Shape;944;p53"/>
            <p:cNvCxnSpPr/>
            <p:nvPr/>
          </p:nvCxnSpPr>
          <p:spPr>
            <a:xfrm>
              <a:off x="1444004789" y="813335145"/>
              <a:ext cx="0" cy="118280133"/>
            </a:xfrm>
            <a:prstGeom prst="straightConnector1">
              <a:avLst/>
            </a:prstGeom>
            <a:noFill/>
            <a:ln w="12600" cap="flat" cmpd="sng">
              <a:solidFill>
                <a:srgbClr val="011279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cxnSp>
          <p:nvCxnSpPr>
            <p:cNvPr id="945" name="Google Shape;945;p53"/>
            <p:cNvCxnSpPr/>
            <p:nvPr/>
          </p:nvCxnSpPr>
          <p:spPr>
            <a:xfrm>
              <a:off x="772221598" y="1014919467"/>
              <a:ext cx="474611446" cy="0"/>
            </a:xfrm>
            <a:prstGeom prst="straightConnector1">
              <a:avLst/>
            </a:prstGeom>
            <a:noFill/>
            <a:ln w="12600" cap="flat" cmpd="sng">
              <a:solidFill>
                <a:srgbClr val="011279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grpSp>
          <p:nvGrpSpPr>
            <p:cNvPr id="946" name="Google Shape;946;p53"/>
            <p:cNvGrpSpPr/>
            <p:nvPr/>
          </p:nvGrpSpPr>
          <p:grpSpPr>
            <a:xfrm>
              <a:off x="515363182" y="150075710"/>
              <a:ext cx="395578049" cy="149440089"/>
              <a:chOff x="0" y="0"/>
              <a:chExt cx="2147483647" cy="2147483646"/>
            </a:xfrm>
          </p:grpSpPr>
          <p:sp>
            <p:nvSpPr>
              <p:cNvPr id="947" name="Google Shape;947;p53"/>
              <p:cNvSpPr/>
              <p:nvPr/>
            </p:nvSpPr>
            <p:spPr>
              <a:xfrm>
                <a:off x="0" y="0"/>
                <a:ext cx="2147011200" cy="21470112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4FEFF"/>
              </a:solidFill>
              <a:ln w="12600" cap="flat" cmpd="sng">
                <a:solidFill>
                  <a:srgbClr val="011279"/>
                </a:solidFill>
                <a:prstDash val="solid"/>
                <a:miter lim="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endParaRPr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948" name="Google Shape;948;p53"/>
              <p:cNvSpPr/>
              <p:nvPr/>
            </p:nvSpPr>
            <p:spPr>
              <a:xfrm>
                <a:off x="581005984" y="347251972"/>
                <a:ext cx="981004072" cy="139815055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38100" tIns="38100" rIns="38100" bIns="38100" anchor="ctr" anchorCtr="0">
                <a:noAutofit/>
              </a:bodyPr>
              <a:lstStyle/>
              <a:p>
                <a:pPr marL="28575" algn="ctr">
                  <a:buClr>
                    <a:srgbClr val="011279"/>
                  </a:buClr>
                  <a:buSzPts val="1300"/>
                </a:pPr>
                <a:r>
                  <a:rPr lang="en-GB" sz="975">
                    <a:solidFill>
                      <a:srgbClr val="011279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socket</a:t>
                </a:r>
                <a:endParaRPr lang="en-GB" sz="975">
                  <a:solidFill>
                    <a:srgbClr val="011279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949" name="Google Shape;949;p53"/>
            <p:cNvGrpSpPr/>
            <p:nvPr/>
          </p:nvGrpSpPr>
          <p:grpSpPr>
            <a:xfrm>
              <a:off x="1246421686" y="150075710"/>
              <a:ext cx="374996446" cy="149440089"/>
              <a:chOff x="0" y="0"/>
              <a:chExt cx="2147483647" cy="2147483646"/>
            </a:xfrm>
          </p:grpSpPr>
          <p:sp>
            <p:nvSpPr>
              <p:cNvPr id="950" name="Google Shape;950;p53"/>
              <p:cNvSpPr/>
              <p:nvPr/>
            </p:nvSpPr>
            <p:spPr>
              <a:xfrm>
                <a:off x="0" y="0"/>
                <a:ext cx="2147011200" cy="21470112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4FEFF"/>
              </a:solidFill>
              <a:ln w="12600" cap="flat" cmpd="sng">
                <a:solidFill>
                  <a:srgbClr val="011279"/>
                </a:solidFill>
                <a:prstDash val="solid"/>
                <a:miter lim="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endParaRPr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951" name="Google Shape;951;p53"/>
              <p:cNvSpPr/>
              <p:nvPr/>
            </p:nvSpPr>
            <p:spPr>
              <a:xfrm>
                <a:off x="556317845" y="347251972"/>
                <a:ext cx="1037204250" cy="139815055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38100" tIns="38100" rIns="38100" bIns="38100" anchor="ctr" anchorCtr="0">
                <a:noAutofit/>
              </a:bodyPr>
              <a:lstStyle/>
              <a:p>
                <a:pPr marL="28575" algn="ctr">
                  <a:buClr>
                    <a:srgbClr val="011279"/>
                  </a:buClr>
                  <a:buSzPts val="1300"/>
                </a:pPr>
                <a:r>
                  <a:rPr lang="en-GB" sz="975">
                    <a:solidFill>
                      <a:srgbClr val="011279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socket</a:t>
                </a:r>
                <a:endParaRPr lang="en-GB" sz="975">
                  <a:solidFill>
                    <a:srgbClr val="011279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952" name="Google Shape;952;p53"/>
            <p:cNvGrpSpPr/>
            <p:nvPr/>
          </p:nvGrpSpPr>
          <p:grpSpPr>
            <a:xfrm>
              <a:off x="1246421686" y="411437113"/>
              <a:ext cx="374996446" cy="148804133"/>
              <a:chOff x="0" y="0"/>
              <a:chExt cx="2147483647" cy="2147483647"/>
            </a:xfrm>
          </p:grpSpPr>
          <p:sp>
            <p:nvSpPr>
              <p:cNvPr id="953" name="Google Shape;953;p53"/>
              <p:cNvSpPr/>
              <p:nvPr/>
            </p:nvSpPr>
            <p:spPr>
              <a:xfrm>
                <a:off x="0" y="0"/>
                <a:ext cx="2147011200" cy="21470112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4FEFF"/>
              </a:solidFill>
              <a:ln w="12600" cap="flat" cmpd="sng">
                <a:solidFill>
                  <a:srgbClr val="011279"/>
                </a:solidFill>
                <a:prstDash val="solid"/>
                <a:miter lim="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endParaRPr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954" name="Google Shape;954;p53"/>
              <p:cNvSpPr/>
              <p:nvPr/>
            </p:nvSpPr>
            <p:spPr>
              <a:xfrm>
                <a:off x="700111658" y="367091823"/>
                <a:ext cx="749615636" cy="139494807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38100" tIns="38100" rIns="38100" bIns="38100" anchor="ctr" anchorCtr="0">
                <a:noAutofit/>
              </a:bodyPr>
              <a:lstStyle/>
              <a:p>
                <a:pPr marL="28575" algn="ctr">
                  <a:buClr>
                    <a:srgbClr val="011279"/>
                  </a:buClr>
                  <a:buSzPts val="1300"/>
                </a:pPr>
                <a:r>
                  <a:rPr lang="en-GB" sz="975">
                    <a:solidFill>
                      <a:srgbClr val="011279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bind</a:t>
                </a:r>
                <a:endParaRPr lang="en-GB" sz="975">
                  <a:solidFill>
                    <a:srgbClr val="011279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955" name="Google Shape;955;p53"/>
            <p:cNvGrpSpPr/>
            <p:nvPr/>
          </p:nvGrpSpPr>
          <p:grpSpPr>
            <a:xfrm>
              <a:off x="1246421686" y="673433836"/>
              <a:ext cx="374996446" cy="148804133"/>
              <a:chOff x="0" y="0"/>
              <a:chExt cx="2147483647" cy="2147483647"/>
            </a:xfrm>
          </p:grpSpPr>
          <p:sp>
            <p:nvSpPr>
              <p:cNvPr id="956" name="Google Shape;956;p53"/>
              <p:cNvSpPr/>
              <p:nvPr/>
            </p:nvSpPr>
            <p:spPr>
              <a:xfrm>
                <a:off x="0" y="0"/>
                <a:ext cx="2147011200" cy="21470112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4FEFF"/>
              </a:solidFill>
              <a:ln w="12600" cap="flat" cmpd="sng">
                <a:solidFill>
                  <a:srgbClr val="011279"/>
                </a:solidFill>
                <a:prstDash val="solid"/>
                <a:miter lim="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endParaRPr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957" name="Google Shape;957;p53"/>
              <p:cNvSpPr/>
              <p:nvPr/>
            </p:nvSpPr>
            <p:spPr>
              <a:xfrm>
                <a:off x="556317845" y="367091826"/>
                <a:ext cx="1037204250" cy="139494807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38100" tIns="38100" rIns="38100" bIns="38100" anchor="ctr" anchorCtr="0">
                <a:noAutofit/>
              </a:bodyPr>
              <a:lstStyle/>
              <a:p>
                <a:pPr marL="28575" algn="ctr">
                  <a:buClr>
                    <a:srgbClr val="011279"/>
                  </a:buClr>
                  <a:buSzPts val="1300"/>
                </a:pPr>
                <a:r>
                  <a:rPr lang="en-GB" sz="975">
                    <a:solidFill>
                      <a:srgbClr val="011279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listen</a:t>
                </a:r>
                <a:endParaRPr lang="en-GB" sz="975">
                  <a:solidFill>
                    <a:srgbClr val="011279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958" name="Google Shape;958;p53"/>
            <p:cNvGrpSpPr/>
            <p:nvPr/>
          </p:nvGrpSpPr>
          <p:grpSpPr>
            <a:xfrm>
              <a:off x="515363189" y="1080419053"/>
              <a:ext cx="1106054950" cy="541799197"/>
              <a:chOff x="0" y="0"/>
              <a:chExt cx="2147483647" cy="2147483647"/>
            </a:xfrm>
          </p:grpSpPr>
          <p:cxnSp>
            <p:nvCxnSpPr>
              <p:cNvPr id="959" name="Google Shape;959;p53"/>
              <p:cNvCxnSpPr/>
              <p:nvPr/>
            </p:nvCxnSpPr>
            <p:spPr>
              <a:xfrm>
                <a:off x="383622067" y="0"/>
                <a:ext cx="798936" cy="466295321"/>
              </a:xfrm>
              <a:prstGeom prst="straightConnector1">
                <a:avLst/>
              </a:prstGeom>
              <a:noFill/>
              <a:ln w="12600" cap="flat" cmpd="sng">
                <a:solidFill>
                  <a:srgbClr val="011279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</p:cxnSp>
          <p:cxnSp>
            <p:nvCxnSpPr>
              <p:cNvPr id="960" name="Google Shape;960;p53"/>
              <p:cNvCxnSpPr/>
              <p:nvPr/>
            </p:nvCxnSpPr>
            <p:spPr>
              <a:xfrm>
                <a:off x="383622067" y="1056097545"/>
                <a:ext cx="798936" cy="466297474"/>
              </a:xfrm>
              <a:prstGeom prst="straightConnector1">
                <a:avLst/>
              </a:prstGeom>
              <a:noFill/>
              <a:ln w="12600" cap="flat" cmpd="sng">
                <a:solidFill>
                  <a:srgbClr val="011279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</p:cxnSp>
          <p:cxnSp>
            <p:nvCxnSpPr>
              <p:cNvPr id="961" name="Google Shape;961;p53"/>
              <p:cNvCxnSpPr/>
              <p:nvPr/>
            </p:nvCxnSpPr>
            <p:spPr>
              <a:xfrm>
                <a:off x="1803023253" y="0"/>
                <a:ext cx="798936" cy="466295321"/>
              </a:xfrm>
              <a:prstGeom prst="straightConnector1">
                <a:avLst/>
              </a:prstGeom>
              <a:noFill/>
              <a:ln w="12600" cap="flat" cmpd="sng">
                <a:solidFill>
                  <a:srgbClr val="011279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</p:cxnSp>
          <p:cxnSp>
            <p:nvCxnSpPr>
              <p:cNvPr id="962" name="Google Shape;962;p53"/>
              <p:cNvCxnSpPr/>
              <p:nvPr/>
            </p:nvCxnSpPr>
            <p:spPr>
              <a:xfrm>
                <a:off x="1803023253" y="1056097545"/>
                <a:ext cx="798936" cy="466297474"/>
              </a:xfrm>
              <a:prstGeom prst="straightConnector1">
                <a:avLst/>
              </a:prstGeom>
              <a:noFill/>
              <a:ln w="12600" cap="flat" cmpd="sng">
                <a:solidFill>
                  <a:srgbClr val="011279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</p:cxnSp>
          <p:cxnSp>
            <p:nvCxnSpPr>
              <p:cNvPr id="963" name="Google Shape;963;p53"/>
              <p:cNvCxnSpPr/>
              <p:nvPr/>
            </p:nvCxnSpPr>
            <p:spPr>
              <a:xfrm>
                <a:off x="767244221" y="796484506"/>
                <a:ext cx="651357733" cy="2519842"/>
              </a:xfrm>
              <a:prstGeom prst="straightConnector1">
                <a:avLst/>
              </a:prstGeom>
              <a:noFill/>
              <a:ln w="12600" cap="flat" cmpd="sng">
                <a:solidFill>
                  <a:srgbClr val="011279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</p:cxnSp>
          <p:cxnSp>
            <p:nvCxnSpPr>
              <p:cNvPr id="964" name="Google Shape;964;p53"/>
              <p:cNvCxnSpPr/>
              <p:nvPr/>
            </p:nvCxnSpPr>
            <p:spPr>
              <a:xfrm flipH="1">
                <a:off x="757653448" y="1852582103"/>
                <a:ext cx="669739983" cy="2520924"/>
              </a:xfrm>
              <a:prstGeom prst="straightConnector1">
                <a:avLst/>
              </a:prstGeom>
              <a:noFill/>
              <a:ln w="12600" cap="flat" cmpd="sng">
                <a:solidFill>
                  <a:srgbClr val="011279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</p:cxnSp>
          <p:grpSp>
            <p:nvGrpSpPr>
              <p:cNvPr id="965" name="Google Shape;965;p53"/>
              <p:cNvGrpSpPr/>
              <p:nvPr/>
            </p:nvGrpSpPr>
            <p:grpSpPr>
              <a:xfrm>
                <a:off x="1419401168" y="536869347"/>
                <a:ext cx="728082478" cy="572158941"/>
                <a:chOff x="0" y="0"/>
                <a:chExt cx="2147483647" cy="2147483647"/>
              </a:xfrm>
            </p:grpSpPr>
            <p:sp>
              <p:nvSpPr>
                <p:cNvPr id="966" name="Google Shape;966;p53"/>
                <p:cNvSpPr/>
                <p:nvPr/>
              </p:nvSpPr>
              <p:spPr>
                <a:xfrm>
                  <a:off x="0" y="0"/>
                  <a:ext cx="2147011200" cy="214701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21599" y="0"/>
                      </a:lnTo>
                      <a:lnTo>
                        <a:pt x="21599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4FEFF"/>
                </a:solidFill>
                <a:ln w="12600" cap="flat" cmpd="sng">
                  <a:solidFill>
                    <a:srgbClr val="011279"/>
                  </a:solidFill>
                  <a:prstDash val="solid"/>
                  <a:miter lim="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endParaRPr>
                    <a:solidFill>
                      <a:schemeClr val="dk1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endParaRPr>
                </a:p>
              </p:txBody>
            </p:sp>
            <p:sp>
              <p:nvSpPr>
                <p:cNvPr id="967" name="Google Shape;967;p53"/>
                <p:cNvSpPr/>
                <p:nvPr/>
              </p:nvSpPr>
              <p:spPr>
                <a:xfrm>
                  <a:off x="700112189" y="397330668"/>
                  <a:ext cx="749615808" cy="1352818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21599" y="0"/>
                      </a:lnTo>
                      <a:lnTo>
                        <a:pt x="21599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txBody>
                <a:bodyPr spcFirstLastPara="1" wrap="square" lIns="38100" tIns="38100" rIns="38100" bIns="38100" anchor="ctr" anchorCtr="0">
                  <a:noAutofit/>
                </a:bodyPr>
                <a:lstStyle/>
                <a:p>
                  <a:pPr marL="28575" algn="ctr">
                    <a:buClr>
                      <a:srgbClr val="011279"/>
                    </a:buClr>
                    <a:buSzPts val="1300"/>
                  </a:pPr>
                  <a:r>
                    <a:rPr lang="en-GB" sz="975">
                      <a:solidFill>
                        <a:srgbClr val="011279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rPr>
                    <a:t>read</a:t>
                  </a:r>
                  <a:endParaRPr lang="en-GB" sz="975">
                    <a:solidFill>
                      <a:srgbClr val="011279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968" name="Google Shape;968;p53"/>
              <p:cNvGrpSpPr/>
              <p:nvPr/>
            </p:nvGrpSpPr>
            <p:grpSpPr>
              <a:xfrm>
                <a:off x="1419401168" y="1575324706"/>
                <a:ext cx="728082478" cy="572158941"/>
                <a:chOff x="0" y="0"/>
                <a:chExt cx="2147483647" cy="2147483647"/>
              </a:xfrm>
            </p:grpSpPr>
            <p:sp>
              <p:nvSpPr>
                <p:cNvPr id="969" name="Google Shape;969;p53"/>
                <p:cNvSpPr/>
                <p:nvPr/>
              </p:nvSpPr>
              <p:spPr>
                <a:xfrm>
                  <a:off x="0" y="0"/>
                  <a:ext cx="2147011200" cy="214701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21599" y="0"/>
                      </a:lnTo>
                      <a:lnTo>
                        <a:pt x="21599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4FEFF"/>
                </a:solidFill>
                <a:ln w="12600" cap="flat" cmpd="sng">
                  <a:solidFill>
                    <a:srgbClr val="011279"/>
                  </a:solidFill>
                  <a:prstDash val="solid"/>
                  <a:miter lim="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endParaRPr>
                    <a:solidFill>
                      <a:schemeClr val="dk1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endParaRPr>
                </a:p>
              </p:txBody>
            </p:sp>
            <p:sp>
              <p:nvSpPr>
                <p:cNvPr id="970" name="Google Shape;970;p53"/>
                <p:cNvSpPr/>
                <p:nvPr/>
              </p:nvSpPr>
              <p:spPr>
                <a:xfrm>
                  <a:off x="627037682" y="397330668"/>
                  <a:ext cx="893409432" cy="1352818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21599" y="0"/>
                      </a:lnTo>
                      <a:lnTo>
                        <a:pt x="21599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txBody>
                <a:bodyPr spcFirstLastPara="1" wrap="square" lIns="38100" tIns="38100" rIns="38100" bIns="38100" anchor="ctr" anchorCtr="0">
                  <a:noAutofit/>
                </a:bodyPr>
                <a:lstStyle/>
                <a:p>
                  <a:pPr marL="28575" algn="ctr">
                    <a:buClr>
                      <a:srgbClr val="011279"/>
                    </a:buClr>
                    <a:buSzPts val="1300"/>
                  </a:pPr>
                  <a:r>
                    <a:rPr lang="en-GB" sz="975">
                      <a:solidFill>
                        <a:srgbClr val="011279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rPr>
                    <a:t>write</a:t>
                  </a:r>
                  <a:endParaRPr lang="en-GB" sz="975">
                    <a:solidFill>
                      <a:srgbClr val="011279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971" name="Google Shape;971;p53"/>
              <p:cNvGrpSpPr/>
              <p:nvPr/>
            </p:nvGrpSpPr>
            <p:grpSpPr>
              <a:xfrm>
                <a:off x="0" y="1575324706"/>
                <a:ext cx="774436354" cy="572158941"/>
                <a:chOff x="0" y="0"/>
                <a:chExt cx="2147483647" cy="2147483647"/>
              </a:xfrm>
            </p:grpSpPr>
            <p:sp>
              <p:nvSpPr>
                <p:cNvPr id="972" name="Google Shape;972;p53"/>
                <p:cNvSpPr/>
                <p:nvPr/>
              </p:nvSpPr>
              <p:spPr>
                <a:xfrm>
                  <a:off x="0" y="0"/>
                  <a:ext cx="2147011200" cy="214701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21599" y="0"/>
                      </a:lnTo>
                      <a:lnTo>
                        <a:pt x="21599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4FEFF"/>
                </a:solidFill>
                <a:ln w="12600" cap="flat" cmpd="sng">
                  <a:solidFill>
                    <a:srgbClr val="011279"/>
                  </a:solidFill>
                  <a:prstDash val="solid"/>
                  <a:miter lim="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endParaRPr>
                    <a:solidFill>
                      <a:schemeClr val="dk1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endParaRPr>
                </a:p>
              </p:txBody>
            </p:sp>
            <p:sp>
              <p:nvSpPr>
                <p:cNvPr id="973" name="Google Shape;973;p53"/>
                <p:cNvSpPr/>
                <p:nvPr/>
              </p:nvSpPr>
              <p:spPr>
                <a:xfrm>
                  <a:off x="731342039" y="397330668"/>
                  <a:ext cx="704747229" cy="1352818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21599" y="0"/>
                      </a:lnTo>
                      <a:lnTo>
                        <a:pt x="21599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txBody>
                <a:bodyPr spcFirstLastPara="1" wrap="square" lIns="38100" tIns="38100" rIns="38100" bIns="38100" anchor="ctr" anchorCtr="0">
                  <a:noAutofit/>
                </a:bodyPr>
                <a:lstStyle/>
                <a:p>
                  <a:pPr marL="28575" algn="ctr">
                    <a:buClr>
                      <a:srgbClr val="011279"/>
                    </a:buClr>
                    <a:buSzPts val="1300"/>
                  </a:pPr>
                  <a:r>
                    <a:rPr lang="en-GB" sz="975">
                      <a:solidFill>
                        <a:srgbClr val="011279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rPr>
                    <a:t>read</a:t>
                  </a:r>
                  <a:endParaRPr lang="en-GB" sz="975">
                    <a:solidFill>
                      <a:srgbClr val="011279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974" name="Google Shape;974;p53"/>
              <p:cNvGrpSpPr/>
              <p:nvPr/>
            </p:nvGrpSpPr>
            <p:grpSpPr>
              <a:xfrm>
                <a:off x="0" y="536869347"/>
                <a:ext cx="774436354" cy="572158941"/>
                <a:chOff x="0" y="0"/>
                <a:chExt cx="2147483647" cy="2147483647"/>
              </a:xfrm>
            </p:grpSpPr>
            <p:sp>
              <p:nvSpPr>
                <p:cNvPr id="975" name="Google Shape;975;p53"/>
                <p:cNvSpPr/>
                <p:nvPr/>
              </p:nvSpPr>
              <p:spPr>
                <a:xfrm>
                  <a:off x="0" y="0"/>
                  <a:ext cx="2147011200" cy="214701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21599" y="0"/>
                      </a:lnTo>
                      <a:lnTo>
                        <a:pt x="21599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4FEFF"/>
                </a:solidFill>
                <a:ln w="12600" cap="flat" cmpd="sng">
                  <a:solidFill>
                    <a:srgbClr val="011279"/>
                  </a:solidFill>
                  <a:prstDash val="solid"/>
                  <a:miter lim="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endParaRPr>
                    <a:solidFill>
                      <a:schemeClr val="dk1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endParaRPr>
                </a:p>
              </p:txBody>
            </p:sp>
            <p:sp>
              <p:nvSpPr>
                <p:cNvPr id="976" name="Google Shape;976;p53"/>
                <p:cNvSpPr/>
                <p:nvPr/>
              </p:nvSpPr>
              <p:spPr>
                <a:xfrm>
                  <a:off x="662639459" y="397330668"/>
                  <a:ext cx="842150371" cy="1352818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21599" y="0"/>
                      </a:lnTo>
                      <a:lnTo>
                        <a:pt x="21599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txBody>
                <a:bodyPr spcFirstLastPara="1" wrap="square" lIns="38100" tIns="38100" rIns="38100" bIns="38100" anchor="ctr" anchorCtr="0">
                  <a:noAutofit/>
                </a:bodyPr>
                <a:lstStyle/>
                <a:p>
                  <a:pPr marL="28575" algn="ctr">
                    <a:buClr>
                      <a:srgbClr val="011279"/>
                    </a:buClr>
                    <a:buSzPts val="1300"/>
                  </a:pPr>
                  <a:r>
                    <a:rPr lang="en-GB" sz="975">
                      <a:solidFill>
                        <a:srgbClr val="011279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rPr>
                    <a:t>write</a:t>
                  </a:r>
                  <a:endParaRPr lang="en-GB" sz="975">
                    <a:solidFill>
                      <a:srgbClr val="011279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  <p:sp>
          <p:nvSpPr>
            <p:cNvPr id="977" name="Google Shape;977;p53"/>
            <p:cNvSpPr/>
            <p:nvPr/>
          </p:nvSpPr>
          <p:spPr>
            <a:xfrm>
              <a:off x="901062034" y="821601673"/>
              <a:ext cx="324777662" cy="2085799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26775" tIns="26775" rIns="26775" bIns="26775" anchor="ctr" anchorCtr="0">
              <a:noAutofit/>
            </a:bodyPr>
            <a:lstStyle/>
            <a:p>
              <a:pPr marL="28575" algn="ctr">
                <a:buClr>
                  <a:srgbClr val="011279"/>
                </a:buClr>
                <a:buSzPts val="1500"/>
              </a:pPr>
              <a:r>
                <a:rPr lang="en-GB" sz="1125">
                  <a:solidFill>
                    <a:srgbClr val="011279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Connection</a:t>
              </a:r>
              <a:endParaRPr lang="en-GB" sz="1125">
                <a:solidFill>
                  <a:srgbClr val="01127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  <a:p>
              <a:pPr marL="28575" algn="ctr">
                <a:buClr>
                  <a:srgbClr val="011279"/>
                </a:buClr>
                <a:buSzPts val="1500"/>
              </a:pPr>
              <a:r>
                <a:rPr lang="en-GB" sz="1125">
                  <a:solidFill>
                    <a:srgbClr val="011279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request</a:t>
              </a:r>
              <a:endParaRPr lang="en-GB" sz="1125">
                <a:solidFill>
                  <a:srgbClr val="01127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978" name="Google Shape;978;p53"/>
            <p:cNvGrpSpPr/>
            <p:nvPr/>
          </p:nvGrpSpPr>
          <p:grpSpPr>
            <a:xfrm>
              <a:off x="515363188" y="1007288542"/>
              <a:ext cx="1328336189" cy="1140195104"/>
              <a:chOff x="0" y="0"/>
              <a:chExt cx="2147483647" cy="2147483646"/>
            </a:xfrm>
          </p:grpSpPr>
          <p:cxnSp>
            <p:nvCxnSpPr>
              <p:cNvPr id="979" name="Google Shape;979;p53"/>
              <p:cNvCxnSpPr/>
              <p:nvPr/>
            </p:nvCxnSpPr>
            <p:spPr>
              <a:xfrm>
                <a:off x="319427641" y="1141412150"/>
                <a:ext cx="665239" cy="221575085"/>
              </a:xfrm>
              <a:prstGeom prst="straightConnector1">
                <a:avLst/>
              </a:prstGeom>
              <a:noFill/>
              <a:ln w="12600" cap="flat" cmpd="sng">
                <a:solidFill>
                  <a:srgbClr val="011279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</p:cxnSp>
          <p:cxnSp>
            <p:nvCxnSpPr>
              <p:cNvPr id="980" name="Google Shape;980;p53"/>
              <p:cNvCxnSpPr/>
              <p:nvPr/>
            </p:nvCxnSpPr>
            <p:spPr>
              <a:xfrm>
                <a:off x="1501308961" y="1141412150"/>
                <a:ext cx="665239" cy="221575085"/>
              </a:xfrm>
              <a:prstGeom prst="straightConnector1">
                <a:avLst/>
              </a:prstGeom>
              <a:noFill/>
              <a:ln w="12600" cap="flat" cmpd="sng">
                <a:solidFill>
                  <a:srgbClr val="011279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</p:cxnSp>
          <p:cxnSp>
            <p:nvCxnSpPr>
              <p:cNvPr id="981" name="Google Shape;981;p53"/>
              <p:cNvCxnSpPr/>
              <p:nvPr/>
            </p:nvCxnSpPr>
            <p:spPr>
              <a:xfrm>
                <a:off x="1501308961" y="1643249662"/>
                <a:ext cx="665239" cy="222772840"/>
              </a:xfrm>
              <a:prstGeom prst="straightConnector1">
                <a:avLst/>
              </a:prstGeom>
              <a:noFill/>
              <a:ln w="12600" cap="flat" cmpd="sng">
                <a:solidFill>
                  <a:srgbClr val="011279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</p:cxnSp>
          <p:cxnSp>
            <p:nvCxnSpPr>
              <p:cNvPr id="982" name="Google Shape;982;p53"/>
              <p:cNvCxnSpPr/>
              <p:nvPr/>
            </p:nvCxnSpPr>
            <p:spPr>
              <a:xfrm>
                <a:off x="415255762" y="1519886885"/>
                <a:ext cx="767291086" cy="1197227"/>
              </a:xfrm>
              <a:prstGeom prst="straightConnector1">
                <a:avLst/>
              </a:prstGeom>
              <a:noFill/>
              <a:ln w="12600" cap="flat" cmpd="sng">
                <a:solidFill>
                  <a:srgbClr val="011279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</p:cxnSp>
          <p:grpSp>
            <p:nvGrpSpPr>
              <p:cNvPr id="983" name="Google Shape;983;p53"/>
              <p:cNvGrpSpPr/>
              <p:nvPr/>
            </p:nvGrpSpPr>
            <p:grpSpPr>
              <a:xfrm>
                <a:off x="1181881251" y="1371371373"/>
                <a:ext cx="606246179" cy="281460123"/>
                <a:chOff x="0" y="0"/>
                <a:chExt cx="2147483647" cy="2147483647"/>
              </a:xfrm>
            </p:grpSpPr>
            <p:sp>
              <p:nvSpPr>
                <p:cNvPr id="984" name="Google Shape;984;p53"/>
                <p:cNvSpPr/>
                <p:nvPr/>
              </p:nvSpPr>
              <p:spPr>
                <a:xfrm>
                  <a:off x="0" y="0"/>
                  <a:ext cx="2147011200" cy="214701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21599" y="0"/>
                      </a:lnTo>
                      <a:lnTo>
                        <a:pt x="21599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4FEFF"/>
                </a:solidFill>
                <a:ln w="12600" cap="flat" cmpd="sng">
                  <a:solidFill>
                    <a:srgbClr val="011279"/>
                  </a:solidFill>
                  <a:prstDash val="solid"/>
                  <a:miter lim="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endParaRPr>
                    <a:solidFill>
                      <a:schemeClr val="dk1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endParaRPr>
                </a:p>
              </p:txBody>
            </p:sp>
            <p:sp>
              <p:nvSpPr>
                <p:cNvPr id="985" name="Google Shape;985;p53"/>
                <p:cNvSpPr/>
                <p:nvPr/>
              </p:nvSpPr>
              <p:spPr>
                <a:xfrm>
                  <a:off x="700112610" y="365530060"/>
                  <a:ext cx="749615915" cy="13981464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21599" y="0"/>
                      </a:lnTo>
                      <a:lnTo>
                        <a:pt x="21599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txBody>
                <a:bodyPr spcFirstLastPara="1" wrap="square" lIns="38100" tIns="38100" rIns="38100" bIns="38100" anchor="ctr" anchorCtr="0">
                  <a:noAutofit/>
                </a:bodyPr>
                <a:lstStyle/>
                <a:p>
                  <a:pPr marL="28575" algn="ctr">
                    <a:buClr>
                      <a:srgbClr val="011279"/>
                    </a:buClr>
                    <a:buSzPts val="1300"/>
                  </a:pPr>
                  <a:r>
                    <a:rPr lang="en-GB" sz="975">
                      <a:solidFill>
                        <a:srgbClr val="011279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rPr>
                    <a:t>read</a:t>
                  </a:r>
                  <a:endParaRPr lang="en-GB" sz="975">
                    <a:solidFill>
                      <a:srgbClr val="011279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986" name="Google Shape;986;p53"/>
              <p:cNvGrpSpPr/>
              <p:nvPr/>
            </p:nvGrpSpPr>
            <p:grpSpPr>
              <a:xfrm>
                <a:off x="1181881251" y="1866023010"/>
                <a:ext cx="606246179" cy="281460636"/>
                <a:chOff x="0" y="0"/>
                <a:chExt cx="2147483647" cy="2147483646"/>
              </a:xfrm>
            </p:grpSpPr>
            <p:sp>
              <p:nvSpPr>
                <p:cNvPr id="987" name="Google Shape;987;p53"/>
                <p:cNvSpPr/>
                <p:nvPr/>
              </p:nvSpPr>
              <p:spPr>
                <a:xfrm>
                  <a:off x="0" y="0"/>
                  <a:ext cx="2147011200" cy="214701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21599" y="0"/>
                      </a:lnTo>
                      <a:lnTo>
                        <a:pt x="21599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4FEFF"/>
                </a:solidFill>
                <a:ln w="12600" cap="flat" cmpd="sng">
                  <a:solidFill>
                    <a:srgbClr val="011279"/>
                  </a:solidFill>
                  <a:prstDash val="solid"/>
                  <a:miter lim="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endParaRPr>
                    <a:solidFill>
                      <a:schemeClr val="dk1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endParaRPr>
                </a:p>
              </p:txBody>
            </p:sp>
            <p:sp>
              <p:nvSpPr>
                <p:cNvPr id="988" name="Google Shape;988;p53"/>
                <p:cNvSpPr/>
                <p:nvPr/>
              </p:nvSpPr>
              <p:spPr>
                <a:xfrm>
                  <a:off x="627037380" y="365529391"/>
                  <a:ext cx="893409801" cy="1398151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21599" y="0"/>
                      </a:lnTo>
                      <a:lnTo>
                        <a:pt x="21599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txBody>
                <a:bodyPr spcFirstLastPara="1" wrap="square" lIns="38100" tIns="38100" rIns="38100" bIns="38100" anchor="ctr" anchorCtr="0">
                  <a:noAutofit/>
                </a:bodyPr>
                <a:lstStyle/>
                <a:p>
                  <a:pPr marL="28575" algn="ctr">
                    <a:buClr>
                      <a:srgbClr val="011279"/>
                    </a:buClr>
                    <a:buSzPts val="1300"/>
                  </a:pPr>
                  <a:r>
                    <a:rPr lang="en-GB" sz="975">
                      <a:solidFill>
                        <a:srgbClr val="011279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rPr>
                    <a:t>close</a:t>
                  </a:r>
                  <a:endParaRPr lang="en-GB" sz="975">
                    <a:solidFill>
                      <a:srgbClr val="011279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989" name="Google Shape;989;p53"/>
              <p:cNvGrpSpPr/>
              <p:nvPr/>
            </p:nvGrpSpPr>
            <p:grpSpPr>
              <a:xfrm>
                <a:off x="0" y="1372569188"/>
                <a:ext cx="644843642" cy="281460636"/>
                <a:chOff x="0" y="0"/>
                <a:chExt cx="2147483647" cy="2147483646"/>
              </a:xfrm>
            </p:grpSpPr>
            <p:sp>
              <p:nvSpPr>
                <p:cNvPr id="990" name="Google Shape;990;p53"/>
                <p:cNvSpPr/>
                <p:nvPr/>
              </p:nvSpPr>
              <p:spPr>
                <a:xfrm>
                  <a:off x="0" y="0"/>
                  <a:ext cx="2147011200" cy="214701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21599" y="0"/>
                      </a:lnTo>
                      <a:lnTo>
                        <a:pt x="21599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4FEFF"/>
                </a:solidFill>
                <a:ln w="12600" cap="flat" cmpd="sng">
                  <a:solidFill>
                    <a:srgbClr val="011279"/>
                  </a:solidFill>
                  <a:prstDash val="solid"/>
                  <a:miter lim="0"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endParaRPr>
                    <a:solidFill>
                      <a:schemeClr val="dk1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  <a:sym typeface="Times New Roman" panose="02020603050405020304"/>
                  </a:endParaRPr>
                </a:p>
              </p:txBody>
            </p:sp>
            <p:sp>
              <p:nvSpPr>
                <p:cNvPr id="991" name="Google Shape;991;p53"/>
                <p:cNvSpPr/>
                <p:nvPr/>
              </p:nvSpPr>
              <p:spPr>
                <a:xfrm>
                  <a:off x="662639442" y="365529394"/>
                  <a:ext cx="842150211" cy="1398151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21599" y="0"/>
                      </a:lnTo>
                      <a:lnTo>
                        <a:pt x="21599" y="21600"/>
                      </a:ln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</p:spPr>
              <p:txBody>
                <a:bodyPr spcFirstLastPara="1" wrap="square" lIns="38100" tIns="38100" rIns="38100" bIns="38100" anchor="ctr" anchorCtr="0">
                  <a:noAutofit/>
                </a:bodyPr>
                <a:lstStyle/>
                <a:p>
                  <a:pPr marL="28575" algn="ctr">
                    <a:buClr>
                      <a:srgbClr val="011279"/>
                    </a:buClr>
                    <a:buSzPts val="1300"/>
                  </a:pPr>
                  <a:r>
                    <a:rPr lang="en-GB" sz="975">
                      <a:solidFill>
                        <a:srgbClr val="011279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rPr>
                    <a:t>close</a:t>
                  </a:r>
                  <a:endParaRPr lang="en-GB" sz="975">
                    <a:solidFill>
                      <a:srgbClr val="011279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sp>
            <p:nvSpPr>
              <p:cNvPr id="992" name="Google Shape;992;p53"/>
              <p:cNvSpPr/>
              <p:nvPr/>
            </p:nvSpPr>
            <p:spPr>
              <a:xfrm>
                <a:off x="821859848" y="1336637397"/>
                <a:ext cx="188994683" cy="19522630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38100" tIns="38100" rIns="38100" bIns="38100" anchor="ctr" anchorCtr="0">
                <a:noAutofit/>
              </a:bodyPr>
              <a:lstStyle/>
              <a:p>
                <a:pPr marL="28575" algn="ctr">
                  <a:buClr>
                    <a:srgbClr val="011279"/>
                  </a:buClr>
                  <a:buSzPts val="1300"/>
                </a:pPr>
                <a:r>
                  <a:rPr lang="en-GB" sz="975">
                    <a:solidFill>
                      <a:srgbClr val="011279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EOF</a:t>
                </a:r>
                <a:endParaRPr lang="en-GB" sz="975">
                  <a:solidFill>
                    <a:srgbClr val="011279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cxnSp>
            <p:nvCxnSpPr>
              <p:cNvPr id="993" name="Google Shape;993;p53"/>
              <p:cNvCxnSpPr/>
              <p:nvPr/>
            </p:nvCxnSpPr>
            <p:spPr>
              <a:xfrm>
                <a:off x="1788793621" y="2021724267"/>
                <a:ext cx="352035294" cy="1198256"/>
              </a:xfrm>
              <a:prstGeom prst="straightConnector1">
                <a:avLst/>
              </a:prstGeom>
              <a:noFill/>
              <a:ln w="12600" cap="flat" cmpd="sng">
                <a:solidFill>
                  <a:srgbClr val="011279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994" name="Google Shape;994;p53"/>
              <p:cNvCxnSpPr/>
              <p:nvPr/>
            </p:nvCxnSpPr>
            <p:spPr>
              <a:xfrm rot="10800000" flipH="1">
                <a:off x="2140163645" y="0"/>
                <a:ext cx="665239" cy="2032504007"/>
              </a:xfrm>
              <a:prstGeom prst="straightConnector1">
                <a:avLst/>
              </a:prstGeom>
              <a:noFill/>
              <a:ln w="12600" cap="flat" cmpd="sng">
                <a:solidFill>
                  <a:srgbClr val="011279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995" name="Google Shape;995;p53"/>
              <p:cNvCxnSpPr/>
              <p:nvPr/>
            </p:nvCxnSpPr>
            <p:spPr>
              <a:xfrm flipH="1">
                <a:off x="1780807761" y="14372295"/>
                <a:ext cx="366675885" cy="1198256"/>
              </a:xfrm>
              <a:prstGeom prst="straightConnector1">
                <a:avLst/>
              </a:prstGeom>
              <a:noFill/>
              <a:ln w="12600" cap="flat" cmpd="sng">
                <a:solidFill>
                  <a:srgbClr val="011279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</p:cxnSp>
        </p:grpSp>
        <p:sp>
          <p:nvSpPr>
            <p:cNvPr id="996" name="Google Shape;996;p53"/>
            <p:cNvSpPr/>
            <p:nvPr/>
          </p:nvSpPr>
          <p:spPr>
            <a:xfrm>
              <a:off x="1661346424" y="155799190"/>
              <a:ext cx="39104788" cy="68042875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cubicBezTo>
                    <a:pt x="5964" y="0"/>
                    <a:pt x="10800" y="805"/>
                    <a:pt x="10800" y="1800"/>
                  </a:cubicBezTo>
                  <a:lnTo>
                    <a:pt x="10800" y="8999"/>
                  </a:lnTo>
                  <a:cubicBezTo>
                    <a:pt x="10800" y="9994"/>
                    <a:pt x="15635" y="10800"/>
                    <a:pt x="21600" y="10800"/>
                  </a:cubicBezTo>
                  <a:cubicBezTo>
                    <a:pt x="15635" y="10800"/>
                    <a:pt x="10800" y="11605"/>
                    <a:pt x="10800" y="12600"/>
                  </a:cubicBezTo>
                  <a:lnTo>
                    <a:pt x="10800" y="19799"/>
                  </a:lnTo>
                  <a:cubicBezTo>
                    <a:pt x="10800" y="20794"/>
                    <a:pt x="5964" y="21599"/>
                    <a:pt x="0" y="21599"/>
                  </a:cubicBezTo>
                </a:path>
              </a:pathLst>
            </a:custGeom>
            <a:noFill/>
            <a:ln w="12600" cap="flat" cmpd="sng">
              <a:solidFill>
                <a:srgbClr val="011279"/>
              </a:solidFill>
              <a:prstDash val="solid"/>
              <a:miter lim="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997" name="Google Shape;997;p53"/>
            <p:cNvSpPr/>
            <p:nvPr/>
          </p:nvSpPr>
          <p:spPr>
            <a:xfrm>
              <a:off x="1718974859" y="430514382"/>
              <a:ext cx="428508787" cy="11446479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26775" tIns="26775" rIns="26775" bIns="26775" anchor="ctr" anchorCtr="0">
              <a:noAutofit/>
            </a:bodyPr>
            <a:lstStyle/>
            <a:p>
              <a:pPr marL="28575" algn="ctr">
                <a:buClr>
                  <a:srgbClr val="011279"/>
                </a:buClr>
                <a:buSzPts val="1500"/>
              </a:pPr>
              <a:r>
                <a:rPr lang="en-GB" sz="1125">
                  <a:solidFill>
                    <a:srgbClr val="011279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open_listenfd</a:t>
              </a:r>
              <a:endParaRPr lang="en-GB" sz="1125">
                <a:solidFill>
                  <a:srgbClr val="01127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8" name="Google Shape;998;p53"/>
            <p:cNvSpPr/>
            <p:nvPr/>
          </p:nvSpPr>
          <p:spPr>
            <a:xfrm>
              <a:off x="436329904" y="155799190"/>
              <a:ext cx="39104788" cy="94751283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0"/>
                  </a:moveTo>
                  <a:cubicBezTo>
                    <a:pt x="15635" y="0"/>
                    <a:pt x="10800" y="805"/>
                    <a:pt x="10800" y="1799"/>
                  </a:cubicBezTo>
                  <a:lnTo>
                    <a:pt x="10800" y="8999"/>
                  </a:lnTo>
                  <a:cubicBezTo>
                    <a:pt x="10800" y="9994"/>
                    <a:pt x="5964" y="10800"/>
                    <a:pt x="0" y="10800"/>
                  </a:cubicBezTo>
                  <a:cubicBezTo>
                    <a:pt x="5964" y="10800"/>
                    <a:pt x="10800" y="11605"/>
                    <a:pt x="10800" y="12600"/>
                  </a:cubicBezTo>
                  <a:lnTo>
                    <a:pt x="10800" y="19800"/>
                  </a:lnTo>
                  <a:cubicBezTo>
                    <a:pt x="10800" y="20794"/>
                    <a:pt x="15635" y="21600"/>
                    <a:pt x="21600" y="21600"/>
                  </a:cubicBezTo>
                </a:path>
              </a:pathLst>
            </a:custGeom>
            <a:noFill/>
            <a:ln w="12600" cap="flat" cmpd="sng">
              <a:solidFill>
                <a:srgbClr val="011279"/>
              </a:solidFill>
              <a:prstDash val="solid"/>
              <a:miter lim="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grpSp>
          <p:nvGrpSpPr>
            <p:cNvPr id="999" name="Google Shape;999;p53"/>
            <p:cNvGrpSpPr/>
            <p:nvPr/>
          </p:nvGrpSpPr>
          <p:grpSpPr>
            <a:xfrm>
              <a:off x="1246421686" y="948148803"/>
              <a:ext cx="374996446" cy="149439817"/>
              <a:chOff x="0" y="0"/>
              <a:chExt cx="2147483647" cy="2147483647"/>
            </a:xfrm>
          </p:grpSpPr>
          <p:sp>
            <p:nvSpPr>
              <p:cNvPr id="1000" name="Google Shape;1000;p53"/>
              <p:cNvSpPr/>
              <p:nvPr/>
            </p:nvSpPr>
            <p:spPr>
              <a:xfrm>
                <a:off x="0" y="0"/>
                <a:ext cx="2147011200" cy="21470112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4FEFF"/>
              </a:solidFill>
              <a:ln w="12600" cap="flat" cmpd="sng">
                <a:solidFill>
                  <a:srgbClr val="011279"/>
                </a:solidFill>
                <a:prstDash val="solid"/>
                <a:miter lim="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endParaRPr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001" name="Google Shape;1001;p53"/>
              <p:cNvSpPr/>
              <p:nvPr/>
            </p:nvSpPr>
            <p:spPr>
              <a:xfrm>
                <a:off x="556317845" y="347252603"/>
                <a:ext cx="1037204250" cy="139814919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38100" tIns="38100" rIns="38100" bIns="38100" anchor="ctr" anchorCtr="0">
                <a:noAutofit/>
              </a:bodyPr>
              <a:lstStyle/>
              <a:p>
                <a:pPr marL="28575" algn="ctr">
                  <a:buClr>
                    <a:srgbClr val="011279"/>
                  </a:buClr>
                  <a:buSzPts val="1300"/>
                </a:pPr>
                <a:r>
                  <a:rPr lang="en-GB" sz="975">
                    <a:solidFill>
                      <a:srgbClr val="011279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accept</a:t>
                </a:r>
                <a:endParaRPr lang="en-GB" sz="975">
                  <a:solidFill>
                    <a:srgbClr val="011279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002" name="Google Shape;1002;p53"/>
            <p:cNvGrpSpPr/>
            <p:nvPr/>
          </p:nvGrpSpPr>
          <p:grpSpPr>
            <a:xfrm>
              <a:off x="515363182" y="948148803"/>
              <a:ext cx="395578049" cy="149439817"/>
              <a:chOff x="0" y="0"/>
              <a:chExt cx="2147483647" cy="2147483647"/>
            </a:xfrm>
          </p:grpSpPr>
          <p:sp>
            <p:nvSpPr>
              <p:cNvPr id="1003" name="Google Shape;1003;p53"/>
              <p:cNvSpPr/>
              <p:nvPr/>
            </p:nvSpPr>
            <p:spPr>
              <a:xfrm>
                <a:off x="0" y="0"/>
                <a:ext cx="2147011200" cy="21470112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4FEFF"/>
              </a:solidFill>
              <a:ln w="12600" cap="flat" cmpd="sng">
                <a:solidFill>
                  <a:srgbClr val="011279"/>
                </a:solidFill>
                <a:prstDash val="solid"/>
                <a:miter lim="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endParaRPr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004" name="Google Shape;1004;p53"/>
              <p:cNvSpPr/>
              <p:nvPr/>
            </p:nvSpPr>
            <p:spPr>
              <a:xfrm>
                <a:off x="511730951" y="347252603"/>
                <a:ext cx="1119553230" cy="139814919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38100" tIns="38100" rIns="38100" bIns="38100" anchor="ctr" anchorCtr="0">
                <a:noAutofit/>
              </a:bodyPr>
              <a:lstStyle/>
              <a:p>
                <a:pPr marL="28575" algn="ctr">
                  <a:buClr>
                    <a:srgbClr val="011279"/>
                  </a:buClr>
                  <a:buSzPts val="1300"/>
                </a:pPr>
                <a:r>
                  <a:rPr lang="en-GB" sz="975">
                    <a:solidFill>
                      <a:srgbClr val="011279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connect</a:t>
                </a:r>
                <a:endParaRPr lang="en-GB" sz="975">
                  <a:solidFill>
                    <a:srgbClr val="011279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1005" name="Google Shape;1005;p53"/>
            <p:cNvSpPr/>
            <p:nvPr/>
          </p:nvSpPr>
          <p:spPr>
            <a:xfrm>
              <a:off x="0" y="566600223"/>
              <a:ext cx="428508787" cy="11446479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26775" tIns="26775" rIns="26775" bIns="26775" anchor="ctr" anchorCtr="0">
              <a:noAutofit/>
            </a:bodyPr>
            <a:lstStyle/>
            <a:p>
              <a:pPr marL="28575" algn="ctr">
                <a:buClr>
                  <a:srgbClr val="011279"/>
                </a:buClr>
                <a:buSzPts val="1500"/>
              </a:pPr>
              <a:r>
                <a:rPr lang="en-GB" sz="1125">
                  <a:solidFill>
                    <a:srgbClr val="011279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open_clientfd</a:t>
              </a:r>
              <a:endParaRPr lang="en-GB" sz="1125">
                <a:solidFill>
                  <a:srgbClr val="01127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007" name="Google Shape;1007;p53"/>
          <p:cNvSpPr txBox="1"/>
          <p:nvPr/>
        </p:nvSpPr>
        <p:spPr>
          <a:xfrm>
            <a:off x="6085285" y="5639990"/>
            <a:ext cx="164544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b" anchorCtr="0">
            <a:noAutofit/>
          </a:bodyPr>
          <a:lstStyle/>
          <a:p>
            <a:pPr algn="r">
              <a:buClr>
                <a:schemeClr val="folHlink"/>
              </a:buClr>
              <a:buSzPts val="1200"/>
            </a:pPr>
            <a:fld id="{00000000-1234-1234-1234-123412341234}" type="slidenum">
              <a:rPr lang="en-GB" sz="900">
                <a:solidFill>
                  <a:schemeClr val="folHlink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lang="en-GB" sz="900">
              <a:solidFill>
                <a:schemeClr val="folHlink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3" name="Google Shape;671;p52"/>
          <p:cNvSpPr txBox="1"/>
          <p:nvPr/>
        </p:nvSpPr>
        <p:spPr bwMode="auto">
          <a:xfrm>
            <a:off x="1143000" y="76200"/>
            <a:ext cx="7160134" cy="7024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50" tIns="34275" rIns="68550" bIns="34275" numCol="1" rtlCol="0" anchor="ctr" anchorCtr="0" compatLnSpc="1">
            <a:noAutofit/>
          </a:bodyPr>
          <a:lstStyle>
            <a:lvl1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2A40E2"/>
                </a:solidFill>
                <a:latin typeface="Helvetica"/>
                <a:ea typeface="MS PGothic" panose="020B0600070205080204" charset="-128"/>
                <a:cs typeface="MS PGothic" panose="020B0600070205080204" charset="-128"/>
              </a:defRPr>
            </a:lvl1pPr>
            <a:lvl2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2A40E2"/>
                </a:solidFill>
                <a:latin typeface="Helvetica" charset="0"/>
                <a:ea typeface="MS PGothic" panose="020B0600070205080204" charset="-128"/>
                <a:cs typeface="MS PGothic" panose="020B0600070205080204" charset="-128"/>
              </a:defRPr>
            </a:lvl2pPr>
            <a:lvl3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2A40E2"/>
                </a:solidFill>
                <a:latin typeface="Helvetica" charset="0"/>
                <a:ea typeface="MS PGothic" panose="020B0600070205080204" charset="-128"/>
                <a:cs typeface="MS PGothic" panose="020B0600070205080204" charset="-128"/>
              </a:defRPr>
            </a:lvl3pPr>
            <a:lvl4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2A40E2"/>
                </a:solidFill>
                <a:latin typeface="Helvetica" charset="0"/>
                <a:ea typeface="MS PGothic" panose="020B0600070205080204" charset="-128"/>
                <a:cs typeface="MS PGothic" panose="020B0600070205080204" charset="-128"/>
              </a:defRPr>
            </a:lvl4pPr>
            <a:lvl5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2A40E2"/>
                </a:solidFill>
                <a:latin typeface="Helvetica" charset="0"/>
                <a:ea typeface="MS PGothic" panose="020B0600070205080204" charset="-128"/>
                <a:cs typeface="MS PGothic" panose="020B0600070205080204" charset="-128"/>
              </a:defRPr>
            </a:lvl5pPr>
            <a:lvl6pPr marL="45720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A40E2"/>
                </a:solidFill>
                <a:latin typeface="Comic Sans MS" panose="030F0702030302020204" charset="0"/>
              </a:defRPr>
            </a:lvl6pPr>
            <a:lvl7pPr marL="91440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A40E2"/>
                </a:solidFill>
                <a:latin typeface="Comic Sans MS" panose="030F0702030302020204" charset="0"/>
              </a:defRPr>
            </a:lvl7pPr>
            <a:lvl8pPr marL="137160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A40E2"/>
                </a:solidFill>
                <a:latin typeface="Comic Sans MS" panose="030F0702030302020204" charset="0"/>
              </a:defRPr>
            </a:lvl8pPr>
            <a:lvl9pPr marL="182880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A40E2"/>
                </a:solidFill>
                <a:latin typeface="Comic Sans MS" panose="030F0702030302020204" charset="0"/>
              </a:defRPr>
            </a:lvl9pPr>
          </a:lstStyle>
          <a:p>
            <a:pPr>
              <a:lnSpc>
                <a:spcPct val="85000"/>
              </a:lnSpc>
              <a:spcBef>
                <a:spcPts val="0"/>
              </a:spcBef>
              <a:buClr>
                <a:schemeClr val="folHlink"/>
              </a:buClr>
              <a:buSzPts val="3200"/>
            </a:pPr>
            <a:r>
              <a:rPr lang="en-US" altLang="zh-CN" kern="0" dirty="0"/>
              <a:t>Raw</a:t>
            </a:r>
            <a:r>
              <a:rPr lang="zh-CN" altLang="en-US" kern="0" dirty="0"/>
              <a:t> </a:t>
            </a:r>
            <a:r>
              <a:rPr lang="en-US" altLang="zh-CN" kern="0" dirty="0"/>
              <a:t>network</a:t>
            </a:r>
            <a:r>
              <a:rPr lang="zh-CN" altLang="en-US" kern="0" dirty="0"/>
              <a:t> </a:t>
            </a:r>
            <a:r>
              <a:rPr lang="en-US" altLang="zh-CN" kern="0" dirty="0"/>
              <a:t>from</a:t>
            </a:r>
            <a:r>
              <a:rPr lang="zh-CN" altLang="en-US" kern="0" dirty="0"/>
              <a:t> </a:t>
            </a:r>
            <a:r>
              <a:rPr lang="en-US" altLang="zh-CN" kern="0" dirty="0"/>
              <a:t>software:</a:t>
            </a:r>
            <a:r>
              <a:rPr lang="zh-CN" altLang="en-US" kern="0" dirty="0"/>
              <a:t> </a:t>
            </a:r>
            <a:endParaRPr lang="en-US" altLang="zh-CN" kern="0" dirty="0"/>
          </a:p>
          <a:p>
            <a:pPr>
              <a:lnSpc>
                <a:spcPct val="85000"/>
              </a:lnSpc>
              <a:spcBef>
                <a:spcPts val="0"/>
              </a:spcBef>
              <a:buClr>
                <a:schemeClr val="folHlink"/>
              </a:buClr>
              <a:buSzPts val="3200"/>
            </a:pPr>
            <a:r>
              <a:rPr lang="en-US" kern="0" dirty="0"/>
              <a:t>Socket API</a:t>
            </a:r>
            <a:endParaRPr lang="en-US" kern="0" dirty="0"/>
          </a:p>
        </p:txBody>
      </p:sp>
      <p:sp>
        <p:nvSpPr>
          <p:cNvPr id="2" name="文本框 1"/>
          <p:cNvSpPr txBox="1"/>
          <p:nvPr/>
        </p:nvSpPr>
        <p:spPr>
          <a:xfrm>
            <a:off x="685800" y="6019800"/>
            <a:ext cx="7924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0" dirty="0">
                <a:latin typeface="Helvetica"/>
                <a:cs typeface="Helvetica"/>
              </a:rPr>
              <a:t>You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can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wrap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the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socket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API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into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an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RPC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as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the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underlying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communication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mechanism.</a:t>
            </a:r>
            <a:endParaRPr kumimoji="1" lang="zh-CN" altLang="en-US" sz="2000" b="0" dirty="0">
              <a:latin typeface="Helvetica"/>
              <a:cs typeface="Helvetic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294967295"/>
          </p:nvPr>
        </p:nvSpPr>
        <p:spPr>
          <a:xfrm>
            <a:off x="7086600" y="6356352"/>
            <a:ext cx="2057400" cy="365125"/>
          </a:xfrm>
          <a:prstGeom prst="rect">
            <a:avLst/>
          </a:prstGeom>
        </p:spPr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162800" cy="533400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Helvetica" charset="0"/>
                <a:ea typeface="MS PGothic" panose="020B0600070205080204" charset="-128"/>
              </a:rPr>
              <a:t>Communication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mode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1: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br>
              <a:rPr lang="en-US" altLang="zh-CN" dirty="0">
                <a:latin typeface="Helvetica" charset="0"/>
                <a:ea typeface="MS PGothic" panose="020B0600070205080204" charset="-128"/>
              </a:rPr>
            </a:br>
            <a:r>
              <a:rPr lang="en-US" dirty="0">
                <a:latin typeface="Helvetica" charset="0"/>
                <a:ea typeface="MS PGothic" panose="020B0600070205080204" charset="-128"/>
              </a:rPr>
              <a:t>Clients and Servers</a:t>
            </a:r>
            <a:endParaRPr lang="en-US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1066802"/>
            <a:ext cx="4040188" cy="1622425"/>
          </a:xfrm>
        </p:spPr>
        <p:txBody>
          <a:bodyPr/>
          <a:lstStyle/>
          <a:p>
            <a:r>
              <a:rPr lang="en-US">
                <a:latin typeface="Helvetica" charset="0"/>
                <a:ea typeface="MS PGothic" panose="020B0600070205080204" charset="-128"/>
              </a:rPr>
              <a:t>Client program</a:t>
            </a:r>
            <a:endParaRPr lang="en-US">
              <a:latin typeface="Helvetica" charset="0"/>
              <a:ea typeface="MS PGothic" panose="020B0600070205080204" charset="-128"/>
            </a:endParaRPr>
          </a:p>
          <a:p>
            <a:pPr marL="742950" lvl="1" indent="-285750"/>
            <a:r>
              <a:rPr lang="en-US">
                <a:latin typeface="Helvetica" charset="0"/>
                <a:ea typeface="MS PGothic" panose="020B0600070205080204" charset="-128"/>
              </a:rPr>
              <a:t>Running on end host</a:t>
            </a:r>
            <a:endParaRPr lang="en-US">
              <a:latin typeface="Helvetica" charset="0"/>
              <a:ea typeface="MS PGothic" panose="020B0600070205080204" charset="-128"/>
            </a:endParaRPr>
          </a:p>
          <a:p>
            <a:pPr marL="742950" lvl="1" indent="-285750"/>
            <a:r>
              <a:rPr lang="en-US">
                <a:latin typeface="Helvetica" charset="0"/>
                <a:ea typeface="MS PGothic" panose="020B0600070205080204" charset="-128"/>
              </a:rPr>
              <a:t>Requests service</a:t>
            </a:r>
            <a:endParaRPr lang="en-US">
              <a:latin typeface="Helvetica" charset="0"/>
              <a:ea typeface="MS PGothic" panose="020B0600070205080204" charset="-128"/>
            </a:endParaRPr>
          </a:p>
          <a:p>
            <a:pPr marL="742950" lvl="1" indent="-285750"/>
            <a:r>
              <a:rPr lang="en-US">
                <a:latin typeface="Helvetica" charset="0"/>
                <a:ea typeface="MS PGothic" panose="020B0600070205080204" charset="-128"/>
              </a:rPr>
              <a:t>E.g., Web browser</a:t>
            </a:r>
            <a:endParaRPr lang="en-US">
              <a:latin typeface="Helvetica" charset="0"/>
              <a:ea typeface="MS PGothic" panose="020B0600070205080204" charset="-128"/>
            </a:endParaRPr>
          </a:p>
          <a:p>
            <a:pPr>
              <a:buFont typeface="Wingdings" panose="05000000000000000000" charset="0"/>
              <a:buNone/>
            </a:pPr>
            <a:endParaRPr lang="en-US" sz="200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46084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4646615" y="1066800"/>
            <a:ext cx="4040187" cy="1716088"/>
          </a:xfrm>
        </p:spPr>
        <p:txBody>
          <a:bodyPr/>
          <a:lstStyle/>
          <a:p>
            <a:r>
              <a:rPr lang="en-US">
                <a:latin typeface="Helvetica" charset="0"/>
                <a:ea typeface="MS PGothic" panose="020B0600070205080204" charset="-128"/>
              </a:rPr>
              <a:t>Server program</a:t>
            </a:r>
            <a:endParaRPr lang="en-US">
              <a:latin typeface="Helvetica" charset="0"/>
              <a:ea typeface="MS PGothic" panose="020B0600070205080204" charset="-128"/>
            </a:endParaRPr>
          </a:p>
          <a:p>
            <a:pPr marL="742950" lvl="1" indent="-285750"/>
            <a:r>
              <a:rPr lang="en-US">
                <a:latin typeface="Helvetica" charset="0"/>
                <a:ea typeface="MS PGothic" panose="020B0600070205080204" charset="-128"/>
              </a:rPr>
              <a:t>Running on end host</a:t>
            </a:r>
            <a:endParaRPr lang="en-US">
              <a:latin typeface="Helvetica" charset="0"/>
              <a:ea typeface="MS PGothic" panose="020B0600070205080204" charset="-128"/>
            </a:endParaRPr>
          </a:p>
          <a:p>
            <a:pPr marL="742950" lvl="1" indent="-285750"/>
            <a:r>
              <a:rPr lang="en-US">
                <a:latin typeface="Helvetica" charset="0"/>
                <a:ea typeface="MS PGothic" panose="020B0600070205080204" charset="-128"/>
              </a:rPr>
              <a:t>Provides service</a:t>
            </a:r>
            <a:endParaRPr lang="en-US">
              <a:latin typeface="Helvetica" charset="0"/>
              <a:ea typeface="MS PGothic" panose="020B0600070205080204" charset="-128"/>
            </a:endParaRPr>
          </a:p>
          <a:p>
            <a:pPr marL="742950" lvl="1" indent="-285750"/>
            <a:r>
              <a:rPr lang="en-US">
                <a:latin typeface="Helvetica" charset="0"/>
                <a:ea typeface="MS PGothic" panose="020B0600070205080204" charset="-128"/>
              </a:rPr>
              <a:t>E.g., Web server</a:t>
            </a:r>
            <a:endParaRPr lang="en-US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7086600" y="6356352"/>
            <a:ext cx="2057400" cy="365125"/>
          </a:xfrm>
          <a:prstGeom prst="rect">
            <a:avLst/>
          </a:prstGeom>
        </p:spPr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46085" name="Picture 5" descr="j029202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925" y="3592515"/>
            <a:ext cx="1868488" cy="1773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86" name="Picture 6" descr="j028575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6615" y="3868738"/>
            <a:ext cx="2497137" cy="1535112"/>
          </a:xfrm>
          <a:prstGeom prst="rect">
            <a:avLst/>
          </a:prstGeom>
          <a:noFill/>
          <a:ln>
            <a:noFill/>
          </a:ln>
        </p:spPr>
      </p:pic>
      <p:sp>
        <p:nvSpPr>
          <p:cNvPr id="1254407" name="Freeform 7"/>
          <p:cNvSpPr/>
          <p:nvPr/>
        </p:nvSpPr>
        <p:spPr bwMode="auto">
          <a:xfrm>
            <a:off x="2652715" y="3394075"/>
            <a:ext cx="3571875" cy="774700"/>
          </a:xfrm>
          <a:custGeom>
            <a:avLst/>
            <a:gdLst>
              <a:gd name="T0" fmla="*/ 0 w 2250"/>
              <a:gd name="T1" fmla="*/ 2147483647 h 488"/>
              <a:gd name="T2" fmla="*/ 2147483647 w 2250"/>
              <a:gd name="T3" fmla="*/ 2147483647 h 488"/>
              <a:gd name="T4" fmla="*/ 2147483647 w 2250"/>
              <a:gd name="T5" fmla="*/ 2147483647 h 488"/>
              <a:gd name="T6" fmla="*/ 0 60000 65536"/>
              <a:gd name="T7" fmla="*/ 0 60000 65536"/>
              <a:gd name="T8" fmla="*/ 0 60000 65536"/>
              <a:gd name="T9" fmla="*/ 0 w 2250"/>
              <a:gd name="T10" fmla="*/ 0 h 488"/>
              <a:gd name="T11" fmla="*/ 2250 w 2250"/>
              <a:gd name="T12" fmla="*/ 488 h 4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50" h="488">
                <a:moveTo>
                  <a:pt x="0" y="488"/>
                </a:moveTo>
                <a:cubicBezTo>
                  <a:pt x="357" y="248"/>
                  <a:pt x="714" y="8"/>
                  <a:pt x="1089" y="4"/>
                </a:cubicBezTo>
                <a:cubicBezTo>
                  <a:pt x="1464" y="0"/>
                  <a:pt x="1857" y="232"/>
                  <a:pt x="2250" y="464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54408" name="Freeform 8"/>
          <p:cNvSpPr/>
          <p:nvPr/>
        </p:nvSpPr>
        <p:spPr bwMode="auto">
          <a:xfrm flipH="1" flipV="1">
            <a:off x="2652715" y="5051425"/>
            <a:ext cx="3571875" cy="774700"/>
          </a:xfrm>
          <a:custGeom>
            <a:avLst/>
            <a:gdLst>
              <a:gd name="T0" fmla="*/ 0 w 2250"/>
              <a:gd name="T1" fmla="*/ 2147483647 h 488"/>
              <a:gd name="T2" fmla="*/ 2147483647 w 2250"/>
              <a:gd name="T3" fmla="*/ 2147483647 h 488"/>
              <a:gd name="T4" fmla="*/ 2147483647 w 2250"/>
              <a:gd name="T5" fmla="*/ 2147483647 h 488"/>
              <a:gd name="T6" fmla="*/ 0 60000 65536"/>
              <a:gd name="T7" fmla="*/ 0 60000 65536"/>
              <a:gd name="T8" fmla="*/ 0 60000 65536"/>
              <a:gd name="T9" fmla="*/ 0 w 2250"/>
              <a:gd name="T10" fmla="*/ 0 h 488"/>
              <a:gd name="T11" fmla="*/ 2250 w 2250"/>
              <a:gd name="T12" fmla="*/ 488 h 4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50" h="488">
                <a:moveTo>
                  <a:pt x="0" y="488"/>
                </a:moveTo>
                <a:cubicBezTo>
                  <a:pt x="357" y="248"/>
                  <a:pt x="714" y="8"/>
                  <a:pt x="1089" y="4"/>
                </a:cubicBezTo>
                <a:cubicBezTo>
                  <a:pt x="1464" y="0"/>
                  <a:pt x="1857" y="232"/>
                  <a:pt x="2250" y="464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54409" name="Text Box 9"/>
          <p:cNvSpPr txBox="1">
            <a:spLocks noChangeArrowheads="1"/>
          </p:cNvSpPr>
          <p:nvPr/>
        </p:nvSpPr>
        <p:spPr bwMode="auto">
          <a:xfrm>
            <a:off x="2962275" y="2849563"/>
            <a:ext cx="292735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algn="ctr" eaLnBrk="1" hangingPunct="1"/>
            <a:r>
              <a:rPr lang="en-US">
                <a:latin typeface="Courier New" panose="02070309020205020404" pitchFamily="-107" charset="0"/>
              </a:rPr>
              <a:t>GET /index.html</a:t>
            </a:r>
            <a:endParaRPr lang="en-US">
              <a:latin typeface="Courier New" panose="02070309020205020404" pitchFamily="-107" charset="0"/>
            </a:endParaRPr>
          </a:p>
        </p:txBody>
      </p:sp>
      <p:sp>
        <p:nvSpPr>
          <p:cNvPr id="1254410" name="Text Box 10"/>
          <p:cNvSpPr txBox="1">
            <a:spLocks noChangeArrowheads="1"/>
          </p:cNvSpPr>
          <p:nvPr/>
        </p:nvSpPr>
        <p:spPr bwMode="auto">
          <a:xfrm>
            <a:off x="2100263" y="5851525"/>
            <a:ext cx="475615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algn="ctr" eaLnBrk="1" hangingPunct="1"/>
            <a:r>
              <a:rPr lang="ja-JP" altLang="en-US">
                <a:latin typeface="Courier New" panose="02070309020205020404" pitchFamily="-107" charset="0"/>
              </a:rPr>
              <a:t>“</a:t>
            </a:r>
            <a:r>
              <a:rPr lang="en-US" altLang="ja-JP">
                <a:latin typeface="Courier New" panose="02070309020205020404" pitchFamily="-107" charset="0"/>
              </a:rPr>
              <a:t>Site under construction</a:t>
            </a:r>
            <a:r>
              <a:rPr lang="ja-JP" altLang="en-US">
                <a:latin typeface="Courier New" panose="02070309020205020404" pitchFamily="-107" charset="0"/>
              </a:rPr>
              <a:t>”</a:t>
            </a:r>
            <a:endParaRPr lang="en-US">
              <a:latin typeface="Courier New" panose="02070309020205020404" pitchFamily="-107" charset="0"/>
            </a:endParaRPr>
          </a:p>
        </p:txBody>
      </p:sp>
      <p:sp>
        <p:nvSpPr>
          <p:cNvPr id="11" name="圆角矩形 10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4407" grpId="0" animBg="1"/>
      <p:bldP spid="1254408" grpId="0" animBg="1"/>
      <p:bldP spid="1254409" grpId="0"/>
      <p:bldP spid="1254410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4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2"/>
            <a:ext cx="8229600" cy="4411663"/>
          </a:xfrm>
        </p:spPr>
        <p:txBody>
          <a:bodyPr/>
          <a:lstStyle/>
          <a:p>
            <a:r>
              <a:rPr lang="en-US" altLang="zh-CN" dirty="0">
                <a:latin typeface="Helvetica" charset="0"/>
                <a:ea typeface="MS PGothic" panose="020B0600070205080204" charset="-128"/>
              </a:rPr>
              <a:t>Each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host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is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i="1" dirty="0">
                <a:latin typeface="Helvetica" charset="0"/>
                <a:ea typeface="MS PGothic" panose="020B0600070205080204" charset="-128"/>
              </a:rPr>
              <a:t>both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server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i="1" dirty="0">
                <a:latin typeface="Helvetica" charset="0"/>
                <a:ea typeface="MS PGothic" panose="020B0600070205080204" charset="-128"/>
              </a:rPr>
              <a:t>and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client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endParaRPr lang="en-US" dirty="0">
              <a:latin typeface="Helvetica" charset="0"/>
              <a:ea typeface="MS PGothic" panose="020B0600070205080204" charset="-128"/>
            </a:endParaRPr>
          </a:p>
          <a:p>
            <a:r>
              <a:rPr lang="en-US" dirty="0">
                <a:latin typeface="Helvetica" charset="0"/>
                <a:ea typeface="MS PGothic" panose="020B0600070205080204" charset="-128"/>
              </a:rPr>
              <a:t>No always-on server at the center of it all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marL="742950" lvl="1" indent="-285750"/>
            <a:r>
              <a:rPr lang="en-US" dirty="0">
                <a:latin typeface="Helvetica" charset="0"/>
                <a:ea typeface="MS PGothic" panose="020B0600070205080204" charset="-128"/>
              </a:rPr>
              <a:t>Hosts can come and go, and change addresses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marL="742950" lvl="1" indent="-285750"/>
            <a:r>
              <a:rPr lang="en-US" dirty="0">
                <a:latin typeface="Helvetica" charset="0"/>
                <a:ea typeface="MS PGothic" panose="020B0600070205080204" charset="-128"/>
              </a:rPr>
              <a:t>Hosts may have a different address each time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endParaRPr lang="en-US" dirty="0">
              <a:latin typeface="Helvetica" charset="0"/>
              <a:ea typeface="MS PGothic" panose="020B0600070205080204" charset="-128"/>
            </a:endParaRPr>
          </a:p>
          <a:p>
            <a:r>
              <a:rPr lang="en-US" dirty="0">
                <a:latin typeface="Helvetica" charset="0"/>
                <a:ea typeface="MS PGothic" panose="020B0600070205080204" charset="-128"/>
              </a:rPr>
              <a:t>Example: peer-to-peer file sharing (e.g., BitTorrent)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marL="742950" lvl="1" indent="-285750"/>
            <a:r>
              <a:rPr lang="en-US" dirty="0">
                <a:latin typeface="Helvetica" charset="0"/>
                <a:ea typeface="MS PGothic" panose="020B0600070205080204" charset="-128"/>
              </a:rPr>
              <a:t>Any host can request files, send files, query to find where a file is located, respond to queries, and forward queries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marL="742950" lvl="1" indent="-285750"/>
            <a:r>
              <a:rPr lang="en-US" dirty="0">
                <a:latin typeface="Helvetica" charset="0"/>
                <a:ea typeface="MS PGothic" panose="020B0600070205080204" charset="-128"/>
              </a:rPr>
              <a:t>Scalability by harnessing millions of peers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marL="742950" lvl="1" indent="-285750"/>
            <a:r>
              <a:rPr lang="en-US" dirty="0">
                <a:latin typeface="Helvetica" charset="0"/>
                <a:ea typeface="MS PGothic" panose="020B0600070205080204" charset="-128"/>
              </a:rPr>
              <a:t>Each peer acting as </a:t>
            </a:r>
            <a:r>
              <a:rPr lang="en-US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both a client and server</a:t>
            </a:r>
            <a:endParaRPr lang="en-US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162800" cy="533400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Helvetica" charset="0"/>
                <a:ea typeface="MS PGothic" panose="020B0600070205080204" charset="-128"/>
              </a:rPr>
              <a:t>Communication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mode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2:</a:t>
            </a:r>
            <a:br>
              <a:rPr lang="en-US" altLang="zh-CN" dirty="0">
                <a:latin typeface="Helvetica" charset="0"/>
                <a:ea typeface="MS PGothic" panose="020B0600070205080204" charset="-128"/>
              </a:rPr>
            </a:br>
            <a:r>
              <a:rPr lang="en-US" dirty="0">
                <a:latin typeface="Helvetica" charset="0"/>
                <a:ea typeface="MS PGothic" panose="020B0600070205080204" charset="-128"/>
              </a:rPr>
              <a:t>Peer-to-Peer Communication</a:t>
            </a:r>
            <a:endParaRPr lang="en-US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圆角矩形 3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8499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dirty="0">
              <a:latin typeface="Helvetica" charset="0"/>
              <a:ea typeface="MS PGothic" panose="020B0600070205080204" charset="-128"/>
            </a:endParaRPr>
          </a:p>
          <a:p>
            <a:pPr eaLnBrk="1" hangingPunct="1"/>
            <a:r>
              <a:rPr lang="en-US" dirty="0">
                <a:latin typeface="Helvetica" charset="0"/>
                <a:ea typeface="MS PGothic" panose="020B0600070205080204" charset="-128"/>
              </a:rPr>
              <a:t>A protocol is an </a:t>
            </a:r>
            <a:r>
              <a:rPr lang="en-US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agreement on how to communicate</a:t>
            </a:r>
            <a:endParaRPr lang="en-US" dirty="0">
              <a:solidFill>
                <a:srgbClr val="FF0000"/>
              </a:solidFill>
              <a:latin typeface="Helvetica" charset="0"/>
              <a:ea typeface="MS PGothic" panose="020B0600070205080204" charset="-128"/>
            </a:endParaRPr>
          </a:p>
          <a:p>
            <a:pPr eaLnBrk="1" hangingPunct="1"/>
            <a:endParaRPr lang="en-US" dirty="0">
              <a:solidFill>
                <a:srgbClr val="FF0000"/>
              </a:solidFill>
              <a:latin typeface="Helvetica" charset="0"/>
              <a:ea typeface="MS PGothic" panose="020B0600070205080204" charset="-128"/>
            </a:endParaRPr>
          </a:p>
          <a:p>
            <a:pPr eaLnBrk="1" hangingPunct="1"/>
            <a:r>
              <a:rPr lang="en-US" dirty="0">
                <a:latin typeface="Helvetica" charset="0"/>
                <a:ea typeface="MS PGothic" panose="020B0600070205080204" charset="-128"/>
              </a:rPr>
              <a:t>Includes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marL="742950" lvl="1" indent="-285750"/>
            <a:r>
              <a:rPr lang="en-US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Syntax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: how a communication is specified &amp; structured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2" eaLnBrk="1" hangingPunct="1"/>
            <a:r>
              <a:rPr lang="en-US" dirty="0">
                <a:latin typeface="Helvetica" charset="0"/>
                <a:ea typeface="MS PGothic" panose="020B0600070205080204" charset="-128"/>
              </a:rPr>
              <a:t>Format, order messages are sent and received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marL="742950" lvl="1" indent="-285750"/>
            <a:r>
              <a:rPr lang="en-US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Semantics</a:t>
            </a:r>
            <a:r>
              <a:rPr lang="en-US" dirty="0">
                <a:latin typeface="Helvetica" charset="0"/>
                <a:ea typeface="MS PGothic" panose="020B0600070205080204" charset="-128"/>
              </a:rPr>
              <a:t>: what a communication means</a:t>
            </a:r>
            <a:endParaRPr lang="en-US" dirty="0">
              <a:latin typeface="Helvetica" charset="0"/>
              <a:ea typeface="MS PGothic" panose="020B0600070205080204" charset="-128"/>
            </a:endParaRPr>
          </a:p>
          <a:p>
            <a:pPr lvl="2" eaLnBrk="1" hangingPunct="1"/>
            <a:r>
              <a:rPr lang="en-US" dirty="0">
                <a:latin typeface="Helvetica" charset="0"/>
                <a:ea typeface="MS PGothic" panose="020B0600070205080204" charset="-128"/>
              </a:rPr>
              <a:t>Actions taken when transmitting, receiving, or when a timer expires</a:t>
            </a:r>
            <a:endParaRPr lang="en-US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pPr eaLnBrk="1" hangingPunct="1"/>
            <a:r>
              <a:rPr lang="en-US" dirty="0">
                <a:latin typeface="Helvetica" charset="0"/>
                <a:ea typeface="MS PGothic" panose="020B0600070205080204" charset="-128"/>
              </a:rPr>
              <a:t>Protocol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s</a:t>
            </a:r>
            <a:endParaRPr lang="en-US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圆角矩形 3"/>
          <p:cNvSpPr/>
          <p:nvPr/>
        </p:nvSpPr>
        <p:spPr bwMode="auto">
          <a:xfrm>
            <a:off x="0" y="6429396"/>
            <a:ext cx="9144000" cy="357166"/>
          </a:xfrm>
          <a:prstGeom prst="round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zh-CN" altLang="en-US" b="0" dirty="0">
              <a:latin typeface="Helvetica"/>
              <a:cs typeface="Helvetic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307" name="Rectangle 3"/>
          <p:cNvSpPr>
            <a:spLocks noGrp="1" noChangeArrowheads="1"/>
          </p:cNvSpPr>
          <p:nvPr>
            <p:ph idx="1"/>
          </p:nvPr>
        </p:nvSpPr>
        <p:spPr>
          <a:xfrm>
            <a:off x="233365" y="983374"/>
            <a:ext cx="8677275" cy="5569827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10000"/>
              </a:spcBef>
            </a:pPr>
            <a:r>
              <a:rPr lang="en-US" altLang="zh-CN" dirty="0">
                <a:latin typeface="Helvetica" charset="0"/>
                <a:ea typeface="MS PGothic" panose="020B0600070205080204" charset="-128"/>
              </a:rPr>
              <a:t>IPC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mechanisms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share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raw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bytes</a:t>
            </a:r>
            <a:endParaRPr lang="en-US" altLang="ko-KR" dirty="0">
              <a:latin typeface="Helvetica" charset="0"/>
              <a:ea typeface="MS PGothic" panose="020B0600070205080204" charset="-128"/>
            </a:endParaRP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>
                <a:latin typeface="Helvetica" charset="0"/>
                <a:ea typeface="MS PGothic" panose="020B0600070205080204" charset="-128"/>
              </a:rPr>
              <a:t>Raw messaging is a bit too low-level for programming</a:t>
            </a:r>
            <a:endParaRPr lang="en-US" altLang="ko-KR" dirty="0">
              <a:latin typeface="Helvetica" charset="0"/>
              <a:ea typeface="MS PGothic" panose="020B0600070205080204" charset="-128"/>
            </a:endParaRP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zh-CN" dirty="0">
                <a:latin typeface="Helvetica" charset="0"/>
                <a:ea typeface="MS PGothic" panose="020B0600070205080204" charset="-128"/>
              </a:rPr>
              <a:t>Part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of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high-level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programming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language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is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to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provide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data</a:t>
            </a:r>
            <a:r>
              <a:rPr lang="zh-CN" altLang="en-US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Helvetica" charset="0"/>
                <a:ea typeface="MS PGothic" panose="020B0600070205080204" charset="-128"/>
              </a:rPr>
              <a:t>types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!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 </a:t>
            </a:r>
            <a:endParaRPr lang="en-US" altLang="zh-CN" dirty="0">
              <a:latin typeface="Helvetica" charset="0"/>
              <a:ea typeface="MS PGothic" panose="020B0600070205080204" charset="-128"/>
            </a:endParaRP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zh-CN" dirty="0">
                <a:latin typeface="Helvetica" charset="0"/>
                <a:ea typeface="MS PGothic" panose="020B0600070205080204" charset="-128"/>
              </a:rPr>
              <a:t>What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is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a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data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type?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 </a:t>
            </a:r>
            <a:endParaRPr lang="en-US" altLang="zh-CN" dirty="0">
              <a:latin typeface="Helvetica" charset="0"/>
              <a:ea typeface="MS PGothic" panose="020B0600070205080204" charset="-128"/>
            </a:endParaRPr>
          </a:p>
          <a:p>
            <a:pPr lvl="2">
              <a:lnSpc>
                <a:spcPct val="80000"/>
              </a:lnSpc>
              <a:spcBef>
                <a:spcPct val="10000"/>
              </a:spcBef>
            </a:pPr>
            <a:r>
              <a:rPr lang="en-US" altLang="zh-CN" dirty="0">
                <a:latin typeface="Helvetica" charset="0"/>
                <a:ea typeface="MS PGothic" panose="020B0600070205080204" charset="-128"/>
              </a:rPr>
              <a:t>Size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+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meaning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of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each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bit</a:t>
            </a:r>
            <a:endParaRPr lang="en-US" altLang="zh-CN" dirty="0">
              <a:latin typeface="Helvetica" charset="0"/>
              <a:ea typeface="MS PGothic" panose="020B0600070205080204" charset="-128"/>
            </a:endParaRPr>
          </a:p>
          <a:p>
            <a:pPr lvl="2">
              <a:lnSpc>
                <a:spcPct val="80000"/>
              </a:lnSpc>
              <a:spcBef>
                <a:spcPct val="10000"/>
              </a:spcBef>
            </a:pPr>
            <a:r>
              <a:rPr lang="en-US" altLang="zh-CN" dirty="0">
                <a:latin typeface="Helvetica" charset="0"/>
                <a:ea typeface="MS PGothic" panose="020B0600070205080204" charset="-128"/>
              </a:rPr>
              <a:t>“Protocol”</a:t>
            </a:r>
            <a:endParaRPr lang="en-US" altLang="ko-KR" dirty="0">
              <a:latin typeface="Helvetica" charset="0"/>
              <a:ea typeface="MS PGothic" panose="020B0600070205080204" charset="-128"/>
            </a:endParaRPr>
          </a:p>
          <a:p>
            <a:pPr>
              <a:lnSpc>
                <a:spcPct val="80000"/>
              </a:lnSpc>
              <a:spcBef>
                <a:spcPct val="10000"/>
              </a:spcBef>
            </a:pPr>
            <a:endParaRPr lang="en-US" altLang="ko-KR" dirty="0">
              <a:latin typeface="Helvetica" charset="0"/>
              <a:ea typeface="MS PGothic" panose="020B0600070205080204" charset="-128"/>
            </a:endParaRPr>
          </a:p>
          <a:p>
            <a:pPr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>
                <a:latin typeface="Helvetica" charset="0"/>
                <a:ea typeface="MS PGothic" panose="020B0600070205080204" charset="-128"/>
              </a:rPr>
              <a:t>Another option: Remote Procedure Call (RPC)</a:t>
            </a:r>
            <a:endParaRPr lang="en-US" altLang="ko-KR" dirty="0">
              <a:latin typeface="Helvetica" charset="0"/>
              <a:ea typeface="MS PGothic" panose="020B0600070205080204" charset="-128"/>
            </a:endParaRP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ko-KR" u="sng" dirty="0">
                <a:latin typeface="Helvetica" charset="0"/>
                <a:ea typeface="MS PGothic" panose="020B0600070205080204" charset="-128"/>
              </a:rPr>
              <a:t>Looks</a:t>
            </a:r>
            <a:r>
              <a:rPr lang="en-US" altLang="ko-KR" dirty="0">
                <a:latin typeface="Helvetica" charset="0"/>
                <a:ea typeface="MS PGothic" panose="020B0600070205080204" charset="-128"/>
              </a:rPr>
              <a:t> like a local procedure call on client:</a:t>
            </a:r>
            <a:endParaRPr lang="en-US" altLang="ko-KR" dirty="0">
              <a:latin typeface="Helvetica" charset="0"/>
              <a:ea typeface="MS PGothic" panose="020B0600070205080204" charset="-128"/>
            </a:endParaRPr>
          </a:p>
          <a:p>
            <a:pPr lvl="1">
              <a:lnSpc>
                <a:spcPct val="80000"/>
              </a:lnSpc>
              <a:spcBef>
                <a:spcPct val="10000"/>
              </a:spcBef>
              <a:buFontTx/>
              <a:buNone/>
            </a:pPr>
            <a:r>
              <a:rPr lang="en-US" altLang="ko-KR" dirty="0">
                <a:latin typeface="Courier New" panose="02070309020205020404" pitchFamily="-107" charset="0"/>
                <a:ea typeface="Courier New" panose="02070309020205020404" pitchFamily="-107" charset="0"/>
                <a:cs typeface="Courier New" panose="02070309020205020404" pitchFamily="-107" charset="0"/>
              </a:rPr>
              <a:t>		</a:t>
            </a:r>
            <a:r>
              <a:rPr lang="en-US" altLang="ko-KR" dirty="0" err="1">
                <a:latin typeface="Courier New" panose="02070309020205020404" pitchFamily="-107" charset="0"/>
                <a:ea typeface="Courier New" panose="02070309020205020404" pitchFamily="-107" charset="0"/>
                <a:cs typeface="Courier New" panose="02070309020205020404" pitchFamily="-107" charset="0"/>
              </a:rPr>
              <a:t>file</a:t>
            </a:r>
            <a:r>
              <a:rPr lang="en-US" altLang="ko-KR" dirty="0" err="1">
                <a:latin typeface="Courier New" panose="02070309020205020404" pitchFamily="-107" charset="0"/>
                <a:ea typeface="Courier New" panose="02070309020205020404" pitchFamily="-107" charset="0"/>
                <a:cs typeface="Courier New" panose="02070309020205020404" pitchFamily="-107" charset="0"/>
                <a:sym typeface="Symbol" panose="05050102010706020507" charset="0"/>
              </a:rPr>
              <a:t>.read</a:t>
            </a:r>
            <a:r>
              <a:rPr lang="en-US" altLang="ko-KR" dirty="0">
                <a:latin typeface="Courier New" panose="02070309020205020404" pitchFamily="-107" charset="0"/>
                <a:ea typeface="Courier New" panose="02070309020205020404" pitchFamily="-107" charset="0"/>
                <a:cs typeface="Courier New" panose="02070309020205020404" pitchFamily="-107" charset="0"/>
                <a:sym typeface="Symbol" panose="05050102010706020507" charset="0"/>
              </a:rPr>
              <a:t>(1024);</a:t>
            </a:r>
            <a:endParaRPr lang="en-US" altLang="ko-KR" dirty="0">
              <a:latin typeface="Courier New" panose="02070309020205020404" pitchFamily="-107" charset="0"/>
              <a:ea typeface="Courier New" panose="02070309020205020404" pitchFamily="-107" charset="0"/>
              <a:cs typeface="Courier New" panose="02070309020205020404" pitchFamily="-107" charset="0"/>
              <a:sym typeface="Symbol" panose="05050102010706020507" charset="0"/>
            </a:endParaRP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>
                <a:latin typeface="Helvetica" charset="0"/>
                <a:ea typeface="MS PGothic" panose="020B0600070205080204" charset="-128"/>
              </a:rPr>
              <a:t>Translated automatically into a procedure call on remote machine (server)</a:t>
            </a:r>
            <a:endParaRPr lang="en-US" altLang="ko-KR" dirty="0">
              <a:latin typeface="Helvetica" charset="0"/>
              <a:ea typeface="MS PGothic" panose="020B0600070205080204" charset="-128"/>
              <a:sym typeface="Symbol" panose="05050102010706020507" charset="0"/>
            </a:endParaRPr>
          </a:p>
          <a:p>
            <a:pPr>
              <a:lnSpc>
                <a:spcPct val="80000"/>
              </a:lnSpc>
              <a:spcBef>
                <a:spcPct val="10000"/>
              </a:spcBef>
            </a:pPr>
            <a:endParaRPr lang="en-US" altLang="ko-KR" dirty="0">
              <a:latin typeface="Helvetica" charset="0"/>
              <a:ea typeface="MS PGothic" panose="020B0600070205080204" charset="-128"/>
              <a:sym typeface="Symbol" panose="05050102010706020507" charset="0"/>
            </a:endParaRPr>
          </a:p>
          <a:p>
            <a:pPr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Implementation:</a:t>
            </a:r>
            <a:endParaRPr lang="en-US" altLang="ko-KR" dirty="0">
              <a:latin typeface="Helvetica" charset="0"/>
              <a:ea typeface="MS PGothic" panose="020B0600070205080204" charset="-128"/>
              <a:sym typeface="Symbol" panose="05050102010706020507" charset="0"/>
            </a:endParaRP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Uses request/response message passing “under the covers”</a:t>
            </a:r>
            <a:endParaRPr lang="en-US" altLang="ko-KR" dirty="0">
              <a:latin typeface="Helvetica" charset="0"/>
              <a:ea typeface="MS PGothic" panose="020B0600070205080204" charset="-128"/>
              <a:sym typeface="Symbol" panose="05050102010706020507" charset="0"/>
            </a:endParaRP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endParaRPr lang="en-US" altLang="ko-KR" dirty="0">
              <a:latin typeface="Helvetica" charset="0"/>
              <a:ea typeface="MS PGothic" panose="020B0600070205080204" charset="-128"/>
              <a:sym typeface="Symbol" panose="05050102010706020507" charset="0"/>
            </a:endParaRPr>
          </a:p>
        </p:txBody>
      </p:sp>
      <p:sp>
        <p:nvSpPr>
          <p:cNvPr id="8193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52400"/>
            <a:ext cx="8229600" cy="533400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Helvetica" charset="0"/>
                <a:ea typeface="MS PGothic" panose="020B0600070205080204" charset="-128"/>
              </a:rPr>
              <a:t>Remote Procedure Call</a:t>
            </a:r>
            <a:endParaRPr lang="en-US" altLang="ko-KR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Line 63"/>
          <p:cNvSpPr>
            <a:spLocks noChangeShapeType="1"/>
          </p:cNvSpPr>
          <p:nvPr/>
        </p:nvSpPr>
        <p:spPr bwMode="auto">
          <a:xfrm>
            <a:off x="381000" y="3429000"/>
            <a:ext cx="8534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</a:ln>
        </p:spPr>
        <p:txBody>
          <a:bodyPr wrap="none" lIns="90478" tIns="44445" rIns="90478" bIns="44445" anchor="ctr"/>
          <a:lstStyle/>
          <a:p>
            <a:endParaRPr lang="en-US"/>
          </a:p>
        </p:txBody>
      </p:sp>
      <p:sp>
        <p:nvSpPr>
          <p:cNvPr id="996408" name="Cloud"/>
          <p:cNvSpPr>
            <a:spLocks noChangeAspect="1" noEditPoints="1" noChangeArrowheads="1"/>
          </p:cNvSpPr>
          <p:nvPr/>
        </p:nvSpPr>
        <p:spPr bwMode="auto">
          <a:xfrm>
            <a:off x="6781800" y="2590800"/>
            <a:ext cx="1905000" cy="1746250"/>
          </a:xfrm>
          <a:custGeom>
            <a:avLst/>
            <a:gdLst>
              <a:gd name="T0" fmla="*/ 521141 w 21600"/>
              <a:gd name="T1" fmla="*/ 70587704 h 21600"/>
              <a:gd name="T2" fmla="*/ 84005200 w 21600"/>
              <a:gd name="T3" fmla="*/ 141025118 h 21600"/>
              <a:gd name="T4" fmla="*/ 167870435 w 21600"/>
              <a:gd name="T5" fmla="*/ 70587704 h 21600"/>
              <a:gd name="T6" fmla="*/ 84005200 w 21600"/>
              <a:gd name="T7" fmla="*/ 8071798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7 w 21600"/>
              <a:gd name="T13" fmla="*/ 3262 h 21600"/>
              <a:gd name="T14" fmla="*/ 17087 w 21600"/>
              <a:gd name="T15" fmla="*/ 173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lnTo>
                  <a:pt x="1949" y="7180"/>
                </a:ln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00FFFF"/>
          </a:solidFill>
          <a:ln w="9525">
            <a:solidFill>
              <a:srgbClr val="000000"/>
            </a:solidFill>
            <a:miter lim="800000"/>
          </a:ln>
          <a:effectLst>
            <a:outerShdw blurRad="63500" dist="107763" dir="2700000" algn="ctr" rotWithShape="0">
              <a:srgbClr val="000000">
                <a:alpha val="74997"/>
              </a:srgbClr>
            </a:outerShdw>
          </a:effectLst>
        </p:spPr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MS PGothic" panose="020B0600070205080204" charset="-128"/>
              </a:rPr>
              <a:t>RPC Information Flow</a:t>
            </a:r>
            <a:endParaRPr lang="en-US" altLang="ko-KR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996356" name="Rectangle 4"/>
          <p:cNvSpPr>
            <a:spLocks noChangeArrowheads="1"/>
          </p:cNvSpPr>
          <p:nvPr/>
        </p:nvSpPr>
        <p:spPr bwMode="auto">
          <a:xfrm>
            <a:off x="1676400" y="1660525"/>
            <a:ext cx="1066800" cy="914400"/>
          </a:xfrm>
          <a:prstGeom prst="rect">
            <a:avLst/>
          </a:prstGeom>
          <a:solidFill>
            <a:srgbClr val="53FB25"/>
          </a:solidFill>
          <a:ln w="38100">
            <a:solidFill>
              <a:schemeClr val="tx1"/>
            </a:solidFill>
            <a:miter lim="800000"/>
          </a:ln>
        </p:spPr>
        <p:txBody>
          <a:bodyPr wrap="none" lIns="90478" tIns="44445" rIns="90478" bIns="44445" anchor="ctr"/>
          <a:lstStyle/>
          <a:p>
            <a:pPr marL="228600" indent="-228600" algn="ctr">
              <a:lnSpc>
                <a:spcPct val="80000"/>
              </a:lnSpc>
              <a:spcBef>
                <a:spcPct val="20000"/>
              </a:spcBef>
              <a:buSzPct val="100000"/>
            </a:pPr>
            <a:r>
              <a:rPr lang="en-US" altLang="zh-CN">
                <a:latin typeface="Helvetica" charset="0"/>
              </a:rPr>
              <a:t>Client</a:t>
            </a:r>
            <a:endParaRPr lang="en-US" altLang="zh-CN">
              <a:latin typeface="Helvetica" charset="0"/>
            </a:endParaRPr>
          </a:p>
          <a:p>
            <a:pPr marL="228600" indent="-228600" algn="ctr">
              <a:lnSpc>
                <a:spcPct val="80000"/>
              </a:lnSpc>
              <a:spcBef>
                <a:spcPct val="20000"/>
              </a:spcBef>
              <a:buSzPct val="100000"/>
            </a:pPr>
            <a:r>
              <a:rPr lang="en-US" altLang="zh-CN">
                <a:latin typeface="Helvetica" charset="0"/>
              </a:rPr>
              <a:t>(caller)</a:t>
            </a:r>
            <a:endParaRPr lang="en-US" altLang="zh-CN">
              <a:latin typeface="Helvetica" charset="0"/>
            </a:endParaRPr>
          </a:p>
        </p:txBody>
      </p:sp>
      <p:sp>
        <p:nvSpPr>
          <p:cNvPr id="996357" name="Rectangle 5"/>
          <p:cNvSpPr>
            <a:spLocks noChangeArrowheads="1"/>
          </p:cNvSpPr>
          <p:nvPr/>
        </p:nvSpPr>
        <p:spPr bwMode="auto">
          <a:xfrm>
            <a:off x="1676400" y="4327525"/>
            <a:ext cx="1066800" cy="914400"/>
          </a:xfrm>
          <a:prstGeom prst="rect">
            <a:avLst/>
          </a:prstGeom>
          <a:solidFill>
            <a:srgbClr val="53FB25"/>
          </a:solidFill>
          <a:ln w="38100">
            <a:solidFill>
              <a:schemeClr val="tx1"/>
            </a:solidFill>
            <a:miter lim="800000"/>
          </a:ln>
        </p:spPr>
        <p:txBody>
          <a:bodyPr wrap="none" lIns="90478" tIns="44445" rIns="90478" bIns="44445" anchor="ctr"/>
          <a:lstStyle/>
          <a:p>
            <a:pPr marL="228600" indent="-228600" algn="ctr">
              <a:lnSpc>
                <a:spcPct val="80000"/>
              </a:lnSpc>
              <a:spcBef>
                <a:spcPct val="20000"/>
              </a:spcBef>
              <a:buSzPct val="100000"/>
            </a:pPr>
            <a:r>
              <a:rPr lang="en-US" altLang="zh-CN">
                <a:latin typeface="Helvetica" charset="0"/>
              </a:rPr>
              <a:t>Server</a:t>
            </a:r>
            <a:endParaRPr lang="en-US" altLang="zh-CN">
              <a:latin typeface="Helvetica" charset="0"/>
            </a:endParaRPr>
          </a:p>
          <a:p>
            <a:pPr marL="228600" indent="-228600" algn="ctr">
              <a:lnSpc>
                <a:spcPct val="80000"/>
              </a:lnSpc>
              <a:spcBef>
                <a:spcPct val="20000"/>
              </a:spcBef>
              <a:buSzPct val="100000"/>
            </a:pPr>
            <a:r>
              <a:rPr lang="en-US" altLang="zh-CN">
                <a:latin typeface="Helvetica" charset="0"/>
              </a:rPr>
              <a:t>(callee)</a:t>
            </a:r>
            <a:endParaRPr lang="en-US" altLang="zh-CN">
              <a:latin typeface="Helvetica" charset="0"/>
            </a:endParaRPr>
          </a:p>
        </p:txBody>
      </p:sp>
      <p:sp>
        <p:nvSpPr>
          <p:cNvPr id="996360" name="Rectangle 8"/>
          <p:cNvSpPr>
            <a:spLocks noChangeArrowheads="1"/>
          </p:cNvSpPr>
          <p:nvPr/>
        </p:nvSpPr>
        <p:spPr bwMode="auto">
          <a:xfrm>
            <a:off x="7162800" y="1660525"/>
            <a:ext cx="1066800" cy="914400"/>
          </a:xfrm>
          <a:prstGeom prst="rect">
            <a:avLst/>
          </a:prstGeom>
          <a:solidFill>
            <a:srgbClr val="53FB25"/>
          </a:solidFill>
          <a:ln w="38100">
            <a:solidFill>
              <a:schemeClr val="tx1"/>
            </a:solidFill>
            <a:miter lim="800000"/>
          </a:ln>
        </p:spPr>
        <p:txBody>
          <a:bodyPr wrap="none" lIns="90478" tIns="44445" rIns="90478" bIns="44445" anchor="ctr"/>
          <a:lstStyle/>
          <a:p>
            <a:pPr marL="228600" indent="-228600" algn="ctr">
              <a:lnSpc>
                <a:spcPct val="80000"/>
              </a:lnSpc>
              <a:spcBef>
                <a:spcPct val="20000"/>
              </a:spcBef>
              <a:buSzPct val="100000"/>
            </a:pPr>
            <a:r>
              <a:rPr lang="en-US" altLang="zh-CN" sz="2000">
                <a:latin typeface="Helvetica" charset="0"/>
              </a:rPr>
              <a:t>Packet</a:t>
            </a:r>
            <a:endParaRPr lang="en-US" altLang="zh-CN" sz="2000">
              <a:latin typeface="Helvetica" charset="0"/>
            </a:endParaRPr>
          </a:p>
          <a:p>
            <a:pPr marL="228600" indent="-228600" algn="ctr">
              <a:lnSpc>
                <a:spcPct val="80000"/>
              </a:lnSpc>
              <a:spcBef>
                <a:spcPct val="20000"/>
              </a:spcBef>
              <a:buSzPct val="100000"/>
            </a:pPr>
            <a:r>
              <a:rPr lang="en-US" altLang="zh-CN" sz="2000">
                <a:latin typeface="Helvetica" charset="0"/>
              </a:rPr>
              <a:t>Handler</a:t>
            </a:r>
            <a:endParaRPr lang="en-US" altLang="zh-CN" sz="2000">
              <a:latin typeface="Helvetica" charset="0"/>
            </a:endParaRPr>
          </a:p>
        </p:txBody>
      </p:sp>
      <p:sp>
        <p:nvSpPr>
          <p:cNvPr id="996362" name="Rectangle 10"/>
          <p:cNvSpPr>
            <a:spLocks noChangeArrowheads="1"/>
          </p:cNvSpPr>
          <p:nvPr/>
        </p:nvSpPr>
        <p:spPr bwMode="auto">
          <a:xfrm>
            <a:off x="7162800" y="4327525"/>
            <a:ext cx="1066800" cy="914400"/>
          </a:xfrm>
          <a:prstGeom prst="rect">
            <a:avLst/>
          </a:prstGeom>
          <a:solidFill>
            <a:srgbClr val="53FB25"/>
          </a:solidFill>
          <a:ln w="38100">
            <a:solidFill>
              <a:schemeClr val="tx1"/>
            </a:solidFill>
            <a:miter lim="800000"/>
          </a:ln>
        </p:spPr>
        <p:txBody>
          <a:bodyPr wrap="none" lIns="90478" tIns="44445" rIns="90478" bIns="44445" anchor="ctr"/>
          <a:lstStyle/>
          <a:p>
            <a:pPr marL="228600" indent="-228600" algn="ctr">
              <a:lnSpc>
                <a:spcPct val="80000"/>
              </a:lnSpc>
              <a:spcBef>
                <a:spcPct val="20000"/>
              </a:spcBef>
              <a:buSzPct val="100000"/>
            </a:pPr>
            <a:r>
              <a:rPr lang="en-US" altLang="zh-CN" sz="2000">
                <a:latin typeface="Helvetica" charset="0"/>
              </a:rPr>
              <a:t>Packet</a:t>
            </a:r>
            <a:endParaRPr lang="en-US" altLang="zh-CN" sz="2000">
              <a:latin typeface="Helvetica" charset="0"/>
            </a:endParaRPr>
          </a:p>
          <a:p>
            <a:pPr marL="228600" indent="-228600" algn="ctr">
              <a:lnSpc>
                <a:spcPct val="80000"/>
              </a:lnSpc>
              <a:spcBef>
                <a:spcPct val="20000"/>
              </a:spcBef>
              <a:buSzPct val="100000"/>
            </a:pPr>
            <a:r>
              <a:rPr lang="en-US" altLang="zh-CN" sz="2000">
                <a:latin typeface="Helvetica" charset="0"/>
              </a:rPr>
              <a:t>Handler</a:t>
            </a:r>
            <a:endParaRPr lang="en-US" altLang="zh-CN" sz="2000">
              <a:latin typeface="Helvetica" charset="0"/>
            </a:endParaRPr>
          </a:p>
        </p:txBody>
      </p:sp>
      <p:grpSp>
        <p:nvGrpSpPr>
          <p:cNvPr id="2" name="Group 40"/>
          <p:cNvGrpSpPr/>
          <p:nvPr/>
        </p:nvGrpSpPr>
        <p:grpSpPr bwMode="auto">
          <a:xfrm>
            <a:off x="2743200" y="1584325"/>
            <a:ext cx="1752600" cy="381000"/>
            <a:chOff x="1344" y="960"/>
            <a:chExt cx="1104" cy="240"/>
          </a:xfrm>
        </p:grpSpPr>
        <p:sp>
          <p:nvSpPr>
            <p:cNvPr id="12336" name="Line 11"/>
            <p:cNvSpPr>
              <a:spLocks noChangeShapeType="1"/>
            </p:cNvSpPr>
            <p:nvPr/>
          </p:nvSpPr>
          <p:spPr bwMode="auto">
            <a:xfrm>
              <a:off x="1344" y="1200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lIns="90478" tIns="44445" rIns="90478" bIns="44445" anchor="ctr"/>
            <a:lstStyle/>
            <a:p>
              <a:endParaRPr lang="en-US"/>
            </a:p>
          </p:txBody>
        </p:sp>
        <p:sp>
          <p:nvSpPr>
            <p:cNvPr id="12337" name="Text Box 16"/>
            <p:cNvSpPr txBox="1">
              <a:spLocks noChangeArrowheads="1"/>
            </p:cNvSpPr>
            <p:nvPr/>
          </p:nvSpPr>
          <p:spPr bwMode="auto">
            <a:xfrm>
              <a:off x="1673" y="960"/>
              <a:ext cx="412" cy="2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478" tIns="44445" rIns="90478" bIns="44445">
              <a:spAutoFit/>
            </a:bodyPr>
            <a:lstStyle>
              <a:lvl1pPr marL="2286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buSzPct val="100000"/>
              </a:pPr>
              <a:r>
                <a:rPr lang="en-US" altLang="zh-CN" sz="2200">
                  <a:latin typeface="Helvetica" charset="0"/>
                </a:rPr>
                <a:t>call</a:t>
              </a:r>
              <a:endParaRPr lang="en-US" altLang="zh-CN" sz="2200">
                <a:latin typeface="Helvetica" charset="0"/>
              </a:endParaRPr>
            </a:p>
          </p:txBody>
        </p:sp>
      </p:grpSp>
      <p:grpSp>
        <p:nvGrpSpPr>
          <p:cNvPr id="3" name="Group 51"/>
          <p:cNvGrpSpPr/>
          <p:nvPr/>
        </p:nvGrpSpPr>
        <p:grpSpPr bwMode="auto">
          <a:xfrm>
            <a:off x="2743200" y="2270127"/>
            <a:ext cx="1752600" cy="371475"/>
            <a:chOff x="1344" y="1392"/>
            <a:chExt cx="1104" cy="234"/>
          </a:xfrm>
        </p:grpSpPr>
        <p:sp>
          <p:nvSpPr>
            <p:cNvPr id="12334" name="Line 12"/>
            <p:cNvSpPr>
              <a:spLocks noChangeShapeType="1"/>
            </p:cNvSpPr>
            <p:nvPr/>
          </p:nvSpPr>
          <p:spPr bwMode="auto">
            <a:xfrm flipH="1">
              <a:off x="1344" y="1392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lIns="90478" tIns="44445" rIns="90478" bIns="44445" anchor="ctr"/>
            <a:lstStyle/>
            <a:p>
              <a:endParaRPr lang="en-US"/>
            </a:p>
          </p:txBody>
        </p:sp>
        <p:sp>
          <p:nvSpPr>
            <p:cNvPr id="12335" name="Text Box 17"/>
            <p:cNvSpPr txBox="1">
              <a:spLocks noChangeArrowheads="1"/>
            </p:cNvSpPr>
            <p:nvPr/>
          </p:nvSpPr>
          <p:spPr bwMode="auto">
            <a:xfrm>
              <a:off x="1565" y="1392"/>
              <a:ext cx="629" cy="2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478" tIns="44445" rIns="90478" bIns="44445">
              <a:spAutoFit/>
            </a:bodyPr>
            <a:lstStyle>
              <a:lvl1pPr marL="2286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buSzPct val="100000"/>
              </a:pPr>
              <a:r>
                <a:rPr lang="en-US" altLang="zh-CN" sz="2200">
                  <a:latin typeface="Helvetica" charset="0"/>
                </a:rPr>
                <a:t>return</a:t>
              </a:r>
              <a:endParaRPr lang="en-US" altLang="zh-CN" sz="2200">
                <a:latin typeface="Helvetica" charset="0"/>
              </a:endParaRPr>
            </a:p>
          </p:txBody>
        </p:sp>
      </p:grpSp>
      <p:grpSp>
        <p:nvGrpSpPr>
          <p:cNvPr id="4" name="Group 42"/>
          <p:cNvGrpSpPr/>
          <p:nvPr/>
        </p:nvGrpSpPr>
        <p:grpSpPr bwMode="auto">
          <a:xfrm>
            <a:off x="5410200" y="1584325"/>
            <a:ext cx="1752600" cy="381000"/>
            <a:chOff x="3024" y="960"/>
            <a:chExt cx="1104" cy="240"/>
          </a:xfrm>
        </p:grpSpPr>
        <p:sp>
          <p:nvSpPr>
            <p:cNvPr id="12332" name="Line 13"/>
            <p:cNvSpPr>
              <a:spLocks noChangeShapeType="1"/>
            </p:cNvSpPr>
            <p:nvPr/>
          </p:nvSpPr>
          <p:spPr bwMode="auto">
            <a:xfrm>
              <a:off x="3024" y="1200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lIns="90478" tIns="44445" rIns="90478" bIns="44445" anchor="ctr"/>
            <a:lstStyle/>
            <a:p>
              <a:endParaRPr lang="en-US"/>
            </a:p>
          </p:txBody>
        </p:sp>
        <p:sp>
          <p:nvSpPr>
            <p:cNvPr id="12333" name="Text Box 18"/>
            <p:cNvSpPr txBox="1">
              <a:spLocks noChangeArrowheads="1"/>
            </p:cNvSpPr>
            <p:nvPr/>
          </p:nvSpPr>
          <p:spPr bwMode="auto">
            <a:xfrm>
              <a:off x="3247" y="960"/>
              <a:ext cx="530" cy="2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478" tIns="44445" rIns="90478" bIns="44445">
              <a:spAutoFit/>
            </a:bodyPr>
            <a:lstStyle>
              <a:lvl1pPr marL="2286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buSzPct val="100000"/>
              </a:pPr>
              <a:r>
                <a:rPr lang="en-US" altLang="zh-CN" sz="2200">
                  <a:latin typeface="Helvetica" charset="0"/>
                </a:rPr>
                <a:t>send</a:t>
              </a:r>
              <a:endParaRPr lang="en-US" altLang="zh-CN" sz="2200">
                <a:latin typeface="Helvetica" charset="0"/>
              </a:endParaRPr>
            </a:p>
          </p:txBody>
        </p:sp>
      </p:grpSp>
      <p:grpSp>
        <p:nvGrpSpPr>
          <p:cNvPr id="5" name="Group 50"/>
          <p:cNvGrpSpPr/>
          <p:nvPr/>
        </p:nvGrpSpPr>
        <p:grpSpPr bwMode="auto">
          <a:xfrm>
            <a:off x="5410200" y="2270127"/>
            <a:ext cx="1752600" cy="371475"/>
            <a:chOff x="3024" y="1392"/>
            <a:chExt cx="1104" cy="234"/>
          </a:xfrm>
        </p:grpSpPr>
        <p:sp>
          <p:nvSpPr>
            <p:cNvPr id="12330" name="Line 14"/>
            <p:cNvSpPr>
              <a:spLocks noChangeShapeType="1"/>
            </p:cNvSpPr>
            <p:nvPr/>
          </p:nvSpPr>
          <p:spPr bwMode="auto">
            <a:xfrm flipH="1">
              <a:off x="3024" y="1392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lIns="90478" tIns="44445" rIns="90478" bIns="44445" anchor="ctr"/>
            <a:lstStyle/>
            <a:p>
              <a:endParaRPr lang="en-US"/>
            </a:p>
          </p:txBody>
        </p:sp>
        <p:sp>
          <p:nvSpPr>
            <p:cNvPr id="12331" name="Text Box 19"/>
            <p:cNvSpPr txBox="1">
              <a:spLocks noChangeArrowheads="1"/>
            </p:cNvSpPr>
            <p:nvPr/>
          </p:nvSpPr>
          <p:spPr bwMode="auto">
            <a:xfrm>
              <a:off x="3146" y="1392"/>
              <a:ext cx="729" cy="2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478" tIns="44445" rIns="90478" bIns="44445">
              <a:spAutoFit/>
            </a:bodyPr>
            <a:lstStyle>
              <a:lvl1pPr marL="2286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buSzPct val="100000"/>
              </a:pPr>
              <a:r>
                <a:rPr lang="en-US" altLang="zh-CN" sz="2200">
                  <a:latin typeface="Helvetica" charset="0"/>
                </a:rPr>
                <a:t>receive</a:t>
              </a:r>
              <a:endParaRPr lang="en-US" altLang="zh-CN" sz="2200">
                <a:latin typeface="Helvetica" charset="0"/>
              </a:endParaRPr>
            </a:p>
          </p:txBody>
        </p:sp>
      </p:grpSp>
      <p:grpSp>
        <p:nvGrpSpPr>
          <p:cNvPr id="6" name="Group 49"/>
          <p:cNvGrpSpPr/>
          <p:nvPr/>
        </p:nvGrpSpPr>
        <p:grpSpPr bwMode="auto">
          <a:xfrm>
            <a:off x="5410200" y="4275138"/>
            <a:ext cx="1752600" cy="381000"/>
            <a:chOff x="3024" y="2415"/>
            <a:chExt cx="1104" cy="240"/>
          </a:xfrm>
        </p:grpSpPr>
        <p:sp>
          <p:nvSpPr>
            <p:cNvPr id="12328" name="Line 22"/>
            <p:cNvSpPr>
              <a:spLocks noChangeShapeType="1"/>
            </p:cNvSpPr>
            <p:nvPr/>
          </p:nvSpPr>
          <p:spPr bwMode="auto">
            <a:xfrm>
              <a:off x="3024" y="2655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lIns="90478" tIns="44445" rIns="90478" bIns="44445" anchor="ctr"/>
            <a:lstStyle/>
            <a:p>
              <a:endParaRPr lang="en-US"/>
            </a:p>
          </p:txBody>
        </p:sp>
        <p:sp>
          <p:nvSpPr>
            <p:cNvPr id="12329" name="Text Box 24"/>
            <p:cNvSpPr txBox="1">
              <a:spLocks noChangeArrowheads="1"/>
            </p:cNvSpPr>
            <p:nvPr/>
          </p:nvSpPr>
          <p:spPr bwMode="auto">
            <a:xfrm>
              <a:off x="3247" y="2415"/>
              <a:ext cx="530" cy="2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478" tIns="44445" rIns="90478" bIns="44445">
              <a:spAutoFit/>
            </a:bodyPr>
            <a:lstStyle>
              <a:lvl1pPr marL="2286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buSzPct val="100000"/>
              </a:pPr>
              <a:r>
                <a:rPr lang="en-US" altLang="zh-CN" sz="2200">
                  <a:latin typeface="Helvetica" charset="0"/>
                </a:rPr>
                <a:t>send</a:t>
              </a:r>
              <a:endParaRPr lang="en-US" altLang="zh-CN" sz="2200">
                <a:latin typeface="Helvetica" charset="0"/>
              </a:endParaRPr>
            </a:p>
          </p:txBody>
        </p:sp>
      </p:grpSp>
      <p:grpSp>
        <p:nvGrpSpPr>
          <p:cNvPr id="7" name="Group 45"/>
          <p:cNvGrpSpPr/>
          <p:nvPr/>
        </p:nvGrpSpPr>
        <p:grpSpPr bwMode="auto">
          <a:xfrm>
            <a:off x="5410200" y="4960940"/>
            <a:ext cx="1752600" cy="371475"/>
            <a:chOff x="3024" y="2847"/>
            <a:chExt cx="1104" cy="234"/>
          </a:xfrm>
        </p:grpSpPr>
        <p:sp>
          <p:nvSpPr>
            <p:cNvPr id="12326" name="Line 23"/>
            <p:cNvSpPr>
              <a:spLocks noChangeShapeType="1"/>
            </p:cNvSpPr>
            <p:nvPr/>
          </p:nvSpPr>
          <p:spPr bwMode="auto">
            <a:xfrm flipH="1">
              <a:off x="3024" y="2847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lIns="90478" tIns="44445" rIns="90478" bIns="44445" anchor="ctr"/>
            <a:lstStyle/>
            <a:p>
              <a:endParaRPr lang="en-US"/>
            </a:p>
          </p:txBody>
        </p:sp>
        <p:sp>
          <p:nvSpPr>
            <p:cNvPr id="12327" name="Text Box 25"/>
            <p:cNvSpPr txBox="1">
              <a:spLocks noChangeArrowheads="1"/>
            </p:cNvSpPr>
            <p:nvPr/>
          </p:nvSpPr>
          <p:spPr bwMode="auto">
            <a:xfrm>
              <a:off x="3146" y="2847"/>
              <a:ext cx="729" cy="2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478" tIns="44445" rIns="90478" bIns="44445">
              <a:spAutoFit/>
            </a:bodyPr>
            <a:lstStyle>
              <a:lvl1pPr marL="2286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buSzPct val="100000"/>
              </a:pPr>
              <a:r>
                <a:rPr lang="en-US" altLang="zh-CN" sz="2200">
                  <a:latin typeface="Helvetica" charset="0"/>
                </a:rPr>
                <a:t>receive</a:t>
              </a:r>
              <a:endParaRPr lang="en-US" altLang="zh-CN" sz="2200">
                <a:latin typeface="Helvetica" charset="0"/>
              </a:endParaRPr>
            </a:p>
          </p:txBody>
        </p:sp>
      </p:grpSp>
      <p:grpSp>
        <p:nvGrpSpPr>
          <p:cNvPr id="8" name="Group 48"/>
          <p:cNvGrpSpPr/>
          <p:nvPr/>
        </p:nvGrpSpPr>
        <p:grpSpPr bwMode="auto">
          <a:xfrm>
            <a:off x="2743200" y="4251325"/>
            <a:ext cx="1752600" cy="381000"/>
            <a:chOff x="1344" y="2400"/>
            <a:chExt cx="1104" cy="240"/>
          </a:xfrm>
        </p:grpSpPr>
        <p:sp>
          <p:nvSpPr>
            <p:cNvPr id="12324" name="Line 28"/>
            <p:cNvSpPr>
              <a:spLocks noChangeShapeType="1"/>
            </p:cNvSpPr>
            <p:nvPr/>
          </p:nvSpPr>
          <p:spPr bwMode="auto">
            <a:xfrm>
              <a:off x="1344" y="2640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lIns="90478" tIns="44445" rIns="90478" bIns="44445" anchor="ctr"/>
            <a:lstStyle/>
            <a:p>
              <a:endParaRPr lang="en-US"/>
            </a:p>
          </p:txBody>
        </p:sp>
        <p:sp>
          <p:nvSpPr>
            <p:cNvPr id="12325" name="Text Box 30"/>
            <p:cNvSpPr txBox="1">
              <a:spLocks noChangeArrowheads="1"/>
            </p:cNvSpPr>
            <p:nvPr/>
          </p:nvSpPr>
          <p:spPr bwMode="auto">
            <a:xfrm>
              <a:off x="1565" y="2400"/>
              <a:ext cx="629" cy="2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478" tIns="44445" rIns="90478" bIns="44445">
              <a:spAutoFit/>
            </a:bodyPr>
            <a:lstStyle>
              <a:lvl1pPr marL="2286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buSzPct val="100000"/>
              </a:pPr>
              <a:r>
                <a:rPr lang="en-US" altLang="zh-CN" sz="2200">
                  <a:latin typeface="Helvetica" charset="0"/>
                </a:rPr>
                <a:t>return</a:t>
              </a:r>
              <a:endParaRPr lang="en-US" altLang="zh-CN" sz="2200">
                <a:latin typeface="Helvetica" charset="0"/>
              </a:endParaRPr>
            </a:p>
          </p:txBody>
        </p:sp>
      </p:grpSp>
      <p:grpSp>
        <p:nvGrpSpPr>
          <p:cNvPr id="9" name="Group 47"/>
          <p:cNvGrpSpPr/>
          <p:nvPr/>
        </p:nvGrpSpPr>
        <p:grpSpPr bwMode="auto">
          <a:xfrm>
            <a:off x="2743200" y="4937127"/>
            <a:ext cx="1752600" cy="371475"/>
            <a:chOff x="1344" y="2832"/>
            <a:chExt cx="1104" cy="234"/>
          </a:xfrm>
        </p:grpSpPr>
        <p:sp>
          <p:nvSpPr>
            <p:cNvPr id="12322" name="Line 29"/>
            <p:cNvSpPr>
              <a:spLocks noChangeShapeType="1"/>
            </p:cNvSpPr>
            <p:nvPr/>
          </p:nvSpPr>
          <p:spPr bwMode="auto">
            <a:xfrm flipH="1">
              <a:off x="1344" y="2832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lIns="90478" tIns="44445" rIns="90478" bIns="44445" anchor="ctr"/>
            <a:lstStyle/>
            <a:p>
              <a:endParaRPr lang="en-US"/>
            </a:p>
          </p:txBody>
        </p:sp>
        <p:sp>
          <p:nvSpPr>
            <p:cNvPr id="12323" name="Text Box 31"/>
            <p:cNvSpPr txBox="1">
              <a:spLocks noChangeArrowheads="1"/>
            </p:cNvSpPr>
            <p:nvPr/>
          </p:nvSpPr>
          <p:spPr bwMode="auto">
            <a:xfrm>
              <a:off x="1673" y="2832"/>
              <a:ext cx="412" cy="2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478" tIns="44445" rIns="90478" bIns="44445">
              <a:spAutoFit/>
            </a:bodyPr>
            <a:lstStyle>
              <a:lvl1pPr marL="2286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buSzPct val="100000"/>
              </a:pPr>
              <a:r>
                <a:rPr lang="en-US" altLang="zh-CN" sz="2200">
                  <a:latin typeface="Helvetica" charset="0"/>
                </a:rPr>
                <a:t>call</a:t>
              </a:r>
              <a:endParaRPr lang="en-US" altLang="zh-CN" sz="2200">
                <a:latin typeface="Helvetica" charset="0"/>
              </a:endParaRPr>
            </a:p>
          </p:txBody>
        </p:sp>
      </p:grpSp>
      <p:grpSp>
        <p:nvGrpSpPr>
          <p:cNvPr id="10" name="Group 43"/>
          <p:cNvGrpSpPr/>
          <p:nvPr/>
        </p:nvGrpSpPr>
        <p:grpSpPr bwMode="auto">
          <a:xfrm>
            <a:off x="7842252" y="2574927"/>
            <a:ext cx="371475" cy="1768475"/>
            <a:chOff x="4556" y="1584"/>
            <a:chExt cx="234" cy="864"/>
          </a:xfrm>
        </p:grpSpPr>
        <p:sp>
          <p:nvSpPr>
            <p:cNvPr id="12320" name="Text Box 34"/>
            <p:cNvSpPr txBox="1">
              <a:spLocks noChangeArrowheads="1"/>
            </p:cNvSpPr>
            <p:nvPr/>
          </p:nvSpPr>
          <p:spPr bwMode="auto">
            <a:xfrm rot="5400000">
              <a:off x="4356" y="1916"/>
              <a:ext cx="633" cy="2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478" tIns="44445" rIns="90478" bIns="44445">
              <a:spAutoFit/>
            </a:bodyPr>
            <a:lstStyle>
              <a:lvl1pPr marL="2286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buSzPct val="100000"/>
              </a:pPr>
              <a:r>
                <a:rPr lang="en-US" altLang="zh-CN" sz="2200">
                  <a:latin typeface="Helvetica" charset="0"/>
                </a:rPr>
                <a:t>Network</a:t>
              </a:r>
              <a:endParaRPr lang="en-US" altLang="zh-CN" sz="2200">
                <a:latin typeface="Helvetica" charset="0"/>
              </a:endParaRPr>
            </a:p>
          </p:txBody>
        </p:sp>
        <p:sp>
          <p:nvSpPr>
            <p:cNvPr id="12321" name="Line 32"/>
            <p:cNvSpPr>
              <a:spLocks noChangeShapeType="1"/>
            </p:cNvSpPr>
            <p:nvPr/>
          </p:nvSpPr>
          <p:spPr bwMode="auto">
            <a:xfrm>
              <a:off x="4560" y="1584"/>
              <a:ext cx="0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lIns="90478" tIns="44445" rIns="90478" bIns="44445" anchor="ctr"/>
            <a:lstStyle/>
            <a:p>
              <a:endParaRPr lang="en-US"/>
            </a:p>
          </p:txBody>
        </p:sp>
      </p:grpSp>
      <p:grpSp>
        <p:nvGrpSpPr>
          <p:cNvPr id="11" name="Group 44"/>
          <p:cNvGrpSpPr/>
          <p:nvPr/>
        </p:nvGrpSpPr>
        <p:grpSpPr bwMode="auto">
          <a:xfrm>
            <a:off x="7181852" y="2574927"/>
            <a:ext cx="371475" cy="1768475"/>
            <a:chOff x="4140" y="1584"/>
            <a:chExt cx="234" cy="864"/>
          </a:xfrm>
        </p:grpSpPr>
        <p:sp>
          <p:nvSpPr>
            <p:cNvPr id="12318" name="Text Box 35"/>
            <p:cNvSpPr txBox="1">
              <a:spLocks noChangeArrowheads="1"/>
            </p:cNvSpPr>
            <p:nvPr/>
          </p:nvSpPr>
          <p:spPr bwMode="auto">
            <a:xfrm rot="-5400000">
              <a:off x="3940" y="1914"/>
              <a:ext cx="633" cy="2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478" tIns="44445" rIns="90478" bIns="44445">
              <a:spAutoFit/>
            </a:bodyPr>
            <a:lstStyle>
              <a:lvl1pPr marL="2286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buSzPct val="100000"/>
              </a:pPr>
              <a:r>
                <a:rPr lang="en-US" altLang="zh-CN" sz="2200">
                  <a:latin typeface="Helvetica" charset="0"/>
                </a:rPr>
                <a:t>Network</a:t>
              </a:r>
              <a:endParaRPr lang="en-US" altLang="zh-CN" sz="2200">
                <a:latin typeface="Helvetica" charset="0"/>
              </a:endParaRPr>
            </a:p>
          </p:txBody>
        </p:sp>
        <p:sp>
          <p:nvSpPr>
            <p:cNvPr id="12319" name="Line 33"/>
            <p:cNvSpPr>
              <a:spLocks noChangeShapeType="1"/>
            </p:cNvSpPr>
            <p:nvPr/>
          </p:nvSpPr>
          <p:spPr bwMode="auto">
            <a:xfrm flipV="1">
              <a:off x="4368" y="1584"/>
              <a:ext cx="0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lIns="90478" tIns="44445" rIns="90478" bIns="44445" anchor="ctr"/>
            <a:lstStyle/>
            <a:p>
              <a:endParaRPr lang="en-US"/>
            </a:p>
          </p:txBody>
        </p:sp>
      </p:grpSp>
      <p:grpSp>
        <p:nvGrpSpPr>
          <p:cNvPr id="12" name="Group 41"/>
          <p:cNvGrpSpPr/>
          <p:nvPr/>
        </p:nvGrpSpPr>
        <p:grpSpPr bwMode="auto">
          <a:xfrm>
            <a:off x="4298952" y="1035052"/>
            <a:ext cx="1343026" cy="1539875"/>
            <a:chOff x="2324" y="614"/>
            <a:chExt cx="846" cy="970"/>
          </a:xfrm>
        </p:grpSpPr>
        <p:sp>
          <p:nvSpPr>
            <p:cNvPr id="12316" name="Rectangle 6"/>
            <p:cNvSpPr>
              <a:spLocks noChangeArrowheads="1"/>
            </p:cNvSpPr>
            <p:nvPr/>
          </p:nvSpPr>
          <p:spPr bwMode="auto">
            <a:xfrm>
              <a:off x="2448" y="1008"/>
              <a:ext cx="576" cy="576"/>
            </a:xfrm>
            <a:prstGeom prst="rect">
              <a:avLst/>
            </a:prstGeom>
            <a:solidFill>
              <a:srgbClr val="53FB25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lIns="90478" tIns="44445" rIns="90478" bIns="44445" anchor="ctr"/>
            <a:lstStyle/>
            <a:p>
              <a:pPr marL="228600" indent="-228600" algn="ctr">
                <a:lnSpc>
                  <a:spcPct val="80000"/>
                </a:lnSpc>
                <a:spcBef>
                  <a:spcPct val="20000"/>
                </a:spcBef>
                <a:buSzPct val="100000"/>
              </a:pPr>
              <a:r>
                <a:rPr lang="en-US" altLang="zh-CN" sz="2000">
                  <a:latin typeface="Helvetica" charset="0"/>
                </a:rPr>
                <a:t>Client</a:t>
              </a:r>
              <a:endParaRPr lang="en-US" altLang="zh-CN" sz="2000">
                <a:latin typeface="Helvetica" charset="0"/>
              </a:endParaRPr>
            </a:p>
            <a:p>
              <a:pPr marL="228600" indent="-228600" algn="ctr">
                <a:lnSpc>
                  <a:spcPct val="80000"/>
                </a:lnSpc>
                <a:spcBef>
                  <a:spcPct val="20000"/>
                </a:spcBef>
                <a:buSzPct val="100000"/>
              </a:pPr>
              <a:r>
                <a:rPr lang="en-US" altLang="zh-CN" sz="2000">
                  <a:latin typeface="Helvetica" charset="0"/>
                </a:rPr>
                <a:t>Stub</a:t>
              </a:r>
              <a:endParaRPr lang="en-US" altLang="zh-CN" sz="2000">
                <a:latin typeface="Helvetica" charset="0"/>
              </a:endParaRPr>
            </a:p>
          </p:txBody>
        </p:sp>
        <p:sp>
          <p:nvSpPr>
            <p:cNvPr id="12317" name="Text Box 36"/>
            <p:cNvSpPr txBox="1">
              <a:spLocks noChangeArrowheads="1"/>
            </p:cNvSpPr>
            <p:nvPr/>
          </p:nvSpPr>
          <p:spPr bwMode="auto">
            <a:xfrm>
              <a:off x="2324" y="614"/>
              <a:ext cx="846" cy="4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478" tIns="44445" rIns="90478" bIns="44445">
              <a:spAutoFit/>
            </a:bodyPr>
            <a:lstStyle>
              <a:lvl1pPr marL="2286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9pPr>
            </a:lstStyle>
            <a:p>
              <a:pPr algn="ctr">
                <a:lnSpc>
                  <a:spcPct val="80000"/>
                </a:lnSpc>
                <a:buSzPct val="100000"/>
              </a:pPr>
              <a:r>
                <a:rPr lang="en-US" altLang="zh-CN" sz="2200" dirty="0" err="1">
                  <a:latin typeface="Helvetica" charset="0"/>
                </a:rPr>
                <a:t>marshall</a:t>
              </a:r>
              <a:endParaRPr lang="en-US" altLang="zh-CN" sz="2200" dirty="0">
                <a:latin typeface="Helvetica" charset="0"/>
              </a:endParaRPr>
            </a:p>
            <a:p>
              <a:pPr algn="ctr">
                <a:lnSpc>
                  <a:spcPct val="80000"/>
                </a:lnSpc>
                <a:buSzPct val="100000"/>
              </a:pPr>
              <a:r>
                <a:rPr lang="en-US" altLang="zh-CN" sz="2200" dirty="0" err="1">
                  <a:latin typeface="Helvetica" charset="0"/>
                </a:rPr>
                <a:t>args</a:t>
              </a:r>
              <a:endParaRPr lang="en-US" altLang="zh-CN" sz="2200" dirty="0">
                <a:latin typeface="Helvetica" charset="0"/>
              </a:endParaRPr>
            </a:p>
          </p:txBody>
        </p:sp>
      </p:grpSp>
      <p:sp>
        <p:nvSpPr>
          <p:cNvPr id="996389" name="Text Box 37"/>
          <p:cNvSpPr txBox="1">
            <a:spLocks noChangeArrowheads="1"/>
          </p:cNvSpPr>
          <p:nvPr/>
        </p:nvSpPr>
        <p:spPr bwMode="auto">
          <a:xfrm>
            <a:off x="4135576" y="3717925"/>
            <a:ext cx="1625326" cy="642730"/>
          </a:xfrm>
          <a:prstGeom prst="rect">
            <a:avLst/>
          </a:prstGeom>
          <a:noFill/>
          <a:ln>
            <a:noFill/>
          </a:ln>
        </p:spPr>
        <p:txBody>
          <a:bodyPr wrap="none" lIns="90478" tIns="44445" rIns="90478" bIns="44445">
            <a:spAutoFit/>
          </a:bodyPr>
          <a:lstStyle>
            <a:lvl1pPr marL="2286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algn="ctr">
              <a:lnSpc>
                <a:spcPct val="80000"/>
              </a:lnSpc>
              <a:buSzPct val="100000"/>
            </a:pPr>
            <a:r>
              <a:rPr lang="en-US" altLang="zh-CN" sz="2200" dirty="0" err="1">
                <a:latin typeface="Helvetica" charset="0"/>
              </a:rPr>
              <a:t>marshall</a:t>
            </a:r>
            <a:endParaRPr lang="en-US" altLang="zh-CN" sz="2200" dirty="0">
              <a:latin typeface="Helvetica" charset="0"/>
            </a:endParaRPr>
          </a:p>
          <a:p>
            <a:pPr algn="ctr">
              <a:lnSpc>
                <a:spcPct val="80000"/>
              </a:lnSpc>
              <a:buSzPct val="100000"/>
            </a:pPr>
            <a:r>
              <a:rPr lang="en-US" altLang="zh-CN" sz="2200" dirty="0">
                <a:latin typeface="Helvetica" charset="0"/>
              </a:rPr>
              <a:t>return </a:t>
            </a:r>
            <a:r>
              <a:rPr lang="en-US" altLang="zh-CN" sz="2200" dirty="0" err="1">
                <a:latin typeface="Helvetica" charset="0"/>
              </a:rPr>
              <a:t>vals</a:t>
            </a:r>
            <a:endParaRPr lang="en-US" altLang="zh-CN" sz="2200" dirty="0">
              <a:latin typeface="Helvetica" charset="0"/>
            </a:endParaRPr>
          </a:p>
        </p:txBody>
      </p:sp>
      <p:sp>
        <p:nvSpPr>
          <p:cNvPr id="996390" name="Text Box 38"/>
          <p:cNvSpPr txBox="1">
            <a:spLocks noChangeArrowheads="1"/>
          </p:cNvSpPr>
          <p:nvPr/>
        </p:nvSpPr>
        <p:spPr bwMode="auto">
          <a:xfrm>
            <a:off x="4113213" y="2583760"/>
            <a:ext cx="1687868" cy="642730"/>
          </a:xfrm>
          <a:prstGeom prst="rect">
            <a:avLst/>
          </a:prstGeom>
          <a:noFill/>
          <a:ln>
            <a:noFill/>
          </a:ln>
        </p:spPr>
        <p:txBody>
          <a:bodyPr wrap="none" lIns="90478" tIns="44445" rIns="90478" bIns="44445">
            <a:spAutoFit/>
          </a:bodyPr>
          <a:lstStyle>
            <a:lvl1pPr marL="2286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algn="ctr">
              <a:lnSpc>
                <a:spcPct val="80000"/>
              </a:lnSpc>
              <a:buSzPct val="100000"/>
            </a:pPr>
            <a:r>
              <a:rPr lang="en-US" altLang="zh-CN" sz="2200" dirty="0" err="1">
                <a:latin typeface="Helvetica" charset="0"/>
              </a:rPr>
              <a:t>unmarshall</a:t>
            </a:r>
            <a:endParaRPr lang="en-US" altLang="zh-CN" sz="2200" dirty="0">
              <a:latin typeface="Helvetica" charset="0"/>
            </a:endParaRPr>
          </a:p>
          <a:p>
            <a:pPr algn="ctr">
              <a:lnSpc>
                <a:spcPct val="80000"/>
              </a:lnSpc>
              <a:buSzPct val="100000"/>
            </a:pPr>
            <a:r>
              <a:rPr lang="en-US" altLang="zh-CN" sz="2200" dirty="0">
                <a:latin typeface="Helvetica" charset="0"/>
              </a:rPr>
              <a:t>ret </a:t>
            </a:r>
            <a:r>
              <a:rPr lang="en-US" altLang="zh-CN" sz="2200" dirty="0" err="1">
                <a:latin typeface="Helvetica" charset="0"/>
              </a:rPr>
              <a:t>vals</a:t>
            </a:r>
            <a:endParaRPr lang="en-US" altLang="zh-CN" sz="2200" dirty="0">
              <a:latin typeface="Helvetica" charset="0"/>
            </a:endParaRPr>
          </a:p>
        </p:txBody>
      </p:sp>
      <p:grpSp>
        <p:nvGrpSpPr>
          <p:cNvPr id="13" name="Group 46"/>
          <p:cNvGrpSpPr/>
          <p:nvPr/>
        </p:nvGrpSpPr>
        <p:grpSpPr bwMode="auto">
          <a:xfrm>
            <a:off x="4083052" y="4327525"/>
            <a:ext cx="1687514" cy="1557338"/>
            <a:chOff x="2188" y="2448"/>
            <a:chExt cx="1063" cy="981"/>
          </a:xfrm>
        </p:grpSpPr>
        <p:sp>
          <p:nvSpPr>
            <p:cNvPr id="12314" name="Rectangle 7"/>
            <p:cNvSpPr>
              <a:spLocks noChangeArrowheads="1"/>
            </p:cNvSpPr>
            <p:nvPr/>
          </p:nvSpPr>
          <p:spPr bwMode="auto">
            <a:xfrm>
              <a:off x="2448" y="2448"/>
              <a:ext cx="576" cy="576"/>
            </a:xfrm>
            <a:prstGeom prst="rect">
              <a:avLst/>
            </a:prstGeom>
            <a:solidFill>
              <a:srgbClr val="53FB25"/>
            </a:solidFill>
            <a:ln w="38100">
              <a:solidFill>
                <a:schemeClr val="tx1"/>
              </a:solidFill>
              <a:miter lim="800000"/>
            </a:ln>
          </p:spPr>
          <p:txBody>
            <a:bodyPr wrap="none" lIns="90478" tIns="44445" rIns="90478" bIns="44445" anchor="ctr"/>
            <a:lstStyle/>
            <a:p>
              <a:pPr marL="228600" indent="-228600" algn="ctr">
                <a:lnSpc>
                  <a:spcPct val="80000"/>
                </a:lnSpc>
                <a:spcBef>
                  <a:spcPct val="20000"/>
                </a:spcBef>
                <a:buSzPct val="100000"/>
              </a:pPr>
              <a:r>
                <a:rPr lang="en-US" altLang="zh-CN" sz="2000">
                  <a:latin typeface="Helvetica" charset="0"/>
                </a:rPr>
                <a:t>Server</a:t>
              </a:r>
              <a:endParaRPr lang="en-US" altLang="zh-CN" sz="2000">
                <a:latin typeface="Helvetica" charset="0"/>
              </a:endParaRPr>
            </a:p>
            <a:p>
              <a:pPr marL="228600" indent="-228600" algn="ctr">
                <a:lnSpc>
                  <a:spcPct val="80000"/>
                </a:lnSpc>
                <a:spcBef>
                  <a:spcPct val="20000"/>
                </a:spcBef>
                <a:buSzPct val="100000"/>
              </a:pPr>
              <a:r>
                <a:rPr lang="en-US" altLang="zh-CN" sz="2000">
                  <a:latin typeface="Helvetica" charset="0"/>
                </a:rPr>
                <a:t>Stub</a:t>
              </a:r>
              <a:endParaRPr lang="en-US" altLang="zh-CN" sz="2000">
                <a:latin typeface="Helvetica" charset="0"/>
              </a:endParaRPr>
            </a:p>
          </p:txBody>
        </p:sp>
        <p:sp>
          <p:nvSpPr>
            <p:cNvPr id="12315" name="Text Box 39"/>
            <p:cNvSpPr txBox="1">
              <a:spLocks noChangeArrowheads="1"/>
            </p:cNvSpPr>
            <p:nvPr/>
          </p:nvSpPr>
          <p:spPr bwMode="auto">
            <a:xfrm>
              <a:off x="2188" y="3024"/>
              <a:ext cx="1063" cy="4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478" tIns="44445" rIns="90478" bIns="44445">
              <a:spAutoFit/>
            </a:bodyPr>
            <a:lstStyle>
              <a:lvl1pPr marL="2286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panose="030F0702030302020204" charset="0"/>
                  <a:ea typeface="MS PGothic" panose="020B0600070205080204" charset="-128"/>
                  <a:cs typeface="MS PGothic" panose="020B0600070205080204" charset="-128"/>
                </a:defRPr>
              </a:lvl9pPr>
            </a:lstStyle>
            <a:p>
              <a:pPr algn="ctr">
                <a:lnSpc>
                  <a:spcPct val="80000"/>
                </a:lnSpc>
                <a:buSzPct val="100000"/>
              </a:pPr>
              <a:r>
                <a:rPr lang="en-US" altLang="zh-CN" sz="2200" dirty="0" err="1">
                  <a:latin typeface="Helvetica" charset="0"/>
                </a:rPr>
                <a:t>unmarshall</a:t>
              </a:r>
              <a:endParaRPr lang="en-US" altLang="zh-CN" sz="2200" dirty="0">
                <a:latin typeface="Helvetica" charset="0"/>
              </a:endParaRPr>
            </a:p>
            <a:p>
              <a:pPr algn="ctr">
                <a:lnSpc>
                  <a:spcPct val="80000"/>
                </a:lnSpc>
                <a:buSzPct val="100000"/>
              </a:pPr>
              <a:r>
                <a:rPr lang="en-US" altLang="zh-CN" sz="2200" dirty="0" err="1">
                  <a:latin typeface="Helvetica" charset="0"/>
                </a:rPr>
                <a:t>args</a:t>
              </a:r>
              <a:endParaRPr lang="en-US" altLang="zh-CN" sz="2200" dirty="0">
                <a:latin typeface="Helvetica" charset="0"/>
              </a:endParaRPr>
            </a:p>
          </p:txBody>
        </p:sp>
      </p:grpSp>
      <p:pic>
        <p:nvPicPr>
          <p:cNvPr id="12310" name="Picture 5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2" y="1676402"/>
            <a:ext cx="1146175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11" name="Picture 5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2" y="4343402"/>
            <a:ext cx="1146175" cy="9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12" name="Text Box 64"/>
          <p:cNvSpPr txBox="1">
            <a:spLocks noChangeArrowheads="1"/>
          </p:cNvSpPr>
          <p:nvPr/>
        </p:nvSpPr>
        <p:spPr bwMode="auto">
          <a:xfrm>
            <a:off x="317500" y="2971802"/>
            <a:ext cx="1582738" cy="371475"/>
          </a:xfrm>
          <a:prstGeom prst="rect">
            <a:avLst/>
          </a:prstGeom>
          <a:noFill/>
          <a:ln>
            <a:noFill/>
          </a:ln>
        </p:spPr>
        <p:txBody>
          <a:bodyPr wrap="none" lIns="90478" tIns="44445" rIns="90478" bIns="44445">
            <a:spAutoFit/>
          </a:bodyPr>
          <a:lstStyle>
            <a:lvl1pPr marL="2286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buSzPct val="100000"/>
            </a:pPr>
            <a:r>
              <a:rPr lang="en-US" altLang="zh-CN" sz="2200">
                <a:latin typeface="Helvetica" charset="0"/>
              </a:rPr>
              <a:t>Machine A</a:t>
            </a:r>
            <a:endParaRPr lang="en-US" altLang="zh-CN" sz="2200">
              <a:latin typeface="Helvetica" charset="0"/>
            </a:endParaRPr>
          </a:p>
        </p:txBody>
      </p:sp>
      <p:sp>
        <p:nvSpPr>
          <p:cNvPr id="12313" name="Text Box 65"/>
          <p:cNvSpPr txBox="1">
            <a:spLocks noChangeArrowheads="1"/>
          </p:cNvSpPr>
          <p:nvPr/>
        </p:nvSpPr>
        <p:spPr bwMode="auto">
          <a:xfrm>
            <a:off x="327027" y="3505202"/>
            <a:ext cx="1592263" cy="371475"/>
          </a:xfrm>
          <a:prstGeom prst="rect">
            <a:avLst/>
          </a:prstGeom>
          <a:noFill/>
          <a:ln>
            <a:noFill/>
          </a:ln>
        </p:spPr>
        <p:txBody>
          <a:bodyPr wrap="none" lIns="90478" tIns="44445" rIns="90478" bIns="44445">
            <a:spAutoFit/>
          </a:bodyPr>
          <a:lstStyle>
            <a:lvl1pPr marL="2286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panose="030F070203030202020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buSzPct val="100000"/>
            </a:pPr>
            <a:r>
              <a:rPr lang="en-US" altLang="zh-CN" sz="2200">
                <a:latin typeface="Helvetica" charset="0"/>
              </a:rPr>
              <a:t>Machine B</a:t>
            </a:r>
            <a:endParaRPr lang="en-US" altLang="zh-CN" sz="2200">
              <a:latin typeface="Helvetica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6356" grpId="0" animBg="1"/>
      <p:bldP spid="996357" grpId="0" animBg="1"/>
      <p:bldP spid="996360" grpId="0" animBg="1"/>
      <p:bldP spid="996362" grpId="0" animBg="1"/>
      <p:bldP spid="996389" grpId="0"/>
      <p:bldP spid="996390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379" name="Rectangle 3"/>
          <p:cNvSpPr>
            <a:spLocks noGrp="1" noChangeArrowheads="1"/>
          </p:cNvSpPr>
          <p:nvPr>
            <p:ph idx="1"/>
          </p:nvPr>
        </p:nvSpPr>
        <p:spPr>
          <a:xfrm>
            <a:off x="246065" y="1066800"/>
            <a:ext cx="8651875" cy="548640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>
                <a:solidFill>
                  <a:schemeClr val="hlink"/>
                </a:solidFill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Marshalling</a:t>
            </a:r>
            <a:r>
              <a:rPr lang="en-US" altLang="ko-KR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 involves converting values to a canonical form, serializing objects, copying arguments passed by reference, etc.</a:t>
            </a:r>
            <a:endParaRPr lang="en-US" altLang="ko-KR" dirty="0">
              <a:latin typeface="Helvetica" charset="0"/>
              <a:ea typeface="MS PGothic" panose="020B0600070205080204" charset="-128"/>
              <a:sym typeface="Symbol" panose="05050102010706020507" charset="0"/>
            </a:endParaRP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ko-KR" sz="2000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Needs to account for cross-language and cross-platform issues </a:t>
            </a:r>
            <a:endParaRPr lang="en-US" altLang="ko-KR" sz="2000" dirty="0">
              <a:latin typeface="Helvetica" charset="0"/>
              <a:ea typeface="MS PGothic" panose="020B0600070205080204" charset="-128"/>
              <a:sym typeface="Symbol" panose="05050102010706020507" charset="0"/>
            </a:endParaRP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zh-CN" sz="2000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Can</a:t>
            </a:r>
            <a:r>
              <a:rPr lang="zh-CN" altLang="en-US" sz="2000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 </a:t>
            </a:r>
            <a:r>
              <a:rPr lang="en-US" altLang="zh-CN" sz="2000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encode</a:t>
            </a:r>
            <a:r>
              <a:rPr lang="zh-CN" altLang="en-US" sz="2000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 </a:t>
            </a:r>
            <a:r>
              <a:rPr lang="en-US" altLang="zh-CN" sz="2000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as</a:t>
            </a:r>
            <a:r>
              <a:rPr lang="zh-CN" altLang="en-US" sz="2000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 </a:t>
            </a:r>
            <a:r>
              <a:rPr lang="en-US" altLang="zh-CN" sz="2000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JSON</a:t>
            </a:r>
            <a:r>
              <a:rPr lang="zh-CN" altLang="en-US" sz="2000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 </a:t>
            </a:r>
            <a:r>
              <a:rPr lang="en-US" altLang="zh-CN" sz="2000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(very</a:t>
            </a:r>
            <a:r>
              <a:rPr lang="zh-CN" altLang="en-US" sz="2000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 </a:t>
            </a:r>
            <a:r>
              <a:rPr lang="en-US" altLang="zh-CN" sz="2000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general),</a:t>
            </a:r>
            <a:r>
              <a:rPr lang="zh-CN" altLang="en-US" sz="2000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 </a:t>
            </a:r>
            <a:r>
              <a:rPr lang="en-US" altLang="zh-CN" sz="2000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but</a:t>
            </a:r>
            <a:r>
              <a:rPr lang="zh-CN" altLang="en-US" sz="2000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 </a:t>
            </a:r>
            <a:r>
              <a:rPr lang="en-US" altLang="zh-CN" sz="2000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need</a:t>
            </a:r>
            <a:r>
              <a:rPr lang="zh-CN" altLang="en-US" sz="2000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 </a:t>
            </a:r>
            <a:r>
              <a:rPr lang="en-US" altLang="zh-CN" sz="2000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to</a:t>
            </a:r>
            <a:r>
              <a:rPr lang="zh-CN" altLang="en-US" sz="2000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 </a:t>
            </a:r>
            <a:r>
              <a:rPr lang="en-US" altLang="zh-CN" sz="2000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tradeoff</a:t>
            </a:r>
            <a:r>
              <a:rPr lang="zh-CN" altLang="en-US" sz="2000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 </a:t>
            </a:r>
            <a:r>
              <a:rPr lang="en-US" altLang="zh-CN" sz="2000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efficiency</a:t>
            </a:r>
            <a:endParaRPr lang="en-US" altLang="ko-KR" sz="2000" dirty="0">
              <a:latin typeface="Helvetica" charset="0"/>
              <a:ea typeface="MS PGothic" panose="020B0600070205080204" charset="-128"/>
              <a:sym typeface="Symbol" panose="05050102010706020507" charset="0"/>
            </a:endParaRPr>
          </a:p>
          <a:p>
            <a:pPr>
              <a:lnSpc>
                <a:spcPct val="80000"/>
              </a:lnSpc>
              <a:spcBef>
                <a:spcPct val="5000"/>
              </a:spcBef>
            </a:pPr>
            <a:endParaRPr lang="en-US" altLang="ko-KR" dirty="0">
              <a:latin typeface="Helvetica" charset="0"/>
              <a:ea typeface="MS PGothic" panose="020B0600070205080204" charset="-128"/>
              <a:sym typeface="Symbol" panose="05050102010706020507" charset="0"/>
            </a:endParaRPr>
          </a:p>
          <a:p>
            <a:pPr>
              <a:lnSpc>
                <a:spcPct val="80000"/>
              </a:lnSpc>
              <a:spcBef>
                <a:spcPct val="5000"/>
              </a:spcBef>
            </a:pPr>
            <a:r>
              <a:rPr lang="en-US" altLang="ko-KR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Client and server use “stubs” to glue pieces together</a:t>
            </a:r>
            <a:endParaRPr lang="en-US" altLang="ko-KR" dirty="0">
              <a:latin typeface="Helvetica" charset="0"/>
              <a:ea typeface="MS PGothic" panose="020B0600070205080204" charset="-128"/>
              <a:sym typeface="Symbol" panose="05050102010706020507" charset="0"/>
            </a:endParaRPr>
          </a:p>
          <a:p>
            <a:pPr lvl="1">
              <a:lnSpc>
                <a:spcPct val="80000"/>
              </a:lnSpc>
              <a:spcBef>
                <a:spcPct val="5000"/>
              </a:spcBef>
            </a:pPr>
            <a:r>
              <a:rPr lang="en-US" altLang="ko-KR" sz="2000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Also called “serialize” / “de-serialize”</a:t>
            </a:r>
            <a:endParaRPr lang="en-US" altLang="ko-KR" sz="2000" dirty="0">
              <a:latin typeface="Helvetica" charset="0"/>
              <a:ea typeface="MS PGothic" panose="020B0600070205080204" charset="-128"/>
              <a:sym typeface="Symbol" panose="05050102010706020507" charset="0"/>
            </a:endParaRPr>
          </a:p>
          <a:p>
            <a:pPr lvl="1">
              <a:lnSpc>
                <a:spcPct val="80000"/>
              </a:lnSpc>
              <a:spcBef>
                <a:spcPct val="10000"/>
              </a:spcBef>
              <a:buFontTx/>
              <a:buNone/>
            </a:pPr>
            <a:endParaRPr lang="en-US" altLang="ko-KR" sz="2000" dirty="0">
              <a:latin typeface="Helvetica" charset="0"/>
              <a:ea typeface="MS PGothic" panose="020B0600070205080204" charset="-128"/>
              <a:sym typeface="Symbol" panose="05050102010706020507" charset="0"/>
            </a:endParaRPr>
          </a:p>
          <a:p>
            <a:pPr>
              <a:lnSpc>
                <a:spcPct val="80000"/>
              </a:lnSpc>
              <a:spcBef>
                <a:spcPct val="5000"/>
              </a:spcBef>
            </a:pPr>
            <a:r>
              <a:rPr lang="en-US" altLang="ko-KR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Technique: compiler generated stubs</a:t>
            </a:r>
            <a:endParaRPr lang="en-US" altLang="ko-KR" dirty="0">
              <a:latin typeface="Helvetica" charset="0"/>
              <a:ea typeface="MS PGothic" panose="020B0600070205080204" charset="-128"/>
              <a:sym typeface="Symbol" panose="05050102010706020507" charset="0"/>
            </a:endParaRPr>
          </a:p>
          <a:p>
            <a:pPr lvl="1">
              <a:lnSpc>
                <a:spcPct val="80000"/>
              </a:lnSpc>
              <a:spcBef>
                <a:spcPct val="5000"/>
              </a:spcBef>
            </a:pPr>
            <a:r>
              <a:rPr lang="en-US" altLang="ko-KR" sz="2000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Input: interface definition language (IDL)</a:t>
            </a:r>
            <a:endParaRPr lang="en-US" altLang="ko-KR" sz="2000" dirty="0">
              <a:latin typeface="Helvetica" charset="0"/>
              <a:ea typeface="MS PGothic" panose="020B0600070205080204" charset="-128"/>
              <a:sym typeface="Symbol" panose="05050102010706020507" charset="0"/>
            </a:endParaRPr>
          </a:p>
          <a:p>
            <a:pPr lvl="2">
              <a:lnSpc>
                <a:spcPct val="80000"/>
              </a:lnSpc>
              <a:spcBef>
                <a:spcPct val="5000"/>
              </a:spcBef>
            </a:pPr>
            <a:r>
              <a:rPr lang="en-US" altLang="ko-KR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Contains, among other things, types of arguments/return</a:t>
            </a:r>
            <a:endParaRPr lang="en-US" altLang="ko-KR" dirty="0">
              <a:latin typeface="Helvetica" charset="0"/>
              <a:ea typeface="MS PGothic" panose="020B0600070205080204" charset="-128"/>
              <a:sym typeface="Symbol" panose="05050102010706020507" charset="0"/>
            </a:endParaRPr>
          </a:p>
          <a:p>
            <a:pPr lvl="1">
              <a:lnSpc>
                <a:spcPct val="80000"/>
              </a:lnSpc>
              <a:spcBef>
                <a:spcPct val="5000"/>
              </a:spcBef>
            </a:pPr>
            <a:r>
              <a:rPr lang="en-US" altLang="ko-KR" sz="2000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Output: stub code in the appropriate source language</a:t>
            </a:r>
            <a:endParaRPr lang="en-US" altLang="ko-KR" sz="2000" dirty="0">
              <a:latin typeface="Helvetica" charset="0"/>
              <a:ea typeface="MS PGothic" panose="020B0600070205080204" charset="-128"/>
              <a:sym typeface="Symbol" panose="05050102010706020507" charset="0"/>
            </a:endParaRPr>
          </a:p>
        </p:txBody>
      </p:sp>
      <p:sp>
        <p:nvSpPr>
          <p:cNvPr id="10241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1" y="152400"/>
            <a:ext cx="7723331" cy="533400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Helvetica" charset="0"/>
                <a:ea typeface="MS PGothic" panose="020B0600070205080204" charset="-128"/>
              </a:rPr>
              <a:t>RPC Details: </a:t>
            </a:r>
            <a:r>
              <a:rPr lang="en-US" altLang="ko-KR" dirty="0" err="1">
                <a:latin typeface="Helvetica" charset="0"/>
                <a:ea typeface="MS PGothic" panose="020B0600070205080204" charset="-128"/>
              </a:rPr>
              <a:t>Marshalling</a:t>
            </a:r>
            <a:r>
              <a:rPr lang="en-US" altLang="ko-KR" dirty="0">
                <a:latin typeface="Helvetica" charset="0"/>
                <a:ea typeface="MS PGothic" panose="020B0600070205080204" charset="-128"/>
              </a:rPr>
              <a:t> Arguments</a:t>
            </a:r>
            <a:endParaRPr lang="en-US" altLang="ko-KR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914400"/>
            <a:ext cx="7924800" cy="1371600"/>
          </a:xfrm>
        </p:spPr>
        <p:txBody>
          <a:bodyPr/>
          <a:lstStyle/>
          <a:p>
            <a:r>
              <a:rPr kumimoji="1" lang="en-US" altLang="zh-CN" dirty="0"/>
              <a:t>GRPC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cross-platform,</a:t>
            </a:r>
            <a:r>
              <a:rPr kumimoji="1" lang="zh-CN" altLang="en-US" dirty="0"/>
              <a:t> </a:t>
            </a:r>
            <a:r>
              <a:rPr kumimoji="1" lang="en-US" altLang="zh-CN" dirty="0"/>
              <a:t>cross-language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RPC</a:t>
            </a:r>
            <a:r>
              <a:rPr kumimoji="1" lang="zh-CN" altLang="en-US" dirty="0"/>
              <a:t> </a:t>
            </a:r>
            <a:r>
              <a:rPr kumimoji="1" lang="en-US" altLang="zh-CN" dirty="0"/>
              <a:t>system</a:t>
            </a:r>
            <a:r>
              <a:rPr kumimoji="1" lang="zh-CN" altLang="en-US" dirty="0"/>
              <a:t> </a:t>
            </a:r>
            <a:r>
              <a:rPr kumimoji="1" lang="en-US" altLang="zh-CN" dirty="0"/>
              <a:t>developed</a:t>
            </a:r>
            <a:r>
              <a:rPr kumimoji="1" lang="zh-CN" altLang="en-US" dirty="0"/>
              <a:t> </a:t>
            </a:r>
            <a:r>
              <a:rPr kumimoji="1" lang="en-US" altLang="zh-CN" dirty="0"/>
              <a:t>at</a:t>
            </a:r>
            <a:r>
              <a:rPr kumimoji="1" lang="zh-CN" altLang="en-US" dirty="0"/>
              <a:t> </a:t>
            </a:r>
            <a:r>
              <a:rPr kumimoji="1" lang="en-US" altLang="zh-CN" dirty="0"/>
              <a:t>Google</a:t>
            </a:r>
            <a:endParaRPr kumimoji="1" lang="en-US" altLang="zh-CN" dirty="0"/>
          </a:p>
          <a:p>
            <a:r>
              <a:rPr kumimoji="1" lang="en-US" altLang="zh-CN" dirty="0"/>
              <a:t>Uses</a:t>
            </a:r>
            <a:r>
              <a:rPr kumimoji="1" lang="zh-CN" altLang="en-US" dirty="0"/>
              <a:t> </a:t>
            </a:r>
            <a:r>
              <a:rPr kumimoji="1" lang="en-US" altLang="zh-CN" dirty="0"/>
              <a:t>its</a:t>
            </a:r>
            <a:r>
              <a:rPr kumimoji="1" lang="zh-CN" altLang="en-US" dirty="0"/>
              <a:t> </a:t>
            </a:r>
            <a:r>
              <a:rPr kumimoji="1" lang="en-US" altLang="zh-CN" dirty="0"/>
              <a:t>own</a:t>
            </a:r>
            <a:r>
              <a:rPr kumimoji="1" lang="zh-CN" altLang="en-US" dirty="0"/>
              <a:t> </a:t>
            </a:r>
            <a:r>
              <a:rPr kumimoji="1" lang="en-US" altLang="zh-CN" dirty="0"/>
              <a:t>IDL</a:t>
            </a:r>
            <a:r>
              <a:rPr kumimoji="1" lang="zh-CN" altLang="en-US" dirty="0"/>
              <a:t> </a:t>
            </a:r>
            <a:r>
              <a:rPr kumimoji="1" lang="en-US" altLang="zh-CN" dirty="0"/>
              <a:t>(.proto</a:t>
            </a:r>
            <a:r>
              <a:rPr kumimoji="1" lang="zh-CN" altLang="en-US" dirty="0"/>
              <a:t> </a:t>
            </a:r>
            <a:r>
              <a:rPr kumimoji="1" lang="en-US" altLang="zh-CN" dirty="0"/>
              <a:t>files)</a:t>
            </a: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kumimoji="1" lang="en-US" altLang="zh-CN" dirty="0"/>
              <a:t>GRPC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2950" y="2438400"/>
            <a:ext cx="5118100" cy="38481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kumimoji="1" lang="en-US" altLang="zh-CN" dirty="0"/>
              <a:t>Server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Client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Template</a:t>
            </a:r>
            <a:endParaRPr kumimoji="1"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04801" y="4953000"/>
            <a:ext cx="6553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0" dirty="0">
                <a:latin typeface="Helvetica"/>
                <a:cs typeface="Helvetica"/>
              </a:rPr>
              <a:t>IDL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compiles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to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the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RPC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stub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code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(.</a:t>
            </a:r>
            <a:r>
              <a:rPr kumimoji="1" lang="en-US" altLang="zh-CN" sz="2000" b="0" dirty="0" err="1">
                <a:latin typeface="Helvetica"/>
                <a:cs typeface="Helvetica"/>
              </a:rPr>
              <a:t>pb.h</a:t>
            </a:r>
            <a:r>
              <a:rPr kumimoji="1" lang="en-US" altLang="zh-CN" sz="2000" b="0" dirty="0">
                <a:latin typeface="Helvetica"/>
                <a:cs typeface="Helvetica"/>
              </a:rPr>
              <a:t>/.</a:t>
            </a:r>
            <a:r>
              <a:rPr kumimoji="1" lang="en-US" altLang="zh-CN" sz="2000" b="0" dirty="0" err="1">
                <a:latin typeface="Helvetica"/>
                <a:cs typeface="Helvetica"/>
              </a:rPr>
              <a:t>pb.cc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code)</a:t>
            </a:r>
            <a:endParaRPr kumimoji="1" lang="en-US" altLang="zh-CN" sz="2000" b="0" dirty="0">
              <a:latin typeface="Helvetica"/>
              <a:cs typeface="Helvetica"/>
            </a:endParaRPr>
          </a:p>
          <a:p>
            <a:r>
              <a:rPr kumimoji="1" lang="en-US" altLang="zh-CN" sz="2000" b="0" dirty="0">
                <a:latin typeface="Helvetica"/>
                <a:cs typeface="Helvetica"/>
              </a:rPr>
              <a:t>As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well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as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>
                <a:latin typeface="Helvetica"/>
                <a:cs typeface="Helvetica"/>
              </a:rPr>
              <a:t>a</a:t>
            </a:r>
            <a:r>
              <a:rPr kumimoji="1" lang="zh-CN" altLang="en-US" sz="2000" b="0" dirty="0">
                <a:latin typeface="Helvetica"/>
                <a:cs typeface="Helvetica"/>
              </a:rPr>
              <a:t> </a:t>
            </a:r>
            <a:r>
              <a:rPr kumimoji="1" lang="en-US" altLang="zh-CN" sz="2000" b="0" dirty="0" err="1">
                <a:latin typeface="Helvetica"/>
                <a:cs typeface="Helvetica"/>
              </a:rPr>
              <a:t>GreeterServiceImpl</a:t>
            </a:r>
            <a:r>
              <a:rPr kumimoji="1" lang="zh-CN" altLang="en-US" sz="2000" b="0" dirty="0">
                <a:latin typeface="Helvetica"/>
                <a:cs typeface="Helvetica"/>
              </a:rPr>
              <a:t>  </a:t>
            </a:r>
            <a:r>
              <a:rPr kumimoji="1" lang="en-US" altLang="zh-CN" sz="2000" b="0" dirty="0">
                <a:latin typeface="Helvetica"/>
                <a:cs typeface="Helvetica"/>
              </a:rPr>
              <a:t>template</a:t>
            </a:r>
            <a:endParaRPr kumimoji="1" lang="zh-CN" altLang="en-US" sz="2000" b="0" dirty="0">
              <a:latin typeface="Helvetica"/>
              <a:cs typeface="Helvetic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1312479"/>
            <a:ext cx="6794500" cy="24892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898634"/>
            <a:ext cx="3175000" cy="2921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71821"/>
            <a:ext cx="7162800" cy="533400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Client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Code</a:t>
            </a:r>
            <a:endParaRPr kumimoji="1"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295400"/>
            <a:ext cx="5029200" cy="5283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914400"/>
            <a:ext cx="2743200" cy="24334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51" name="Rectangle 3"/>
          <p:cNvSpPr>
            <a:spLocks noGrp="1" noChangeArrowheads="1"/>
          </p:cNvSpPr>
          <p:nvPr>
            <p:ph idx="1"/>
          </p:nvPr>
        </p:nvSpPr>
        <p:spPr>
          <a:xfrm>
            <a:off x="98425" y="1235077"/>
            <a:ext cx="8947150" cy="4784725"/>
          </a:xfrm>
        </p:spPr>
        <p:txBody>
          <a:bodyPr/>
          <a:lstStyle/>
          <a:p>
            <a:pPr marL="285750" lvl="1" indent="-285750">
              <a:lnSpc>
                <a:spcPct val="80000"/>
              </a:lnSpc>
              <a:spcBef>
                <a:spcPct val="10000"/>
              </a:spcBef>
              <a:buFontTx/>
              <a:buChar char="•"/>
            </a:pPr>
            <a:r>
              <a:rPr lang="en-US" altLang="ko-KR" sz="2400" dirty="0">
                <a:latin typeface="Helvetica" charset="0"/>
                <a:ea typeface="MS PGothic" panose="020B0600070205080204" charset="-128"/>
                <a:cs typeface="MS PGothic" panose="020B0600070205080204" charset="-128"/>
              </a:rPr>
              <a:t>Different failure modes</a:t>
            </a:r>
            <a:endParaRPr lang="en-US" altLang="ko-KR" sz="2400" dirty="0">
              <a:latin typeface="Helvetica" charset="0"/>
              <a:ea typeface="MS PGothic" panose="020B0600070205080204" charset="-128"/>
              <a:cs typeface="MS PGothic" panose="020B0600070205080204" charset="-128"/>
            </a:endParaRP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>
                <a:latin typeface="Helvetica" charset="0"/>
                <a:ea typeface="MS PGothic" panose="020B0600070205080204" charset="-128"/>
              </a:rPr>
              <a:t>Without RPC a failure within a procedure call usually meant whole application would crash/die</a:t>
            </a:r>
            <a:endParaRPr lang="en-US" altLang="ko-KR" dirty="0">
              <a:latin typeface="Helvetica" charset="0"/>
              <a:ea typeface="MS PGothic" panose="020B0600070205080204" charset="-128"/>
            </a:endParaRP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>
                <a:latin typeface="Helvetica" charset="0"/>
                <a:ea typeface="MS PGothic" panose="020B0600070205080204" charset="-128"/>
              </a:rPr>
              <a:t>With RPC a failure within a procedure call means remote machine crashed, but local one </a:t>
            </a:r>
            <a:r>
              <a:rPr lang="en-US" altLang="ko-KR" u="sng" dirty="0">
                <a:latin typeface="Helvetica" charset="0"/>
                <a:ea typeface="MS PGothic" panose="020B0600070205080204" charset="-128"/>
              </a:rPr>
              <a:t>could</a:t>
            </a:r>
            <a:r>
              <a:rPr lang="en-US" altLang="ko-KR" dirty="0">
                <a:latin typeface="Helvetica" charset="0"/>
                <a:ea typeface="MS PGothic" panose="020B0600070205080204" charset="-128"/>
              </a:rPr>
              <a:t> continue working</a:t>
            </a:r>
            <a:endParaRPr lang="en-US" altLang="ko-KR" dirty="0">
              <a:latin typeface="Helvetica" charset="0"/>
              <a:ea typeface="MS PGothic" panose="020B0600070205080204" charset="-128"/>
            </a:endParaRP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>
                <a:latin typeface="Helvetica" charset="0"/>
                <a:ea typeface="MS PGothic" panose="020B0600070205080204" charset="-128"/>
              </a:rPr>
              <a:t>Answer? Distributed transactions can help</a:t>
            </a:r>
            <a:endParaRPr lang="en-US" altLang="ko-KR" dirty="0">
              <a:latin typeface="Helvetica" charset="0"/>
              <a:ea typeface="MS PGothic" panose="020B0600070205080204" charset="-128"/>
            </a:endParaRPr>
          </a:p>
          <a:p>
            <a:pPr>
              <a:lnSpc>
                <a:spcPct val="80000"/>
              </a:lnSpc>
              <a:spcBef>
                <a:spcPct val="10000"/>
              </a:spcBef>
            </a:pPr>
            <a:endParaRPr lang="en-US" altLang="ko-KR" dirty="0">
              <a:latin typeface="Helvetica" charset="0"/>
              <a:ea typeface="MS PGothic" panose="020B0600070205080204" charset="-128"/>
            </a:endParaRPr>
          </a:p>
          <a:p>
            <a:pPr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>
                <a:latin typeface="Helvetica" charset="0"/>
                <a:ea typeface="MS PGothic" panose="020B0600070205080204" charset="-128"/>
              </a:rPr>
              <a:t>Performance</a:t>
            </a:r>
            <a:endParaRPr lang="en-US" altLang="ko-KR" dirty="0">
              <a:latin typeface="Helvetica" charset="0"/>
              <a:ea typeface="MS PGothic" panose="020B0600070205080204" charset="-128"/>
            </a:endParaRP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>
                <a:latin typeface="Helvetica" charset="0"/>
                <a:ea typeface="MS PGothic" panose="020B0600070205080204" charset="-128"/>
              </a:rPr>
              <a:t>Cost of Procedure call </a:t>
            </a:r>
            <a:r>
              <a:rPr lang="en-US" altLang="ko-KR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&lt;</a:t>
            </a:r>
            <a:r>
              <a:rPr lang="en-US" altLang="zh-CN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&lt;</a:t>
            </a:r>
            <a:r>
              <a:rPr lang="en-US" altLang="ko-KR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 same-machine RPC &lt;&lt; network RPC</a:t>
            </a:r>
            <a:endParaRPr lang="en-US" altLang="ko-KR" dirty="0">
              <a:latin typeface="Helvetica" charset="0"/>
              <a:ea typeface="MS PGothic" panose="020B0600070205080204" charset="-128"/>
              <a:sym typeface="Symbol" panose="05050102010706020507" charset="0"/>
            </a:endParaRP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Means programmers must be aware they are using RPC </a:t>
            </a:r>
            <a:endParaRPr lang="en-US" altLang="ko-KR" dirty="0">
              <a:latin typeface="Helvetica" charset="0"/>
              <a:ea typeface="MS PGothic" panose="020B0600070205080204" charset="-128"/>
              <a:sym typeface="Symbol" panose="05050102010706020507" charset="0"/>
            </a:endParaRPr>
          </a:p>
          <a:p>
            <a:pPr lvl="2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No transparency in performance</a:t>
            </a:r>
            <a:endParaRPr lang="en-US" altLang="ko-KR" dirty="0">
              <a:latin typeface="Helvetica" charset="0"/>
              <a:ea typeface="MS PGothic" panose="020B0600070205080204" charset="-128"/>
              <a:sym typeface="Symbol" panose="05050102010706020507" charset="0"/>
            </a:endParaRPr>
          </a:p>
          <a:p>
            <a:pPr lvl="2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>
                <a:latin typeface="Helvetica" charset="0"/>
                <a:ea typeface="MS PGothic" panose="020B0600070205080204" charset="-128"/>
                <a:sym typeface="Symbol" panose="05050102010706020507" charset="0"/>
              </a:rPr>
              <a:t>Caching can help, but may make failure handling even more complex</a:t>
            </a:r>
            <a:endParaRPr lang="en-US" altLang="ko-KR" dirty="0">
              <a:latin typeface="Helvetica" charset="0"/>
              <a:ea typeface="MS PGothic" panose="020B0600070205080204" charset="-128"/>
              <a:sym typeface="Symbol" panose="05050102010706020507" charset="0"/>
            </a:endParaRPr>
          </a:p>
        </p:txBody>
      </p:sp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 altLang="ko-KR" dirty="0">
                <a:latin typeface="Helvetica" charset="0"/>
                <a:ea typeface="MS PGothic" panose="020B0600070205080204" charset="-128"/>
              </a:rPr>
              <a:t>Is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ko-KR" dirty="0">
                <a:latin typeface="Helvetica" charset="0"/>
                <a:ea typeface="MS PGothic" panose="020B0600070205080204" charset="-128"/>
              </a:rPr>
              <a:t>RPC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the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same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as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local</a:t>
            </a:r>
            <a:r>
              <a:rPr lang="zh-CN" altLang="en-US" dirty="0">
                <a:latin typeface="Helvetica" charset="0"/>
                <a:ea typeface="MS PGothic" panose="020B0600070205080204" charset="-128"/>
              </a:rPr>
              <a:t> </a:t>
            </a:r>
            <a:r>
              <a:rPr lang="en-US" altLang="zh-CN" dirty="0">
                <a:latin typeface="Helvetica" charset="0"/>
                <a:ea typeface="MS PGothic" panose="020B0600070205080204" charset="-128"/>
              </a:rPr>
              <a:t>call?</a:t>
            </a:r>
            <a:endParaRPr lang="en-US" altLang="ko-KR" dirty="0">
              <a:latin typeface="Helvetica" charset="0"/>
              <a:ea typeface="MS PGothic" panose="020B0600070205080204" charset="-128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Exactly once (same as local IPC) </a:t>
            </a:r>
            <a:endParaRPr lang="en-US" altLang="zh-CN" dirty="0"/>
          </a:p>
          <a:p>
            <a:r>
              <a:rPr lang="en-US" altLang="zh-CN" dirty="0"/>
              <a:t>At most once </a:t>
            </a:r>
            <a:endParaRPr lang="en-US" altLang="zh-CN" dirty="0"/>
          </a:p>
          <a:p>
            <a:r>
              <a:rPr lang="en-US" altLang="zh-CN" dirty="0"/>
              <a:t>At least once</a:t>
            </a:r>
            <a:endParaRPr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about</a:t>
            </a:r>
            <a:r>
              <a:rPr kumimoji="1" lang="zh-CN" altLang="en-US" dirty="0"/>
              <a:t> </a:t>
            </a:r>
            <a:r>
              <a:rPr kumimoji="1" lang="en-US" altLang="zh-CN" dirty="0"/>
              <a:t>if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RPC</a:t>
            </a:r>
            <a:r>
              <a:rPr kumimoji="1" lang="zh-CN" altLang="en-US" dirty="0"/>
              <a:t> </a:t>
            </a:r>
            <a:r>
              <a:rPr kumimoji="1" lang="en-US" altLang="zh-CN" dirty="0"/>
              <a:t>times</a:t>
            </a:r>
            <a:r>
              <a:rPr kumimoji="1" lang="zh-CN" altLang="en-US" dirty="0"/>
              <a:t> </a:t>
            </a:r>
            <a:r>
              <a:rPr kumimoji="1" lang="en-US" altLang="zh-CN" dirty="0"/>
              <a:t>out?</a:t>
            </a:r>
            <a:endParaRPr kumimoji="1"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kumimoji="1" lang="en-US" altLang="zh-CN" dirty="0"/>
              <a:t>Call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Semantics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68196-B6DB-DA40-B8A2-C15597ECCDA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iiis-os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AA"/>
        </a:solidFill>
        <a:ln w="25400" cap="flat" cmpd="sng" algn="ctr">
          <a:solidFill>
            <a:schemeClr val="tx1"/>
          </a:solidFill>
          <a:prstDash val="solid"/>
          <a:round/>
          <a:headEnd type="triangle" w="med" len="med"/>
          <a:tailEnd type="none" w="med" len="med"/>
        </a:ln>
      </a:spPr>
      <a:bodyPr rtlCol="0" anchor="ctr"/>
      <a:lstStyle>
        <a:defPPr algn="ctr">
          <a:defRPr b="0" dirty="0" smtClean="0">
            <a:latin typeface="Helvetica"/>
            <a:cs typeface="Helvetica"/>
          </a:defRPr>
        </a:defPPr>
      </a:lstStyle>
    </a:spDef>
    <a:lnDef>
      <a:spPr bwMode="auto">
        <a:solidFill>
          <a:schemeClr val="bg1"/>
        </a:solidFill>
        <a:ln w="38100" cap="flat" cmpd="sng" algn="ctr">
          <a:solidFill>
            <a:schemeClr val="tx1"/>
          </a:solidFill>
          <a:prstDash val="solid"/>
          <a:round/>
          <a:headEnd type="none" w="med" len="med"/>
          <a:tailEnd type="triangle"/>
        </a:ln>
      </a:spPr>
      <a:bodyPr/>
      <a:lstStyle/>
    </a:lnDef>
    <a:txDef>
      <a:spPr>
        <a:noFill/>
      </a:spPr>
      <a:bodyPr wrap="none" rtlCol="0">
        <a:spAutoFit/>
      </a:bodyPr>
      <a:lstStyle>
        <a:defPPr>
          <a:defRPr sz="2000" b="0" dirty="0" smtClean="0">
            <a:latin typeface="Helvetica"/>
            <a:cs typeface="Helvetica"/>
          </a:defRPr>
        </a:defPPr>
      </a:lstStyle>
    </a:txDef>
  </a:objectDefaults>
  <a:extraClrSchemeLst>
    <a:extraClrScheme>
      <a:clrScheme name="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iiis-os</Template>
  <TotalTime>0</TotalTime>
  <Words>23138</Words>
  <Application>WPS 演示</Application>
  <PresentationFormat>全屏显示(4:3)</PresentationFormat>
  <Paragraphs>1804</Paragraphs>
  <Slides>82</Slides>
  <Notes>43</Notes>
  <HiddenSlides>0</HiddenSlides>
  <MMClips>0</MMClips>
  <ScaleCrop>false</ScaleCrop>
  <HeadingPairs>
    <vt:vector size="8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82</vt:i4>
      </vt:variant>
    </vt:vector>
  </HeadingPairs>
  <TitlesOfParts>
    <vt:vector size="110" baseType="lpstr">
      <vt:lpstr>Arial</vt:lpstr>
      <vt:lpstr>宋体</vt:lpstr>
      <vt:lpstr>Wingdings</vt:lpstr>
      <vt:lpstr>Comic Sans MS</vt:lpstr>
      <vt:lpstr>MS PGothic</vt:lpstr>
      <vt:lpstr>Helvetica</vt:lpstr>
      <vt:lpstr>Helvetica</vt:lpstr>
      <vt:lpstr>Gulim</vt:lpstr>
      <vt:lpstr>Times New Roman</vt:lpstr>
      <vt:lpstr>KSOF7FC4CF2A</vt:lpstr>
      <vt:lpstr>Segoe Print</vt:lpstr>
      <vt:lpstr>KSOFB4AB0A6B</vt:lpstr>
      <vt:lpstr>微软雅黑</vt:lpstr>
      <vt:lpstr>Arial Unicode MS</vt:lpstr>
      <vt:lpstr>Wingdings</vt:lpstr>
      <vt:lpstr>Arial</vt:lpstr>
      <vt:lpstr>Courier New</vt:lpstr>
      <vt:lpstr>Calibri</vt:lpstr>
      <vt:lpstr>Calibri</vt:lpstr>
      <vt:lpstr>Times New Roman</vt:lpstr>
      <vt:lpstr>Lato</vt:lpstr>
      <vt:lpstr>Arial Narrow</vt:lpstr>
      <vt:lpstr>Arial Narrow</vt:lpstr>
      <vt:lpstr>Symbol</vt:lpstr>
      <vt:lpstr>KSOF1E7780ED</vt:lpstr>
      <vt:lpstr>KSOFE99145AC</vt:lpstr>
      <vt:lpstr>Malgun Gothic</vt:lpstr>
      <vt:lpstr>iiis-os</vt:lpstr>
      <vt:lpstr> Introduction to Computer Systems   Lecture 10  Networking</vt:lpstr>
      <vt:lpstr>Goals for Today</vt:lpstr>
      <vt:lpstr>Why networking?</vt:lpstr>
      <vt:lpstr>Basic Network Functionalities</vt:lpstr>
      <vt:lpstr>multiplexing</vt:lpstr>
      <vt:lpstr>Basic Building Block: Links</vt:lpstr>
      <vt:lpstr>What if we want more hosts?</vt:lpstr>
      <vt:lpstr>Multiplexing</vt:lpstr>
      <vt:lpstr>In the Old Days… Circuit Switching</vt:lpstr>
      <vt:lpstr>Packet Switching</vt:lpstr>
      <vt:lpstr>Packet Switching — Statistical Multiplexing</vt:lpstr>
      <vt:lpstr>addresses</vt:lpstr>
      <vt:lpstr>IP addresses and gaetway</vt:lpstr>
      <vt:lpstr>IP Addresses vs. MAC Addresses</vt:lpstr>
      <vt:lpstr>Network interface cards (NICs)</vt:lpstr>
      <vt:lpstr>Addressing to a NIC</vt:lpstr>
      <vt:lpstr>Addressing into a process: ports</vt:lpstr>
      <vt:lpstr>Common Port Numbers</vt:lpstr>
      <vt:lpstr>Addressing: finding the right target</vt:lpstr>
      <vt:lpstr>Addressing on a local area network (LANs)</vt:lpstr>
      <vt:lpstr>LANs: Hubs</vt:lpstr>
      <vt:lpstr>LANs: Switches</vt:lpstr>
      <vt:lpstr>Wide Area Network (WAN)</vt:lpstr>
      <vt:lpstr>WANs: Routers</vt:lpstr>
      <vt:lpstr>Packet Forwarding </vt:lpstr>
      <vt:lpstr>Naming -&gt; addressing</vt:lpstr>
      <vt:lpstr>DNS</vt:lpstr>
      <vt:lpstr>Typical Resolution</vt:lpstr>
      <vt:lpstr>Typical Resolution</vt:lpstr>
      <vt:lpstr>Typical Resolution</vt:lpstr>
      <vt:lpstr>Why is DNS important?</vt:lpstr>
      <vt:lpstr>Reliability and flow control</vt:lpstr>
      <vt:lpstr>Parameters of a communication channel</vt:lpstr>
      <vt:lpstr>Data may get Lost</vt:lpstr>
      <vt:lpstr>Data may get Corrupted</vt:lpstr>
      <vt:lpstr>Data may be delivered Out of Order</vt:lpstr>
      <vt:lpstr>What If Network is Overloaded?</vt:lpstr>
      <vt:lpstr>Avoid overflowing the receiver: Polite Networks: Stop &amp; Wait Protocol</vt:lpstr>
      <vt:lpstr>PowerPoint 演示文稿</vt:lpstr>
      <vt:lpstr>Packet Delay</vt:lpstr>
      <vt:lpstr>PowerPoint 演示文稿</vt:lpstr>
      <vt:lpstr>Think about this…</vt:lpstr>
      <vt:lpstr>PowerPoint 演示文稿</vt:lpstr>
      <vt:lpstr>Intuitive TCP flow control</vt:lpstr>
      <vt:lpstr>layering</vt:lpstr>
      <vt:lpstr>The Problem (cont’d)</vt:lpstr>
      <vt:lpstr>Solution: Intermediate Layers</vt:lpstr>
      <vt:lpstr>Software System Modularity</vt:lpstr>
      <vt:lpstr>Layering: A Modular Approach in Networking</vt:lpstr>
      <vt:lpstr>Properties of Layers</vt:lpstr>
      <vt:lpstr>Protocol Standardization</vt:lpstr>
      <vt:lpstr>OSI Layering Model</vt:lpstr>
      <vt:lpstr>Physical Layer (1)</vt:lpstr>
      <vt:lpstr>Datalink Layer (2)</vt:lpstr>
      <vt:lpstr>Datalink Layer (2)</vt:lpstr>
      <vt:lpstr>(Inter) Network Layer (3)</vt:lpstr>
      <vt:lpstr>(Inter) Network Layer (3)</vt:lpstr>
      <vt:lpstr>The Internet Protocol (IP)</vt:lpstr>
      <vt:lpstr>Transport Layer (4)</vt:lpstr>
      <vt:lpstr>Port Numbers</vt:lpstr>
      <vt:lpstr>Internet Transport Protocols</vt:lpstr>
      <vt:lpstr>Application Layer (7 - not 5!)</vt:lpstr>
      <vt:lpstr>The entire stack</vt:lpstr>
      <vt:lpstr>Five Layers Summary</vt:lpstr>
      <vt:lpstr>The Internet Hourglass</vt:lpstr>
      <vt:lpstr>Implications of Hourglass</vt:lpstr>
      <vt:lpstr>Drawbacks of Layering</vt:lpstr>
      <vt:lpstr>End-to-End Argument / Reasoning</vt:lpstr>
      <vt:lpstr>Remote procedure calls</vt:lpstr>
      <vt:lpstr>Inter-process communication (IPC)</vt:lpstr>
      <vt:lpstr>PowerPoint 演示文稿</vt:lpstr>
      <vt:lpstr>Communication mode 1:  Clients and Servers</vt:lpstr>
      <vt:lpstr>Communication mode 2: Peer-to-Peer Communication</vt:lpstr>
      <vt:lpstr>Protocols</vt:lpstr>
      <vt:lpstr>Remote Procedure Call</vt:lpstr>
      <vt:lpstr>RPC Information Flow</vt:lpstr>
      <vt:lpstr>RPC Details: Marshalling Arguments</vt:lpstr>
      <vt:lpstr>GRPC</vt:lpstr>
      <vt:lpstr>Server and Client Template</vt:lpstr>
      <vt:lpstr>Client Code</vt:lpstr>
      <vt:lpstr>Is RPC the same as local call?</vt:lpstr>
      <vt:lpstr>Call Semantics</vt:lpstr>
    </vt:vector>
  </TitlesOfParts>
  <Company>UC Berkeley</Company>
  <LinksUpToDate>false</LinksUpToDate>
  <SharedDoc>false</SharedDoc>
  <HyperlinksChanged>false</HyperlinksChanged>
  <AppVersion>14.0000</AppVersion>
  <Pages>60</Pag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Course Introduction and Overview</dc:title>
  <dc:creator>John D. Kubiatowicz</dc:creator>
  <dc:description>Imported some pictures from Silbershatz (c) 2005</dc:description>
  <cp:lastModifiedBy>奕帆</cp:lastModifiedBy>
  <cp:revision>1729</cp:revision>
  <cp:lastPrinted>2013-04-25T07:40:00Z</cp:lastPrinted>
  <dcterms:created xsi:type="dcterms:W3CDTF">2011-04-13T03:37:00Z</dcterms:created>
  <dcterms:modified xsi:type="dcterms:W3CDTF">2026-05-22T01:53:11Z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">
    <vt:lpwstr>Joseph</vt:lpwstr>
  </property>
  <property fmtid="{D5CDD505-2E9C-101B-9397-08002B2CF9AE}" pid="3" name="Semester">
    <vt:lpwstr>Spring 2006</vt:lpwstr>
  </property>
  <property fmtid="{D5CDD505-2E9C-101B-9397-08002B2CF9AE}" pid="4" name="ICV">
    <vt:lpwstr>E2FB19B60CAD4B72B53305A6091F19BD_12</vt:lpwstr>
  </property>
  <property fmtid="{D5CDD505-2E9C-101B-9397-08002B2CF9AE}" pid="5" name="KSOProductBuildVer">
    <vt:lpwstr>2052-12.1.0.26373</vt:lpwstr>
  </property>
</Properties>
</file>