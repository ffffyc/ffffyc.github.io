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550" r:id="rId1"/>
  </p:sldMasterIdLst>
  <p:notesMasterIdLst>
    <p:notesMasterId r:id="rId54"/>
  </p:notesMasterIdLst>
  <p:handoutMasterIdLst>
    <p:handoutMasterId r:id="rId55"/>
  </p:handoutMasterIdLst>
  <p:sldIdLst>
    <p:sldId id="449" r:id="rId2"/>
    <p:sldId id="2111" r:id="rId3"/>
    <p:sldId id="2109" r:id="rId4"/>
    <p:sldId id="1350" r:id="rId5"/>
    <p:sldId id="2110" r:id="rId6"/>
    <p:sldId id="1264" r:id="rId7"/>
    <p:sldId id="1265" r:id="rId8"/>
    <p:sldId id="1267" r:id="rId9"/>
    <p:sldId id="1268" r:id="rId10"/>
    <p:sldId id="1269" r:id="rId11"/>
    <p:sldId id="2108" r:id="rId12"/>
    <p:sldId id="1270" r:id="rId13"/>
    <p:sldId id="1271" r:id="rId14"/>
    <p:sldId id="2104" r:id="rId15"/>
    <p:sldId id="1205" r:id="rId16"/>
    <p:sldId id="2105" r:id="rId17"/>
    <p:sldId id="2106" r:id="rId18"/>
    <p:sldId id="1399" r:id="rId19"/>
    <p:sldId id="343" r:id="rId20"/>
    <p:sldId id="1529" r:id="rId21"/>
    <p:sldId id="353" r:id="rId22"/>
    <p:sldId id="354" r:id="rId23"/>
    <p:sldId id="355" r:id="rId24"/>
    <p:sldId id="1530" r:id="rId25"/>
    <p:sldId id="1531" r:id="rId26"/>
    <p:sldId id="1532" r:id="rId27"/>
    <p:sldId id="2107" r:id="rId28"/>
    <p:sldId id="1393" r:id="rId29"/>
    <p:sldId id="1367" r:id="rId30"/>
    <p:sldId id="1395" r:id="rId31"/>
    <p:sldId id="1396" r:id="rId32"/>
    <p:sldId id="1372" r:id="rId33"/>
    <p:sldId id="1373" r:id="rId34"/>
    <p:sldId id="1375" r:id="rId35"/>
    <p:sldId id="1378" r:id="rId36"/>
    <p:sldId id="1376" r:id="rId37"/>
    <p:sldId id="1377" r:id="rId38"/>
    <p:sldId id="1374" r:id="rId39"/>
    <p:sldId id="1379" r:id="rId40"/>
    <p:sldId id="1380" r:id="rId41"/>
    <p:sldId id="1381" r:id="rId42"/>
    <p:sldId id="1382" r:id="rId43"/>
    <p:sldId id="1383" r:id="rId44"/>
    <p:sldId id="1384" r:id="rId45"/>
    <p:sldId id="1385" r:id="rId46"/>
    <p:sldId id="1386" r:id="rId47"/>
    <p:sldId id="1387" r:id="rId48"/>
    <p:sldId id="1391" r:id="rId49"/>
    <p:sldId id="1388" r:id="rId50"/>
    <p:sldId id="1389" r:id="rId51"/>
    <p:sldId id="1390" r:id="rId52"/>
    <p:sldId id="1235" r:id="rId53"/>
  </p:sldIdLst>
  <p:sldSz cx="9144000" cy="6858000" type="screen4x3"/>
  <p:notesSz cx="9601200" cy="7315200"/>
  <p:kinsoku lang="zh-CN"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4" hiddenSlides="1" frameSlides="1"/>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254"/>
    <p:restoredTop sz="94730"/>
  </p:normalViewPr>
  <p:slideViewPr>
    <p:cSldViewPr>
      <p:cViewPr varScale="1">
        <p:scale>
          <a:sx n="119" d="100"/>
          <a:sy n="119" d="100"/>
        </p:scale>
        <p:origin x="1272"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0" d="100"/>
        <a:sy n="90" d="100"/>
      </p:scale>
      <p:origin x="0" y="393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rts/_rels/chart1.xml.rels><?xml version="1.0" encoding="UTF-8" standalone="yes"?>
<Relationships xmlns="http://schemas.openxmlformats.org/package/2006/relationships"><Relationship Id="rId2" Type="http://schemas.openxmlformats.org/officeDocument/2006/relationships/oleObject" Target="Macintosh%20HD:Users:Michael:Courses:CS186Fa09:lockexample.xlsx" TargetMode="External"/><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18"/>
    </mc:Choice>
    <mc:Fallback>
      <c:style val="18"/>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117466097987752"/>
          <c:y val="8.2407407407407401E-2"/>
          <c:w val="0.75246128608923901"/>
          <c:h val="0.55619604841061498"/>
        </c:manualLayout>
      </c:layout>
      <c:areaChart>
        <c:grouping val="standard"/>
        <c:varyColors val="0"/>
        <c:ser>
          <c:idx val="0"/>
          <c:order val="0"/>
          <c:val>
            <c:numRef>
              <c:f>Sheet1!$B$1:$B$20</c:f>
              <c:numCache>
                <c:formatCode>General</c:formatCode>
                <c:ptCount val="20"/>
                <c:pt idx="0">
                  <c:v>0</c:v>
                </c:pt>
                <c:pt idx="1">
                  <c:v>1</c:v>
                </c:pt>
                <c:pt idx="2">
                  <c:v>1</c:v>
                </c:pt>
                <c:pt idx="3">
                  <c:v>1</c:v>
                </c:pt>
                <c:pt idx="4">
                  <c:v>2</c:v>
                </c:pt>
                <c:pt idx="5">
                  <c:v>3</c:v>
                </c:pt>
                <c:pt idx="6">
                  <c:v>3</c:v>
                </c:pt>
                <c:pt idx="7">
                  <c:v>3</c:v>
                </c:pt>
                <c:pt idx="8">
                  <c:v>4</c:v>
                </c:pt>
                <c:pt idx="9">
                  <c:v>4</c:v>
                </c:pt>
                <c:pt idx="10">
                  <c:v>4</c:v>
                </c:pt>
                <c:pt idx="11">
                  <c:v>4</c:v>
                </c:pt>
                <c:pt idx="12">
                  <c:v>4</c:v>
                </c:pt>
                <c:pt idx="13">
                  <c:v>4</c:v>
                </c:pt>
                <c:pt idx="14">
                  <c:v>3</c:v>
                </c:pt>
                <c:pt idx="15">
                  <c:v>3</c:v>
                </c:pt>
                <c:pt idx="16">
                  <c:v>2</c:v>
                </c:pt>
                <c:pt idx="17">
                  <c:v>2</c:v>
                </c:pt>
                <c:pt idx="18">
                  <c:v>1</c:v>
                </c:pt>
                <c:pt idx="19">
                  <c:v>0</c:v>
                </c:pt>
              </c:numCache>
            </c:numRef>
          </c:val>
          <c:extLst>
            <c:ext xmlns:c16="http://schemas.microsoft.com/office/drawing/2014/chart" uri="{C3380CC4-5D6E-409C-BE32-E72D297353CC}">
              <c16:uniqueId val="{00000000-C0FD-E148-8C6C-E059C891EFED}"/>
            </c:ext>
          </c:extLst>
        </c:ser>
        <c:dLbls>
          <c:showLegendKey val="0"/>
          <c:showVal val="0"/>
          <c:showCatName val="0"/>
          <c:showSerName val="0"/>
          <c:showPercent val="0"/>
          <c:showBubbleSize val="0"/>
        </c:dLbls>
        <c:axId val="-617344704"/>
        <c:axId val="-617585872"/>
      </c:areaChart>
      <c:catAx>
        <c:axId val="-617344704"/>
        <c:scaling>
          <c:orientation val="minMax"/>
        </c:scaling>
        <c:delete val="0"/>
        <c:axPos val="b"/>
        <c:title>
          <c:tx>
            <c:rich>
              <a:bodyPr/>
              <a:lstStyle/>
              <a:p>
                <a:pPr>
                  <a:defRPr>
                    <a:latin typeface="Helvetica"/>
                    <a:cs typeface="Helvetica"/>
                  </a:defRPr>
                </a:pPr>
                <a:r>
                  <a:rPr lang="en-US">
                    <a:latin typeface="Helvetica"/>
                    <a:cs typeface="Helvetica"/>
                  </a:rPr>
                  <a:t>Time</a:t>
                </a:r>
              </a:p>
            </c:rich>
          </c:tx>
          <c:layout>
            <c:manualLayout>
              <c:xMode val="edge"/>
              <c:yMode val="edge"/>
              <c:x val="0.89324043376156903"/>
              <c:y val="0.69763888888888903"/>
            </c:manualLayout>
          </c:layout>
          <c:overlay val="0"/>
        </c:title>
        <c:majorTickMark val="out"/>
        <c:minorTickMark val="none"/>
        <c:tickLblPos val="nextTo"/>
        <c:txPr>
          <a:bodyPr/>
          <a:lstStyle/>
          <a:p>
            <a:pPr>
              <a:defRPr>
                <a:latin typeface="Helvetica"/>
                <a:cs typeface="Helvetica"/>
              </a:defRPr>
            </a:pPr>
            <a:endParaRPr lang="zh-CN"/>
          </a:p>
        </c:txPr>
        <c:crossAx val="-617585872"/>
        <c:crosses val="autoZero"/>
        <c:auto val="1"/>
        <c:lblAlgn val="ctr"/>
        <c:lblOffset val="100"/>
        <c:noMultiLvlLbl val="0"/>
      </c:catAx>
      <c:valAx>
        <c:axId val="-617585872"/>
        <c:scaling>
          <c:orientation val="minMax"/>
          <c:max val="4"/>
        </c:scaling>
        <c:delete val="0"/>
        <c:axPos val="l"/>
        <c:majorGridlines/>
        <c:title>
          <c:tx>
            <c:rich>
              <a:bodyPr/>
              <a:lstStyle/>
              <a:p>
                <a:pPr>
                  <a:defRPr b="0">
                    <a:latin typeface="Helvetica"/>
                    <a:cs typeface="Helvetica"/>
                  </a:defRPr>
                </a:pPr>
                <a:r>
                  <a:rPr lang="en-US" b="0">
                    <a:latin typeface="Helvetica"/>
                    <a:cs typeface="Helvetica"/>
                  </a:rPr>
                  <a:t># Locks Held</a:t>
                </a:r>
              </a:p>
            </c:rich>
          </c:tx>
          <c:overlay val="0"/>
        </c:title>
        <c:numFmt formatCode="General" sourceLinked="1"/>
        <c:majorTickMark val="out"/>
        <c:minorTickMark val="none"/>
        <c:tickLblPos val="nextTo"/>
        <c:txPr>
          <a:bodyPr/>
          <a:lstStyle/>
          <a:p>
            <a:pPr>
              <a:defRPr>
                <a:latin typeface="Helvetica"/>
                <a:cs typeface="Helvetica"/>
              </a:defRPr>
            </a:pPr>
            <a:endParaRPr lang="zh-CN"/>
          </a:p>
        </c:txPr>
        <c:crossAx val="-617344704"/>
        <c:crosses val="autoZero"/>
        <c:crossBetween val="midCat"/>
        <c:majorUnit val="1"/>
      </c:valAx>
    </c:plotArea>
    <c:plotVisOnly val="1"/>
    <c:dispBlanksAs val="gap"/>
    <c:showDLblsOverMax val="0"/>
  </c:chart>
  <c:txPr>
    <a:bodyPr/>
    <a:lstStyle/>
    <a:p>
      <a:pPr>
        <a:defRPr sz="1800"/>
      </a:pPr>
      <a:endParaRPr lang="zh-CN"/>
    </a:p>
  </c:txPr>
  <c:externalData r:id="rId2">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713AAB0F-AB5B-7055-3134-0F8A41D0C06F}"/>
              </a:ext>
            </a:extLst>
          </p:cNvPr>
          <p:cNvSpPr>
            <a:spLocks noChangeArrowheads="1"/>
          </p:cNvSpPr>
          <p:nvPr/>
        </p:nvSpPr>
        <p:spPr bwMode="auto">
          <a:xfrm>
            <a:off x="4405313" y="6956425"/>
            <a:ext cx="792162" cy="271463"/>
          </a:xfrm>
          <a:prstGeom prst="rect">
            <a:avLst/>
          </a:prstGeom>
          <a:noFill/>
          <a:ln w="12700">
            <a:noFill/>
            <a:miter lim="800000"/>
            <a:headEnd/>
            <a:tailEnd/>
          </a:ln>
        </p:spPr>
        <p:txBody>
          <a:bodyPr wrap="none" lIns="92315" tIns="46997" rIns="92315" bIns="46997">
            <a:spAutoFit/>
          </a:bodyPr>
          <a:lstStyle>
            <a:lvl1pPr defTabSz="917575" eaLnBrk="0" hangingPunct="0">
              <a:defRPr sz="2400" b="1">
                <a:solidFill>
                  <a:schemeClr val="tx1"/>
                </a:solidFill>
                <a:latin typeface="Comic Sans MS" panose="030F0902030302020204" pitchFamily="66" charset="0"/>
                <a:ea typeface="MS PGothic" panose="020B0600070205080204" pitchFamily="34" charset="-128"/>
              </a:defRPr>
            </a:lvl1pPr>
            <a:lvl2pPr marL="742950" indent="-285750" defTabSz="917575" eaLnBrk="0" hangingPunct="0">
              <a:defRPr sz="2400" b="1">
                <a:solidFill>
                  <a:schemeClr val="tx1"/>
                </a:solidFill>
                <a:latin typeface="Comic Sans MS" panose="030F0902030302020204" pitchFamily="66" charset="0"/>
                <a:ea typeface="MS PGothic" panose="020B0600070205080204" pitchFamily="34" charset="-128"/>
              </a:defRPr>
            </a:lvl2pPr>
            <a:lvl3pPr marL="1143000" indent="-228600" defTabSz="917575" eaLnBrk="0" hangingPunct="0">
              <a:defRPr sz="2400" b="1">
                <a:solidFill>
                  <a:schemeClr val="tx1"/>
                </a:solidFill>
                <a:latin typeface="Comic Sans MS" panose="030F0902030302020204" pitchFamily="66" charset="0"/>
                <a:ea typeface="MS PGothic" panose="020B0600070205080204" pitchFamily="34" charset="-128"/>
              </a:defRPr>
            </a:lvl3pPr>
            <a:lvl4pPr marL="1600200" indent="-228600" defTabSz="917575" eaLnBrk="0" hangingPunct="0">
              <a:defRPr sz="2400" b="1">
                <a:solidFill>
                  <a:schemeClr val="tx1"/>
                </a:solidFill>
                <a:latin typeface="Comic Sans MS" panose="030F0902030302020204" pitchFamily="66" charset="0"/>
                <a:ea typeface="MS PGothic" panose="020B0600070205080204" pitchFamily="34" charset="-128"/>
              </a:defRPr>
            </a:lvl4pPr>
            <a:lvl5pPr marL="2057400" indent="-228600" defTabSz="917575" eaLnBrk="0" hangingPunct="0">
              <a:defRPr sz="2400" b="1">
                <a:solidFill>
                  <a:schemeClr val="tx1"/>
                </a:solidFill>
                <a:latin typeface="Comic Sans MS" panose="030F0902030302020204" pitchFamily="66" charset="0"/>
                <a:ea typeface="MS PGothic"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9pPr>
          </a:lstStyle>
          <a:p>
            <a:pPr algn="ctr">
              <a:lnSpc>
                <a:spcPct val="90000"/>
              </a:lnSpc>
            </a:pPr>
            <a:r>
              <a:rPr lang="en-US" altLang="zh-CN" sz="1300" b="0"/>
              <a:t>Page </a:t>
            </a:r>
            <a:fld id="{ED1CB255-028B-0947-A6A7-F9B73D3B5669}" type="slidenum">
              <a:rPr lang="en-US" altLang="zh-CN" sz="1300" b="0"/>
              <a:pPr algn="ctr">
                <a:lnSpc>
                  <a:spcPct val="90000"/>
                </a:lnSpc>
              </a:pPr>
              <a:t>‹#›</a:t>
            </a:fld>
            <a:endParaRPr lang="en-US" altLang="zh-CN" sz="1300" b="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4AFB6C9A-9A51-77A9-FB98-3F8760320AAE}"/>
              </a:ext>
            </a:extLst>
          </p:cNvPr>
          <p:cNvSpPr>
            <a:spLocks noChangeArrowheads="1"/>
          </p:cNvSpPr>
          <p:nvPr/>
        </p:nvSpPr>
        <p:spPr bwMode="auto">
          <a:xfrm>
            <a:off x="4405313" y="6956425"/>
            <a:ext cx="792162" cy="271463"/>
          </a:xfrm>
          <a:prstGeom prst="rect">
            <a:avLst/>
          </a:prstGeom>
          <a:noFill/>
          <a:ln w="12700">
            <a:noFill/>
            <a:miter lim="800000"/>
            <a:headEnd/>
            <a:tailEnd/>
          </a:ln>
        </p:spPr>
        <p:txBody>
          <a:bodyPr wrap="none" lIns="92315" tIns="46997" rIns="92315" bIns="46997">
            <a:spAutoFit/>
          </a:bodyPr>
          <a:lstStyle>
            <a:lvl1pPr defTabSz="917575" eaLnBrk="0" hangingPunct="0">
              <a:defRPr sz="2400" b="1">
                <a:solidFill>
                  <a:schemeClr val="tx1"/>
                </a:solidFill>
                <a:latin typeface="Comic Sans MS" panose="030F0902030302020204" pitchFamily="66" charset="0"/>
                <a:ea typeface="MS PGothic" panose="020B0600070205080204" pitchFamily="34" charset="-128"/>
              </a:defRPr>
            </a:lvl1pPr>
            <a:lvl2pPr marL="742950" indent="-285750" defTabSz="917575" eaLnBrk="0" hangingPunct="0">
              <a:defRPr sz="2400" b="1">
                <a:solidFill>
                  <a:schemeClr val="tx1"/>
                </a:solidFill>
                <a:latin typeface="Comic Sans MS" panose="030F0902030302020204" pitchFamily="66" charset="0"/>
                <a:ea typeface="MS PGothic" panose="020B0600070205080204" pitchFamily="34" charset="-128"/>
              </a:defRPr>
            </a:lvl2pPr>
            <a:lvl3pPr marL="1143000" indent="-228600" defTabSz="917575" eaLnBrk="0" hangingPunct="0">
              <a:defRPr sz="2400" b="1">
                <a:solidFill>
                  <a:schemeClr val="tx1"/>
                </a:solidFill>
                <a:latin typeface="Comic Sans MS" panose="030F0902030302020204" pitchFamily="66" charset="0"/>
                <a:ea typeface="MS PGothic" panose="020B0600070205080204" pitchFamily="34" charset="-128"/>
              </a:defRPr>
            </a:lvl3pPr>
            <a:lvl4pPr marL="1600200" indent="-228600" defTabSz="917575" eaLnBrk="0" hangingPunct="0">
              <a:defRPr sz="2400" b="1">
                <a:solidFill>
                  <a:schemeClr val="tx1"/>
                </a:solidFill>
                <a:latin typeface="Comic Sans MS" panose="030F0902030302020204" pitchFamily="66" charset="0"/>
                <a:ea typeface="MS PGothic" panose="020B0600070205080204" pitchFamily="34" charset="-128"/>
              </a:defRPr>
            </a:lvl4pPr>
            <a:lvl5pPr marL="2057400" indent="-228600" defTabSz="917575" eaLnBrk="0" hangingPunct="0">
              <a:defRPr sz="2400" b="1">
                <a:solidFill>
                  <a:schemeClr val="tx1"/>
                </a:solidFill>
                <a:latin typeface="Comic Sans MS" panose="030F0902030302020204" pitchFamily="66" charset="0"/>
                <a:ea typeface="MS PGothic"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9pPr>
          </a:lstStyle>
          <a:p>
            <a:pPr algn="ctr">
              <a:lnSpc>
                <a:spcPct val="90000"/>
              </a:lnSpc>
            </a:pPr>
            <a:r>
              <a:rPr lang="en-US" altLang="zh-CN" sz="1300" b="0"/>
              <a:t>Page </a:t>
            </a:r>
            <a:fld id="{247FC3C1-0E12-004A-8847-DFA79F7280F6}" type="slidenum">
              <a:rPr lang="en-US" altLang="zh-CN" sz="1300" b="0"/>
              <a:pPr algn="ctr">
                <a:lnSpc>
                  <a:spcPct val="90000"/>
                </a:lnSpc>
              </a:pPr>
              <a:t>‹#›</a:t>
            </a:fld>
            <a:endParaRPr lang="en-US" altLang="zh-CN" sz="1300" b="0"/>
          </a:p>
        </p:txBody>
      </p:sp>
      <p:sp>
        <p:nvSpPr>
          <p:cNvPr id="26627" name="Rectangle 3">
            <a:extLst>
              <a:ext uri="{FF2B5EF4-FFF2-40B4-BE49-F238E27FC236}">
                <a16:creationId xmlns:a16="http://schemas.microsoft.com/office/drawing/2014/main" id="{F3C61290-B226-BF44-7297-7C56D17E9095}"/>
              </a:ext>
            </a:extLst>
          </p:cNvPr>
          <p:cNvSpPr>
            <a:spLocks noGrp="1" noRot="1" noChangeAspect="1" noChangeArrowheads="1" noTextEdit="1"/>
          </p:cNvSpPr>
          <p:nvPr>
            <p:ph type="sldImg" idx="2"/>
          </p:nvPr>
        </p:nvSpPr>
        <p:spPr bwMode="auto">
          <a:xfrm>
            <a:off x="2971800" y="547688"/>
            <a:ext cx="3659188" cy="274478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2" name="Rectangle 4">
            <a:extLst>
              <a:ext uri="{FF2B5EF4-FFF2-40B4-BE49-F238E27FC236}">
                <a16:creationId xmlns:a16="http://schemas.microsoft.com/office/drawing/2014/main" id="{862F0B79-47ED-A6D2-6F63-6B608175276C}"/>
              </a:ext>
            </a:extLst>
          </p:cNvPr>
          <p:cNvSpPr>
            <a:spLocks noGrp="1" noChangeArrowheads="1"/>
          </p:cNvSpPr>
          <p:nvPr>
            <p:ph type="body" sz="quarter" idx="3"/>
          </p:nvPr>
        </p:nvSpPr>
        <p:spPr bwMode="auto">
          <a:xfrm>
            <a:off x="1281113" y="3475038"/>
            <a:ext cx="7038975" cy="3292475"/>
          </a:xfrm>
          <a:prstGeom prst="rect">
            <a:avLst/>
          </a:prstGeom>
          <a:noFill/>
          <a:ln w="12700">
            <a:noFill/>
            <a:miter lim="800000"/>
            <a:headEnd/>
            <a:tailEnd/>
          </a:ln>
          <a:effectLst/>
        </p:spPr>
        <p:txBody>
          <a:bodyPr vert="horz" wrap="square" lIns="95672" tIns="46997" rIns="95672" bIns="46997"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Comic Sans MS" charset="0"/>
        <a:ea typeface="MS PGothic" pitchFamily="34" charset="-128"/>
        <a:cs typeface="ＭＳ Ｐゴシック" charset="-128"/>
      </a:defRPr>
    </a:lvl1pPr>
    <a:lvl2pPr marL="457200" algn="l" rtl="0" eaLnBrk="0" fontAlgn="base" hangingPunct="0">
      <a:lnSpc>
        <a:spcPct val="90000"/>
      </a:lnSpc>
      <a:spcBef>
        <a:spcPct val="40000"/>
      </a:spcBef>
      <a:spcAft>
        <a:spcPct val="0"/>
      </a:spcAft>
      <a:defRPr sz="1200" kern="1200">
        <a:solidFill>
          <a:schemeClr val="tx1"/>
        </a:solidFill>
        <a:latin typeface="Comic Sans MS" charset="0"/>
        <a:ea typeface="MS PGothic" pitchFamily="34" charset="-128"/>
        <a:cs typeface="+mn-cs"/>
      </a:defRPr>
    </a:lvl2pPr>
    <a:lvl3pPr marL="914400" algn="l" rtl="0" eaLnBrk="0" fontAlgn="base" hangingPunct="0">
      <a:lnSpc>
        <a:spcPct val="90000"/>
      </a:lnSpc>
      <a:spcBef>
        <a:spcPct val="40000"/>
      </a:spcBef>
      <a:spcAft>
        <a:spcPct val="0"/>
      </a:spcAft>
      <a:defRPr sz="1200" kern="1200">
        <a:solidFill>
          <a:schemeClr val="tx1"/>
        </a:solidFill>
        <a:latin typeface="Comic Sans MS" charset="0"/>
        <a:ea typeface="MS PGothic" pitchFamily="34" charset="-128"/>
        <a:cs typeface="+mn-cs"/>
      </a:defRPr>
    </a:lvl3pPr>
    <a:lvl4pPr marL="1371600" algn="l" rtl="0" eaLnBrk="0" fontAlgn="base" hangingPunct="0">
      <a:lnSpc>
        <a:spcPct val="90000"/>
      </a:lnSpc>
      <a:spcBef>
        <a:spcPct val="40000"/>
      </a:spcBef>
      <a:spcAft>
        <a:spcPct val="0"/>
      </a:spcAft>
      <a:defRPr sz="1200" kern="1200">
        <a:solidFill>
          <a:schemeClr val="tx1"/>
        </a:solidFill>
        <a:latin typeface="Comic Sans MS" charset="0"/>
        <a:ea typeface="MS PGothic" pitchFamily="34" charset="-128"/>
        <a:cs typeface="+mn-cs"/>
      </a:defRPr>
    </a:lvl4pPr>
    <a:lvl5pPr marL="1828800" algn="l" rtl="0" eaLnBrk="0" fontAlgn="base" hangingPunct="0">
      <a:lnSpc>
        <a:spcPct val="90000"/>
      </a:lnSpc>
      <a:spcBef>
        <a:spcPct val="40000"/>
      </a:spcBef>
      <a:spcAft>
        <a:spcPct val="0"/>
      </a:spcAft>
      <a:defRPr sz="1200" kern="1200">
        <a:solidFill>
          <a:schemeClr val="tx1"/>
        </a:solidFill>
        <a:latin typeface="Comic Sans MS"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5C907514-A189-28D9-4B06-158DEE8FEC60}"/>
              </a:ext>
            </a:extLst>
          </p:cNvPr>
          <p:cNvSpPr>
            <a:spLocks noGrp="1" noRot="1" noChangeAspect="1" noChangeArrowheads="1" noTextEdit="1"/>
          </p:cNvSpPr>
          <p:nvPr>
            <p:ph type="sldImg"/>
          </p:nvPr>
        </p:nvSpPr>
        <p:spPr>
          <a:ln/>
        </p:spPr>
      </p:sp>
      <p:sp>
        <p:nvSpPr>
          <p:cNvPr id="27651" name="Rectangle 3">
            <a:extLst>
              <a:ext uri="{FF2B5EF4-FFF2-40B4-BE49-F238E27FC236}">
                <a16:creationId xmlns:a16="http://schemas.microsoft.com/office/drawing/2014/main" id="{D32820D1-78B5-E708-F81B-92DC318A14BE}"/>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Comic Sans MS" panose="030F0902030302020204" pitchFamily="66"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noTextEdit="1"/>
          </p:cNvSpPr>
          <p:nvPr>
            <p:ph type="sldImg"/>
          </p:nvPr>
        </p:nvSpPr>
        <p:spPr>
          <a:ln/>
        </p:spPr>
      </p:sp>
      <p:sp>
        <p:nvSpPr>
          <p:cNvPr id="16386"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ltLang="zh-CN">
                <a:ea typeface="MS PGothic" charset="-128"/>
              </a:rPr>
              <a:t>Data models: relational, also Document Model (encoded as XML)</a:t>
            </a:r>
          </a:p>
        </p:txBody>
      </p:sp>
    </p:spTree>
    <p:extLst>
      <p:ext uri="{BB962C8B-B14F-4D97-AF65-F5344CB8AC3E}">
        <p14:creationId xmlns:p14="http://schemas.microsoft.com/office/powerpoint/2010/main" val="24612102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fld id="{23F7878F-9CB7-2E47-A6BD-3D9F7C41313C}" type="slidenum">
              <a:rPr lang="en-US" altLang="zh-CN"/>
              <a:pPr eaLnBrk="1" hangingPunct="1"/>
              <a:t>7</a:t>
            </a:fld>
            <a:endParaRPr lang="en-US" altLang="zh-CN"/>
          </a:p>
        </p:txBody>
      </p:sp>
      <p:sp>
        <p:nvSpPr>
          <p:cNvPr id="18434" name="Rectangle 2"/>
          <p:cNvSpPr>
            <a:spLocks noChangeArrowheads="1"/>
          </p:cNvSpPr>
          <p:nvPr/>
        </p:nvSpPr>
        <p:spPr bwMode="auto">
          <a:xfrm>
            <a:off x="5441950" y="0"/>
            <a:ext cx="41592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endParaRPr lang="zh-CN" altLang="zh-CN"/>
          </a:p>
        </p:txBody>
      </p:sp>
      <p:sp>
        <p:nvSpPr>
          <p:cNvPr id="18435" name="Rectangle 3"/>
          <p:cNvSpPr>
            <a:spLocks noChangeArrowheads="1"/>
          </p:cNvSpPr>
          <p:nvPr/>
        </p:nvSpPr>
        <p:spPr bwMode="auto">
          <a:xfrm>
            <a:off x="5441950" y="6950075"/>
            <a:ext cx="41592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0102" tIns="0" rIns="20102" bIns="0" anchor="b"/>
          <a:lstStyle>
            <a:lvl1pPr defTabSz="965200" eaLnBrk="0" hangingPunct="0">
              <a:defRPr sz="2400" b="1">
                <a:solidFill>
                  <a:schemeClr val="tx1"/>
                </a:solidFill>
                <a:latin typeface="Comic Sans MS" charset="0"/>
                <a:ea typeface="MS PGothic" charset="-128"/>
              </a:defRPr>
            </a:lvl1pPr>
            <a:lvl2pPr marL="742950" indent="-285750" defTabSz="965200" eaLnBrk="0" hangingPunct="0">
              <a:defRPr sz="2400" b="1">
                <a:solidFill>
                  <a:schemeClr val="tx1"/>
                </a:solidFill>
                <a:latin typeface="Comic Sans MS" charset="0"/>
                <a:ea typeface="MS PGothic" charset="-128"/>
              </a:defRPr>
            </a:lvl2pPr>
            <a:lvl3pPr marL="1143000" indent="-228600" defTabSz="965200" eaLnBrk="0" hangingPunct="0">
              <a:defRPr sz="2400" b="1">
                <a:solidFill>
                  <a:schemeClr val="tx1"/>
                </a:solidFill>
                <a:latin typeface="Comic Sans MS" charset="0"/>
                <a:ea typeface="MS PGothic" charset="-128"/>
              </a:defRPr>
            </a:lvl3pPr>
            <a:lvl4pPr marL="1600200" indent="-228600" defTabSz="965200" eaLnBrk="0" hangingPunct="0">
              <a:defRPr sz="2400" b="1">
                <a:solidFill>
                  <a:schemeClr val="tx1"/>
                </a:solidFill>
                <a:latin typeface="Comic Sans MS" charset="0"/>
                <a:ea typeface="MS PGothic" charset="-128"/>
              </a:defRPr>
            </a:lvl4pPr>
            <a:lvl5pPr marL="2057400" indent="-228600" defTabSz="965200" eaLnBrk="0" hangingPunct="0">
              <a:defRPr sz="2400" b="1">
                <a:solidFill>
                  <a:schemeClr val="tx1"/>
                </a:solidFill>
                <a:latin typeface="Comic Sans MS" charset="0"/>
                <a:ea typeface="MS PGothic" charset="-128"/>
              </a:defRPr>
            </a:lvl5pPr>
            <a:lvl6pPr marL="2514600" indent="-228600" defTabSz="965200" eaLnBrk="0" fontAlgn="base" hangingPunct="0">
              <a:spcBef>
                <a:spcPct val="0"/>
              </a:spcBef>
              <a:spcAft>
                <a:spcPct val="0"/>
              </a:spcAft>
              <a:defRPr sz="2400" b="1">
                <a:solidFill>
                  <a:schemeClr val="tx1"/>
                </a:solidFill>
                <a:latin typeface="Comic Sans MS" charset="0"/>
                <a:ea typeface="MS PGothic" charset="-128"/>
              </a:defRPr>
            </a:lvl6pPr>
            <a:lvl7pPr marL="2971800" indent="-228600" defTabSz="965200" eaLnBrk="0" fontAlgn="base" hangingPunct="0">
              <a:spcBef>
                <a:spcPct val="0"/>
              </a:spcBef>
              <a:spcAft>
                <a:spcPct val="0"/>
              </a:spcAft>
              <a:defRPr sz="2400" b="1">
                <a:solidFill>
                  <a:schemeClr val="tx1"/>
                </a:solidFill>
                <a:latin typeface="Comic Sans MS" charset="0"/>
                <a:ea typeface="MS PGothic" charset="-128"/>
              </a:defRPr>
            </a:lvl7pPr>
            <a:lvl8pPr marL="3429000" indent="-228600" defTabSz="965200" eaLnBrk="0" fontAlgn="base" hangingPunct="0">
              <a:spcBef>
                <a:spcPct val="0"/>
              </a:spcBef>
              <a:spcAft>
                <a:spcPct val="0"/>
              </a:spcAft>
              <a:defRPr sz="2400" b="1">
                <a:solidFill>
                  <a:schemeClr val="tx1"/>
                </a:solidFill>
                <a:latin typeface="Comic Sans MS" charset="0"/>
                <a:ea typeface="MS PGothic" charset="-128"/>
              </a:defRPr>
            </a:lvl8pPr>
            <a:lvl9pPr marL="3886200" indent="-228600" defTabSz="965200" eaLnBrk="0" fontAlgn="base" hangingPunct="0">
              <a:spcBef>
                <a:spcPct val="0"/>
              </a:spcBef>
              <a:spcAft>
                <a:spcPct val="0"/>
              </a:spcAft>
              <a:defRPr sz="2400" b="1">
                <a:solidFill>
                  <a:schemeClr val="tx1"/>
                </a:solidFill>
                <a:latin typeface="Comic Sans MS" charset="0"/>
                <a:ea typeface="MS PGothic" charset="-128"/>
              </a:defRPr>
            </a:lvl9pPr>
          </a:lstStyle>
          <a:p>
            <a:pPr algn="r" eaLnBrk="1" hangingPunct="1"/>
            <a:r>
              <a:rPr lang="en-US" altLang="zh-CN" sz="1100" i="1">
                <a:latin typeface="Times New Roman" charset="0"/>
              </a:rPr>
              <a:t>7</a:t>
            </a:r>
          </a:p>
        </p:txBody>
      </p:sp>
      <p:sp>
        <p:nvSpPr>
          <p:cNvPr id="18436" name="Rectangle 4"/>
          <p:cNvSpPr>
            <a:spLocks noChangeArrowheads="1"/>
          </p:cNvSpPr>
          <p:nvPr/>
        </p:nvSpPr>
        <p:spPr bwMode="auto">
          <a:xfrm>
            <a:off x="0" y="6950075"/>
            <a:ext cx="41592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endParaRPr lang="zh-CN" altLang="zh-CN"/>
          </a:p>
        </p:txBody>
      </p:sp>
      <p:sp>
        <p:nvSpPr>
          <p:cNvPr id="18437" name="Rectangle 5"/>
          <p:cNvSpPr>
            <a:spLocks noChangeArrowheads="1"/>
          </p:cNvSpPr>
          <p:nvPr/>
        </p:nvSpPr>
        <p:spPr bwMode="auto">
          <a:xfrm>
            <a:off x="0" y="0"/>
            <a:ext cx="41592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endParaRPr lang="zh-CN" altLang="zh-CN"/>
          </a:p>
        </p:txBody>
      </p:sp>
      <p:sp>
        <p:nvSpPr>
          <p:cNvPr id="18438" name="Rectangle 6"/>
          <p:cNvSpPr>
            <a:spLocks noGrp="1" noRot="1" noChangeAspect="1" noChangeArrowheads="1" noTextEdit="1"/>
          </p:cNvSpPr>
          <p:nvPr>
            <p:ph type="sldImg"/>
          </p:nvPr>
        </p:nvSpPr>
        <p:spPr>
          <a:xfrm>
            <a:off x="2976563" y="554038"/>
            <a:ext cx="3644900" cy="2733675"/>
          </a:xfrm>
          <a:ln cap="flat"/>
        </p:spPr>
      </p:sp>
      <p:sp>
        <p:nvSpPr>
          <p:cNvPr id="18439" name="Rectangle 7"/>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lIns="97163" tIns="48581" rIns="97163" bIns="48581"/>
          <a:lstStyle/>
          <a:p>
            <a:pPr eaLnBrk="1" hangingPunct="1"/>
            <a:endParaRPr lang="zh-CN" altLang="zh-CN">
              <a:ea typeface="MS PGothic" charset="-128"/>
            </a:endParaRPr>
          </a:p>
        </p:txBody>
      </p:sp>
    </p:spTree>
    <p:extLst>
      <p:ext uri="{BB962C8B-B14F-4D97-AF65-F5344CB8AC3E}">
        <p14:creationId xmlns:p14="http://schemas.microsoft.com/office/powerpoint/2010/main" val="9331424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fld id="{04420EBE-1E4E-8C4A-9CEE-9A6CB0CCC7A3}" type="slidenum">
              <a:rPr lang="en-US" altLang="zh-CN"/>
              <a:pPr eaLnBrk="1" hangingPunct="1"/>
              <a:t>8</a:t>
            </a:fld>
            <a:endParaRPr lang="en-US" altLang="zh-CN"/>
          </a:p>
        </p:txBody>
      </p:sp>
      <p:sp>
        <p:nvSpPr>
          <p:cNvPr id="20482" name="Rectangle 2"/>
          <p:cNvSpPr>
            <a:spLocks noGrp="1" noRot="1" noChangeAspect="1" noChangeArrowheads="1" noTextEdit="1"/>
          </p:cNvSpPr>
          <p:nvPr>
            <p:ph type="sldImg"/>
          </p:nvPr>
        </p:nvSpPr>
        <p:spPr>
          <a:xfrm>
            <a:off x="2976563" y="554038"/>
            <a:ext cx="3644900" cy="2733675"/>
          </a:xfrm>
          <a:ln cap="flat"/>
        </p:spPr>
      </p:sp>
      <p:sp>
        <p:nvSpPr>
          <p:cNvPr id="20483" name="Rectangle 3"/>
          <p:cNvSpPr>
            <a:spLocks noGrp="1" noChangeArrowheads="1"/>
          </p:cNvSpPr>
          <p:nvPr>
            <p:ph type="body" idx="1"/>
          </p:nvPr>
        </p:nvSpPr>
        <p:spPr>
          <a:xfrm>
            <a:off x="1281113" y="3473450"/>
            <a:ext cx="7038975" cy="329247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lIns="97165" tIns="48583" rIns="97165" bIns="48583"/>
          <a:lstStyle/>
          <a:p>
            <a:pPr eaLnBrk="1" hangingPunct="1"/>
            <a:endParaRPr lang="zh-CN" altLang="zh-CN">
              <a:ea typeface="MS PGothic" charset="-128"/>
            </a:endParaRPr>
          </a:p>
        </p:txBody>
      </p:sp>
    </p:spTree>
    <p:extLst>
      <p:ext uri="{BB962C8B-B14F-4D97-AF65-F5344CB8AC3E}">
        <p14:creationId xmlns:p14="http://schemas.microsoft.com/office/powerpoint/2010/main" val="8079179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fld id="{0211378B-DBC7-EF4D-9E9E-A1ABCC11E0F4}" type="slidenum">
              <a:rPr lang="en-US" altLang="zh-CN"/>
              <a:pPr eaLnBrk="1" hangingPunct="1"/>
              <a:t>9</a:t>
            </a:fld>
            <a:endParaRPr lang="en-US" altLang="zh-CN"/>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zh-CN" altLang="zh-CN">
              <a:ea typeface="MS PGothic" charset="-128"/>
            </a:endParaRPr>
          </a:p>
        </p:txBody>
      </p:sp>
    </p:spTree>
    <p:extLst>
      <p:ext uri="{BB962C8B-B14F-4D97-AF65-F5344CB8AC3E}">
        <p14:creationId xmlns:p14="http://schemas.microsoft.com/office/powerpoint/2010/main" val="3378867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fld id="{18CC0F18-F634-844D-BBE1-A53833523B2A}" type="slidenum">
              <a:rPr lang="en-US" altLang="zh-CN"/>
              <a:pPr eaLnBrk="1" hangingPunct="1"/>
              <a:t>10</a:t>
            </a:fld>
            <a:endParaRPr lang="en-US" altLang="zh-CN"/>
          </a:p>
        </p:txBody>
      </p:sp>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zh-CN" altLang="zh-CN">
              <a:ea typeface="MS PGothic" charset="-128"/>
            </a:endParaRPr>
          </a:p>
        </p:txBody>
      </p:sp>
    </p:spTree>
    <p:extLst>
      <p:ext uri="{BB962C8B-B14F-4D97-AF65-F5344CB8AC3E}">
        <p14:creationId xmlns:p14="http://schemas.microsoft.com/office/powerpoint/2010/main" val="14242885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a:spLocks noGrp="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fld id="{E1EFE764-F977-A742-8566-56C2BD1BC118}" type="slidenum">
              <a:rPr lang="en-US" altLang="zh-CN"/>
              <a:pPr eaLnBrk="1" hangingPunct="1"/>
              <a:t>12</a:t>
            </a:fld>
            <a:endParaRPr lang="en-US" altLang="zh-CN"/>
          </a:p>
        </p:txBody>
      </p:sp>
      <p:sp>
        <p:nvSpPr>
          <p:cNvPr id="26626" name="Rectangle 2"/>
          <p:cNvSpPr>
            <a:spLocks noGrp="1" noRot="1" noChangeAspect="1" noChangeArrowheads="1" noTextEdit="1"/>
          </p:cNvSpPr>
          <p:nvPr>
            <p:ph type="sldImg"/>
          </p:nvPr>
        </p:nvSpPr>
        <p:spPr>
          <a:xfrm>
            <a:off x="2974975" y="554038"/>
            <a:ext cx="3646488" cy="2733675"/>
          </a:xfrm>
          <a:solidFill>
            <a:srgbClr val="FFFFFF"/>
          </a:solidFill>
          <a:ln/>
        </p:spPr>
      </p:sp>
      <p:sp>
        <p:nvSpPr>
          <p:cNvPr id="26627" name="Rectangle 3"/>
          <p:cNvSpPr>
            <a:spLocks noGrp="1" noChangeArrowheads="1"/>
          </p:cNvSpPr>
          <p:nvPr>
            <p:ph type="body" idx="1"/>
          </p:nvPr>
        </p:nvSpPr>
        <p:spPr>
          <a:solidFill>
            <a:srgbClr val="FFFFFF"/>
          </a:solidFill>
          <a:ln>
            <a:solidFill>
              <a:srgbClr val="000000"/>
            </a:solidFill>
          </a:ln>
        </p:spPr>
        <p:txBody>
          <a:bodyPr lIns="94942" tIns="47471" rIns="94942" bIns="47471"/>
          <a:lstStyle/>
          <a:p>
            <a:pPr eaLnBrk="1" hangingPunct="1"/>
            <a:endParaRPr lang="zh-CN" altLang="zh-CN">
              <a:ea typeface="MS PGothic" charset="-128"/>
            </a:endParaRPr>
          </a:p>
        </p:txBody>
      </p:sp>
    </p:spTree>
    <p:extLst>
      <p:ext uri="{BB962C8B-B14F-4D97-AF65-F5344CB8AC3E}">
        <p14:creationId xmlns:p14="http://schemas.microsoft.com/office/powerpoint/2010/main" val="6680666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fld id="{EE7010F8-482A-AB44-89F7-EA053EC0B046}" type="slidenum">
              <a:rPr lang="en-US" altLang="zh-CN"/>
              <a:pPr eaLnBrk="1" hangingPunct="1"/>
              <a:t>13</a:t>
            </a:fld>
            <a:endParaRPr lang="en-US" altLang="zh-CN"/>
          </a:p>
        </p:txBody>
      </p:sp>
      <p:sp>
        <p:nvSpPr>
          <p:cNvPr id="28674" name="Rectangle 2"/>
          <p:cNvSpPr>
            <a:spLocks noGrp="1" noRot="1" noChangeAspect="1" noChangeArrowheads="1" noTextEdit="1"/>
          </p:cNvSpPr>
          <p:nvPr>
            <p:ph type="sldImg"/>
          </p:nvPr>
        </p:nvSpPr>
        <p:spPr>
          <a:xfrm>
            <a:off x="2974975" y="554038"/>
            <a:ext cx="3646488" cy="2733675"/>
          </a:xfrm>
          <a:solidFill>
            <a:srgbClr val="FFFFFF"/>
          </a:solidFill>
          <a:ln/>
        </p:spPr>
      </p:sp>
      <p:sp>
        <p:nvSpPr>
          <p:cNvPr id="28675" name="Rectangle 3"/>
          <p:cNvSpPr>
            <a:spLocks noGrp="1" noChangeArrowheads="1"/>
          </p:cNvSpPr>
          <p:nvPr>
            <p:ph type="body" idx="1"/>
          </p:nvPr>
        </p:nvSpPr>
        <p:spPr>
          <a:solidFill>
            <a:srgbClr val="FFFFFF"/>
          </a:solidFill>
          <a:ln>
            <a:solidFill>
              <a:srgbClr val="000000"/>
            </a:solidFill>
          </a:ln>
        </p:spPr>
        <p:txBody>
          <a:bodyPr lIns="94942" tIns="47471" rIns="94942" bIns="47471"/>
          <a:lstStyle/>
          <a:p>
            <a:pPr eaLnBrk="1" hangingPunct="1"/>
            <a:r>
              <a:rPr lang="ja-JP" altLang="en-US">
                <a:ea typeface="MS PGothic" charset="-128"/>
              </a:rPr>
              <a:t>“</a:t>
            </a:r>
            <a:r>
              <a:rPr lang="en-US" altLang="ja-JP">
                <a:ea typeface="MS PGothic" charset="-128"/>
              </a:rPr>
              <a:t>check</a:t>
            </a:r>
            <a:r>
              <a:rPr lang="ja-JP" altLang="en-US">
                <a:ea typeface="MS PGothic" charset="-128"/>
              </a:rPr>
              <a:t>”</a:t>
            </a:r>
            <a:r>
              <a:rPr lang="en-US" altLang="ja-JP">
                <a:ea typeface="MS PGothic" charset="-128"/>
              </a:rPr>
              <a:t> constraints are only evaluated on each row</a:t>
            </a:r>
            <a:endParaRPr lang="en-US" altLang="zh-CN">
              <a:ea typeface="MS PGothic" charset="-128"/>
            </a:endParaRPr>
          </a:p>
        </p:txBody>
      </p:sp>
    </p:spTree>
    <p:extLst>
      <p:ext uri="{BB962C8B-B14F-4D97-AF65-F5344CB8AC3E}">
        <p14:creationId xmlns:p14="http://schemas.microsoft.com/office/powerpoint/2010/main" val="40077610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Rot="1" noChangeAspect="1" noChangeArrowheads="1" noTextEdit="1"/>
          </p:cNvSpPr>
          <p:nvPr>
            <p:ph type="sldImg"/>
          </p:nvPr>
        </p:nvSpPr>
        <p:spPr>
          <a:ln cap="flat"/>
        </p:spPr>
      </p:sp>
      <p:sp>
        <p:nvSpPr>
          <p:cNvPr id="3379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zh-CN" altLang="zh-CN">
              <a:ea typeface="MS PGothic" charset="-128"/>
            </a:endParaRPr>
          </a:p>
        </p:txBody>
      </p:sp>
    </p:spTree>
    <p:extLst>
      <p:ext uri="{BB962C8B-B14F-4D97-AF65-F5344CB8AC3E}">
        <p14:creationId xmlns:p14="http://schemas.microsoft.com/office/powerpoint/2010/main" val="2324086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Slide Image Placeholder 1"/>
          <p:cNvSpPr>
            <a:spLocks noGrp="1" noRot="1" noChangeAspect="1"/>
          </p:cNvSpPr>
          <p:nvPr>
            <p:ph type="sldImg"/>
          </p:nvPr>
        </p:nvSpPr>
        <p:spPr>
          <a:ln/>
        </p:spPr>
      </p:sp>
      <p:sp>
        <p:nvSpPr>
          <p:cNvPr id="56322"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zh-CN" altLang="zh-CN">
              <a:ea typeface="MS PGothic" charset="-128"/>
            </a:endParaRPr>
          </a:p>
        </p:txBody>
      </p:sp>
    </p:spTree>
    <p:extLst>
      <p:ext uri="{BB962C8B-B14F-4D97-AF65-F5344CB8AC3E}">
        <p14:creationId xmlns:p14="http://schemas.microsoft.com/office/powerpoint/2010/main" val="19128335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noRot="1" noChangeAspect="1" noChangeArrowheads="1" noTextEdit="1"/>
          </p:cNvSpPr>
          <p:nvPr>
            <p:ph type="sldImg"/>
          </p:nvPr>
        </p:nvSpPr>
        <p:spPr>
          <a:ln cap="flat"/>
        </p:spPr>
      </p:sp>
      <p:sp>
        <p:nvSpPr>
          <p:cNvPr id="6144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lIns="95511" tIns="47756" rIns="95511" bIns="47756"/>
          <a:lstStyle/>
          <a:p>
            <a:endParaRPr lang="zh-CN" altLang="zh-CN">
              <a:ea typeface="MS PGothic" charset="-128"/>
            </a:endParaRPr>
          </a:p>
        </p:txBody>
      </p:sp>
    </p:spTree>
    <p:extLst>
      <p:ext uri="{BB962C8B-B14F-4D97-AF65-F5344CB8AC3E}">
        <p14:creationId xmlns:p14="http://schemas.microsoft.com/office/powerpoint/2010/main" val="2573877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p:cNvSpPr>
            <a:spLocks noGrp="1" noRot="1" noChangeAspect="1" noChangeArrowheads="1" noTextEdit="1"/>
          </p:cNvSpPr>
          <p:nvPr>
            <p:ph type="sldImg"/>
          </p:nvPr>
        </p:nvSpPr>
        <p:spPr>
          <a:ln cap="flat"/>
        </p:spPr>
      </p:sp>
      <p:sp>
        <p:nvSpPr>
          <p:cNvPr id="6656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lIns="95511" tIns="47756" rIns="95511" bIns="47756"/>
          <a:lstStyle/>
          <a:p>
            <a:endParaRPr lang="zh-CN" altLang="zh-CN">
              <a:ea typeface="MS PGothic" charset="-128"/>
            </a:endParaRPr>
          </a:p>
        </p:txBody>
      </p:sp>
    </p:spTree>
    <p:extLst>
      <p:ext uri="{BB962C8B-B14F-4D97-AF65-F5344CB8AC3E}">
        <p14:creationId xmlns:p14="http://schemas.microsoft.com/office/powerpoint/2010/main" val="4124309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a:spLocks noGrp="1" noRot="1" noChangeAspect="1" noChangeArrowheads="1" noTextEdit="1"/>
          </p:cNvSpPr>
          <p:nvPr>
            <p:ph type="sldImg"/>
          </p:nvPr>
        </p:nvSpPr>
        <p:spPr>
          <a:ln cap="flat"/>
        </p:spPr>
      </p:sp>
      <p:sp>
        <p:nvSpPr>
          <p:cNvPr id="6861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lIns="95511" tIns="47756" rIns="95511" bIns="47756"/>
          <a:lstStyle/>
          <a:p>
            <a:endParaRPr lang="zh-CN" altLang="zh-CN">
              <a:ea typeface="MS PGothic" charset="-128"/>
            </a:endParaRPr>
          </a:p>
        </p:txBody>
      </p:sp>
    </p:spTree>
    <p:extLst>
      <p:ext uri="{BB962C8B-B14F-4D97-AF65-F5344CB8AC3E}">
        <p14:creationId xmlns:p14="http://schemas.microsoft.com/office/powerpoint/2010/main" val="15911666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p:cNvSpPr>
            <a:spLocks noGrp="1" noRot="1" noChangeAspect="1" noChangeArrowheads="1" noTextEdit="1"/>
          </p:cNvSpPr>
          <p:nvPr>
            <p:ph type="sldImg"/>
          </p:nvPr>
        </p:nvSpPr>
        <p:spPr>
          <a:ln cap="flat"/>
        </p:spPr>
      </p:sp>
      <p:sp>
        <p:nvSpPr>
          <p:cNvPr id="7065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lIns="95511" tIns="47756" rIns="95511" bIns="47756"/>
          <a:lstStyle/>
          <a:p>
            <a:endParaRPr lang="zh-CN" altLang="zh-CN">
              <a:ea typeface="MS PGothic" charset="-128"/>
            </a:endParaRPr>
          </a:p>
        </p:txBody>
      </p:sp>
    </p:spTree>
    <p:extLst>
      <p:ext uri="{BB962C8B-B14F-4D97-AF65-F5344CB8AC3E}">
        <p14:creationId xmlns:p14="http://schemas.microsoft.com/office/powerpoint/2010/main" val="10715134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Slide Image Placeholder 1"/>
          <p:cNvSpPr>
            <a:spLocks noGrp="1" noRot="1" noChangeAspect="1"/>
          </p:cNvSpPr>
          <p:nvPr>
            <p:ph type="sldImg"/>
          </p:nvPr>
        </p:nvSpPr>
        <p:spPr>
          <a:ln/>
        </p:spPr>
      </p:sp>
      <p:sp>
        <p:nvSpPr>
          <p:cNvPr id="73730"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ltLang="zh-CN">
                <a:ea typeface="MS PGothic" charset="-128"/>
              </a:rPr>
              <a:t>Maybe the operations are commutative (add 1)</a:t>
            </a:r>
          </a:p>
        </p:txBody>
      </p:sp>
    </p:spTree>
    <p:extLst>
      <p:ext uri="{BB962C8B-B14F-4D97-AF65-F5344CB8AC3E}">
        <p14:creationId xmlns:p14="http://schemas.microsoft.com/office/powerpoint/2010/main" val="7179561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p:cNvSpPr>
            <a:spLocks noGrp="1" noRot="1" noChangeAspect="1" noChangeArrowheads="1" noTextEdit="1"/>
          </p:cNvSpPr>
          <p:nvPr>
            <p:ph type="sldImg"/>
          </p:nvPr>
        </p:nvSpPr>
        <p:spPr>
          <a:ln cap="flat"/>
        </p:spPr>
      </p:sp>
      <p:sp>
        <p:nvSpPr>
          <p:cNvPr id="7577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lIns="95511" tIns="47756" rIns="95511" bIns="47756"/>
          <a:lstStyle/>
          <a:p>
            <a:endParaRPr lang="zh-CN" altLang="zh-CN">
              <a:ea typeface="MS PGothic" charset="-128"/>
            </a:endParaRPr>
          </a:p>
        </p:txBody>
      </p:sp>
    </p:spTree>
    <p:extLst>
      <p:ext uri="{BB962C8B-B14F-4D97-AF65-F5344CB8AC3E}">
        <p14:creationId xmlns:p14="http://schemas.microsoft.com/office/powerpoint/2010/main" val="18835833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p:cNvSpPr>
            <a:spLocks noGrp="1" noRot="1" noChangeAspect="1" noChangeArrowheads="1" noTextEdit="1"/>
          </p:cNvSpPr>
          <p:nvPr>
            <p:ph type="sldImg"/>
          </p:nvPr>
        </p:nvSpPr>
        <p:spPr>
          <a:ln cap="flat"/>
        </p:spPr>
      </p:sp>
      <p:sp>
        <p:nvSpPr>
          <p:cNvPr id="7782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lIns="95511" tIns="47756" rIns="95511" bIns="47756"/>
          <a:lstStyle/>
          <a:p>
            <a:endParaRPr lang="zh-CN" altLang="zh-CN">
              <a:ea typeface="MS PGothic" charset="-128"/>
            </a:endParaRPr>
          </a:p>
        </p:txBody>
      </p:sp>
    </p:spTree>
    <p:extLst>
      <p:ext uri="{BB962C8B-B14F-4D97-AF65-F5344CB8AC3E}">
        <p14:creationId xmlns:p14="http://schemas.microsoft.com/office/powerpoint/2010/main" val="14916371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Slide Image Placeholder 1"/>
          <p:cNvSpPr>
            <a:spLocks noGrp="1" noRot="1" noChangeAspect="1" noTextEdit="1"/>
          </p:cNvSpPr>
          <p:nvPr>
            <p:ph type="sldImg"/>
          </p:nvPr>
        </p:nvSpPr>
        <p:spPr>
          <a:ln/>
        </p:spPr>
      </p:sp>
      <p:sp>
        <p:nvSpPr>
          <p:cNvPr id="82946"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ltLang="zh-CN">
                <a:ea typeface="MS PGothic" charset="-128"/>
              </a:rPr>
              <a:t>Sp13 finished 20 mins early</a:t>
            </a:r>
          </a:p>
        </p:txBody>
      </p:sp>
    </p:spTree>
    <p:extLst>
      <p:ext uri="{BB962C8B-B14F-4D97-AF65-F5344CB8AC3E}">
        <p14:creationId xmlns:p14="http://schemas.microsoft.com/office/powerpoint/2010/main" val="20870689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685800" y="2130425"/>
            <a:ext cx="7772400" cy="1470025"/>
          </a:xfrm>
        </p:spPr>
        <p:txBody>
          <a:bodyPr/>
          <a:lstStyle>
            <a:lvl1pPr>
              <a:defRPr sz="3600"/>
            </a:lvl1pPr>
          </a:lstStyle>
          <a:p>
            <a:r>
              <a:rPr lang="zh-CN" altLang="en-US"/>
              <a:t>单击此处编辑母版标题样式</a:t>
            </a:r>
            <a:endParaRPr lang="en-US"/>
          </a:p>
        </p:txBody>
      </p:sp>
      <p:sp>
        <p:nvSpPr>
          <p:cNvPr id="128003"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zh-CN" altLang="en-US"/>
              <a:t>单击此处编辑母版副标题样式</a:t>
            </a:r>
            <a:endParaRPr lang="en-US"/>
          </a:p>
        </p:txBody>
      </p:sp>
      <p:pic>
        <p:nvPicPr>
          <p:cNvPr id="4" name="Picture 1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6200"/>
            <a:ext cx="1270000" cy="974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74139187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Tree>
    <p:extLst>
      <p:ext uri="{BB962C8B-B14F-4D97-AF65-F5344CB8AC3E}">
        <p14:creationId xmlns:p14="http://schemas.microsoft.com/office/powerpoint/2010/main" val="32387577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413802143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609600" y="914400"/>
            <a:ext cx="38862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4648200" y="914400"/>
            <a:ext cx="38862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Tree>
    <p:extLst>
      <p:ext uri="{BB962C8B-B14F-4D97-AF65-F5344CB8AC3E}">
        <p14:creationId xmlns:p14="http://schemas.microsoft.com/office/powerpoint/2010/main" val="21062480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Tree>
    <p:extLst>
      <p:ext uri="{BB962C8B-B14F-4D97-AF65-F5344CB8AC3E}">
        <p14:creationId xmlns:p14="http://schemas.microsoft.com/office/powerpoint/2010/main" val="762341600"/>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Tree>
    <p:extLst>
      <p:ext uri="{BB962C8B-B14F-4D97-AF65-F5344CB8AC3E}">
        <p14:creationId xmlns:p14="http://schemas.microsoft.com/office/powerpoint/2010/main" val="251683873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21696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93321437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4809383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Tree>
    <p:extLst>
      <p:ext uri="{BB962C8B-B14F-4D97-AF65-F5344CB8AC3E}">
        <p14:creationId xmlns:p14="http://schemas.microsoft.com/office/powerpoint/2010/main" val="188345701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152400"/>
            <a:ext cx="1981200" cy="5867400"/>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09600" y="152400"/>
            <a:ext cx="5791200" cy="58674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Tree>
    <p:extLst>
      <p:ext uri="{BB962C8B-B14F-4D97-AF65-F5344CB8AC3E}">
        <p14:creationId xmlns:p14="http://schemas.microsoft.com/office/powerpoint/2010/main" val="1406899497"/>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Title 1"/>
          <p:cNvSpPr>
            <a:spLocks noGrp="1"/>
          </p:cNvSpPr>
          <p:nvPr>
            <p:ph type="title"/>
          </p:nvPr>
        </p:nvSpPr>
        <p:spPr>
          <a:xfrm>
            <a:off x="990600" y="152400"/>
            <a:ext cx="7162800" cy="533400"/>
          </a:xfrm>
        </p:spPr>
        <p:txBody>
          <a:bodyPr/>
          <a:lstStyle/>
          <a:p>
            <a:r>
              <a:rPr lang="zh-CN" altLang="en-US"/>
              <a:t>单击此处编辑母版标题样式</a:t>
            </a:r>
            <a:endParaRPr lang="en-US"/>
          </a:p>
        </p:txBody>
      </p:sp>
      <p:sp>
        <p:nvSpPr>
          <p:cNvPr id="3" name="Text Placeholder 2"/>
          <p:cNvSpPr>
            <a:spLocks noGrp="1"/>
          </p:cNvSpPr>
          <p:nvPr>
            <p:ph type="body" sz="half" idx="1"/>
          </p:nvPr>
        </p:nvSpPr>
        <p:spPr>
          <a:xfrm>
            <a:off x="609600" y="914400"/>
            <a:ext cx="3886200" cy="51054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4648200" y="914400"/>
            <a:ext cx="3886200" cy="51054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Tree>
    <p:extLst>
      <p:ext uri="{BB962C8B-B14F-4D97-AF65-F5344CB8AC3E}">
        <p14:creationId xmlns:p14="http://schemas.microsoft.com/office/powerpoint/2010/main" val="2252328088"/>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90600" y="152400"/>
            <a:ext cx="7162800"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0478" tIns="44445" rIns="90478" bIns="44445" numCol="1" anchor="ctr" anchorCtr="0" compatLnSpc="1">
            <a:prstTxWarp prst="textNoShape">
              <a:avLst/>
            </a:prstTxWarp>
          </a:bodyPr>
          <a:lstStyle/>
          <a:p>
            <a:pPr lvl="0"/>
            <a:r>
              <a:rPr lang="en-US"/>
              <a:t>Slide Title</a:t>
            </a:r>
          </a:p>
        </p:txBody>
      </p:sp>
      <p:sp>
        <p:nvSpPr>
          <p:cNvPr id="1027" name="Rectangle 3"/>
          <p:cNvSpPr>
            <a:spLocks noGrp="1" noChangeArrowheads="1"/>
          </p:cNvSpPr>
          <p:nvPr>
            <p:ph type="body" idx="1"/>
          </p:nvPr>
        </p:nvSpPr>
        <p:spPr bwMode="auto">
          <a:xfrm>
            <a:off x="609600" y="914400"/>
            <a:ext cx="7924800" cy="5105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0478" tIns="44445" rIns="90478" bIns="44445" numCol="1" anchor="t" anchorCtr="0" compatLnSpc="1">
            <a:prstTxWarp prst="textNoShape">
              <a:avLst/>
            </a:prstTxWarp>
          </a:bodyPr>
          <a:lstStyle/>
          <a:p>
            <a:pPr lvl="0"/>
            <a:r>
              <a:rPr lang="en-US"/>
              <a:t>Body Text</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ChangeArrowheads="1"/>
          </p:cNvSpPr>
          <p:nvPr/>
        </p:nvSpPr>
        <p:spPr bwMode="auto">
          <a:xfrm>
            <a:off x="8034081" y="6397625"/>
            <a:ext cx="402147" cy="30520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90478" tIns="44445" rIns="90478" bIns="44445">
            <a:spAutoFit/>
          </a:bodyPr>
          <a:lstStyle/>
          <a:p>
            <a:pPr algn="ctr"/>
            <a:fld id="{223A0746-0397-CE44-BE95-6B0EE6063BB3}" type="slidenum">
              <a:rPr lang="en-US" sz="1400" b="0" smtClean="0">
                <a:solidFill>
                  <a:srgbClr val="2A40E2"/>
                </a:solidFill>
                <a:latin typeface="Helvetica" charset="0"/>
              </a:rPr>
              <a:pPr algn="ctr"/>
              <a:t>‹#›</a:t>
            </a:fld>
            <a:endParaRPr lang="en-US" sz="1400" b="0" dirty="0">
              <a:solidFill>
                <a:srgbClr val="2A40E2"/>
              </a:solidFill>
              <a:latin typeface="Helvetica" charset="0"/>
            </a:endParaRPr>
          </a:p>
        </p:txBody>
      </p:sp>
      <p:pic>
        <p:nvPicPr>
          <p:cNvPr id="7" name="Picture 1"/>
          <p:cNvPicPr>
            <a:picLocks noChangeAspect="1"/>
          </p:cNvPicPr>
          <p:nvPr/>
        </p:nvPicPr>
        <p:blipFill>
          <a:blip r:embed="rId14">
            <a:extLst>
              <a:ext uri="{28A0092B-C50C-407E-A947-70E740481C1C}">
                <a14:useLocalDpi xmlns:a14="http://schemas.microsoft.com/office/drawing/2010/main" val="0"/>
              </a:ext>
            </a:extLst>
          </a:blip>
          <a:srcRect l="10925" r="75185"/>
          <a:stretch>
            <a:fillRect/>
          </a:stretch>
        </p:blipFill>
        <p:spPr bwMode="auto">
          <a:xfrm>
            <a:off x="38100" y="76200"/>
            <a:ext cx="794266" cy="609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648486280"/>
      </p:ext>
    </p:extLst>
  </p:cSld>
  <p:clrMap bg1="lt1" tx1="dk1" bg2="lt2" tx2="dk2" accent1="accent1" accent2="accent2" accent3="accent3" accent4="accent4" accent5="accent5" accent6="accent6" hlink="hlink" folHlink="folHlink"/>
  <p:sldLayoutIdLst>
    <p:sldLayoutId id="2147484551" r:id="rId1"/>
    <p:sldLayoutId id="2147484552" r:id="rId2"/>
    <p:sldLayoutId id="2147484553" r:id="rId3"/>
    <p:sldLayoutId id="2147484554" r:id="rId4"/>
    <p:sldLayoutId id="2147484555" r:id="rId5"/>
    <p:sldLayoutId id="2147484556" r:id="rId6"/>
    <p:sldLayoutId id="2147484557" r:id="rId7"/>
    <p:sldLayoutId id="2147484558" r:id="rId8"/>
    <p:sldLayoutId id="2147484559" r:id="rId9"/>
    <p:sldLayoutId id="2147484560" r:id="rId10"/>
    <p:sldLayoutId id="2147484561" r:id="rId11"/>
    <p:sldLayoutId id="2147484562" r:id="rId12"/>
  </p:sldLayoutIdLst>
  <p:transition/>
  <p:txStyles>
    <p:titleStyle>
      <a:lvl1pPr algn="ctr" rtl="0" eaLnBrk="1" fontAlgn="base" hangingPunct="1">
        <a:lnSpc>
          <a:spcPct val="90000"/>
        </a:lnSpc>
        <a:spcBef>
          <a:spcPct val="0"/>
        </a:spcBef>
        <a:spcAft>
          <a:spcPct val="0"/>
        </a:spcAft>
        <a:defRPr sz="3200" b="1">
          <a:solidFill>
            <a:srgbClr val="2A40E2"/>
          </a:solidFill>
          <a:latin typeface="Helvetica"/>
          <a:ea typeface="ＭＳ Ｐゴシック" charset="-128"/>
          <a:cs typeface="ＭＳ Ｐゴシック" charset="-128"/>
        </a:defRPr>
      </a:lvl1pPr>
      <a:lvl2pPr algn="ctr" rtl="0" eaLnBrk="1" fontAlgn="base" hangingPunct="1">
        <a:lnSpc>
          <a:spcPct val="90000"/>
        </a:lnSpc>
        <a:spcBef>
          <a:spcPct val="0"/>
        </a:spcBef>
        <a:spcAft>
          <a:spcPct val="0"/>
        </a:spcAft>
        <a:defRPr sz="3200" b="1">
          <a:solidFill>
            <a:srgbClr val="2A40E2"/>
          </a:solidFill>
          <a:latin typeface="Helvetica" charset="0"/>
          <a:ea typeface="ＭＳ Ｐゴシック" charset="-128"/>
          <a:cs typeface="ＭＳ Ｐゴシック" charset="-128"/>
        </a:defRPr>
      </a:lvl2pPr>
      <a:lvl3pPr algn="ctr" rtl="0" eaLnBrk="1" fontAlgn="base" hangingPunct="1">
        <a:lnSpc>
          <a:spcPct val="90000"/>
        </a:lnSpc>
        <a:spcBef>
          <a:spcPct val="0"/>
        </a:spcBef>
        <a:spcAft>
          <a:spcPct val="0"/>
        </a:spcAft>
        <a:defRPr sz="3200" b="1">
          <a:solidFill>
            <a:srgbClr val="2A40E2"/>
          </a:solidFill>
          <a:latin typeface="Helvetica" charset="0"/>
          <a:ea typeface="ＭＳ Ｐゴシック" charset="-128"/>
          <a:cs typeface="ＭＳ Ｐゴシック" charset="-128"/>
        </a:defRPr>
      </a:lvl3pPr>
      <a:lvl4pPr algn="ctr" rtl="0" eaLnBrk="1" fontAlgn="base" hangingPunct="1">
        <a:lnSpc>
          <a:spcPct val="90000"/>
        </a:lnSpc>
        <a:spcBef>
          <a:spcPct val="0"/>
        </a:spcBef>
        <a:spcAft>
          <a:spcPct val="0"/>
        </a:spcAft>
        <a:defRPr sz="3200" b="1">
          <a:solidFill>
            <a:srgbClr val="2A40E2"/>
          </a:solidFill>
          <a:latin typeface="Helvetica" charset="0"/>
          <a:ea typeface="ＭＳ Ｐゴシック" charset="-128"/>
          <a:cs typeface="ＭＳ Ｐゴシック" charset="-128"/>
        </a:defRPr>
      </a:lvl4pPr>
      <a:lvl5pPr algn="ctr" rtl="0" eaLnBrk="1" fontAlgn="base" hangingPunct="1">
        <a:lnSpc>
          <a:spcPct val="90000"/>
        </a:lnSpc>
        <a:spcBef>
          <a:spcPct val="0"/>
        </a:spcBef>
        <a:spcAft>
          <a:spcPct val="0"/>
        </a:spcAft>
        <a:defRPr sz="3200" b="1">
          <a:solidFill>
            <a:srgbClr val="2A40E2"/>
          </a:solidFill>
          <a:latin typeface="Helvetica" charset="0"/>
          <a:ea typeface="ＭＳ Ｐゴシック" charset="-128"/>
          <a:cs typeface="ＭＳ Ｐゴシック" charset="-128"/>
        </a:defRPr>
      </a:lvl5pPr>
      <a:lvl6pPr marL="457200" algn="ctr" rtl="0" eaLnBrk="1" fontAlgn="base" hangingPunct="1">
        <a:lnSpc>
          <a:spcPct val="90000"/>
        </a:lnSpc>
        <a:spcBef>
          <a:spcPct val="0"/>
        </a:spcBef>
        <a:spcAft>
          <a:spcPct val="0"/>
        </a:spcAft>
        <a:defRPr sz="2400" b="1">
          <a:solidFill>
            <a:srgbClr val="2A40E2"/>
          </a:solidFill>
          <a:latin typeface="Comic Sans MS" charset="0"/>
        </a:defRPr>
      </a:lvl6pPr>
      <a:lvl7pPr marL="914400" algn="ctr" rtl="0" eaLnBrk="1" fontAlgn="base" hangingPunct="1">
        <a:lnSpc>
          <a:spcPct val="90000"/>
        </a:lnSpc>
        <a:spcBef>
          <a:spcPct val="0"/>
        </a:spcBef>
        <a:spcAft>
          <a:spcPct val="0"/>
        </a:spcAft>
        <a:defRPr sz="2400" b="1">
          <a:solidFill>
            <a:srgbClr val="2A40E2"/>
          </a:solidFill>
          <a:latin typeface="Comic Sans MS" charset="0"/>
        </a:defRPr>
      </a:lvl7pPr>
      <a:lvl8pPr marL="1371600" algn="ctr" rtl="0" eaLnBrk="1" fontAlgn="base" hangingPunct="1">
        <a:lnSpc>
          <a:spcPct val="90000"/>
        </a:lnSpc>
        <a:spcBef>
          <a:spcPct val="0"/>
        </a:spcBef>
        <a:spcAft>
          <a:spcPct val="0"/>
        </a:spcAft>
        <a:defRPr sz="2400" b="1">
          <a:solidFill>
            <a:srgbClr val="2A40E2"/>
          </a:solidFill>
          <a:latin typeface="Comic Sans MS" charset="0"/>
        </a:defRPr>
      </a:lvl8pPr>
      <a:lvl9pPr marL="1828800" algn="ctr" rtl="0" eaLnBrk="1" fontAlgn="base" hangingPunct="1">
        <a:lnSpc>
          <a:spcPct val="90000"/>
        </a:lnSpc>
        <a:spcBef>
          <a:spcPct val="0"/>
        </a:spcBef>
        <a:spcAft>
          <a:spcPct val="0"/>
        </a:spcAft>
        <a:defRPr sz="2400" b="1">
          <a:solidFill>
            <a:srgbClr val="2A40E2"/>
          </a:solidFill>
          <a:latin typeface="Comic Sans MS" charset="0"/>
        </a:defRPr>
      </a:lvl9pPr>
    </p:titleStyle>
    <p:bodyStyle>
      <a:lvl1pPr marL="285750" indent="-285750" algn="l" rtl="0" eaLnBrk="1" fontAlgn="base" hangingPunct="1">
        <a:lnSpc>
          <a:spcPct val="90000"/>
        </a:lnSpc>
        <a:spcBef>
          <a:spcPct val="30000"/>
        </a:spcBef>
        <a:spcAft>
          <a:spcPct val="0"/>
        </a:spcAft>
        <a:buSzPct val="100000"/>
        <a:buChar char="•"/>
        <a:defRPr sz="2400">
          <a:solidFill>
            <a:schemeClr val="tx1"/>
          </a:solidFill>
          <a:latin typeface="Helvetica"/>
          <a:ea typeface="ＭＳ Ｐゴシック" charset="-128"/>
          <a:cs typeface="ＭＳ Ｐゴシック" charset="-128"/>
        </a:defRPr>
      </a:lvl1pPr>
      <a:lvl2pPr marL="685800" indent="-228600" algn="l" rtl="0" eaLnBrk="1" fontAlgn="base" hangingPunct="1">
        <a:lnSpc>
          <a:spcPct val="90000"/>
        </a:lnSpc>
        <a:spcBef>
          <a:spcPct val="30000"/>
        </a:spcBef>
        <a:spcAft>
          <a:spcPct val="0"/>
        </a:spcAft>
        <a:buSzPct val="100000"/>
        <a:buChar char="–"/>
        <a:defRPr sz="2200">
          <a:solidFill>
            <a:schemeClr val="tx1"/>
          </a:solidFill>
          <a:latin typeface="Helvetica"/>
          <a:ea typeface="ＭＳ Ｐゴシック" charset="-128"/>
        </a:defRPr>
      </a:lvl2pPr>
      <a:lvl3pPr marL="1143000" indent="-228600" algn="l" rtl="0" eaLnBrk="1" fontAlgn="base" hangingPunct="1">
        <a:lnSpc>
          <a:spcPct val="90000"/>
        </a:lnSpc>
        <a:spcBef>
          <a:spcPct val="30000"/>
        </a:spcBef>
        <a:spcAft>
          <a:spcPct val="0"/>
        </a:spcAft>
        <a:buSzPct val="100000"/>
        <a:buChar char="»"/>
        <a:defRPr sz="2000">
          <a:solidFill>
            <a:schemeClr val="tx1"/>
          </a:solidFill>
          <a:latin typeface="Helvetica"/>
          <a:ea typeface="ＭＳ Ｐゴシック" charset="-128"/>
        </a:defRPr>
      </a:lvl3pPr>
      <a:lvl4pPr marL="1543050" indent="-171450" algn="l" rtl="0" eaLnBrk="1" fontAlgn="base" hangingPunct="1">
        <a:lnSpc>
          <a:spcPct val="90000"/>
        </a:lnSpc>
        <a:spcBef>
          <a:spcPct val="30000"/>
        </a:spcBef>
        <a:spcAft>
          <a:spcPct val="0"/>
        </a:spcAft>
        <a:buSzPct val="100000"/>
        <a:buChar char="•"/>
        <a:defRPr sz="2000">
          <a:solidFill>
            <a:schemeClr val="tx1"/>
          </a:solidFill>
          <a:latin typeface="Helvetica"/>
          <a:ea typeface="ＭＳ Ｐゴシック" charset="-128"/>
        </a:defRPr>
      </a:lvl4pPr>
      <a:lvl5pPr marL="2000250" indent="-171450" algn="l" rtl="0" eaLnBrk="1" fontAlgn="base" hangingPunct="1">
        <a:lnSpc>
          <a:spcPct val="90000"/>
        </a:lnSpc>
        <a:spcBef>
          <a:spcPct val="30000"/>
        </a:spcBef>
        <a:spcAft>
          <a:spcPct val="0"/>
        </a:spcAft>
        <a:buSzPct val="100000"/>
        <a:buChar char="–"/>
        <a:defRPr sz="2000">
          <a:solidFill>
            <a:schemeClr val="tx1"/>
          </a:solidFill>
          <a:latin typeface="Helvetica"/>
          <a:ea typeface="ＭＳ Ｐゴシック" charset="-128"/>
        </a:defRPr>
      </a:lvl5pPr>
      <a:lvl6pPr marL="24574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6pPr>
      <a:lvl7pPr marL="29146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7pPr>
      <a:lvl8pPr marL="33718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8pPr>
      <a:lvl9pPr marL="38290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Box 3">
            <a:extLst>
              <a:ext uri="{FF2B5EF4-FFF2-40B4-BE49-F238E27FC236}">
                <a16:creationId xmlns:a16="http://schemas.microsoft.com/office/drawing/2014/main" id="{300D91A7-E0FF-CA67-5510-1772A75D07D3}"/>
              </a:ext>
            </a:extLst>
          </p:cNvPr>
          <p:cNvSpPr txBox="1">
            <a:spLocks noChangeArrowheads="1"/>
          </p:cNvSpPr>
          <p:nvPr/>
        </p:nvSpPr>
        <p:spPr bwMode="auto">
          <a:xfrm>
            <a:off x="8720138" y="4368800"/>
            <a:ext cx="1857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panose="030F09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9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9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9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9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9pPr>
          </a:lstStyle>
          <a:p>
            <a:pPr eaLnBrk="1" hangingPunct="1"/>
            <a:endParaRPr lang="zh-CN" altLang="zh-CN" sz="2000" b="0">
              <a:latin typeface="Helvetica" pitchFamily="2" charset="0"/>
            </a:endParaRPr>
          </a:p>
        </p:txBody>
      </p:sp>
      <p:sp>
        <p:nvSpPr>
          <p:cNvPr id="3075" name="Text Box 4">
            <a:extLst>
              <a:ext uri="{FF2B5EF4-FFF2-40B4-BE49-F238E27FC236}">
                <a16:creationId xmlns:a16="http://schemas.microsoft.com/office/drawing/2014/main" id="{6B571BE3-4526-479A-0E2A-B5CA907FFD24}"/>
              </a:ext>
            </a:extLst>
          </p:cNvPr>
          <p:cNvSpPr txBox="1">
            <a:spLocks noChangeArrowheads="1"/>
          </p:cNvSpPr>
          <p:nvPr/>
        </p:nvSpPr>
        <p:spPr bwMode="auto">
          <a:xfrm>
            <a:off x="381000" y="5791200"/>
            <a:ext cx="838200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spAutoFit/>
          </a:bodyPr>
          <a:lstStyle>
            <a:lvl1pPr eaLnBrk="0" hangingPunct="0">
              <a:defRPr sz="2400" b="1">
                <a:solidFill>
                  <a:schemeClr val="tx1"/>
                </a:solidFill>
                <a:latin typeface="Comic Sans MS" panose="030F09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9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9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9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9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9pPr>
          </a:lstStyle>
          <a:p>
            <a:pPr eaLnBrk="1" hangingPunct="1"/>
            <a:r>
              <a:rPr lang="en-US" altLang="zh-CN" sz="1400" b="0">
                <a:latin typeface="Helvetica" pitchFamily="2" charset="0"/>
              </a:rPr>
              <a:t>Note: Some slides and/or pictures in the following are adapted from slides ©2005 Silberschatz, Galvin, and Gagne. Slides courtesy of Anthony D. Joseph, John Kubiatowicz, AJ Shankar, George Necula, Alex Aiken, Eric Brewer, Ras Bodik, Ion Stoica, Doug Tygar, David Wagner, and John Canny .</a:t>
            </a:r>
          </a:p>
        </p:txBody>
      </p:sp>
      <p:sp>
        <p:nvSpPr>
          <p:cNvPr id="7" name="Rectangle 3">
            <a:extLst>
              <a:ext uri="{FF2B5EF4-FFF2-40B4-BE49-F238E27FC236}">
                <a16:creationId xmlns:a16="http://schemas.microsoft.com/office/drawing/2014/main" id="{A3302C6D-32B4-9813-CA13-87C68FC56C99}"/>
              </a:ext>
            </a:extLst>
          </p:cNvPr>
          <p:cNvSpPr txBox="1">
            <a:spLocks noChangeArrowheads="1"/>
          </p:cNvSpPr>
          <p:nvPr/>
        </p:nvSpPr>
        <p:spPr bwMode="auto">
          <a:xfrm>
            <a:off x="609600" y="4572000"/>
            <a:ext cx="8001000" cy="1066800"/>
          </a:xfrm>
          <a:prstGeom prst="rect">
            <a:avLst/>
          </a:prstGeom>
          <a:noFill/>
          <a:ln w="12700">
            <a:noFill/>
            <a:miter lim="800000"/>
            <a:headEnd/>
            <a:tailEnd/>
          </a:ln>
        </p:spPr>
        <p:txBody>
          <a:bodyPr lIns="90478" tIns="44445" rIns="90478" bIns="44445"/>
          <a:lstStyle/>
          <a:p>
            <a:pPr marL="285750" indent="-285750" algn="ctr" eaLnBrk="0" hangingPunct="0">
              <a:lnSpc>
                <a:spcPct val="90000"/>
              </a:lnSpc>
              <a:spcBef>
                <a:spcPct val="30000"/>
              </a:spcBef>
              <a:buSzPct val="100000"/>
              <a:defRPr/>
            </a:pPr>
            <a:r>
              <a:rPr lang="en-US" altLang="zh-CN" sz="2400" b="0" kern="0" dirty="0">
                <a:latin typeface="Helvetica" charset="0"/>
                <a:ea typeface="MS PGothic" charset="0"/>
                <a:cs typeface="ＭＳ Ｐゴシック" charset="-128"/>
              </a:rPr>
              <a:t>Wei</a:t>
            </a:r>
            <a:r>
              <a:rPr lang="zh-CN" altLang="en-US" sz="2400" b="0" kern="0" dirty="0">
                <a:latin typeface="Helvetica" charset="0"/>
                <a:ea typeface="MS PGothic" charset="0"/>
                <a:cs typeface="ＭＳ Ｐゴシック" charset="-128"/>
              </a:rPr>
              <a:t> </a:t>
            </a:r>
            <a:r>
              <a:rPr lang="en-US" altLang="zh-CN" sz="2400" b="0" kern="0" dirty="0">
                <a:latin typeface="Helvetica" charset="0"/>
                <a:ea typeface="MS PGothic" charset="0"/>
                <a:cs typeface="ＭＳ Ｐゴシック" charset="-128"/>
              </a:rPr>
              <a:t>Xu</a:t>
            </a:r>
            <a:endParaRPr lang="en-US" sz="2400" b="0" kern="0" dirty="0">
              <a:latin typeface="Helvetica" charset="0"/>
              <a:ea typeface="MS PGothic" charset="0"/>
              <a:cs typeface="ＭＳ Ｐゴシック" charset="-128"/>
            </a:endParaRPr>
          </a:p>
        </p:txBody>
      </p:sp>
      <p:sp>
        <p:nvSpPr>
          <p:cNvPr id="3077" name="Rectangle 2">
            <a:extLst>
              <a:ext uri="{FF2B5EF4-FFF2-40B4-BE49-F238E27FC236}">
                <a16:creationId xmlns:a16="http://schemas.microsoft.com/office/drawing/2014/main" id="{84015085-39EB-ABAF-4614-B1B7D7508CD4}"/>
              </a:ext>
            </a:extLst>
          </p:cNvPr>
          <p:cNvSpPr>
            <a:spLocks noGrp="1" noChangeArrowheads="1"/>
          </p:cNvSpPr>
          <p:nvPr>
            <p:ph type="ctrTitle"/>
          </p:nvPr>
        </p:nvSpPr>
        <p:spPr>
          <a:xfrm>
            <a:off x="609600" y="990600"/>
            <a:ext cx="7848600" cy="2895600"/>
          </a:xfrm>
        </p:spPr>
        <p:txBody>
          <a:bodyPr/>
          <a:lstStyle/>
          <a:p>
            <a:br>
              <a:rPr lang="en-US" altLang="zh-CN" sz="3000" dirty="0">
                <a:latin typeface="Helvetica" charset="0"/>
                <a:ea typeface="ＭＳ Ｐゴシック" charset="0"/>
                <a:cs typeface="ＭＳ Ｐゴシック" charset="0"/>
              </a:rPr>
            </a:br>
            <a:r>
              <a:rPr lang="en-US" altLang="zh-CN" sz="3000" dirty="0">
                <a:latin typeface="Helvetica" charset="0"/>
                <a:ea typeface="ＭＳ Ｐゴシック" charset="0"/>
                <a:cs typeface="ＭＳ Ｐゴシック" charset="0"/>
              </a:rPr>
              <a:t>Introduction</a:t>
            </a:r>
            <a:r>
              <a:rPr lang="zh-CN" altLang="en-US" sz="3000" dirty="0">
                <a:latin typeface="Helvetica" charset="0"/>
                <a:ea typeface="ＭＳ Ｐゴシック" charset="0"/>
                <a:cs typeface="ＭＳ Ｐゴシック" charset="0"/>
              </a:rPr>
              <a:t> </a:t>
            </a:r>
            <a:r>
              <a:rPr lang="en-US" altLang="zh-CN" sz="3000" dirty="0">
                <a:latin typeface="Helvetica" charset="0"/>
                <a:ea typeface="ＭＳ Ｐゴシック" charset="0"/>
                <a:cs typeface="ＭＳ Ｐゴシック" charset="0"/>
              </a:rPr>
              <a:t>to</a:t>
            </a:r>
            <a:r>
              <a:rPr lang="zh-CN" altLang="en-US" sz="3000" dirty="0">
                <a:latin typeface="Helvetica" charset="0"/>
                <a:ea typeface="ＭＳ Ｐゴシック" charset="0"/>
                <a:cs typeface="ＭＳ Ｐゴシック" charset="0"/>
              </a:rPr>
              <a:t> </a:t>
            </a:r>
            <a:r>
              <a:rPr lang="en-US" altLang="zh-CN" sz="3000" dirty="0">
                <a:latin typeface="Helvetica" charset="0"/>
                <a:ea typeface="ＭＳ Ｐゴシック" charset="0"/>
                <a:cs typeface="ＭＳ Ｐゴシック" charset="0"/>
              </a:rPr>
              <a:t>Computer Systems </a:t>
            </a:r>
            <a:br>
              <a:rPr lang="en-US" altLang="zh-CN" sz="3000" dirty="0">
                <a:latin typeface="Helvetica" pitchFamily="2" charset="0"/>
              </a:rPr>
            </a:br>
            <a:br>
              <a:rPr lang="en-US" altLang="zh-CN" sz="3000" dirty="0">
                <a:latin typeface="Helvetica" pitchFamily="2" charset="0"/>
              </a:rPr>
            </a:br>
            <a:r>
              <a:rPr lang="en-US" altLang="zh-CN" sz="3000" dirty="0">
                <a:latin typeface="Helvetica" pitchFamily="2" charset="0"/>
              </a:rPr>
              <a:t>Lecture 12</a:t>
            </a:r>
            <a:br>
              <a:rPr lang="en-US" altLang="zh-CN" sz="3000" dirty="0">
                <a:latin typeface="Helvetica" pitchFamily="2" charset="0"/>
              </a:rPr>
            </a:br>
            <a:br>
              <a:rPr lang="en-US" altLang="zh-CN" sz="3000" dirty="0">
                <a:latin typeface="Helvetica" pitchFamily="2" charset="0"/>
              </a:rPr>
            </a:br>
            <a:r>
              <a:rPr lang="en-US" altLang="zh-CN" sz="3000" dirty="0">
                <a:latin typeface="Helvetica" pitchFamily="2" charset="0"/>
              </a:rPr>
              <a:t>Transactions</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862C27-C92B-C8E5-4545-EE0EFF4CBC39}"/>
              </a:ext>
            </a:extLst>
          </p:cNvPr>
          <p:cNvSpPr>
            <a:spLocks noGrp="1"/>
          </p:cNvSpPr>
          <p:nvPr>
            <p:ph type="title"/>
          </p:nvPr>
        </p:nvSpPr>
        <p:spPr/>
        <p:txBody>
          <a:bodyPr/>
          <a:lstStyle/>
          <a:p>
            <a:r>
              <a:rPr kumimoji="1" lang="en-US" altLang="zh-CN" dirty="0"/>
              <a:t>Announcement</a:t>
            </a:r>
            <a:endParaRPr kumimoji="1" lang="zh-CN" altLang="en-US" dirty="0"/>
          </a:p>
        </p:txBody>
      </p:sp>
      <p:sp>
        <p:nvSpPr>
          <p:cNvPr id="3" name="内容占位符 2">
            <a:extLst>
              <a:ext uri="{FF2B5EF4-FFF2-40B4-BE49-F238E27FC236}">
                <a16:creationId xmlns:a16="http://schemas.microsoft.com/office/drawing/2014/main" id="{895060E8-6BEF-A70C-6B10-18678AA5A3FA}"/>
              </a:ext>
            </a:extLst>
          </p:cNvPr>
          <p:cNvSpPr>
            <a:spLocks noGrp="1"/>
          </p:cNvSpPr>
          <p:nvPr>
            <p:ph idx="1"/>
          </p:nvPr>
        </p:nvSpPr>
        <p:spPr/>
        <p:txBody>
          <a:bodyPr/>
          <a:lstStyle/>
          <a:p>
            <a:r>
              <a:rPr kumimoji="1" lang="en-US" altLang="zh-CN" dirty="0">
                <a:solidFill>
                  <a:srgbClr val="FF0000"/>
                </a:solidFill>
              </a:rPr>
              <a:t>Final</a:t>
            </a:r>
            <a:r>
              <a:rPr kumimoji="1" lang="zh-CN" altLang="en-US" dirty="0">
                <a:solidFill>
                  <a:srgbClr val="FF0000"/>
                </a:solidFill>
              </a:rPr>
              <a:t> </a:t>
            </a:r>
            <a:r>
              <a:rPr kumimoji="1" lang="en-US" altLang="zh-CN" dirty="0">
                <a:solidFill>
                  <a:srgbClr val="FF0000"/>
                </a:solidFill>
              </a:rPr>
              <a:t>Exam</a:t>
            </a:r>
            <a:r>
              <a:rPr kumimoji="1" lang="zh-CN" altLang="en-US" dirty="0">
                <a:solidFill>
                  <a:srgbClr val="FF0000"/>
                </a:solidFill>
              </a:rPr>
              <a:t> </a:t>
            </a:r>
            <a:r>
              <a:rPr kumimoji="1" lang="en-US" altLang="zh-CN" dirty="0">
                <a:solidFill>
                  <a:srgbClr val="FF0000"/>
                </a:solidFill>
              </a:rPr>
              <a:t>(updated)</a:t>
            </a:r>
          </a:p>
          <a:p>
            <a:pPr lvl="1"/>
            <a:r>
              <a:rPr kumimoji="1" lang="en-US" altLang="zh-CN" dirty="0">
                <a:solidFill>
                  <a:srgbClr val="FF0000"/>
                </a:solidFill>
              </a:rPr>
              <a:t>Jun</a:t>
            </a:r>
            <a:r>
              <a:rPr kumimoji="1" lang="zh-CN" altLang="en-US" dirty="0">
                <a:solidFill>
                  <a:srgbClr val="FF0000"/>
                </a:solidFill>
              </a:rPr>
              <a:t> </a:t>
            </a:r>
            <a:r>
              <a:rPr kumimoji="1" lang="en-US" altLang="zh-CN" dirty="0">
                <a:solidFill>
                  <a:srgbClr val="FF0000"/>
                </a:solidFill>
              </a:rPr>
              <a:t>16</a:t>
            </a:r>
            <a:r>
              <a:rPr kumimoji="1" lang="en-US" altLang="zh-CN" baseline="30000" dirty="0">
                <a:solidFill>
                  <a:srgbClr val="FF0000"/>
                </a:solidFill>
              </a:rPr>
              <a:t>th</a:t>
            </a:r>
            <a:r>
              <a:rPr kumimoji="1" lang="zh-CN" altLang="en-US" dirty="0">
                <a:solidFill>
                  <a:srgbClr val="FF0000"/>
                </a:solidFill>
              </a:rPr>
              <a:t> </a:t>
            </a:r>
            <a:r>
              <a:rPr kumimoji="1" lang="en-US" altLang="zh-CN">
                <a:solidFill>
                  <a:srgbClr val="FF0000"/>
                </a:solidFill>
              </a:rPr>
              <a:t>(Tuesday)</a:t>
            </a:r>
            <a:r>
              <a:rPr kumimoji="1" lang="zh-CN" altLang="en-US" dirty="0">
                <a:solidFill>
                  <a:srgbClr val="FF0000"/>
                </a:solidFill>
              </a:rPr>
              <a:t> </a:t>
            </a:r>
            <a:r>
              <a:rPr kumimoji="1" lang="en-US" altLang="zh-CN" dirty="0"/>
              <a:t>19:00-21:00</a:t>
            </a:r>
          </a:p>
          <a:p>
            <a:pPr lvl="1"/>
            <a:r>
              <a:rPr kumimoji="1" lang="zh-CN" altLang="en-US" dirty="0"/>
              <a:t>技科楼</a:t>
            </a:r>
            <a:r>
              <a:rPr kumimoji="1" lang="en-US" altLang="zh-CN" dirty="0"/>
              <a:t>-3311,</a:t>
            </a:r>
            <a:r>
              <a:rPr kumimoji="1" lang="zh-CN" altLang="en-US" dirty="0"/>
              <a:t>技科楼</a:t>
            </a:r>
            <a:r>
              <a:rPr kumimoji="1" lang="en-US" altLang="zh-CN" dirty="0"/>
              <a:t>-3417</a:t>
            </a:r>
          </a:p>
          <a:p>
            <a:r>
              <a:rPr kumimoji="1" lang="en-US" altLang="zh-CN" dirty="0"/>
              <a:t>Covering</a:t>
            </a:r>
            <a:r>
              <a:rPr kumimoji="1" lang="zh-CN" altLang="en-US" dirty="0"/>
              <a:t> </a:t>
            </a:r>
            <a:r>
              <a:rPr kumimoji="1" lang="en-US" altLang="zh-CN" dirty="0"/>
              <a:t>the</a:t>
            </a:r>
            <a:r>
              <a:rPr kumimoji="1" lang="zh-CN" altLang="en-US" dirty="0"/>
              <a:t> </a:t>
            </a:r>
            <a:r>
              <a:rPr kumimoji="1" lang="en-US" altLang="zh-CN" dirty="0"/>
              <a:t>entire</a:t>
            </a:r>
            <a:r>
              <a:rPr kumimoji="1" lang="zh-CN" altLang="en-US" dirty="0"/>
              <a:t> </a:t>
            </a:r>
            <a:r>
              <a:rPr kumimoji="1" lang="en-US" altLang="zh-CN" dirty="0"/>
              <a:t>semester,</a:t>
            </a:r>
            <a:r>
              <a:rPr kumimoji="1" lang="zh-CN" altLang="en-US" dirty="0"/>
              <a:t> </a:t>
            </a:r>
            <a:r>
              <a:rPr kumimoji="1" lang="en-US" altLang="zh-CN" dirty="0"/>
              <a:t>with</a:t>
            </a:r>
            <a:r>
              <a:rPr kumimoji="1" lang="zh-CN" altLang="en-US" dirty="0"/>
              <a:t> </a:t>
            </a:r>
            <a:r>
              <a:rPr kumimoji="1" lang="en-US" altLang="zh-CN" dirty="0"/>
              <a:t>a</a:t>
            </a:r>
            <a:r>
              <a:rPr kumimoji="1" lang="zh-CN" altLang="en-US" dirty="0"/>
              <a:t> </a:t>
            </a:r>
            <a:r>
              <a:rPr kumimoji="1" lang="en-US" altLang="zh-CN" dirty="0"/>
              <a:t>focus</a:t>
            </a:r>
            <a:r>
              <a:rPr kumimoji="1" lang="zh-CN" altLang="en-US" dirty="0"/>
              <a:t> </a:t>
            </a:r>
            <a:r>
              <a:rPr kumimoji="1" lang="en-US" altLang="zh-CN" dirty="0"/>
              <a:t>on</a:t>
            </a:r>
            <a:r>
              <a:rPr kumimoji="1" lang="zh-CN" altLang="en-US" dirty="0"/>
              <a:t> </a:t>
            </a:r>
            <a:r>
              <a:rPr kumimoji="1" lang="en-US" altLang="zh-CN" dirty="0"/>
              <a:t>the</a:t>
            </a:r>
            <a:r>
              <a:rPr kumimoji="1" lang="zh-CN" altLang="en-US" dirty="0"/>
              <a:t> </a:t>
            </a:r>
            <a:r>
              <a:rPr kumimoji="1" lang="en-US" altLang="zh-CN" dirty="0"/>
              <a:t>second</a:t>
            </a:r>
            <a:r>
              <a:rPr kumimoji="1" lang="zh-CN" altLang="en-US" dirty="0"/>
              <a:t> </a:t>
            </a:r>
            <a:r>
              <a:rPr kumimoji="1" lang="en-US" altLang="zh-CN" dirty="0"/>
              <a:t>half</a:t>
            </a:r>
          </a:p>
          <a:p>
            <a:endParaRPr kumimoji="1" lang="en-US" altLang="zh-CN" dirty="0"/>
          </a:p>
          <a:p>
            <a:r>
              <a:rPr kumimoji="1" lang="en-US" altLang="zh-CN" dirty="0"/>
              <a:t>HW</a:t>
            </a:r>
            <a:r>
              <a:rPr kumimoji="1" lang="zh-CN" altLang="en-US" dirty="0"/>
              <a:t> </a:t>
            </a:r>
            <a:r>
              <a:rPr kumimoji="1" lang="en-US" altLang="zh-CN" dirty="0"/>
              <a:t>4</a:t>
            </a:r>
            <a:r>
              <a:rPr kumimoji="1" lang="zh-CN" altLang="en-US" dirty="0"/>
              <a:t> </a:t>
            </a:r>
            <a:r>
              <a:rPr kumimoji="1" lang="en-US" altLang="zh-CN" dirty="0"/>
              <a:t>will</a:t>
            </a:r>
            <a:r>
              <a:rPr kumimoji="1" lang="zh-CN" altLang="en-US" dirty="0"/>
              <a:t> </a:t>
            </a:r>
            <a:r>
              <a:rPr kumimoji="1" lang="en-US" altLang="zh-CN" dirty="0"/>
              <a:t>be</a:t>
            </a:r>
            <a:r>
              <a:rPr kumimoji="1" lang="zh-CN" altLang="en-US" dirty="0"/>
              <a:t> </a:t>
            </a:r>
            <a:r>
              <a:rPr kumimoji="1" lang="en-US" altLang="zh-CN" dirty="0"/>
              <a:t>released</a:t>
            </a:r>
            <a:r>
              <a:rPr kumimoji="1" lang="zh-CN" altLang="en-US" dirty="0"/>
              <a:t> </a:t>
            </a:r>
            <a:r>
              <a:rPr kumimoji="1" lang="en-US" altLang="zh-CN" dirty="0"/>
              <a:t>next</a:t>
            </a:r>
            <a:r>
              <a:rPr kumimoji="1" lang="zh-CN" altLang="en-US" dirty="0"/>
              <a:t> </a:t>
            </a:r>
            <a:r>
              <a:rPr kumimoji="1" lang="en-US" altLang="zh-CN" dirty="0"/>
              <a:t>week</a:t>
            </a:r>
          </a:p>
          <a:p>
            <a:pPr lvl="1"/>
            <a:r>
              <a:rPr kumimoji="1" lang="en-US" altLang="zh-CN" dirty="0"/>
              <a:t>(no</a:t>
            </a:r>
            <a:r>
              <a:rPr kumimoji="1" lang="zh-CN" altLang="en-US" dirty="0"/>
              <a:t> </a:t>
            </a:r>
            <a:r>
              <a:rPr kumimoji="1" lang="en-US" altLang="zh-CN" dirty="0"/>
              <a:t>need</a:t>
            </a:r>
            <a:r>
              <a:rPr kumimoji="1" lang="zh-CN" altLang="en-US" dirty="0"/>
              <a:t> </a:t>
            </a:r>
            <a:r>
              <a:rPr kumimoji="1" lang="en-US" altLang="zh-CN" dirty="0"/>
              <a:t>to</a:t>
            </a:r>
            <a:r>
              <a:rPr kumimoji="1" lang="zh-CN" altLang="en-US" dirty="0"/>
              <a:t> </a:t>
            </a:r>
            <a:r>
              <a:rPr kumimoji="1" lang="en-US" altLang="zh-CN" dirty="0"/>
              <a:t>submit,</a:t>
            </a:r>
            <a:r>
              <a:rPr kumimoji="1" lang="zh-CN" altLang="en-US" dirty="0"/>
              <a:t> </a:t>
            </a:r>
            <a:r>
              <a:rPr kumimoji="1" lang="en-US" altLang="zh-CN" dirty="0"/>
              <a:t>review</a:t>
            </a:r>
            <a:r>
              <a:rPr kumimoji="1" lang="zh-CN" altLang="en-US" dirty="0"/>
              <a:t> </a:t>
            </a:r>
            <a:r>
              <a:rPr kumimoji="1" lang="en-US" altLang="zh-CN" dirty="0"/>
              <a:t>only)</a:t>
            </a:r>
          </a:p>
          <a:p>
            <a:pPr lvl="1"/>
            <a:endParaRPr kumimoji="1" lang="en-US" altLang="zh-CN" dirty="0"/>
          </a:p>
          <a:p>
            <a:r>
              <a:rPr kumimoji="1" lang="en-US" altLang="zh-CN" dirty="0"/>
              <a:t>Final</a:t>
            </a:r>
            <a:r>
              <a:rPr kumimoji="1" lang="zh-CN" altLang="en-US" dirty="0"/>
              <a:t> </a:t>
            </a:r>
            <a:r>
              <a:rPr kumimoji="1" lang="en-US" altLang="zh-CN" dirty="0"/>
              <a:t>review</a:t>
            </a:r>
            <a:r>
              <a:rPr kumimoji="1" lang="zh-CN" altLang="en-US" dirty="0"/>
              <a:t> </a:t>
            </a:r>
            <a:r>
              <a:rPr kumimoji="1" lang="en-US" altLang="zh-CN" dirty="0"/>
              <a:t>the</a:t>
            </a:r>
            <a:r>
              <a:rPr kumimoji="1" lang="zh-CN" altLang="en-US" dirty="0"/>
              <a:t> </a:t>
            </a:r>
            <a:r>
              <a:rPr kumimoji="1" lang="en-US" altLang="zh-CN" dirty="0"/>
              <a:t>week</a:t>
            </a:r>
            <a:r>
              <a:rPr kumimoji="1" lang="zh-CN" altLang="en-US" dirty="0"/>
              <a:t> </a:t>
            </a:r>
            <a:r>
              <a:rPr kumimoji="1" lang="en-US" altLang="zh-CN" dirty="0"/>
              <a:t>after</a:t>
            </a:r>
            <a:r>
              <a:rPr kumimoji="1" lang="zh-CN" altLang="en-US" dirty="0"/>
              <a:t> </a:t>
            </a:r>
            <a:r>
              <a:rPr kumimoji="1" lang="en-US" altLang="zh-CN" dirty="0"/>
              <a:t>next</a:t>
            </a:r>
            <a:endParaRPr kumimoji="1" lang="zh-CN" altLang="en-US" dirty="0"/>
          </a:p>
        </p:txBody>
      </p:sp>
    </p:spTree>
    <p:extLst>
      <p:ext uri="{BB962C8B-B14F-4D97-AF65-F5344CB8AC3E}">
        <p14:creationId xmlns:p14="http://schemas.microsoft.com/office/powerpoint/2010/main" val="3793357328"/>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8496BD-A81B-45B2-EC58-2B9350750244}"/>
              </a:ext>
            </a:extLst>
          </p:cNvPr>
          <p:cNvSpPr>
            <a:spLocks noGrp="1"/>
          </p:cNvSpPr>
          <p:nvPr>
            <p:ph type="title"/>
          </p:nvPr>
        </p:nvSpPr>
        <p:spPr/>
        <p:txBody>
          <a:bodyPr/>
          <a:lstStyle/>
          <a:p>
            <a:r>
              <a:rPr kumimoji="1" lang="en-US" altLang="zh-CN" dirty="0"/>
              <a:t>Agenda</a:t>
            </a:r>
            <a:endParaRPr kumimoji="1" lang="zh-CN" altLang="en-US" dirty="0"/>
          </a:p>
        </p:txBody>
      </p:sp>
      <p:sp>
        <p:nvSpPr>
          <p:cNvPr id="3" name="内容占位符 2">
            <a:extLst>
              <a:ext uri="{FF2B5EF4-FFF2-40B4-BE49-F238E27FC236}">
                <a16:creationId xmlns:a16="http://schemas.microsoft.com/office/drawing/2014/main" id="{77D35DC2-E334-E62E-EBC0-3B04C9451096}"/>
              </a:ext>
            </a:extLst>
          </p:cNvPr>
          <p:cNvSpPr>
            <a:spLocks noGrp="1"/>
          </p:cNvSpPr>
          <p:nvPr>
            <p:ph idx="1"/>
          </p:nvPr>
        </p:nvSpPr>
        <p:spPr/>
        <p:txBody>
          <a:bodyPr/>
          <a:lstStyle/>
          <a:p>
            <a:r>
              <a:rPr kumimoji="1" lang="en-US" altLang="zh-CN" dirty="0"/>
              <a:t>From</a:t>
            </a:r>
            <a:r>
              <a:rPr kumimoji="1" lang="zh-CN" altLang="en-US" dirty="0"/>
              <a:t> </a:t>
            </a:r>
            <a:r>
              <a:rPr kumimoji="1" lang="en-US" altLang="zh-CN" dirty="0"/>
              <a:t>file</a:t>
            </a:r>
            <a:r>
              <a:rPr kumimoji="1" lang="zh-CN" altLang="en-US" dirty="0"/>
              <a:t> </a:t>
            </a:r>
            <a:r>
              <a:rPr kumimoji="1" lang="en-US" altLang="zh-CN" dirty="0"/>
              <a:t>systems</a:t>
            </a:r>
            <a:r>
              <a:rPr kumimoji="1" lang="zh-CN" altLang="en-US" dirty="0"/>
              <a:t> </a:t>
            </a:r>
            <a:r>
              <a:rPr kumimoji="1" lang="en-US" altLang="zh-CN" dirty="0"/>
              <a:t>to</a:t>
            </a:r>
            <a:r>
              <a:rPr kumimoji="1" lang="zh-CN" altLang="en-US" dirty="0"/>
              <a:t> </a:t>
            </a:r>
            <a:r>
              <a:rPr kumimoji="1" lang="en-US" altLang="zh-CN" dirty="0"/>
              <a:t>database</a:t>
            </a:r>
          </a:p>
          <a:p>
            <a:pPr lvl="1"/>
            <a:r>
              <a:rPr kumimoji="1" lang="en-US" altLang="zh-CN" dirty="0"/>
              <a:t>Structured</a:t>
            </a:r>
            <a:r>
              <a:rPr kumimoji="1" lang="zh-CN" altLang="en-US" dirty="0"/>
              <a:t> </a:t>
            </a:r>
            <a:r>
              <a:rPr kumimoji="1" lang="en-US" altLang="zh-CN" dirty="0"/>
              <a:t>data</a:t>
            </a:r>
            <a:r>
              <a:rPr kumimoji="1" lang="zh-CN" altLang="en-US" dirty="0"/>
              <a:t> </a:t>
            </a:r>
            <a:r>
              <a:rPr kumimoji="1" lang="en-US" altLang="zh-CN" dirty="0"/>
              <a:t>and</a:t>
            </a:r>
            <a:r>
              <a:rPr kumimoji="1" lang="zh-CN" altLang="en-US" dirty="0"/>
              <a:t> </a:t>
            </a:r>
            <a:r>
              <a:rPr kumimoji="1" lang="en-US" altLang="zh-CN" dirty="0"/>
              <a:t>schema</a:t>
            </a:r>
          </a:p>
          <a:p>
            <a:pPr lvl="1"/>
            <a:r>
              <a:rPr kumimoji="1" lang="en-US" altLang="zh-CN" dirty="0"/>
              <a:t>Query</a:t>
            </a:r>
            <a:r>
              <a:rPr kumimoji="1" lang="zh-CN" altLang="en-US" dirty="0"/>
              <a:t> </a:t>
            </a:r>
            <a:r>
              <a:rPr kumimoji="1" lang="en-US" altLang="zh-CN" dirty="0"/>
              <a:t>execution</a:t>
            </a:r>
          </a:p>
          <a:p>
            <a:pPr lvl="1"/>
            <a:r>
              <a:rPr kumimoji="1" lang="en-US" altLang="zh-CN" dirty="0"/>
              <a:t>Concept</a:t>
            </a:r>
            <a:r>
              <a:rPr kumimoji="1" lang="zh-CN" altLang="en-US" dirty="0"/>
              <a:t> </a:t>
            </a:r>
            <a:r>
              <a:rPr kumimoji="1" lang="en-US" altLang="zh-CN" dirty="0"/>
              <a:t>of</a:t>
            </a:r>
            <a:r>
              <a:rPr kumimoji="1" lang="zh-CN" altLang="en-US" dirty="0"/>
              <a:t> </a:t>
            </a:r>
            <a:r>
              <a:rPr kumimoji="1" lang="en-US" altLang="zh-CN" dirty="0"/>
              <a:t>a</a:t>
            </a:r>
            <a:r>
              <a:rPr kumimoji="1" lang="zh-CN" altLang="en-US" dirty="0"/>
              <a:t> </a:t>
            </a:r>
            <a:r>
              <a:rPr kumimoji="1" lang="en-US" altLang="zh-CN" dirty="0"/>
              <a:t>transaction</a:t>
            </a:r>
          </a:p>
          <a:p>
            <a:r>
              <a:rPr kumimoji="1" lang="en-US" altLang="zh-CN" dirty="0"/>
              <a:t>How</a:t>
            </a:r>
            <a:r>
              <a:rPr kumimoji="1" lang="zh-CN" altLang="en-US" dirty="0"/>
              <a:t> </a:t>
            </a:r>
            <a:r>
              <a:rPr kumimoji="1" lang="en-US" altLang="zh-CN" dirty="0"/>
              <a:t>to</a:t>
            </a:r>
            <a:r>
              <a:rPr kumimoji="1" lang="zh-CN" altLang="en-US" dirty="0"/>
              <a:t> </a:t>
            </a:r>
            <a:r>
              <a:rPr kumimoji="1" lang="en-US" altLang="zh-CN" dirty="0"/>
              <a:t>achieve</a:t>
            </a:r>
            <a:r>
              <a:rPr kumimoji="1" lang="zh-CN" altLang="en-US" dirty="0"/>
              <a:t> </a:t>
            </a:r>
            <a:r>
              <a:rPr kumimoji="1" lang="en-US" altLang="zh-CN" dirty="0"/>
              <a:t>atomic</a:t>
            </a:r>
            <a:r>
              <a:rPr kumimoji="1" lang="zh-CN" altLang="en-US" dirty="0"/>
              <a:t> </a:t>
            </a:r>
            <a:r>
              <a:rPr kumimoji="1" lang="en-US" altLang="zh-CN" dirty="0"/>
              <a:t>writes</a:t>
            </a:r>
            <a:r>
              <a:rPr kumimoji="1" lang="zh-CN" altLang="en-US" dirty="0"/>
              <a:t> </a:t>
            </a:r>
            <a:r>
              <a:rPr kumimoji="1" lang="en-US" altLang="zh-CN" dirty="0"/>
              <a:t>on</a:t>
            </a:r>
            <a:r>
              <a:rPr kumimoji="1" lang="zh-CN" altLang="en-US" dirty="0"/>
              <a:t> </a:t>
            </a:r>
            <a:r>
              <a:rPr kumimoji="1" lang="en-US" altLang="zh-CN" dirty="0"/>
              <a:t>disks</a:t>
            </a:r>
          </a:p>
          <a:p>
            <a:r>
              <a:rPr kumimoji="1" lang="en-US" altLang="zh-CN" dirty="0"/>
              <a:t>Implementing</a:t>
            </a:r>
            <a:r>
              <a:rPr kumimoji="1" lang="zh-CN" altLang="en-US" dirty="0"/>
              <a:t> </a:t>
            </a:r>
            <a:r>
              <a:rPr kumimoji="1" lang="en-US" altLang="zh-CN" dirty="0"/>
              <a:t>isolation</a:t>
            </a:r>
            <a:r>
              <a:rPr kumimoji="1" lang="zh-CN" altLang="en-US" dirty="0"/>
              <a:t> </a:t>
            </a:r>
            <a:r>
              <a:rPr kumimoji="1" lang="en-US" altLang="zh-CN" dirty="0"/>
              <a:t>in</a:t>
            </a:r>
            <a:r>
              <a:rPr kumimoji="1" lang="zh-CN" altLang="en-US" dirty="0"/>
              <a:t> </a:t>
            </a:r>
            <a:r>
              <a:rPr kumimoji="1" lang="en-US" altLang="zh-CN" dirty="0"/>
              <a:t>transactions</a:t>
            </a:r>
            <a:r>
              <a:rPr kumimoji="1" lang="zh-CN" altLang="en-US" dirty="0"/>
              <a:t> </a:t>
            </a:r>
            <a:r>
              <a:rPr kumimoji="1" lang="en-US" altLang="zh-CN" dirty="0"/>
              <a:t>(locks)</a:t>
            </a:r>
          </a:p>
          <a:p>
            <a:endParaRPr kumimoji="1" lang="zh-CN" altLang="en-US" dirty="0"/>
          </a:p>
        </p:txBody>
      </p:sp>
    </p:spTree>
    <p:extLst>
      <p:ext uri="{BB962C8B-B14F-4D97-AF65-F5344CB8AC3E}">
        <p14:creationId xmlns:p14="http://schemas.microsoft.com/office/powerpoint/2010/main" val="220605019"/>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Databases</a:t>
            </a:r>
            <a:r>
              <a:rPr kumimoji="1" lang="zh-CN" altLang="en-US" dirty="0"/>
              <a:t> </a:t>
            </a:r>
            <a:r>
              <a:rPr kumimoji="1" lang="en-US" altLang="zh-CN" dirty="0"/>
              <a:t>and</a:t>
            </a:r>
            <a:r>
              <a:rPr kumimoji="1" lang="zh-CN" altLang="en-US" dirty="0"/>
              <a:t> </a:t>
            </a:r>
            <a:r>
              <a:rPr kumimoji="1" lang="en-US" altLang="zh-CN" dirty="0"/>
              <a:t>queries</a:t>
            </a:r>
            <a:endParaRPr kumimoji="1" lang="zh-CN" altLang="en-US" dirty="0"/>
          </a:p>
        </p:txBody>
      </p:sp>
      <p:sp>
        <p:nvSpPr>
          <p:cNvPr id="3" name="文本占位符 2"/>
          <p:cNvSpPr>
            <a:spLocks noGrp="1"/>
          </p:cNvSpPr>
          <p:nvPr>
            <p:ph type="body" idx="1"/>
          </p:nvPr>
        </p:nvSpPr>
        <p:spPr/>
        <p:txBody>
          <a:bodyPr/>
          <a:lstStyle/>
          <a:p>
            <a:endParaRPr kumimoji="1" lang="zh-CN" altLang="en-US"/>
          </a:p>
        </p:txBody>
      </p:sp>
    </p:spTree>
    <p:extLst>
      <p:ext uri="{BB962C8B-B14F-4D97-AF65-F5344CB8AC3E}">
        <p14:creationId xmlns:p14="http://schemas.microsoft.com/office/powerpoint/2010/main" val="406777911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8D85AB-8EF0-3CEE-10C2-47477B167FCE}"/>
              </a:ext>
            </a:extLst>
          </p:cNvPr>
          <p:cNvSpPr>
            <a:spLocks noGrp="1"/>
          </p:cNvSpPr>
          <p:nvPr>
            <p:ph type="title"/>
          </p:nvPr>
        </p:nvSpPr>
        <p:spPr/>
        <p:txBody>
          <a:bodyPr/>
          <a:lstStyle/>
          <a:p>
            <a:r>
              <a:rPr kumimoji="1" lang="en-US" altLang="zh-CN" dirty="0"/>
              <a:t>Why</a:t>
            </a:r>
            <a:r>
              <a:rPr kumimoji="1" lang="zh-CN" altLang="en-US" dirty="0"/>
              <a:t> </a:t>
            </a:r>
            <a:r>
              <a:rPr kumimoji="1" lang="en-US" altLang="zh-CN" dirty="0"/>
              <a:t>do</a:t>
            </a:r>
            <a:r>
              <a:rPr kumimoji="1" lang="zh-CN" altLang="en-US" dirty="0"/>
              <a:t> </a:t>
            </a:r>
            <a:r>
              <a:rPr kumimoji="1" lang="en-US" altLang="zh-CN" dirty="0"/>
              <a:t>we</a:t>
            </a:r>
            <a:r>
              <a:rPr kumimoji="1" lang="zh-CN" altLang="en-US" dirty="0"/>
              <a:t> </a:t>
            </a:r>
            <a:r>
              <a:rPr kumimoji="1" lang="en-US" altLang="zh-CN" dirty="0"/>
              <a:t>talk</a:t>
            </a:r>
            <a:r>
              <a:rPr kumimoji="1" lang="zh-CN" altLang="en-US" dirty="0"/>
              <a:t> </a:t>
            </a:r>
            <a:r>
              <a:rPr kumimoji="1" lang="en-US" altLang="zh-CN" dirty="0"/>
              <a:t>about</a:t>
            </a:r>
            <a:r>
              <a:rPr kumimoji="1" lang="zh-CN" altLang="en-US" dirty="0"/>
              <a:t> </a:t>
            </a:r>
            <a:r>
              <a:rPr kumimoji="1" lang="en-US" altLang="zh-CN" dirty="0"/>
              <a:t>DB?</a:t>
            </a:r>
            <a:endParaRPr kumimoji="1" lang="zh-CN" altLang="en-US" dirty="0"/>
          </a:p>
        </p:txBody>
      </p:sp>
      <p:sp>
        <p:nvSpPr>
          <p:cNvPr id="3" name="内容占位符 2">
            <a:extLst>
              <a:ext uri="{FF2B5EF4-FFF2-40B4-BE49-F238E27FC236}">
                <a16:creationId xmlns:a16="http://schemas.microsoft.com/office/drawing/2014/main" id="{738E2568-050D-3838-0013-CEF10F6E9718}"/>
              </a:ext>
            </a:extLst>
          </p:cNvPr>
          <p:cNvSpPr>
            <a:spLocks noGrp="1"/>
          </p:cNvSpPr>
          <p:nvPr>
            <p:ph idx="1"/>
          </p:nvPr>
        </p:nvSpPr>
        <p:spPr/>
        <p:txBody>
          <a:bodyPr/>
          <a:lstStyle/>
          <a:p>
            <a:r>
              <a:rPr kumimoji="1" lang="en-US" altLang="zh-CN" dirty="0"/>
              <a:t>Very</a:t>
            </a:r>
            <a:r>
              <a:rPr kumimoji="1" lang="zh-CN" altLang="en-US" dirty="0"/>
              <a:t> </a:t>
            </a:r>
            <a:r>
              <a:rPr kumimoji="1" lang="en-US" altLang="zh-CN" dirty="0"/>
              <a:t>important</a:t>
            </a:r>
            <a:r>
              <a:rPr kumimoji="1" lang="zh-CN" altLang="en-US" dirty="0"/>
              <a:t> </a:t>
            </a:r>
            <a:r>
              <a:rPr kumimoji="1" lang="en-US" altLang="zh-CN" dirty="0"/>
              <a:t>software</a:t>
            </a:r>
          </a:p>
          <a:p>
            <a:r>
              <a:rPr kumimoji="1" lang="en-US" altLang="zh-CN" dirty="0"/>
              <a:t>Revisit</a:t>
            </a:r>
            <a:r>
              <a:rPr kumimoji="1" lang="zh-CN" altLang="en-US" dirty="0"/>
              <a:t> </a:t>
            </a:r>
            <a:r>
              <a:rPr kumimoji="1" lang="en-US" altLang="zh-CN" dirty="0"/>
              <a:t>concepts</a:t>
            </a:r>
            <a:r>
              <a:rPr kumimoji="1" lang="zh-CN" altLang="en-US" dirty="0"/>
              <a:t> </a:t>
            </a:r>
            <a:r>
              <a:rPr kumimoji="1" lang="en-US" altLang="zh-CN" dirty="0"/>
              <a:t>we</a:t>
            </a:r>
            <a:r>
              <a:rPr kumimoji="1" lang="zh-CN" altLang="en-US" dirty="0"/>
              <a:t> </a:t>
            </a:r>
            <a:r>
              <a:rPr kumimoji="1" lang="en-US" altLang="zh-CN" dirty="0"/>
              <a:t>learned</a:t>
            </a:r>
            <a:r>
              <a:rPr kumimoji="1" lang="zh-CN" altLang="en-US" dirty="0"/>
              <a:t> </a:t>
            </a:r>
            <a:r>
              <a:rPr kumimoji="1" lang="en-US" altLang="zh-CN" dirty="0"/>
              <a:t>for</a:t>
            </a:r>
            <a:r>
              <a:rPr kumimoji="1" lang="zh-CN" altLang="en-US" dirty="0"/>
              <a:t> </a:t>
            </a:r>
            <a:r>
              <a:rPr kumimoji="1" lang="en-US" altLang="zh-CN" dirty="0"/>
              <a:t>the</a:t>
            </a:r>
            <a:r>
              <a:rPr kumimoji="1" lang="zh-CN" altLang="en-US" dirty="0"/>
              <a:t> </a:t>
            </a:r>
            <a:r>
              <a:rPr kumimoji="1" lang="en-US" altLang="zh-CN" dirty="0"/>
              <a:t>OS,</a:t>
            </a:r>
            <a:r>
              <a:rPr kumimoji="1" lang="zh-CN" altLang="en-US" dirty="0"/>
              <a:t> </a:t>
            </a:r>
            <a:r>
              <a:rPr kumimoji="1" lang="en-US" altLang="zh-CN" dirty="0"/>
              <a:t>with</a:t>
            </a:r>
            <a:r>
              <a:rPr kumimoji="1" lang="zh-CN" altLang="en-US" dirty="0"/>
              <a:t> </a:t>
            </a:r>
            <a:r>
              <a:rPr kumimoji="1" lang="en-US" altLang="zh-CN" dirty="0"/>
              <a:t>extensions</a:t>
            </a:r>
          </a:p>
          <a:p>
            <a:pPr lvl="1"/>
            <a:r>
              <a:rPr kumimoji="1" lang="en-US" altLang="zh-CN" dirty="0"/>
              <a:t>Atomic</a:t>
            </a:r>
            <a:r>
              <a:rPr kumimoji="1" lang="zh-CN" altLang="en-US" dirty="0"/>
              <a:t> </a:t>
            </a:r>
            <a:r>
              <a:rPr kumimoji="1" lang="en-US" altLang="zh-CN" dirty="0"/>
              <a:t>memory</a:t>
            </a:r>
            <a:r>
              <a:rPr kumimoji="1" lang="zh-CN" altLang="en-US" dirty="0"/>
              <a:t> </a:t>
            </a:r>
            <a:r>
              <a:rPr kumimoji="1" lang="en-US" altLang="zh-CN" dirty="0"/>
              <a:t>access</a:t>
            </a:r>
            <a:r>
              <a:rPr kumimoji="1" lang="zh-CN" altLang="en-US" dirty="0"/>
              <a:t> </a:t>
            </a:r>
            <a:r>
              <a:rPr kumimoji="1" lang="en-US" altLang="zh-CN" dirty="0"/>
              <a:t>-&gt;</a:t>
            </a:r>
            <a:r>
              <a:rPr kumimoji="1" lang="zh-CN" altLang="en-US" dirty="0"/>
              <a:t> </a:t>
            </a:r>
            <a:r>
              <a:rPr kumimoji="1" lang="en-US" altLang="zh-CN" dirty="0"/>
              <a:t>atomic</a:t>
            </a:r>
            <a:r>
              <a:rPr kumimoji="1" lang="zh-CN" altLang="en-US" dirty="0"/>
              <a:t> </a:t>
            </a:r>
            <a:r>
              <a:rPr kumimoji="1" lang="en-US" altLang="zh-CN" dirty="0"/>
              <a:t>disk</a:t>
            </a:r>
            <a:r>
              <a:rPr kumimoji="1" lang="zh-CN" altLang="en-US" dirty="0"/>
              <a:t> </a:t>
            </a:r>
            <a:r>
              <a:rPr kumimoji="1" lang="en-US" altLang="zh-CN" dirty="0"/>
              <a:t>access</a:t>
            </a:r>
          </a:p>
          <a:p>
            <a:pPr lvl="1"/>
            <a:r>
              <a:rPr kumimoji="1" lang="en-US" altLang="zh-CN" dirty="0"/>
              <a:t>Lock</a:t>
            </a:r>
            <a:r>
              <a:rPr kumimoji="1" lang="zh-CN" altLang="en-US" dirty="0"/>
              <a:t> </a:t>
            </a:r>
            <a:r>
              <a:rPr kumimoji="1" lang="en-US" altLang="zh-CN" dirty="0"/>
              <a:t>in</a:t>
            </a:r>
            <a:r>
              <a:rPr kumimoji="1" lang="zh-CN" altLang="en-US" dirty="0"/>
              <a:t> </a:t>
            </a:r>
            <a:r>
              <a:rPr kumimoji="1" lang="en-US" altLang="zh-CN" dirty="0"/>
              <a:t>memory</a:t>
            </a:r>
            <a:r>
              <a:rPr kumimoji="1" lang="zh-CN" altLang="en-US" dirty="0"/>
              <a:t> </a:t>
            </a:r>
            <a:r>
              <a:rPr kumimoji="1" lang="en-US" altLang="zh-CN" dirty="0"/>
              <a:t>-&gt;</a:t>
            </a:r>
            <a:r>
              <a:rPr kumimoji="1" lang="zh-CN" altLang="en-US" dirty="0"/>
              <a:t> </a:t>
            </a:r>
            <a:r>
              <a:rPr kumimoji="1" lang="en-US" altLang="zh-CN" dirty="0"/>
              <a:t>lock</a:t>
            </a:r>
            <a:r>
              <a:rPr kumimoji="1" lang="zh-CN" altLang="en-US" dirty="0"/>
              <a:t> </a:t>
            </a:r>
            <a:r>
              <a:rPr kumimoji="1" lang="en-US" altLang="zh-CN" dirty="0"/>
              <a:t>+</a:t>
            </a:r>
            <a:r>
              <a:rPr kumimoji="1" lang="zh-CN" altLang="en-US" dirty="0"/>
              <a:t> </a:t>
            </a:r>
            <a:r>
              <a:rPr kumimoji="1" lang="en-US" altLang="zh-CN" dirty="0"/>
              <a:t>I/O</a:t>
            </a:r>
            <a:r>
              <a:rPr kumimoji="1" lang="zh-CN" altLang="en-US" dirty="0"/>
              <a:t> </a:t>
            </a:r>
            <a:endParaRPr kumimoji="1" lang="en-US" altLang="zh-CN" dirty="0"/>
          </a:p>
          <a:p>
            <a:pPr lvl="1"/>
            <a:r>
              <a:rPr kumimoji="1" lang="en-US" altLang="zh-CN" dirty="0"/>
              <a:t>Revisit</a:t>
            </a:r>
            <a:r>
              <a:rPr kumimoji="1" lang="zh-CN" altLang="en-US" dirty="0"/>
              <a:t> </a:t>
            </a:r>
            <a:r>
              <a:rPr kumimoji="1" lang="en-US" altLang="zh-CN" dirty="0"/>
              <a:t>of</a:t>
            </a:r>
            <a:r>
              <a:rPr kumimoji="1" lang="zh-CN" altLang="en-US" dirty="0"/>
              <a:t> </a:t>
            </a:r>
            <a:r>
              <a:rPr kumimoji="1" lang="en-US" altLang="zh-CN" dirty="0"/>
              <a:t>reader-writer</a:t>
            </a:r>
            <a:r>
              <a:rPr kumimoji="1" lang="zh-CN" altLang="en-US" dirty="0"/>
              <a:t> </a:t>
            </a:r>
            <a:r>
              <a:rPr kumimoji="1" lang="en-US" altLang="zh-CN" dirty="0"/>
              <a:t>locks</a:t>
            </a:r>
          </a:p>
          <a:p>
            <a:endParaRPr kumimoji="1" lang="en-US" altLang="zh-CN" dirty="0"/>
          </a:p>
          <a:p>
            <a:r>
              <a:rPr kumimoji="1" lang="en-US" altLang="zh-CN" dirty="0"/>
              <a:t>What</a:t>
            </a:r>
            <a:r>
              <a:rPr kumimoji="1" lang="zh-CN" altLang="en-US" dirty="0"/>
              <a:t> </a:t>
            </a:r>
            <a:r>
              <a:rPr kumimoji="1" lang="en-US" altLang="zh-CN" dirty="0"/>
              <a:t>is</a:t>
            </a:r>
            <a:r>
              <a:rPr kumimoji="1" lang="zh-CN" altLang="en-US" dirty="0"/>
              <a:t> </a:t>
            </a:r>
            <a:r>
              <a:rPr kumimoji="1" lang="en-US" altLang="zh-CN" dirty="0"/>
              <a:t>the</a:t>
            </a:r>
            <a:r>
              <a:rPr kumimoji="1" lang="zh-CN" altLang="en-US" dirty="0"/>
              <a:t> </a:t>
            </a:r>
            <a:r>
              <a:rPr kumimoji="1" lang="en-US" altLang="zh-CN" dirty="0"/>
              <a:t>different</a:t>
            </a:r>
            <a:r>
              <a:rPr kumimoji="1" lang="zh-CN" altLang="en-US" dirty="0"/>
              <a:t> </a:t>
            </a:r>
            <a:r>
              <a:rPr kumimoji="1" lang="en-US" altLang="zh-CN" dirty="0"/>
              <a:t>from</a:t>
            </a:r>
            <a:r>
              <a:rPr kumimoji="1" lang="zh-CN" altLang="en-US" dirty="0"/>
              <a:t> </a:t>
            </a:r>
            <a:r>
              <a:rPr kumimoji="1" lang="en-US" altLang="zh-CN" dirty="0"/>
              <a:t>OS</a:t>
            </a:r>
            <a:r>
              <a:rPr kumimoji="1" lang="zh-CN" altLang="en-US" dirty="0"/>
              <a:t> </a:t>
            </a:r>
            <a:r>
              <a:rPr kumimoji="1" lang="en-US" altLang="zh-CN" dirty="0"/>
              <a:t>file</a:t>
            </a:r>
            <a:r>
              <a:rPr kumimoji="1" lang="zh-CN" altLang="en-US" dirty="0"/>
              <a:t> </a:t>
            </a:r>
            <a:r>
              <a:rPr kumimoji="1" lang="en-US" altLang="zh-CN" dirty="0"/>
              <a:t>system?</a:t>
            </a:r>
          </a:p>
          <a:p>
            <a:pPr lvl="1"/>
            <a:r>
              <a:rPr kumimoji="1" lang="en-US" altLang="zh-CN" dirty="0"/>
              <a:t>Structured</a:t>
            </a:r>
            <a:r>
              <a:rPr kumimoji="1" lang="zh-CN" altLang="en-US" dirty="0"/>
              <a:t> </a:t>
            </a:r>
            <a:r>
              <a:rPr kumimoji="1" lang="en-US" altLang="zh-CN" dirty="0"/>
              <a:t>data</a:t>
            </a:r>
            <a:r>
              <a:rPr kumimoji="1" lang="zh-CN" altLang="en-US" dirty="0"/>
              <a:t> </a:t>
            </a:r>
            <a:r>
              <a:rPr kumimoji="1" lang="en-US" altLang="zh-CN" dirty="0"/>
              <a:t>(“data</a:t>
            </a:r>
            <a:r>
              <a:rPr kumimoji="1" lang="zh-CN" altLang="en-US" dirty="0"/>
              <a:t> </a:t>
            </a:r>
            <a:r>
              <a:rPr kumimoji="1" lang="en-US" altLang="zh-CN" dirty="0"/>
              <a:t>model”)</a:t>
            </a:r>
          </a:p>
          <a:p>
            <a:pPr lvl="2"/>
            <a:r>
              <a:rPr kumimoji="1" lang="en-US" altLang="zh-CN"/>
              <a:t>Why?</a:t>
            </a:r>
            <a:endParaRPr kumimoji="1" lang="en-US" altLang="zh-CN" dirty="0"/>
          </a:p>
          <a:p>
            <a:pPr lvl="1"/>
            <a:r>
              <a:rPr kumimoji="1" lang="en-US" altLang="zh-CN" dirty="0"/>
              <a:t>So</a:t>
            </a:r>
            <a:r>
              <a:rPr kumimoji="1" lang="zh-CN" altLang="en-US" dirty="0"/>
              <a:t> </a:t>
            </a:r>
            <a:r>
              <a:rPr kumimoji="1" lang="en-US" altLang="zh-CN" dirty="0"/>
              <a:t>provide</a:t>
            </a:r>
            <a:r>
              <a:rPr kumimoji="1" lang="zh-CN" altLang="en-US" dirty="0"/>
              <a:t> </a:t>
            </a:r>
            <a:r>
              <a:rPr kumimoji="1" lang="en-US" altLang="zh-CN" dirty="0"/>
              <a:t>more</a:t>
            </a:r>
            <a:r>
              <a:rPr kumimoji="1" lang="zh-CN" altLang="en-US" dirty="0"/>
              <a:t> </a:t>
            </a:r>
            <a:r>
              <a:rPr kumimoji="1" lang="en-US" altLang="zh-CN" dirty="0"/>
              <a:t>reliability</a:t>
            </a:r>
          </a:p>
        </p:txBody>
      </p:sp>
    </p:spTree>
    <p:extLst>
      <p:ext uri="{BB962C8B-B14F-4D97-AF65-F5344CB8AC3E}">
        <p14:creationId xmlns:p14="http://schemas.microsoft.com/office/powerpoint/2010/main" val="228249036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title"/>
          </p:nvPr>
        </p:nvSpPr>
        <p:spPr/>
        <p:txBody>
          <a:bodyPr/>
          <a:lstStyle/>
          <a:p>
            <a:pPr eaLnBrk="1" hangingPunct="1"/>
            <a:r>
              <a:rPr lang="en-US" altLang="zh-CN">
                <a:latin typeface="Helvetica" charset="0"/>
                <a:ea typeface="MS PGothic" charset="-128"/>
              </a:rPr>
              <a:t>Key Concept: Structured Data</a:t>
            </a:r>
          </a:p>
        </p:txBody>
      </p:sp>
      <p:sp>
        <p:nvSpPr>
          <p:cNvPr id="14338" name="Content Placeholder 2"/>
          <p:cNvSpPr>
            <a:spLocks noGrp="1"/>
          </p:cNvSpPr>
          <p:nvPr>
            <p:ph idx="1"/>
          </p:nvPr>
        </p:nvSpPr>
        <p:spPr/>
        <p:txBody>
          <a:bodyPr/>
          <a:lstStyle/>
          <a:p>
            <a:pPr eaLnBrk="1" hangingPunct="1"/>
            <a:r>
              <a:rPr lang="en-US" altLang="zh-CN">
                <a:latin typeface="Trebuchet MS" charset="0"/>
                <a:ea typeface="MS PGothic" charset="-128"/>
              </a:rPr>
              <a:t>A </a:t>
            </a:r>
            <a:r>
              <a:rPr lang="en-US" altLang="zh-CN">
                <a:solidFill>
                  <a:srgbClr val="FF0000"/>
                </a:solidFill>
                <a:latin typeface="Trebuchet MS" charset="0"/>
                <a:ea typeface="MS PGothic" charset="-128"/>
              </a:rPr>
              <a:t>data model </a:t>
            </a:r>
            <a:r>
              <a:rPr lang="en-US" altLang="zh-CN">
                <a:latin typeface="Trebuchet MS" charset="0"/>
                <a:ea typeface="MS PGothic" charset="-128"/>
              </a:rPr>
              <a:t>is a collection of entities and their relationships</a:t>
            </a:r>
          </a:p>
          <a:p>
            <a:pPr eaLnBrk="1" hangingPunct="1"/>
            <a:endParaRPr lang="en-US" altLang="zh-CN">
              <a:latin typeface="Trebuchet MS" charset="0"/>
              <a:ea typeface="MS PGothic" charset="-128"/>
            </a:endParaRPr>
          </a:p>
          <a:p>
            <a:pPr eaLnBrk="1" hangingPunct="1"/>
            <a:r>
              <a:rPr lang="en-US" altLang="zh-CN">
                <a:latin typeface="Trebuchet MS" charset="0"/>
                <a:ea typeface="MS PGothic" charset="-128"/>
              </a:rPr>
              <a:t>A </a:t>
            </a:r>
            <a:r>
              <a:rPr lang="en-US" altLang="zh-CN">
                <a:solidFill>
                  <a:srgbClr val="FF0000"/>
                </a:solidFill>
                <a:latin typeface="Trebuchet MS" charset="0"/>
                <a:ea typeface="MS PGothic" charset="-128"/>
              </a:rPr>
              <a:t>schema</a:t>
            </a:r>
            <a:r>
              <a:rPr lang="en-US" altLang="zh-CN">
                <a:latin typeface="Trebuchet MS" charset="0"/>
                <a:ea typeface="MS PGothic" charset="-128"/>
              </a:rPr>
              <a:t> is an instance of a data model</a:t>
            </a:r>
          </a:p>
          <a:p>
            <a:pPr lvl="1" eaLnBrk="1" hangingPunct="1"/>
            <a:r>
              <a:rPr lang="en-US" altLang="zh-CN">
                <a:latin typeface="Trebuchet MS" charset="0"/>
                <a:ea typeface="MS PGothic" charset="-128"/>
              </a:rPr>
              <a:t>E.g., describes the fields in the database; how the database is organized</a:t>
            </a:r>
          </a:p>
          <a:p>
            <a:pPr lvl="1" eaLnBrk="1" hangingPunct="1">
              <a:buFontTx/>
              <a:buNone/>
            </a:pPr>
            <a:endParaRPr lang="en-US" altLang="zh-CN">
              <a:latin typeface="Trebuchet MS" charset="0"/>
              <a:ea typeface="MS PGothic" charset="-128"/>
            </a:endParaRPr>
          </a:p>
          <a:p>
            <a:pPr eaLnBrk="1" hangingPunct="1"/>
            <a:r>
              <a:rPr lang="en-US" altLang="zh-CN">
                <a:latin typeface="Trebuchet MS" charset="0"/>
                <a:ea typeface="MS PGothic" charset="-128"/>
              </a:rPr>
              <a:t>A </a:t>
            </a:r>
            <a:r>
              <a:rPr lang="en-US" altLang="zh-CN">
                <a:solidFill>
                  <a:srgbClr val="FF0000"/>
                </a:solidFill>
                <a:latin typeface="Trebuchet MS" charset="0"/>
                <a:ea typeface="MS PGothic" charset="-128"/>
              </a:rPr>
              <a:t>relational data model </a:t>
            </a:r>
            <a:r>
              <a:rPr lang="en-US" altLang="zh-CN">
                <a:latin typeface="Trebuchet MS" charset="0"/>
                <a:ea typeface="MS PGothic" charset="-128"/>
              </a:rPr>
              <a:t>is the most used data model</a:t>
            </a:r>
          </a:p>
          <a:p>
            <a:pPr lvl="1" eaLnBrk="1" hangingPunct="1"/>
            <a:r>
              <a:rPr lang="en-US" altLang="zh-CN">
                <a:solidFill>
                  <a:srgbClr val="FF0000"/>
                </a:solidFill>
                <a:latin typeface="Trebuchet MS" charset="0"/>
                <a:ea typeface="MS PGothic" charset="-128"/>
              </a:rPr>
              <a:t>Relation,</a:t>
            </a:r>
            <a:r>
              <a:rPr lang="en-US" altLang="zh-CN">
                <a:latin typeface="Trebuchet MS" charset="0"/>
                <a:ea typeface="MS PGothic" charset="-128"/>
              </a:rPr>
              <a:t> a table with rows and columns </a:t>
            </a:r>
          </a:p>
          <a:p>
            <a:pPr lvl="1" eaLnBrk="1" hangingPunct="1"/>
            <a:r>
              <a:rPr lang="en-US" altLang="zh-CN">
                <a:latin typeface="Trebuchet MS" charset="0"/>
                <a:ea typeface="MS PGothic" charset="-128"/>
              </a:rPr>
              <a:t>Every relation has a </a:t>
            </a:r>
            <a:r>
              <a:rPr lang="en-US" altLang="zh-CN">
                <a:solidFill>
                  <a:srgbClr val="FF0000"/>
                </a:solidFill>
                <a:latin typeface="Trebuchet MS" charset="0"/>
                <a:ea typeface="MS PGothic" charset="-128"/>
              </a:rPr>
              <a:t>schema</a:t>
            </a:r>
            <a:r>
              <a:rPr lang="en-US" altLang="zh-CN">
                <a:latin typeface="Trebuchet MS" charset="0"/>
                <a:ea typeface="MS PGothic" charset="-128"/>
              </a:rPr>
              <a:t> which describes the fields in the columns</a:t>
            </a:r>
          </a:p>
        </p:txBody>
      </p:sp>
    </p:spTree>
    <p:extLst>
      <p:ext uri="{BB962C8B-B14F-4D97-AF65-F5344CB8AC3E}">
        <p14:creationId xmlns:p14="http://schemas.microsoft.com/office/powerpoint/2010/main" val="98206163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33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338">
                                            <p:txEl>
                                              <p:pRg st="3" end="3"/>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4338">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338">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33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4"/>
          <p:cNvSpPr>
            <a:spLocks noGrp="1" noChangeArrowheads="1"/>
          </p:cNvSpPr>
          <p:nvPr>
            <p:ph type="title"/>
          </p:nvPr>
        </p:nvSpPr>
        <p:spPr>
          <a:xfrm>
            <a:off x="990600" y="152400"/>
            <a:ext cx="7772400" cy="609600"/>
          </a:xfrm>
          <a:noFill/>
        </p:spPr>
        <p:txBody>
          <a:bodyPr/>
          <a:lstStyle/>
          <a:p>
            <a:pPr eaLnBrk="1" hangingPunct="1"/>
            <a:r>
              <a:rPr lang="en-US" altLang="zh-CN" dirty="0">
                <a:latin typeface="Helvetica" charset="0"/>
                <a:ea typeface="MS PGothic" charset="-128"/>
              </a:rPr>
              <a:t>Example: Course</a:t>
            </a:r>
            <a:r>
              <a:rPr lang="zh-CN" altLang="en-US" dirty="0">
                <a:latin typeface="Helvetica" charset="0"/>
                <a:ea typeface="MS PGothic" charset="-128"/>
              </a:rPr>
              <a:t> </a:t>
            </a:r>
            <a:r>
              <a:rPr lang="en-US" altLang="zh-CN" dirty="0">
                <a:latin typeface="Helvetica" charset="0"/>
                <a:ea typeface="MS PGothic" charset="-128"/>
              </a:rPr>
              <a:t>Database</a:t>
            </a:r>
          </a:p>
        </p:txBody>
      </p:sp>
      <p:sp>
        <p:nvSpPr>
          <p:cNvPr id="45061" name="Rectangle 5"/>
          <p:cNvSpPr>
            <a:spLocks noGrp="1" noChangeArrowheads="1"/>
          </p:cNvSpPr>
          <p:nvPr>
            <p:ph idx="1"/>
          </p:nvPr>
        </p:nvSpPr>
        <p:spPr>
          <a:xfrm>
            <a:off x="0" y="838200"/>
            <a:ext cx="8763000" cy="5334000"/>
          </a:xfrm>
        </p:spPr>
        <p:txBody>
          <a:bodyPr/>
          <a:lstStyle/>
          <a:p>
            <a:pPr marL="469900" indent="-469900" eaLnBrk="1" hangingPunct="1">
              <a:defRPr/>
            </a:pPr>
            <a:r>
              <a:rPr lang="en-US" dirty="0">
                <a:latin typeface="Helvetica" charset="0"/>
              </a:rPr>
              <a:t>Conceptual schema:                  </a:t>
            </a:r>
          </a:p>
          <a:p>
            <a:pPr marL="908050" lvl="1" indent="-436563" eaLnBrk="1" hangingPunct="1">
              <a:buFontTx/>
              <a:buNone/>
              <a:defRPr/>
            </a:pPr>
            <a:r>
              <a:rPr lang="en-US" b="1" i="1" dirty="0">
                <a:latin typeface="Helvetica" charset="0"/>
              </a:rPr>
              <a:t>Students</a:t>
            </a:r>
            <a:r>
              <a:rPr lang="en-US" dirty="0">
                <a:latin typeface="Helvetica" charset="0"/>
              </a:rPr>
              <a:t>(</a:t>
            </a:r>
            <a:r>
              <a:rPr lang="en-US" dirty="0" err="1">
                <a:solidFill>
                  <a:schemeClr val="accent2"/>
                </a:solidFill>
                <a:latin typeface="Helvetica" charset="0"/>
              </a:rPr>
              <a:t>sid</a:t>
            </a:r>
            <a:r>
              <a:rPr lang="en-US" i="1" dirty="0">
                <a:solidFill>
                  <a:schemeClr val="accent2"/>
                </a:solidFill>
                <a:latin typeface="Helvetica" charset="0"/>
              </a:rPr>
              <a:t>: string</a:t>
            </a:r>
            <a:r>
              <a:rPr lang="en-US" i="1" dirty="0">
                <a:latin typeface="Helvetica" charset="0"/>
              </a:rPr>
              <a:t>,</a:t>
            </a:r>
            <a:r>
              <a:rPr lang="en-US" dirty="0">
                <a:latin typeface="Helvetica" charset="0"/>
              </a:rPr>
              <a:t> name</a:t>
            </a:r>
            <a:r>
              <a:rPr lang="en-US" i="1" dirty="0">
                <a:latin typeface="Helvetica" charset="0"/>
              </a:rPr>
              <a:t>: string,</a:t>
            </a:r>
            <a:r>
              <a:rPr lang="en-US" dirty="0">
                <a:latin typeface="Helvetica" charset="0"/>
              </a:rPr>
              <a:t> email</a:t>
            </a:r>
            <a:r>
              <a:rPr lang="en-US" i="1" dirty="0">
                <a:latin typeface="Helvetica" charset="0"/>
              </a:rPr>
              <a:t>: string, </a:t>
            </a:r>
            <a:r>
              <a:rPr lang="en-US" dirty="0">
                <a:latin typeface="Helvetica" charset="0"/>
              </a:rPr>
              <a:t>age</a:t>
            </a:r>
            <a:r>
              <a:rPr lang="en-US" i="1" dirty="0">
                <a:latin typeface="Helvetica" charset="0"/>
              </a:rPr>
              <a:t>: integer,</a:t>
            </a:r>
            <a:br>
              <a:rPr lang="en-US" i="1" dirty="0">
                <a:latin typeface="Helvetica" charset="0"/>
              </a:rPr>
            </a:br>
            <a:r>
              <a:rPr lang="en-US" i="1" dirty="0">
                <a:latin typeface="Helvetica" charset="0"/>
              </a:rPr>
              <a:t>	           </a:t>
            </a:r>
            <a:r>
              <a:rPr lang="en-US" dirty="0" err="1">
                <a:latin typeface="Helvetica" charset="0"/>
              </a:rPr>
              <a:t>gpa</a:t>
            </a:r>
            <a:r>
              <a:rPr lang="en-US" i="1" dirty="0" err="1">
                <a:latin typeface="Helvetica" charset="0"/>
              </a:rPr>
              <a:t>:real</a:t>
            </a:r>
            <a:r>
              <a:rPr lang="en-US" dirty="0">
                <a:latin typeface="Helvetica" charset="0"/>
              </a:rPr>
              <a:t>)</a:t>
            </a:r>
          </a:p>
          <a:p>
            <a:pPr marL="908050" lvl="1" indent="-436563" eaLnBrk="1" hangingPunct="1">
              <a:buFontTx/>
              <a:buNone/>
              <a:defRPr/>
            </a:pPr>
            <a:r>
              <a:rPr lang="en-US" b="1" i="1" dirty="0">
                <a:solidFill>
                  <a:srgbClr val="000000"/>
                </a:solidFill>
                <a:latin typeface="Helvetica" charset="0"/>
              </a:rPr>
              <a:t>Courses</a:t>
            </a:r>
            <a:r>
              <a:rPr lang="en-US" dirty="0">
                <a:latin typeface="Helvetica" charset="0"/>
              </a:rPr>
              <a:t>(</a:t>
            </a:r>
            <a:r>
              <a:rPr lang="en-US" dirty="0">
                <a:solidFill>
                  <a:schemeClr val="accent2"/>
                </a:solidFill>
                <a:latin typeface="Helvetica" charset="0"/>
              </a:rPr>
              <a:t>cid</a:t>
            </a:r>
            <a:r>
              <a:rPr lang="en-US" i="1" dirty="0">
                <a:solidFill>
                  <a:schemeClr val="accent2"/>
                </a:solidFill>
                <a:latin typeface="Helvetica" charset="0"/>
              </a:rPr>
              <a:t>: string</a:t>
            </a:r>
            <a:r>
              <a:rPr lang="en-US" i="1" dirty="0">
                <a:latin typeface="Helvetica" charset="0"/>
              </a:rPr>
              <a:t>, </a:t>
            </a:r>
            <a:r>
              <a:rPr lang="en-US" dirty="0" err="1">
                <a:latin typeface="Helvetica" charset="0"/>
              </a:rPr>
              <a:t>cname</a:t>
            </a:r>
            <a:r>
              <a:rPr lang="en-US" i="1" dirty="0" err="1">
                <a:latin typeface="Helvetica" charset="0"/>
              </a:rPr>
              <a:t>:string</a:t>
            </a:r>
            <a:r>
              <a:rPr lang="en-US" i="1" dirty="0">
                <a:latin typeface="Helvetica" charset="0"/>
              </a:rPr>
              <a:t>,  </a:t>
            </a:r>
            <a:r>
              <a:rPr lang="en-US" dirty="0" err="1">
                <a:latin typeface="Helvetica" charset="0"/>
              </a:rPr>
              <a:t>credits</a:t>
            </a:r>
            <a:r>
              <a:rPr lang="en-US" i="1" dirty="0" err="1">
                <a:latin typeface="Helvetica" charset="0"/>
              </a:rPr>
              <a:t>:integer</a:t>
            </a:r>
            <a:r>
              <a:rPr lang="en-US" dirty="0">
                <a:latin typeface="Helvetica" charset="0"/>
              </a:rPr>
              <a:t>)</a:t>
            </a:r>
            <a:r>
              <a:rPr lang="en-US" i="1" dirty="0">
                <a:latin typeface="Helvetica" charset="0"/>
              </a:rPr>
              <a:t> </a:t>
            </a:r>
          </a:p>
          <a:p>
            <a:pPr marL="908050" lvl="1" indent="-436563" eaLnBrk="1" hangingPunct="1">
              <a:buFontTx/>
              <a:buNone/>
              <a:defRPr/>
            </a:pPr>
            <a:r>
              <a:rPr lang="en-US" b="1" i="1" dirty="0">
                <a:solidFill>
                  <a:srgbClr val="000000"/>
                </a:solidFill>
                <a:latin typeface="Helvetica" charset="0"/>
              </a:rPr>
              <a:t>Enrolled</a:t>
            </a:r>
            <a:r>
              <a:rPr lang="en-US" dirty="0">
                <a:latin typeface="Helvetica" charset="0"/>
              </a:rPr>
              <a:t>(</a:t>
            </a:r>
            <a:r>
              <a:rPr lang="en-US" dirty="0" err="1">
                <a:solidFill>
                  <a:schemeClr val="accent2"/>
                </a:solidFill>
                <a:latin typeface="Helvetica" charset="0"/>
              </a:rPr>
              <a:t>sid</a:t>
            </a:r>
            <a:r>
              <a:rPr lang="en-US" i="1" dirty="0" err="1">
                <a:solidFill>
                  <a:schemeClr val="accent2"/>
                </a:solidFill>
                <a:latin typeface="Helvetica" charset="0"/>
              </a:rPr>
              <a:t>:string</a:t>
            </a:r>
            <a:r>
              <a:rPr lang="en-US" i="1" dirty="0">
                <a:solidFill>
                  <a:schemeClr val="accent2"/>
                </a:solidFill>
                <a:latin typeface="Helvetica" charset="0"/>
              </a:rPr>
              <a:t>, </a:t>
            </a:r>
            <a:r>
              <a:rPr lang="en-US" dirty="0">
                <a:solidFill>
                  <a:schemeClr val="accent2"/>
                </a:solidFill>
                <a:latin typeface="Helvetica" charset="0"/>
              </a:rPr>
              <a:t>cid</a:t>
            </a:r>
            <a:r>
              <a:rPr lang="en-US" i="1" dirty="0">
                <a:solidFill>
                  <a:schemeClr val="accent2"/>
                </a:solidFill>
                <a:latin typeface="Helvetica" charset="0"/>
              </a:rPr>
              <a:t>:string</a:t>
            </a:r>
            <a:r>
              <a:rPr lang="en-US" i="1" dirty="0">
                <a:latin typeface="Helvetica" charset="0"/>
              </a:rPr>
              <a:t>,  </a:t>
            </a:r>
            <a:r>
              <a:rPr lang="en-US" dirty="0" err="1">
                <a:latin typeface="Helvetica" charset="0"/>
              </a:rPr>
              <a:t>grade</a:t>
            </a:r>
            <a:r>
              <a:rPr lang="en-US" i="1" dirty="0" err="1">
                <a:latin typeface="Helvetica" charset="0"/>
              </a:rPr>
              <a:t>:string</a:t>
            </a:r>
            <a:r>
              <a:rPr lang="en-US" dirty="0">
                <a:latin typeface="Helvetica" charset="0"/>
              </a:rPr>
              <a:t>)</a:t>
            </a:r>
            <a:r>
              <a:rPr lang="en-US" i="1" dirty="0">
                <a:latin typeface="Helvetica" charset="0"/>
              </a:rPr>
              <a:t> </a:t>
            </a:r>
          </a:p>
          <a:p>
            <a:pPr marL="908050" lvl="1" indent="-436563" eaLnBrk="1" hangingPunct="1">
              <a:buFontTx/>
              <a:buNone/>
              <a:defRPr/>
            </a:pPr>
            <a:r>
              <a:rPr lang="en-US" i="1" dirty="0">
                <a:latin typeface="Helvetica" charset="0"/>
              </a:rPr>
              <a:t>			FOREIGN KEY </a:t>
            </a:r>
            <a:r>
              <a:rPr lang="en-US" i="1" dirty="0" err="1">
                <a:latin typeface="Helvetica" charset="0"/>
              </a:rPr>
              <a:t>sid</a:t>
            </a:r>
            <a:r>
              <a:rPr lang="en-US" i="1" dirty="0">
                <a:latin typeface="Helvetica" charset="0"/>
              </a:rPr>
              <a:t> REFERENCES Students</a:t>
            </a:r>
          </a:p>
          <a:p>
            <a:pPr marL="908050" lvl="1" indent="-436563" eaLnBrk="1" hangingPunct="1">
              <a:buFontTx/>
              <a:buNone/>
              <a:defRPr/>
            </a:pPr>
            <a:r>
              <a:rPr lang="en-US" i="1" dirty="0">
                <a:latin typeface="Helvetica" charset="0"/>
              </a:rPr>
              <a:t>			FOREIGN KEY </a:t>
            </a:r>
            <a:r>
              <a:rPr lang="en-US" i="1" dirty="0" err="1">
                <a:latin typeface="Helvetica" charset="0"/>
              </a:rPr>
              <a:t>cid</a:t>
            </a:r>
            <a:r>
              <a:rPr lang="en-US" i="1" dirty="0">
                <a:latin typeface="Helvetica" charset="0"/>
              </a:rPr>
              <a:t> REFERENCES Courses</a:t>
            </a:r>
          </a:p>
          <a:p>
            <a:pPr eaLnBrk="1" hangingPunct="1">
              <a:defRPr/>
            </a:pPr>
            <a:endParaRPr lang="en-US" sz="2000" dirty="0">
              <a:latin typeface="Helvetica" charset="0"/>
            </a:endParaRPr>
          </a:p>
        </p:txBody>
      </p:sp>
      <p:sp>
        <p:nvSpPr>
          <p:cNvPr id="17411" name="Footer Placeholder 3"/>
          <p:cNvSpPr>
            <a:spLocks noGrp="1"/>
          </p:cNvSpPr>
          <p:nvPr>
            <p:ph type="ftr" sz="quarter" idx="4294967295"/>
          </p:nvPr>
        </p:nvSpPr>
        <p:spPr bwMode="auto">
          <a:xfrm>
            <a:off x="0" y="6453188"/>
            <a:ext cx="2895600" cy="403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endParaRPr lang="en-US" altLang="zh-CN"/>
          </a:p>
          <a:p>
            <a:pPr eaLnBrk="1" hangingPunct="1"/>
            <a:endParaRPr lang="en-US" altLang="zh-CN">
              <a:solidFill>
                <a:schemeClr val="tx2"/>
              </a:solidFill>
            </a:endParaRPr>
          </a:p>
        </p:txBody>
      </p:sp>
      <p:sp>
        <p:nvSpPr>
          <p:cNvPr id="17412"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endParaRPr lang="zh-CN" altLang="zh-CN"/>
          </a:p>
        </p:txBody>
      </p:sp>
      <p:sp>
        <p:nvSpPr>
          <p:cNvPr id="17413"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endParaRPr lang="zh-CN" altLang="zh-CN"/>
          </a:p>
        </p:txBody>
      </p:sp>
    </p:spTree>
    <p:extLst>
      <p:ext uri="{BB962C8B-B14F-4D97-AF65-F5344CB8AC3E}">
        <p14:creationId xmlns:p14="http://schemas.microsoft.com/office/powerpoint/2010/main" val="277081864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06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506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506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5061">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5061">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06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1"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title"/>
          </p:nvPr>
        </p:nvSpPr>
        <p:spPr>
          <a:xfrm>
            <a:off x="1143000" y="0"/>
            <a:ext cx="7772400" cy="1143000"/>
          </a:xfrm>
          <a:noFill/>
        </p:spPr>
        <p:txBody>
          <a:bodyPr/>
          <a:lstStyle/>
          <a:p>
            <a:pPr eaLnBrk="1" hangingPunct="1"/>
            <a:r>
              <a:rPr lang="en-US" altLang="zh-CN">
                <a:latin typeface="Helvetica" charset="0"/>
                <a:ea typeface="MS PGothic" charset="-128"/>
              </a:rPr>
              <a:t>What is a Database </a:t>
            </a:r>
            <a:r>
              <a:rPr lang="en-US" altLang="zh-CN" u="sng">
                <a:latin typeface="Helvetica" charset="0"/>
                <a:ea typeface="MS PGothic" charset="-128"/>
              </a:rPr>
              <a:t>System</a:t>
            </a:r>
            <a:r>
              <a:rPr lang="en-US" altLang="zh-CN">
                <a:latin typeface="Helvetica" charset="0"/>
                <a:ea typeface="MS PGothic" charset="-128"/>
              </a:rPr>
              <a:t>?</a:t>
            </a:r>
          </a:p>
        </p:txBody>
      </p:sp>
      <p:sp>
        <p:nvSpPr>
          <p:cNvPr id="190467" name="Rectangle 3"/>
          <p:cNvSpPr>
            <a:spLocks noGrp="1" noChangeArrowheads="1"/>
          </p:cNvSpPr>
          <p:nvPr>
            <p:ph idx="1"/>
          </p:nvPr>
        </p:nvSpPr>
        <p:spPr>
          <a:xfrm>
            <a:off x="533400" y="838200"/>
            <a:ext cx="7772400" cy="5562600"/>
          </a:xfrm>
        </p:spPr>
        <p:txBody>
          <a:bodyPr/>
          <a:lstStyle/>
          <a:p>
            <a:pPr lvl="1" eaLnBrk="1" hangingPunct="1">
              <a:buFontTx/>
              <a:buNone/>
            </a:pPr>
            <a:endParaRPr lang="en-US" altLang="zh-CN" sz="2000">
              <a:latin typeface="Helvetica" charset="0"/>
              <a:ea typeface="MS PGothic" charset="-128"/>
            </a:endParaRPr>
          </a:p>
          <a:p>
            <a:pPr eaLnBrk="1" hangingPunct="1"/>
            <a:r>
              <a:rPr lang="en-US" altLang="zh-CN">
                <a:latin typeface="Helvetica" charset="0"/>
                <a:ea typeface="MS PGothic" charset="-128"/>
              </a:rPr>
              <a:t>A</a:t>
            </a:r>
            <a:r>
              <a:rPr lang="en-US" altLang="zh-CN" b="1">
                <a:latin typeface="Helvetica" charset="0"/>
                <a:ea typeface="MS PGothic" charset="-128"/>
              </a:rPr>
              <a:t> Database Management System (DBMS) </a:t>
            </a:r>
            <a:r>
              <a:rPr lang="en-US" altLang="zh-CN">
                <a:latin typeface="Helvetica" charset="0"/>
                <a:ea typeface="MS PGothic" charset="-128"/>
              </a:rPr>
              <a:t>is a software system designed to </a:t>
            </a:r>
            <a:r>
              <a:rPr lang="en-US" altLang="zh-CN">
                <a:solidFill>
                  <a:srgbClr val="FC0128"/>
                </a:solidFill>
                <a:latin typeface="Helvetica" charset="0"/>
                <a:ea typeface="MS PGothic" charset="-128"/>
              </a:rPr>
              <a:t>store, manage, and facilitate access to</a:t>
            </a:r>
            <a:r>
              <a:rPr lang="en-US" altLang="zh-CN">
                <a:latin typeface="Helvetica" charset="0"/>
                <a:ea typeface="MS PGothic" charset="-128"/>
              </a:rPr>
              <a:t> databases.</a:t>
            </a:r>
          </a:p>
          <a:p>
            <a:pPr eaLnBrk="1" hangingPunct="1"/>
            <a:endParaRPr lang="en-US" altLang="zh-CN">
              <a:latin typeface="Helvetica" charset="0"/>
              <a:ea typeface="MS PGothic" charset="-128"/>
            </a:endParaRPr>
          </a:p>
          <a:p>
            <a:pPr eaLnBrk="1" hangingPunct="1"/>
            <a:r>
              <a:rPr lang="en-US" altLang="zh-CN">
                <a:latin typeface="Helvetica" charset="0"/>
                <a:ea typeface="MS PGothic" charset="-128"/>
              </a:rPr>
              <a:t>A DBMS provides:</a:t>
            </a:r>
          </a:p>
          <a:p>
            <a:pPr lvl="1" eaLnBrk="1" hangingPunct="1"/>
            <a:r>
              <a:rPr lang="en-US" altLang="zh-CN">
                <a:latin typeface="Helvetica" charset="0"/>
                <a:ea typeface="MS PGothic" charset="-128"/>
              </a:rPr>
              <a:t>Data Definition Language (DDL)</a:t>
            </a:r>
          </a:p>
          <a:p>
            <a:pPr lvl="2" eaLnBrk="1" hangingPunct="1"/>
            <a:r>
              <a:rPr lang="en-US" altLang="zh-CN">
                <a:latin typeface="Helvetica" charset="0"/>
                <a:ea typeface="MS PGothic" charset="-128"/>
              </a:rPr>
              <a:t>Define relations, schema</a:t>
            </a:r>
          </a:p>
          <a:p>
            <a:pPr lvl="1" eaLnBrk="1" hangingPunct="1"/>
            <a:r>
              <a:rPr lang="en-US" altLang="zh-CN">
                <a:latin typeface="Helvetica" charset="0"/>
                <a:ea typeface="MS PGothic" charset="-128"/>
              </a:rPr>
              <a:t>Data Manipulation Language (DML)</a:t>
            </a:r>
          </a:p>
          <a:p>
            <a:pPr lvl="2" eaLnBrk="1" hangingPunct="1"/>
            <a:r>
              <a:rPr lang="en-US" altLang="zh-CN">
                <a:latin typeface="Helvetica" charset="0"/>
                <a:ea typeface="MS PGothic" charset="-128"/>
              </a:rPr>
              <a:t>Queries – to retrieve, analyze and modify data.</a:t>
            </a:r>
          </a:p>
          <a:p>
            <a:pPr lvl="1" eaLnBrk="1" hangingPunct="1"/>
            <a:r>
              <a:rPr lang="en-US" altLang="zh-CN">
                <a:latin typeface="Helvetica" charset="0"/>
                <a:ea typeface="MS PGothic" charset="-128"/>
              </a:rPr>
              <a:t>Guarantees about durability, concurrency, semantics, etc</a:t>
            </a:r>
          </a:p>
        </p:txBody>
      </p:sp>
      <p:sp>
        <p:nvSpPr>
          <p:cNvPr id="19459" name="Footer Placeholder 3"/>
          <p:cNvSpPr>
            <a:spLocks noGrp="1"/>
          </p:cNvSpPr>
          <p:nvPr>
            <p:ph type="ftr" sz="quarter" idx="4294967295"/>
          </p:nvPr>
        </p:nvSpPr>
        <p:spPr bwMode="auto">
          <a:xfrm>
            <a:off x="0" y="6453188"/>
            <a:ext cx="2895600" cy="403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endParaRPr lang="en-US" altLang="zh-CN"/>
          </a:p>
          <a:p>
            <a:pPr eaLnBrk="1" hangingPunct="1"/>
            <a:endParaRPr lang="en-US" altLang="zh-CN">
              <a:solidFill>
                <a:schemeClr val="tx2"/>
              </a:solidFill>
            </a:endParaRPr>
          </a:p>
        </p:txBody>
      </p:sp>
    </p:spTree>
    <p:extLst>
      <p:ext uri="{BB962C8B-B14F-4D97-AF65-F5344CB8AC3E}">
        <p14:creationId xmlns:p14="http://schemas.microsoft.com/office/powerpoint/2010/main" val="291007354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04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0467">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0467">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0467">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0467">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0467">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046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7"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AutoShape 2"/>
          <p:cNvSpPr>
            <a:spLocks noChangeArrowheads="1"/>
          </p:cNvSpPr>
          <p:nvPr/>
        </p:nvSpPr>
        <p:spPr bwMode="auto">
          <a:xfrm>
            <a:off x="5562600" y="4419600"/>
            <a:ext cx="2514600" cy="1295400"/>
          </a:xfrm>
          <a:prstGeom prst="flowChartMagneticDisk">
            <a:avLst/>
          </a:prstGeom>
          <a:solidFill>
            <a:schemeClr val="accent1"/>
          </a:solidFill>
          <a:ln w="9525">
            <a:solidFill>
              <a:srgbClr val="000000"/>
            </a:solidFill>
            <a:round/>
            <a:headEnd/>
            <a:tailEnd/>
          </a:ln>
        </p:spPr>
        <p:txBody>
          <a:bodyPr wrap="none"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endParaRPr lang="zh-CN" altLang="zh-CN">
              <a:latin typeface="Helvetica" charset="0"/>
            </a:endParaRPr>
          </a:p>
        </p:txBody>
      </p:sp>
      <p:sp>
        <p:nvSpPr>
          <p:cNvPr id="21506" name="Rectangle 4"/>
          <p:cNvSpPr>
            <a:spLocks noGrp="1" noChangeArrowheads="1"/>
          </p:cNvSpPr>
          <p:nvPr>
            <p:ph type="title"/>
          </p:nvPr>
        </p:nvSpPr>
        <p:spPr>
          <a:xfrm>
            <a:off x="1524000" y="228600"/>
            <a:ext cx="7391400" cy="609600"/>
          </a:xfrm>
        </p:spPr>
        <p:txBody>
          <a:bodyPr/>
          <a:lstStyle/>
          <a:p>
            <a:pPr eaLnBrk="1" hangingPunct="1"/>
            <a:r>
              <a:rPr lang="en-US" altLang="zh-CN">
                <a:latin typeface="Helvetica" charset="0"/>
                <a:ea typeface="MS PGothic" charset="-128"/>
              </a:rPr>
              <a:t>Key Concepts: Queries, Query Plans, and Operators</a:t>
            </a:r>
          </a:p>
        </p:txBody>
      </p:sp>
      <p:sp>
        <p:nvSpPr>
          <p:cNvPr id="21507" name="Rectangle 5"/>
          <p:cNvSpPr>
            <a:spLocks noGrp="1" noChangeArrowheads="1"/>
          </p:cNvSpPr>
          <p:nvPr>
            <p:ph idx="1"/>
          </p:nvPr>
        </p:nvSpPr>
        <p:spPr>
          <a:xfrm>
            <a:off x="-152400" y="3819525"/>
            <a:ext cx="4572000" cy="1819275"/>
          </a:xfrm>
        </p:spPr>
        <p:txBody>
          <a:bodyPr/>
          <a:lstStyle/>
          <a:p>
            <a:pPr eaLnBrk="1" hangingPunct="1">
              <a:spcBef>
                <a:spcPct val="10000"/>
              </a:spcBef>
              <a:spcAft>
                <a:spcPct val="5000"/>
              </a:spcAft>
              <a:buFontTx/>
              <a:buNone/>
            </a:pPr>
            <a:r>
              <a:rPr lang="en-US" altLang="zh-CN" sz="2800">
                <a:latin typeface="Helvetica" charset="0"/>
                <a:ea typeface="MS PGothic" charset="-128"/>
              </a:rPr>
              <a:t>   System handles query plan generation &amp; optimization; ensures </a:t>
            </a:r>
            <a:r>
              <a:rPr lang="en-US" altLang="zh-CN" sz="2800">
                <a:solidFill>
                  <a:schemeClr val="hlink"/>
                </a:solidFill>
                <a:latin typeface="Helvetica" charset="0"/>
                <a:ea typeface="MS PGothic" charset="-128"/>
              </a:rPr>
              <a:t>correct </a:t>
            </a:r>
            <a:r>
              <a:rPr lang="en-US" altLang="zh-CN" sz="2800">
                <a:latin typeface="Helvetica" charset="0"/>
                <a:ea typeface="MS PGothic" charset="-128"/>
              </a:rPr>
              <a:t>execution.</a:t>
            </a:r>
            <a:r>
              <a:rPr lang="en-US" altLang="zh-CN" sz="2000">
                <a:latin typeface="Helvetica" charset="0"/>
                <a:ea typeface="MS PGothic" charset="-128"/>
              </a:rPr>
              <a:t> </a:t>
            </a:r>
          </a:p>
        </p:txBody>
      </p:sp>
      <p:sp>
        <p:nvSpPr>
          <p:cNvPr id="103430" name="Rectangle 6"/>
          <p:cNvSpPr>
            <a:spLocks noChangeArrowheads="1"/>
          </p:cNvSpPr>
          <p:nvPr/>
        </p:nvSpPr>
        <p:spPr bwMode="auto">
          <a:xfrm>
            <a:off x="304800" y="1295400"/>
            <a:ext cx="3810000" cy="2286000"/>
          </a:xfrm>
          <a:prstGeom prst="rect">
            <a:avLst/>
          </a:prstGeom>
          <a:solidFill>
            <a:schemeClr val="bg1"/>
          </a:solidFill>
          <a:ln w="9525">
            <a:solidFill>
              <a:srgbClr val="C40B12"/>
            </a:solidFill>
            <a:miter lim="800000"/>
            <a:headEnd/>
            <a:tailEnd/>
          </a:ln>
        </p:spPr>
        <p:txBody>
          <a:bodyPr/>
          <a:lstStyle>
            <a:lvl1pPr marL="342900" indent="-342900" eaLnBrk="0" hangingPunct="0">
              <a:defRPr sz="2400" b="1">
                <a:solidFill>
                  <a:schemeClr val="tx1"/>
                </a:solidFill>
                <a:latin typeface="Comic Sans MS" charset="0"/>
                <a:ea typeface="MS PGothic" charset="-128"/>
              </a:defRPr>
            </a:lvl1pPr>
            <a:lvl2pPr marL="800100" indent="-34290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lvl="1" eaLnBrk="1" hangingPunct="1">
              <a:lnSpc>
                <a:spcPct val="90000"/>
              </a:lnSpc>
              <a:spcBef>
                <a:spcPct val="10000"/>
              </a:spcBef>
              <a:spcAft>
                <a:spcPct val="5000"/>
              </a:spcAft>
            </a:pPr>
            <a:r>
              <a:rPr lang="en-US" altLang="zh-CN" sz="2000">
                <a:latin typeface="Lucida Sans Unicode" charset="0"/>
              </a:rPr>
              <a:t>SELECT sid, name, gpa</a:t>
            </a:r>
          </a:p>
          <a:p>
            <a:pPr lvl="1" eaLnBrk="1" hangingPunct="1">
              <a:lnSpc>
                <a:spcPct val="90000"/>
              </a:lnSpc>
              <a:spcBef>
                <a:spcPct val="10000"/>
              </a:spcBef>
              <a:spcAft>
                <a:spcPct val="5000"/>
              </a:spcAft>
            </a:pPr>
            <a:r>
              <a:rPr lang="en-US" altLang="zh-CN" sz="2000">
                <a:latin typeface="Lucida Sans Unicode" charset="0"/>
              </a:rPr>
              <a:t>FROM Students S</a:t>
            </a:r>
          </a:p>
          <a:p>
            <a:pPr lvl="1" eaLnBrk="1" hangingPunct="1">
              <a:lnSpc>
                <a:spcPct val="90000"/>
              </a:lnSpc>
              <a:spcBef>
                <a:spcPct val="10000"/>
              </a:spcBef>
              <a:spcAft>
                <a:spcPct val="5000"/>
              </a:spcAft>
            </a:pPr>
            <a:r>
              <a:rPr lang="en-US" altLang="zh-CN" sz="2000">
                <a:latin typeface="Lucida Sans Unicode" charset="0"/>
              </a:rPr>
              <a:t>WHERE S.gpa &gt; 3</a:t>
            </a:r>
            <a:endParaRPr lang="en-US" altLang="zh-CN" sz="1800">
              <a:latin typeface="Tahoma" charset="0"/>
            </a:endParaRPr>
          </a:p>
        </p:txBody>
      </p:sp>
      <p:sp>
        <p:nvSpPr>
          <p:cNvPr id="103436" name="Rectangle 12"/>
          <p:cNvSpPr>
            <a:spLocks noChangeArrowheads="1"/>
          </p:cNvSpPr>
          <p:nvPr/>
        </p:nvSpPr>
        <p:spPr bwMode="auto">
          <a:xfrm>
            <a:off x="4572000" y="1295400"/>
            <a:ext cx="4038600" cy="2971800"/>
          </a:xfrm>
          <a:prstGeom prst="rect">
            <a:avLst/>
          </a:prstGeom>
          <a:solidFill>
            <a:schemeClr val="bg1"/>
          </a:solidFill>
          <a:ln w="9525">
            <a:solidFill>
              <a:srgbClr val="800000"/>
            </a:solidFill>
            <a:miter lim="800000"/>
            <a:headEnd/>
            <a:tailEnd/>
          </a:ln>
          <a:effectLst/>
        </p:spPr>
        <p:txBody>
          <a:bodyPr wrap="none" anchor="ctr"/>
          <a:lstStyle/>
          <a:p>
            <a:pPr algn="ctr">
              <a:lnSpc>
                <a:spcPct val="90000"/>
              </a:lnSpc>
              <a:spcBef>
                <a:spcPct val="20000"/>
              </a:spcBef>
              <a:buClr>
                <a:schemeClr val="bg1"/>
              </a:buClr>
              <a:buFont typeface="Times New Roman" charset="0"/>
              <a:buNone/>
              <a:defRPr/>
            </a:pPr>
            <a:endParaRPr lang="en-US">
              <a:effectLst>
                <a:outerShdw blurRad="38100" dist="38100" dir="2700000" algn="tl">
                  <a:srgbClr val="DDDDDD"/>
                </a:outerShdw>
              </a:effectLst>
              <a:latin typeface="Helvetica"/>
              <a:ea typeface="ＭＳ Ｐゴシック" charset="-128"/>
              <a:cs typeface="Helvetica"/>
            </a:endParaRPr>
          </a:p>
        </p:txBody>
      </p:sp>
      <p:sp>
        <p:nvSpPr>
          <p:cNvPr id="103437" name="Text Box 13"/>
          <p:cNvSpPr txBox="1">
            <a:spLocks noChangeArrowheads="1"/>
          </p:cNvSpPr>
          <p:nvPr/>
        </p:nvSpPr>
        <p:spPr bwMode="auto">
          <a:xfrm>
            <a:off x="5867400" y="3581400"/>
            <a:ext cx="1600200" cy="430213"/>
          </a:xfrm>
          <a:prstGeom prst="rect">
            <a:avLst/>
          </a:prstGeom>
          <a:noFill/>
          <a:ln w="9525">
            <a:noFill/>
            <a:miter lim="800000"/>
            <a:headEnd/>
            <a:tailEnd/>
          </a:ln>
          <a:effectLst/>
        </p:spPr>
        <p:txBody>
          <a:bodyPr>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algn="ctr" eaLnBrk="1" hangingPunct="1">
              <a:lnSpc>
                <a:spcPct val="90000"/>
              </a:lnSpc>
              <a:spcBef>
                <a:spcPct val="50000"/>
              </a:spcBef>
              <a:buClr>
                <a:schemeClr val="bg1"/>
              </a:buClr>
              <a:buFont typeface="Times New Roman" charset="0"/>
              <a:buNone/>
            </a:pPr>
            <a:r>
              <a:rPr lang="en-US" altLang="zh-CN">
                <a:solidFill>
                  <a:srgbClr val="C40B12"/>
                </a:solidFill>
                <a:effectLst>
                  <a:outerShdw blurRad="38100" dist="38100" dir="2700000" algn="tl">
                    <a:srgbClr val="C0C0C0"/>
                  </a:outerShdw>
                </a:effectLst>
                <a:latin typeface="Helvetica" charset="0"/>
              </a:rPr>
              <a:t>Students</a:t>
            </a:r>
          </a:p>
        </p:txBody>
      </p:sp>
      <p:sp>
        <p:nvSpPr>
          <p:cNvPr id="103438" name="Text Box 14"/>
          <p:cNvSpPr txBox="1">
            <a:spLocks noChangeArrowheads="1"/>
          </p:cNvSpPr>
          <p:nvPr/>
        </p:nvSpPr>
        <p:spPr bwMode="auto">
          <a:xfrm>
            <a:off x="6137275" y="2667000"/>
            <a:ext cx="1092200" cy="430213"/>
          </a:xfrm>
          <a:prstGeom prst="rect">
            <a:avLst/>
          </a:prstGeom>
          <a:noFill/>
          <a:ln w="9525">
            <a:noFill/>
            <a:miter lim="800000"/>
            <a:headEnd/>
            <a:tailEnd/>
          </a:ln>
          <a:effec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algn="ctr" eaLnBrk="1" hangingPunct="1">
              <a:lnSpc>
                <a:spcPct val="90000"/>
              </a:lnSpc>
              <a:spcBef>
                <a:spcPct val="20000"/>
              </a:spcBef>
              <a:buClr>
                <a:schemeClr val="bg1"/>
              </a:buClr>
              <a:buFont typeface="Times New Roman" charset="0"/>
              <a:buNone/>
            </a:pPr>
            <a:r>
              <a:rPr lang="en-US" altLang="zh-CN">
                <a:effectLst>
                  <a:outerShdw blurRad="38100" dist="38100" dir="2700000" algn="tl">
                    <a:srgbClr val="C0C0C0"/>
                  </a:outerShdw>
                </a:effectLst>
                <a:latin typeface="Helvetica" charset="0"/>
              </a:rPr>
              <a:t>Select</a:t>
            </a:r>
          </a:p>
        </p:txBody>
      </p:sp>
      <p:sp>
        <p:nvSpPr>
          <p:cNvPr id="103439" name="Text Box 15"/>
          <p:cNvSpPr txBox="1">
            <a:spLocks noChangeArrowheads="1"/>
          </p:cNvSpPr>
          <p:nvPr/>
        </p:nvSpPr>
        <p:spPr bwMode="auto">
          <a:xfrm>
            <a:off x="5854700" y="1763713"/>
            <a:ext cx="1689100" cy="369887"/>
          </a:xfrm>
          <a:prstGeom prst="rect">
            <a:avLst/>
          </a:prstGeom>
          <a:noFill/>
          <a:ln w="9525">
            <a:noFill/>
            <a:miter lim="800000"/>
            <a:headEnd/>
            <a:tailEnd/>
          </a:ln>
          <a:effec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37931725" indent="-37474525" eaLnBrk="0" hangingPunct="0">
              <a:defRPr sz="2400" b="1">
                <a:solidFill>
                  <a:schemeClr val="tx1"/>
                </a:solidFill>
                <a:latin typeface="Comic Sans MS" charset="0"/>
                <a:ea typeface="ＭＳ Ｐゴシック" charset="0"/>
              </a:defRPr>
            </a:lvl2pPr>
            <a:lvl3pPr eaLnBrk="0" hangingPunct="0">
              <a:defRPr sz="2400" b="1">
                <a:solidFill>
                  <a:schemeClr val="tx1"/>
                </a:solidFill>
                <a:latin typeface="Comic Sans MS" charset="0"/>
                <a:ea typeface="ＭＳ Ｐゴシック" charset="0"/>
              </a:defRPr>
            </a:lvl3pPr>
            <a:lvl4pPr eaLnBrk="0" hangingPunct="0">
              <a:defRPr sz="2400" b="1">
                <a:solidFill>
                  <a:schemeClr val="tx1"/>
                </a:solidFill>
                <a:latin typeface="Comic Sans MS" charset="0"/>
                <a:ea typeface="ＭＳ Ｐゴシック" charset="0"/>
              </a:defRPr>
            </a:lvl4pPr>
            <a:lvl5pPr eaLnBrk="0" hangingPunct="0">
              <a:defRPr sz="2400" b="1">
                <a:solidFill>
                  <a:schemeClr val="tx1"/>
                </a:solidFill>
                <a:latin typeface="Comic Sans MS" charset="0"/>
                <a:ea typeface="ＭＳ Ｐゴシック" charset="0"/>
              </a:defRPr>
            </a:lvl5pPr>
            <a:lvl6pPr marL="457200" eaLnBrk="0" fontAlgn="base" hangingPunct="0">
              <a:spcBef>
                <a:spcPct val="0"/>
              </a:spcBef>
              <a:spcAft>
                <a:spcPct val="0"/>
              </a:spcAft>
              <a:defRPr sz="2400" b="1">
                <a:solidFill>
                  <a:schemeClr val="tx1"/>
                </a:solidFill>
                <a:latin typeface="Comic Sans MS" charset="0"/>
                <a:ea typeface="ＭＳ Ｐゴシック" charset="0"/>
              </a:defRPr>
            </a:lvl6pPr>
            <a:lvl7pPr marL="914400" eaLnBrk="0" fontAlgn="base" hangingPunct="0">
              <a:spcBef>
                <a:spcPct val="0"/>
              </a:spcBef>
              <a:spcAft>
                <a:spcPct val="0"/>
              </a:spcAft>
              <a:defRPr sz="2400" b="1">
                <a:solidFill>
                  <a:schemeClr val="tx1"/>
                </a:solidFill>
                <a:latin typeface="Comic Sans MS" charset="0"/>
                <a:ea typeface="ＭＳ Ｐゴシック" charset="0"/>
              </a:defRPr>
            </a:lvl7pPr>
            <a:lvl8pPr marL="1371600" eaLnBrk="0" fontAlgn="base" hangingPunct="0">
              <a:spcBef>
                <a:spcPct val="0"/>
              </a:spcBef>
              <a:spcAft>
                <a:spcPct val="0"/>
              </a:spcAft>
              <a:defRPr sz="2400" b="1">
                <a:solidFill>
                  <a:schemeClr val="tx1"/>
                </a:solidFill>
                <a:latin typeface="Comic Sans MS" charset="0"/>
                <a:ea typeface="ＭＳ Ｐゴシック" charset="0"/>
              </a:defRPr>
            </a:lvl8pPr>
            <a:lvl9pPr marL="1828800" eaLnBrk="0" fontAlgn="base" hangingPunct="0">
              <a:spcBef>
                <a:spcPct val="0"/>
              </a:spcBef>
              <a:spcAft>
                <a:spcPct val="0"/>
              </a:spcAft>
              <a:defRPr sz="2400" b="1">
                <a:solidFill>
                  <a:schemeClr val="tx1"/>
                </a:solidFill>
                <a:latin typeface="Comic Sans MS" charset="0"/>
                <a:ea typeface="ＭＳ Ｐゴシック" charset="0"/>
              </a:defRPr>
            </a:lvl9pPr>
          </a:lstStyle>
          <a:p>
            <a:pPr algn="ctr" eaLnBrk="1" hangingPunct="1">
              <a:lnSpc>
                <a:spcPct val="70000"/>
              </a:lnSpc>
              <a:spcBef>
                <a:spcPct val="20000"/>
              </a:spcBef>
              <a:buClr>
                <a:schemeClr val="bg1"/>
              </a:buClr>
              <a:buFont typeface="Times New Roman" charset="0"/>
              <a:buNone/>
              <a:defRPr/>
            </a:pPr>
            <a:r>
              <a:rPr lang="en-US">
                <a:effectLst>
                  <a:outerShdw blurRad="38100" dist="38100" dir="2700000" algn="tl">
                    <a:srgbClr val="DDDDDD"/>
                  </a:outerShdw>
                </a:effectLst>
                <a:latin typeface="Helvetica" charset="0"/>
                <a:cs typeface="Helvetica" charset="0"/>
                <a:sym typeface="Symbol" charset="0"/>
              </a:rPr>
              <a:t>Projection</a:t>
            </a:r>
            <a:endParaRPr lang="en-US">
              <a:effectLst>
                <a:outerShdw blurRad="38100" dist="38100" dir="2700000" algn="tl">
                  <a:srgbClr val="DDDDDD"/>
                </a:outerShdw>
              </a:effectLst>
              <a:latin typeface="Helvetica" charset="0"/>
              <a:cs typeface="Helvetica" charset="0"/>
            </a:endParaRPr>
          </a:p>
        </p:txBody>
      </p:sp>
      <p:sp>
        <p:nvSpPr>
          <p:cNvPr id="21513" name="Line 16"/>
          <p:cNvSpPr>
            <a:spLocks noChangeShapeType="1"/>
          </p:cNvSpPr>
          <p:nvPr/>
        </p:nvSpPr>
        <p:spPr bwMode="auto">
          <a:xfrm>
            <a:off x="6705600" y="3124200"/>
            <a:ext cx="0" cy="457200"/>
          </a:xfrm>
          <a:prstGeom prst="line">
            <a:avLst/>
          </a:prstGeom>
          <a:noFill/>
          <a:ln w="19050">
            <a:solidFill>
              <a:schemeClr val="tx1"/>
            </a:solidFill>
            <a:round/>
            <a:headEnd type="triangle"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14" name="Line 17"/>
          <p:cNvSpPr>
            <a:spLocks noChangeShapeType="1"/>
          </p:cNvSpPr>
          <p:nvPr/>
        </p:nvSpPr>
        <p:spPr bwMode="auto">
          <a:xfrm>
            <a:off x="6705600" y="2209800"/>
            <a:ext cx="0" cy="457200"/>
          </a:xfrm>
          <a:prstGeom prst="line">
            <a:avLst/>
          </a:prstGeom>
          <a:noFill/>
          <a:ln w="19050">
            <a:solidFill>
              <a:schemeClr val="tx1"/>
            </a:solidFill>
            <a:round/>
            <a:headEnd type="triangle"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34" name="Rectangle 10"/>
          <p:cNvSpPr>
            <a:spLocks noChangeArrowheads="1"/>
          </p:cNvSpPr>
          <p:nvPr/>
        </p:nvSpPr>
        <p:spPr bwMode="auto">
          <a:xfrm>
            <a:off x="5638800" y="4800600"/>
            <a:ext cx="2362200" cy="838200"/>
          </a:xfrm>
          <a:prstGeom prst="rect">
            <a:avLst/>
          </a:prstGeom>
          <a:noFill/>
          <a:ln w="9525">
            <a:noFill/>
            <a:miter lim="800000"/>
            <a:headEnd/>
            <a:tailEnd/>
          </a:ln>
          <a:effectLst/>
        </p:spPr>
        <p:txBody>
          <a:bodyPr wrap="none" anchor="ctr"/>
          <a:lstStyle/>
          <a:p>
            <a:pPr marL="182563" algn="ctr">
              <a:lnSpc>
                <a:spcPct val="50000"/>
              </a:lnSpc>
              <a:spcBef>
                <a:spcPct val="20000"/>
              </a:spcBef>
              <a:buClr>
                <a:schemeClr val="bg1"/>
              </a:buClr>
              <a:buFont typeface="Times New Roman" charset="0"/>
              <a:buNone/>
              <a:defRPr/>
            </a:pPr>
            <a:endParaRPr lang="en-US" sz="2000" dirty="0">
              <a:solidFill>
                <a:srgbClr val="000000"/>
              </a:solidFill>
              <a:effectLst>
                <a:outerShdw blurRad="38100" dist="38100" dir="2700000" algn="tl">
                  <a:srgbClr val="DDDDDD"/>
                </a:outerShdw>
              </a:effectLst>
              <a:latin typeface="Helvetica" charset="0"/>
              <a:ea typeface="ＭＳ Ｐゴシック" charset="0"/>
              <a:cs typeface="Helvetica" charset="0"/>
            </a:endParaRPr>
          </a:p>
          <a:p>
            <a:pPr marL="182563" algn="ctr">
              <a:lnSpc>
                <a:spcPct val="50000"/>
              </a:lnSpc>
              <a:spcBef>
                <a:spcPct val="20000"/>
              </a:spcBef>
              <a:buClr>
                <a:schemeClr val="bg1"/>
              </a:buClr>
              <a:buFont typeface="Times New Roman" charset="0"/>
              <a:buNone/>
              <a:defRPr/>
            </a:pPr>
            <a:r>
              <a:rPr lang="en-US" sz="2000" dirty="0">
                <a:solidFill>
                  <a:srgbClr val="000000"/>
                </a:solidFill>
                <a:effectLst>
                  <a:outerShdw blurRad="38100" dist="38100" dir="2700000" algn="tl">
                    <a:srgbClr val="DDDDDD"/>
                  </a:outerShdw>
                </a:effectLst>
                <a:latin typeface="Helvetica" charset="0"/>
                <a:ea typeface="ＭＳ Ｐゴシック" charset="0"/>
                <a:cs typeface="Helvetica" charset="0"/>
              </a:rPr>
              <a:t>Students</a:t>
            </a:r>
          </a:p>
          <a:p>
            <a:pPr marL="182563" algn="ctr">
              <a:lnSpc>
                <a:spcPct val="50000"/>
              </a:lnSpc>
              <a:spcBef>
                <a:spcPct val="20000"/>
              </a:spcBef>
              <a:buClr>
                <a:schemeClr val="bg1"/>
              </a:buClr>
              <a:buFont typeface="Times New Roman" charset="0"/>
              <a:buNone/>
              <a:defRPr/>
            </a:pPr>
            <a:r>
              <a:rPr lang="en-US" sz="2000" dirty="0">
                <a:solidFill>
                  <a:srgbClr val="000000"/>
                </a:solidFill>
                <a:effectLst>
                  <a:outerShdw blurRad="38100" dist="38100" dir="2700000" algn="tl">
                    <a:srgbClr val="DDDDDD"/>
                  </a:outerShdw>
                </a:effectLst>
                <a:latin typeface="Helvetica" charset="0"/>
                <a:ea typeface="ＭＳ Ｐゴシック" charset="0"/>
                <a:cs typeface="Helvetica" charset="0"/>
              </a:rPr>
              <a:t>Courses</a:t>
            </a:r>
          </a:p>
          <a:p>
            <a:pPr marL="182563" algn="ctr">
              <a:lnSpc>
                <a:spcPct val="50000"/>
              </a:lnSpc>
              <a:spcBef>
                <a:spcPct val="20000"/>
              </a:spcBef>
              <a:buClr>
                <a:schemeClr val="bg1"/>
              </a:buClr>
              <a:buFont typeface="Times New Roman" charset="0"/>
              <a:buNone/>
              <a:defRPr/>
            </a:pPr>
            <a:r>
              <a:rPr lang="en-US" sz="2000" dirty="0">
                <a:solidFill>
                  <a:srgbClr val="000000"/>
                </a:solidFill>
                <a:effectLst>
                  <a:outerShdw blurRad="38100" dist="38100" dir="2700000" algn="tl">
                    <a:srgbClr val="DDDDDD"/>
                  </a:outerShdw>
                </a:effectLst>
                <a:latin typeface="Helvetica" charset="0"/>
                <a:ea typeface="ＭＳ Ｐゴシック" charset="0"/>
                <a:cs typeface="Helvetica" charset="0"/>
              </a:rPr>
              <a:t>Enrolled</a:t>
            </a:r>
            <a:endParaRPr lang="en-US" dirty="0">
              <a:effectLst>
                <a:outerShdw blurRad="38100" dist="38100" dir="2700000" algn="tl">
                  <a:srgbClr val="DDDDDD"/>
                </a:outerShdw>
              </a:effectLst>
              <a:latin typeface="Helvetica" charset="0"/>
              <a:ea typeface="ＭＳ Ｐゴシック" charset="0"/>
              <a:cs typeface="Helvetica" charset="0"/>
            </a:endParaRPr>
          </a:p>
        </p:txBody>
      </p:sp>
      <p:sp>
        <p:nvSpPr>
          <p:cNvPr id="45" name="Rectangle 7"/>
          <p:cNvSpPr>
            <a:spLocks noChangeArrowheads="1"/>
          </p:cNvSpPr>
          <p:nvPr/>
        </p:nvSpPr>
        <p:spPr bwMode="auto">
          <a:xfrm>
            <a:off x="1524000" y="5791200"/>
            <a:ext cx="5943600" cy="609600"/>
          </a:xfrm>
          <a:prstGeom prst="rect">
            <a:avLst/>
          </a:prstGeom>
          <a:solidFill>
            <a:srgbClr val="FFFFAA"/>
          </a:solidFill>
          <a:ln w="25400">
            <a:solidFill>
              <a:schemeClr val="tx1"/>
            </a:solidFill>
            <a:round/>
            <a:headEnd type="triangle" w="med" len="med"/>
            <a:tailEnd/>
          </a:ln>
        </p:spPr>
        <p:txBody>
          <a:bodyPr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algn="ctr" eaLnBrk="1" hangingPunct="1"/>
            <a:r>
              <a:rPr lang="en-US" altLang="zh-CN" sz="2800" b="0">
                <a:latin typeface="Helvetica" charset="0"/>
              </a:rPr>
              <a:t>Select all students with GPA &gt; 3.0 </a:t>
            </a:r>
          </a:p>
        </p:txBody>
      </p:sp>
      <p:sp>
        <p:nvSpPr>
          <p:cNvPr id="46" name="Rectangular Callout 45"/>
          <p:cNvSpPr>
            <a:spLocks noChangeArrowheads="1"/>
          </p:cNvSpPr>
          <p:nvPr/>
        </p:nvSpPr>
        <p:spPr bwMode="auto">
          <a:xfrm>
            <a:off x="7391400" y="2438400"/>
            <a:ext cx="1600200" cy="914400"/>
          </a:xfrm>
          <a:prstGeom prst="wedgeRectCallout">
            <a:avLst>
              <a:gd name="adj1" fmla="val -65065"/>
              <a:gd name="adj2" fmla="val -2074"/>
            </a:avLst>
          </a:prstGeom>
          <a:solidFill>
            <a:srgbClr val="FFFFAA"/>
          </a:solidFill>
          <a:ln w="25400">
            <a:solidFill>
              <a:schemeClr val="tx1"/>
            </a:solidFill>
            <a:round/>
            <a:headEnd type="triangle" w="med" len="med"/>
            <a:tailEnd/>
          </a:ln>
        </p:spPr>
        <p:txBody>
          <a:bodyPr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sz="2000" b="0">
                <a:latin typeface="Helvetica" charset="0"/>
              </a:rPr>
              <a:t>Select all students with GPA&gt;3 </a:t>
            </a:r>
          </a:p>
        </p:txBody>
      </p:sp>
      <p:sp>
        <p:nvSpPr>
          <p:cNvPr id="48" name="Rectangular Callout 47"/>
          <p:cNvSpPr>
            <a:spLocks noChangeArrowheads="1"/>
          </p:cNvSpPr>
          <p:nvPr/>
        </p:nvSpPr>
        <p:spPr bwMode="auto">
          <a:xfrm>
            <a:off x="6934200" y="762000"/>
            <a:ext cx="2133600" cy="914400"/>
          </a:xfrm>
          <a:prstGeom prst="wedgeRectCallout">
            <a:avLst>
              <a:gd name="adj1" fmla="val -66917"/>
              <a:gd name="adj2" fmla="val 57648"/>
            </a:avLst>
          </a:prstGeom>
          <a:solidFill>
            <a:srgbClr val="FFFFAA"/>
          </a:solidFill>
          <a:ln w="25400">
            <a:solidFill>
              <a:schemeClr val="tx1"/>
            </a:solidFill>
            <a:round/>
            <a:headEnd type="triangle" w="med" len="med"/>
            <a:tailEnd/>
          </a:ln>
        </p:spPr>
        <p:txBody>
          <a:bodyPr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sz="2000" b="0">
                <a:latin typeface="Helvetica" charset="0"/>
              </a:rPr>
              <a:t>Pick columns:(sid, name, gpa)</a:t>
            </a:r>
          </a:p>
        </p:txBody>
      </p:sp>
    </p:spTree>
    <p:extLst>
      <p:ext uri="{BB962C8B-B14F-4D97-AF65-F5344CB8AC3E}">
        <p14:creationId xmlns:p14="http://schemas.microsoft.com/office/powerpoint/2010/main" val="219608078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3430"/>
                                        </p:tgtEl>
                                        <p:attrNameLst>
                                          <p:attrName>style.visibility</p:attrName>
                                        </p:attrNameLst>
                                      </p:cBhvr>
                                      <p:to>
                                        <p:strVal val="visible"/>
                                      </p:to>
                                    </p:set>
                                    <p:animEffect transition="in" filter="fade">
                                      <p:cBhvr>
                                        <p:cTn id="7" dur="500"/>
                                        <p:tgtEl>
                                          <p:spTgt spid="10343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5"/>
                                        </p:tgtEl>
                                        <p:attrNameLst>
                                          <p:attrName>style.visibility</p:attrName>
                                        </p:attrNameLst>
                                      </p:cBhvr>
                                      <p:to>
                                        <p:strVal val="visible"/>
                                      </p:to>
                                    </p:set>
                                    <p:animEffect transition="in" filter="fade">
                                      <p:cBhvr>
                                        <p:cTn id="10" dur="500"/>
                                        <p:tgtEl>
                                          <p:spTgt spid="45"/>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500"/>
                                        <p:tgtEl>
                                          <p:spTgt spid="4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fade">
                                      <p:cBhvr>
                                        <p:cTn id="20"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30" grpId="0" animBg="1"/>
      <p:bldP spid="45" grpId="0" animBg="1"/>
      <p:bldP spid="46" grpId="0" animBg="1"/>
      <p:bldP spid="4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AutoShape 2"/>
          <p:cNvSpPr>
            <a:spLocks noChangeArrowheads="1"/>
          </p:cNvSpPr>
          <p:nvPr/>
        </p:nvSpPr>
        <p:spPr bwMode="auto">
          <a:xfrm>
            <a:off x="5562600" y="4419600"/>
            <a:ext cx="2514600" cy="1295400"/>
          </a:xfrm>
          <a:prstGeom prst="flowChartMagneticDisk">
            <a:avLst/>
          </a:prstGeom>
          <a:solidFill>
            <a:schemeClr val="accent1"/>
          </a:solidFill>
          <a:ln w="9525">
            <a:solidFill>
              <a:srgbClr val="000000"/>
            </a:solidFill>
            <a:round/>
            <a:headEnd/>
            <a:tailEnd/>
          </a:ln>
        </p:spPr>
        <p:txBody>
          <a:bodyPr wrap="none"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endParaRPr lang="zh-CN" altLang="zh-CN">
              <a:latin typeface="Helvetica" charset="0"/>
            </a:endParaRPr>
          </a:p>
        </p:txBody>
      </p:sp>
      <p:sp>
        <p:nvSpPr>
          <p:cNvPr id="23554" name="Rectangle 4"/>
          <p:cNvSpPr>
            <a:spLocks noGrp="1" noChangeArrowheads="1"/>
          </p:cNvSpPr>
          <p:nvPr>
            <p:ph type="title"/>
          </p:nvPr>
        </p:nvSpPr>
        <p:spPr>
          <a:xfrm>
            <a:off x="1524000" y="228600"/>
            <a:ext cx="7391400" cy="609600"/>
          </a:xfrm>
        </p:spPr>
        <p:txBody>
          <a:bodyPr/>
          <a:lstStyle/>
          <a:p>
            <a:pPr eaLnBrk="1" hangingPunct="1"/>
            <a:r>
              <a:rPr lang="en-US" altLang="zh-CN">
                <a:latin typeface="Helvetica" charset="0"/>
                <a:ea typeface="MS PGothic" charset="-128"/>
              </a:rPr>
              <a:t>Key Concepts: Queries, Query Plans, and Operators</a:t>
            </a:r>
          </a:p>
        </p:txBody>
      </p:sp>
      <p:sp>
        <p:nvSpPr>
          <p:cNvPr id="23555" name="Rectangle 5"/>
          <p:cNvSpPr>
            <a:spLocks noGrp="1" noChangeArrowheads="1"/>
          </p:cNvSpPr>
          <p:nvPr>
            <p:ph idx="1"/>
          </p:nvPr>
        </p:nvSpPr>
        <p:spPr>
          <a:xfrm>
            <a:off x="-152400" y="3819525"/>
            <a:ext cx="4572000" cy="1819275"/>
          </a:xfrm>
        </p:spPr>
        <p:txBody>
          <a:bodyPr/>
          <a:lstStyle/>
          <a:p>
            <a:pPr eaLnBrk="1" hangingPunct="1">
              <a:spcBef>
                <a:spcPct val="10000"/>
              </a:spcBef>
              <a:spcAft>
                <a:spcPct val="5000"/>
              </a:spcAft>
              <a:buFontTx/>
              <a:buNone/>
            </a:pPr>
            <a:r>
              <a:rPr lang="en-US" altLang="zh-CN" sz="2800">
                <a:latin typeface="Helvetica" charset="0"/>
                <a:ea typeface="MS PGothic" charset="-128"/>
              </a:rPr>
              <a:t>   System handles query plan generation &amp; optimization; ensures </a:t>
            </a:r>
            <a:r>
              <a:rPr lang="en-US" altLang="zh-CN" sz="2800">
                <a:solidFill>
                  <a:schemeClr val="hlink"/>
                </a:solidFill>
                <a:latin typeface="Helvetica" charset="0"/>
                <a:ea typeface="MS PGothic" charset="-128"/>
              </a:rPr>
              <a:t>correct </a:t>
            </a:r>
            <a:r>
              <a:rPr lang="en-US" altLang="zh-CN" sz="2800">
                <a:latin typeface="Helvetica" charset="0"/>
                <a:ea typeface="MS PGothic" charset="-128"/>
              </a:rPr>
              <a:t>execution.</a:t>
            </a:r>
            <a:r>
              <a:rPr lang="en-US" altLang="zh-CN" sz="2000">
                <a:latin typeface="Helvetica" charset="0"/>
                <a:ea typeface="MS PGothic" charset="-128"/>
              </a:rPr>
              <a:t> </a:t>
            </a:r>
          </a:p>
        </p:txBody>
      </p:sp>
      <p:sp>
        <p:nvSpPr>
          <p:cNvPr id="103434" name="Rectangle 10"/>
          <p:cNvSpPr>
            <a:spLocks noChangeArrowheads="1"/>
          </p:cNvSpPr>
          <p:nvPr/>
        </p:nvSpPr>
        <p:spPr bwMode="auto">
          <a:xfrm>
            <a:off x="5638800" y="4800600"/>
            <a:ext cx="2362200" cy="838200"/>
          </a:xfrm>
          <a:prstGeom prst="rect">
            <a:avLst/>
          </a:prstGeom>
          <a:noFill/>
          <a:ln w="9525">
            <a:noFill/>
            <a:miter lim="800000"/>
            <a:headEnd/>
            <a:tailEnd/>
          </a:ln>
          <a:effectLst/>
        </p:spPr>
        <p:txBody>
          <a:bodyPr wrap="none" anchor="ctr"/>
          <a:lstStyle/>
          <a:p>
            <a:pPr marL="182563" algn="ctr">
              <a:lnSpc>
                <a:spcPct val="50000"/>
              </a:lnSpc>
              <a:spcBef>
                <a:spcPct val="20000"/>
              </a:spcBef>
              <a:buClr>
                <a:schemeClr val="bg1"/>
              </a:buClr>
              <a:buFont typeface="Times New Roman" charset="0"/>
              <a:buNone/>
              <a:defRPr/>
            </a:pPr>
            <a:endParaRPr lang="en-US" sz="2000" dirty="0">
              <a:solidFill>
                <a:srgbClr val="000000"/>
              </a:solidFill>
              <a:effectLst>
                <a:outerShdw blurRad="38100" dist="38100" dir="2700000" algn="tl">
                  <a:srgbClr val="DDDDDD"/>
                </a:outerShdw>
              </a:effectLst>
              <a:latin typeface="Helvetica" charset="0"/>
              <a:ea typeface="ＭＳ Ｐゴシック" charset="0"/>
              <a:cs typeface="Helvetica" charset="0"/>
            </a:endParaRPr>
          </a:p>
          <a:p>
            <a:pPr marL="182563" algn="ctr">
              <a:lnSpc>
                <a:spcPct val="50000"/>
              </a:lnSpc>
              <a:spcBef>
                <a:spcPct val="20000"/>
              </a:spcBef>
              <a:buClr>
                <a:schemeClr val="bg1"/>
              </a:buClr>
              <a:buFont typeface="Times New Roman" charset="0"/>
              <a:buNone/>
              <a:defRPr/>
            </a:pPr>
            <a:r>
              <a:rPr lang="en-US" sz="2000" dirty="0">
                <a:solidFill>
                  <a:srgbClr val="000000"/>
                </a:solidFill>
                <a:effectLst>
                  <a:outerShdw blurRad="38100" dist="38100" dir="2700000" algn="tl">
                    <a:srgbClr val="DDDDDD"/>
                  </a:outerShdw>
                </a:effectLst>
                <a:latin typeface="Helvetica" charset="0"/>
                <a:ea typeface="ＭＳ Ｐゴシック" charset="0"/>
                <a:cs typeface="Helvetica" charset="0"/>
              </a:rPr>
              <a:t>Students</a:t>
            </a:r>
          </a:p>
          <a:p>
            <a:pPr marL="182563" algn="ctr">
              <a:lnSpc>
                <a:spcPct val="50000"/>
              </a:lnSpc>
              <a:spcBef>
                <a:spcPct val="20000"/>
              </a:spcBef>
              <a:buClr>
                <a:schemeClr val="bg1"/>
              </a:buClr>
              <a:buFont typeface="Times New Roman" charset="0"/>
              <a:buNone/>
              <a:defRPr/>
            </a:pPr>
            <a:r>
              <a:rPr lang="en-US" sz="2000" dirty="0">
                <a:solidFill>
                  <a:srgbClr val="000000"/>
                </a:solidFill>
                <a:effectLst>
                  <a:outerShdw blurRad="38100" dist="38100" dir="2700000" algn="tl">
                    <a:srgbClr val="DDDDDD"/>
                  </a:outerShdw>
                </a:effectLst>
                <a:latin typeface="Helvetica" charset="0"/>
                <a:ea typeface="ＭＳ Ｐゴシック" charset="0"/>
                <a:cs typeface="Helvetica" charset="0"/>
              </a:rPr>
              <a:t>Courses</a:t>
            </a:r>
          </a:p>
          <a:p>
            <a:pPr marL="182563" algn="ctr">
              <a:lnSpc>
                <a:spcPct val="50000"/>
              </a:lnSpc>
              <a:spcBef>
                <a:spcPct val="20000"/>
              </a:spcBef>
              <a:buClr>
                <a:schemeClr val="bg1"/>
              </a:buClr>
              <a:buFont typeface="Times New Roman" charset="0"/>
              <a:buNone/>
              <a:defRPr/>
            </a:pPr>
            <a:r>
              <a:rPr lang="en-US" sz="2000" dirty="0">
                <a:solidFill>
                  <a:srgbClr val="000000"/>
                </a:solidFill>
                <a:effectLst>
                  <a:outerShdw blurRad="38100" dist="38100" dir="2700000" algn="tl">
                    <a:srgbClr val="DDDDDD"/>
                  </a:outerShdw>
                </a:effectLst>
                <a:latin typeface="Helvetica" charset="0"/>
                <a:ea typeface="ＭＳ Ｐゴシック" charset="0"/>
                <a:cs typeface="Helvetica" charset="0"/>
              </a:rPr>
              <a:t>Enrolled</a:t>
            </a:r>
            <a:endParaRPr lang="en-US" dirty="0">
              <a:effectLst>
                <a:outerShdw blurRad="38100" dist="38100" dir="2700000" algn="tl">
                  <a:srgbClr val="DDDDDD"/>
                </a:outerShdw>
              </a:effectLst>
              <a:latin typeface="Helvetica" charset="0"/>
              <a:ea typeface="ＭＳ Ｐゴシック" charset="0"/>
              <a:cs typeface="Helvetica" charset="0"/>
            </a:endParaRPr>
          </a:p>
        </p:txBody>
      </p:sp>
      <p:sp>
        <p:nvSpPr>
          <p:cNvPr id="23557" name="Rectangle 8"/>
          <p:cNvSpPr>
            <a:spLocks noChangeArrowheads="1"/>
          </p:cNvSpPr>
          <p:nvPr/>
        </p:nvSpPr>
        <p:spPr bwMode="auto">
          <a:xfrm>
            <a:off x="304800" y="1295400"/>
            <a:ext cx="3733800" cy="2286000"/>
          </a:xfrm>
          <a:prstGeom prst="rect">
            <a:avLst/>
          </a:prstGeom>
          <a:solidFill>
            <a:schemeClr val="bg1"/>
          </a:solidFill>
          <a:ln w="9525">
            <a:solidFill>
              <a:srgbClr val="C40B12"/>
            </a:solidFill>
            <a:miter lim="800000"/>
            <a:headEnd/>
            <a:tailEnd/>
          </a:ln>
        </p:spPr>
        <p:txBody>
          <a:bodyPr lIns="0" rIns="0" bIns="0"/>
          <a:lstStyle>
            <a:lvl1pPr marL="342900" indent="-342900" eaLnBrk="0" hangingPunct="0">
              <a:defRPr sz="2400" b="1">
                <a:solidFill>
                  <a:schemeClr val="tx1"/>
                </a:solidFill>
                <a:latin typeface="Comic Sans MS" charset="0"/>
                <a:ea typeface="MS PGothic" charset="-128"/>
              </a:defRPr>
            </a:lvl1pPr>
            <a:lvl2pPr marL="800100" indent="-34290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lvl="1" algn="just" eaLnBrk="1" hangingPunct="1">
              <a:lnSpc>
                <a:spcPct val="90000"/>
              </a:lnSpc>
              <a:spcBef>
                <a:spcPct val="10000"/>
              </a:spcBef>
              <a:spcAft>
                <a:spcPct val="5000"/>
              </a:spcAft>
            </a:pPr>
            <a:r>
              <a:rPr lang="en-US" altLang="zh-CN" sz="1800">
                <a:latin typeface="Lucida Sans Unicode" charset="0"/>
              </a:rPr>
              <a:t>SELECT </a:t>
            </a:r>
          </a:p>
          <a:p>
            <a:pPr lvl="1" algn="just" eaLnBrk="1" hangingPunct="1">
              <a:lnSpc>
                <a:spcPct val="90000"/>
              </a:lnSpc>
              <a:spcBef>
                <a:spcPct val="10000"/>
              </a:spcBef>
              <a:spcAft>
                <a:spcPct val="5000"/>
              </a:spcAft>
            </a:pPr>
            <a:r>
              <a:rPr lang="en-US" altLang="zh-CN" sz="1800">
                <a:latin typeface="Lucida Sans Unicode" charset="0"/>
              </a:rPr>
              <a:t>     COUNT DISTINCT (E.sid)</a:t>
            </a:r>
          </a:p>
          <a:p>
            <a:pPr lvl="1" algn="just" eaLnBrk="1" hangingPunct="1">
              <a:lnSpc>
                <a:spcPct val="90000"/>
              </a:lnSpc>
              <a:spcBef>
                <a:spcPct val="10000"/>
              </a:spcBef>
              <a:spcAft>
                <a:spcPct val="5000"/>
              </a:spcAft>
            </a:pPr>
            <a:r>
              <a:rPr lang="en-US" altLang="zh-CN" sz="1800">
                <a:latin typeface="Lucida Sans Unicode" charset="0"/>
              </a:rPr>
              <a:t>FROM Enrolled E, Courses C</a:t>
            </a:r>
          </a:p>
          <a:p>
            <a:pPr lvl="1" algn="just" eaLnBrk="1" hangingPunct="1">
              <a:lnSpc>
                <a:spcPct val="90000"/>
              </a:lnSpc>
              <a:spcBef>
                <a:spcPct val="10000"/>
              </a:spcBef>
              <a:spcAft>
                <a:spcPct val="5000"/>
              </a:spcAft>
            </a:pPr>
            <a:r>
              <a:rPr lang="en-US" altLang="zh-CN" sz="1800">
                <a:latin typeface="Lucida Sans Unicode" charset="0"/>
              </a:rPr>
              <a:t>WHERE  E.cid = C.cid</a:t>
            </a:r>
          </a:p>
          <a:p>
            <a:pPr lvl="1" algn="just" eaLnBrk="1" hangingPunct="1">
              <a:lnSpc>
                <a:spcPct val="90000"/>
              </a:lnSpc>
              <a:spcBef>
                <a:spcPct val="10000"/>
              </a:spcBef>
              <a:spcAft>
                <a:spcPct val="5000"/>
              </a:spcAft>
            </a:pPr>
            <a:r>
              <a:rPr lang="en-US" altLang="zh-CN" sz="1800">
                <a:latin typeface="Lucida Sans Unicode" charset="0"/>
              </a:rPr>
              <a:t>	AND C.credits = 4</a:t>
            </a:r>
            <a:endParaRPr lang="en-US" altLang="zh-CN" sz="1600">
              <a:latin typeface="Tahoma" charset="0"/>
            </a:endParaRPr>
          </a:p>
        </p:txBody>
      </p:sp>
      <p:sp>
        <p:nvSpPr>
          <p:cNvPr id="58" name="Rectangle 28"/>
          <p:cNvSpPr>
            <a:spLocks noChangeArrowheads="1"/>
          </p:cNvSpPr>
          <p:nvPr/>
        </p:nvSpPr>
        <p:spPr bwMode="auto">
          <a:xfrm>
            <a:off x="4267200" y="1260475"/>
            <a:ext cx="4191000" cy="2971800"/>
          </a:xfrm>
          <a:prstGeom prst="rect">
            <a:avLst/>
          </a:prstGeom>
          <a:solidFill>
            <a:schemeClr val="bg1"/>
          </a:solidFill>
          <a:ln w="9525">
            <a:solidFill>
              <a:srgbClr val="800000"/>
            </a:solidFill>
            <a:miter lim="800000"/>
            <a:headEnd/>
            <a:tailEnd/>
          </a:ln>
          <a:effectLst/>
        </p:spPr>
        <p:txBody>
          <a:bodyPr wrap="none" anchor="ctr"/>
          <a:lstStyle/>
          <a:p>
            <a:pPr algn="ctr">
              <a:lnSpc>
                <a:spcPct val="90000"/>
              </a:lnSpc>
              <a:spcBef>
                <a:spcPct val="20000"/>
              </a:spcBef>
              <a:buClr>
                <a:schemeClr val="bg1"/>
              </a:buClr>
              <a:buFont typeface="Times New Roman" charset="0"/>
              <a:buNone/>
              <a:defRPr/>
            </a:pPr>
            <a:endParaRPr lang="en-US">
              <a:effectLst>
                <a:outerShdw blurRad="38100" dist="38100" dir="2700000" algn="tl">
                  <a:srgbClr val="DDDDDD"/>
                </a:outerShdw>
              </a:effectLst>
              <a:latin typeface="Helvetica"/>
              <a:ea typeface="ＭＳ Ｐゴシック" charset="-128"/>
              <a:cs typeface="Helvetica"/>
            </a:endParaRPr>
          </a:p>
        </p:txBody>
      </p:sp>
      <p:sp>
        <p:nvSpPr>
          <p:cNvPr id="61" name="Text Box 30"/>
          <p:cNvSpPr txBox="1">
            <a:spLocks noChangeArrowheads="1"/>
          </p:cNvSpPr>
          <p:nvPr/>
        </p:nvSpPr>
        <p:spPr bwMode="auto">
          <a:xfrm>
            <a:off x="5454650" y="1219200"/>
            <a:ext cx="2252663" cy="430213"/>
          </a:xfrm>
          <a:prstGeom prst="rect">
            <a:avLst/>
          </a:prstGeom>
          <a:noFill/>
          <a:ln w="9525">
            <a:noFill/>
            <a:miter lim="800000"/>
            <a:headEnd/>
            <a:tailEnd/>
          </a:ln>
          <a:effec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algn="ctr" eaLnBrk="1" hangingPunct="1">
              <a:lnSpc>
                <a:spcPct val="90000"/>
              </a:lnSpc>
              <a:spcBef>
                <a:spcPct val="20000"/>
              </a:spcBef>
              <a:buClr>
                <a:schemeClr val="bg1"/>
              </a:buClr>
              <a:buFont typeface="Times New Roman" charset="0"/>
              <a:buNone/>
            </a:pPr>
            <a:r>
              <a:rPr lang="en-US" altLang="zh-CN">
                <a:effectLst>
                  <a:outerShdw blurRad="38100" dist="38100" dir="2700000" algn="tl">
                    <a:srgbClr val="C0C0C0"/>
                  </a:outerShdw>
                </a:effectLst>
                <a:latin typeface="Helvetica" charset="0"/>
              </a:rPr>
              <a:t>Count distinct</a:t>
            </a:r>
          </a:p>
        </p:txBody>
      </p:sp>
      <p:sp>
        <p:nvSpPr>
          <p:cNvPr id="62" name="Text Box 31"/>
          <p:cNvSpPr txBox="1">
            <a:spLocks noChangeArrowheads="1"/>
          </p:cNvSpPr>
          <p:nvPr/>
        </p:nvSpPr>
        <p:spPr bwMode="auto">
          <a:xfrm>
            <a:off x="6046788" y="1931988"/>
            <a:ext cx="1090612" cy="430212"/>
          </a:xfrm>
          <a:prstGeom prst="rect">
            <a:avLst/>
          </a:prstGeom>
          <a:noFill/>
          <a:ln w="9525">
            <a:noFill/>
            <a:miter lim="800000"/>
            <a:headEnd/>
            <a:tailEnd/>
          </a:ln>
          <a:effec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37931725" indent="-37474525" eaLnBrk="0" hangingPunct="0">
              <a:defRPr sz="2400" b="1">
                <a:solidFill>
                  <a:schemeClr val="tx1"/>
                </a:solidFill>
                <a:latin typeface="Comic Sans MS" charset="0"/>
                <a:ea typeface="ＭＳ Ｐゴシック" charset="0"/>
              </a:defRPr>
            </a:lvl2pPr>
            <a:lvl3pPr eaLnBrk="0" hangingPunct="0">
              <a:defRPr sz="2400" b="1">
                <a:solidFill>
                  <a:schemeClr val="tx1"/>
                </a:solidFill>
                <a:latin typeface="Comic Sans MS" charset="0"/>
                <a:ea typeface="ＭＳ Ｐゴシック" charset="0"/>
              </a:defRPr>
            </a:lvl3pPr>
            <a:lvl4pPr eaLnBrk="0" hangingPunct="0">
              <a:defRPr sz="2400" b="1">
                <a:solidFill>
                  <a:schemeClr val="tx1"/>
                </a:solidFill>
                <a:latin typeface="Comic Sans MS" charset="0"/>
                <a:ea typeface="ＭＳ Ｐゴシック" charset="0"/>
              </a:defRPr>
            </a:lvl4pPr>
            <a:lvl5pPr eaLnBrk="0" hangingPunct="0">
              <a:defRPr sz="2400" b="1">
                <a:solidFill>
                  <a:schemeClr val="tx1"/>
                </a:solidFill>
                <a:latin typeface="Comic Sans MS" charset="0"/>
                <a:ea typeface="ＭＳ Ｐゴシック" charset="0"/>
              </a:defRPr>
            </a:lvl5pPr>
            <a:lvl6pPr marL="457200" eaLnBrk="0" fontAlgn="base" hangingPunct="0">
              <a:spcBef>
                <a:spcPct val="0"/>
              </a:spcBef>
              <a:spcAft>
                <a:spcPct val="0"/>
              </a:spcAft>
              <a:defRPr sz="2400" b="1">
                <a:solidFill>
                  <a:schemeClr val="tx1"/>
                </a:solidFill>
                <a:latin typeface="Comic Sans MS" charset="0"/>
                <a:ea typeface="ＭＳ Ｐゴシック" charset="0"/>
              </a:defRPr>
            </a:lvl6pPr>
            <a:lvl7pPr marL="914400" eaLnBrk="0" fontAlgn="base" hangingPunct="0">
              <a:spcBef>
                <a:spcPct val="0"/>
              </a:spcBef>
              <a:spcAft>
                <a:spcPct val="0"/>
              </a:spcAft>
              <a:defRPr sz="2400" b="1">
                <a:solidFill>
                  <a:schemeClr val="tx1"/>
                </a:solidFill>
                <a:latin typeface="Comic Sans MS" charset="0"/>
                <a:ea typeface="ＭＳ Ｐゴシック" charset="0"/>
              </a:defRPr>
            </a:lvl7pPr>
            <a:lvl8pPr marL="1371600" eaLnBrk="0" fontAlgn="base" hangingPunct="0">
              <a:spcBef>
                <a:spcPct val="0"/>
              </a:spcBef>
              <a:spcAft>
                <a:spcPct val="0"/>
              </a:spcAft>
              <a:defRPr sz="2400" b="1">
                <a:solidFill>
                  <a:schemeClr val="tx1"/>
                </a:solidFill>
                <a:latin typeface="Comic Sans MS" charset="0"/>
                <a:ea typeface="ＭＳ Ｐゴシック" charset="0"/>
              </a:defRPr>
            </a:lvl8pPr>
            <a:lvl9pPr marL="1828800" eaLnBrk="0" fontAlgn="base" hangingPunct="0">
              <a:spcBef>
                <a:spcPct val="0"/>
              </a:spcBef>
              <a:spcAft>
                <a:spcPct val="0"/>
              </a:spcAft>
              <a:defRPr sz="2400" b="1">
                <a:solidFill>
                  <a:schemeClr val="tx1"/>
                </a:solidFill>
                <a:latin typeface="Comic Sans MS" charset="0"/>
                <a:ea typeface="ＭＳ Ｐゴシック" charset="0"/>
              </a:defRPr>
            </a:lvl9pPr>
          </a:lstStyle>
          <a:p>
            <a:pPr algn="ctr" eaLnBrk="1" hangingPunct="1">
              <a:lnSpc>
                <a:spcPct val="90000"/>
              </a:lnSpc>
              <a:spcBef>
                <a:spcPct val="20000"/>
              </a:spcBef>
              <a:buClr>
                <a:schemeClr val="bg1"/>
              </a:buClr>
              <a:buFont typeface="Times New Roman" charset="0"/>
              <a:buNone/>
              <a:defRPr/>
            </a:pPr>
            <a:r>
              <a:rPr lang="en-US">
                <a:effectLst>
                  <a:outerShdw blurRad="38100" dist="38100" dir="2700000" algn="tl">
                    <a:srgbClr val="DDDDDD"/>
                  </a:outerShdw>
                </a:effectLst>
                <a:latin typeface="Helvetica" charset="0"/>
                <a:cs typeface="Helvetica" charset="0"/>
                <a:sym typeface="Symbol" charset="0"/>
              </a:rPr>
              <a:t>Select</a:t>
            </a:r>
            <a:endParaRPr lang="en-US">
              <a:effectLst>
                <a:outerShdw blurRad="38100" dist="38100" dir="2700000" algn="tl">
                  <a:srgbClr val="DDDDDD"/>
                </a:outerShdw>
              </a:effectLst>
              <a:latin typeface="Helvetica" charset="0"/>
              <a:cs typeface="Helvetica" charset="0"/>
            </a:endParaRPr>
          </a:p>
        </p:txBody>
      </p:sp>
      <p:sp>
        <p:nvSpPr>
          <p:cNvPr id="23561" name="Line 32"/>
          <p:cNvSpPr>
            <a:spLocks noChangeShapeType="1"/>
          </p:cNvSpPr>
          <p:nvPr/>
        </p:nvSpPr>
        <p:spPr bwMode="auto">
          <a:xfrm>
            <a:off x="6553200" y="2298700"/>
            <a:ext cx="0" cy="304800"/>
          </a:xfrm>
          <a:prstGeom prst="line">
            <a:avLst/>
          </a:prstGeom>
          <a:noFill/>
          <a:ln w="19050">
            <a:solidFill>
              <a:schemeClr val="tx1"/>
            </a:solidFill>
            <a:round/>
            <a:headEnd type="triangle"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 name="Text Box 33"/>
          <p:cNvSpPr txBox="1">
            <a:spLocks noChangeArrowheads="1"/>
          </p:cNvSpPr>
          <p:nvPr/>
        </p:nvSpPr>
        <p:spPr bwMode="auto">
          <a:xfrm>
            <a:off x="4800600" y="3303588"/>
            <a:ext cx="1600200" cy="430212"/>
          </a:xfrm>
          <a:prstGeom prst="rect">
            <a:avLst/>
          </a:prstGeom>
          <a:noFill/>
          <a:ln w="9525">
            <a:noFill/>
            <a:miter lim="800000"/>
            <a:headEnd/>
            <a:tailEnd/>
          </a:ln>
          <a:effectLst/>
        </p:spPr>
        <p:txBody>
          <a:bodyPr>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algn="ctr" eaLnBrk="1" hangingPunct="1">
              <a:lnSpc>
                <a:spcPct val="90000"/>
              </a:lnSpc>
              <a:spcBef>
                <a:spcPct val="50000"/>
              </a:spcBef>
              <a:buClr>
                <a:schemeClr val="bg1"/>
              </a:buClr>
              <a:buFont typeface="Times New Roman" charset="0"/>
              <a:buNone/>
            </a:pPr>
            <a:r>
              <a:rPr lang="en-US" altLang="zh-CN">
                <a:solidFill>
                  <a:srgbClr val="C40B12"/>
                </a:solidFill>
                <a:effectLst>
                  <a:outerShdw blurRad="38100" dist="38100" dir="2700000" algn="tl">
                    <a:srgbClr val="C0C0C0"/>
                  </a:outerShdw>
                </a:effectLst>
                <a:latin typeface="Helvetica" charset="0"/>
              </a:rPr>
              <a:t>Enrolled</a:t>
            </a:r>
          </a:p>
        </p:txBody>
      </p:sp>
      <p:sp>
        <p:nvSpPr>
          <p:cNvPr id="66" name="Text Box 35"/>
          <p:cNvSpPr txBox="1">
            <a:spLocks noChangeArrowheads="1"/>
          </p:cNvSpPr>
          <p:nvPr/>
        </p:nvSpPr>
        <p:spPr bwMode="auto">
          <a:xfrm>
            <a:off x="6183313" y="2533650"/>
            <a:ext cx="817562" cy="430213"/>
          </a:xfrm>
          <a:prstGeom prst="rect">
            <a:avLst/>
          </a:prstGeom>
          <a:noFill/>
          <a:ln w="9525">
            <a:noFill/>
            <a:miter lim="800000"/>
            <a:headEnd/>
            <a:tailEnd/>
          </a:ln>
          <a:effec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algn="ctr" eaLnBrk="1" hangingPunct="1">
              <a:lnSpc>
                <a:spcPct val="90000"/>
              </a:lnSpc>
              <a:spcBef>
                <a:spcPct val="20000"/>
              </a:spcBef>
              <a:buClr>
                <a:schemeClr val="bg1"/>
              </a:buClr>
              <a:buFont typeface="Times New Roman" charset="0"/>
              <a:buNone/>
            </a:pPr>
            <a:r>
              <a:rPr lang="en-US" altLang="zh-CN">
                <a:effectLst>
                  <a:outerShdw blurRad="38100" dist="38100" dir="2700000" algn="tl">
                    <a:srgbClr val="C0C0C0"/>
                  </a:outerShdw>
                </a:effectLst>
                <a:latin typeface="Helvetica" charset="0"/>
              </a:rPr>
              <a:t>Join</a:t>
            </a:r>
          </a:p>
        </p:txBody>
      </p:sp>
      <p:sp>
        <p:nvSpPr>
          <p:cNvPr id="67" name="Text Box 36"/>
          <p:cNvSpPr txBox="1">
            <a:spLocks noChangeArrowheads="1"/>
          </p:cNvSpPr>
          <p:nvPr/>
        </p:nvSpPr>
        <p:spPr bwMode="auto">
          <a:xfrm>
            <a:off x="6629400" y="3303588"/>
            <a:ext cx="1600200" cy="430212"/>
          </a:xfrm>
          <a:prstGeom prst="rect">
            <a:avLst/>
          </a:prstGeom>
          <a:noFill/>
          <a:ln w="9525">
            <a:noFill/>
            <a:miter lim="800000"/>
            <a:headEnd/>
            <a:tailEnd/>
          </a:ln>
          <a:effectLst/>
        </p:spPr>
        <p:txBody>
          <a:bodyPr>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algn="ctr" eaLnBrk="1" hangingPunct="1">
              <a:lnSpc>
                <a:spcPct val="90000"/>
              </a:lnSpc>
              <a:spcBef>
                <a:spcPct val="50000"/>
              </a:spcBef>
              <a:buClr>
                <a:schemeClr val="bg1"/>
              </a:buClr>
              <a:buFont typeface="Times New Roman" charset="0"/>
              <a:buNone/>
            </a:pPr>
            <a:r>
              <a:rPr lang="en-US" altLang="zh-CN">
                <a:solidFill>
                  <a:srgbClr val="C40B12"/>
                </a:solidFill>
                <a:effectLst>
                  <a:outerShdw blurRad="38100" dist="38100" dir="2700000" algn="tl">
                    <a:srgbClr val="C0C0C0"/>
                  </a:outerShdw>
                </a:effectLst>
                <a:latin typeface="Helvetica" charset="0"/>
              </a:rPr>
              <a:t>Courses</a:t>
            </a:r>
          </a:p>
        </p:txBody>
      </p:sp>
      <p:sp>
        <p:nvSpPr>
          <p:cNvPr id="23565" name="Line 37"/>
          <p:cNvSpPr>
            <a:spLocks noChangeShapeType="1"/>
          </p:cNvSpPr>
          <p:nvPr/>
        </p:nvSpPr>
        <p:spPr bwMode="auto">
          <a:xfrm flipH="1">
            <a:off x="5867400" y="2990850"/>
            <a:ext cx="381000" cy="228600"/>
          </a:xfrm>
          <a:prstGeom prst="line">
            <a:avLst/>
          </a:prstGeom>
          <a:noFill/>
          <a:ln w="19050">
            <a:solidFill>
              <a:schemeClr val="tx1"/>
            </a:solidFill>
            <a:round/>
            <a:headEnd type="triangle"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6" name="Line 38"/>
          <p:cNvSpPr>
            <a:spLocks noChangeShapeType="1"/>
          </p:cNvSpPr>
          <p:nvPr/>
        </p:nvSpPr>
        <p:spPr bwMode="auto">
          <a:xfrm>
            <a:off x="6553200" y="1619250"/>
            <a:ext cx="0" cy="381000"/>
          </a:xfrm>
          <a:prstGeom prst="line">
            <a:avLst/>
          </a:prstGeom>
          <a:noFill/>
          <a:ln w="19050">
            <a:solidFill>
              <a:schemeClr val="tx1"/>
            </a:solidFill>
            <a:round/>
            <a:headEnd type="triangle"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7" name="Line 41"/>
          <p:cNvSpPr>
            <a:spLocks noChangeShapeType="1"/>
          </p:cNvSpPr>
          <p:nvPr/>
        </p:nvSpPr>
        <p:spPr bwMode="auto">
          <a:xfrm>
            <a:off x="6705600" y="2990850"/>
            <a:ext cx="381000" cy="228600"/>
          </a:xfrm>
          <a:prstGeom prst="line">
            <a:avLst/>
          </a:prstGeom>
          <a:noFill/>
          <a:ln w="19050">
            <a:solidFill>
              <a:schemeClr val="tx1"/>
            </a:solidFill>
            <a:round/>
            <a:headEnd type="triangle"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8" name="Rectangle 7"/>
          <p:cNvSpPr>
            <a:spLocks noChangeArrowheads="1"/>
          </p:cNvSpPr>
          <p:nvPr/>
        </p:nvSpPr>
        <p:spPr bwMode="auto">
          <a:xfrm>
            <a:off x="1524000" y="5486400"/>
            <a:ext cx="5943600" cy="914400"/>
          </a:xfrm>
          <a:prstGeom prst="rect">
            <a:avLst/>
          </a:prstGeom>
          <a:solidFill>
            <a:srgbClr val="FFFFAA"/>
          </a:solidFill>
          <a:ln w="25400">
            <a:solidFill>
              <a:schemeClr val="tx1"/>
            </a:solidFill>
            <a:round/>
            <a:headEnd type="triangle" w="med" len="med"/>
            <a:tailEnd/>
          </a:ln>
        </p:spPr>
        <p:txBody>
          <a:bodyPr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algn="ctr" eaLnBrk="1" hangingPunct="1"/>
            <a:r>
              <a:rPr lang="en-US" altLang="zh-CN" sz="2800" b="0">
                <a:latin typeface="Helvetica" charset="0"/>
              </a:rPr>
              <a:t>Number of students who take a 4 credit class </a:t>
            </a:r>
          </a:p>
        </p:txBody>
      </p:sp>
      <p:sp>
        <p:nvSpPr>
          <p:cNvPr id="52" name="Rectangular Callout 51"/>
          <p:cNvSpPr>
            <a:spLocks noChangeArrowheads="1"/>
          </p:cNvSpPr>
          <p:nvPr/>
        </p:nvSpPr>
        <p:spPr bwMode="auto">
          <a:xfrm>
            <a:off x="7162800" y="2286000"/>
            <a:ext cx="1676400" cy="914400"/>
          </a:xfrm>
          <a:prstGeom prst="wedgeRectCallout">
            <a:avLst>
              <a:gd name="adj1" fmla="val -63778"/>
              <a:gd name="adj2" fmla="val 519"/>
            </a:avLst>
          </a:prstGeom>
          <a:solidFill>
            <a:srgbClr val="FFFFAA"/>
          </a:solidFill>
          <a:ln w="25400">
            <a:solidFill>
              <a:schemeClr val="tx1"/>
            </a:solidFill>
            <a:round/>
            <a:headEnd type="triangle" w="med" len="med"/>
            <a:tailEnd/>
          </a:ln>
        </p:spPr>
        <p:txBody>
          <a:bodyPr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sz="2000" b="0">
                <a:latin typeface="Helvetica" charset="0"/>
              </a:rPr>
              <a:t>Columns: </a:t>
            </a:r>
          </a:p>
          <a:p>
            <a:pPr eaLnBrk="1" hangingPunct="1"/>
            <a:r>
              <a:rPr lang="en-US" altLang="zh-CN" sz="2000" b="0">
                <a:latin typeface="Helvetica" charset="0"/>
              </a:rPr>
              <a:t>(sid,cid,</a:t>
            </a:r>
          </a:p>
          <a:p>
            <a:pPr eaLnBrk="1" hangingPunct="1"/>
            <a:r>
              <a:rPr lang="en-US" altLang="zh-CN" sz="2000" b="0">
                <a:latin typeface="Helvetica" charset="0"/>
              </a:rPr>
              <a:t>credits,…)</a:t>
            </a:r>
          </a:p>
        </p:txBody>
      </p:sp>
      <p:sp>
        <p:nvSpPr>
          <p:cNvPr id="53" name="Rectangular Callout 52"/>
          <p:cNvSpPr>
            <a:spLocks noChangeArrowheads="1"/>
          </p:cNvSpPr>
          <p:nvPr/>
        </p:nvSpPr>
        <p:spPr bwMode="auto">
          <a:xfrm>
            <a:off x="7315200" y="1600200"/>
            <a:ext cx="1828800" cy="609600"/>
          </a:xfrm>
          <a:prstGeom prst="wedgeRectCallout">
            <a:avLst>
              <a:gd name="adj1" fmla="val -62764"/>
              <a:gd name="adj2" fmla="val 13481"/>
            </a:avLst>
          </a:prstGeom>
          <a:solidFill>
            <a:srgbClr val="FFFFAA"/>
          </a:solidFill>
          <a:ln w="25400">
            <a:solidFill>
              <a:schemeClr val="tx1"/>
            </a:solidFill>
            <a:round/>
            <a:headEnd type="triangle" w="med" len="med"/>
            <a:tailEnd/>
          </a:ln>
        </p:spPr>
        <p:txBody>
          <a:bodyPr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sz="2000" b="0">
                <a:latin typeface="Helvetica" charset="0"/>
              </a:rPr>
              <a:t>Select rows with credits=4</a:t>
            </a:r>
          </a:p>
        </p:txBody>
      </p:sp>
      <p:sp>
        <p:nvSpPr>
          <p:cNvPr id="55" name="Rectangular Callout 54"/>
          <p:cNvSpPr>
            <a:spLocks noChangeArrowheads="1"/>
          </p:cNvSpPr>
          <p:nvPr/>
        </p:nvSpPr>
        <p:spPr bwMode="auto">
          <a:xfrm>
            <a:off x="7239000" y="609600"/>
            <a:ext cx="1828800" cy="609600"/>
          </a:xfrm>
          <a:prstGeom prst="wedgeRectCallout">
            <a:avLst>
              <a:gd name="adj1" fmla="val -63690"/>
              <a:gd name="adj2" fmla="val 63481"/>
            </a:avLst>
          </a:prstGeom>
          <a:solidFill>
            <a:srgbClr val="FFFFAA"/>
          </a:solidFill>
          <a:ln w="25400">
            <a:solidFill>
              <a:schemeClr val="tx1"/>
            </a:solidFill>
            <a:round/>
            <a:headEnd type="triangle" w="med" len="med"/>
            <a:tailEnd/>
          </a:ln>
        </p:spPr>
        <p:txBody>
          <a:bodyPr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sz="2000" b="0">
                <a:latin typeface="Helvetica" charset="0"/>
              </a:rPr>
              <a:t>Count distinct sids</a:t>
            </a:r>
          </a:p>
        </p:txBody>
      </p:sp>
      <p:sp>
        <p:nvSpPr>
          <p:cNvPr id="28" name="Rectangular Callout 27"/>
          <p:cNvSpPr>
            <a:spLocks noChangeArrowheads="1"/>
          </p:cNvSpPr>
          <p:nvPr/>
        </p:nvSpPr>
        <p:spPr bwMode="auto">
          <a:xfrm>
            <a:off x="4800600" y="3886200"/>
            <a:ext cx="1676400" cy="685800"/>
          </a:xfrm>
          <a:prstGeom prst="wedgeRectCallout">
            <a:avLst>
              <a:gd name="adj1" fmla="val -4181"/>
              <a:gd name="adj2" fmla="val -77259"/>
            </a:avLst>
          </a:prstGeom>
          <a:solidFill>
            <a:srgbClr val="FFFFAA"/>
          </a:solidFill>
          <a:ln w="25400">
            <a:solidFill>
              <a:schemeClr val="tx1"/>
            </a:solidFill>
            <a:round/>
            <a:headEnd type="triangle" w="med" len="med"/>
            <a:tailEnd/>
          </a:ln>
        </p:spPr>
        <p:txBody>
          <a:bodyPr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sz="2000" b="0">
                <a:latin typeface="Helvetica" charset="0"/>
              </a:rPr>
              <a:t>Columns: </a:t>
            </a:r>
          </a:p>
          <a:p>
            <a:pPr eaLnBrk="1" hangingPunct="1"/>
            <a:r>
              <a:rPr lang="en-US" altLang="zh-CN" sz="2000" b="0">
                <a:latin typeface="Helvetica" charset="0"/>
              </a:rPr>
              <a:t>(sid,cid,…)</a:t>
            </a:r>
          </a:p>
        </p:txBody>
      </p:sp>
      <p:sp>
        <p:nvSpPr>
          <p:cNvPr id="29" name="Rectangular Callout 28"/>
          <p:cNvSpPr>
            <a:spLocks noChangeArrowheads="1"/>
          </p:cNvSpPr>
          <p:nvPr/>
        </p:nvSpPr>
        <p:spPr bwMode="auto">
          <a:xfrm>
            <a:off x="6934200" y="3886200"/>
            <a:ext cx="1981200" cy="685800"/>
          </a:xfrm>
          <a:prstGeom prst="wedgeRectCallout">
            <a:avLst>
              <a:gd name="adj1" fmla="val -28421"/>
              <a:gd name="adj2" fmla="val -85593"/>
            </a:avLst>
          </a:prstGeom>
          <a:solidFill>
            <a:srgbClr val="FFFFAA"/>
          </a:solidFill>
          <a:ln w="25400">
            <a:solidFill>
              <a:schemeClr val="tx1"/>
            </a:solidFill>
            <a:round/>
            <a:headEnd type="triangle" w="med" len="med"/>
            <a:tailEnd/>
          </a:ln>
        </p:spPr>
        <p:txBody>
          <a:bodyPr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sz="2000" b="0">
                <a:latin typeface="Helvetica" charset="0"/>
              </a:rPr>
              <a:t>Columns: </a:t>
            </a:r>
          </a:p>
          <a:p>
            <a:pPr eaLnBrk="1" hangingPunct="1"/>
            <a:r>
              <a:rPr lang="en-US" altLang="zh-CN" sz="2000" b="0">
                <a:latin typeface="Helvetica" charset="0"/>
              </a:rPr>
              <a:t>(cid,credits,…)</a:t>
            </a:r>
          </a:p>
        </p:txBody>
      </p:sp>
    </p:spTree>
    <p:extLst>
      <p:ext uri="{BB962C8B-B14F-4D97-AF65-F5344CB8AC3E}">
        <p14:creationId xmlns:p14="http://schemas.microsoft.com/office/powerpoint/2010/main" val="86487560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fade">
                                      <p:cBhvr>
                                        <p:cTn id="17" dur="500"/>
                                        <p:tgtEl>
                                          <p:spTgt spid="5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3"/>
                                        </p:tgtEl>
                                        <p:attrNameLst>
                                          <p:attrName>style.visibility</p:attrName>
                                        </p:attrNameLst>
                                      </p:cBhvr>
                                      <p:to>
                                        <p:strVal val="visible"/>
                                      </p:to>
                                    </p:set>
                                    <p:animEffect transition="in" filter="fade">
                                      <p:cBhvr>
                                        <p:cTn id="22" dur="500"/>
                                        <p:tgtEl>
                                          <p:spTgt spid="5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5" grpId="0" animBg="1"/>
      <p:bldP spid="28" grpId="0" animBg="1"/>
      <p:bldP spid="2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557A9E-E4EC-424C-C262-40825BFD1ED5}"/>
              </a:ext>
            </a:extLst>
          </p:cNvPr>
          <p:cNvSpPr>
            <a:spLocks noGrp="1"/>
          </p:cNvSpPr>
          <p:nvPr>
            <p:ph type="title"/>
          </p:nvPr>
        </p:nvSpPr>
        <p:spPr/>
        <p:txBody>
          <a:bodyPr/>
          <a:lstStyle/>
          <a:p>
            <a:r>
              <a:rPr kumimoji="1" lang="en-US" altLang="zh-CN" dirty="0"/>
              <a:t>A</a:t>
            </a:r>
            <a:r>
              <a:rPr kumimoji="1" lang="zh-CN" altLang="en-US" dirty="0"/>
              <a:t> </a:t>
            </a:r>
            <a:r>
              <a:rPr kumimoji="1" lang="en-US" altLang="zh-CN" dirty="0"/>
              <a:t>general</a:t>
            </a:r>
            <a:r>
              <a:rPr kumimoji="1" lang="zh-CN" altLang="en-US" dirty="0"/>
              <a:t> </a:t>
            </a:r>
            <a:r>
              <a:rPr kumimoji="1" lang="en-US" altLang="zh-CN" dirty="0"/>
              <a:t>way</a:t>
            </a:r>
            <a:r>
              <a:rPr kumimoji="1" lang="zh-CN" altLang="en-US" dirty="0"/>
              <a:t> </a:t>
            </a:r>
            <a:r>
              <a:rPr kumimoji="1" lang="en-US" altLang="zh-CN" dirty="0"/>
              <a:t>to</a:t>
            </a:r>
            <a:r>
              <a:rPr kumimoji="1" lang="zh-CN" altLang="en-US" dirty="0"/>
              <a:t> </a:t>
            </a:r>
            <a:r>
              <a:rPr kumimoji="1" lang="en-US" altLang="zh-CN" dirty="0"/>
              <a:t>reliability:</a:t>
            </a:r>
            <a:r>
              <a:rPr kumimoji="1" lang="zh-CN" altLang="en-US" dirty="0"/>
              <a:t> </a:t>
            </a:r>
            <a:r>
              <a:rPr kumimoji="1" lang="en-US" altLang="zh-CN" dirty="0"/>
              <a:t>transactions</a:t>
            </a:r>
            <a:endParaRPr kumimoji="1" lang="zh-CN" altLang="en-US" dirty="0"/>
          </a:p>
        </p:txBody>
      </p:sp>
      <p:sp>
        <p:nvSpPr>
          <p:cNvPr id="3" name="文本占位符 2">
            <a:extLst>
              <a:ext uri="{FF2B5EF4-FFF2-40B4-BE49-F238E27FC236}">
                <a16:creationId xmlns:a16="http://schemas.microsoft.com/office/drawing/2014/main" id="{DDD542CA-E289-6545-515B-B9610609D58F}"/>
              </a:ext>
            </a:extLst>
          </p:cNvPr>
          <p:cNvSpPr>
            <a:spLocks noGrp="1"/>
          </p:cNvSpPr>
          <p:nvPr>
            <p:ph type="body" idx="1"/>
          </p:nvPr>
        </p:nvSpPr>
        <p:spPr/>
        <p:txBody>
          <a:bodyPr/>
          <a:lstStyle/>
          <a:p>
            <a:endParaRPr kumimoji="1" lang="zh-CN" altLang="en-US"/>
          </a:p>
        </p:txBody>
      </p:sp>
    </p:spTree>
    <p:extLst>
      <p:ext uri="{BB962C8B-B14F-4D97-AF65-F5344CB8AC3E}">
        <p14:creationId xmlns:p14="http://schemas.microsoft.com/office/powerpoint/2010/main" val="297482922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a:xfrm>
            <a:off x="1066800" y="0"/>
            <a:ext cx="7772400" cy="1143000"/>
          </a:xfrm>
        </p:spPr>
        <p:txBody>
          <a:bodyPr/>
          <a:lstStyle/>
          <a:p>
            <a:pPr eaLnBrk="1" hangingPunct="1"/>
            <a:r>
              <a:rPr lang="en-US" altLang="zh-CN">
                <a:latin typeface="Helvetica" charset="0"/>
                <a:ea typeface="MS PGothic" charset="-128"/>
              </a:rPr>
              <a:t>Key concept: Transaction</a:t>
            </a:r>
          </a:p>
        </p:txBody>
      </p:sp>
      <p:sp>
        <p:nvSpPr>
          <p:cNvPr id="25602" name="Rectangle 3"/>
          <p:cNvSpPr>
            <a:spLocks noGrp="1" noChangeArrowheads="1"/>
          </p:cNvSpPr>
          <p:nvPr>
            <p:ph idx="1"/>
          </p:nvPr>
        </p:nvSpPr>
        <p:spPr>
          <a:xfrm>
            <a:off x="609600" y="1143000"/>
            <a:ext cx="7924800" cy="2057400"/>
          </a:xfrm>
        </p:spPr>
        <p:txBody>
          <a:bodyPr/>
          <a:lstStyle/>
          <a:p>
            <a:pPr eaLnBrk="1" hangingPunct="1"/>
            <a:r>
              <a:rPr lang="en-US" altLang="zh-CN">
                <a:latin typeface="Helvetica" charset="0"/>
                <a:ea typeface="MS PGothic" charset="-128"/>
              </a:rPr>
              <a:t>An </a:t>
            </a:r>
            <a:r>
              <a:rPr lang="en-US" altLang="zh-CN">
                <a:solidFill>
                  <a:srgbClr val="FC0128"/>
                </a:solidFill>
                <a:latin typeface="Helvetica" charset="0"/>
                <a:ea typeface="MS PGothic" charset="-128"/>
              </a:rPr>
              <a:t>atomic sequence</a:t>
            </a:r>
            <a:r>
              <a:rPr lang="en-US" altLang="zh-CN">
                <a:latin typeface="Helvetica" charset="0"/>
                <a:ea typeface="MS PGothic" charset="-128"/>
              </a:rPr>
              <a:t> of database actions (reads/writes)</a:t>
            </a:r>
          </a:p>
          <a:p>
            <a:pPr eaLnBrk="1" hangingPunct="1"/>
            <a:r>
              <a:rPr lang="en-US" altLang="zh-CN">
                <a:latin typeface="Helvetica" charset="0"/>
                <a:ea typeface="MS PGothic" charset="-128"/>
              </a:rPr>
              <a:t>Takes DB from one </a:t>
            </a:r>
            <a:r>
              <a:rPr lang="en-US" altLang="zh-CN">
                <a:solidFill>
                  <a:srgbClr val="FC0128"/>
                </a:solidFill>
                <a:latin typeface="Helvetica" charset="0"/>
                <a:ea typeface="MS PGothic" charset="-128"/>
              </a:rPr>
              <a:t>consistent state</a:t>
            </a:r>
            <a:r>
              <a:rPr lang="en-US" altLang="zh-CN">
                <a:latin typeface="Helvetica" charset="0"/>
                <a:ea typeface="MS PGothic" charset="-128"/>
              </a:rPr>
              <a:t> to another</a:t>
            </a:r>
          </a:p>
        </p:txBody>
      </p:sp>
      <p:sp>
        <p:nvSpPr>
          <p:cNvPr id="25603" name="AutoShape 4"/>
          <p:cNvSpPr>
            <a:spLocks noChangeArrowheads="1"/>
          </p:cNvSpPr>
          <p:nvPr/>
        </p:nvSpPr>
        <p:spPr bwMode="auto">
          <a:xfrm>
            <a:off x="609600" y="4495800"/>
            <a:ext cx="2819400" cy="1066800"/>
          </a:xfrm>
          <a:prstGeom prst="roundRect">
            <a:avLst>
              <a:gd name="adj" fmla="val 16667"/>
            </a:avLst>
          </a:prstGeom>
          <a:noFill/>
          <a:ln w="2857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endParaRPr lang="zh-CN" altLang="zh-CN" b="0">
              <a:latin typeface="Helvetica" charset="0"/>
            </a:endParaRPr>
          </a:p>
        </p:txBody>
      </p:sp>
      <p:sp>
        <p:nvSpPr>
          <p:cNvPr id="25604" name="Text Box 5"/>
          <p:cNvSpPr txBox="1">
            <a:spLocks noChangeArrowheads="1"/>
          </p:cNvSpPr>
          <p:nvPr/>
        </p:nvSpPr>
        <p:spPr bwMode="auto">
          <a:xfrm>
            <a:off x="762000" y="4813300"/>
            <a:ext cx="25796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b="0">
                <a:latin typeface="Helvetica" charset="0"/>
              </a:rPr>
              <a:t>consistent state 1</a:t>
            </a:r>
            <a:endParaRPr lang="en-US" altLang="zh-CN" b="0">
              <a:solidFill>
                <a:schemeClr val="accent2"/>
              </a:solidFill>
              <a:latin typeface="Helvetica" charset="0"/>
            </a:endParaRPr>
          </a:p>
        </p:txBody>
      </p:sp>
      <p:sp>
        <p:nvSpPr>
          <p:cNvPr id="25605" name="AutoShape 6"/>
          <p:cNvSpPr>
            <a:spLocks noChangeArrowheads="1"/>
          </p:cNvSpPr>
          <p:nvPr/>
        </p:nvSpPr>
        <p:spPr bwMode="auto">
          <a:xfrm>
            <a:off x="5638800" y="4495800"/>
            <a:ext cx="2819400" cy="1066800"/>
          </a:xfrm>
          <a:prstGeom prst="roundRect">
            <a:avLst>
              <a:gd name="adj" fmla="val 16667"/>
            </a:avLst>
          </a:prstGeom>
          <a:noFill/>
          <a:ln w="2857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endParaRPr lang="zh-CN" altLang="zh-CN" b="0">
              <a:latin typeface="Helvetica" charset="0"/>
            </a:endParaRPr>
          </a:p>
        </p:txBody>
      </p:sp>
      <p:sp>
        <p:nvSpPr>
          <p:cNvPr id="25606" name="Text Box 7"/>
          <p:cNvSpPr txBox="1">
            <a:spLocks noChangeArrowheads="1"/>
          </p:cNvSpPr>
          <p:nvPr/>
        </p:nvSpPr>
        <p:spPr bwMode="auto">
          <a:xfrm>
            <a:off x="5791200" y="4813300"/>
            <a:ext cx="25796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b="0">
                <a:latin typeface="Helvetica" charset="0"/>
              </a:rPr>
              <a:t>consistent state 2</a:t>
            </a:r>
            <a:endParaRPr lang="en-US" altLang="zh-CN" b="0">
              <a:solidFill>
                <a:schemeClr val="accent2"/>
              </a:solidFill>
              <a:latin typeface="Helvetica" charset="0"/>
            </a:endParaRPr>
          </a:p>
        </p:txBody>
      </p:sp>
      <p:sp>
        <p:nvSpPr>
          <p:cNvPr id="25607" name="Line 8"/>
          <p:cNvSpPr>
            <a:spLocks noChangeShapeType="1"/>
          </p:cNvSpPr>
          <p:nvPr/>
        </p:nvSpPr>
        <p:spPr bwMode="auto">
          <a:xfrm>
            <a:off x="3429000" y="5029200"/>
            <a:ext cx="2209800" cy="0"/>
          </a:xfrm>
          <a:prstGeom prst="line">
            <a:avLst/>
          </a:prstGeom>
          <a:noFill/>
          <a:ln w="38100">
            <a:solidFill>
              <a:srgbClr val="000000"/>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8" name="Text Box 9"/>
          <p:cNvSpPr txBox="1">
            <a:spLocks noChangeArrowheads="1"/>
          </p:cNvSpPr>
          <p:nvPr/>
        </p:nvSpPr>
        <p:spPr bwMode="auto">
          <a:xfrm>
            <a:off x="3657600" y="4516438"/>
            <a:ext cx="16906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b="0">
                <a:solidFill>
                  <a:srgbClr val="FF0000"/>
                </a:solidFill>
                <a:latin typeface="Helvetica" charset="0"/>
              </a:rPr>
              <a:t>transaction</a:t>
            </a:r>
          </a:p>
        </p:txBody>
      </p:sp>
    </p:spTree>
    <p:extLst>
      <p:ext uri="{BB962C8B-B14F-4D97-AF65-F5344CB8AC3E}">
        <p14:creationId xmlns:p14="http://schemas.microsoft.com/office/powerpoint/2010/main" val="128618601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a:xfrm>
            <a:off x="990600" y="0"/>
            <a:ext cx="7772400" cy="1143000"/>
          </a:xfrm>
        </p:spPr>
        <p:txBody>
          <a:bodyPr/>
          <a:lstStyle/>
          <a:p>
            <a:pPr eaLnBrk="1" hangingPunct="1"/>
            <a:r>
              <a:rPr lang="en-US" altLang="zh-CN" dirty="0">
                <a:latin typeface="Helvetica" charset="0"/>
                <a:ea typeface="MS PGothic" charset="-128"/>
              </a:rPr>
              <a:t>“Consistency”</a:t>
            </a:r>
            <a:r>
              <a:rPr lang="zh-CN" altLang="en-US" dirty="0">
                <a:latin typeface="Helvetica" charset="0"/>
                <a:ea typeface="MS PGothic" charset="-128"/>
              </a:rPr>
              <a:t> </a:t>
            </a:r>
            <a:endParaRPr lang="en-US" altLang="zh-CN" dirty="0">
              <a:latin typeface="Helvetica" charset="0"/>
              <a:ea typeface="MS PGothic" charset="-128"/>
            </a:endParaRPr>
          </a:p>
        </p:txBody>
      </p:sp>
      <p:sp>
        <p:nvSpPr>
          <p:cNvPr id="27650" name="Rectangle 3"/>
          <p:cNvSpPr>
            <a:spLocks noGrp="1" noChangeArrowheads="1"/>
          </p:cNvSpPr>
          <p:nvPr>
            <p:ph idx="1"/>
          </p:nvPr>
        </p:nvSpPr>
        <p:spPr>
          <a:xfrm>
            <a:off x="685800" y="2895600"/>
            <a:ext cx="7772400" cy="3048000"/>
          </a:xfrm>
        </p:spPr>
        <p:txBody>
          <a:bodyPr/>
          <a:lstStyle/>
          <a:p>
            <a:pPr eaLnBrk="1" hangingPunct="1"/>
            <a:r>
              <a:rPr lang="en-US" altLang="zh-CN" sz="2800">
                <a:latin typeface="Helvetica" charset="0"/>
                <a:ea typeface="MS PGothic" charset="-128"/>
              </a:rPr>
              <a:t>Here, </a:t>
            </a:r>
            <a:r>
              <a:rPr lang="en-US" altLang="zh-CN" sz="2800" i="1">
                <a:solidFill>
                  <a:srgbClr val="FC0128"/>
                </a:solidFill>
                <a:latin typeface="Helvetica" charset="0"/>
                <a:ea typeface="MS PGothic" charset="-128"/>
              </a:rPr>
              <a:t>consistency</a:t>
            </a:r>
            <a:r>
              <a:rPr lang="en-US" altLang="zh-CN" sz="2800">
                <a:latin typeface="Helvetica" charset="0"/>
                <a:ea typeface="MS PGothic" charset="-128"/>
              </a:rPr>
              <a:t> is based on our knowledge of banking </a:t>
            </a:r>
            <a:r>
              <a:rPr lang="en-US" altLang="en-US" sz="2800">
                <a:latin typeface="Helvetica" charset="0"/>
                <a:ea typeface="MS PGothic" charset="-128"/>
              </a:rPr>
              <a:t>“</a:t>
            </a:r>
            <a:r>
              <a:rPr lang="en-US" altLang="ja-JP" sz="2800">
                <a:latin typeface="Helvetica" charset="0"/>
                <a:ea typeface="MS PGothic" charset="-128"/>
              </a:rPr>
              <a:t>semantics”</a:t>
            </a:r>
          </a:p>
          <a:p>
            <a:pPr eaLnBrk="1" hangingPunct="1"/>
            <a:r>
              <a:rPr lang="en-US" altLang="zh-CN" sz="2800">
                <a:latin typeface="Helvetica" charset="0"/>
                <a:ea typeface="MS PGothic" charset="-128"/>
              </a:rPr>
              <a:t>In general, up to writer of transaction to ensure transaction preserves consistency</a:t>
            </a:r>
          </a:p>
          <a:p>
            <a:pPr eaLnBrk="1" hangingPunct="1"/>
            <a:r>
              <a:rPr lang="en-US" altLang="zh-CN" sz="2800">
                <a:latin typeface="Helvetica" charset="0"/>
                <a:ea typeface="MS PGothic" charset="-128"/>
              </a:rPr>
              <a:t>DBMS provides (limited) automatic enforcement, via </a:t>
            </a:r>
            <a:r>
              <a:rPr lang="en-US" altLang="zh-CN" sz="2800">
                <a:solidFill>
                  <a:srgbClr val="FC0128"/>
                </a:solidFill>
                <a:latin typeface="Helvetica" charset="0"/>
                <a:ea typeface="MS PGothic" charset="-128"/>
              </a:rPr>
              <a:t>integrity constraints (IC)</a:t>
            </a:r>
            <a:endParaRPr lang="en-US" altLang="zh-CN" sz="2800">
              <a:latin typeface="Helvetica" charset="0"/>
              <a:ea typeface="MS PGothic" charset="-128"/>
            </a:endParaRPr>
          </a:p>
          <a:p>
            <a:pPr lvl="1" eaLnBrk="1" hangingPunct="1"/>
            <a:r>
              <a:rPr lang="en-US" altLang="zh-CN">
                <a:latin typeface="Helvetica" charset="0"/>
                <a:ea typeface="MS PGothic" charset="-128"/>
              </a:rPr>
              <a:t>e.g., balances must be &gt;= 0</a:t>
            </a:r>
          </a:p>
        </p:txBody>
      </p:sp>
      <p:sp>
        <p:nvSpPr>
          <p:cNvPr id="27651" name="AutoShape 4"/>
          <p:cNvSpPr>
            <a:spLocks noChangeArrowheads="1"/>
          </p:cNvSpPr>
          <p:nvPr/>
        </p:nvSpPr>
        <p:spPr bwMode="auto">
          <a:xfrm>
            <a:off x="609600" y="1371600"/>
            <a:ext cx="2819400" cy="1066800"/>
          </a:xfrm>
          <a:prstGeom prst="roundRect">
            <a:avLst>
              <a:gd name="adj" fmla="val 16667"/>
            </a:avLst>
          </a:prstGeom>
          <a:noFill/>
          <a:ln w="2857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endParaRPr lang="zh-CN" altLang="zh-CN" b="0">
              <a:latin typeface="Helvetica" charset="0"/>
            </a:endParaRPr>
          </a:p>
        </p:txBody>
      </p:sp>
      <p:sp>
        <p:nvSpPr>
          <p:cNvPr id="27652" name="Text Box 5"/>
          <p:cNvSpPr txBox="1">
            <a:spLocks noChangeArrowheads="1"/>
          </p:cNvSpPr>
          <p:nvPr/>
        </p:nvSpPr>
        <p:spPr bwMode="auto">
          <a:xfrm>
            <a:off x="827088" y="1524000"/>
            <a:ext cx="225583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b="0">
                <a:latin typeface="Helvetica" charset="0"/>
              </a:rPr>
              <a:t>checking: $200</a:t>
            </a:r>
          </a:p>
          <a:p>
            <a:pPr eaLnBrk="1" hangingPunct="1"/>
            <a:r>
              <a:rPr lang="en-US" altLang="zh-CN" b="0">
                <a:latin typeface="Helvetica" charset="0"/>
              </a:rPr>
              <a:t>savings: $1000</a:t>
            </a:r>
          </a:p>
        </p:txBody>
      </p:sp>
      <p:sp>
        <p:nvSpPr>
          <p:cNvPr id="27653" name="AutoShape 6"/>
          <p:cNvSpPr>
            <a:spLocks noChangeArrowheads="1"/>
          </p:cNvSpPr>
          <p:nvPr/>
        </p:nvSpPr>
        <p:spPr bwMode="auto">
          <a:xfrm>
            <a:off x="5638800" y="1371600"/>
            <a:ext cx="2819400" cy="1066800"/>
          </a:xfrm>
          <a:prstGeom prst="roundRect">
            <a:avLst>
              <a:gd name="adj" fmla="val 16667"/>
            </a:avLst>
          </a:prstGeom>
          <a:noFill/>
          <a:ln w="2857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endParaRPr lang="zh-CN" altLang="zh-CN" b="0">
              <a:latin typeface="Helvetica" charset="0"/>
            </a:endParaRPr>
          </a:p>
        </p:txBody>
      </p:sp>
      <p:sp>
        <p:nvSpPr>
          <p:cNvPr id="27654" name="Line 7"/>
          <p:cNvSpPr>
            <a:spLocks noChangeShapeType="1"/>
          </p:cNvSpPr>
          <p:nvPr/>
        </p:nvSpPr>
        <p:spPr bwMode="auto">
          <a:xfrm>
            <a:off x="3429000" y="1905000"/>
            <a:ext cx="2209800" cy="0"/>
          </a:xfrm>
          <a:prstGeom prst="line">
            <a:avLst/>
          </a:prstGeom>
          <a:noFill/>
          <a:ln w="38100">
            <a:solidFill>
              <a:srgbClr val="000000"/>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5" name="Text Box 8"/>
          <p:cNvSpPr txBox="1">
            <a:spLocks noChangeArrowheads="1"/>
          </p:cNvSpPr>
          <p:nvPr/>
        </p:nvSpPr>
        <p:spPr bwMode="auto">
          <a:xfrm>
            <a:off x="3657600" y="1392238"/>
            <a:ext cx="16906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b="0">
                <a:solidFill>
                  <a:srgbClr val="FF0000"/>
                </a:solidFill>
                <a:latin typeface="Helvetica" charset="0"/>
              </a:rPr>
              <a:t>transaction</a:t>
            </a:r>
          </a:p>
        </p:txBody>
      </p:sp>
      <p:sp>
        <p:nvSpPr>
          <p:cNvPr id="27656" name="Text Box 9"/>
          <p:cNvSpPr txBox="1">
            <a:spLocks noChangeArrowheads="1"/>
          </p:cNvSpPr>
          <p:nvPr/>
        </p:nvSpPr>
        <p:spPr bwMode="auto">
          <a:xfrm>
            <a:off x="5943600" y="1524000"/>
            <a:ext cx="225583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b="0">
                <a:latin typeface="Helvetica" charset="0"/>
              </a:rPr>
              <a:t>checking: $300</a:t>
            </a:r>
          </a:p>
          <a:p>
            <a:pPr eaLnBrk="1" hangingPunct="1"/>
            <a:r>
              <a:rPr lang="en-US" altLang="zh-CN" b="0">
                <a:latin typeface="Helvetica" charset="0"/>
              </a:rPr>
              <a:t>savings: $900</a:t>
            </a:r>
            <a:endParaRPr lang="en-US" altLang="zh-CN" b="0">
              <a:solidFill>
                <a:schemeClr val="accent2"/>
              </a:solidFill>
              <a:latin typeface="Helvetica" charset="0"/>
            </a:endParaRPr>
          </a:p>
        </p:txBody>
      </p:sp>
    </p:spTree>
    <p:extLst>
      <p:ext uri="{BB962C8B-B14F-4D97-AF65-F5344CB8AC3E}">
        <p14:creationId xmlns:p14="http://schemas.microsoft.com/office/powerpoint/2010/main" val="2909044792"/>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p:cNvSpPr>
            <a:spLocks noGrp="1"/>
          </p:cNvSpPr>
          <p:nvPr>
            <p:ph type="title"/>
          </p:nvPr>
        </p:nvSpPr>
        <p:spPr>
          <a:xfrm>
            <a:off x="609600" y="152400"/>
            <a:ext cx="8001000" cy="533400"/>
          </a:xfrm>
        </p:spPr>
        <p:txBody>
          <a:bodyPr>
            <a:normAutofit/>
          </a:bodyPr>
          <a:lstStyle/>
          <a:p>
            <a:r>
              <a:rPr lang="en-US">
                <a:ea typeface="MS PGothic" charset="0"/>
              </a:rPr>
              <a:t>The ACID properties of Transactions</a:t>
            </a:r>
          </a:p>
        </p:txBody>
      </p:sp>
      <p:sp>
        <p:nvSpPr>
          <p:cNvPr id="38914" name="Content Placeholder 2"/>
          <p:cNvSpPr>
            <a:spLocks noGrp="1"/>
          </p:cNvSpPr>
          <p:nvPr>
            <p:ph idx="1"/>
          </p:nvPr>
        </p:nvSpPr>
        <p:spPr>
          <a:xfrm>
            <a:off x="304800" y="762000"/>
            <a:ext cx="8153400" cy="4876800"/>
          </a:xfrm>
        </p:spPr>
        <p:txBody>
          <a:bodyPr>
            <a:noAutofit/>
          </a:bodyPr>
          <a:lstStyle/>
          <a:p>
            <a:pPr>
              <a:lnSpc>
                <a:spcPct val="100000"/>
              </a:lnSpc>
            </a:pPr>
            <a:r>
              <a:rPr lang="en-US" dirty="0">
                <a:solidFill>
                  <a:srgbClr val="FF0000"/>
                </a:solidFill>
                <a:latin typeface="Gill Sans" charset="0"/>
                <a:ea typeface="Gill Sans" charset="0"/>
                <a:cs typeface="Gill Sans" charset="0"/>
              </a:rPr>
              <a:t>Atomicity:</a:t>
            </a:r>
            <a:r>
              <a:rPr lang="en-US" dirty="0">
                <a:latin typeface="Gill Sans" charset="0"/>
                <a:ea typeface="Gill Sans" charset="0"/>
                <a:cs typeface="Gill Sans" charset="0"/>
              </a:rPr>
              <a:t> </a:t>
            </a:r>
            <a:r>
              <a:rPr lang="en-US" dirty="0">
                <a:ea typeface="MS PGothic" charset="0"/>
              </a:rPr>
              <a:t>all actions in the transaction happen, or none happen</a:t>
            </a:r>
          </a:p>
          <a:p>
            <a:pPr lvl="2">
              <a:lnSpc>
                <a:spcPct val="100000"/>
              </a:lnSpc>
            </a:pPr>
            <a:endParaRPr lang="en-US" sz="1100" dirty="0">
              <a:ea typeface="MS PGothic" charset="0"/>
            </a:endParaRPr>
          </a:p>
          <a:p>
            <a:pPr>
              <a:lnSpc>
                <a:spcPct val="100000"/>
              </a:lnSpc>
            </a:pPr>
            <a:r>
              <a:rPr lang="en-US" dirty="0">
                <a:solidFill>
                  <a:srgbClr val="FF0000"/>
                </a:solidFill>
                <a:latin typeface="Gill Sans" charset="0"/>
                <a:ea typeface="Gill Sans" charset="0"/>
                <a:cs typeface="Gill Sans" charset="0"/>
              </a:rPr>
              <a:t>Consistency:</a:t>
            </a:r>
            <a:r>
              <a:rPr lang="en-US" dirty="0">
                <a:latin typeface="Gill Sans" charset="0"/>
                <a:ea typeface="Gill Sans" charset="0"/>
                <a:cs typeface="Gill Sans" charset="0"/>
              </a:rPr>
              <a:t> </a:t>
            </a:r>
            <a:r>
              <a:rPr lang="en-US" dirty="0">
                <a:ea typeface="MS PGothic" charset="0"/>
              </a:rPr>
              <a:t>transactions maintain data integrity, e.g.,</a:t>
            </a:r>
          </a:p>
          <a:p>
            <a:pPr lvl="1">
              <a:lnSpc>
                <a:spcPct val="100000"/>
              </a:lnSpc>
            </a:pPr>
            <a:r>
              <a:rPr lang="en-US" sz="2000" dirty="0">
                <a:ea typeface="MS PGothic" charset="0"/>
              </a:rPr>
              <a:t>Balance cannot be negative</a:t>
            </a:r>
          </a:p>
          <a:p>
            <a:pPr lvl="1">
              <a:lnSpc>
                <a:spcPct val="100000"/>
              </a:lnSpc>
            </a:pPr>
            <a:r>
              <a:rPr lang="en-US" sz="2000" dirty="0">
                <a:ea typeface="MS PGothic" charset="0"/>
              </a:rPr>
              <a:t>Cannot reschedule meeting on February 30</a:t>
            </a:r>
          </a:p>
          <a:p>
            <a:pPr lvl="2">
              <a:lnSpc>
                <a:spcPct val="100000"/>
              </a:lnSpc>
            </a:pPr>
            <a:endParaRPr lang="en-US" sz="1100" dirty="0">
              <a:ea typeface="MS PGothic" charset="0"/>
            </a:endParaRPr>
          </a:p>
          <a:p>
            <a:pPr>
              <a:lnSpc>
                <a:spcPct val="100000"/>
              </a:lnSpc>
            </a:pPr>
            <a:r>
              <a:rPr lang="en-US" dirty="0">
                <a:solidFill>
                  <a:srgbClr val="FF0000"/>
                </a:solidFill>
                <a:latin typeface="Gill Sans" charset="0"/>
                <a:ea typeface="Gill Sans" charset="0"/>
                <a:cs typeface="Gill Sans" charset="0"/>
              </a:rPr>
              <a:t>Isolation: </a:t>
            </a:r>
            <a:r>
              <a:rPr lang="en-US" dirty="0">
                <a:ea typeface="MS PGothic" charset="0"/>
              </a:rPr>
              <a:t>execution of one transaction is isolated from that of all others; no problems from concurrency</a:t>
            </a:r>
          </a:p>
          <a:p>
            <a:pPr lvl="2">
              <a:lnSpc>
                <a:spcPct val="100000"/>
              </a:lnSpc>
            </a:pPr>
            <a:endParaRPr lang="en-US" sz="1100" dirty="0">
              <a:ea typeface="MS PGothic" charset="0"/>
            </a:endParaRPr>
          </a:p>
          <a:p>
            <a:pPr>
              <a:lnSpc>
                <a:spcPct val="100000"/>
              </a:lnSpc>
            </a:pPr>
            <a:r>
              <a:rPr lang="en-US" dirty="0">
                <a:solidFill>
                  <a:srgbClr val="FF0000"/>
                </a:solidFill>
                <a:latin typeface="Gill Sans" charset="0"/>
                <a:ea typeface="Gill Sans" charset="0"/>
                <a:cs typeface="Gill Sans" charset="0"/>
              </a:rPr>
              <a:t>Durability: </a:t>
            </a:r>
            <a:r>
              <a:rPr lang="en-US" dirty="0">
                <a:ea typeface="MS PGothic" charset="0"/>
              </a:rPr>
              <a:t>if a transaction commits, its effects persist despite crashes</a:t>
            </a:r>
          </a:p>
        </p:txBody>
      </p:sp>
    </p:spTree>
    <p:extLst>
      <p:ext uri="{BB962C8B-B14F-4D97-AF65-F5344CB8AC3E}">
        <p14:creationId xmlns:p14="http://schemas.microsoft.com/office/powerpoint/2010/main" val="2821757756"/>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91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89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9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914">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8914">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891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p:cNvSpPr>
            <a:spLocks noGrp="1"/>
          </p:cNvSpPr>
          <p:nvPr>
            <p:ph type="title"/>
          </p:nvPr>
        </p:nvSpPr>
        <p:spPr>
          <a:xfrm>
            <a:off x="1066800" y="0"/>
            <a:ext cx="7772400" cy="838200"/>
          </a:xfrm>
        </p:spPr>
        <p:txBody>
          <a:bodyPr/>
          <a:lstStyle/>
          <a:p>
            <a:pPr eaLnBrk="1" hangingPunct="1"/>
            <a:r>
              <a:rPr lang="en-US" altLang="zh-CN" dirty="0">
                <a:latin typeface="Tahoma" charset="0"/>
                <a:ea typeface="MS PGothic" charset="-128"/>
              </a:rPr>
              <a:t>Database</a:t>
            </a:r>
            <a:r>
              <a:rPr lang="zh-CN" altLang="en-US" dirty="0">
                <a:latin typeface="Tahoma" charset="0"/>
                <a:ea typeface="MS PGothic" charset="-128"/>
              </a:rPr>
              <a:t> </a:t>
            </a:r>
            <a:r>
              <a:rPr lang="en-US" altLang="zh-CN" dirty="0">
                <a:latin typeface="Tahoma" charset="0"/>
                <a:ea typeface="MS PGothic" charset="-128"/>
              </a:rPr>
              <a:t>functionality:</a:t>
            </a:r>
            <a:r>
              <a:rPr lang="zh-CN" altLang="en-US" dirty="0">
                <a:latin typeface="Tahoma" charset="0"/>
                <a:ea typeface="MS PGothic" charset="-128"/>
              </a:rPr>
              <a:t> </a:t>
            </a:r>
            <a:r>
              <a:rPr lang="en-US" altLang="zh-CN" dirty="0">
                <a:latin typeface="Tahoma" charset="0"/>
                <a:ea typeface="MS PGothic" charset="-128"/>
              </a:rPr>
              <a:t>group</a:t>
            </a:r>
            <a:r>
              <a:rPr lang="zh-CN" altLang="en-US" dirty="0">
                <a:latin typeface="Tahoma" charset="0"/>
                <a:ea typeface="MS PGothic" charset="-128"/>
              </a:rPr>
              <a:t> </a:t>
            </a:r>
            <a:r>
              <a:rPr lang="en-US" altLang="zh-CN" dirty="0">
                <a:latin typeface="Tahoma" charset="0"/>
                <a:ea typeface="MS PGothic" charset="-128"/>
              </a:rPr>
              <a:t>any</a:t>
            </a:r>
            <a:r>
              <a:rPr lang="zh-CN" altLang="en-US" dirty="0">
                <a:latin typeface="Tahoma" charset="0"/>
                <a:ea typeface="MS PGothic" charset="-128"/>
              </a:rPr>
              <a:t> </a:t>
            </a:r>
            <a:r>
              <a:rPr lang="en-US" altLang="zh-CN" dirty="0">
                <a:latin typeface="Tahoma" charset="0"/>
                <a:ea typeface="MS PGothic" charset="-128"/>
              </a:rPr>
              <a:t>sequences</a:t>
            </a:r>
            <a:r>
              <a:rPr lang="zh-CN" altLang="en-US" dirty="0">
                <a:latin typeface="Tahoma" charset="0"/>
                <a:ea typeface="MS PGothic" charset="-128"/>
              </a:rPr>
              <a:t> </a:t>
            </a:r>
            <a:r>
              <a:rPr lang="en-US" altLang="zh-CN" dirty="0">
                <a:latin typeface="Tahoma" charset="0"/>
                <a:ea typeface="MS PGothic" charset="-128"/>
              </a:rPr>
              <a:t>as</a:t>
            </a:r>
            <a:r>
              <a:rPr lang="zh-CN" altLang="en-US" dirty="0">
                <a:latin typeface="Tahoma" charset="0"/>
                <a:ea typeface="MS PGothic" charset="-128"/>
              </a:rPr>
              <a:t> </a:t>
            </a:r>
            <a:r>
              <a:rPr lang="en-US" altLang="zh-CN" dirty="0">
                <a:latin typeface="Tahoma" charset="0"/>
                <a:ea typeface="MS PGothic" charset="-128"/>
              </a:rPr>
              <a:t>a</a:t>
            </a:r>
            <a:r>
              <a:rPr lang="zh-CN" altLang="en-US" dirty="0">
                <a:latin typeface="Tahoma" charset="0"/>
                <a:ea typeface="MS PGothic" charset="-128"/>
              </a:rPr>
              <a:t> </a:t>
            </a:r>
            <a:r>
              <a:rPr lang="en-US" altLang="zh-CN" dirty="0">
                <a:latin typeface="Tahoma" charset="0"/>
                <a:ea typeface="MS PGothic" charset="-128"/>
              </a:rPr>
              <a:t>transaction</a:t>
            </a:r>
          </a:p>
        </p:txBody>
      </p:sp>
      <p:sp>
        <p:nvSpPr>
          <p:cNvPr id="37890" name="Content Placeholder 2"/>
          <p:cNvSpPr>
            <a:spLocks noGrp="1"/>
          </p:cNvSpPr>
          <p:nvPr>
            <p:ph idx="1"/>
          </p:nvPr>
        </p:nvSpPr>
        <p:spPr>
          <a:xfrm>
            <a:off x="609600" y="1219200"/>
            <a:ext cx="7848600" cy="4572000"/>
          </a:xfrm>
        </p:spPr>
        <p:txBody>
          <a:bodyPr/>
          <a:lstStyle/>
          <a:p>
            <a:pPr eaLnBrk="1" hangingPunct="1">
              <a:spcAft>
                <a:spcPts val="1200"/>
              </a:spcAft>
              <a:buFontTx/>
              <a:buNone/>
            </a:pPr>
            <a:r>
              <a:rPr lang="en-US" altLang="zh-CN">
                <a:latin typeface="Courier" charset="0"/>
                <a:ea typeface="MS PGothic" charset="-128"/>
              </a:rPr>
              <a:t>UPDATE accounts SET balance = balance - 100.00 WHERE name = 'Alice'; </a:t>
            </a:r>
          </a:p>
          <a:p>
            <a:pPr eaLnBrk="1" hangingPunct="1">
              <a:spcAft>
                <a:spcPts val="1200"/>
              </a:spcAft>
              <a:buFontTx/>
              <a:buNone/>
            </a:pPr>
            <a:r>
              <a:rPr lang="en-US" altLang="zh-CN">
                <a:latin typeface="Courier" charset="0"/>
                <a:ea typeface="MS PGothic" charset="-128"/>
              </a:rPr>
              <a:t>UPDATE branches SET balance = balance - 100.00 WHERE name = (SELECT branch_name FROM accounts WHERE name = 'Alice');</a:t>
            </a:r>
          </a:p>
          <a:p>
            <a:pPr eaLnBrk="1" hangingPunct="1">
              <a:spcAft>
                <a:spcPts val="1200"/>
              </a:spcAft>
              <a:buFontTx/>
              <a:buNone/>
            </a:pPr>
            <a:r>
              <a:rPr lang="en-US" altLang="zh-CN">
                <a:latin typeface="Courier" charset="0"/>
                <a:ea typeface="MS PGothic" charset="-128"/>
              </a:rPr>
              <a:t>UPDATE accounts SET balance = balance + 100.00 WHERE name = 'Bob'; </a:t>
            </a:r>
          </a:p>
          <a:p>
            <a:pPr eaLnBrk="1" hangingPunct="1">
              <a:buFontTx/>
              <a:buNone/>
            </a:pPr>
            <a:r>
              <a:rPr lang="en-US" altLang="zh-CN">
                <a:latin typeface="Courier" charset="0"/>
                <a:ea typeface="MS PGothic" charset="-128"/>
              </a:rPr>
              <a:t>UPDATE branches SET balance = balance + 100.00 WHERE name = (SELECT branch_name FROM accounts WHERE name = 'Bob');</a:t>
            </a:r>
          </a:p>
        </p:txBody>
      </p:sp>
      <p:sp>
        <p:nvSpPr>
          <p:cNvPr id="37891" name="Footer Placeholder 3"/>
          <p:cNvSpPr>
            <a:spLocks noGrp="1"/>
          </p:cNvSpPr>
          <p:nvPr>
            <p:ph type="ftr" sz="quarter" idx="4294967295"/>
          </p:nvPr>
        </p:nvSpPr>
        <p:spPr bwMode="auto">
          <a:xfrm>
            <a:off x="0" y="6453188"/>
            <a:ext cx="2895600" cy="403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endParaRPr lang="en-US" altLang="zh-CN" sz="1200">
              <a:latin typeface="Times New Roman" charset="0"/>
            </a:endParaRPr>
          </a:p>
          <a:p>
            <a:endParaRPr lang="en-US" altLang="zh-CN" sz="1200">
              <a:latin typeface="Times New Roman" charset="0"/>
            </a:endParaRPr>
          </a:p>
        </p:txBody>
      </p:sp>
      <p:sp>
        <p:nvSpPr>
          <p:cNvPr id="5" name="Rectangle 4"/>
          <p:cNvSpPr>
            <a:spLocks noChangeArrowheads="1"/>
          </p:cNvSpPr>
          <p:nvPr/>
        </p:nvSpPr>
        <p:spPr bwMode="auto">
          <a:xfrm>
            <a:off x="457200" y="762000"/>
            <a:ext cx="5540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r>
              <a:rPr lang="en-US" altLang="zh-CN">
                <a:latin typeface="Courier" charset="0"/>
              </a:rPr>
              <a:t>BEGIN;    --BEGIN TRANSACTION</a:t>
            </a:r>
            <a:endParaRPr lang="en-US" altLang="zh-CN"/>
          </a:p>
        </p:txBody>
      </p:sp>
      <p:sp>
        <p:nvSpPr>
          <p:cNvPr id="6" name="Rectangle 5"/>
          <p:cNvSpPr>
            <a:spLocks noChangeArrowheads="1"/>
          </p:cNvSpPr>
          <p:nvPr/>
        </p:nvSpPr>
        <p:spPr bwMode="auto">
          <a:xfrm>
            <a:off x="533400" y="5405438"/>
            <a:ext cx="46180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r>
              <a:rPr lang="en-US" altLang="zh-CN">
                <a:latin typeface="Courier" charset="0"/>
              </a:rPr>
              <a:t>COMMIT;    --COMMIT WORK</a:t>
            </a:r>
            <a:endParaRPr lang="en-US" altLang="zh-CN"/>
          </a:p>
        </p:txBody>
      </p:sp>
      <p:sp>
        <p:nvSpPr>
          <p:cNvPr id="37894" name="Rectangle 7"/>
          <p:cNvSpPr>
            <a:spLocks noChangeArrowheads="1"/>
          </p:cNvSpPr>
          <p:nvPr/>
        </p:nvSpPr>
        <p:spPr bwMode="auto">
          <a:xfrm>
            <a:off x="685800" y="5867400"/>
            <a:ext cx="7848600" cy="609600"/>
          </a:xfrm>
          <a:prstGeom prst="rect">
            <a:avLst/>
          </a:prstGeom>
          <a:solidFill>
            <a:srgbClr val="FFFFAA"/>
          </a:solidFill>
          <a:ln w="25400">
            <a:solidFill>
              <a:schemeClr val="tx1"/>
            </a:solidFill>
            <a:round/>
            <a:headEnd type="triangle" w="med" len="med"/>
            <a:tailEnd/>
          </a:ln>
        </p:spPr>
        <p:txBody>
          <a:bodyPr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algn="ctr" eaLnBrk="1" hangingPunct="1"/>
            <a:r>
              <a:rPr lang="en-US" altLang="zh-CN" b="0">
                <a:latin typeface="Helvetica" charset="0"/>
              </a:rPr>
              <a:t>Transfer $100 from Alice</a:t>
            </a:r>
            <a:r>
              <a:rPr lang="ja-JP" altLang="en-US" b="0">
                <a:latin typeface="Helvetica" charset="0"/>
              </a:rPr>
              <a:t>’</a:t>
            </a:r>
            <a:r>
              <a:rPr lang="en-US" altLang="ja-JP" b="0">
                <a:latin typeface="Helvetica" charset="0"/>
              </a:rPr>
              <a:t>s account to Bob’s account</a:t>
            </a:r>
            <a:endParaRPr lang="en-US" altLang="zh-CN" b="0">
              <a:latin typeface="Helvetica" charset="0"/>
            </a:endParaRPr>
          </a:p>
        </p:txBody>
      </p:sp>
    </p:spTree>
    <p:extLst>
      <p:ext uri="{BB962C8B-B14F-4D97-AF65-F5344CB8AC3E}">
        <p14:creationId xmlns:p14="http://schemas.microsoft.com/office/powerpoint/2010/main" val="240269571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D2F3EF-C0D2-10D9-28C5-3CB2C5C9EC4C}"/>
              </a:ext>
            </a:extLst>
          </p:cNvPr>
          <p:cNvSpPr>
            <a:spLocks noGrp="1"/>
          </p:cNvSpPr>
          <p:nvPr>
            <p:ph type="title"/>
          </p:nvPr>
        </p:nvSpPr>
        <p:spPr/>
        <p:txBody>
          <a:bodyPr/>
          <a:lstStyle/>
          <a:p>
            <a:r>
              <a:rPr kumimoji="1" lang="en-US" altLang="zh-CN" dirty="0"/>
              <a:t>Implementing</a:t>
            </a:r>
            <a:r>
              <a:rPr kumimoji="1" lang="zh-CN" altLang="en-US" dirty="0"/>
              <a:t> </a:t>
            </a:r>
            <a:r>
              <a:rPr kumimoji="1" lang="en-US" altLang="zh-CN" dirty="0"/>
              <a:t>transactions:</a:t>
            </a:r>
            <a:r>
              <a:rPr kumimoji="1" lang="zh-CN" altLang="en-US" dirty="0"/>
              <a:t> </a:t>
            </a:r>
            <a:br>
              <a:rPr kumimoji="1" lang="en-US" altLang="zh-CN" dirty="0"/>
            </a:br>
            <a:r>
              <a:rPr kumimoji="1" lang="en-US" altLang="zh-CN" dirty="0"/>
              <a:t>atomic</a:t>
            </a:r>
            <a:r>
              <a:rPr kumimoji="1" lang="zh-CN" altLang="en-US" dirty="0"/>
              <a:t> </a:t>
            </a:r>
            <a:r>
              <a:rPr kumimoji="1" lang="en-US" altLang="zh-CN" dirty="0"/>
              <a:t>writes</a:t>
            </a:r>
            <a:r>
              <a:rPr kumimoji="1" lang="zh-CN" altLang="en-US" dirty="0"/>
              <a:t> </a:t>
            </a:r>
            <a:r>
              <a:rPr kumimoji="1" lang="en-US" altLang="zh-CN" dirty="0"/>
              <a:t>to</a:t>
            </a:r>
            <a:r>
              <a:rPr kumimoji="1" lang="zh-CN" altLang="en-US" dirty="0"/>
              <a:t> </a:t>
            </a:r>
            <a:r>
              <a:rPr kumimoji="1" lang="en-US" altLang="zh-CN" dirty="0"/>
              <a:t>disk</a:t>
            </a:r>
            <a:endParaRPr kumimoji="1" lang="zh-CN" altLang="en-US" dirty="0"/>
          </a:p>
        </p:txBody>
      </p:sp>
      <p:sp>
        <p:nvSpPr>
          <p:cNvPr id="3" name="文本占位符 2">
            <a:extLst>
              <a:ext uri="{FF2B5EF4-FFF2-40B4-BE49-F238E27FC236}">
                <a16:creationId xmlns:a16="http://schemas.microsoft.com/office/drawing/2014/main" id="{14F254F6-4DF8-EAFD-0F6B-30AF29CD4A85}"/>
              </a:ext>
            </a:extLst>
          </p:cNvPr>
          <p:cNvSpPr>
            <a:spLocks noGrp="1"/>
          </p:cNvSpPr>
          <p:nvPr>
            <p:ph type="body" idx="1"/>
          </p:nvPr>
        </p:nvSpPr>
        <p:spPr/>
        <p:txBody>
          <a:bodyPr/>
          <a:lstStyle/>
          <a:p>
            <a:endParaRPr kumimoji="1" lang="zh-CN" altLang="en-US"/>
          </a:p>
        </p:txBody>
      </p:sp>
    </p:spTree>
    <p:extLst>
      <p:ext uri="{BB962C8B-B14F-4D97-AF65-F5344CB8AC3E}">
        <p14:creationId xmlns:p14="http://schemas.microsoft.com/office/powerpoint/2010/main" val="3068555215"/>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F30E69-397A-9DFF-342A-158AB446297E}"/>
              </a:ext>
            </a:extLst>
          </p:cNvPr>
          <p:cNvSpPr>
            <a:spLocks noGrp="1"/>
          </p:cNvSpPr>
          <p:nvPr>
            <p:ph type="title"/>
          </p:nvPr>
        </p:nvSpPr>
        <p:spPr>
          <a:xfrm>
            <a:off x="990600" y="152400"/>
            <a:ext cx="7162800" cy="685800"/>
          </a:xfrm>
        </p:spPr>
        <p:txBody>
          <a:bodyPr/>
          <a:lstStyle/>
          <a:p>
            <a:r>
              <a:rPr kumimoji="1" lang="en-US" altLang="zh-CN" dirty="0"/>
              <a:t>Operations</a:t>
            </a:r>
            <a:r>
              <a:rPr kumimoji="1" lang="zh-CN" altLang="en-US" dirty="0"/>
              <a:t> </a:t>
            </a:r>
            <a:r>
              <a:rPr kumimoji="1" lang="en-US" altLang="zh-CN" dirty="0"/>
              <a:t>on</a:t>
            </a:r>
            <a:r>
              <a:rPr kumimoji="1" lang="zh-CN" altLang="en-US" dirty="0"/>
              <a:t> </a:t>
            </a:r>
            <a:r>
              <a:rPr kumimoji="1" lang="en-US" altLang="zh-CN" dirty="0"/>
              <a:t>persistent</a:t>
            </a:r>
            <a:r>
              <a:rPr kumimoji="1" lang="zh-CN" altLang="en-US" dirty="0"/>
              <a:t> </a:t>
            </a:r>
            <a:r>
              <a:rPr kumimoji="1" lang="en-US" altLang="zh-CN" dirty="0"/>
              <a:t>storage</a:t>
            </a:r>
            <a:r>
              <a:rPr kumimoji="1" lang="zh-CN" altLang="en-US" dirty="0"/>
              <a:t> </a:t>
            </a:r>
            <a:r>
              <a:rPr kumimoji="1" lang="en-US" altLang="zh-CN" dirty="0"/>
              <a:t>are</a:t>
            </a:r>
            <a:r>
              <a:rPr kumimoji="1" lang="zh-CN" altLang="en-US" dirty="0"/>
              <a:t> </a:t>
            </a:r>
            <a:r>
              <a:rPr kumimoji="1" lang="en-US" altLang="zh-CN" dirty="0"/>
              <a:t>not</a:t>
            </a:r>
            <a:r>
              <a:rPr kumimoji="1" lang="zh-CN" altLang="en-US" dirty="0"/>
              <a:t> </a:t>
            </a:r>
            <a:r>
              <a:rPr kumimoji="1" lang="en-US" altLang="zh-CN" dirty="0"/>
              <a:t>atomic</a:t>
            </a:r>
            <a:r>
              <a:rPr kumimoji="1" lang="zh-CN" altLang="en-US" dirty="0"/>
              <a:t> </a:t>
            </a:r>
            <a:r>
              <a:rPr kumimoji="1" lang="en-US" altLang="zh-CN" dirty="0"/>
              <a:t>!</a:t>
            </a:r>
            <a:r>
              <a:rPr kumimoji="1" lang="zh-CN" altLang="en-US" dirty="0"/>
              <a:t> </a:t>
            </a:r>
          </a:p>
        </p:txBody>
      </p:sp>
      <p:sp>
        <p:nvSpPr>
          <p:cNvPr id="3" name="内容占位符 2">
            <a:extLst>
              <a:ext uri="{FF2B5EF4-FFF2-40B4-BE49-F238E27FC236}">
                <a16:creationId xmlns:a16="http://schemas.microsoft.com/office/drawing/2014/main" id="{54CDA968-FD6F-5C3B-73BF-D4A3205B7452}"/>
              </a:ext>
            </a:extLst>
          </p:cNvPr>
          <p:cNvSpPr>
            <a:spLocks noGrp="1"/>
          </p:cNvSpPr>
          <p:nvPr>
            <p:ph idx="1"/>
          </p:nvPr>
        </p:nvSpPr>
        <p:spPr>
          <a:xfrm>
            <a:off x="609600" y="1219200"/>
            <a:ext cx="7924800" cy="4800600"/>
          </a:xfrm>
        </p:spPr>
        <p:txBody>
          <a:bodyPr/>
          <a:lstStyle/>
          <a:p>
            <a:r>
              <a:rPr kumimoji="1" lang="en-US" altLang="zh-CN" dirty="0"/>
              <a:t>Recall:</a:t>
            </a:r>
            <a:r>
              <a:rPr kumimoji="1" lang="zh-CN" altLang="en-US" dirty="0"/>
              <a:t> </a:t>
            </a:r>
            <a:r>
              <a:rPr kumimoji="1" lang="en-US" altLang="zh-CN" dirty="0"/>
              <a:t>in-memory</a:t>
            </a:r>
            <a:r>
              <a:rPr kumimoji="1" lang="zh-CN" altLang="en-US" dirty="0"/>
              <a:t> </a:t>
            </a:r>
            <a:r>
              <a:rPr kumimoji="1" lang="en-US" altLang="zh-CN" dirty="0"/>
              <a:t>operations</a:t>
            </a:r>
          </a:p>
          <a:p>
            <a:pPr lvl="1"/>
            <a:r>
              <a:rPr kumimoji="1" lang="en-US" altLang="zh-CN" dirty="0"/>
              <a:t>Load</a:t>
            </a:r>
            <a:r>
              <a:rPr kumimoji="1" lang="zh-CN" altLang="en-US" dirty="0"/>
              <a:t> </a:t>
            </a:r>
            <a:r>
              <a:rPr kumimoji="1" lang="en-US" altLang="zh-CN" dirty="0"/>
              <a:t>/</a:t>
            </a:r>
            <a:r>
              <a:rPr kumimoji="1" lang="zh-CN" altLang="en-US" dirty="0"/>
              <a:t> </a:t>
            </a:r>
            <a:r>
              <a:rPr kumimoji="1" lang="en-US" altLang="zh-CN" dirty="0"/>
              <a:t>Store</a:t>
            </a:r>
            <a:r>
              <a:rPr kumimoji="1" lang="zh-CN" altLang="en-US" dirty="0"/>
              <a:t> </a:t>
            </a:r>
            <a:r>
              <a:rPr kumimoji="1" lang="en-US" altLang="zh-CN" dirty="0"/>
              <a:t>on</a:t>
            </a:r>
            <a:r>
              <a:rPr kumimoji="1" lang="zh-CN" altLang="en-US" dirty="0"/>
              <a:t> </a:t>
            </a:r>
            <a:r>
              <a:rPr kumimoji="1" lang="en-US" altLang="zh-CN" dirty="0"/>
              <a:t>a</a:t>
            </a:r>
            <a:r>
              <a:rPr kumimoji="1" lang="zh-CN" altLang="en-US" dirty="0"/>
              <a:t> </a:t>
            </a:r>
            <a:r>
              <a:rPr kumimoji="1" lang="en-US" altLang="zh-CN" dirty="0"/>
              <a:t>single</a:t>
            </a:r>
            <a:r>
              <a:rPr kumimoji="1" lang="zh-CN" altLang="en-US" dirty="0"/>
              <a:t> </a:t>
            </a:r>
            <a:r>
              <a:rPr kumimoji="1" lang="en-US" altLang="zh-CN" dirty="0"/>
              <a:t>word</a:t>
            </a:r>
            <a:r>
              <a:rPr kumimoji="1" lang="zh-CN" altLang="en-US" dirty="0"/>
              <a:t> </a:t>
            </a:r>
            <a:r>
              <a:rPr kumimoji="1" lang="en-US" altLang="zh-CN" dirty="0"/>
              <a:t>is</a:t>
            </a:r>
            <a:r>
              <a:rPr kumimoji="1" lang="zh-CN" altLang="en-US" dirty="0"/>
              <a:t> </a:t>
            </a:r>
            <a:r>
              <a:rPr kumimoji="1" lang="en-US" altLang="zh-CN" dirty="0"/>
              <a:t>atomic</a:t>
            </a:r>
          </a:p>
          <a:p>
            <a:pPr lvl="1"/>
            <a:r>
              <a:rPr kumimoji="1" lang="en-US" altLang="zh-CN" dirty="0"/>
              <a:t>Basic</a:t>
            </a:r>
            <a:r>
              <a:rPr kumimoji="1" lang="zh-CN" altLang="en-US" dirty="0"/>
              <a:t> </a:t>
            </a:r>
            <a:r>
              <a:rPr kumimoji="1" lang="en-US" altLang="zh-CN" dirty="0"/>
              <a:t>operations</a:t>
            </a:r>
            <a:r>
              <a:rPr kumimoji="1" lang="zh-CN" altLang="en-US" dirty="0"/>
              <a:t> </a:t>
            </a:r>
            <a:r>
              <a:rPr kumimoji="1" lang="en-US" altLang="zh-CN" dirty="0"/>
              <a:t>are</a:t>
            </a:r>
            <a:r>
              <a:rPr kumimoji="1" lang="zh-CN" altLang="en-US" dirty="0"/>
              <a:t> </a:t>
            </a:r>
            <a:r>
              <a:rPr kumimoji="1" lang="en-US" altLang="zh-CN" dirty="0"/>
              <a:t>atomic</a:t>
            </a:r>
          </a:p>
          <a:p>
            <a:pPr lvl="1"/>
            <a:endParaRPr kumimoji="1" lang="en-US" altLang="zh-CN" dirty="0"/>
          </a:p>
          <a:p>
            <a:r>
              <a:rPr kumimoji="1" lang="en-US" altLang="zh-CN" dirty="0"/>
              <a:t>Atomicity</a:t>
            </a:r>
            <a:r>
              <a:rPr kumimoji="1" lang="zh-CN" altLang="en-US" dirty="0"/>
              <a:t> </a:t>
            </a:r>
            <a:r>
              <a:rPr kumimoji="1" lang="en-US" altLang="zh-CN" dirty="0"/>
              <a:t>on</a:t>
            </a:r>
            <a:r>
              <a:rPr kumimoji="1" lang="zh-CN" altLang="en-US" dirty="0"/>
              <a:t> </a:t>
            </a:r>
            <a:r>
              <a:rPr kumimoji="1" lang="en-US" altLang="zh-CN" dirty="0"/>
              <a:t>persistent</a:t>
            </a:r>
            <a:r>
              <a:rPr kumimoji="1" lang="zh-CN" altLang="en-US" dirty="0"/>
              <a:t> </a:t>
            </a:r>
            <a:r>
              <a:rPr kumimoji="1" lang="en-US" altLang="zh-CN" dirty="0"/>
              <a:t>storage</a:t>
            </a:r>
          </a:p>
          <a:p>
            <a:pPr lvl="1"/>
            <a:r>
              <a:rPr kumimoji="1" lang="en-US" altLang="zh-CN" dirty="0"/>
              <a:t>Even</a:t>
            </a:r>
            <a:r>
              <a:rPr kumimoji="1" lang="zh-CN" altLang="en-US" dirty="0"/>
              <a:t> </a:t>
            </a:r>
            <a:r>
              <a:rPr kumimoji="1" lang="en-US" altLang="zh-CN" dirty="0"/>
              <a:t>writing</a:t>
            </a:r>
            <a:r>
              <a:rPr kumimoji="1" lang="zh-CN" altLang="en-US" dirty="0"/>
              <a:t> </a:t>
            </a:r>
            <a:r>
              <a:rPr kumimoji="1" lang="en-US" altLang="zh-CN" dirty="0"/>
              <a:t>a</a:t>
            </a:r>
            <a:r>
              <a:rPr kumimoji="1" lang="zh-CN" altLang="en-US" dirty="0"/>
              <a:t> </a:t>
            </a:r>
            <a:r>
              <a:rPr kumimoji="1" lang="en-US" altLang="zh-CN" dirty="0"/>
              <a:t>single</a:t>
            </a:r>
            <a:r>
              <a:rPr kumimoji="1" lang="zh-CN" altLang="en-US" dirty="0"/>
              <a:t> </a:t>
            </a:r>
            <a:r>
              <a:rPr kumimoji="1" lang="en-US" altLang="zh-CN" dirty="0"/>
              <a:t>block</a:t>
            </a:r>
            <a:r>
              <a:rPr kumimoji="1" lang="zh-CN" altLang="en-US" dirty="0"/>
              <a:t> </a:t>
            </a:r>
            <a:r>
              <a:rPr kumimoji="1" lang="en-US" altLang="zh-CN" dirty="0"/>
              <a:t>is</a:t>
            </a:r>
            <a:r>
              <a:rPr kumimoji="1" lang="zh-CN" altLang="en-US" dirty="0"/>
              <a:t> </a:t>
            </a:r>
            <a:r>
              <a:rPr kumimoji="1" lang="en-US" altLang="zh-CN" dirty="0"/>
              <a:t>not</a:t>
            </a:r>
            <a:r>
              <a:rPr kumimoji="1" lang="zh-CN" altLang="en-US" dirty="0"/>
              <a:t> </a:t>
            </a:r>
            <a:r>
              <a:rPr kumimoji="1" lang="en-US" altLang="zh-CN" dirty="0"/>
              <a:t>atomic</a:t>
            </a:r>
          </a:p>
          <a:p>
            <a:pPr lvl="1"/>
            <a:r>
              <a:rPr kumimoji="1" lang="en-US" altLang="zh-CN" dirty="0"/>
              <a:t>Many</a:t>
            </a:r>
            <a:r>
              <a:rPr kumimoji="1" lang="zh-CN" altLang="en-US" dirty="0"/>
              <a:t> </a:t>
            </a:r>
            <a:r>
              <a:rPr kumimoji="1" lang="en-US" altLang="zh-CN" dirty="0"/>
              <a:t>operations</a:t>
            </a:r>
            <a:r>
              <a:rPr kumimoji="1" lang="zh-CN" altLang="en-US" dirty="0"/>
              <a:t> </a:t>
            </a:r>
            <a:r>
              <a:rPr kumimoji="1" lang="en-US" altLang="zh-CN" dirty="0"/>
              <a:t>involves</a:t>
            </a:r>
            <a:r>
              <a:rPr kumimoji="1" lang="zh-CN" altLang="en-US" dirty="0"/>
              <a:t> </a:t>
            </a:r>
            <a:r>
              <a:rPr kumimoji="1" lang="en-US" altLang="zh-CN" dirty="0"/>
              <a:t>many</a:t>
            </a:r>
            <a:r>
              <a:rPr kumimoji="1" lang="zh-CN" altLang="en-US" dirty="0"/>
              <a:t> </a:t>
            </a:r>
            <a:r>
              <a:rPr kumimoji="1" lang="en-US" altLang="zh-CN" dirty="0"/>
              <a:t>reads/writes</a:t>
            </a:r>
          </a:p>
          <a:p>
            <a:pPr lvl="1"/>
            <a:r>
              <a:rPr kumimoji="1" lang="en-US" altLang="zh-CN" dirty="0"/>
              <a:t>If</a:t>
            </a:r>
            <a:r>
              <a:rPr kumimoji="1" lang="zh-CN" altLang="en-US" dirty="0"/>
              <a:t> </a:t>
            </a:r>
            <a:r>
              <a:rPr kumimoji="1" lang="en-US" altLang="zh-CN" dirty="0"/>
              <a:t>broken,</a:t>
            </a:r>
            <a:r>
              <a:rPr kumimoji="1" lang="zh-CN" altLang="en-US" dirty="0"/>
              <a:t> </a:t>
            </a:r>
            <a:r>
              <a:rPr kumimoji="1" lang="en-US" altLang="zh-CN" dirty="0"/>
              <a:t>cannot</a:t>
            </a:r>
            <a:r>
              <a:rPr kumimoji="1" lang="zh-CN" altLang="en-US" dirty="0"/>
              <a:t> </a:t>
            </a:r>
            <a:r>
              <a:rPr kumimoji="1" lang="en-US" altLang="zh-CN" dirty="0"/>
              <a:t>recovery</a:t>
            </a:r>
            <a:r>
              <a:rPr kumimoji="1" lang="zh-CN" altLang="en-US" dirty="0"/>
              <a:t> </a:t>
            </a:r>
            <a:r>
              <a:rPr kumimoji="1" lang="en-US" altLang="zh-CN" dirty="0"/>
              <a:t>from</a:t>
            </a:r>
            <a:r>
              <a:rPr kumimoji="1" lang="zh-CN" altLang="en-US" dirty="0"/>
              <a:t> </a:t>
            </a:r>
            <a:r>
              <a:rPr kumimoji="1" lang="en-US" altLang="zh-CN" dirty="0"/>
              <a:t>a</a:t>
            </a:r>
            <a:r>
              <a:rPr kumimoji="1" lang="zh-CN" altLang="en-US" dirty="0"/>
              <a:t> </a:t>
            </a:r>
            <a:r>
              <a:rPr kumimoji="1" lang="en-US" altLang="zh-CN" dirty="0"/>
              <a:t>single</a:t>
            </a:r>
            <a:r>
              <a:rPr kumimoji="1" lang="zh-CN" altLang="en-US" dirty="0"/>
              <a:t> </a:t>
            </a:r>
            <a:r>
              <a:rPr kumimoji="1" lang="en-US" altLang="zh-CN" dirty="0"/>
              <a:t>reboot</a:t>
            </a:r>
          </a:p>
          <a:p>
            <a:endParaRPr kumimoji="1" lang="en-US" altLang="zh-CN" dirty="0"/>
          </a:p>
          <a:p>
            <a:r>
              <a:rPr kumimoji="1" lang="en-US" altLang="zh-CN" dirty="0"/>
              <a:t>E.g.</a:t>
            </a:r>
            <a:r>
              <a:rPr kumimoji="1" lang="zh-CN" altLang="en-US" dirty="0"/>
              <a:t> </a:t>
            </a:r>
            <a:r>
              <a:rPr kumimoji="1" lang="en-US" altLang="zh-CN" dirty="0"/>
              <a:t>File</a:t>
            </a:r>
            <a:r>
              <a:rPr kumimoji="1" lang="zh-CN" altLang="en-US" dirty="0"/>
              <a:t> </a:t>
            </a:r>
            <a:r>
              <a:rPr kumimoji="1" lang="en-US" altLang="zh-CN" dirty="0"/>
              <a:t>system</a:t>
            </a:r>
            <a:r>
              <a:rPr kumimoji="1" lang="zh-CN" altLang="en-US" dirty="0"/>
              <a:t> </a:t>
            </a:r>
            <a:r>
              <a:rPr kumimoji="1" lang="en-US" altLang="zh-CN" dirty="0"/>
              <a:t>update</a:t>
            </a:r>
          </a:p>
          <a:p>
            <a:pPr lvl="1"/>
            <a:r>
              <a:rPr lang="en-US" altLang="zh-CN" dirty="0"/>
              <a:t>Some operations in progress may complete</a:t>
            </a:r>
          </a:p>
          <a:p>
            <a:pPr lvl="1"/>
            <a:r>
              <a:rPr lang="en-US" altLang="zh-CN" dirty="0"/>
              <a:t>Some operations in progress may be lost</a:t>
            </a:r>
          </a:p>
          <a:p>
            <a:pPr lvl="1"/>
            <a:r>
              <a:rPr lang="en-US" altLang="zh-CN" dirty="0"/>
              <a:t>Overwrite of a block may only partially complete</a:t>
            </a:r>
          </a:p>
          <a:p>
            <a:endParaRPr kumimoji="1" lang="en-US" altLang="zh-CN" dirty="0"/>
          </a:p>
          <a:p>
            <a:endParaRPr kumimoji="1" lang="zh-CN" altLang="en-US" dirty="0"/>
          </a:p>
        </p:txBody>
      </p:sp>
    </p:spTree>
    <p:extLst>
      <p:ext uri="{BB962C8B-B14F-4D97-AF65-F5344CB8AC3E}">
        <p14:creationId xmlns:p14="http://schemas.microsoft.com/office/powerpoint/2010/main" val="2883263850"/>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7"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066800"/>
            <a:ext cx="8737600" cy="529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1961642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File</a:t>
            </a:r>
            <a:r>
              <a:rPr lang="zh-CN" altLang="en-US" dirty="0"/>
              <a:t> </a:t>
            </a:r>
            <a:r>
              <a:rPr lang="en-US" altLang="zh-CN" dirty="0"/>
              <a:t>Systems:</a:t>
            </a:r>
            <a:r>
              <a:rPr lang="zh-CN" altLang="en-US" dirty="0"/>
              <a:t> </a:t>
            </a:r>
            <a:r>
              <a:rPr lang="en-US" dirty="0"/>
              <a:t>Create a File</a:t>
            </a:r>
          </a:p>
        </p:txBody>
      </p:sp>
      <p:sp>
        <p:nvSpPr>
          <p:cNvPr id="3" name="Content Placeholder 2"/>
          <p:cNvSpPr>
            <a:spLocks noGrp="1"/>
          </p:cNvSpPr>
          <p:nvPr>
            <p:ph sz="half" idx="1"/>
          </p:nvPr>
        </p:nvSpPr>
        <p:spPr>
          <a:xfrm>
            <a:off x="304800" y="762000"/>
            <a:ext cx="4038600" cy="5867400"/>
          </a:xfrm>
        </p:spPr>
        <p:txBody>
          <a:bodyPr>
            <a:normAutofit fontScale="92500"/>
          </a:bodyPr>
          <a:lstStyle/>
          <a:p>
            <a:pPr>
              <a:lnSpc>
                <a:spcPct val="100000"/>
              </a:lnSpc>
              <a:buNone/>
            </a:pPr>
            <a:r>
              <a:rPr lang="en-US" dirty="0"/>
              <a:t>Normal operation:</a:t>
            </a:r>
          </a:p>
          <a:p>
            <a:pPr>
              <a:lnSpc>
                <a:spcPct val="100000"/>
              </a:lnSpc>
            </a:pPr>
            <a:r>
              <a:rPr lang="en-US" dirty="0"/>
              <a:t>Allocate data block</a:t>
            </a:r>
          </a:p>
          <a:p>
            <a:pPr>
              <a:lnSpc>
                <a:spcPct val="100000"/>
              </a:lnSpc>
            </a:pPr>
            <a:r>
              <a:rPr lang="en-US" dirty="0"/>
              <a:t>Write data block</a:t>
            </a:r>
          </a:p>
          <a:p>
            <a:pPr>
              <a:lnSpc>
                <a:spcPct val="100000"/>
              </a:lnSpc>
            </a:pPr>
            <a:r>
              <a:rPr lang="en-US" dirty="0"/>
              <a:t>Allocate </a:t>
            </a:r>
            <a:r>
              <a:rPr lang="en-US" dirty="0" err="1"/>
              <a:t>inode</a:t>
            </a:r>
            <a:endParaRPr lang="en-US" dirty="0"/>
          </a:p>
          <a:p>
            <a:pPr>
              <a:lnSpc>
                <a:spcPct val="100000"/>
              </a:lnSpc>
            </a:pPr>
            <a:r>
              <a:rPr lang="en-US" dirty="0"/>
              <a:t>Write </a:t>
            </a:r>
            <a:r>
              <a:rPr lang="en-US" dirty="0" err="1"/>
              <a:t>inode</a:t>
            </a:r>
            <a:r>
              <a:rPr lang="en-US" dirty="0"/>
              <a:t> block</a:t>
            </a:r>
          </a:p>
          <a:p>
            <a:pPr>
              <a:lnSpc>
                <a:spcPct val="100000"/>
              </a:lnSpc>
            </a:pPr>
            <a:r>
              <a:rPr lang="en-US" dirty="0"/>
              <a:t>Update bitmap of free blocks and </a:t>
            </a:r>
            <a:r>
              <a:rPr lang="en-US" dirty="0" err="1"/>
              <a:t>inodes</a:t>
            </a:r>
            <a:endParaRPr lang="en-US" dirty="0"/>
          </a:p>
          <a:p>
            <a:pPr>
              <a:lnSpc>
                <a:spcPct val="100000"/>
              </a:lnSpc>
            </a:pPr>
            <a:r>
              <a:rPr lang="en-US" dirty="0"/>
              <a:t>Update directory with file name</a:t>
            </a:r>
            <a:r>
              <a:rPr lang="en-US" altLang="ko-KR" dirty="0">
                <a:ea typeface="굴림" panose="020B0600000101010101" pitchFamily="34" charset="-127"/>
                <a:sym typeface="Symbol" panose="05050102010706020507" pitchFamily="18" charset="2"/>
              </a:rPr>
              <a:t>  </a:t>
            </a:r>
            <a:r>
              <a:rPr lang="en-US" dirty="0" err="1"/>
              <a:t>inode</a:t>
            </a:r>
            <a:r>
              <a:rPr lang="en-US" dirty="0"/>
              <a:t> number</a:t>
            </a:r>
          </a:p>
          <a:p>
            <a:pPr>
              <a:lnSpc>
                <a:spcPct val="100000"/>
              </a:lnSpc>
            </a:pPr>
            <a:r>
              <a:rPr lang="en-US" dirty="0"/>
              <a:t>Update modify time for directory</a:t>
            </a:r>
          </a:p>
          <a:p>
            <a:pPr>
              <a:lnSpc>
                <a:spcPct val="100000"/>
              </a:lnSpc>
            </a:pPr>
            <a:endParaRPr lang="en-US" dirty="0"/>
          </a:p>
          <a:p>
            <a:pPr>
              <a:lnSpc>
                <a:spcPct val="100000"/>
              </a:lnSpc>
              <a:buNone/>
            </a:pPr>
            <a:endParaRPr lang="en-US" dirty="0"/>
          </a:p>
        </p:txBody>
      </p:sp>
      <p:sp>
        <p:nvSpPr>
          <p:cNvPr id="4" name="Content Placeholder 3"/>
          <p:cNvSpPr>
            <a:spLocks noGrp="1"/>
          </p:cNvSpPr>
          <p:nvPr>
            <p:ph sz="half" idx="2"/>
          </p:nvPr>
        </p:nvSpPr>
        <p:spPr>
          <a:xfrm>
            <a:off x="4343400" y="762000"/>
            <a:ext cx="4495800" cy="5562600"/>
          </a:xfrm>
        </p:spPr>
        <p:txBody>
          <a:bodyPr>
            <a:normAutofit fontScale="92500"/>
          </a:bodyPr>
          <a:lstStyle/>
          <a:p>
            <a:pPr>
              <a:lnSpc>
                <a:spcPct val="100000"/>
              </a:lnSpc>
              <a:buNone/>
            </a:pPr>
            <a:r>
              <a:rPr lang="en-US" dirty="0"/>
              <a:t>Recovery:</a:t>
            </a:r>
          </a:p>
          <a:p>
            <a:pPr>
              <a:lnSpc>
                <a:spcPct val="100000"/>
              </a:lnSpc>
            </a:pPr>
            <a:r>
              <a:rPr lang="en-US" dirty="0"/>
              <a:t>Scan </a:t>
            </a:r>
            <a:r>
              <a:rPr lang="en-US" dirty="0" err="1"/>
              <a:t>inode</a:t>
            </a:r>
            <a:r>
              <a:rPr lang="en-US" dirty="0"/>
              <a:t> table</a:t>
            </a:r>
          </a:p>
          <a:p>
            <a:pPr>
              <a:lnSpc>
                <a:spcPct val="100000"/>
              </a:lnSpc>
            </a:pPr>
            <a:r>
              <a:rPr lang="en-US" dirty="0"/>
              <a:t>If any unlinked files (not in any directory), delete or put in lost &amp; found </a:t>
            </a:r>
            <a:r>
              <a:rPr lang="en-US" dirty="0" err="1"/>
              <a:t>dir</a:t>
            </a:r>
            <a:endParaRPr lang="en-US" dirty="0"/>
          </a:p>
          <a:p>
            <a:pPr>
              <a:lnSpc>
                <a:spcPct val="100000"/>
              </a:lnSpc>
            </a:pPr>
            <a:r>
              <a:rPr lang="en-US" dirty="0"/>
              <a:t>Compare free block bitmap against </a:t>
            </a:r>
            <a:r>
              <a:rPr lang="en-US" dirty="0" err="1"/>
              <a:t>inode</a:t>
            </a:r>
            <a:r>
              <a:rPr lang="en-US" dirty="0"/>
              <a:t> trees</a:t>
            </a:r>
          </a:p>
          <a:p>
            <a:pPr>
              <a:lnSpc>
                <a:spcPct val="100000"/>
              </a:lnSpc>
            </a:pPr>
            <a:r>
              <a:rPr lang="en-US" dirty="0"/>
              <a:t>Scan directories for missing update/access times</a:t>
            </a:r>
          </a:p>
          <a:p>
            <a:pPr>
              <a:lnSpc>
                <a:spcPct val="100000"/>
              </a:lnSpc>
            </a:pPr>
            <a:endParaRPr lang="en-US" dirty="0"/>
          </a:p>
          <a:p>
            <a:pPr>
              <a:lnSpc>
                <a:spcPct val="100000"/>
              </a:lnSpc>
              <a:buNone/>
            </a:pPr>
            <a:r>
              <a:rPr lang="en-US" i="1" dirty="0">
                <a:solidFill>
                  <a:srgbClr val="FF0000"/>
                </a:solidFill>
              </a:rPr>
              <a:t>Time proportional to disk size</a:t>
            </a:r>
          </a:p>
          <a:p>
            <a:pPr>
              <a:lnSpc>
                <a:spcPct val="100000"/>
              </a:lnSpc>
              <a:buNone/>
            </a:pPr>
            <a:endParaRPr lang="en-US" dirty="0"/>
          </a:p>
        </p:txBody>
      </p:sp>
    </p:spTree>
    <p:extLst>
      <p:ext uri="{BB962C8B-B14F-4D97-AF65-F5344CB8AC3E}">
        <p14:creationId xmlns:p14="http://schemas.microsoft.com/office/powerpoint/2010/main" val="1100973139"/>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50B43E1-1ADD-7143-8DB7-4BFC71D3E84B}"/>
              </a:ext>
            </a:extLst>
          </p:cNvPr>
          <p:cNvSpPr/>
          <p:nvPr/>
        </p:nvSpPr>
        <p:spPr bwMode="auto">
          <a:xfrm>
            <a:off x="762000" y="2209800"/>
            <a:ext cx="7620000" cy="3177654"/>
          </a:xfrm>
          <a:prstGeom prst="rect">
            <a:avLst/>
          </a:prstGeom>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endParaRPr>
          </a:p>
        </p:txBody>
      </p:sp>
      <p:sp>
        <p:nvSpPr>
          <p:cNvPr id="2" name="Title 1">
            <a:extLst>
              <a:ext uri="{FF2B5EF4-FFF2-40B4-BE49-F238E27FC236}">
                <a16:creationId xmlns:a16="http://schemas.microsoft.com/office/drawing/2014/main" id="{6203ABD3-CD2A-2F47-91B7-5CE26BCFFF94}"/>
              </a:ext>
            </a:extLst>
          </p:cNvPr>
          <p:cNvSpPr>
            <a:spLocks noGrp="1"/>
          </p:cNvSpPr>
          <p:nvPr>
            <p:ph type="title"/>
          </p:nvPr>
        </p:nvSpPr>
        <p:spPr/>
        <p:txBody>
          <a:bodyPr/>
          <a:lstStyle/>
          <a:p>
            <a:r>
              <a:rPr lang="en-US" dirty="0"/>
              <a:t>Concept of a log</a:t>
            </a:r>
          </a:p>
        </p:txBody>
      </p:sp>
      <p:sp>
        <p:nvSpPr>
          <p:cNvPr id="3" name="Content Placeholder 2">
            <a:extLst>
              <a:ext uri="{FF2B5EF4-FFF2-40B4-BE49-F238E27FC236}">
                <a16:creationId xmlns:a16="http://schemas.microsoft.com/office/drawing/2014/main" id="{D35AD5C0-14E8-5141-9D31-FA73D670B728}"/>
              </a:ext>
            </a:extLst>
          </p:cNvPr>
          <p:cNvSpPr>
            <a:spLocks noGrp="1"/>
          </p:cNvSpPr>
          <p:nvPr>
            <p:ph idx="1"/>
          </p:nvPr>
        </p:nvSpPr>
        <p:spPr>
          <a:xfrm>
            <a:off x="381000" y="838200"/>
            <a:ext cx="8382000" cy="1371600"/>
          </a:xfrm>
        </p:spPr>
        <p:txBody>
          <a:bodyPr>
            <a:normAutofit/>
          </a:bodyPr>
          <a:lstStyle/>
          <a:p>
            <a:r>
              <a:rPr lang="en-US" dirty="0"/>
              <a:t>One simple action is atomic – write/append a basic item</a:t>
            </a:r>
          </a:p>
          <a:p>
            <a:r>
              <a:rPr lang="en-US" dirty="0"/>
              <a:t>Use that to seal the commitment to a whole series of actions</a:t>
            </a:r>
          </a:p>
        </p:txBody>
      </p:sp>
      <p:sp>
        <p:nvSpPr>
          <p:cNvPr id="5" name="TextBox 4">
            <a:extLst>
              <a:ext uri="{FF2B5EF4-FFF2-40B4-BE49-F238E27FC236}">
                <a16:creationId xmlns:a16="http://schemas.microsoft.com/office/drawing/2014/main" id="{3562DFA8-5A97-8947-9406-DD3467063A7C}"/>
              </a:ext>
            </a:extLst>
          </p:cNvPr>
          <p:cNvSpPr txBox="1"/>
          <p:nvPr/>
        </p:nvSpPr>
        <p:spPr>
          <a:xfrm rot="16200000">
            <a:off x="1219489" y="3637456"/>
            <a:ext cx="3264355" cy="400110"/>
          </a:xfrm>
          <a:prstGeom prst="rect">
            <a:avLst/>
          </a:prstGeom>
          <a:noFill/>
        </p:spPr>
        <p:txBody>
          <a:bodyPr wrap="none" rtlCol="0">
            <a:spAutoFit/>
          </a:bodyPr>
          <a:lstStyle/>
          <a:p>
            <a:r>
              <a:rPr lang="en-US" sz="2000" dirty="0">
                <a:latin typeface="Microsoft YaHei" panose="020B0503020204020204" pitchFamily="34" charset="-122"/>
                <a:ea typeface="Microsoft YaHei" panose="020B0503020204020204" pitchFamily="34" charset="-122"/>
              </a:rPr>
              <a:t>Get 10$ from account A</a:t>
            </a:r>
          </a:p>
        </p:txBody>
      </p:sp>
      <p:sp>
        <p:nvSpPr>
          <p:cNvPr id="6" name="TextBox 5">
            <a:extLst>
              <a:ext uri="{FF2B5EF4-FFF2-40B4-BE49-F238E27FC236}">
                <a16:creationId xmlns:a16="http://schemas.microsoft.com/office/drawing/2014/main" id="{BDFE39E4-BC22-FB4B-98EE-E7B61363B921}"/>
              </a:ext>
            </a:extLst>
          </p:cNvPr>
          <p:cNvSpPr txBox="1"/>
          <p:nvPr/>
        </p:nvSpPr>
        <p:spPr>
          <a:xfrm rot="16200000">
            <a:off x="2450653" y="3637456"/>
            <a:ext cx="3088025" cy="400110"/>
          </a:xfrm>
          <a:prstGeom prst="rect">
            <a:avLst/>
          </a:prstGeom>
          <a:noFill/>
        </p:spPr>
        <p:txBody>
          <a:bodyPr wrap="none" rtlCol="0">
            <a:spAutoFit/>
          </a:bodyPr>
          <a:lstStyle/>
          <a:p>
            <a:r>
              <a:rPr lang="en-US" sz="2000" dirty="0">
                <a:latin typeface="Microsoft YaHei" panose="020B0503020204020204" pitchFamily="34" charset="-122"/>
                <a:ea typeface="Microsoft YaHei" panose="020B0503020204020204" pitchFamily="34" charset="-122"/>
              </a:rPr>
              <a:t>Get 7$ from account B</a:t>
            </a:r>
          </a:p>
        </p:txBody>
      </p:sp>
      <p:sp>
        <p:nvSpPr>
          <p:cNvPr id="7" name="TextBox 6">
            <a:extLst>
              <a:ext uri="{FF2B5EF4-FFF2-40B4-BE49-F238E27FC236}">
                <a16:creationId xmlns:a16="http://schemas.microsoft.com/office/drawing/2014/main" id="{0057A47E-FAB1-DC40-A050-AD54C21612C0}"/>
              </a:ext>
            </a:extLst>
          </p:cNvPr>
          <p:cNvSpPr txBox="1"/>
          <p:nvPr/>
        </p:nvSpPr>
        <p:spPr>
          <a:xfrm rot="16200000">
            <a:off x="3238379" y="3637456"/>
            <a:ext cx="3245119" cy="400110"/>
          </a:xfrm>
          <a:prstGeom prst="rect">
            <a:avLst/>
          </a:prstGeom>
          <a:noFill/>
        </p:spPr>
        <p:txBody>
          <a:bodyPr wrap="none" rtlCol="0">
            <a:spAutoFit/>
          </a:bodyPr>
          <a:lstStyle/>
          <a:p>
            <a:r>
              <a:rPr lang="en-US" sz="2000" dirty="0">
                <a:latin typeface="Microsoft YaHei" panose="020B0503020204020204" pitchFamily="34" charset="-122"/>
                <a:ea typeface="Microsoft YaHei" panose="020B0503020204020204" pitchFamily="34" charset="-122"/>
              </a:rPr>
              <a:t>Get 13$ from account C</a:t>
            </a:r>
          </a:p>
        </p:txBody>
      </p:sp>
      <p:sp>
        <p:nvSpPr>
          <p:cNvPr id="8" name="TextBox 7">
            <a:extLst>
              <a:ext uri="{FF2B5EF4-FFF2-40B4-BE49-F238E27FC236}">
                <a16:creationId xmlns:a16="http://schemas.microsoft.com/office/drawing/2014/main" id="{494F25E3-25CA-374B-9CA8-BE27737391B0}"/>
              </a:ext>
            </a:extLst>
          </p:cNvPr>
          <p:cNvSpPr txBox="1"/>
          <p:nvPr/>
        </p:nvSpPr>
        <p:spPr>
          <a:xfrm rot="16200000">
            <a:off x="4633566" y="3637456"/>
            <a:ext cx="3125023" cy="400110"/>
          </a:xfrm>
          <a:prstGeom prst="rect">
            <a:avLst/>
          </a:prstGeom>
          <a:noFill/>
        </p:spPr>
        <p:txBody>
          <a:bodyPr wrap="none" rtlCol="0">
            <a:spAutoFit/>
          </a:bodyPr>
          <a:lstStyle/>
          <a:p>
            <a:r>
              <a:rPr lang="en-US" sz="2000" dirty="0">
                <a:latin typeface="Microsoft YaHei" panose="020B0503020204020204" pitchFamily="34" charset="-122"/>
                <a:ea typeface="Microsoft YaHei" panose="020B0503020204020204" pitchFamily="34" charset="-122"/>
              </a:rPr>
              <a:t>Put 15$ into account X</a:t>
            </a:r>
          </a:p>
        </p:txBody>
      </p:sp>
      <p:sp>
        <p:nvSpPr>
          <p:cNvPr id="9" name="TextBox 8">
            <a:extLst>
              <a:ext uri="{FF2B5EF4-FFF2-40B4-BE49-F238E27FC236}">
                <a16:creationId xmlns:a16="http://schemas.microsoft.com/office/drawing/2014/main" id="{7A4F4C8D-B643-BF41-A2E3-A2105B86F55C}"/>
              </a:ext>
            </a:extLst>
          </p:cNvPr>
          <p:cNvSpPr txBox="1"/>
          <p:nvPr/>
        </p:nvSpPr>
        <p:spPr>
          <a:xfrm rot="16200000">
            <a:off x="4989258" y="3637456"/>
            <a:ext cx="3112199" cy="400110"/>
          </a:xfrm>
          <a:prstGeom prst="rect">
            <a:avLst/>
          </a:prstGeom>
          <a:noFill/>
        </p:spPr>
        <p:txBody>
          <a:bodyPr wrap="none" rtlCol="0">
            <a:spAutoFit/>
          </a:bodyPr>
          <a:lstStyle/>
          <a:p>
            <a:r>
              <a:rPr lang="en-US" sz="2000" dirty="0">
                <a:latin typeface="Microsoft YaHei" panose="020B0503020204020204" pitchFamily="34" charset="-122"/>
                <a:ea typeface="Microsoft YaHei" panose="020B0503020204020204" pitchFamily="34" charset="-122"/>
              </a:rPr>
              <a:t>Put 15$ into account Y</a:t>
            </a:r>
          </a:p>
        </p:txBody>
      </p:sp>
      <p:sp>
        <p:nvSpPr>
          <p:cNvPr id="10" name="Rectangle 9">
            <a:extLst>
              <a:ext uri="{FF2B5EF4-FFF2-40B4-BE49-F238E27FC236}">
                <a16:creationId xmlns:a16="http://schemas.microsoft.com/office/drawing/2014/main" id="{3DD181C4-B74B-DB40-9435-731A5842B3D7}"/>
              </a:ext>
            </a:extLst>
          </p:cNvPr>
          <p:cNvSpPr/>
          <p:nvPr/>
        </p:nvSpPr>
        <p:spPr bwMode="auto">
          <a:xfrm>
            <a:off x="3200400" y="2430715"/>
            <a:ext cx="381000" cy="2813592"/>
          </a:xfrm>
          <a:prstGeom prst="rect">
            <a:avLst/>
          </a:prstGeom>
          <a:solidFill>
            <a:schemeClr val="accent5"/>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endParaRPr>
          </a:p>
        </p:txBody>
      </p:sp>
      <p:sp>
        <p:nvSpPr>
          <p:cNvPr id="11" name="Rectangle 10">
            <a:extLst>
              <a:ext uri="{FF2B5EF4-FFF2-40B4-BE49-F238E27FC236}">
                <a16:creationId xmlns:a16="http://schemas.microsoft.com/office/drawing/2014/main" id="{818110EB-9378-DD4F-9D2A-8CA347730D22}"/>
              </a:ext>
            </a:extLst>
          </p:cNvPr>
          <p:cNvSpPr/>
          <p:nvPr/>
        </p:nvSpPr>
        <p:spPr bwMode="auto">
          <a:xfrm>
            <a:off x="5145138" y="2428283"/>
            <a:ext cx="381000" cy="2813592"/>
          </a:xfrm>
          <a:prstGeom prst="rect">
            <a:avLst/>
          </a:prstGeom>
          <a:solidFill>
            <a:schemeClr val="accent6">
              <a:lumMod val="20000"/>
              <a:lumOff val="80000"/>
            </a:schemeClr>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endParaRPr>
          </a:p>
        </p:txBody>
      </p:sp>
      <p:sp>
        <p:nvSpPr>
          <p:cNvPr id="12" name="Rectangle 11">
            <a:extLst>
              <a:ext uri="{FF2B5EF4-FFF2-40B4-BE49-F238E27FC236}">
                <a16:creationId xmlns:a16="http://schemas.microsoft.com/office/drawing/2014/main" id="{9DB7BCA9-35F3-EB4C-B5A7-AC06CBFFBBA2}"/>
              </a:ext>
            </a:extLst>
          </p:cNvPr>
          <p:cNvSpPr/>
          <p:nvPr/>
        </p:nvSpPr>
        <p:spPr bwMode="auto">
          <a:xfrm>
            <a:off x="5578274" y="2428283"/>
            <a:ext cx="381000" cy="2813592"/>
          </a:xfrm>
          <a:prstGeom prst="rect">
            <a:avLst/>
          </a:prstGeom>
          <a:solidFill>
            <a:srgbClr val="ECE21C"/>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endParaRPr>
          </a:p>
        </p:txBody>
      </p:sp>
      <p:sp>
        <p:nvSpPr>
          <p:cNvPr id="13" name="Rectangle 12">
            <a:extLst>
              <a:ext uri="{FF2B5EF4-FFF2-40B4-BE49-F238E27FC236}">
                <a16:creationId xmlns:a16="http://schemas.microsoft.com/office/drawing/2014/main" id="{11668E52-8272-C146-BC6F-44DBE83EB36D}"/>
              </a:ext>
            </a:extLst>
          </p:cNvPr>
          <p:cNvSpPr/>
          <p:nvPr/>
        </p:nvSpPr>
        <p:spPr bwMode="auto">
          <a:xfrm>
            <a:off x="2655333" y="2348962"/>
            <a:ext cx="381000" cy="2929008"/>
          </a:xfrm>
          <a:prstGeom prst="rect">
            <a:avLst/>
          </a:prstGeom>
          <a:no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endParaRPr>
          </a:p>
        </p:txBody>
      </p:sp>
      <p:sp>
        <p:nvSpPr>
          <p:cNvPr id="14" name="Rectangle 13">
            <a:extLst>
              <a:ext uri="{FF2B5EF4-FFF2-40B4-BE49-F238E27FC236}">
                <a16:creationId xmlns:a16="http://schemas.microsoft.com/office/drawing/2014/main" id="{B91337A8-8B2F-0742-8E86-BF3B18BB4160}"/>
              </a:ext>
            </a:extLst>
          </p:cNvPr>
          <p:cNvSpPr/>
          <p:nvPr/>
        </p:nvSpPr>
        <p:spPr bwMode="auto">
          <a:xfrm>
            <a:off x="3835888" y="2360183"/>
            <a:ext cx="381000" cy="2929008"/>
          </a:xfrm>
          <a:prstGeom prst="rect">
            <a:avLst/>
          </a:prstGeom>
          <a:no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endParaRPr>
          </a:p>
        </p:txBody>
      </p:sp>
      <p:sp>
        <p:nvSpPr>
          <p:cNvPr id="15" name="Rectangle 14">
            <a:extLst>
              <a:ext uri="{FF2B5EF4-FFF2-40B4-BE49-F238E27FC236}">
                <a16:creationId xmlns:a16="http://schemas.microsoft.com/office/drawing/2014/main" id="{16ABF3DB-039D-4447-8D17-8E6B94672F41}"/>
              </a:ext>
            </a:extLst>
          </p:cNvPr>
          <p:cNvSpPr/>
          <p:nvPr/>
        </p:nvSpPr>
        <p:spPr bwMode="auto">
          <a:xfrm>
            <a:off x="4638174" y="2332109"/>
            <a:ext cx="381000" cy="2929008"/>
          </a:xfrm>
          <a:prstGeom prst="rect">
            <a:avLst/>
          </a:prstGeom>
          <a:no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endParaRPr>
          </a:p>
        </p:txBody>
      </p:sp>
      <p:sp>
        <p:nvSpPr>
          <p:cNvPr id="16" name="Rectangle 15">
            <a:extLst>
              <a:ext uri="{FF2B5EF4-FFF2-40B4-BE49-F238E27FC236}">
                <a16:creationId xmlns:a16="http://schemas.microsoft.com/office/drawing/2014/main" id="{4EB67E9D-0516-E643-9CA5-63C67B35964A}"/>
              </a:ext>
            </a:extLst>
          </p:cNvPr>
          <p:cNvSpPr/>
          <p:nvPr/>
        </p:nvSpPr>
        <p:spPr bwMode="auto">
          <a:xfrm>
            <a:off x="5995551" y="2344951"/>
            <a:ext cx="381000" cy="2929008"/>
          </a:xfrm>
          <a:prstGeom prst="rect">
            <a:avLst/>
          </a:prstGeom>
          <a:no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endParaRPr>
          </a:p>
        </p:txBody>
      </p:sp>
      <p:sp>
        <p:nvSpPr>
          <p:cNvPr id="17" name="Rectangle 16">
            <a:extLst>
              <a:ext uri="{FF2B5EF4-FFF2-40B4-BE49-F238E27FC236}">
                <a16:creationId xmlns:a16="http://schemas.microsoft.com/office/drawing/2014/main" id="{F7E7C984-412F-904F-8706-4998B9445A0E}"/>
              </a:ext>
            </a:extLst>
          </p:cNvPr>
          <p:cNvSpPr/>
          <p:nvPr/>
        </p:nvSpPr>
        <p:spPr bwMode="auto">
          <a:xfrm>
            <a:off x="6412828" y="2360183"/>
            <a:ext cx="381000" cy="2929008"/>
          </a:xfrm>
          <a:prstGeom prst="rect">
            <a:avLst/>
          </a:prstGeom>
          <a:no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endParaRPr>
          </a:p>
        </p:txBody>
      </p:sp>
      <p:sp>
        <p:nvSpPr>
          <p:cNvPr id="18" name="Rectangle 17">
            <a:extLst>
              <a:ext uri="{FF2B5EF4-FFF2-40B4-BE49-F238E27FC236}">
                <a16:creationId xmlns:a16="http://schemas.microsoft.com/office/drawing/2014/main" id="{9B83B2CD-AE19-D04E-A571-00BEEDC49E93}"/>
              </a:ext>
            </a:extLst>
          </p:cNvPr>
          <p:cNvSpPr/>
          <p:nvPr/>
        </p:nvSpPr>
        <p:spPr bwMode="auto">
          <a:xfrm>
            <a:off x="1620527" y="2312867"/>
            <a:ext cx="381000" cy="2929008"/>
          </a:xfrm>
          <a:prstGeom prst="rect">
            <a:avLst/>
          </a:prstGeom>
          <a:no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endParaRPr>
          </a:p>
        </p:txBody>
      </p:sp>
      <p:sp>
        <p:nvSpPr>
          <p:cNvPr id="19" name="Rectangle 18">
            <a:extLst>
              <a:ext uri="{FF2B5EF4-FFF2-40B4-BE49-F238E27FC236}">
                <a16:creationId xmlns:a16="http://schemas.microsoft.com/office/drawing/2014/main" id="{1356362D-9A4F-A24B-9B7B-10F68BFFEE58}"/>
              </a:ext>
            </a:extLst>
          </p:cNvPr>
          <p:cNvSpPr/>
          <p:nvPr/>
        </p:nvSpPr>
        <p:spPr bwMode="auto">
          <a:xfrm>
            <a:off x="7016414" y="2360183"/>
            <a:ext cx="381000" cy="2929008"/>
          </a:xfrm>
          <a:prstGeom prst="rect">
            <a:avLst/>
          </a:prstGeom>
          <a:no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endParaRPr>
          </a:p>
        </p:txBody>
      </p:sp>
      <p:sp>
        <p:nvSpPr>
          <p:cNvPr id="21" name="TextBox 20">
            <a:extLst>
              <a:ext uri="{FF2B5EF4-FFF2-40B4-BE49-F238E27FC236}">
                <a16:creationId xmlns:a16="http://schemas.microsoft.com/office/drawing/2014/main" id="{686D3B4C-913C-E14A-978B-C4682F6F024F}"/>
              </a:ext>
            </a:extLst>
          </p:cNvPr>
          <p:cNvSpPr txBox="1"/>
          <p:nvPr/>
        </p:nvSpPr>
        <p:spPr>
          <a:xfrm rot="16200000">
            <a:off x="928330" y="3598571"/>
            <a:ext cx="1781257" cy="400110"/>
          </a:xfrm>
          <a:prstGeom prst="rect">
            <a:avLst/>
          </a:prstGeom>
          <a:noFill/>
        </p:spPr>
        <p:txBody>
          <a:bodyPr wrap="none" rtlCol="0">
            <a:spAutoFit/>
          </a:bodyPr>
          <a:lstStyle/>
          <a:p>
            <a:r>
              <a:rPr lang="en-US" sz="2000" dirty="0">
                <a:latin typeface="Microsoft YaHei" panose="020B0503020204020204" pitchFamily="34" charset="-122"/>
                <a:ea typeface="Microsoft YaHei" panose="020B0503020204020204" pitchFamily="34" charset="-122"/>
              </a:rPr>
              <a:t>Start Tran N</a:t>
            </a:r>
          </a:p>
        </p:txBody>
      </p:sp>
      <p:sp>
        <p:nvSpPr>
          <p:cNvPr id="22" name="TextBox 21">
            <a:extLst>
              <a:ext uri="{FF2B5EF4-FFF2-40B4-BE49-F238E27FC236}">
                <a16:creationId xmlns:a16="http://schemas.microsoft.com/office/drawing/2014/main" id="{ABE6FBDE-D96D-E944-B7FB-7FF81147C2AE}"/>
              </a:ext>
            </a:extLst>
          </p:cNvPr>
          <p:cNvSpPr txBox="1"/>
          <p:nvPr/>
        </p:nvSpPr>
        <p:spPr>
          <a:xfrm rot="16200000">
            <a:off x="6134506" y="3450801"/>
            <a:ext cx="2144818" cy="400110"/>
          </a:xfrm>
          <a:prstGeom prst="rect">
            <a:avLst/>
          </a:prstGeom>
          <a:noFill/>
        </p:spPr>
        <p:txBody>
          <a:bodyPr wrap="none" rtlCol="0">
            <a:spAutoFit/>
          </a:bodyPr>
          <a:lstStyle/>
          <a:p>
            <a:r>
              <a:rPr lang="en-US" sz="2000" dirty="0">
                <a:latin typeface="Microsoft YaHei" panose="020B0503020204020204" pitchFamily="34" charset="-122"/>
                <a:ea typeface="Microsoft YaHei" panose="020B0503020204020204" pitchFamily="34" charset="-122"/>
              </a:rPr>
              <a:t>Commit Tran N</a:t>
            </a:r>
          </a:p>
        </p:txBody>
      </p:sp>
    </p:spTree>
    <p:extLst>
      <p:ext uri="{BB962C8B-B14F-4D97-AF65-F5344CB8AC3E}">
        <p14:creationId xmlns:p14="http://schemas.microsoft.com/office/powerpoint/2010/main" val="38376002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heckerboard(across)">
                                      <p:cBhvr>
                                        <p:cTn id="7" dur="500"/>
                                        <p:tgtEl>
                                          <p:spTgt spid="10"/>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checkerboard(across)">
                                      <p:cBhvr>
                                        <p:cTn id="10" dur="500"/>
                                        <p:tgtEl>
                                          <p:spTgt spid="11"/>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checkerboard(across)">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8" grpId="0" animBg="1"/>
      <p:bldP spid="19" grpId="0" animBg="1"/>
      <p:bldP spid="21" grpId="0"/>
      <p:bldP spid="22"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Example: Creating a File</a:t>
            </a:r>
          </a:p>
        </p:txBody>
      </p:sp>
      <p:sp>
        <p:nvSpPr>
          <p:cNvPr id="9" name="Content Placeholder 8"/>
          <p:cNvSpPr>
            <a:spLocks noGrp="1"/>
          </p:cNvSpPr>
          <p:nvPr>
            <p:ph idx="1"/>
          </p:nvPr>
        </p:nvSpPr>
        <p:spPr>
          <a:xfrm>
            <a:off x="184144" y="990062"/>
            <a:ext cx="5500064" cy="5486400"/>
          </a:xfrm>
        </p:spPr>
        <p:txBody>
          <a:bodyPr>
            <a:noAutofit/>
          </a:bodyPr>
          <a:lstStyle/>
          <a:p>
            <a:r>
              <a:rPr lang="en-US" dirty="0"/>
              <a:t>Find free data block(s)</a:t>
            </a:r>
          </a:p>
          <a:p>
            <a:pPr lvl="1"/>
            <a:endParaRPr lang="en-US" sz="1800" dirty="0"/>
          </a:p>
          <a:p>
            <a:r>
              <a:rPr lang="en-US" dirty="0"/>
              <a:t>Find free </a:t>
            </a:r>
            <a:r>
              <a:rPr lang="en-US" dirty="0" err="1"/>
              <a:t>inode</a:t>
            </a:r>
            <a:r>
              <a:rPr lang="en-US" dirty="0"/>
              <a:t> entry</a:t>
            </a:r>
          </a:p>
          <a:p>
            <a:pPr lvl="1"/>
            <a:endParaRPr lang="en-US" sz="1800" dirty="0"/>
          </a:p>
          <a:p>
            <a:r>
              <a:rPr lang="en-US" dirty="0"/>
              <a:t>Find </a:t>
            </a:r>
            <a:r>
              <a:rPr lang="en-US" dirty="0" err="1"/>
              <a:t>dirent</a:t>
            </a:r>
            <a:r>
              <a:rPr lang="en-US" dirty="0"/>
              <a:t> insertion point</a:t>
            </a:r>
          </a:p>
          <a:p>
            <a:pPr marL="0" indent="0">
              <a:buNone/>
            </a:pPr>
            <a:r>
              <a:rPr lang="en-US" dirty="0"/>
              <a:t>-----------------------------------------</a:t>
            </a:r>
          </a:p>
          <a:p>
            <a:r>
              <a:rPr lang="en-US" dirty="0"/>
              <a:t>Write map (i.e., mark used)</a:t>
            </a:r>
          </a:p>
          <a:p>
            <a:pPr lvl="1"/>
            <a:endParaRPr lang="en-US" sz="1800" dirty="0"/>
          </a:p>
          <a:p>
            <a:r>
              <a:rPr lang="en-US" dirty="0"/>
              <a:t>Write </a:t>
            </a:r>
            <a:r>
              <a:rPr lang="en-US" dirty="0" err="1"/>
              <a:t>inode</a:t>
            </a:r>
            <a:r>
              <a:rPr lang="en-US" dirty="0"/>
              <a:t> entry to point to block(s)</a:t>
            </a:r>
          </a:p>
          <a:p>
            <a:pPr lvl="1"/>
            <a:endParaRPr lang="en-US" sz="1800" dirty="0"/>
          </a:p>
          <a:p>
            <a:r>
              <a:rPr lang="en-US" dirty="0"/>
              <a:t>Write </a:t>
            </a:r>
            <a:r>
              <a:rPr lang="en-US" dirty="0" err="1"/>
              <a:t>dirent</a:t>
            </a:r>
            <a:r>
              <a:rPr lang="en-US" dirty="0"/>
              <a:t> to point to </a:t>
            </a:r>
            <a:r>
              <a:rPr lang="en-US" dirty="0" err="1"/>
              <a:t>inode</a:t>
            </a:r>
            <a:endParaRPr lang="en-US" dirty="0"/>
          </a:p>
          <a:p>
            <a:endParaRPr lang="en-US" dirty="0"/>
          </a:p>
        </p:txBody>
      </p:sp>
      <p:sp>
        <p:nvSpPr>
          <p:cNvPr id="10" name="Can 9"/>
          <p:cNvSpPr/>
          <p:nvPr/>
        </p:nvSpPr>
        <p:spPr>
          <a:xfrm>
            <a:off x="5609996" y="1622297"/>
            <a:ext cx="2099734" cy="3048000"/>
          </a:xfrm>
          <a:prstGeom prst="can">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18" name="TextBox 17"/>
          <p:cNvSpPr txBox="1"/>
          <p:nvPr/>
        </p:nvSpPr>
        <p:spPr>
          <a:xfrm>
            <a:off x="7793415" y="2642464"/>
            <a:ext cx="1287532" cy="369332"/>
          </a:xfrm>
          <a:prstGeom prst="rect">
            <a:avLst/>
          </a:prstGeom>
          <a:noFill/>
        </p:spPr>
        <p:txBody>
          <a:bodyPr wrap="none" rtlCol="0">
            <a:spAutoFit/>
          </a:bodyPr>
          <a:lstStyle/>
          <a:p>
            <a:r>
              <a:rPr lang="en-US" sz="1800" b="0" dirty="0">
                <a:latin typeface="Gill Sans" charset="0"/>
                <a:ea typeface="Gill Sans" charset="0"/>
                <a:cs typeface="Gill Sans" charset="0"/>
              </a:rPr>
              <a:t>Data blocks</a:t>
            </a:r>
          </a:p>
        </p:txBody>
      </p:sp>
      <p:sp>
        <p:nvSpPr>
          <p:cNvPr id="20" name="TextBox 19"/>
          <p:cNvSpPr txBox="1"/>
          <p:nvPr/>
        </p:nvSpPr>
        <p:spPr>
          <a:xfrm>
            <a:off x="7787801" y="1831142"/>
            <a:ext cx="1293146" cy="646331"/>
          </a:xfrm>
          <a:prstGeom prst="rect">
            <a:avLst/>
          </a:prstGeom>
          <a:noFill/>
        </p:spPr>
        <p:txBody>
          <a:bodyPr wrap="square" rtlCol="0">
            <a:spAutoFit/>
          </a:bodyPr>
          <a:lstStyle/>
          <a:p>
            <a:r>
              <a:rPr lang="en-US" sz="1800" b="0" dirty="0">
                <a:latin typeface="Gill Sans" charset="0"/>
                <a:ea typeface="Gill Sans" charset="0"/>
                <a:cs typeface="Gill Sans" charset="0"/>
              </a:rPr>
              <a:t>Free space map</a:t>
            </a:r>
          </a:p>
        </p:txBody>
      </p:sp>
      <p:grpSp>
        <p:nvGrpSpPr>
          <p:cNvPr id="21" name="Group 20"/>
          <p:cNvGrpSpPr/>
          <p:nvPr/>
        </p:nvGrpSpPr>
        <p:grpSpPr>
          <a:xfrm rot="16200000">
            <a:off x="6455590" y="2028473"/>
            <a:ext cx="415498" cy="1802120"/>
            <a:chOff x="7569976" y="1270135"/>
            <a:chExt cx="415498" cy="1802120"/>
          </a:xfrm>
        </p:grpSpPr>
        <p:sp>
          <p:nvSpPr>
            <p:cNvPr id="22" name="Rectangle 21"/>
            <p:cNvSpPr/>
            <p:nvPr/>
          </p:nvSpPr>
          <p:spPr>
            <a:xfrm>
              <a:off x="7605706" y="1270135"/>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23" name="Rectangle 22"/>
            <p:cNvSpPr/>
            <p:nvPr/>
          </p:nvSpPr>
          <p:spPr>
            <a:xfrm>
              <a:off x="7605706" y="1591319"/>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24" name="Rectangle 23"/>
            <p:cNvSpPr/>
            <p:nvPr/>
          </p:nvSpPr>
          <p:spPr>
            <a:xfrm>
              <a:off x="7605706" y="1897904"/>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25" name="Rectangle 24"/>
            <p:cNvSpPr/>
            <p:nvPr/>
          </p:nvSpPr>
          <p:spPr>
            <a:xfrm>
              <a:off x="7605706" y="2219088"/>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26" name="Rectangle 25"/>
            <p:cNvSpPr/>
            <p:nvPr/>
          </p:nvSpPr>
          <p:spPr>
            <a:xfrm>
              <a:off x="7605706" y="2751071"/>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27" name="TextBox 26"/>
            <p:cNvSpPr txBox="1"/>
            <p:nvPr/>
          </p:nvSpPr>
          <p:spPr>
            <a:xfrm>
              <a:off x="7569976" y="2425537"/>
              <a:ext cx="415498" cy="369332"/>
            </a:xfrm>
            <a:prstGeom prst="rect">
              <a:avLst/>
            </a:prstGeom>
            <a:noFill/>
          </p:spPr>
          <p:txBody>
            <a:bodyPr wrap="none" rtlCol="0">
              <a:spAutoFit/>
            </a:bodyPr>
            <a:lstStyle/>
            <a:p>
              <a:r>
                <a:rPr lang="en-US" dirty="0">
                  <a:latin typeface="Gill Sans Light"/>
                  <a:cs typeface="Gill Sans Light"/>
                </a:rPr>
                <a:t>…</a:t>
              </a:r>
            </a:p>
          </p:txBody>
        </p:sp>
      </p:grpSp>
      <p:grpSp>
        <p:nvGrpSpPr>
          <p:cNvPr id="51" name="Group 50"/>
          <p:cNvGrpSpPr/>
          <p:nvPr/>
        </p:nvGrpSpPr>
        <p:grpSpPr>
          <a:xfrm>
            <a:off x="5219534" y="2308416"/>
            <a:ext cx="2561285" cy="121398"/>
            <a:chOff x="64770" y="2031999"/>
            <a:chExt cx="5082551" cy="364957"/>
          </a:xfrm>
        </p:grpSpPr>
        <p:grpSp>
          <p:nvGrpSpPr>
            <p:cNvPr id="35" name="Group 34"/>
            <p:cNvGrpSpPr/>
            <p:nvPr/>
          </p:nvGrpSpPr>
          <p:grpSpPr>
            <a:xfrm>
              <a:off x="2607047" y="2031999"/>
              <a:ext cx="1270137" cy="364957"/>
              <a:chOff x="2607047" y="2031999"/>
              <a:chExt cx="1270137" cy="364957"/>
            </a:xfrm>
          </p:grpSpPr>
          <p:sp>
            <p:nvSpPr>
              <p:cNvPr id="29" name="Rectangle 28"/>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30" name="Rectangle 29"/>
              <p:cNvSpPr/>
              <p:nvPr/>
            </p:nvSpPr>
            <p:spPr>
              <a:xfrm rot="16200000">
                <a:off x="2906344"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31" name="Rectangle 30"/>
              <p:cNvSpPr/>
              <p:nvPr/>
            </p:nvSpPr>
            <p:spPr>
              <a:xfrm rot="16200000">
                <a:off x="3212929"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32" name="Rectangle 31"/>
              <p:cNvSpPr/>
              <p:nvPr/>
            </p:nvSpPr>
            <p:spPr>
              <a:xfrm rot="16200000">
                <a:off x="3534113"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grpSp>
        <p:grpSp>
          <p:nvGrpSpPr>
            <p:cNvPr id="36" name="Group 35"/>
            <p:cNvGrpSpPr/>
            <p:nvPr/>
          </p:nvGrpSpPr>
          <p:grpSpPr>
            <a:xfrm>
              <a:off x="3877184" y="2031999"/>
              <a:ext cx="1270137" cy="364957"/>
              <a:chOff x="2607047" y="2031999"/>
              <a:chExt cx="1270137" cy="364957"/>
            </a:xfrm>
          </p:grpSpPr>
          <p:sp>
            <p:nvSpPr>
              <p:cNvPr id="37" name="Rectangle 36"/>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38" name="Rectangle 37"/>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39" name="Rectangle 38"/>
              <p:cNvSpPr/>
              <p:nvPr/>
            </p:nvSpPr>
            <p:spPr>
              <a:xfrm rot="16200000">
                <a:off x="3212929"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40" name="Rectangle 39"/>
              <p:cNvSpPr/>
              <p:nvPr/>
            </p:nvSpPr>
            <p:spPr>
              <a:xfrm rot="16200000">
                <a:off x="3534113"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grpSp>
        <p:grpSp>
          <p:nvGrpSpPr>
            <p:cNvPr id="41" name="Group 40"/>
            <p:cNvGrpSpPr/>
            <p:nvPr/>
          </p:nvGrpSpPr>
          <p:grpSpPr>
            <a:xfrm>
              <a:off x="64770" y="2031999"/>
              <a:ext cx="1270137" cy="364957"/>
              <a:chOff x="2607047" y="2031999"/>
              <a:chExt cx="1270137" cy="364957"/>
            </a:xfrm>
          </p:grpSpPr>
          <p:sp>
            <p:nvSpPr>
              <p:cNvPr id="42" name="Rectangle 41"/>
              <p:cNvSpPr/>
              <p:nvPr/>
            </p:nvSpPr>
            <p:spPr>
              <a:xfrm rot="16200000">
                <a:off x="2585160"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43" name="Rectangle 42"/>
              <p:cNvSpPr/>
              <p:nvPr/>
            </p:nvSpPr>
            <p:spPr>
              <a:xfrm rot="16200000">
                <a:off x="2906344"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44" name="Rectangle 43"/>
              <p:cNvSpPr/>
              <p:nvPr/>
            </p:nvSpPr>
            <p:spPr>
              <a:xfrm rot="16200000">
                <a:off x="3212929"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45" name="Rectangle 44"/>
              <p:cNvSpPr/>
              <p:nvPr/>
            </p:nvSpPr>
            <p:spPr>
              <a:xfrm rot="16200000">
                <a:off x="3534113"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grpSp>
        <p:grpSp>
          <p:nvGrpSpPr>
            <p:cNvPr id="46" name="Group 45"/>
            <p:cNvGrpSpPr/>
            <p:nvPr/>
          </p:nvGrpSpPr>
          <p:grpSpPr>
            <a:xfrm>
              <a:off x="1334907" y="2031999"/>
              <a:ext cx="1270137" cy="364957"/>
              <a:chOff x="2607047" y="2031999"/>
              <a:chExt cx="1270137" cy="364957"/>
            </a:xfrm>
          </p:grpSpPr>
          <p:sp>
            <p:nvSpPr>
              <p:cNvPr id="47" name="Rectangle 46"/>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48" name="Rectangle 47"/>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49" name="Rectangle 48"/>
              <p:cNvSpPr/>
              <p:nvPr/>
            </p:nvSpPr>
            <p:spPr>
              <a:xfrm rot="16200000">
                <a:off x="3212929"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50" name="Rectangle 49"/>
              <p:cNvSpPr/>
              <p:nvPr/>
            </p:nvSpPr>
            <p:spPr>
              <a:xfrm rot="16200000">
                <a:off x="3534113"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grpSp>
      </p:grpSp>
      <p:sp>
        <p:nvSpPr>
          <p:cNvPr id="69" name="Rectangle 68"/>
          <p:cNvSpPr/>
          <p:nvPr/>
        </p:nvSpPr>
        <p:spPr>
          <a:xfrm rot="16200000">
            <a:off x="7087320" y="3342493"/>
            <a:ext cx="242349" cy="240920"/>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70" name="Rectangle 69"/>
          <p:cNvSpPr/>
          <p:nvPr/>
        </p:nvSpPr>
        <p:spPr>
          <a:xfrm rot="16200000">
            <a:off x="7328240" y="3342493"/>
            <a:ext cx="242349" cy="240920"/>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1" name="Rectangle 70"/>
          <p:cNvSpPr/>
          <p:nvPr/>
        </p:nvSpPr>
        <p:spPr>
          <a:xfrm rot="16200000">
            <a:off x="7558209" y="3342493"/>
            <a:ext cx="242349" cy="240920"/>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nvGrpSpPr>
          <p:cNvPr id="55" name="Group 54"/>
          <p:cNvGrpSpPr/>
          <p:nvPr/>
        </p:nvGrpSpPr>
        <p:grpSpPr>
          <a:xfrm>
            <a:off x="5181077" y="3341778"/>
            <a:ext cx="952728" cy="242349"/>
            <a:chOff x="2607047" y="2031999"/>
            <a:chExt cx="1270137" cy="364957"/>
          </a:xfrm>
        </p:grpSpPr>
        <p:sp>
          <p:nvSpPr>
            <p:cNvPr id="61" name="Rectangle 60"/>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62" name="Rectangle 61"/>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63" name="Rectangle 62"/>
            <p:cNvSpPr/>
            <p:nvPr/>
          </p:nvSpPr>
          <p:spPr>
            <a:xfrm rot="16200000">
              <a:off x="3212929"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64" name="Rectangle 63"/>
            <p:cNvSpPr/>
            <p:nvPr/>
          </p:nvSpPr>
          <p:spPr>
            <a:xfrm rot="16200000">
              <a:off x="3534113"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grpSp>
      <p:grpSp>
        <p:nvGrpSpPr>
          <p:cNvPr id="56" name="Group 55"/>
          <p:cNvGrpSpPr/>
          <p:nvPr/>
        </p:nvGrpSpPr>
        <p:grpSpPr>
          <a:xfrm>
            <a:off x="6133805" y="3341778"/>
            <a:ext cx="952728" cy="242349"/>
            <a:chOff x="2607047" y="2031999"/>
            <a:chExt cx="1270137" cy="364957"/>
          </a:xfrm>
        </p:grpSpPr>
        <p:sp>
          <p:nvSpPr>
            <p:cNvPr id="57" name="Rectangle 56"/>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58" name="Rectangle 57"/>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59" name="Rectangle 58"/>
            <p:cNvSpPr/>
            <p:nvPr/>
          </p:nvSpPr>
          <p:spPr>
            <a:xfrm rot="16200000">
              <a:off x="3212929"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60" name="Rectangle 59"/>
            <p:cNvSpPr/>
            <p:nvPr/>
          </p:nvSpPr>
          <p:spPr>
            <a:xfrm rot="16200000">
              <a:off x="3534113"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grpSp>
      <p:sp>
        <p:nvSpPr>
          <p:cNvPr id="73" name="TextBox 72"/>
          <p:cNvSpPr txBox="1"/>
          <p:nvPr/>
        </p:nvSpPr>
        <p:spPr>
          <a:xfrm>
            <a:off x="7811612" y="3337372"/>
            <a:ext cx="1251139" cy="369332"/>
          </a:xfrm>
          <a:prstGeom prst="rect">
            <a:avLst/>
          </a:prstGeom>
          <a:noFill/>
        </p:spPr>
        <p:txBody>
          <a:bodyPr wrap="none" rtlCol="0">
            <a:spAutoFit/>
          </a:bodyPr>
          <a:lstStyle/>
          <a:p>
            <a:r>
              <a:rPr lang="en-US" sz="1800" b="0" dirty="0" err="1">
                <a:latin typeface="Gill Sans" charset="0"/>
                <a:ea typeface="Gill Sans" charset="0"/>
                <a:cs typeface="Gill Sans" charset="0"/>
              </a:rPr>
              <a:t>Inode</a:t>
            </a:r>
            <a:r>
              <a:rPr lang="en-US" sz="1800" b="0" dirty="0">
                <a:latin typeface="Gill Sans" charset="0"/>
                <a:ea typeface="Gill Sans" charset="0"/>
                <a:cs typeface="Gill Sans" charset="0"/>
              </a:rPr>
              <a:t> table</a:t>
            </a:r>
          </a:p>
        </p:txBody>
      </p:sp>
      <p:grpSp>
        <p:nvGrpSpPr>
          <p:cNvPr id="83" name="Group 82"/>
          <p:cNvGrpSpPr/>
          <p:nvPr/>
        </p:nvGrpSpPr>
        <p:grpSpPr>
          <a:xfrm>
            <a:off x="5945908" y="3708339"/>
            <a:ext cx="1457827" cy="761444"/>
            <a:chOff x="1744000" y="2182577"/>
            <a:chExt cx="1430729" cy="918973"/>
          </a:xfrm>
        </p:grpSpPr>
        <p:sp>
          <p:nvSpPr>
            <p:cNvPr id="75" name="Rectangle 74"/>
            <p:cNvSpPr/>
            <p:nvPr/>
          </p:nvSpPr>
          <p:spPr>
            <a:xfrm rot="16200000">
              <a:off x="1882705" y="2758480"/>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76" name="Rectangle 75"/>
            <p:cNvSpPr/>
            <p:nvPr/>
          </p:nvSpPr>
          <p:spPr>
            <a:xfrm rot="16200000">
              <a:off x="2203889" y="2758480"/>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77" name="Rectangle 76"/>
            <p:cNvSpPr/>
            <p:nvPr/>
          </p:nvSpPr>
          <p:spPr>
            <a:xfrm rot="16200000">
              <a:off x="2510474" y="2758480"/>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78" name="Rectangle 77"/>
            <p:cNvSpPr/>
            <p:nvPr/>
          </p:nvSpPr>
          <p:spPr>
            <a:xfrm rot="16200000">
              <a:off x="2831658" y="2758480"/>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79" name="Rectangle 78"/>
            <p:cNvSpPr/>
            <p:nvPr/>
          </p:nvSpPr>
          <p:spPr>
            <a:xfrm rot="16200000">
              <a:off x="2781130" y="2234544"/>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81" name="Rectangle 80"/>
            <p:cNvSpPr/>
            <p:nvPr/>
          </p:nvSpPr>
          <p:spPr>
            <a:xfrm rot="16200000">
              <a:off x="1722113" y="2204464"/>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82" name="Rectangle 81"/>
            <p:cNvSpPr/>
            <p:nvPr/>
          </p:nvSpPr>
          <p:spPr>
            <a:xfrm rot="16200000">
              <a:off x="2206034" y="2234544"/>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grpSp>
      <p:sp>
        <p:nvSpPr>
          <p:cNvPr id="84" name="TextBox 83"/>
          <p:cNvSpPr txBox="1"/>
          <p:nvPr/>
        </p:nvSpPr>
        <p:spPr>
          <a:xfrm>
            <a:off x="7817885" y="3955066"/>
            <a:ext cx="1110047" cy="646331"/>
          </a:xfrm>
          <a:prstGeom prst="rect">
            <a:avLst/>
          </a:prstGeom>
          <a:noFill/>
        </p:spPr>
        <p:txBody>
          <a:bodyPr wrap="none" rtlCol="0">
            <a:spAutoFit/>
          </a:bodyPr>
          <a:lstStyle/>
          <a:p>
            <a:r>
              <a:rPr lang="en-US" sz="1800" b="0" dirty="0">
                <a:latin typeface="Gill Sans" charset="0"/>
                <a:ea typeface="Gill Sans" charset="0"/>
                <a:cs typeface="Gill Sans" charset="0"/>
              </a:rPr>
              <a:t>Directory</a:t>
            </a:r>
          </a:p>
          <a:p>
            <a:r>
              <a:rPr lang="en-US" sz="1800" b="0" dirty="0">
                <a:latin typeface="Gill Sans" charset="0"/>
                <a:ea typeface="Gill Sans" charset="0"/>
                <a:cs typeface="Gill Sans" charset="0"/>
              </a:rPr>
              <a:t>entries</a:t>
            </a:r>
          </a:p>
        </p:txBody>
      </p:sp>
      <p:sp>
        <p:nvSpPr>
          <p:cNvPr id="85" name="Rectangle 84"/>
          <p:cNvSpPr/>
          <p:nvPr/>
        </p:nvSpPr>
        <p:spPr>
          <a:xfrm rot="16200000">
            <a:off x="5889522" y="2297897"/>
            <a:ext cx="121398" cy="161856"/>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86" name="Rectangle 85"/>
          <p:cNvSpPr/>
          <p:nvPr/>
        </p:nvSpPr>
        <p:spPr>
          <a:xfrm rot="16200000">
            <a:off x="6114238" y="3352203"/>
            <a:ext cx="242349" cy="240920"/>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87" name="Freeform 86"/>
          <p:cNvSpPr/>
          <p:nvPr/>
        </p:nvSpPr>
        <p:spPr>
          <a:xfrm>
            <a:off x="6250601" y="2982204"/>
            <a:ext cx="314088" cy="485144"/>
          </a:xfrm>
          <a:custGeom>
            <a:avLst/>
            <a:gdLst>
              <a:gd name="connsiteX0" fmla="*/ 14270 w 314088"/>
              <a:gd name="connsiteY0" fmla="*/ 485144 h 485144"/>
              <a:gd name="connsiteX1" fmla="*/ 28541 w 314088"/>
              <a:gd name="connsiteY1" fmla="*/ 242572 h 485144"/>
              <a:gd name="connsiteX2" fmla="*/ 271144 w 314088"/>
              <a:gd name="connsiteY2" fmla="*/ 214034 h 485144"/>
              <a:gd name="connsiteX3" fmla="*/ 313956 w 314088"/>
              <a:gd name="connsiteY3" fmla="*/ 0 h 485144"/>
              <a:gd name="connsiteX4" fmla="*/ 313956 w 314088"/>
              <a:gd name="connsiteY4" fmla="*/ 0 h 485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088" h="485144">
                <a:moveTo>
                  <a:pt x="14270" y="485144"/>
                </a:moveTo>
                <a:cubicBezTo>
                  <a:pt x="-1" y="386450"/>
                  <a:pt x="-14271" y="287757"/>
                  <a:pt x="28541" y="242572"/>
                </a:cubicBezTo>
                <a:cubicBezTo>
                  <a:pt x="71353" y="197387"/>
                  <a:pt x="223575" y="254463"/>
                  <a:pt x="271144" y="214034"/>
                </a:cubicBezTo>
                <a:cubicBezTo>
                  <a:pt x="318713" y="173605"/>
                  <a:pt x="313956" y="0"/>
                  <a:pt x="313956" y="0"/>
                </a:cubicBezTo>
                <a:lnTo>
                  <a:pt x="313956" y="0"/>
                </a:lnTo>
              </a:path>
            </a:pathLst>
          </a:custGeom>
          <a:ln>
            <a:solidFill>
              <a:srgbClr val="000090"/>
            </a:solidFill>
            <a:headEnd type="ova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Gill Sans Light"/>
              <a:cs typeface="Gill Sans Light"/>
            </a:endParaRPr>
          </a:p>
        </p:txBody>
      </p:sp>
      <p:sp>
        <p:nvSpPr>
          <p:cNvPr id="88" name="Rectangle 87"/>
          <p:cNvSpPr/>
          <p:nvPr/>
        </p:nvSpPr>
        <p:spPr>
          <a:xfrm rot="16200000">
            <a:off x="6778696" y="4154950"/>
            <a:ext cx="302397" cy="327267"/>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89" name="Freeform 88"/>
          <p:cNvSpPr/>
          <p:nvPr/>
        </p:nvSpPr>
        <p:spPr>
          <a:xfrm flipH="1">
            <a:off x="6273175" y="3584128"/>
            <a:ext cx="663309" cy="694104"/>
          </a:xfrm>
          <a:custGeom>
            <a:avLst/>
            <a:gdLst>
              <a:gd name="connsiteX0" fmla="*/ 14270 w 314088"/>
              <a:gd name="connsiteY0" fmla="*/ 485144 h 485144"/>
              <a:gd name="connsiteX1" fmla="*/ 28541 w 314088"/>
              <a:gd name="connsiteY1" fmla="*/ 242572 h 485144"/>
              <a:gd name="connsiteX2" fmla="*/ 271144 w 314088"/>
              <a:gd name="connsiteY2" fmla="*/ 214034 h 485144"/>
              <a:gd name="connsiteX3" fmla="*/ 313956 w 314088"/>
              <a:gd name="connsiteY3" fmla="*/ 0 h 485144"/>
              <a:gd name="connsiteX4" fmla="*/ 313956 w 314088"/>
              <a:gd name="connsiteY4" fmla="*/ 0 h 485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088" h="485144">
                <a:moveTo>
                  <a:pt x="14270" y="485144"/>
                </a:moveTo>
                <a:cubicBezTo>
                  <a:pt x="-1" y="386450"/>
                  <a:pt x="-14271" y="287757"/>
                  <a:pt x="28541" y="242572"/>
                </a:cubicBezTo>
                <a:cubicBezTo>
                  <a:pt x="71353" y="197387"/>
                  <a:pt x="223575" y="254463"/>
                  <a:pt x="271144" y="214034"/>
                </a:cubicBezTo>
                <a:cubicBezTo>
                  <a:pt x="318713" y="173605"/>
                  <a:pt x="313956" y="0"/>
                  <a:pt x="313956" y="0"/>
                </a:cubicBezTo>
                <a:lnTo>
                  <a:pt x="313956" y="0"/>
                </a:lnTo>
              </a:path>
            </a:pathLst>
          </a:custGeom>
          <a:ln>
            <a:solidFill>
              <a:srgbClr val="000090"/>
            </a:solidFill>
            <a:headEnd type="ova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Gill Sans Light"/>
              <a:cs typeface="Gill Sans Light"/>
            </a:endParaRPr>
          </a:p>
        </p:txBody>
      </p:sp>
      <p:sp>
        <p:nvSpPr>
          <p:cNvPr id="65" name="Rectangle 64"/>
          <p:cNvSpPr/>
          <p:nvPr/>
        </p:nvSpPr>
        <p:spPr>
          <a:xfrm rot="16200000">
            <a:off x="5867400" y="2286000"/>
            <a:ext cx="152400" cy="152400"/>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Tree>
    <p:extLst>
      <p:ext uri="{BB962C8B-B14F-4D97-AF65-F5344CB8AC3E}">
        <p14:creationId xmlns:p14="http://schemas.microsoft.com/office/powerpoint/2010/main" val="3957498088"/>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animBg="1"/>
      <p:bldP spid="86" grpId="0" animBg="1"/>
      <p:bldP spid="87" grpId="0" animBg="1"/>
      <p:bldP spid="88" grpId="0" animBg="1"/>
      <p:bldP spid="89" grpId="0" animBg="1"/>
      <p:bldP spid="65"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Ex: Creating a file (as a transaction)</a:t>
            </a:r>
          </a:p>
        </p:txBody>
      </p:sp>
      <p:sp>
        <p:nvSpPr>
          <p:cNvPr id="9" name="Content Placeholder 8"/>
          <p:cNvSpPr>
            <a:spLocks noGrp="1"/>
          </p:cNvSpPr>
          <p:nvPr>
            <p:ph idx="1"/>
          </p:nvPr>
        </p:nvSpPr>
        <p:spPr>
          <a:xfrm>
            <a:off x="121088" y="685800"/>
            <a:ext cx="5289112" cy="5642294"/>
          </a:xfrm>
        </p:spPr>
        <p:txBody>
          <a:bodyPr>
            <a:normAutofit/>
          </a:bodyPr>
          <a:lstStyle/>
          <a:p>
            <a:r>
              <a:rPr lang="en-US" dirty="0"/>
              <a:t>Find free data block(s)</a:t>
            </a:r>
          </a:p>
          <a:p>
            <a:endParaRPr lang="en-US" sz="1000" dirty="0"/>
          </a:p>
          <a:p>
            <a:r>
              <a:rPr lang="en-US" dirty="0"/>
              <a:t>Find free </a:t>
            </a:r>
            <a:r>
              <a:rPr lang="en-US" dirty="0" err="1"/>
              <a:t>inode</a:t>
            </a:r>
            <a:r>
              <a:rPr lang="en-US" dirty="0"/>
              <a:t> entry</a:t>
            </a:r>
          </a:p>
          <a:p>
            <a:endParaRPr lang="en-US" sz="1000" dirty="0"/>
          </a:p>
          <a:p>
            <a:r>
              <a:rPr lang="en-US" dirty="0"/>
              <a:t>Find </a:t>
            </a:r>
            <a:r>
              <a:rPr lang="en-US" dirty="0" err="1"/>
              <a:t>dirent</a:t>
            </a:r>
            <a:r>
              <a:rPr lang="en-US" dirty="0"/>
              <a:t> insertion point</a:t>
            </a:r>
          </a:p>
          <a:p>
            <a:pPr marL="0" indent="0">
              <a:buNone/>
            </a:pPr>
            <a:r>
              <a:rPr lang="en-US" sz="2000" dirty="0"/>
              <a:t>---------------------------------------------------------</a:t>
            </a:r>
          </a:p>
          <a:p>
            <a:r>
              <a:rPr lang="en-US" dirty="0"/>
              <a:t>[log] Write map (used)</a:t>
            </a:r>
          </a:p>
          <a:p>
            <a:endParaRPr lang="en-US" sz="1000" dirty="0"/>
          </a:p>
          <a:p>
            <a:r>
              <a:rPr lang="en-US" dirty="0"/>
              <a:t>[log] Write </a:t>
            </a:r>
            <a:r>
              <a:rPr lang="en-US" dirty="0" err="1"/>
              <a:t>inode</a:t>
            </a:r>
            <a:r>
              <a:rPr lang="en-US" dirty="0"/>
              <a:t> entry to point to block(s)</a:t>
            </a:r>
          </a:p>
          <a:p>
            <a:endParaRPr lang="en-US" sz="1000" dirty="0"/>
          </a:p>
          <a:p>
            <a:r>
              <a:rPr lang="en-US" dirty="0"/>
              <a:t>[log] Write </a:t>
            </a:r>
            <a:r>
              <a:rPr lang="en-US" dirty="0" err="1"/>
              <a:t>dirent</a:t>
            </a:r>
            <a:r>
              <a:rPr lang="en-US" dirty="0"/>
              <a:t> to point to </a:t>
            </a:r>
            <a:r>
              <a:rPr lang="en-US" dirty="0" err="1"/>
              <a:t>inode</a:t>
            </a:r>
            <a:endParaRPr lang="en-US" dirty="0"/>
          </a:p>
          <a:p>
            <a:endParaRPr lang="en-US" dirty="0"/>
          </a:p>
        </p:txBody>
      </p:sp>
      <p:sp>
        <p:nvSpPr>
          <p:cNvPr id="10" name="Can 9"/>
          <p:cNvSpPr/>
          <p:nvPr/>
        </p:nvSpPr>
        <p:spPr>
          <a:xfrm>
            <a:off x="5609996" y="1622297"/>
            <a:ext cx="2099734" cy="3048000"/>
          </a:xfrm>
          <a:prstGeom prst="can">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8" name="TextBox 17"/>
          <p:cNvSpPr txBox="1"/>
          <p:nvPr/>
        </p:nvSpPr>
        <p:spPr>
          <a:xfrm>
            <a:off x="7780819" y="2843640"/>
            <a:ext cx="1287532" cy="369332"/>
          </a:xfrm>
          <a:prstGeom prst="rect">
            <a:avLst/>
          </a:prstGeom>
          <a:noFill/>
        </p:spPr>
        <p:txBody>
          <a:bodyPr wrap="none" rtlCol="0">
            <a:spAutoFit/>
          </a:bodyPr>
          <a:lstStyle/>
          <a:p>
            <a:r>
              <a:rPr lang="en-US" b="0" dirty="0">
                <a:latin typeface="Gill Sans" charset="0"/>
                <a:ea typeface="Gill Sans" charset="0"/>
                <a:cs typeface="Gill Sans" charset="0"/>
              </a:rPr>
              <a:t>Data blocks</a:t>
            </a:r>
          </a:p>
        </p:txBody>
      </p:sp>
      <p:sp>
        <p:nvSpPr>
          <p:cNvPr id="20" name="TextBox 19"/>
          <p:cNvSpPr txBox="1"/>
          <p:nvPr/>
        </p:nvSpPr>
        <p:spPr>
          <a:xfrm>
            <a:off x="7850854" y="2123750"/>
            <a:ext cx="1293146" cy="646331"/>
          </a:xfrm>
          <a:prstGeom prst="rect">
            <a:avLst/>
          </a:prstGeom>
          <a:noFill/>
        </p:spPr>
        <p:txBody>
          <a:bodyPr wrap="square" rtlCol="0">
            <a:spAutoFit/>
          </a:bodyPr>
          <a:lstStyle/>
          <a:p>
            <a:r>
              <a:rPr lang="en-US" b="0" dirty="0">
                <a:latin typeface="Gill Sans" charset="0"/>
                <a:ea typeface="Gill Sans" charset="0"/>
                <a:cs typeface="Gill Sans" charset="0"/>
              </a:rPr>
              <a:t>Free space map</a:t>
            </a:r>
          </a:p>
        </p:txBody>
      </p:sp>
      <p:grpSp>
        <p:nvGrpSpPr>
          <p:cNvPr id="21" name="Group 20"/>
          <p:cNvGrpSpPr/>
          <p:nvPr/>
        </p:nvGrpSpPr>
        <p:grpSpPr>
          <a:xfrm rot="16200000">
            <a:off x="6455590" y="2028473"/>
            <a:ext cx="415498" cy="1802120"/>
            <a:chOff x="7569976" y="1270135"/>
            <a:chExt cx="415498" cy="1802120"/>
          </a:xfrm>
        </p:grpSpPr>
        <p:sp>
          <p:nvSpPr>
            <p:cNvPr id="22" name="Rectangle 21"/>
            <p:cNvSpPr/>
            <p:nvPr/>
          </p:nvSpPr>
          <p:spPr>
            <a:xfrm>
              <a:off x="7605706" y="1270135"/>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3" name="Rectangle 22"/>
            <p:cNvSpPr/>
            <p:nvPr/>
          </p:nvSpPr>
          <p:spPr>
            <a:xfrm>
              <a:off x="7605706" y="1591319"/>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4" name="Rectangle 23"/>
            <p:cNvSpPr/>
            <p:nvPr/>
          </p:nvSpPr>
          <p:spPr>
            <a:xfrm>
              <a:off x="7605706" y="1897904"/>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5" name="Rectangle 24"/>
            <p:cNvSpPr/>
            <p:nvPr/>
          </p:nvSpPr>
          <p:spPr>
            <a:xfrm>
              <a:off x="7605706" y="2219088"/>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6" name="Rectangle 25"/>
            <p:cNvSpPr/>
            <p:nvPr/>
          </p:nvSpPr>
          <p:spPr>
            <a:xfrm>
              <a:off x="7605706" y="2751071"/>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7" name="TextBox 26"/>
            <p:cNvSpPr txBox="1"/>
            <p:nvPr/>
          </p:nvSpPr>
          <p:spPr>
            <a:xfrm>
              <a:off x="7569976" y="2425537"/>
              <a:ext cx="415498" cy="369332"/>
            </a:xfrm>
            <a:prstGeom prst="rect">
              <a:avLst/>
            </a:prstGeom>
            <a:noFill/>
          </p:spPr>
          <p:txBody>
            <a:bodyPr wrap="none" rtlCol="0">
              <a:spAutoFit/>
            </a:bodyPr>
            <a:lstStyle/>
            <a:p>
              <a:r>
                <a:rPr lang="en-US" b="0" dirty="0">
                  <a:latin typeface="Gill Sans" charset="0"/>
                  <a:ea typeface="Gill Sans" charset="0"/>
                  <a:cs typeface="Gill Sans" charset="0"/>
                </a:rPr>
                <a:t>…</a:t>
              </a:r>
            </a:p>
          </p:txBody>
        </p:sp>
      </p:grpSp>
      <p:grpSp>
        <p:nvGrpSpPr>
          <p:cNvPr id="35" name="Group 34"/>
          <p:cNvGrpSpPr/>
          <p:nvPr/>
        </p:nvGrpSpPr>
        <p:grpSpPr>
          <a:xfrm>
            <a:off x="6500681" y="2308416"/>
            <a:ext cx="640069" cy="121398"/>
            <a:chOff x="2607047" y="2031999"/>
            <a:chExt cx="1270137" cy="364957"/>
          </a:xfrm>
        </p:grpSpPr>
        <p:sp>
          <p:nvSpPr>
            <p:cNvPr id="29" name="Rectangle 28"/>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30" name="Rectangle 29"/>
            <p:cNvSpPr/>
            <p:nvPr/>
          </p:nvSpPr>
          <p:spPr>
            <a:xfrm rot="16200000">
              <a:off x="2906344"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31" name="Rectangle 30"/>
            <p:cNvSpPr/>
            <p:nvPr/>
          </p:nvSpPr>
          <p:spPr>
            <a:xfrm rot="16200000">
              <a:off x="3212929"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32" name="Rectangle 31"/>
            <p:cNvSpPr/>
            <p:nvPr/>
          </p:nvSpPr>
          <p:spPr>
            <a:xfrm rot="16200000">
              <a:off x="3534113"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grpSp>
        <p:nvGrpSpPr>
          <p:cNvPr id="36" name="Group 35"/>
          <p:cNvGrpSpPr/>
          <p:nvPr/>
        </p:nvGrpSpPr>
        <p:grpSpPr>
          <a:xfrm>
            <a:off x="7140750" y="2308416"/>
            <a:ext cx="640069" cy="121398"/>
            <a:chOff x="2607047" y="2031999"/>
            <a:chExt cx="1270137" cy="364957"/>
          </a:xfrm>
        </p:grpSpPr>
        <p:sp>
          <p:nvSpPr>
            <p:cNvPr id="37" name="Rectangle 36"/>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38" name="Rectangle 37"/>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39" name="Rectangle 38"/>
            <p:cNvSpPr/>
            <p:nvPr/>
          </p:nvSpPr>
          <p:spPr>
            <a:xfrm rot="16200000">
              <a:off x="3212929"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0" name="Rectangle 39"/>
            <p:cNvSpPr/>
            <p:nvPr/>
          </p:nvSpPr>
          <p:spPr>
            <a:xfrm rot="16200000">
              <a:off x="3534113"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grpSp>
        <p:nvGrpSpPr>
          <p:cNvPr id="41" name="Group 40"/>
          <p:cNvGrpSpPr/>
          <p:nvPr/>
        </p:nvGrpSpPr>
        <p:grpSpPr>
          <a:xfrm>
            <a:off x="5219534" y="2308416"/>
            <a:ext cx="640069" cy="121398"/>
            <a:chOff x="2607047" y="2031999"/>
            <a:chExt cx="1270137" cy="364957"/>
          </a:xfrm>
        </p:grpSpPr>
        <p:sp>
          <p:nvSpPr>
            <p:cNvPr id="42" name="Rectangle 41"/>
            <p:cNvSpPr/>
            <p:nvPr/>
          </p:nvSpPr>
          <p:spPr>
            <a:xfrm rot="16200000">
              <a:off x="2585160"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3" name="Rectangle 42"/>
            <p:cNvSpPr/>
            <p:nvPr/>
          </p:nvSpPr>
          <p:spPr>
            <a:xfrm rot="16200000">
              <a:off x="2906344"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4" name="Rectangle 43"/>
            <p:cNvSpPr/>
            <p:nvPr/>
          </p:nvSpPr>
          <p:spPr>
            <a:xfrm rot="16200000">
              <a:off x="3212929"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5" name="Rectangle 44"/>
            <p:cNvSpPr/>
            <p:nvPr/>
          </p:nvSpPr>
          <p:spPr>
            <a:xfrm rot="16200000">
              <a:off x="3534113"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grpSp>
        <p:nvGrpSpPr>
          <p:cNvPr id="46" name="Group 45"/>
          <p:cNvGrpSpPr/>
          <p:nvPr/>
        </p:nvGrpSpPr>
        <p:grpSpPr>
          <a:xfrm>
            <a:off x="5859603" y="2308416"/>
            <a:ext cx="640069" cy="121398"/>
            <a:chOff x="2607047" y="2031999"/>
            <a:chExt cx="1270137" cy="364957"/>
          </a:xfrm>
        </p:grpSpPr>
        <p:sp>
          <p:nvSpPr>
            <p:cNvPr id="47" name="Rectangle 46"/>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8" name="Rectangle 47"/>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9" name="Rectangle 48"/>
            <p:cNvSpPr/>
            <p:nvPr/>
          </p:nvSpPr>
          <p:spPr>
            <a:xfrm rot="16200000">
              <a:off x="3212929"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50" name="Rectangle 49"/>
            <p:cNvSpPr/>
            <p:nvPr/>
          </p:nvSpPr>
          <p:spPr>
            <a:xfrm rot="16200000">
              <a:off x="3534113"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69" name="Rectangle 68"/>
          <p:cNvSpPr/>
          <p:nvPr/>
        </p:nvSpPr>
        <p:spPr>
          <a:xfrm rot="16200000">
            <a:off x="7087320" y="3342493"/>
            <a:ext cx="242349" cy="240920"/>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0" name="Rectangle 69"/>
          <p:cNvSpPr/>
          <p:nvPr/>
        </p:nvSpPr>
        <p:spPr>
          <a:xfrm rot="16200000">
            <a:off x="7328240" y="3342493"/>
            <a:ext cx="242349" cy="240920"/>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1" name="Rectangle 70"/>
          <p:cNvSpPr/>
          <p:nvPr/>
        </p:nvSpPr>
        <p:spPr>
          <a:xfrm rot="16200000">
            <a:off x="7558209" y="3342493"/>
            <a:ext cx="242349" cy="240920"/>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nvGrpSpPr>
          <p:cNvPr id="55" name="Group 54"/>
          <p:cNvGrpSpPr/>
          <p:nvPr/>
        </p:nvGrpSpPr>
        <p:grpSpPr>
          <a:xfrm>
            <a:off x="5181077" y="3341778"/>
            <a:ext cx="952728" cy="242349"/>
            <a:chOff x="2607047" y="2031999"/>
            <a:chExt cx="1270137" cy="364957"/>
          </a:xfrm>
        </p:grpSpPr>
        <p:sp>
          <p:nvSpPr>
            <p:cNvPr id="61" name="Rectangle 60"/>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62" name="Rectangle 61"/>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63" name="Rectangle 62"/>
            <p:cNvSpPr/>
            <p:nvPr/>
          </p:nvSpPr>
          <p:spPr>
            <a:xfrm rot="16200000">
              <a:off x="3212929"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64" name="Rectangle 63"/>
            <p:cNvSpPr/>
            <p:nvPr/>
          </p:nvSpPr>
          <p:spPr>
            <a:xfrm rot="16200000">
              <a:off x="3534113"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grpSp>
        <p:nvGrpSpPr>
          <p:cNvPr id="56" name="Group 55"/>
          <p:cNvGrpSpPr/>
          <p:nvPr/>
        </p:nvGrpSpPr>
        <p:grpSpPr>
          <a:xfrm>
            <a:off x="6133805" y="3341778"/>
            <a:ext cx="952728" cy="242349"/>
            <a:chOff x="2607047" y="2031999"/>
            <a:chExt cx="1270137" cy="364957"/>
          </a:xfrm>
        </p:grpSpPr>
        <p:sp>
          <p:nvSpPr>
            <p:cNvPr id="57" name="Rectangle 56"/>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58" name="Rectangle 57"/>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59" name="Rectangle 58"/>
            <p:cNvSpPr/>
            <p:nvPr/>
          </p:nvSpPr>
          <p:spPr>
            <a:xfrm rot="16200000">
              <a:off x="3212929"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60" name="Rectangle 59"/>
            <p:cNvSpPr/>
            <p:nvPr/>
          </p:nvSpPr>
          <p:spPr>
            <a:xfrm rot="16200000">
              <a:off x="3534113"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73" name="TextBox 72"/>
          <p:cNvSpPr txBox="1"/>
          <p:nvPr/>
        </p:nvSpPr>
        <p:spPr>
          <a:xfrm>
            <a:off x="7884929" y="3284702"/>
            <a:ext cx="1251139" cy="369332"/>
          </a:xfrm>
          <a:prstGeom prst="rect">
            <a:avLst/>
          </a:prstGeom>
          <a:noFill/>
        </p:spPr>
        <p:txBody>
          <a:bodyPr wrap="none" rtlCol="0">
            <a:spAutoFit/>
          </a:bodyPr>
          <a:lstStyle/>
          <a:p>
            <a:r>
              <a:rPr lang="en-US" b="0" dirty="0" err="1">
                <a:latin typeface="Gill Sans" charset="0"/>
                <a:ea typeface="Gill Sans" charset="0"/>
                <a:cs typeface="Gill Sans" charset="0"/>
              </a:rPr>
              <a:t>Inode</a:t>
            </a:r>
            <a:r>
              <a:rPr lang="en-US" b="0" dirty="0">
                <a:latin typeface="Gill Sans" charset="0"/>
                <a:ea typeface="Gill Sans" charset="0"/>
                <a:cs typeface="Gill Sans" charset="0"/>
              </a:rPr>
              <a:t> table</a:t>
            </a:r>
          </a:p>
        </p:txBody>
      </p:sp>
      <p:grpSp>
        <p:nvGrpSpPr>
          <p:cNvPr id="83" name="Group 82"/>
          <p:cNvGrpSpPr/>
          <p:nvPr/>
        </p:nvGrpSpPr>
        <p:grpSpPr>
          <a:xfrm>
            <a:off x="5945908" y="3708339"/>
            <a:ext cx="1457827" cy="761444"/>
            <a:chOff x="1744000" y="2182577"/>
            <a:chExt cx="1430729" cy="918973"/>
          </a:xfrm>
        </p:grpSpPr>
        <p:sp>
          <p:nvSpPr>
            <p:cNvPr id="75" name="Rectangle 74"/>
            <p:cNvSpPr/>
            <p:nvPr/>
          </p:nvSpPr>
          <p:spPr>
            <a:xfrm rot="16200000">
              <a:off x="1882705" y="2758480"/>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6" name="Rectangle 75"/>
            <p:cNvSpPr/>
            <p:nvPr/>
          </p:nvSpPr>
          <p:spPr>
            <a:xfrm rot="16200000">
              <a:off x="2203889" y="2758480"/>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7" name="Rectangle 76"/>
            <p:cNvSpPr/>
            <p:nvPr/>
          </p:nvSpPr>
          <p:spPr>
            <a:xfrm rot="16200000">
              <a:off x="2510474" y="2758480"/>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8" name="Rectangle 77"/>
            <p:cNvSpPr/>
            <p:nvPr/>
          </p:nvSpPr>
          <p:spPr>
            <a:xfrm rot="16200000">
              <a:off x="2831658" y="2758480"/>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9" name="Rectangle 78"/>
            <p:cNvSpPr/>
            <p:nvPr/>
          </p:nvSpPr>
          <p:spPr>
            <a:xfrm rot="16200000">
              <a:off x="2781130" y="2234544"/>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81" name="Rectangle 80"/>
            <p:cNvSpPr/>
            <p:nvPr/>
          </p:nvSpPr>
          <p:spPr>
            <a:xfrm rot="16200000">
              <a:off x="1722113" y="2204464"/>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82" name="Rectangle 81"/>
            <p:cNvSpPr/>
            <p:nvPr/>
          </p:nvSpPr>
          <p:spPr>
            <a:xfrm rot="16200000">
              <a:off x="2206034" y="2234544"/>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84" name="TextBox 83"/>
          <p:cNvSpPr txBox="1"/>
          <p:nvPr/>
        </p:nvSpPr>
        <p:spPr>
          <a:xfrm>
            <a:off x="7892861" y="3982719"/>
            <a:ext cx="1110047" cy="646331"/>
          </a:xfrm>
          <a:prstGeom prst="rect">
            <a:avLst/>
          </a:prstGeom>
          <a:noFill/>
        </p:spPr>
        <p:txBody>
          <a:bodyPr wrap="none" rtlCol="0">
            <a:spAutoFit/>
          </a:bodyPr>
          <a:lstStyle/>
          <a:p>
            <a:r>
              <a:rPr lang="en-US" b="0" dirty="0">
                <a:latin typeface="Gill Sans" charset="0"/>
                <a:ea typeface="Gill Sans" charset="0"/>
                <a:cs typeface="Gill Sans" charset="0"/>
              </a:rPr>
              <a:t>Directory</a:t>
            </a:r>
          </a:p>
          <a:p>
            <a:r>
              <a:rPr lang="en-US" b="0" dirty="0">
                <a:latin typeface="Gill Sans" charset="0"/>
                <a:ea typeface="Gill Sans" charset="0"/>
                <a:cs typeface="Gill Sans" charset="0"/>
              </a:rPr>
              <a:t>entries</a:t>
            </a:r>
          </a:p>
        </p:txBody>
      </p:sp>
      <p:sp>
        <p:nvSpPr>
          <p:cNvPr id="86" name="Rectangle 85"/>
          <p:cNvSpPr/>
          <p:nvPr/>
        </p:nvSpPr>
        <p:spPr>
          <a:xfrm rot="16200000">
            <a:off x="6114238" y="3352203"/>
            <a:ext cx="242349" cy="240920"/>
          </a:xfrm>
          <a:prstGeom prst="rect">
            <a:avLst/>
          </a:prstGeom>
          <a:solidFill>
            <a:srgbClr val="FFFF00">
              <a:alpha val="16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88" name="Rectangle 87"/>
          <p:cNvSpPr/>
          <p:nvPr/>
        </p:nvSpPr>
        <p:spPr>
          <a:xfrm rot="16200000">
            <a:off x="6778696" y="4154950"/>
            <a:ext cx="302397" cy="327267"/>
          </a:xfrm>
          <a:prstGeom prst="rect">
            <a:avLst/>
          </a:prstGeom>
          <a:solidFill>
            <a:srgbClr val="FFFF00">
              <a:alpha val="27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66" name="Rectangle 65"/>
          <p:cNvSpPr/>
          <p:nvPr/>
        </p:nvSpPr>
        <p:spPr>
          <a:xfrm>
            <a:off x="756351" y="5336575"/>
            <a:ext cx="7930449" cy="623473"/>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 name="TextBox 1"/>
          <p:cNvSpPr txBox="1"/>
          <p:nvPr/>
        </p:nvSpPr>
        <p:spPr>
          <a:xfrm>
            <a:off x="1019736" y="6229290"/>
            <a:ext cx="5355953" cy="400110"/>
          </a:xfrm>
          <a:prstGeom prst="rect">
            <a:avLst/>
          </a:prstGeom>
          <a:noFill/>
        </p:spPr>
        <p:txBody>
          <a:bodyPr wrap="none" rtlCol="0">
            <a:spAutoFit/>
          </a:bodyPr>
          <a:lstStyle/>
          <a:p>
            <a:r>
              <a:rPr lang="en-US" sz="2000" b="0" dirty="0">
                <a:latin typeface="Gill Sans" charset="0"/>
                <a:ea typeface="Gill Sans" charset="0"/>
                <a:cs typeface="Gill Sans" charset="0"/>
              </a:rPr>
              <a:t>Log: in non-volatile storage (Flash or on Disk)</a:t>
            </a:r>
          </a:p>
        </p:txBody>
      </p:sp>
      <p:sp>
        <p:nvSpPr>
          <p:cNvPr id="3" name="TextBox 2"/>
          <p:cNvSpPr txBox="1"/>
          <p:nvPr/>
        </p:nvSpPr>
        <p:spPr>
          <a:xfrm>
            <a:off x="4381128" y="4670297"/>
            <a:ext cx="624578" cy="369332"/>
          </a:xfrm>
          <a:prstGeom prst="rect">
            <a:avLst/>
          </a:prstGeom>
          <a:noFill/>
        </p:spPr>
        <p:txBody>
          <a:bodyPr wrap="none" rtlCol="0">
            <a:spAutoFit/>
          </a:bodyPr>
          <a:lstStyle/>
          <a:p>
            <a:r>
              <a:rPr lang="en-US" b="0" dirty="0">
                <a:solidFill>
                  <a:srgbClr val="FF0000"/>
                </a:solidFill>
                <a:latin typeface="Gill Sans" charset="0"/>
                <a:ea typeface="Gill Sans" charset="0"/>
                <a:cs typeface="Gill Sans" charset="0"/>
              </a:rPr>
              <a:t>head</a:t>
            </a:r>
          </a:p>
        </p:txBody>
      </p:sp>
      <p:cxnSp>
        <p:nvCxnSpPr>
          <p:cNvPr id="11" name="Straight Arrow Connector 10"/>
          <p:cNvCxnSpPr>
            <a:stCxn id="3" idx="2"/>
          </p:cNvCxnSpPr>
          <p:nvPr/>
        </p:nvCxnSpPr>
        <p:spPr>
          <a:xfrm>
            <a:off x="4693417" y="5039629"/>
            <a:ext cx="1669" cy="296947"/>
          </a:xfrm>
          <a:prstGeom prst="straightConnector1">
            <a:avLst/>
          </a:prstGeom>
          <a:ln>
            <a:solidFill>
              <a:srgbClr val="FC230C"/>
            </a:solidFill>
            <a:tailEnd type="arrow"/>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2797878" y="4670297"/>
            <a:ext cx="461986" cy="369332"/>
          </a:xfrm>
          <a:prstGeom prst="rect">
            <a:avLst/>
          </a:prstGeom>
          <a:noFill/>
        </p:spPr>
        <p:txBody>
          <a:bodyPr wrap="none" rtlCol="0">
            <a:spAutoFit/>
          </a:bodyPr>
          <a:lstStyle/>
          <a:p>
            <a:r>
              <a:rPr lang="en-US" b="0" dirty="0">
                <a:latin typeface="Gill Sans" charset="0"/>
                <a:ea typeface="Gill Sans" charset="0"/>
                <a:cs typeface="Gill Sans" charset="0"/>
              </a:rPr>
              <a:t>tail</a:t>
            </a:r>
          </a:p>
        </p:txBody>
      </p:sp>
      <p:cxnSp>
        <p:nvCxnSpPr>
          <p:cNvPr id="74" name="Straight Arrow Connector 73"/>
          <p:cNvCxnSpPr>
            <a:stCxn id="72" idx="2"/>
          </p:cNvCxnSpPr>
          <p:nvPr/>
        </p:nvCxnSpPr>
        <p:spPr>
          <a:xfrm>
            <a:off x="3028871" y="5039629"/>
            <a:ext cx="82965" cy="29694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80" name="Rectangle 79"/>
          <p:cNvSpPr/>
          <p:nvPr/>
        </p:nvSpPr>
        <p:spPr>
          <a:xfrm>
            <a:off x="3111835" y="5346286"/>
            <a:ext cx="1583250" cy="613762"/>
          </a:xfrm>
          <a:prstGeom prst="rect">
            <a:avLst/>
          </a:prstGeom>
          <a:solidFill>
            <a:schemeClr val="accent6">
              <a:lumMod val="60000"/>
              <a:lumOff val="40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90" name="TextBox 89"/>
          <p:cNvSpPr txBox="1"/>
          <p:nvPr/>
        </p:nvSpPr>
        <p:spPr>
          <a:xfrm>
            <a:off x="3434873" y="5346286"/>
            <a:ext cx="902811" cy="369332"/>
          </a:xfrm>
          <a:prstGeom prst="rect">
            <a:avLst/>
          </a:prstGeom>
          <a:noFill/>
        </p:spPr>
        <p:txBody>
          <a:bodyPr wrap="none" rtlCol="0">
            <a:spAutoFit/>
          </a:bodyPr>
          <a:lstStyle/>
          <a:p>
            <a:r>
              <a:rPr lang="en-US" b="0" dirty="0">
                <a:latin typeface="Gill Sans" charset="0"/>
                <a:ea typeface="Gill Sans" charset="0"/>
                <a:cs typeface="Gill Sans" charset="0"/>
              </a:rPr>
              <a:t>pending</a:t>
            </a:r>
          </a:p>
        </p:txBody>
      </p:sp>
      <p:sp>
        <p:nvSpPr>
          <p:cNvPr id="91" name="TextBox 90"/>
          <p:cNvSpPr txBox="1"/>
          <p:nvPr/>
        </p:nvSpPr>
        <p:spPr>
          <a:xfrm>
            <a:off x="2026450" y="5349778"/>
            <a:ext cx="663801" cy="369332"/>
          </a:xfrm>
          <a:prstGeom prst="rect">
            <a:avLst/>
          </a:prstGeom>
          <a:noFill/>
        </p:spPr>
        <p:txBody>
          <a:bodyPr wrap="none" rtlCol="0">
            <a:spAutoFit/>
          </a:bodyPr>
          <a:lstStyle/>
          <a:p>
            <a:r>
              <a:rPr lang="en-US" b="0" dirty="0">
                <a:latin typeface="Gill Sans" charset="0"/>
                <a:ea typeface="Gill Sans" charset="0"/>
                <a:cs typeface="Gill Sans" charset="0"/>
              </a:rPr>
              <a:t>done</a:t>
            </a:r>
          </a:p>
        </p:txBody>
      </p:sp>
      <p:grpSp>
        <p:nvGrpSpPr>
          <p:cNvPr id="17" name="Group 16"/>
          <p:cNvGrpSpPr/>
          <p:nvPr/>
        </p:nvGrpSpPr>
        <p:grpSpPr>
          <a:xfrm>
            <a:off x="4707450" y="5039628"/>
            <a:ext cx="393295" cy="920420"/>
            <a:chOff x="4707450" y="5039628"/>
            <a:chExt cx="393295" cy="920420"/>
          </a:xfrm>
        </p:grpSpPr>
        <p:sp>
          <p:nvSpPr>
            <p:cNvPr id="12" name="TextBox 11"/>
            <p:cNvSpPr txBox="1"/>
            <p:nvPr/>
          </p:nvSpPr>
          <p:spPr>
            <a:xfrm rot="16200000">
              <a:off x="4581774" y="5465041"/>
              <a:ext cx="620683" cy="369332"/>
            </a:xfrm>
            <a:prstGeom prst="rect">
              <a:avLst/>
            </a:prstGeom>
            <a:solidFill>
              <a:schemeClr val="accent3">
                <a:lumMod val="40000"/>
                <a:lumOff val="60000"/>
              </a:schemeClr>
            </a:solidFill>
            <a:ln>
              <a:solidFill>
                <a:srgbClr val="000090"/>
              </a:solidFill>
            </a:ln>
          </p:spPr>
          <p:txBody>
            <a:bodyPr wrap="none" rtlCol="0">
              <a:spAutoFit/>
            </a:bodyPr>
            <a:lstStyle/>
            <a:p>
              <a:r>
                <a:rPr lang="en-US" b="0" dirty="0">
                  <a:latin typeface="Gill Sans" charset="0"/>
                  <a:ea typeface="Gill Sans" charset="0"/>
                  <a:cs typeface="Gill Sans" charset="0"/>
                </a:rPr>
                <a:t>start</a:t>
              </a:r>
            </a:p>
          </p:txBody>
        </p:sp>
        <p:cxnSp>
          <p:nvCxnSpPr>
            <p:cNvPr id="112" name="Straight Arrow Connector 111"/>
            <p:cNvCxnSpPr/>
            <p:nvPr/>
          </p:nvCxnSpPr>
          <p:spPr>
            <a:xfrm flipH="1">
              <a:off x="5088380" y="5039628"/>
              <a:ext cx="12365" cy="296947"/>
            </a:xfrm>
            <a:prstGeom prst="straightConnector1">
              <a:avLst/>
            </a:prstGeom>
            <a:ln>
              <a:solidFill>
                <a:srgbClr val="FC230C"/>
              </a:solidFill>
              <a:tailEnd type="arrow"/>
            </a:ln>
          </p:spPr>
          <p:style>
            <a:lnRef idx="2">
              <a:schemeClr val="accent1"/>
            </a:lnRef>
            <a:fillRef idx="0">
              <a:schemeClr val="accent1"/>
            </a:fillRef>
            <a:effectRef idx="1">
              <a:schemeClr val="accent1"/>
            </a:effectRef>
            <a:fontRef idx="minor">
              <a:schemeClr val="tx1"/>
            </a:fontRef>
          </p:style>
        </p:cxnSp>
      </p:grpSp>
      <p:grpSp>
        <p:nvGrpSpPr>
          <p:cNvPr id="19" name="Group 18"/>
          <p:cNvGrpSpPr/>
          <p:nvPr/>
        </p:nvGrpSpPr>
        <p:grpSpPr>
          <a:xfrm>
            <a:off x="5076782" y="2429814"/>
            <a:ext cx="816103" cy="3530235"/>
            <a:chOff x="5076782" y="2429814"/>
            <a:chExt cx="816103" cy="3530235"/>
          </a:xfrm>
        </p:grpSpPr>
        <p:grpSp>
          <p:nvGrpSpPr>
            <p:cNvPr id="16" name="Group 15"/>
            <p:cNvGrpSpPr/>
            <p:nvPr/>
          </p:nvGrpSpPr>
          <p:grpSpPr>
            <a:xfrm>
              <a:off x="5076782" y="2429814"/>
              <a:ext cx="816103" cy="3530235"/>
              <a:chOff x="5076782" y="2429814"/>
              <a:chExt cx="816103" cy="3530235"/>
            </a:xfrm>
          </p:grpSpPr>
          <p:grpSp>
            <p:nvGrpSpPr>
              <p:cNvPr id="13" name="Group 12"/>
              <p:cNvGrpSpPr/>
              <p:nvPr/>
            </p:nvGrpSpPr>
            <p:grpSpPr>
              <a:xfrm>
                <a:off x="5135148" y="5628477"/>
                <a:ext cx="640069" cy="131108"/>
                <a:chOff x="5252815" y="1247958"/>
                <a:chExt cx="640069" cy="131108"/>
              </a:xfrm>
            </p:grpSpPr>
            <p:grpSp>
              <p:nvGrpSpPr>
                <p:cNvPr id="92" name="Group 91"/>
                <p:cNvGrpSpPr/>
                <p:nvPr/>
              </p:nvGrpSpPr>
              <p:grpSpPr>
                <a:xfrm>
                  <a:off x="5252815" y="1247958"/>
                  <a:ext cx="640069" cy="121398"/>
                  <a:chOff x="2607047" y="2031999"/>
                  <a:chExt cx="1270137" cy="364957"/>
                </a:xfrm>
              </p:grpSpPr>
              <p:sp>
                <p:nvSpPr>
                  <p:cNvPr id="93" name="Rectangle 92"/>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94" name="Rectangle 93"/>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95" name="Rectangle 94"/>
                  <p:cNvSpPr/>
                  <p:nvPr/>
                </p:nvSpPr>
                <p:spPr>
                  <a:xfrm rot="16200000">
                    <a:off x="3212929"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96" name="Rectangle 95"/>
                  <p:cNvSpPr/>
                  <p:nvPr/>
                </p:nvSpPr>
                <p:spPr>
                  <a:xfrm rot="16200000">
                    <a:off x="3534113"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97" name="Rectangle 96"/>
                <p:cNvSpPr/>
                <p:nvPr/>
              </p:nvSpPr>
              <p:spPr>
                <a:xfrm rot="16200000">
                  <a:off x="5282734" y="1237439"/>
                  <a:ext cx="121398" cy="161856"/>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14" name="Rectangle 13"/>
              <p:cNvSpPr/>
              <p:nvPr/>
            </p:nvSpPr>
            <p:spPr>
              <a:xfrm>
                <a:off x="5076782" y="5349778"/>
                <a:ext cx="698435" cy="610271"/>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98" name="Freeform 97"/>
              <p:cNvSpPr/>
              <p:nvPr/>
            </p:nvSpPr>
            <p:spPr>
              <a:xfrm>
                <a:off x="5248206" y="2429814"/>
                <a:ext cx="644679" cy="3009496"/>
              </a:xfrm>
              <a:custGeom>
                <a:avLst/>
                <a:gdLst>
                  <a:gd name="connsiteX0" fmla="*/ 14270 w 314088"/>
                  <a:gd name="connsiteY0" fmla="*/ 485144 h 485144"/>
                  <a:gd name="connsiteX1" fmla="*/ 28541 w 314088"/>
                  <a:gd name="connsiteY1" fmla="*/ 242572 h 485144"/>
                  <a:gd name="connsiteX2" fmla="*/ 271144 w 314088"/>
                  <a:gd name="connsiteY2" fmla="*/ 214034 h 485144"/>
                  <a:gd name="connsiteX3" fmla="*/ 313956 w 314088"/>
                  <a:gd name="connsiteY3" fmla="*/ 0 h 485144"/>
                  <a:gd name="connsiteX4" fmla="*/ 313956 w 314088"/>
                  <a:gd name="connsiteY4" fmla="*/ 0 h 485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088" h="485144">
                    <a:moveTo>
                      <a:pt x="14270" y="485144"/>
                    </a:moveTo>
                    <a:cubicBezTo>
                      <a:pt x="-1" y="386450"/>
                      <a:pt x="-14271" y="287757"/>
                      <a:pt x="28541" y="242572"/>
                    </a:cubicBezTo>
                    <a:cubicBezTo>
                      <a:pt x="71353" y="197387"/>
                      <a:pt x="223575" y="254463"/>
                      <a:pt x="271144" y="214034"/>
                    </a:cubicBezTo>
                    <a:cubicBezTo>
                      <a:pt x="318713" y="173605"/>
                      <a:pt x="313956" y="0"/>
                      <a:pt x="313956" y="0"/>
                    </a:cubicBezTo>
                    <a:lnTo>
                      <a:pt x="313956" y="0"/>
                    </a:lnTo>
                  </a:path>
                </a:pathLst>
              </a:custGeom>
              <a:ln>
                <a:solidFill>
                  <a:srgbClr val="000090"/>
                </a:solidFill>
                <a:headEnd type="ova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a:latin typeface="Gill Sans" charset="0"/>
                  <a:ea typeface="Gill Sans" charset="0"/>
                  <a:cs typeface="Gill Sans" charset="0"/>
                </a:endParaRPr>
              </a:p>
            </p:txBody>
          </p:sp>
        </p:grpSp>
        <p:cxnSp>
          <p:nvCxnSpPr>
            <p:cNvPr id="113" name="Straight Arrow Connector 112"/>
            <p:cNvCxnSpPr/>
            <p:nvPr/>
          </p:nvCxnSpPr>
          <p:spPr>
            <a:xfrm flipH="1">
              <a:off x="5765683" y="5060102"/>
              <a:ext cx="12365" cy="296947"/>
            </a:xfrm>
            <a:prstGeom prst="straightConnector1">
              <a:avLst/>
            </a:prstGeom>
            <a:ln>
              <a:solidFill>
                <a:srgbClr val="FC230C"/>
              </a:solidFill>
              <a:tailEnd type="arrow"/>
            </a:ln>
          </p:spPr>
          <p:style>
            <a:lnRef idx="2">
              <a:schemeClr val="accent1"/>
            </a:lnRef>
            <a:fillRef idx="0">
              <a:schemeClr val="accent1"/>
            </a:fillRef>
            <a:effectRef idx="1">
              <a:schemeClr val="accent1"/>
            </a:effectRef>
            <a:fontRef idx="minor">
              <a:schemeClr val="tx1"/>
            </a:fontRef>
          </p:style>
        </p:cxnSp>
      </p:grpSp>
      <p:grpSp>
        <p:nvGrpSpPr>
          <p:cNvPr id="28" name="Group 27"/>
          <p:cNvGrpSpPr/>
          <p:nvPr/>
        </p:nvGrpSpPr>
        <p:grpSpPr>
          <a:xfrm>
            <a:off x="5786022" y="3654034"/>
            <a:ext cx="818671" cy="2301654"/>
            <a:chOff x="5786022" y="3654034"/>
            <a:chExt cx="818671" cy="2301654"/>
          </a:xfrm>
        </p:grpSpPr>
        <p:grpSp>
          <p:nvGrpSpPr>
            <p:cNvPr id="99" name="Group 98"/>
            <p:cNvGrpSpPr/>
            <p:nvPr/>
          </p:nvGrpSpPr>
          <p:grpSpPr>
            <a:xfrm>
              <a:off x="5892885" y="5589588"/>
              <a:ext cx="711808" cy="242349"/>
              <a:chOff x="2607047" y="2031999"/>
              <a:chExt cx="948953" cy="364957"/>
            </a:xfrm>
          </p:grpSpPr>
          <p:sp>
            <p:nvSpPr>
              <p:cNvPr id="100" name="Rectangle 99"/>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01" name="Rectangle 100"/>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02" name="Rectangle 101"/>
              <p:cNvSpPr/>
              <p:nvPr/>
            </p:nvSpPr>
            <p:spPr>
              <a:xfrm rot="16200000">
                <a:off x="3212929"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104" name="Rectangle 103"/>
            <p:cNvSpPr/>
            <p:nvPr/>
          </p:nvSpPr>
          <p:spPr>
            <a:xfrm rot="16200000">
              <a:off x="5873319" y="5600013"/>
              <a:ext cx="242349" cy="240920"/>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05" name="Freeform 104"/>
            <p:cNvSpPr/>
            <p:nvPr/>
          </p:nvSpPr>
          <p:spPr>
            <a:xfrm>
              <a:off x="5970966" y="3654034"/>
              <a:ext cx="212349" cy="2018098"/>
            </a:xfrm>
            <a:custGeom>
              <a:avLst/>
              <a:gdLst>
                <a:gd name="connsiteX0" fmla="*/ 14270 w 314088"/>
                <a:gd name="connsiteY0" fmla="*/ 485144 h 485144"/>
                <a:gd name="connsiteX1" fmla="*/ 28541 w 314088"/>
                <a:gd name="connsiteY1" fmla="*/ 242572 h 485144"/>
                <a:gd name="connsiteX2" fmla="*/ 271144 w 314088"/>
                <a:gd name="connsiteY2" fmla="*/ 214034 h 485144"/>
                <a:gd name="connsiteX3" fmla="*/ 313956 w 314088"/>
                <a:gd name="connsiteY3" fmla="*/ 0 h 485144"/>
                <a:gd name="connsiteX4" fmla="*/ 313956 w 314088"/>
                <a:gd name="connsiteY4" fmla="*/ 0 h 485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088" h="485144">
                  <a:moveTo>
                    <a:pt x="14270" y="485144"/>
                  </a:moveTo>
                  <a:cubicBezTo>
                    <a:pt x="-1" y="386450"/>
                    <a:pt x="-14271" y="287757"/>
                    <a:pt x="28541" y="242572"/>
                  </a:cubicBezTo>
                  <a:cubicBezTo>
                    <a:pt x="71353" y="197387"/>
                    <a:pt x="223575" y="254463"/>
                    <a:pt x="271144" y="214034"/>
                  </a:cubicBezTo>
                  <a:cubicBezTo>
                    <a:pt x="318713" y="173605"/>
                    <a:pt x="313956" y="0"/>
                    <a:pt x="313956" y="0"/>
                  </a:cubicBezTo>
                  <a:lnTo>
                    <a:pt x="313956" y="0"/>
                  </a:lnTo>
                </a:path>
              </a:pathLst>
            </a:custGeom>
            <a:ln>
              <a:solidFill>
                <a:srgbClr val="000090"/>
              </a:solidFill>
              <a:headEnd type="ova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a:latin typeface="Gill Sans" charset="0"/>
                <a:ea typeface="Gill Sans" charset="0"/>
                <a:cs typeface="Gill Sans" charset="0"/>
              </a:endParaRPr>
            </a:p>
          </p:txBody>
        </p:sp>
        <p:sp>
          <p:nvSpPr>
            <p:cNvPr id="108" name="Rectangle 107"/>
            <p:cNvSpPr/>
            <p:nvPr/>
          </p:nvSpPr>
          <p:spPr>
            <a:xfrm>
              <a:off x="5786022" y="5345417"/>
              <a:ext cx="818671" cy="610271"/>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cxnSp>
          <p:nvCxnSpPr>
            <p:cNvPr id="114" name="Straight Arrow Connector 113"/>
            <p:cNvCxnSpPr/>
            <p:nvPr/>
          </p:nvCxnSpPr>
          <p:spPr>
            <a:xfrm flipH="1">
              <a:off x="6592328" y="5052831"/>
              <a:ext cx="12365" cy="296947"/>
            </a:xfrm>
            <a:prstGeom prst="straightConnector1">
              <a:avLst/>
            </a:prstGeom>
            <a:ln>
              <a:solidFill>
                <a:srgbClr val="FC230C"/>
              </a:solidFill>
              <a:tailEnd type="arrow"/>
            </a:ln>
          </p:spPr>
          <p:style>
            <a:lnRef idx="2">
              <a:schemeClr val="accent1"/>
            </a:lnRef>
            <a:fillRef idx="0">
              <a:schemeClr val="accent1"/>
            </a:fillRef>
            <a:effectRef idx="1">
              <a:schemeClr val="accent1"/>
            </a:effectRef>
            <a:fontRef idx="minor">
              <a:schemeClr val="tx1"/>
            </a:fontRef>
          </p:style>
        </p:cxnSp>
      </p:grpSp>
      <p:grpSp>
        <p:nvGrpSpPr>
          <p:cNvPr id="33" name="Group 32"/>
          <p:cNvGrpSpPr/>
          <p:nvPr/>
        </p:nvGrpSpPr>
        <p:grpSpPr>
          <a:xfrm>
            <a:off x="6500681" y="4469782"/>
            <a:ext cx="929690" cy="1480844"/>
            <a:chOff x="6500681" y="4469782"/>
            <a:chExt cx="929690" cy="1480844"/>
          </a:xfrm>
        </p:grpSpPr>
        <p:sp>
          <p:nvSpPr>
            <p:cNvPr id="106" name="Rectangle 105"/>
            <p:cNvSpPr/>
            <p:nvPr/>
          </p:nvSpPr>
          <p:spPr>
            <a:xfrm rot="16200000">
              <a:off x="6686856" y="5497369"/>
              <a:ext cx="302397" cy="327267"/>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07" name="Rectangle 106"/>
            <p:cNvSpPr/>
            <p:nvPr/>
          </p:nvSpPr>
          <p:spPr>
            <a:xfrm rot="16200000">
              <a:off x="7014123" y="5500978"/>
              <a:ext cx="302397" cy="327267"/>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09" name="Rectangle 108"/>
            <p:cNvSpPr/>
            <p:nvPr/>
          </p:nvSpPr>
          <p:spPr>
            <a:xfrm>
              <a:off x="6609893" y="5340355"/>
              <a:ext cx="818671" cy="610271"/>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10" name="Freeform 109"/>
            <p:cNvSpPr/>
            <p:nvPr/>
          </p:nvSpPr>
          <p:spPr>
            <a:xfrm flipH="1">
              <a:off x="6500681" y="4469782"/>
              <a:ext cx="469611" cy="969527"/>
            </a:xfrm>
            <a:custGeom>
              <a:avLst/>
              <a:gdLst>
                <a:gd name="connsiteX0" fmla="*/ 14270 w 314088"/>
                <a:gd name="connsiteY0" fmla="*/ 485144 h 485144"/>
                <a:gd name="connsiteX1" fmla="*/ 28541 w 314088"/>
                <a:gd name="connsiteY1" fmla="*/ 242572 h 485144"/>
                <a:gd name="connsiteX2" fmla="*/ 271144 w 314088"/>
                <a:gd name="connsiteY2" fmla="*/ 214034 h 485144"/>
                <a:gd name="connsiteX3" fmla="*/ 313956 w 314088"/>
                <a:gd name="connsiteY3" fmla="*/ 0 h 485144"/>
                <a:gd name="connsiteX4" fmla="*/ 313956 w 314088"/>
                <a:gd name="connsiteY4" fmla="*/ 0 h 485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088" h="485144">
                  <a:moveTo>
                    <a:pt x="14270" y="485144"/>
                  </a:moveTo>
                  <a:cubicBezTo>
                    <a:pt x="-1" y="386450"/>
                    <a:pt x="-14271" y="287757"/>
                    <a:pt x="28541" y="242572"/>
                  </a:cubicBezTo>
                  <a:cubicBezTo>
                    <a:pt x="71353" y="197387"/>
                    <a:pt x="223575" y="254463"/>
                    <a:pt x="271144" y="214034"/>
                  </a:cubicBezTo>
                  <a:cubicBezTo>
                    <a:pt x="318713" y="173605"/>
                    <a:pt x="313956" y="0"/>
                    <a:pt x="313956" y="0"/>
                  </a:cubicBezTo>
                  <a:lnTo>
                    <a:pt x="313956" y="0"/>
                  </a:lnTo>
                </a:path>
              </a:pathLst>
            </a:custGeom>
            <a:ln>
              <a:solidFill>
                <a:srgbClr val="000090"/>
              </a:solidFill>
              <a:headEnd type="ova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a:latin typeface="Gill Sans" charset="0"/>
                <a:ea typeface="Gill Sans" charset="0"/>
                <a:cs typeface="Gill Sans" charset="0"/>
              </a:endParaRPr>
            </a:p>
          </p:txBody>
        </p:sp>
        <p:cxnSp>
          <p:nvCxnSpPr>
            <p:cNvPr id="115" name="Straight Arrow Connector 114"/>
            <p:cNvCxnSpPr/>
            <p:nvPr/>
          </p:nvCxnSpPr>
          <p:spPr>
            <a:xfrm flipH="1">
              <a:off x="7418006" y="5056748"/>
              <a:ext cx="12365" cy="296947"/>
            </a:xfrm>
            <a:prstGeom prst="straightConnector1">
              <a:avLst/>
            </a:prstGeom>
            <a:ln>
              <a:solidFill>
                <a:srgbClr val="FC230C"/>
              </a:solidFill>
              <a:tailEnd type="arrow"/>
            </a:ln>
          </p:spPr>
          <p:style>
            <a:lnRef idx="2">
              <a:schemeClr val="accent1"/>
            </a:lnRef>
            <a:fillRef idx="0">
              <a:schemeClr val="accent1"/>
            </a:fillRef>
            <a:effectRef idx="1">
              <a:schemeClr val="accent1"/>
            </a:effectRef>
            <a:fontRef idx="minor">
              <a:schemeClr val="tx1"/>
            </a:fontRef>
          </p:style>
        </p:cxnSp>
      </p:grpSp>
      <p:grpSp>
        <p:nvGrpSpPr>
          <p:cNvPr id="34" name="Group 33"/>
          <p:cNvGrpSpPr/>
          <p:nvPr/>
        </p:nvGrpSpPr>
        <p:grpSpPr>
          <a:xfrm>
            <a:off x="7448914" y="5081369"/>
            <a:ext cx="386686" cy="1030294"/>
            <a:chOff x="7448914" y="5081369"/>
            <a:chExt cx="386686" cy="1030294"/>
          </a:xfrm>
        </p:grpSpPr>
        <p:sp>
          <p:nvSpPr>
            <p:cNvPr id="111" name="TextBox 110"/>
            <p:cNvSpPr txBox="1"/>
            <p:nvPr/>
          </p:nvSpPr>
          <p:spPr>
            <a:xfrm rot="16200000">
              <a:off x="7182036" y="5475454"/>
              <a:ext cx="903087" cy="369332"/>
            </a:xfrm>
            <a:prstGeom prst="rect">
              <a:avLst/>
            </a:prstGeom>
            <a:solidFill>
              <a:schemeClr val="accent3">
                <a:lumMod val="40000"/>
                <a:lumOff val="60000"/>
              </a:schemeClr>
            </a:solidFill>
            <a:ln>
              <a:solidFill>
                <a:srgbClr val="000090"/>
              </a:solidFill>
            </a:ln>
          </p:spPr>
          <p:txBody>
            <a:bodyPr wrap="none" rtlCol="0">
              <a:spAutoFit/>
            </a:bodyPr>
            <a:lstStyle/>
            <a:p>
              <a:r>
                <a:rPr lang="en-US" b="0" dirty="0">
                  <a:latin typeface="Gill Sans" charset="0"/>
                  <a:ea typeface="Gill Sans" charset="0"/>
                  <a:cs typeface="Gill Sans" charset="0"/>
                </a:rPr>
                <a:t>commit</a:t>
              </a:r>
            </a:p>
          </p:txBody>
        </p:sp>
        <p:cxnSp>
          <p:nvCxnSpPr>
            <p:cNvPr id="116" name="Straight Arrow Connector 115"/>
            <p:cNvCxnSpPr/>
            <p:nvPr/>
          </p:nvCxnSpPr>
          <p:spPr>
            <a:xfrm flipH="1">
              <a:off x="7823235" y="5081369"/>
              <a:ext cx="12365" cy="296947"/>
            </a:xfrm>
            <a:prstGeom prst="straightConnector1">
              <a:avLst/>
            </a:prstGeom>
            <a:ln>
              <a:solidFill>
                <a:srgbClr val="FC230C"/>
              </a:solidFill>
              <a:tailEnd type="arrow"/>
            </a:ln>
          </p:spPr>
          <p:style>
            <a:lnRef idx="2">
              <a:schemeClr val="accent1"/>
            </a:lnRef>
            <a:fillRef idx="0">
              <a:schemeClr val="accent1"/>
            </a:fillRef>
            <a:effectRef idx="1">
              <a:schemeClr val="accent1"/>
            </a:effectRef>
            <a:fontRef idx="minor">
              <a:schemeClr val="tx1"/>
            </a:fontRef>
          </p:style>
        </p:cxnSp>
      </p:grpSp>
      <p:sp>
        <p:nvSpPr>
          <p:cNvPr id="103" name="Rectangle 102"/>
          <p:cNvSpPr/>
          <p:nvPr/>
        </p:nvSpPr>
        <p:spPr>
          <a:xfrm rot="16200000">
            <a:off x="5867402" y="2286001"/>
            <a:ext cx="152400" cy="152397"/>
          </a:xfrm>
          <a:prstGeom prst="rect">
            <a:avLst/>
          </a:prstGeom>
          <a:solidFill>
            <a:srgbClr val="FFFF00">
              <a:alpha val="16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Tree>
    <p:extLst>
      <p:ext uri="{BB962C8B-B14F-4D97-AF65-F5344CB8AC3E}">
        <p14:creationId xmlns:p14="http://schemas.microsoft.com/office/powerpoint/2010/main" val="280053869"/>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nodeType="clickEffect">
                                  <p:stCondLst>
                                    <p:cond delay="0"/>
                                  </p:stCondLst>
                                  <p:childTnLst>
                                    <p:set>
                                      <p:cBhvr>
                                        <p:cTn id="46" dur="1" fill="hold">
                                          <p:stCondLst>
                                            <p:cond delay="0"/>
                                          </p:stCondLst>
                                        </p:cTn>
                                        <p:tgtEl>
                                          <p:spTgt spid="34"/>
                                        </p:tgtEl>
                                        <p:attrNameLst>
                                          <p:attrName>style.visibility</p:attrName>
                                        </p:attrNameLst>
                                      </p:cBhvr>
                                      <p:to>
                                        <p:strVal val="visible"/>
                                      </p:to>
                                    </p:set>
                                    <p:anim calcmode="lin" valueType="num">
                                      <p:cBhvr>
                                        <p:cTn id="47" dur="500" fill="hold"/>
                                        <p:tgtEl>
                                          <p:spTgt spid="34"/>
                                        </p:tgtEl>
                                        <p:attrNameLst>
                                          <p:attrName>ppt_w</p:attrName>
                                        </p:attrNameLst>
                                      </p:cBhvr>
                                      <p:tavLst>
                                        <p:tav tm="0">
                                          <p:val>
                                            <p:fltVal val="0"/>
                                          </p:val>
                                        </p:tav>
                                        <p:tav tm="100000">
                                          <p:val>
                                            <p:strVal val="#ppt_w"/>
                                          </p:val>
                                        </p:tav>
                                      </p:tavLst>
                                    </p:anim>
                                    <p:anim calcmode="lin" valueType="num">
                                      <p:cBhvr>
                                        <p:cTn id="48" dur="500" fill="hold"/>
                                        <p:tgtEl>
                                          <p:spTgt spid="34"/>
                                        </p:tgtEl>
                                        <p:attrNameLst>
                                          <p:attrName>ppt_h</p:attrName>
                                        </p:attrNameLst>
                                      </p:cBhvr>
                                      <p:tavLst>
                                        <p:tav tm="0">
                                          <p:val>
                                            <p:fltVal val="0"/>
                                          </p:val>
                                        </p:tav>
                                        <p:tav tm="100000">
                                          <p:val>
                                            <p:strVal val="#ppt_h"/>
                                          </p:val>
                                        </p:tav>
                                      </p:tavLst>
                                    </p:anim>
                                    <p:animEffect transition="in" filter="fade">
                                      <p:cBhvr>
                                        <p:cTn id="49" dur="500"/>
                                        <p:tgtEl>
                                          <p:spTgt spid="34"/>
                                        </p:tgtEl>
                                      </p:cBhvr>
                                    </p:animEffect>
                                  </p:childTnLst>
                                </p:cTn>
                              </p:par>
                            </p:childTnLst>
                          </p:cTn>
                        </p:par>
                      </p:childTnLst>
                    </p:cTn>
                  </p:par>
                  <p:par>
                    <p:cTn id="50" fill="hold">
                      <p:stCondLst>
                        <p:cond delay="indefinite"/>
                      </p:stCondLst>
                      <p:childTnLst>
                        <p:par>
                          <p:cTn id="51" fill="hold">
                            <p:stCondLst>
                              <p:cond delay="0"/>
                            </p:stCondLst>
                            <p:childTnLst>
                              <p:par>
                                <p:cTn id="52" presetID="8" presetClass="emph" presetSubtype="0" fill="hold" nodeType="clickEffect">
                                  <p:stCondLst>
                                    <p:cond delay="0"/>
                                  </p:stCondLst>
                                  <p:childTnLst>
                                    <p:animRot by="21600000">
                                      <p:cBhvr>
                                        <p:cTn id="53" dur="2000" fill="hold"/>
                                        <p:tgtEl>
                                          <p:spTgt spid="3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P spid="86" grpId="0" animBg="1"/>
      <p:bldP spid="88" grpId="0" animBg="1"/>
      <p:bldP spid="103"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Title 7"/>
          <p:cNvSpPr>
            <a:spLocks noGrp="1"/>
          </p:cNvSpPr>
          <p:nvPr>
            <p:ph type="title"/>
          </p:nvPr>
        </p:nvSpPr>
        <p:spPr>
          <a:xfrm>
            <a:off x="1143000" y="215437"/>
            <a:ext cx="6858000" cy="685801"/>
          </a:xfrm>
        </p:spPr>
        <p:txBody>
          <a:bodyPr/>
          <a:lstStyle/>
          <a:p>
            <a:r>
              <a:rPr lang="en-US" dirty="0"/>
              <a:t>“Redo Log “ – Replay Transactions</a:t>
            </a:r>
          </a:p>
        </p:txBody>
      </p:sp>
      <p:sp>
        <p:nvSpPr>
          <p:cNvPr id="9" name="Content Placeholder 8"/>
          <p:cNvSpPr>
            <a:spLocks noGrp="1"/>
          </p:cNvSpPr>
          <p:nvPr>
            <p:ph idx="1"/>
          </p:nvPr>
        </p:nvSpPr>
        <p:spPr>
          <a:xfrm>
            <a:off x="172413" y="1276669"/>
            <a:ext cx="4856787" cy="3828731"/>
          </a:xfrm>
        </p:spPr>
        <p:txBody>
          <a:bodyPr>
            <a:normAutofit/>
          </a:bodyPr>
          <a:lstStyle/>
          <a:p>
            <a:r>
              <a:rPr lang="en-US" dirty="0"/>
              <a:t>After Commit</a:t>
            </a:r>
          </a:p>
          <a:p>
            <a:endParaRPr lang="en-US" dirty="0"/>
          </a:p>
          <a:p>
            <a:r>
              <a:rPr lang="en-US" dirty="0"/>
              <a:t>All access to file system first looks in log</a:t>
            </a:r>
          </a:p>
          <a:p>
            <a:endParaRPr lang="en-US" dirty="0"/>
          </a:p>
          <a:p>
            <a:r>
              <a:rPr lang="en-US" dirty="0"/>
              <a:t>Eventually copy changes to disk</a:t>
            </a:r>
          </a:p>
          <a:p>
            <a:endParaRPr lang="en-US" dirty="0"/>
          </a:p>
        </p:txBody>
      </p:sp>
      <p:sp>
        <p:nvSpPr>
          <p:cNvPr id="10" name="Can 9"/>
          <p:cNvSpPr/>
          <p:nvPr/>
        </p:nvSpPr>
        <p:spPr>
          <a:xfrm>
            <a:off x="5609996" y="1622297"/>
            <a:ext cx="2099734" cy="3048000"/>
          </a:xfrm>
          <a:prstGeom prst="can">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8" name="TextBox 17"/>
          <p:cNvSpPr txBox="1"/>
          <p:nvPr/>
        </p:nvSpPr>
        <p:spPr>
          <a:xfrm>
            <a:off x="7780819" y="2843640"/>
            <a:ext cx="1287532" cy="369332"/>
          </a:xfrm>
          <a:prstGeom prst="rect">
            <a:avLst/>
          </a:prstGeom>
          <a:noFill/>
        </p:spPr>
        <p:txBody>
          <a:bodyPr wrap="none" rtlCol="0">
            <a:spAutoFit/>
          </a:bodyPr>
          <a:lstStyle/>
          <a:p>
            <a:r>
              <a:rPr lang="en-US" b="0" dirty="0">
                <a:latin typeface="Gill Sans" charset="0"/>
                <a:ea typeface="Gill Sans" charset="0"/>
                <a:cs typeface="Gill Sans" charset="0"/>
              </a:rPr>
              <a:t>Data blocks</a:t>
            </a:r>
          </a:p>
        </p:txBody>
      </p:sp>
      <p:sp>
        <p:nvSpPr>
          <p:cNvPr id="20" name="TextBox 19"/>
          <p:cNvSpPr txBox="1"/>
          <p:nvPr/>
        </p:nvSpPr>
        <p:spPr>
          <a:xfrm>
            <a:off x="7850854" y="2123750"/>
            <a:ext cx="1293146" cy="646331"/>
          </a:xfrm>
          <a:prstGeom prst="rect">
            <a:avLst/>
          </a:prstGeom>
          <a:noFill/>
        </p:spPr>
        <p:txBody>
          <a:bodyPr wrap="square" rtlCol="0">
            <a:spAutoFit/>
          </a:bodyPr>
          <a:lstStyle/>
          <a:p>
            <a:r>
              <a:rPr lang="en-US" b="0" dirty="0">
                <a:latin typeface="Gill Sans" charset="0"/>
                <a:ea typeface="Gill Sans" charset="0"/>
                <a:cs typeface="Gill Sans" charset="0"/>
              </a:rPr>
              <a:t>Free space map</a:t>
            </a:r>
          </a:p>
        </p:txBody>
      </p:sp>
      <p:grpSp>
        <p:nvGrpSpPr>
          <p:cNvPr id="21" name="Group 20"/>
          <p:cNvGrpSpPr/>
          <p:nvPr/>
        </p:nvGrpSpPr>
        <p:grpSpPr>
          <a:xfrm rot="16200000">
            <a:off x="6455590" y="2028473"/>
            <a:ext cx="415498" cy="1802120"/>
            <a:chOff x="7569976" y="1270135"/>
            <a:chExt cx="415498" cy="1802120"/>
          </a:xfrm>
        </p:grpSpPr>
        <p:sp>
          <p:nvSpPr>
            <p:cNvPr id="22" name="Rectangle 21"/>
            <p:cNvSpPr/>
            <p:nvPr/>
          </p:nvSpPr>
          <p:spPr>
            <a:xfrm>
              <a:off x="7605706" y="1270135"/>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3" name="Rectangle 22"/>
            <p:cNvSpPr/>
            <p:nvPr/>
          </p:nvSpPr>
          <p:spPr>
            <a:xfrm>
              <a:off x="7605706" y="1591319"/>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4" name="Rectangle 23"/>
            <p:cNvSpPr/>
            <p:nvPr/>
          </p:nvSpPr>
          <p:spPr>
            <a:xfrm>
              <a:off x="7605706" y="1897904"/>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5" name="Rectangle 24"/>
            <p:cNvSpPr/>
            <p:nvPr/>
          </p:nvSpPr>
          <p:spPr>
            <a:xfrm>
              <a:off x="7605706" y="2219088"/>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6" name="Rectangle 25"/>
            <p:cNvSpPr/>
            <p:nvPr/>
          </p:nvSpPr>
          <p:spPr>
            <a:xfrm>
              <a:off x="7605706" y="2751071"/>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7" name="TextBox 26"/>
            <p:cNvSpPr txBox="1"/>
            <p:nvPr/>
          </p:nvSpPr>
          <p:spPr>
            <a:xfrm>
              <a:off x="7569976" y="2425537"/>
              <a:ext cx="415498" cy="369332"/>
            </a:xfrm>
            <a:prstGeom prst="rect">
              <a:avLst/>
            </a:prstGeom>
            <a:noFill/>
          </p:spPr>
          <p:txBody>
            <a:bodyPr wrap="none" rtlCol="0">
              <a:spAutoFit/>
            </a:bodyPr>
            <a:lstStyle/>
            <a:p>
              <a:r>
                <a:rPr lang="en-US" b="0" dirty="0">
                  <a:latin typeface="Gill Sans" charset="0"/>
                  <a:ea typeface="Gill Sans" charset="0"/>
                  <a:cs typeface="Gill Sans" charset="0"/>
                </a:rPr>
                <a:t>…</a:t>
              </a:r>
            </a:p>
          </p:txBody>
        </p:sp>
      </p:grpSp>
      <p:grpSp>
        <p:nvGrpSpPr>
          <p:cNvPr id="35" name="Group 34"/>
          <p:cNvGrpSpPr/>
          <p:nvPr/>
        </p:nvGrpSpPr>
        <p:grpSpPr>
          <a:xfrm>
            <a:off x="6500681" y="2308416"/>
            <a:ext cx="640069" cy="121398"/>
            <a:chOff x="2607047" y="2031999"/>
            <a:chExt cx="1270137" cy="364957"/>
          </a:xfrm>
        </p:grpSpPr>
        <p:sp>
          <p:nvSpPr>
            <p:cNvPr id="29" name="Rectangle 28"/>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30" name="Rectangle 29"/>
            <p:cNvSpPr/>
            <p:nvPr/>
          </p:nvSpPr>
          <p:spPr>
            <a:xfrm rot="16200000">
              <a:off x="2906344"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31" name="Rectangle 30"/>
            <p:cNvSpPr/>
            <p:nvPr/>
          </p:nvSpPr>
          <p:spPr>
            <a:xfrm rot="16200000">
              <a:off x="3212929"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32" name="Rectangle 31"/>
            <p:cNvSpPr/>
            <p:nvPr/>
          </p:nvSpPr>
          <p:spPr>
            <a:xfrm rot="16200000">
              <a:off x="3534113"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grpSp>
        <p:nvGrpSpPr>
          <p:cNvPr id="36" name="Group 35"/>
          <p:cNvGrpSpPr/>
          <p:nvPr/>
        </p:nvGrpSpPr>
        <p:grpSpPr>
          <a:xfrm>
            <a:off x="7140750" y="2308416"/>
            <a:ext cx="640069" cy="121398"/>
            <a:chOff x="2607047" y="2031999"/>
            <a:chExt cx="1270137" cy="364957"/>
          </a:xfrm>
        </p:grpSpPr>
        <p:sp>
          <p:nvSpPr>
            <p:cNvPr id="37" name="Rectangle 36"/>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38" name="Rectangle 37"/>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39" name="Rectangle 38"/>
            <p:cNvSpPr/>
            <p:nvPr/>
          </p:nvSpPr>
          <p:spPr>
            <a:xfrm rot="16200000">
              <a:off x="3212929"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0" name="Rectangle 39"/>
            <p:cNvSpPr/>
            <p:nvPr/>
          </p:nvSpPr>
          <p:spPr>
            <a:xfrm rot="16200000">
              <a:off x="3534113"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grpSp>
        <p:nvGrpSpPr>
          <p:cNvPr id="41" name="Group 40"/>
          <p:cNvGrpSpPr/>
          <p:nvPr/>
        </p:nvGrpSpPr>
        <p:grpSpPr>
          <a:xfrm>
            <a:off x="5219534" y="2308416"/>
            <a:ext cx="640069" cy="121398"/>
            <a:chOff x="2607047" y="2031999"/>
            <a:chExt cx="1270137" cy="364957"/>
          </a:xfrm>
        </p:grpSpPr>
        <p:sp>
          <p:nvSpPr>
            <p:cNvPr id="42" name="Rectangle 41"/>
            <p:cNvSpPr/>
            <p:nvPr/>
          </p:nvSpPr>
          <p:spPr>
            <a:xfrm rot="16200000">
              <a:off x="2585160"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3" name="Rectangle 42"/>
            <p:cNvSpPr/>
            <p:nvPr/>
          </p:nvSpPr>
          <p:spPr>
            <a:xfrm rot="16200000">
              <a:off x="2906344"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4" name="Rectangle 43"/>
            <p:cNvSpPr/>
            <p:nvPr/>
          </p:nvSpPr>
          <p:spPr>
            <a:xfrm rot="16200000">
              <a:off x="3212929"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5" name="Rectangle 44"/>
            <p:cNvSpPr/>
            <p:nvPr/>
          </p:nvSpPr>
          <p:spPr>
            <a:xfrm rot="16200000">
              <a:off x="3534113"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grpSp>
        <p:nvGrpSpPr>
          <p:cNvPr id="46" name="Group 45"/>
          <p:cNvGrpSpPr/>
          <p:nvPr/>
        </p:nvGrpSpPr>
        <p:grpSpPr>
          <a:xfrm>
            <a:off x="5859603" y="2308416"/>
            <a:ext cx="640069" cy="121398"/>
            <a:chOff x="2607047" y="2031999"/>
            <a:chExt cx="1270137" cy="364957"/>
          </a:xfrm>
        </p:grpSpPr>
        <p:sp>
          <p:nvSpPr>
            <p:cNvPr id="47" name="Rectangle 46"/>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8" name="Rectangle 47"/>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9" name="Rectangle 48"/>
            <p:cNvSpPr/>
            <p:nvPr/>
          </p:nvSpPr>
          <p:spPr>
            <a:xfrm rot="16200000">
              <a:off x="3212929"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50" name="Rectangle 49"/>
            <p:cNvSpPr/>
            <p:nvPr/>
          </p:nvSpPr>
          <p:spPr>
            <a:xfrm rot="16200000">
              <a:off x="3534113"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69" name="Rectangle 68"/>
          <p:cNvSpPr/>
          <p:nvPr/>
        </p:nvSpPr>
        <p:spPr>
          <a:xfrm rot="16200000">
            <a:off x="7087320" y="3342493"/>
            <a:ext cx="242349" cy="240920"/>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0" name="Rectangle 69"/>
          <p:cNvSpPr/>
          <p:nvPr/>
        </p:nvSpPr>
        <p:spPr>
          <a:xfrm rot="16200000">
            <a:off x="7328240" y="3342493"/>
            <a:ext cx="242349" cy="240920"/>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1" name="Rectangle 70"/>
          <p:cNvSpPr/>
          <p:nvPr/>
        </p:nvSpPr>
        <p:spPr>
          <a:xfrm rot="16200000">
            <a:off x="7558209" y="3342493"/>
            <a:ext cx="242349" cy="240920"/>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nvGrpSpPr>
          <p:cNvPr id="55" name="Group 54"/>
          <p:cNvGrpSpPr/>
          <p:nvPr/>
        </p:nvGrpSpPr>
        <p:grpSpPr>
          <a:xfrm>
            <a:off x="5181077" y="3341778"/>
            <a:ext cx="952728" cy="242349"/>
            <a:chOff x="2607047" y="2031999"/>
            <a:chExt cx="1270137" cy="364957"/>
          </a:xfrm>
        </p:grpSpPr>
        <p:sp>
          <p:nvSpPr>
            <p:cNvPr id="61" name="Rectangle 60"/>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62" name="Rectangle 61"/>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63" name="Rectangle 62"/>
            <p:cNvSpPr/>
            <p:nvPr/>
          </p:nvSpPr>
          <p:spPr>
            <a:xfrm rot="16200000">
              <a:off x="3212929"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64" name="Rectangle 63"/>
            <p:cNvSpPr/>
            <p:nvPr/>
          </p:nvSpPr>
          <p:spPr>
            <a:xfrm rot="16200000">
              <a:off x="3534113"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grpSp>
        <p:nvGrpSpPr>
          <p:cNvPr id="56" name="Group 55"/>
          <p:cNvGrpSpPr/>
          <p:nvPr/>
        </p:nvGrpSpPr>
        <p:grpSpPr>
          <a:xfrm>
            <a:off x="6133805" y="3341778"/>
            <a:ext cx="952728" cy="242349"/>
            <a:chOff x="2607047" y="2031999"/>
            <a:chExt cx="1270137" cy="364957"/>
          </a:xfrm>
        </p:grpSpPr>
        <p:sp>
          <p:nvSpPr>
            <p:cNvPr id="57" name="Rectangle 56"/>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58" name="Rectangle 57"/>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59" name="Rectangle 58"/>
            <p:cNvSpPr/>
            <p:nvPr/>
          </p:nvSpPr>
          <p:spPr>
            <a:xfrm rot="16200000">
              <a:off x="3212929"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60" name="Rectangle 59"/>
            <p:cNvSpPr/>
            <p:nvPr/>
          </p:nvSpPr>
          <p:spPr>
            <a:xfrm rot="16200000">
              <a:off x="3534113"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73" name="TextBox 72"/>
          <p:cNvSpPr txBox="1"/>
          <p:nvPr/>
        </p:nvSpPr>
        <p:spPr>
          <a:xfrm>
            <a:off x="7884929" y="3284702"/>
            <a:ext cx="1251139" cy="369332"/>
          </a:xfrm>
          <a:prstGeom prst="rect">
            <a:avLst/>
          </a:prstGeom>
          <a:noFill/>
        </p:spPr>
        <p:txBody>
          <a:bodyPr wrap="none" rtlCol="0">
            <a:spAutoFit/>
          </a:bodyPr>
          <a:lstStyle/>
          <a:p>
            <a:r>
              <a:rPr lang="en-US" b="0" dirty="0" err="1">
                <a:latin typeface="Gill Sans" charset="0"/>
                <a:ea typeface="Gill Sans" charset="0"/>
                <a:cs typeface="Gill Sans" charset="0"/>
              </a:rPr>
              <a:t>Inode</a:t>
            </a:r>
            <a:r>
              <a:rPr lang="en-US" b="0" dirty="0">
                <a:latin typeface="Gill Sans" charset="0"/>
                <a:ea typeface="Gill Sans" charset="0"/>
                <a:cs typeface="Gill Sans" charset="0"/>
              </a:rPr>
              <a:t> table</a:t>
            </a:r>
          </a:p>
        </p:txBody>
      </p:sp>
      <p:grpSp>
        <p:nvGrpSpPr>
          <p:cNvPr id="83" name="Group 82"/>
          <p:cNvGrpSpPr/>
          <p:nvPr/>
        </p:nvGrpSpPr>
        <p:grpSpPr>
          <a:xfrm>
            <a:off x="5945908" y="3708339"/>
            <a:ext cx="1457827" cy="761444"/>
            <a:chOff x="1744000" y="2182577"/>
            <a:chExt cx="1430729" cy="918973"/>
          </a:xfrm>
        </p:grpSpPr>
        <p:sp>
          <p:nvSpPr>
            <p:cNvPr id="75" name="Rectangle 74"/>
            <p:cNvSpPr/>
            <p:nvPr/>
          </p:nvSpPr>
          <p:spPr>
            <a:xfrm rot="16200000">
              <a:off x="1882705" y="2758480"/>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6" name="Rectangle 75"/>
            <p:cNvSpPr/>
            <p:nvPr/>
          </p:nvSpPr>
          <p:spPr>
            <a:xfrm rot="16200000">
              <a:off x="2203889" y="2758480"/>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7" name="Rectangle 76"/>
            <p:cNvSpPr/>
            <p:nvPr/>
          </p:nvSpPr>
          <p:spPr>
            <a:xfrm rot="16200000">
              <a:off x="2510474" y="2758480"/>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8" name="Rectangle 77"/>
            <p:cNvSpPr/>
            <p:nvPr/>
          </p:nvSpPr>
          <p:spPr>
            <a:xfrm rot="16200000">
              <a:off x="2831658" y="2758480"/>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9" name="Rectangle 78"/>
            <p:cNvSpPr/>
            <p:nvPr/>
          </p:nvSpPr>
          <p:spPr>
            <a:xfrm rot="16200000">
              <a:off x="2781130" y="2234544"/>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81" name="Rectangle 80"/>
            <p:cNvSpPr/>
            <p:nvPr/>
          </p:nvSpPr>
          <p:spPr>
            <a:xfrm rot="16200000">
              <a:off x="1722113" y="2204464"/>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82" name="Rectangle 81"/>
            <p:cNvSpPr/>
            <p:nvPr/>
          </p:nvSpPr>
          <p:spPr>
            <a:xfrm rot="16200000">
              <a:off x="2206034" y="2234544"/>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84" name="TextBox 83"/>
          <p:cNvSpPr txBox="1"/>
          <p:nvPr/>
        </p:nvSpPr>
        <p:spPr>
          <a:xfrm>
            <a:off x="7892861" y="3823452"/>
            <a:ext cx="1110047" cy="646331"/>
          </a:xfrm>
          <a:prstGeom prst="rect">
            <a:avLst/>
          </a:prstGeom>
          <a:noFill/>
        </p:spPr>
        <p:txBody>
          <a:bodyPr wrap="none" rtlCol="0">
            <a:spAutoFit/>
          </a:bodyPr>
          <a:lstStyle/>
          <a:p>
            <a:r>
              <a:rPr lang="en-US" b="0" dirty="0">
                <a:latin typeface="Gill Sans" charset="0"/>
                <a:ea typeface="Gill Sans" charset="0"/>
                <a:cs typeface="Gill Sans" charset="0"/>
              </a:rPr>
              <a:t>Directory</a:t>
            </a:r>
          </a:p>
          <a:p>
            <a:r>
              <a:rPr lang="en-US" b="0" dirty="0">
                <a:latin typeface="Gill Sans" charset="0"/>
                <a:ea typeface="Gill Sans" charset="0"/>
                <a:cs typeface="Gill Sans" charset="0"/>
              </a:rPr>
              <a:t>entries</a:t>
            </a:r>
          </a:p>
        </p:txBody>
      </p:sp>
      <p:sp>
        <p:nvSpPr>
          <p:cNvPr id="86" name="Rectangle 85"/>
          <p:cNvSpPr/>
          <p:nvPr/>
        </p:nvSpPr>
        <p:spPr>
          <a:xfrm rot="16200000">
            <a:off x="6114238" y="3352203"/>
            <a:ext cx="242349" cy="240920"/>
          </a:xfrm>
          <a:prstGeom prst="rect">
            <a:avLst/>
          </a:prstGeom>
          <a:solidFill>
            <a:srgbClr val="FFFF00">
              <a:alpha val="16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88" name="Rectangle 87"/>
          <p:cNvSpPr/>
          <p:nvPr/>
        </p:nvSpPr>
        <p:spPr>
          <a:xfrm rot="16200000">
            <a:off x="6778696" y="4154950"/>
            <a:ext cx="302397" cy="327267"/>
          </a:xfrm>
          <a:prstGeom prst="rect">
            <a:avLst/>
          </a:prstGeom>
          <a:solidFill>
            <a:srgbClr val="FFFF00">
              <a:alpha val="27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66" name="Rectangle 65"/>
          <p:cNvSpPr/>
          <p:nvPr/>
        </p:nvSpPr>
        <p:spPr>
          <a:xfrm>
            <a:off x="756351" y="5336575"/>
            <a:ext cx="7930449" cy="623473"/>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cs typeface="Gill Sans Light"/>
            </a:endParaRPr>
          </a:p>
        </p:txBody>
      </p:sp>
      <p:sp>
        <p:nvSpPr>
          <p:cNvPr id="2" name="TextBox 1"/>
          <p:cNvSpPr txBox="1"/>
          <p:nvPr/>
        </p:nvSpPr>
        <p:spPr>
          <a:xfrm>
            <a:off x="1019736" y="6229290"/>
            <a:ext cx="5000087" cy="400110"/>
          </a:xfrm>
          <a:prstGeom prst="rect">
            <a:avLst/>
          </a:prstGeom>
          <a:noFill/>
        </p:spPr>
        <p:txBody>
          <a:bodyPr wrap="none" rtlCol="0">
            <a:spAutoFit/>
          </a:bodyPr>
          <a:lstStyle/>
          <a:p>
            <a:r>
              <a:rPr lang="en-US" sz="2000" b="0" dirty="0">
                <a:latin typeface="Gill Sans" charset="0"/>
                <a:ea typeface="Gill Sans" charset="0"/>
                <a:cs typeface="Gill Sans" charset="0"/>
              </a:rPr>
              <a:t>Log: in non-volatile storage (Flash or Disk)</a:t>
            </a:r>
          </a:p>
        </p:txBody>
      </p:sp>
      <p:sp>
        <p:nvSpPr>
          <p:cNvPr id="3" name="TextBox 2"/>
          <p:cNvSpPr txBox="1"/>
          <p:nvPr/>
        </p:nvSpPr>
        <p:spPr>
          <a:xfrm>
            <a:off x="8120541" y="4644122"/>
            <a:ext cx="624578" cy="369332"/>
          </a:xfrm>
          <a:prstGeom prst="rect">
            <a:avLst/>
          </a:prstGeom>
          <a:noFill/>
        </p:spPr>
        <p:txBody>
          <a:bodyPr wrap="none" rtlCol="0">
            <a:spAutoFit/>
          </a:bodyPr>
          <a:lstStyle/>
          <a:p>
            <a:r>
              <a:rPr lang="en-US" b="0" dirty="0">
                <a:solidFill>
                  <a:srgbClr val="FF0000"/>
                </a:solidFill>
                <a:latin typeface="Gill Sans" charset="0"/>
                <a:ea typeface="Gill Sans" charset="0"/>
                <a:cs typeface="Gill Sans" charset="0"/>
              </a:rPr>
              <a:t>head</a:t>
            </a:r>
          </a:p>
        </p:txBody>
      </p:sp>
      <p:cxnSp>
        <p:nvCxnSpPr>
          <p:cNvPr id="11" name="Straight Arrow Connector 10"/>
          <p:cNvCxnSpPr>
            <a:stCxn id="3" idx="2"/>
          </p:cNvCxnSpPr>
          <p:nvPr/>
        </p:nvCxnSpPr>
        <p:spPr>
          <a:xfrm>
            <a:off x="8432830" y="5013454"/>
            <a:ext cx="1669" cy="296947"/>
          </a:xfrm>
          <a:prstGeom prst="straightConnector1">
            <a:avLst/>
          </a:prstGeom>
          <a:ln>
            <a:solidFill>
              <a:srgbClr val="FC230C"/>
            </a:solidFill>
            <a:tailEnd type="arrow"/>
          </a:ln>
        </p:spPr>
        <p:style>
          <a:lnRef idx="2">
            <a:schemeClr val="accent1"/>
          </a:lnRef>
          <a:fillRef idx="0">
            <a:schemeClr val="accent1"/>
          </a:fillRef>
          <a:effectRef idx="1">
            <a:schemeClr val="accent1"/>
          </a:effectRef>
          <a:fontRef idx="minor">
            <a:schemeClr val="tx1"/>
          </a:fontRef>
        </p:style>
      </p:cxnSp>
      <p:grpSp>
        <p:nvGrpSpPr>
          <p:cNvPr id="143" name="Group 142"/>
          <p:cNvGrpSpPr/>
          <p:nvPr/>
        </p:nvGrpSpPr>
        <p:grpSpPr>
          <a:xfrm>
            <a:off x="4430844" y="4700815"/>
            <a:ext cx="461986" cy="666279"/>
            <a:chOff x="4430844" y="4700815"/>
            <a:chExt cx="461986" cy="666279"/>
          </a:xfrm>
        </p:grpSpPr>
        <p:sp>
          <p:nvSpPr>
            <p:cNvPr id="72" name="TextBox 71"/>
            <p:cNvSpPr txBox="1"/>
            <p:nvPr/>
          </p:nvSpPr>
          <p:spPr>
            <a:xfrm>
              <a:off x="4430844" y="4700815"/>
              <a:ext cx="461986" cy="369332"/>
            </a:xfrm>
            <a:prstGeom prst="rect">
              <a:avLst/>
            </a:prstGeom>
            <a:noFill/>
          </p:spPr>
          <p:txBody>
            <a:bodyPr wrap="none" rtlCol="0">
              <a:spAutoFit/>
            </a:bodyPr>
            <a:lstStyle/>
            <a:p>
              <a:r>
                <a:rPr lang="en-US" b="0" dirty="0">
                  <a:latin typeface="Gill Sans" charset="0"/>
                  <a:ea typeface="Gill Sans" charset="0"/>
                  <a:cs typeface="Gill Sans" charset="0"/>
                </a:rPr>
                <a:t>tail</a:t>
              </a:r>
            </a:p>
          </p:txBody>
        </p:sp>
        <p:cxnSp>
          <p:nvCxnSpPr>
            <p:cNvPr id="74" name="Straight Arrow Connector 73"/>
            <p:cNvCxnSpPr>
              <a:stCxn id="72" idx="2"/>
            </p:cNvCxnSpPr>
            <p:nvPr/>
          </p:nvCxnSpPr>
          <p:spPr>
            <a:xfrm>
              <a:off x="4661837" y="5070147"/>
              <a:ext cx="82965" cy="29694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sp>
        <p:nvSpPr>
          <p:cNvPr id="90" name="TextBox 89"/>
          <p:cNvSpPr txBox="1"/>
          <p:nvPr/>
        </p:nvSpPr>
        <p:spPr>
          <a:xfrm>
            <a:off x="4913348" y="5960049"/>
            <a:ext cx="902811" cy="369332"/>
          </a:xfrm>
          <a:prstGeom prst="rect">
            <a:avLst/>
          </a:prstGeom>
          <a:noFill/>
        </p:spPr>
        <p:txBody>
          <a:bodyPr wrap="none" rtlCol="0">
            <a:spAutoFit/>
          </a:bodyPr>
          <a:lstStyle/>
          <a:p>
            <a:r>
              <a:rPr lang="en-US" b="0" dirty="0">
                <a:latin typeface="Gill Sans" charset="0"/>
                <a:ea typeface="Gill Sans" charset="0"/>
                <a:cs typeface="Gill Sans" charset="0"/>
              </a:rPr>
              <a:t>pending</a:t>
            </a:r>
          </a:p>
        </p:txBody>
      </p:sp>
      <p:sp>
        <p:nvSpPr>
          <p:cNvPr id="91" name="TextBox 90"/>
          <p:cNvSpPr txBox="1"/>
          <p:nvPr/>
        </p:nvSpPr>
        <p:spPr>
          <a:xfrm>
            <a:off x="2026450" y="5349778"/>
            <a:ext cx="663801" cy="369332"/>
          </a:xfrm>
          <a:prstGeom prst="rect">
            <a:avLst/>
          </a:prstGeom>
          <a:noFill/>
        </p:spPr>
        <p:txBody>
          <a:bodyPr wrap="none" rtlCol="0">
            <a:spAutoFit/>
          </a:bodyPr>
          <a:lstStyle/>
          <a:p>
            <a:r>
              <a:rPr lang="en-US" b="0" dirty="0">
                <a:latin typeface="Gill Sans" charset="0"/>
                <a:ea typeface="Gill Sans" charset="0"/>
                <a:cs typeface="Gill Sans" charset="0"/>
              </a:rPr>
              <a:t>done</a:t>
            </a:r>
          </a:p>
        </p:txBody>
      </p:sp>
      <p:sp>
        <p:nvSpPr>
          <p:cNvPr id="12" name="TextBox 11"/>
          <p:cNvSpPr txBox="1"/>
          <p:nvPr/>
        </p:nvSpPr>
        <p:spPr>
          <a:xfrm rot="16200000">
            <a:off x="4581774" y="5465041"/>
            <a:ext cx="620683" cy="369332"/>
          </a:xfrm>
          <a:prstGeom prst="rect">
            <a:avLst/>
          </a:prstGeom>
          <a:solidFill>
            <a:schemeClr val="accent3">
              <a:lumMod val="40000"/>
              <a:lumOff val="60000"/>
            </a:schemeClr>
          </a:solidFill>
          <a:ln>
            <a:solidFill>
              <a:srgbClr val="000090"/>
            </a:solidFill>
          </a:ln>
        </p:spPr>
        <p:txBody>
          <a:bodyPr wrap="none" rtlCol="0">
            <a:spAutoFit/>
          </a:bodyPr>
          <a:lstStyle/>
          <a:p>
            <a:r>
              <a:rPr lang="en-US" b="0" dirty="0">
                <a:latin typeface="Gill Sans" charset="0"/>
                <a:ea typeface="Gill Sans" charset="0"/>
                <a:cs typeface="Gill Sans" charset="0"/>
              </a:rPr>
              <a:t>start</a:t>
            </a:r>
          </a:p>
        </p:txBody>
      </p:sp>
      <p:grpSp>
        <p:nvGrpSpPr>
          <p:cNvPr id="125" name="Group 124"/>
          <p:cNvGrpSpPr/>
          <p:nvPr/>
        </p:nvGrpSpPr>
        <p:grpSpPr>
          <a:xfrm>
            <a:off x="5135148" y="5628477"/>
            <a:ext cx="640069" cy="131108"/>
            <a:chOff x="5135148" y="5628477"/>
            <a:chExt cx="640069" cy="131108"/>
          </a:xfrm>
        </p:grpSpPr>
        <p:grpSp>
          <p:nvGrpSpPr>
            <p:cNvPr id="92" name="Group 91"/>
            <p:cNvGrpSpPr/>
            <p:nvPr/>
          </p:nvGrpSpPr>
          <p:grpSpPr>
            <a:xfrm>
              <a:off x="5135148" y="5628477"/>
              <a:ext cx="640069" cy="121398"/>
              <a:chOff x="2607047" y="2031999"/>
              <a:chExt cx="1270137" cy="364957"/>
            </a:xfrm>
          </p:grpSpPr>
          <p:sp>
            <p:nvSpPr>
              <p:cNvPr id="93" name="Rectangle 92"/>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94" name="Rectangle 93"/>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95" name="Rectangle 94"/>
              <p:cNvSpPr/>
              <p:nvPr/>
            </p:nvSpPr>
            <p:spPr>
              <a:xfrm rot="16200000">
                <a:off x="3212929"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96" name="Rectangle 95"/>
              <p:cNvSpPr/>
              <p:nvPr/>
            </p:nvSpPr>
            <p:spPr>
              <a:xfrm rot="16200000">
                <a:off x="3534113"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97" name="Rectangle 96"/>
            <p:cNvSpPr/>
            <p:nvPr/>
          </p:nvSpPr>
          <p:spPr>
            <a:xfrm rot="16200000">
              <a:off x="5165067" y="5617958"/>
              <a:ext cx="121398" cy="161856"/>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14" name="Rectangle 13"/>
          <p:cNvSpPr/>
          <p:nvPr/>
        </p:nvSpPr>
        <p:spPr>
          <a:xfrm>
            <a:off x="5076782" y="5349778"/>
            <a:ext cx="698435" cy="610271"/>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98" name="Freeform 97"/>
          <p:cNvSpPr/>
          <p:nvPr/>
        </p:nvSpPr>
        <p:spPr>
          <a:xfrm>
            <a:off x="5248206" y="2429814"/>
            <a:ext cx="644679" cy="3009496"/>
          </a:xfrm>
          <a:custGeom>
            <a:avLst/>
            <a:gdLst>
              <a:gd name="connsiteX0" fmla="*/ 14270 w 314088"/>
              <a:gd name="connsiteY0" fmla="*/ 485144 h 485144"/>
              <a:gd name="connsiteX1" fmla="*/ 28541 w 314088"/>
              <a:gd name="connsiteY1" fmla="*/ 242572 h 485144"/>
              <a:gd name="connsiteX2" fmla="*/ 271144 w 314088"/>
              <a:gd name="connsiteY2" fmla="*/ 214034 h 485144"/>
              <a:gd name="connsiteX3" fmla="*/ 313956 w 314088"/>
              <a:gd name="connsiteY3" fmla="*/ 0 h 485144"/>
              <a:gd name="connsiteX4" fmla="*/ 313956 w 314088"/>
              <a:gd name="connsiteY4" fmla="*/ 0 h 485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088" h="485144">
                <a:moveTo>
                  <a:pt x="14270" y="485144"/>
                </a:moveTo>
                <a:cubicBezTo>
                  <a:pt x="-1" y="386450"/>
                  <a:pt x="-14271" y="287757"/>
                  <a:pt x="28541" y="242572"/>
                </a:cubicBezTo>
                <a:cubicBezTo>
                  <a:pt x="71353" y="197387"/>
                  <a:pt x="223575" y="254463"/>
                  <a:pt x="271144" y="214034"/>
                </a:cubicBezTo>
                <a:cubicBezTo>
                  <a:pt x="318713" y="173605"/>
                  <a:pt x="313956" y="0"/>
                  <a:pt x="313956" y="0"/>
                </a:cubicBezTo>
                <a:lnTo>
                  <a:pt x="313956" y="0"/>
                </a:lnTo>
              </a:path>
            </a:pathLst>
          </a:custGeom>
          <a:ln>
            <a:solidFill>
              <a:srgbClr val="000090"/>
            </a:solidFill>
            <a:headEnd type="ova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a:latin typeface="Gill Sans" charset="0"/>
              <a:ea typeface="Gill Sans" charset="0"/>
              <a:cs typeface="Gill Sans" charset="0"/>
            </a:endParaRPr>
          </a:p>
        </p:txBody>
      </p:sp>
      <p:sp>
        <p:nvSpPr>
          <p:cNvPr id="100" name="Rectangle 99"/>
          <p:cNvSpPr/>
          <p:nvPr/>
        </p:nvSpPr>
        <p:spPr>
          <a:xfrm rot="16200000">
            <a:off x="5892170" y="5590303"/>
            <a:ext cx="242349" cy="240920"/>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nvGrpSpPr>
          <p:cNvPr id="134" name="Group 133"/>
          <p:cNvGrpSpPr/>
          <p:nvPr/>
        </p:nvGrpSpPr>
        <p:grpSpPr>
          <a:xfrm>
            <a:off x="5874034" y="5589588"/>
            <a:ext cx="730659" cy="252059"/>
            <a:chOff x="5874034" y="5589588"/>
            <a:chExt cx="730659" cy="252059"/>
          </a:xfrm>
        </p:grpSpPr>
        <p:sp>
          <p:nvSpPr>
            <p:cNvPr id="101" name="Rectangle 100"/>
            <p:cNvSpPr/>
            <p:nvPr/>
          </p:nvSpPr>
          <p:spPr>
            <a:xfrm rot="16200000">
              <a:off x="6133089" y="5590303"/>
              <a:ext cx="242349" cy="240920"/>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02" name="Rectangle 101"/>
            <p:cNvSpPr/>
            <p:nvPr/>
          </p:nvSpPr>
          <p:spPr>
            <a:xfrm rot="16200000">
              <a:off x="6363058" y="5590303"/>
              <a:ext cx="242349" cy="240920"/>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04" name="Rectangle 103"/>
            <p:cNvSpPr/>
            <p:nvPr/>
          </p:nvSpPr>
          <p:spPr>
            <a:xfrm rot="16200000">
              <a:off x="5873319" y="5600013"/>
              <a:ext cx="242349" cy="240920"/>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105" name="Freeform 104"/>
          <p:cNvSpPr/>
          <p:nvPr/>
        </p:nvSpPr>
        <p:spPr>
          <a:xfrm>
            <a:off x="5970966" y="3654034"/>
            <a:ext cx="212349" cy="2018098"/>
          </a:xfrm>
          <a:custGeom>
            <a:avLst/>
            <a:gdLst>
              <a:gd name="connsiteX0" fmla="*/ 14270 w 314088"/>
              <a:gd name="connsiteY0" fmla="*/ 485144 h 485144"/>
              <a:gd name="connsiteX1" fmla="*/ 28541 w 314088"/>
              <a:gd name="connsiteY1" fmla="*/ 242572 h 485144"/>
              <a:gd name="connsiteX2" fmla="*/ 271144 w 314088"/>
              <a:gd name="connsiteY2" fmla="*/ 214034 h 485144"/>
              <a:gd name="connsiteX3" fmla="*/ 313956 w 314088"/>
              <a:gd name="connsiteY3" fmla="*/ 0 h 485144"/>
              <a:gd name="connsiteX4" fmla="*/ 313956 w 314088"/>
              <a:gd name="connsiteY4" fmla="*/ 0 h 485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088" h="485144">
                <a:moveTo>
                  <a:pt x="14270" y="485144"/>
                </a:moveTo>
                <a:cubicBezTo>
                  <a:pt x="-1" y="386450"/>
                  <a:pt x="-14271" y="287757"/>
                  <a:pt x="28541" y="242572"/>
                </a:cubicBezTo>
                <a:cubicBezTo>
                  <a:pt x="71353" y="197387"/>
                  <a:pt x="223575" y="254463"/>
                  <a:pt x="271144" y="214034"/>
                </a:cubicBezTo>
                <a:cubicBezTo>
                  <a:pt x="318713" y="173605"/>
                  <a:pt x="313956" y="0"/>
                  <a:pt x="313956" y="0"/>
                </a:cubicBezTo>
                <a:lnTo>
                  <a:pt x="313956" y="0"/>
                </a:lnTo>
              </a:path>
            </a:pathLst>
          </a:custGeom>
          <a:ln>
            <a:solidFill>
              <a:srgbClr val="000090"/>
            </a:solidFill>
            <a:headEnd type="ova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a:latin typeface="Gill Sans" charset="0"/>
              <a:ea typeface="Gill Sans" charset="0"/>
              <a:cs typeface="Gill Sans" charset="0"/>
            </a:endParaRPr>
          </a:p>
        </p:txBody>
      </p:sp>
      <p:sp>
        <p:nvSpPr>
          <p:cNvPr id="108" name="Rectangle 107"/>
          <p:cNvSpPr/>
          <p:nvPr/>
        </p:nvSpPr>
        <p:spPr>
          <a:xfrm>
            <a:off x="5786022" y="5345417"/>
            <a:ext cx="818671" cy="610271"/>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nvGrpSpPr>
          <p:cNvPr id="15" name="Group 14"/>
          <p:cNvGrpSpPr/>
          <p:nvPr/>
        </p:nvGrpSpPr>
        <p:grpSpPr>
          <a:xfrm>
            <a:off x="6684331" y="5513413"/>
            <a:ext cx="644624" cy="313938"/>
            <a:chOff x="6684331" y="5513413"/>
            <a:chExt cx="644624" cy="313938"/>
          </a:xfrm>
        </p:grpSpPr>
        <p:sp>
          <p:nvSpPr>
            <p:cNvPr id="106" name="Rectangle 105"/>
            <p:cNvSpPr/>
            <p:nvPr/>
          </p:nvSpPr>
          <p:spPr>
            <a:xfrm rot="16200000">
              <a:off x="6696766" y="5512519"/>
              <a:ext cx="302397" cy="327267"/>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07" name="Rectangle 106"/>
            <p:cNvSpPr/>
            <p:nvPr/>
          </p:nvSpPr>
          <p:spPr>
            <a:xfrm rot="16200000">
              <a:off x="7014123" y="5500978"/>
              <a:ext cx="302397" cy="327267"/>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109" name="Rectangle 108"/>
          <p:cNvSpPr/>
          <p:nvPr/>
        </p:nvSpPr>
        <p:spPr>
          <a:xfrm>
            <a:off x="6609893" y="5340355"/>
            <a:ext cx="818671" cy="610271"/>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10" name="Freeform 109"/>
          <p:cNvSpPr/>
          <p:nvPr/>
        </p:nvSpPr>
        <p:spPr>
          <a:xfrm flipH="1">
            <a:off x="6500681" y="4469782"/>
            <a:ext cx="469611" cy="969527"/>
          </a:xfrm>
          <a:custGeom>
            <a:avLst/>
            <a:gdLst>
              <a:gd name="connsiteX0" fmla="*/ 14270 w 314088"/>
              <a:gd name="connsiteY0" fmla="*/ 485144 h 485144"/>
              <a:gd name="connsiteX1" fmla="*/ 28541 w 314088"/>
              <a:gd name="connsiteY1" fmla="*/ 242572 h 485144"/>
              <a:gd name="connsiteX2" fmla="*/ 271144 w 314088"/>
              <a:gd name="connsiteY2" fmla="*/ 214034 h 485144"/>
              <a:gd name="connsiteX3" fmla="*/ 313956 w 314088"/>
              <a:gd name="connsiteY3" fmla="*/ 0 h 485144"/>
              <a:gd name="connsiteX4" fmla="*/ 313956 w 314088"/>
              <a:gd name="connsiteY4" fmla="*/ 0 h 485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088" h="485144">
                <a:moveTo>
                  <a:pt x="14270" y="485144"/>
                </a:moveTo>
                <a:cubicBezTo>
                  <a:pt x="-1" y="386450"/>
                  <a:pt x="-14271" y="287757"/>
                  <a:pt x="28541" y="242572"/>
                </a:cubicBezTo>
                <a:cubicBezTo>
                  <a:pt x="71353" y="197387"/>
                  <a:pt x="223575" y="254463"/>
                  <a:pt x="271144" y="214034"/>
                </a:cubicBezTo>
                <a:cubicBezTo>
                  <a:pt x="318713" y="173605"/>
                  <a:pt x="313956" y="0"/>
                  <a:pt x="313956" y="0"/>
                </a:cubicBezTo>
                <a:lnTo>
                  <a:pt x="313956" y="0"/>
                </a:lnTo>
              </a:path>
            </a:pathLst>
          </a:custGeom>
          <a:ln>
            <a:solidFill>
              <a:srgbClr val="000090"/>
            </a:solidFill>
            <a:headEnd type="ova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a:latin typeface="Gill Sans" charset="0"/>
              <a:ea typeface="Gill Sans" charset="0"/>
              <a:cs typeface="Gill Sans" charset="0"/>
            </a:endParaRPr>
          </a:p>
        </p:txBody>
      </p:sp>
      <p:sp>
        <p:nvSpPr>
          <p:cNvPr id="111" name="TextBox 110"/>
          <p:cNvSpPr txBox="1"/>
          <p:nvPr/>
        </p:nvSpPr>
        <p:spPr>
          <a:xfrm rot="16200000">
            <a:off x="7182036" y="5475454"/>
            <a:ext cx="903087" cy="369332"/>
          </a:xfrm>
          <a:prstGeom prst="rect">
            <a:avLst/>
          </a:prstGeom>
          <a:solidFill>
            <a:schemeClr val="accent3">
              <a:lumMod val="40000"/>
              <a:lumOff val="60000"/>
            </a:schemeClr>
          </a:solidFill>
          <a:ln>
            <a:solidFill>
              <a:srgbClr val="000090"/>
            </a:solidFill>
          </a:ln>
        </p:spPr>
        <p:txBody>
          <a:bodyPr wrap="none" rtlCol="0">
            <a:spAutoFit/>
          </a:bodyPr>
          <a:lstStyle/>
          <a:p>
            <a:r>
              <a:rPr lang="en-US" b="0" dirty="0">
                <a:latin typeface="Gill Sans" charset="0"/>
                <a:ea typeface="Gill Sans" charset="0"/>
                <a:cs typeface="Gill Sans" charset="0"/>
              </a:rPr>
              <a:t>commit</a:t>
            </a:r>
          </a:p>
        </p:txBody>
      </p:sp>
      <p:grpSp>
        <p:nvGrpSpPr>
          <p:cNvPr id="124" name="Group 123"/>
          <p:cNvGrpSpPr/>
          <p:nvPr/>
        </p:nvGrpSpPr>
        <p:grpSpPr>
          <a:xfrm>
            <a:off x="8383528" y="5950626"/>
            <a:ext cx="566034" cy="531156"/>
            <a:chOff x="8383528" y="5950626"/>
            <a:chExt cx="566034" cy="531156"/>
          </a:xfrm>
        </p:grpSpPr>
        <p:sp>
          <p:nvSpPr>
            <p:cNvPr id="52" name="Freeform 51"/>
            <p:cNvSpPr/>
            <p:nvPr/>
          </p:nvSpPr>
          <p:spPr>
            <a:xfrm>
              <a:off x="8446863" y="6060947"/>
              <a:ext cx="239937" cy="399530"/>
            </a:xfrm>
            <a:custGeom>
              <a:avLst/>
              <a:gdLst>
                <a:gd name="connsiteX0" fmla="*/ 239937 w 239937"/>
                <a:gd name="connsiteY0" fmla="*/ 0 h 399530"/>
                <a:gd name="connsiteX1" fmla="*/ 25876 w 239937"/>
                <a:gd name="connsiteY1" fmla="*/ 128420 h 399530"/>
                <a:gd name="connsiteX2" fmla="*/ 11605 w 239937"/>
                <a:gd name="connsiteY2" fmla="*/ 399530 h 399530"/>
              </a:gdLst>
              <a:ahLst/>
              <a:cxnLst>
                <a:cxn ang="0">
                  <a:pos x="connsiteX0" y="connsiteY0"/>
                </a:cxn>
                <a:cxn ang="0">
                  <a:pos x="connsiteX1" y="connsiteY1"/>
                </a:cxn>
                <a:cxn ang="0">
                  <a:pos x="connsiteX2" y="connsiteY2"/>
                </a:cxn>
              </a:cxnLst>
              <a:rect l="l" t="t" r="r" b="b"/>
              <a:pathLst>
                <a:path w="239937" h="399530">
                  <a:moveTo>
                    <a:pt x="239937" y="0"/>
                  </a:moveTo>
                  <a:cubicBezTo>
                    <a:pt x="151934" y="30916"/>
                    <a:pt x="63931" y="61832"/>
                    <a:pt x="25876" y="128420"/>
                  </a:cubicBezTo>
                  <a:cubicBezTo>
                    <a:pt x="-12179" y="195008"/>
                    <a:pt x="-287" y="297269"/>
                    <a:pt x="11605" y="399530"/>
                  </a:cubicBezTo>
                </a:path>
              </a:pathLst>
            </a:cu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a:latin typeface="Gill Sans" charset="0"/>
                <a:ea typeface="Gill Sans" charset="0"/>
                <a:cs typeface="Gill Sans" charset="0"/>
              </a:endParaRPr>
            </a:p>
          </p:txBody>
        </p:sp>
        <p:cxnSp>
          <p:nvCxnSpPr>
            <p:cNvPr id="67" name="Straight Connector 66"/>
            <p:cNvCxnSpPr/>
            <p:nvPr/>
          </p:nvCxnSpPr>
          <p:spPr>
            <a:xfrm flipH="1" flipV="1">
              <a:off x="8503497" y="5950626"/>
              <a:ext cx="446065" cy="378756"/>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7" name="Straight Connector 116"/>
            <p:cNvCxnSpPr/>
            <p:nvPr/>
          </p:nvCxnSpPr>
          <p:spPr>
            <a:xfrm flipH="1">
              <a:off x="8383528" y="6329381"/>
              <a:ext cx="566033" cy="152401"/>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sp>
          <p:nvSpPr>
            <p:cNvPr id="123" name="Freeform 122"/>
            <p:cNvSpPr/>
            <p:nvPr/>
          </p:nvSpPr>
          <p:spPr>
            <a:xfrm rot="3797805" flipH="1">
              <a:off x="8401452" y="6123026"/>
              <a:ext cx="229204" cy="195023"/>
            </a:xfrm>
            <a:custGeom>
              <a:avLst/>
              <a:gdLst>
                <a:gd name="connsiteX0" fmla="*/ 239937 w 239937"/>
                <a:gd name="connsiteY0" fmla="*/ 0 h 399530"/>
                <a:gd name="connsiteX1" fmla="*/ 25876 w 239937"/>
                <a:gd name="connsiteY1" fmla="*/ 128420 h 399530"/>
                <a:gd name="connsiteX2" fmla="*/ 11605 w 239937"/>
                <a:gd name="connsiteY2" fmla="*/ 399530 h 399530"/>
              </a:gdLst>
              <a:ahLst/>
              <a:cxnLst>
                <a:cxn ang="0">
                  <a:pos x="connsiteX0" y="connsiteY0"/>
                </a:cxn>
                <a:cxn ang="0">
                  <a:pos x="connsiteX1" y="connsiteY1"/>
                </a:cxn>
                <a:cxn ang="0">
                  <a:pos x="connsiteX2" y="connsiteY2"/>
                </a:cxn>
              </a:cxnLst>
              <a:rect l="l" t="t" r="r" b="b"/>
              <a:pathLst>
                <a:path w="239937" h="399530">
                  <a:moveTo>
                    <a:pt x="239937" y="0"/>
                  </a:moveTo>
                  <a:cubicBezTo>
                    <a:pt x="151934" y="30916"/>
                    <a:pt x="63931" y="61832"/>
                    <a:pt x="25876" y="128420"/>
                  </a:cubicBezTo>
                  <a:cubicBezTo>
                    <a:pt x="-12179" y="195008"/>
                    <a:pt x="-287" y="297269"/>
                    <a:pt x="11605" y="399530"/>
                  </a:cubicBezTo>
                </a:path>
              </a:pathLst>
            </a:cu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a:latin typeface="Gill Sans" charset="0"/>
                <a:ea typeface="Gill Sans" charset="0"/>
                <a:cs typeface="Gill Sans" charset="0"/>
              </a:endParaRPr>
            </a:p>
          </p:txBody>
        </p:sp>
      </p:grpSp>
      <p:grpSp>
        <p:nvGrpSpPr>
          <p:cNvPr id="13" name="Group 12"/>
          <p:cNvGrpSpPr/>
          <p:nvPr/>
        </p:nvGrpSpPr>
        <p:grpSpPr>
          <a:xfrm>
            <a:off x="5855924" y="2307184"/>
            <a:ext cx="640069" cy="131108"/>
            <a:chOff x="5941596" y="1148673"/>
            <a:chExt cx="640069" cy="131108"/>
          </a:xfrm>
          <a:effectLst>
            <a:glow rad="165100">
              <a:schemeClr val="accent3">
                <a:satMod val="175000"/>
                <a:alpha val="52000"/>
              </a:schemeClr>
            </a:glow>
          </a:effectLst>
        </p:grpSpPr>
        <p:sp>
          <p:nvSpPr>
            <p:cNvPr id="129" name="Rectangle 128"/>
            <p:cNvSpPr/>
            <p:nvPr/>
          </p:nvSpPr>
          <p:spPr>
            <a:xfrm rot="16200000">
              <a:off x="5961825" y="1128444"/>
              <a:ext cx="121398" cy="161856"/>
            </a:xfrm>
            <a:prstGeom prst="rect">
              <a:avLst/>
            </a:prstGeom>
            <a:solidFill>
              <a:schemeClr val="accent1">
                <a:lumMod val="20000"/>
                <a:lumOff val="80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30" name="Rectangle 129"/>
            <p:cNvSpPr/>
            <p:nvPr/>
          </p:nvSpPr>
          <p:spPr>
            <a:xfrm rot="16200000">
              <a:off x="6123681" y="1128444"/>
              <a:ext cx="121398" cy="161856"/>
            </a:xfrm>
            <a:prstGeom prst="rect">
              <a:avLst/>
            </a:prstGeom>
            <a:solidFill>
              <a:schemeClr val="accent1">
                <a:lumMod val="20000"/>
                <a:lumOff val="80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31" name="Rectangle 130"/>
            <p:cNvSpPr/>
            <p:nvPr/>
          </p:nvSpPr>
          <p:spPr>
            <a:xfrm rot="16200000">
              <a:off x="6278181" y="1128444"/>
              <a:ext cx="121398" cy="161856"/>
            </a:xfrm>
            <a:prstGeom prst="rect">
              <a:avLst/>
            </a:prstGeom>
            <a:solidFill>
              <a:srgbClr val="C0504D"/>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32" name="Rectangle 131"/>
            <p:cNvSpPr/>
            <p:nvPr/>
          </p:nvSpPr>
          <p:spPr>
            <a:xfrm rot="16200000">
              <a:off x="6440038" y="1128444"/>
              <a:ext cx="121398" cy="161856"/>
            </a:xfrm>
            <a:prstGeom prst="rect">
              <a:avLst/>
            </a:prstGeom>
            <a:solidFill>
              <a:srgbClr val="C0504D"/>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28" name="Rectangle 127"/>
            <p:cNvSpPr/>
            <p:nvPr/>
          </p:nvSpPr>
          <p:spPr>
            <a:xfrm rot="16200000">
              <a:off x="5971515" y="1138154"/>
              <a:ext cx="121398" cy="161856"/>
            </a:xfrm>
            <a:prstGeom prst="rect">
              <a:avLst/>
            </a:prstGeom>
            <a:solidFill>
              <a:srgbClr val="FFFF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grpSp>
        <p:nvGrpSpPr>
          <p:cNvPr id="141" name="Group 140"/>
          <p:cNvGrpSpPr/>
          <p:nvPr/>
        </p:nvGrpSpPr>
        <p:grpSpPr>
          <a:xfrm>
            <a:off x="5411038" y="4742371"/>
            <a:ext cx="461986" cy="607407"/>
            <a:chOff x="5411038" y="4742371"/>
            <a:chExt cx="461986" cy="607407"/>
          </a:xfrm>
        </p:grpSpPr>
        <p:cxnSp>
          <p:nvCxnSpPr>
            <p:cNvPr id="133" name="Straight Arrow Connector 132"/>
            <p:cNvCxnSpPr/>
            <p:nvPr/>
          </p:nvCxnSpPr>
          <p:spPr>
            <a:xfrm>
              <a:off x="5696019" y="5052831"/>
              <a:ext cx="74706" cy="29694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5411038" y="4742371"/>
              <a:ext cx="461986" cy="369332"/>
            </a:xfrm>
            <a:prstGeom prst="rect">
              <a:avLst/>
            </a:prstGeom>
            <a:noFill/>
          </p:spPr>
          <p:txBody>
            <a:bodyPr wrap="none" rtlCol="0">
              <a:spAutoFit/>
            </a:bodyPr>
            <a:lstStyle/>
            <a:p>
              <a:r>
                <a:rPr lang="en-US" b="0" dirty="0">
                  <a:latin typeface="Gill Sans" charset="0"/>
                  <a:ea typeface="Gill Sans" charset="0"/>
                  <a:cs typeface="Gill Sans" charset="0"/>
                </a:rPr>
                <a:t>tail</a:t>
              </a:r>
            </a:p>
          </p:txBody>
        </p:sp>
      </p:grpSp>
      <p:grpSp>
        <p:nvGrpSpPr>
          <p:cNvPr id="115" name="Group 114"/>
          <p:cNvGrpSpPr/>
          <p:nvPr/>
        </p:nvGrpSpPr>
        <p:grpSpPr>
          <a:xfrm>
            <a:off x="6172280" y="3361776"/>
            <a:ext cx="730659" cy="252059"/>
            <a:chOff x="5874034" y="5589588"/>
            <a:chExt cx="730659" cy="252059"/>
          </a:xfrm>
          <a:effectLst>
            <a:glow rad="139700">
              <a:schemeClr val="accent3">
                <a:satMod val="175000"/>
                <a:alpha val="40000"/>
              </a:schemeClr>
            </a:glow>
          </a:effectLst>
        </p:grpSpPr>
        <p:sp>
          <p:nvSpPr>
            <p:cNvPr id="116" name="Rectangle 115"/>
            <p:cNvSpPr/>
            <p:nvPr/>
          </p:nvSpPr>
          <p:spPr>
            <a:xfrm rot="16200000">
              <a:off x="6133089" y="5590303"/>
              <a:ext cx="242349" cy="240920"/>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18" name="Rectangle 117"/>
            <p:cNvSpPr/>
            <p:nvPr/>
          </p:nvSpPr>
          <p:spPr>
            <a:xfrm rot="16200000">
              <a:off x="6363058" y="5590303"/>
              <a:ext cx="242349" cy="240920"/>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19" name="Rectangle 118"/>
            <p:cNvSpPr/>
            <p:nvPr/>
          </p:nvSpPr>
          <p:spPr>
            <a:xfrm rot="16200000">
              <a:off x="5873319" y="5600013"/>
              <a:ext cx="242349" cy="240920"/>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grpSp>
        <p:nvGrpSpPr>
          <p:cNvPr id="142" name="Group 141"/>
          <p:cNvGrpSpPr/>
          <p:nvPr/>
        </p:nvGrpSpPr>
        <p:grpSpPr>
          <a:xfrm>
            <a:off x="6298211" y="4683499"/>
            <a:ext cx="461986" cy="666279"/>
            <a:chOff x="4430844" y="4700815"/>
            <a:chExt cx="461986" cy="666279"/>
          </a:xfrm>
        </p:grpSpPr>
        <p:sp>
          <p:nvSpPr>
            <p:cNvPr id="144" name="TextBox 143"/>
            <p:cNvSpPr txBox="1"/>
            <p:nvPr/>
          </p:nvSpPr>
          <p:spPr>
            <a:xfrm>
              <a:off x="4430844" y="4700815"/>
              <a:ext cx="461986" cy="369332"/>
            </a:xfrm>
            <a:prstGeom prst="rect">
              <a:avLst/>
            </a:prstGeom>
            <a:noFill/>
          </p:spPr>
          <p:txBody>
            <a:bodyPr wrap="none" rtlCol="0">
              <a:spAutoFit/>
            </a:bodyPr>
            <a:lstStyle/>
            <a:p>
              <a:r>
                <a:rPr lang="en-US" b="0" dirty="0">
                  <a:latin typeface="Gill Sans" charset="0"/>
                  <a:ea typeface="Gill Sans" charset="0"/>
                  <a:cs typeface="Gill Sans" charset="0"/>
                </a:rPr>
                <a:t>tail</a:t>
              </a:r>
            </a:p>
          </p:txBody>
        </p:sp>
        <p:cxnSp>
          <p:nvCxnSpPr>
            <p:cNvPr id="145" name="Straight Arrow Connector 144"/>
            <p:cNvCxnSpPr>
              <a:stCxn id="144" idx="2"/>
            </p:cNvCxnSpPr>
            <p:nvPr/>
          </p:nvCxnSpPr>
          <p:spPr>
            <a:xfrm>
              <a:off x="4661837" y="5070147"/>
              <a:ext cx="82965" cy="29694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146" name="Group 145"/>
          <p:cNvGrpSpPr/>
          <p:nvPr/>
        </p:nvGrpSpPr>
        <p:grpSpPr>
          <a:xfrm>
            <a:off x="7095591" y="4660915"/>
            <a:ext cx="461986" cy="666279"/>
            <a:chOff x="4430844" y="4700815"/>
            <a:chExt cx="461986" cy="666279"/>
          </a:xfrm>
        </p:grpSpPr>
        <p:sp>
          <p:nvSpPr>
            <p:cNvPr id="147" name="TextBox 146"/>
            <p:cNvSpPr txBox="1"/>
            <p:nvPr/>
          </p:nvSpPr>
          <p:spPr>
            <a:xfrm>
              <a:off x="4430844" y="4700815"/>
              <a:ext cx="461986" cy="369332"/>
            </a:xfrm>
            <a:prstGeom prst="rect">
              <a:avLst/>
            </a:prstGeom>
            <a:noFill/>
          </p:spPr>
          <p:txBody>
            <a:bodyPr wrap="none" rtlCol="0">
              <a:spAutoFit/>
            </a:bodyPr>
            <a:lstStyle/>
            <a:p>
              <a:r>
                <a:rPr lang="en-US" b="0" dirty="0">
                  <a:latin typeface="Gill Sans" charset="0"/>
                  <a:ea typeface="Gill Sans" charset="0"/>
                  <a:cs typeface="Gill Sans" charset="0"/>
                </a:rPr>
                <a:t>tail</a:t>
              </a:r>
            </a:p>
          </p:txBody>
        </p:sp>
        <p:cxnSp>
          <p:nvCxnSpPr>
            <p:cNvPr id="148" name="Straight Arrow Connector 147"/>
            <p:cNvCxnSpPr>
              <a:stCxn id="147" idx="2"/>
            </p:cNvCxnSpPr>
            <p:nvPr/>
          </p:nvCxnSpPr>
          <p:spPr>
            <a:xfrm>
              <a:off x="4661837" y="5070147"/>
              <a:ext cx="82965" cy="29694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149" name="Group 148"/>
          <p:cNvGrpSpPr/>
          <p:nvPr/>
        </p:nvGrpSpPr>
        <p:grpSpPr>
          <a:xfrm>
            <a:off x="7551250" y="4700815"/>
            <a:ext cx="461986" cy="666279"/>
            <a:chOff x="4430844" y="4700815"/>
            <a:chExt cx="461986" cy="666279"/>
          </a:xfrm>
        </p:grpSpPr>
        <p:sp>
          <p:nvSpPr>
            <p:cNvPr id="150" name="TextBox 149"/>
            <p:cNvSpPr txBox="1"/>
            <p:nvPr/>
          </p:nvSpPr>
          <p:spPr>
            <a:xfrm>
              <a:off x="4430844" y="4700815"/>
              <a:ext cx="461986" cy="369332"/>
            </a:xfrm>
            <a:prstGeom prst="rect">
              <a:avLst/>
            </a:prstGeom>
            <a:noFill/>
          </p:spPr>
          <p:txBody>
            <a:bodyPr wrap="none" rtlCol="0">
              <a:spAutoFit/>
            </a:bodyPr>
            <a:lstStyle/>
            <a:p>
              <a:r>
                <a:rPr lang="en-US" b="0" dirty="0">
                  <a:latin typeface="Gill Sans" charset="0"/>
                  <a:ea typeface="Gill Sans" charset="0"/>
                  <a:cs typeface="Gill Sans" charset="0"/>
                </a:rPr>
                <a:t>tail</a:t>
              </a:r>
            </a:p>
          </p:txBody>
        </p:sp>
        <p:cxnSp>
          <p:nvCxnSpPr>
            <p:cNvPr id="151" name="Straight Arrow Connector 150"/>
            <p:cNvCxnSpPr>
              <a:stCxn id="150" idx="2"/>
            </p:cNvCxnSpPr>
            <p:nvPr/>
          </p:nvCxnSpPr>
          <p:spPr>
            <a:xfrm>
              <a:off x="4661837" y="5070147"/>
              <a:ext cx="82965" cy="29694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155" name="Group 154"/>
          <p:cNvGrpSpPr/>
          <p:nvPr/>
        </p:nvGrpSpPr>
        <p:grpSpPr>
          <a:xfrm>
            <a:off x="6390513" y="4167385"/>
            <a:ext cx="644624" cy="313938"/>
            <a:chOff x="6684331" y="5513413"/>
            <a:chExt cx="644624" cy="313938"/>
          </a:xfrm>
          <a:effectLst>
            <a:glow rad="139700">
              <a:schemeClr val="accent3">
                <a:satMod val="175000"/>
                <a:alpha val="40000"/>
              </a:schemeClr>
            </a:glow>
          </a:effectLst>
        </p:grpSpPr>
        <p:sp>
          <p:nvSpPr>
            <p:cNvPr id="156" name="Rectangle 155"/>
            <p:cNvSpPr/>
            <p:nvPr/>
          </p:nvSpPr>
          <p:spPr>
            <a:xfrm rot="16200000">
              <a:off x="6696766" y="5512519"/>
              <a:ext cx="302397" cy="327267"/>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57" name="Rectangle 156"/>
            <p:cNvSpPr/>
            <p:nvPr/>
          </p:nvSpPr>
          <p:spPr>
            <a:xfrm rot="16200000">
              <a:off x="7014123" y="5500978"/>
              <a:ext cx="302397" cy="327267"/>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grpSp>
        <p:nvGrpSpPr>
          <p:cNvPr id="33" name="Group 32"/>
          <p:cNvGrpSpPr/>
          <p:nvPr/>
        </p:nvGrpSpPr>
        <p:grpSpPr>
          <a:xfrm>
            <a:off x="4707449" y="5208576"/>
            <a:ext cx="3143405" cy="903088"/>
            <a:chOff x="4707449" y="5208576"/>
            <a:chExt cx="3143405" cy="903088"/>
          </a:xfrm>
        </p:grpSpPr>
        <p:cxnSp>
          <p:nvCxnSpPr>
            <p:cNvPr id="17" name="Straight Connector 16"/>
            <p:cNvCxnSpPr/>
            <p:nvPr/>
          </p:nvCxnSpPr>
          <p:spPr>
            <a:xfrm flipH="1" flipV="1">
              <a:off x="4707449" y="5208576"/>
              <a:ext cx="3143405" cy="903088"/>
            </a:xfrm>
            <a:prstGeom prst="line">
              <a:avLst/>
            </a:prstGeom>
            <a:ln>
              <a:solidFill>
                <a:srgbClr val="0000FF"/>
              </a:solidFill>
            </a:ln>
          </p:spPr>
          <p:style>
            <a:lnRef idx="2">
              <a:schemeClr val="accent1"/>
            </a:lnRef>
            <a:fillRef idx="0">
              <a:schemeClr val="accent1"/>
            </a:fillRef>
            <a:effectRef idx="1">
              <a:schemeClr val="accent1"/>
            </a:effectRef>
            <a:fontRef idx="minor">
              <a:schemeClr val="tx1"/>
            </a:fontRef>
          </p:style>
        </p:cxnSp>
        <p:cxnSp>
          <p:nvCxnSpPr>
            <p:cNvPr id="158" name="Straight Connector 157"/>
            <p:cNvCxnSpPr>
              <a:stCxn id="111" idx="3"/>
            </p:cNvCxnSpPr>
            <p:nvPr/>
          </p:nvCxnSpPr>
          <p:spPr>
            <a:xfrm flipH="1">
              <a:off x="4859850" y="5208577"/>
              <a:ext cx="2773730" cy="865762"/>
            </a:xfrm>
            <a:prstGeom prst="line">
              <a:avLst/>
            </a:prstGeom>
            <a:ln>
              <a:solidFill>
                <a:srgbClr val="0000FF"/>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886415636"/>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0"/>
                                  </p:stCondLst>
                                  <p:childTnLst>
                                    <p:set>
                                      <p:cBhvr>
                                        <p:cTn id="19" dur="1" fill="hold">
                                          <p:stCondLst>
                                            <p:cond delay="0"/>
                                          </p:stCondLst>
                                        </p:cTn>
                                        <p:tgtEl>
                                          <p:spTgt spid="141"/>
                                        </p:tgtEl>
                                        <p:attrNameLst>
                                          <p:attrName>style.visibility</p:attrName>
                                        </p:attrNameLst>
                                      </p:cBhvr>
                                      <p:to>
                                        <p:strVal val="visible"/>
                                      </p:to>
                                    </p:set>
                                  </p:childTnLst>
                                </p:cTn>
                              </p:par>
                              <p:par>
                                <p:cTn id="20" presetID="10" presetClass="exit" presetSubtype="0" fill="hold" nodeType="withEffect">
                                  <p:stCondLst>
                                    <p:cond delay="0"/>
                                  </p:stCondLst>
                                  <p:childTnLst>
                                    <p:animEffect transition="out" filter="fade">
                                      <p:cBhvr>
                                        <p:cTn id="21" dur="500"/>
                                        <p:tgtEl>
                                          <p:spTgt spid="143"/>
                                        </p:tgtEl>
                                      </p:cBhvr>
                                    </p:animEffect>
                                    <p:set>
                                      <p:cBhvr>
                                        <p:cTn id="22" dur="1" fill="hold">
                                          <p:stCondLst>
                                            <p:cond delay="499"/>
                                          </p:stCondLst>
                                        </p:cTn>
                                        <p:tgtEl>
                                          <p:spTgt spid="143"/>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5"/>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nodeType="afterEffect">
                                  <p:stCondLst>
                                    <p:cond delay="0"/>
                                  </p:stCondLst>
                                  <p:childTnLst>
                                    <p:set>
                                      <p:cBhvr>
                                        <p:cTn id="29" dur="1" fill="hold">
                                          <p:stCondLst>
                                            <p:cond delay="0"/>
                                          </p:stCondLst>
                                        </p:cTn>
                                        <p:tgtEl>
                                          <p:spTgt spid="142"/>
                                        </p:tgtEl>
                                        <p:attrNameLst>
                                          <p:attrName>style.visibility</p:attrName>
                                        </p:attrNameLst>
                                      </p:cBhvr>
                                      <p:to>
                                        <p:strVal val="visible"/>
                                      </p:to>
                                    </p:set>
                                  </p:childTnLst>
                                </p:cTn>
                              </p:par>
                            </p:childTnLst>
                          </p:cTn>
                        </p:par>
                        <p:par>
                          <p:cTn id="30" fill="hold">
                            <p:stCondLst>
                              <p:cond delay="0"/>
                            </p:stCondLst>
                            <p:childTnLst>
                              <p:par>
                                <p:cTn id="31" presetID="10" presetClass="exit" presetSubtype="0" fill="hold" nodeType="afterEffect">
                                  <p:stCondLst>
                                    <p:cond delay="0"/>
                                  </p:stCondLst>
                                  <p:childTnLst>
                                    <p:animEffect transition="out" filter="fade">
                                      <p:cBhvr>
                                        <p:cTn id="32" dur="500"/>
                                        <p:tgtEl>
                                          <p:spTgt spid="141"/>
                                        </p:tgtEl>
                                      </p:cBhvr>
                                    </p:animEffect>
                                    <p:set>
                                      <p:cBhvr>
                                        <p:cTn id="33" dur="1" fill="hold">
                                          <p:stCondLst>
                                            <p:cond delay="499"/>
                                          </p:stCondLst>
                                        </p:cTn>
                                        <p:tgtEl>
                                          <p:spTgt spid="141"/>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155"/>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nodeType="afterEffect">
                                  <p:stCondLst>
                                    <p:cond delay="0"/>
                                  </p:stCondLst>
                                  <p:childTnLst>
                                    <p:set>
                                      <p:cBhvr>
                                        <p:cTn id="40" dur="1" fill="hold">
                                          <p:stCondLst>
                                            <p:cond delay="0"/>
                                          </p:stCondLst>
                                        </p:cTn>
                                        <p:tgtEl>
                                          <p:spTgt spid="146"/>
                                        </p:tgtEl>
                                        <p:attrNameLst>
                                          <p:attrName>style.visibility</p:attrName>
                                        </p:attrNameLst>
                                      </p:cBhvr>
                                      <p:to>
                                        <p:strVal val="visible"/>
                                      </p:to>
                                    </p:set>
                                  </p:childTnLst>
                                </p:cTn>
                              </p:par>
                              <p:par>
                                <p:cTn id="41" presetID="10" presetClass="exit" presetSubtype="0" fill="hold" nodeType="withEffect">
                                  <p:stCondLst>
                                    <p:cond delay="0"/>
                                  </p:stCondLst>
                                  <p:childTnLst>
                                    <p:animEffect transition="out" filter="fade">
                                      <p:cBhvr>
                                        <p:cTn id="42" dur="500"/>
                                        <p:tgtEl>
                                          <p:spTgt spid="142"/>
                                        </p:tgtEl>
                                      </p:cBhvr>
                                    </p:animEffect>
                                    <p:set>
                                      <p:cBhvr>
                                        <p:cTn id="43" dur="1" fill="hold">
                                          <p:stCondLst>
                                            <p:cond delay="499"/>
                                          </p:stCondLst>
                                        </p:cTn>
                                        <p:tgtEl>
                                          <p:spTgt spid="142"/>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149"/>
                                        </p:tgtEl>
                                        <p:attrNameLst>
                                          <p:attrName>style.visibility</p:attrName>
                                        </p:attrNameLst>
                                      </p:cBhvr>
                                      <p:to>
                                        <p:strVal val="visible"/>
                                      </p:to>
                                    </p:set>
                                  </p:childTnLst>
                                </p:cTn>
                              </p:par>
                              <p:par>
                                <p:cTn id="48" presetID="10" presetClass="exit" presetSubtype="0" fill="hold" nodeType="withEffect">
                                  <p:stCondLst>
                                    <p:cond delay="0"/>
                                  </p:stCondLst>
                                  <p:childTnLst>
                                    <p:animEffect transition="out" filter="fade">
                                      <p:cBhvr>
                                        <p:cTn id="49" dur="500"/>
                                        <p:tgtEl>
                                          <p:spTgt spid="146"/>
                                        </p:tgtEl>
                                      </p:cBhvr>
                                    </p:animEffect>
                                    <p:set>
                                      <p:cBhvr>
                                        <p:cTn id="50" dur="1" fill="hold">
                                          <p:stCondLst>
                                            <p:cond delay="499"/>
                                          </p:stCondLst>
                                        </p:cTn>
                                        <p:tgtEl>
                                          <p:spTgt spid="146"/>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33"/>
                                        </p:tgtEl>
                                        <p:attrNameLst>
                                          <p:attrName>style.visibility</p:attrName>
                                        </p:attrNameLst>
                                      </p:cBhvr>
                                      <p:to>
                                        <p:strVal val="visible"/>
                                      </p:to>
                                    </p:set>
                                    <p:animEffect transition="in" filter="blinds(horizontal)">
                                      <p:cBhvr>
                                        <p:cTn id="55"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Crash During Logging – Recover</a:t>
            </a:r>
          </a:p>
        </p:txBody>
      </p:sp>
      <p:sp>
        <p:nvSpPr>
          <p:cNvPr id="9" name="Content Placeholder 8"/>
          <p:cNvSpPr>
            <a:spLocks noGrp="1"/>
          </p:cNvSpPr>
          <p:nvPr>
            <p:ph idx="1"/>
          </p:nvPr>
        </p:nvSpPr>
        <p:spPr>
          <a:xfrm>
            <a:off x="271145" y="1108316"/>
            <a:ext cx="4734732" cy="3828731"/>
          </a:xfrm>
        </p:spPr>
        <p:txBody>
          <a:bodyPr>
            <a:noAutofit/>
          </a:bodyPr>
          <a:lstStyle/>
          <a:p>
            <a:r>
              <a:rPr lang="en-US" dirty="0"/>
              <a:t>Upon recovery scan the log</a:t>
            </a:r>
          </a:p>
          <a:p>
            <a:pPr lvl="1"/>
            <a:endParaRPr lang="en-US" sz="1800" dirty="0"/>
          </a:p>
          <a:p>
            <a:r>
              <a:rPr lang="en-US" dirty="0"/>
              <a:t>Detect transaction start with no commit</a:t>
            </a:r>
          </a:p>
          <a:p>
            <a:pPr lvl="1"/>
            <a:endParaRPr lang="en-US" sz="1800" dirty="0"/>
          </a:p>
          <a:p>
            <a:r>
              <a:rPr lang="en-US" dirty="0"/>
              <a:t>Discard log entries</a:t>
            </a:r>
          </a:p>
          <a:p>
            <a:pPr lvl="1"/>
            <a:endParaRPr lang="en-US" sz="1800" dirty="0"/>
          </a:p>
          <a:p>
            <a:r>
              <a:rPr lang="en-US" dirty="0"/>
              <a:t>Disk remains unchanged</a:t>
            </a:r>
          </a:p>
          <a:p>
            <a:endParaRPr lang="en-US" dirty="0"/>
          </a:p>
        </p:txBody>
      </p:sp>
      <p:sp>
        <p:nvSpPr>
          <p:cNvPr id="10" name="Can 9"/>
          <p:cNvSpPr/>
          <p:nvPr/>
        </p:nvSpPr>
        <p:spPr>
          <a:xfrm>
            <a:off x="5609996" y="1622297"/>
            <a:ext cx="2099734" cy="3048000"/>
          </a:xfrm>
          <a:prstGeom prst="can">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8" name="TextBox 17"/>
          <p:cNvSpPr txBox="1"/>
          <p:nvPr/>
        </p:nvSpPr>
        <p:spPr>
          <a:xfrm>
            <a:off x="7780819" y="2843640"/>
            <a:ext cx="1287532" cy="369332"/>
          </a:xfrm>
          <a:prstGeom prst="rect">
            <a:avLst/>
          </a:prstGeom>
          <a:noFill/>
        </p:spPr>
        <p:txBody>
          <a:bodyPr wrap="none" rtlCol="0">
            <a:spAutoFit/>
          </a:bodyPr>
          <a:lstStyle/>
          <a:p>
            <a:r>
              <a:rPr lang="en-US" b="0" dirty="0">
                <a:latin typeface="Gill Sans" charset="0"/>
                <a:ea typeface="Gill Sans" charset="0"/>
                <a:cs typeface="Gill Sans" charset="0"/>
              </a:rPr>
              <a:t>Data blocks</a:t>
            </a:r>
          </a:p>
        </p:txBody>
      </p:sp>
      <p:sp>
        <p:nvSpPr>
          <p:cNvPr id="20" name="TextBox 19"/>
          <p:cNvSpPr txBox="1"/>
          <p:nvPr/>
        </p:nvSpPr>
        <p:spPr>
          <a:xfrm>
            <a:off x="7850854" y="2123750"/>
            <a:ext cx="1293146" cy="646331"/>
          </a:xfrm>
          <a:prstGeom prst="rect">
            <a:avLst/>
          </a:prstGeom>
          <a:noFill/>
        </p:spPr>
        <p:txBody>
          <a:bodyPr wrap="square" rtlCol="0">
            <a:spAutoFit/>
          </a:bodyPr>
          <a:lstStyle/>
          <a:p>
            <a:r>
              <a:rPr lang="en-US" b="0" dirty="0">
                <a:latin typeface="Gill Sans" charset="0"/>
                <a:ea typeface="Gill Sans" charset="0"/>
                <a:cs typeface="Gill Sans" charset="0"/>
              </a:rPr>
              <a:t>Free space map</a:t>
            </a:r>
          </a:p>
        </p:txBody>
      </p:sp>
      <p:grpSp>
        <p:nvGrpSpPr>
          <p:cNvPr id="21" name="Group 20"/>
          <p:cNvGrpSpPr/>
          <p:nvPr/>
        </p:nvGrpSpPr>
        <p:grpSpPr>
          <a:xfrm rot="16200000">
            <a:off x="6455590" y="2028473"/>
            <a:ext cx="415498" cy="1802120"/>
            <a:chOff x="7569976" y="1270135"/>
            <a:chExt cx="415498" cy="1802120"/>
          </a:xfrm>
        </p:grpSpPr>
        <p:sp>
          <p:nvSpPr>
            <p:cNvPr id="22" name="Rectangle 21"/>
            <p:cNvSpPr/>
            <p:nvPr/>
          </p:nvSpPr>
          <p:spPr>
            <a:xfrm>
              <a:off x="7605706" y="1270135"/>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3" name="Rectangle 22"/>
            <p:cNvSpPr/>
            <p:nvPr/>
          </p:nvSpPr>
          <p:spPr>
            <a:xfrm>
              <a:off x="7605706" y="1591319"/>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4" name="Rectangle 23"/>
            <p:cNvSpPr/>
            <p:nvPr/>
          </p:nvSpPr>
          <p:spPr>
            <a:xfrm>
              <a:off x="7605706" y="1897904"/>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5" name="Rectangle 24"/>
            <p:cNvSpPr/>
            <p:nvPr/>
          </p:nvSpPr>
          <p:spPr>
            <a:xfrm>
              <a:off x="7605706" y="2219088"/>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6" name="Rectangle 25"/>
            <p:cNvSpPr/>
            <p:nvPr/>
          </p:nvSpPr>
          <p:spPr>
            <a:xfrm>
              <a:off x="7605706" y="2751071"/>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7" name="TextBox 26"/>
            <p:cNvSpPr txBox="1"/>
            <p:nvPr/>
          </p:nvSpPr>
          <p:spPr>
            <a:xfrm>
              <a:off x="7569976" y="2425537"/>
              <a:ext cx="415498" cy="369332"/>
            </a:xfrm>
            <a:prstGeom prst="rect">
              <a:avLst/>
            </a:prstGeom>
            <a:noFill/>
          </p:spPr>
          <p:txBody>
            <a:bodyPr wrap="none" rtlCol="0">
              <a:spAutoFit/>
            </a:bodyPr>
            <a:lstStyle/>
            <a:p>
              <a:r>
                <a:rPr lang="en-US" b="0" dirty="0">
                  <a:latin typeface="Gill Sans" charset="0"/>
                  <a:ea typeface="Gill Sans" charset="0"/>
                  <a:cs typeface="Gill Sans" charset="0"/>
                </a:rPr>
                <a:t>…</a:t>
              </a:r>
            </a:p>
          </p:txBody>
        </p:sp>
      </p:grpSp>
      <p:grpSp>
        <p:nvGrpSpPr>
          <p:cNvPr id="35" name="Group 34"/>
          <p:cNvGrpSpPr/>
          <p:nvPr/>
        </p:nvGrpSpPr>
        <p:grpSpPr>
          <a:xfrm>
            <a:off x="6500681" y="2308416"/>
            <a:ext cx="640069" cy="121398"/>
            <a:chOff x="2607047" y="2031999"/>
            <a:chExt cx="1270137" cy="364957"/>
          </a:xfrm>
        </p:grpSpPr>
        <p:sp>
          <p:nvSpPr>
            <p:cNvPr id="29" name="Rectangle 28"/>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30" name="Rectangle 29"/>
            <p:cNvSpPr/>
            <p:nvPr/>
          </p:nvSpPr>
          <p:spPr>
            <a:xfrm rot="16200000">
              <a:off x="2906344"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31" name="Rectangle 30"/>
            <p:cNvSpPr/>
            <p:nvPr/>
          </p:nvSpPr>
          <p:spPr>
            <a:xfrm rot="16200000">
              <a:off x="3212929"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32" name="Rectangle 31"/>
            <p:cNvSpPr/>
            <p:nvPr/>
          </p:nvSpPr>
          <p:spPr>
            <a:xfrm rot="16200000">
              <a:off x="3534113"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grpSp>
        <p:nvGrpSpPr>
          <p:cNvPr id="36" name="Group 35"/>
          <p:cNvGrpSpPr/>
          <p:nvPr/>
        </p:nvGrpSpPr>
        <p:grpSpPr>
          <a:xfrm>
            <a:off x="7140750" y="2308416"/>
            <a:ext cx="640069" cy="121398"/>
            <a:chOff x="2607047" y="2031999"/>
            <a:chExt cx="1270137" cy="364957"/>
          </a:xfrm>
        </p:grpSpPr>
        <p:sp>
          <p:nvSpPr>
            <p:cNvPr id="37" name="Rectangle 36"/>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38" name="Rectangle 37"/>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39" name="Rectangle 38"/>
            <p:cNvSpPr/>
            <p:nvPr/>
          </p:nvSpPr>
          <p:spPr>
            <a:xfrm rot="16200000">
              <a:off x="3212929"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0" name="Rectangle 39"/>
            <p:cNvSpPr/>
            <p:nvPr/>
          </p:nvSpPr>
          <p:spPr>
            <a:xfrm rot="16200000">
              <a:off x="3534113"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grpSp>
        <p:nvGrpSpPr>
          <p:cNvPr id="41" name="Group 40"/>
          <p:cNvGrpSpPr/>
          <p:nvPr/>
        </p:nvGrpSpPr>
        <p:grpSpPr>
          <a:xfrm>
            <a:off x="5219534" y="2308416"/>
            <a:ext cx="640069" cy="121398"/>
            <a:chOff x="2607047" y="2031999"/>
            <a:chExt cx="1270137" cy="364957"/>
          </a:xfrm>
        </p:grpSpPr>
        <p:sp>
          <p:nvSpPr>
            <p:cNvPr id="42" name="Rectangle 41"/>
            <p:cNvSpPr/>
            <p:nvPr/>
          </p:nvSpPr>
          <p:spPr>
            <a:xfrm rot="16200000">
              <a:off x="2585160"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3" name="Rectangle 42"/>
            <p:cNvSpPr/>
            <p:nvPr/>
          </p:nvSpPr>
          <p:spPr>
            <a:xfrm rot="16200000">
              <a:off x="2906344"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4" name="Rectangle 43"/>
            <p:cNvSpPr/>
            <p:nvPr/>
          </p:nvSpPr>
          <p:spPr>
            <a:xfrm rot="16200000">
              <a:off x="3212929"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5" name="Rectangle 44"/>
            <p:cNvSpPr/>
            <p:nvPr/>
          </p:nvSpPr>
          <p:spPr>
            <a:xfrm rot="16200000">
              <a:off x="3534113"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grpSp>
        <p:nvGrpSpPr>
          <p:cNvPr id="46" name="Group 45"/>
          <p:cNvGrpSpPr/>
          <p:nvPr/>
        </p:nvGrpSpPr>
        <p:grpSpPr>
          <a:xfrm>
            <a:off x="5859603" y="2308416"/>
            <a:ext cx="640069" cy="121398"/>
            <a:chOff x="2607047" y="2031999"/>
            <a:chExt cx="1270137" cy="364957"/>
          </a:xfrm>
        </p:grpSpPr>
        <p:sp>
          <p:nvSpPr>
            <p:cNvPr id="47" name="Rectangle 46"/>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8" name="Rectangle 47"/>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9" name="Rectangle 48"/>
            <p:cNvSpPr/>
            <p:nvPr/>
          </p:nvSpPr>
          <p:spPr>
            <a:xfrm rot="16200000">
              <a:off x="3212929"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50" name="Rectangle 49"/>
            <p:cNvSpPr/>
            <p:nvPr/>
          </p:nvSpPr>
          <p:spPr>
            <a:xfrm rot="16200000">
              <a:off x="3534113"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69" name="Rectangle 68"/>
          <p:cNvSpPr/>
          <p:nvPr/>
        </p:nvSpPr>
        <p:spPr>
          <a:xfrm rot="16200000">
            <a:off x="7087320" y="3342493"/>
            <a:ext cx="242349" cy="240920"/>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0" name="Rectangle 69"/>
          <p:cNvSpPr/>
          <p:nvPr/>
        </p:nvSpPr>
        <p:spPr>
          <a:xfrm rot="16200000">
            <a:off x="7328240" y="3342493"/>
            <a:ext cx="242349" cy="240920"/>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1" name="Rectangle 70"/>
          <p:cNvSpPr/>
          <p:nvPr/>
        </p:nvSpPr>
        <p:spPr>
          <a:xfrm rot="16200000">
            <a:off x="7558209" y="3342493"/>
            <a:ext cx="242349" cy="240920"/>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nvGrpSpPr>
          <p:cNvPr id="55" name="Group 54"/>
          <p:cNvGrpSpPr/>
          <p:nvPr/>
        </p:nvGrpSpPr>
        <p:grpSpPr>
          <a:xfrm>
            <a:off x="5181077" y="3341778"/>
            <a:ext cx="952728" cy="242349"/>
            <a:chOff x="2607047" y="2031999"/>
            <a:chExt cx="1270137" cy="364957"/>
          </a:xfrm>
        </p:grpSpPr>
        <p:sp>
          <p:nvSpPr>
            <p:cNvPr id="61" name="Rectangle 60"/>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62" name="Rectangle 61"/>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63" name="Rectangle 62"/>
            <p:cNvSpPr/>
            <p:nvPr/>
          </p:nvSpPr>
          <p:spPr>
            <a:xfrm rot="16200000">
              <a:off x="3212929"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64" name="Rectangle 63"/>
            <p:cNvSpPr/>
            <p:nvPr/>
          </p:nvSpPr>
          <p:spPr>
            <a:xfrm rot="16200000">
              <a:off x="3534113"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grpSp>
        <p:nvGrpSpPr>
          <p:cNvPr id="56" name="Group 55"/>
          <p:cNvGrpSpPr/>
          <p:nvPr/>
        </p:nvGrpSpPr>
        <p:grpSpPr>
          <a:xfrm>
            <a:off x="6133805" y="3341778"/>
            <a:ext cx="952728" cy="242349"/>
            <a:chOff x="2607047" y="2031999"/>
            <a:chExt cx="1270137" cy="364957"/>
          </a:xfrm>
        </p:grpSpPr>
        <p:sp>
          <p:nvSpPr>
            <p:cNvPr id="57" name="Rectangle 56"/>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58" name="Rectangle 57"/>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59" name="Rectangle 58"/>
            <p:cNvSpPr/>
            <p:nvPr/>
          </p:nvSpPr>
          <p:spPr>
            <a:xfrm rot="16200000">
              <a:off x="3212929"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60" name="Rectangle 59"/>
            <p:cNvSpPr/>
            <p:nvPr/>
          </p:nvSpPr>
          <p:spPr>
            <a:xfrm rot="16200000">
              <a:off x="3534113"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73" name="TextBox 72"/>
          <p:cNvSpPr txBox="1"/>
          <p:nvPr/>
        </p:nvSpPr>
        <p:spPr>
          <a:xfrm>
            <a:off x="7884929" y="3284702"/>
            <a:ext cx="1251139" cy="369332"/>
          </a:xfrm>
          <a:prstGeom prst="rect">
            <a:avLst/>
          </a:prstGeom>
          <a:noFill/>
        </p:spPr>
        <p:txBody>
          <a:bodyPr wrap="none" rtlCol="0">
            <a:spAutoFit/>
          </a:bodyPr>
          <a:lstStyle/>
          <a:p>
            <a:r>
              <a:rPr lang="en-US" b="0" dirty="0" err="1">
                <a:latin typeface="Gill Sans" charset="0"/>
                <a:ea typeface="Gill Sans" charset="0"/>
                <a:cs typeface="Gill Sans" charset="0"/>
              </a:rPr>
              <a:t>Inode</a:t>
            </a:r>
            <a:r>
              <a:rPr lang="en-US" b="0" dirty="0">
                <a:latin typeface="Gill Sans" charset="0"/>
                <a:ea typeface="Gill Sans" charset="0"/>
                <a:cs typeface="Gill Sans" charset="0"/>
              </a:rPr>
              <a:t> table</a:t>
            </a:r>
          </a:p>
        </p:txBody>
      </p:sp>
      <p:grpSp>
        <p:nvGrpSpPr>
          <p:cNvPr id="83" name="Group 82"/>
          <p:cNvGrpSpPr/>
          <p:nvPr/>
        </p:nvGrpSpPr>
        <p:grpSpPr>
          <a:xfrm>
            <a:off x="5945908" y="3708339"/>
            <a:ext cx="1457827" cy="761444"/>
            <a:chOff x="1744000" y="2182577"/>
            <a:chExt cx="1430729" cy="918973"/>
          </a:xfrm>
        </p:grpSpPr>
        <p:sp>
          <p:nvSpPr>
            <p:cNvPr id="75" name="Rectangle 74"/>
            <p:cNvSpPr/>
            <p:nvPr/>
          </p:nvSpPr>
          <p:spPr>
            <a:xfrm rot="16200000">
              <a:off x="1882705" y="2758480"/>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6" name="Rectangle 75"/>
            <p:cNvSpPr/>
            <p:nvPr/>
          </p:nvSpPr>
          <p:spPr>
            <a:xfrm rot="16200000">
              <a:off x="2203889" y="2758480"/>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7" name="Rectangle 76"/>
            <p:cNvSpPr/>
            <p:nvPr/>
          </p:nvSpPr>
          <p:spPr>
            <a:xfrm rot="16200000">
              <a:off x="2510474" y="2758480"/>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8" name="Rectangle 77"/>
            <p:cNvSpPr/>
            <p:nvPr/>
          </p:nvSpPr>
          <p:spPr>
            <a:xfrm rot="16200000">
              <a:off x="2831658" y="2758480"/>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9" name="Rectangle 78"/>
            <p:cNvSpPr/>
            <p:nvPr/>
          </p:nvSpPr>
          <p:spPr>
            <a:xfrm rot="16200000">
              <a:off x="2781130" y="2234544"/>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81" name="Rectangle 80"/>
            <p:cNvSpPr/>
            <p:nvPr/>
          </p:nvSpPr>
          <p:spPr>
            <a:xfrm rot="16200000">
              <a:off x="1722113" y="2204464"/>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82" name="Rectangle 81"/>
            <p:cNvSpPr/>
            <p:nvPr/>
          </p:nvSpPr>
          <p:spPr>
            <a:xfrm rot="16200000">
              <a:off x="2206034" y="2234544"/>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84" name="TextBox 83"/>
          <p:cNvSpPr txBox="1"/>
          <p:nvPr/>
        </p:nvSpPr>
        <p:spPr>
          <a:xfrm>
            <a:off x="7892861" y="3982719"/>
            <a:ext cx="1110047" cy="646331"/>
          </a:xfrm>
          <a:prstGeom prst="rect">
            <a:avLst/>
          </a:prstGeom>
          <a:noFill/>
        </p:spPr>
        <p:txBody>
          <a:bodyPr wrap="none" rtlCol="0">
            <a:spAutoFit/>
          </a:bodyPr>
          <a:lstStyle/>
          <a:p>
            <a:r>
              <a:rPr lang="en-US" b="0" dirty="0">
                <a:latin typeface="Gill Sans" charset="0"/>
                <a:ea typeface="Gill Sans" charset="0"/>
                <a:cs typeface="Gill Sans" charset="0"/>
              </a:rPr>
              <a:t>Directory</a:t>
            </a:r>
          </a:p>
          <a:p>
            <a:r>
              <a:rPr lang="en-US" b="0" dirty="0">
                <a:latin typeface="Gill Sans" charset="0"/>
                <a:ea typeface="Gill Sans" charset="0"/>
                <a:cs typeface="Gill Sans" charset="0"/>
              </a:rPr>
              <a:t>entries</a:t>
            </a:r>
          </a:p>
        </p:txBody>
      </p:sp>
      <p:sp>
        <p:nvSpPr>
          <p:cNvPr id="86" name="Rectangle 85"/>
          <p:cNvSpPr/>
          <p:nvPr/>
        </p:nvSpPr>
        <p:spPr>
          <a:xfrm rot="16200000">
            <a:off x="6114238" y="3352203"/>
            <a:ext cx="242349" cy="240920"/>
          </a:xfrm>
          <a:prstGeom prst="rect">
            <a:avLst/>
          </a:prstGeom>
          <a:solidFill>
            <a:srgbClr val="FFFF00">
              <a:alpha val="16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88" name="Rectangle 87"/>
          <p:cNvSpPr/>
          <p:nvPr/>
        </p:nvSpPr>
        <p:spPr>
          <a:xfrm rot="16200000">
            <a:off x="6778696" y="4154950"/>
            <a:ext cx="302397" cy="327267"/>
          </a:xfrm>
          <a:prstGeom prst="rect">
            <a:avLst/>
          </a:prstGeom>
          <a:solidFill>
            <a:srgbClr val="FFFF00">
              <a:alpha val="27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66" name="Rectangle 65"/>
          <p:cNvSpPr/>
          <p:nvPr/>
        </p:nvSpPr>
        <p:spPr>
          <a:xfrm>
            <a:off x="756351" y="5336575"/>
            <a:ext cx="7930449" cy="623473"/>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 name="TextBox 1"/>
          <p:cNvSpPr txBox="1"/>
          <p:nvPr/>
        </p:nvSpPr>
        <p:spPr>
          <a:xfrm>
            <a:off x="1019736" y="6229290"/>
            <a:ext cx="5355953" cy="400110"/>
          </a:xfrm>
          <a:prstGeom prst="rect">
            <a:avLst/>
          </a:prstGeom>
          <a:noFill/>
        </p:spPr>
        <p:txBody>
          <a:bodyPr wrap="none" rtlCol="0">
            <a:spAutoFit/>
          </a:bodyPr>
          <a:lstStyle/>
          <a:p>
            <a:r>
              <a:rPr lang="en-US" sz="2000" b="0" dirty="0">
                <a:latin typeface="Gill Sans" charset="0"/>
                <a:ea typeface="Gill Sans" charset="0"/>
                <a:cs typeface="Gill Sans" charset="0"/>
              </a:rPr>
              <a:t>Log: in non-volatile storage (Flash or on Disk)</a:t>
            </a:r>
          </a:p>
        </p:txBody>
      </p:sp>
      <p:sp>
        <p:nvSpPr>
          <p:cNvPr id="3" name="TextBox 2"/>
          <p:cNvSpPr txBox="1"/>
          <p:nvPr/>
        </p:nvSpPr>
        <p:spPr>
          <a:xfrm>
            <a:off x="4381128" y="4670297"/>
            <a:ext cx="624578" cy="369332"/>
          </a:xfrm>
          <a:prstGeom prst="rect">
            <a:avLst/>
          </a:prstGeom>
          <a:noFill/>
        </p:spPr>
        <p:txBody>
          <a:bodyPr wrap="none" rtlCol="0">
            <a:spAutoFit/>
          </a:bodyPr>
          <a:lstStyle/>
          <a:p>
            <a:r>
              <a:rPr lang="en-US" b="0" dirty="0">
                <a:solidFill>
                  <a:srgbClr val="FF0000"/>
                </a:solidFill>
                <a:latin typeface="Gill Sans" charset="0"/>
                <a:ea typeface="Gill Sans" charset="0"/>
                <a:cs typeface="Gill Sans" charset="0"/>
              </a:rPr>
              <a:t>head</a:t>
            </a:r>
          </a:p>
        </p:txBody>
      </p:sp>
      <p:cxnSp>
        <p:nvCxnSpPr>
          <p:cNvPr id="11" name="Straight Arrow Connector 10"/>
          <p:cNvCxnSpPr>
            <a:stCxn id="3" idx="2"/>
          </p:cNvCxnSpPr>
          <p:nvPr/>
        </p:nvCxnSpPr>
        <p:spPr>
          <a:xfrm>
            <a:off x="4693417" y="5039629"/>
            <a:ext cx="1669" cy="296947"/>
          </a:xfrm>
          <a:prstGeom prst="straightConnector1">
            <a:avLst/>
          </a:prstGeom>
          <a:ln>
            <a:solidFill>
              <a:srgbClr val="FC230C"/>
            </a:solidFill>
            <a:tailEnd type="arrow"/>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2797878" y="4670297"/>
            <a:ext cx="461986" cy="369332"/>
          </a:xfrm>
          <a:prstGeom prst="rect">
            <a:avLst/>
          </a:prstGeom>
          <a:noFill/>
        </p:spPr>
        <p:txBody>
          <a:bodyPr wrap="none" rtlCol="0">
            <a:spAutoFit/>
          </a:bodyPr>
          <a:lstStyle/>
          <a:p>
            <a:r>
              <a:rPr lang="en-US" b="0" dirty="0">
                <a:latin typeface="Gill Sans" charset="0"/>
                <a:ea typeface="Gill Sans" charset="0"/>
                <a:cs typeface="Gill Sans" charset="0"/>
              </a:rPr>
              <a:t>tail</a:t>
            </a:r>
          </a:p>
        </p:txBody>
      </p:sp>
      <p:cxnSp>
        <p:nvCxnSpPr>
          <p:cNvPr id="74" name="Straight Arrow Connector 73"/>
          <p:cNvCxnSpPr>
            <a:stCxn id="72" idx="2"/>
          </p:cNvCxnSpPr>
          <p:nvPr/>
        </p:nvCxnSpPr>
        <p:spPr>
          <a:xfrm>
            <a:off x="3028871" y="5039629"/>
            <a:ext cx="82965" cy="29694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80" name="Rectangle 79"/>
          <p:cNvSpPr/>
          <p:nvPr/>
        </p:nvSpPr>
        <p:spPr>
          <a:xfrm>
            <a:off x="3111835" y="5346286"/>
            <a:ext cx="1583250" cy="613762"/>
          </a:xfrm>
          <a:prstGeom prst="rect">
            <a:avLst/>
          </a:prstGeom>
          <a:solidFill>
            <a:schemeClr val="accent6">
              <a:lumMod val="60000"/>
              <a:lumOff val="40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90" name="TextBox 89"/>
          <p:cNvSpPr txBox="1"/>
          <p:nvPr/>
        </p:nvSpPr>
        <p:spPr>
          <a:xfrm>
            <a:off x="3434873" y="5346286"/>
            <a:ext cx="902811" cy="369332"/>
          </a:xfrm>
          <a:prstGeom prst="rect">
            <a:avLst/>
          </a:prstGeom>
          <a:noFill/>
        </p:spPr>
        <p:txBody>
          <a:bodyPr wrap="none" rtlCol="0">
            <a:spAutoFit/>
          </a:bodyPr>
          <a:lstStyle/>
          <a:p>
            <a:r>
              <a:rPr lang="en-US" b="0" dirty="0">
                <a:latin typeface="Gill Sans" charset="0"/>
                <a:ea typeface="Gill Sans" charset="0"/>
                <a:cs typeface="Gill Sans" charset="0"/>
              </a:rPr>
              <a:t>pending</a:t>
            </a:r>
          </a:p>
        </p:txBody>
      </p:sp>
      <p:sp>
        <p:nvSpPr>
          <p:cNvPr id="91" name="TextBox 90"/>
          <p:cNvSpPr txBox="1"/>
          <p:nvPr/>
        </p:nvSpPr>
        <p:spPr>
          <a:xfrm>
            <a:off x="2026450" y="5349778"/>
            <a:ext cx="663801" cy="369332"/>
          </a:xfrm>
          <a:prstGeom prst="rect">
            <a:avLst/>
          </a:prstGeom>
          <a:noFill/>
        </p:spPr>
        <p:txBody>
          <a:bodyPr wrap="none" rtlCol="0">
            <a:spAutoFit/>
          </a:bodyPr>
          <a:lstStyle/>
          <a:p>
            <a:r>
              <a:rPr lang="en-US" b="0" dirty="0">
                <a:latin typeface="Gill Sans" charset="0"/>
                <a:ea typeface="Gill Sans" charset="0"/>
                <a:cs typeface="Gill Sans" charset="0"/>
              </a:rPr>
              <a:t>done</a:t>
            </a:r>
          </a:p>
        </p:txBody>
      </p:sp>
      <p:sp>
        <p:nvSpPr>
          <p:cNvPr id="12" name="TextBox 11"/>
          <p:cNvSpPr txBox="1"/>
          <p:nvPr/>
        </p:nvSpPr>
        <p:spPr>
          <a:xfrm rot="16200000">
            <a:off x="4581774" y="5465041"/>
            <a:ext cx="620683" cy="369332"/>
          </a:xfrm>
          <a:prstGeom prst="rect">
            <a:avLst/>
          </a:prstGeom>
          <a:solidFill>
            <a:schemeClr val="accent3">
              <a:lumMod val="40000"/>
              <a:lumOff val="60000"/>
            </a:schemeClr>
          </a:solidFill>
          <a:ln>
            <a:solidFill>
              <a:srgbClr val="000090"/>
            </a:solidFill>
          </a:ln>
        </p:spPr>
        <p:txBody>
          <a:bodyPr wrap="none" rtlCol="0">
            <a:spAutoFit/>
          </a:bodyPr>
          <a:lstStyle/>
          <a:p>
            <a:r>
              <a:rPr lang="en-US" b="0" dirty="0">
                <a:latin typeface="Gill Sans" charset="0"/>
                <a:ea typeface="Gill Sans" charset="0"/>
                <a:cs typeface="Gill Sans" charset="0"/>
              </a:rPr>
              <a:t>start</a:t>
            </a:r>
          </a:p>
        </p:txBody>
      </p:sp>
      <p:cxnSp>
        <p:nvCxnSpPr>
          <p:cNvPr id="112" name="Straight Arrow Connector 111"/>
          <p:cNvCxnSpPr/>
          <p:nvPr/>
        </p:nvCxnSpPr>
        <p:spPr>
          <a:xfrm flipH="1">
            <a:off x="5088380" y="5039628"/>
            <a:ext cx="12365" cy="296947"/>
          </a:xfrm>
          <a:prstGeom prst="straightConnector1">
            <a:avLst/>
          </a:prstGeom>
          <a:ln>
            <a:solidFill>
              <a:srgbClr val="FC230C"/>
            </a:solidFill>
            <a:tailEnd type="arrow"/>
          </a:ln>
        </p:spPr>
        <p:style>
          <a:lnRef idx="2">
            <a:schemeClr val="accent1"/>
          </a:lnRef>
          <a:fillRef idx="0">
            <a:schemeClr val="accent1"/>
          </a:fillRef>
          <a:effectRef idx="1">
            <a:schemeClr val="accent1"/>
          </a:effectRef>
          <a:fontRef idx="minor">
            <a:schemeClr val="tx1"/>
          </a:fontRef>
        </p:style>
      </p:cxnSp>
      <p:grpSp>
        <p:nvGrpSpPr>
          <p:cNvPr id="16" name="Group 15"/>
          <p:cNvGrpSpPr/>
          <p:nvPr/>
        </p:nvGrpSpPr>
        <p:grpSpPr>
          <a:xfrm>
            <a:off x="5076782" y="2429814"/>
            <a:ext cx="816103" cy="3530235"/>
            <a:chOff x="5076782" y="2429814"/>
            <a:chExt cx="816103" cy="3530235"/>
          </a:xfrm>
        </p:grpSpPr>
        <p:grpSp>
          <p:nvGrpSpPr>
            <p:cNvPr id="13" name="Group 12"/>
            <p:cNvGrpSpPr/>
            <p:nvPr/>
          </p:nvGrpSpPr>
          <p:grpSpPr>
            <a:xfrm>
              <a:off x="5135148" y="5628477"/>
              <a:ext cx="640069" cy="131108"/>
              <a:chOff x="5252815" y="1247958"/>
              <a:chExt cx="640069" cy="131108"/>
            </a:xfrm>
          </p:grpSpPr>
          <p:grpSp>
            <p:nvGrpSpPr>
              <p:cNvPr id="92" name="Group 91"/>
              <p:cNvGrpSpPr/>
              <p:nvPr/>
            </p:nvGrpSpPr>
            <p:grpSpPr>
              <a:xfrm>
                <a:off x="5252815" y="1247958"/>
                <a:ext cx="640069" cy="121398"/>
                <a:chOff x="2607047" y="2031999"/>
                <a:chExt cx="1270137" cy="364957"/>
              </a:xfrm>
            </p:grpSpPr>
            <p:sp>
              <p:nvSpPr>
                <p:cNvPr id="93" name="Rectangle 92"/>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94" name="Rectangle 93"/>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95" name="Rectangle 94"/>
                <p:cNvSpPr/>
                <p:nvPr/>
              </p:nvSpPr>
              <p:spPr>
                <a:xfrm rot="16200000">
                  <a:off x="3212929"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96" name="Rectangle 95"/>
                <p:cNvSpPr/>
                <p:nvPr/>
              </p:nvSpPr>
              <p:spPr>
                <a:xfrm rot="16200000">
                  <a:off x="3534113"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97" name="Rectangle 96"/>
              <p:cNvSpPr/>
              <p:nvPr/>
            </p:nvSpPr>
            <p:spPr>
              <a:xfrm rot="16200000">
                <a:off x="5282734" y="1237439"/>
                <a:ext cx="121398" cy="161856"/>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14" name="Rectangle 13"/>
            <p:cNvSpPr/>
            <p:nvPr/>
          </p:nvSpPr>
          <p:spPr>
            <a:xfrm>
              <a:off x="5076782" y="5349778"/>
              <a:ext cx="698435" cy="610271"/>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98" name="Freeform 97"/>
            <p:cNvSpPr/>
            <p:nvPr/>
          </p:nvSpPr>
          <p:spPr>
            <a:xfrm>
              <a:off x="5248206" y="2429814"/>
              <a:ext cx="644679" cy="3009496"/>
            </a:xfrm>
            <a:custGeom>
              <a:avLst/>
              <a:gdLst>
                <a:gd name="connsiteX0" fmla="*/ 14270 w 314088"/>
                <a:gd name="connsiteY0" fmla="*/ 485144 h 485144"/>
                <a:gd name="connsiteX1" fmla="*/ 28541 w 314088"/>
                <a:gd name="connsiteY1" fmla="*/ 242572 h 485144"/>
                <a:gd name="connsiteX2" fmla="*/ 271144 w 314088"/>
                <a:gd name="connsiteY2" fmla="*/ 214034 h 485144"/>
                <a:gd name="connsiteX3" fmla="*/ 313956 w 314088"/>
                <a:gd name="connsiteY3" fmla="*/ 0 h 485144"/>
                <a:gd name="connsiteX4" fmla="*/ 313956 w 314088"/>
                <a:gd name="connsiteY4" fmla="*/ 0 h 485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088" h="485144">
                  <a:moveTo>
                    <a:pt x="14270" y="485144"/>
                  </a:moveTo>
                  <a:cubicBezTo>
                    <a:pt x="-1" y="386450"/>
                    <a:pt x="-14271" y="287757"/>
                    <a:pt x="28541" y="242572"/>
                  </a:cubicBezTo>
                  <a:cubicBezTo>
                    <a:pt x="71353" y="197387"/>
                    <a:pt x="223575" y="254463"/>
                    <a:pt x="271144" y="214034"/>
                  </a:cubicBezTo>
                  <a:cubicBezTo>
                    <a:pt x="318713" y="173605"/>
                    <a:pt x="313956" y="0"/>
                    <a:pt x="313956" y="0"/>
                  </a:cubicBezTo>
                  <a:lnTo>
                    <a:pt x="313956" y="0"/>
                  </a:lnTo>
                </a:path>
              </a:pathLst>
            </a:custGeom>
            <a:ln>
              <a:solidFill>
                <a:srgbClr val="000090"/>
              </a:solidFill>
              <a:headEnd type="ova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a:latin typeface="Gill Sans" charset="0"/>
                <a:ea typeface="Gill Sans" charset="0"/>
                <a:cs typeface="Gill Sans" charset="0"/>
              </a:endParaRPr>
            </a:p>
          </p:txBody>
        </p:sp>
      </p:grpSp>
      <p:cxnSp>
        <p:nvCxnSpPr>
          <p:cNvPr id="113" name="Straight Arrow Connector 112"/>
          <p:cNvCxnSpPr/>
          <p:nvPr/>
        </p:nvCxnSpPr>
        <p:spPr>
          <a:xfrm flipH="1">
            <a:off x="5765683" y="5060102"/>
            <a:ext cx="12365" cy="296947"/>
          </a:xfrm>
          <a:prstGeom prst="straightConnector1">
            <a:avLst/>
          </a:prstGeom>
          <a:ln>
            <a:solidFill>
              <a:srgbClr val="FC230C"/>
            </a:solidFill>
            <a:tailEnd type="arrow"/>
          </a:ln>
        </p:spPr>
        <p:style>
          <a:lnRef idx="2">
            <a:schemeClr val="accent1"/>
          </a:lnRef>
          <a:fillRef idx="0">
            <a:schemeClr val="accent1"/>
          </a:fillRef>
          <a:effectRef idx="1">
            <a:schemeClr val="accent1"/>
          </a:effectRef>
          <a:fontRef idx="minor">
            <a:schemeClr val="tx1"/>
          </a:fontRef>
        </p:style>
      </p:cxnSp>
      <p:sp>
        <p:nvSpPr>
          <p:cNvPr id="108" name="Rectangle 107"/>
          <p:cNvSpPr/>
          <p:nvPr/>
        </p:nvSpPr>
        <p:spPr>
          <a:xfrm>
            <a:off x="5786022" y="5345417"/>
            <a:ext cx="818671" cy="610271"/>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cxnSp>
        <p:nvCxnSpPr>
          <p:cNvPr id="114" name="Straight Arrow Connector 113"/>
          <p:cNvCxnSpPr/>
          <p:nvPr/>
        </p:nvCxnSpPr>
        <p:spPr>
          <a:xfrm flipH="1">
            <a:off x="6648335" y="5060102"/>
            <a:ext cx="12365" cy="296947"/>
          </a:xfrm>
          <a:prstGeom prst="straightConnector1">
            <a:avLst/>
          </a:prstGeom>
          <a:ln>
            <a:solidFill>
              <a:srgbClr val="FC230C"/>
            </a:solidFill>
            <a:tailEnd type="arrow"/>
          </a:ln>
        </p:spPr>
        <p:style>
          <a:lnRef idx="2">
            <a:schemeClr val="accent1"/>
          </a:lnRef>
          <a:fillRef idx="0">
            <a:schemeClr val="accent1"/>
          </a:fillRef>
          <a:effectRef idx="1">
            <a:schemeClr val="accent1"/>
          </a:effectRef>
          <a:fontRef idx="minor">
            <a:schemeClr val="tx1"/>
          </a:fontRef>
        </p:style>
      </p:cxnSp>
      <p:grpSp>
        <p:nvGrpSpPr>
          <p:cNvPr id="4" name="Group 3"/>
          <p:cNvGrpSpPr/>
          <p:nvPr/>
        </p:nvGrpSpPr>
        <p:grpSpPr>
          <a:xfrm>
            <a:off x="5874034" y="3654034"/>
            <a:ext cx="730659" cy="2187613"/>
            <a:chOff x="5874034" y="3654034"/>
            <a:chExt cx="730659" cy="2187613"/>
          </a:xfrm>
        </p:grpSpPr>
        <p:sp>
          <p:nvSpPr>
            <p:cNvPr id="101" name="Rectangle 100"/>
            <p:cNvSpPr/>
            <p:nvPr/>
          </p:nvSpPr>
          <p:spPr>
            <a:xfrm rot="16200000">
              <a:off x="6133089" y="5590303"/>
              <a:ext cx="242349" cy="240920"/>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04" name="Rectangle 103"/>
            <p:cNvSpPr/>
            <p:nvPr/>
          </p:nvSpPr>
          <p:spPr>
            <a:xfrm rot="16200000">
              <a:off x="5873319" y="5600013"/>
              <a:ext cx="242349" cy="240920"/>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05" name="Freeform 104"/>
            <p:cNvSpPr/>
            <p:nvPr/>
          </p:nvSpPr>
          <p:spPr>
            <a:xfrm>
              <a:off x="5970966" y="3654034"/>
              <a:ext cx="212349" cy="2018098"/>
            </a:xfrm>
            <a:custGeom>
              <a:avLst/>
              <a:gdLst>
                <a:gd name="connsiteX0" fmla="*/ 14270 w 314088"/>
                <a:gd name="connsiteY0" fmla="*/ 485144 h 485144"/>
                <a:gd name="connsiteX1" fmla="*/ 28541 w 314088"/>
                <a:gd name="connsiteY1" fmla="*/ 242572 h 485144"/>
                <a:gd name="connsiteX2" fmla="*/ 271144 w 314088"/>
                <a:gd name="connsiteY2" fmla="*/ 214034 h 485144"/>
                <a:gd name="connsiteX3" fmla="*/ 313956 w 314088"/>
                <a:gd name="connsiteY3" fmla="*/ 0 h 485144"/>
                <a:gd name="connsiteX4" fmla="*/ 313956 w 314088"/>
                <a:gd name="connsiteY4" fmla="*/ 0 h 485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088" h="485144">
                  <a:moveTo>
                    <a:pt x="14270" y="485144"/>
                  </a:moveTo>
                  <a:cubicBezTo>
                    <a:pt x="-1" y="386450"/>
                    <a:pt x="-14271" y="287757"/>
                    <a:pt x="28541" y="242572"/>
                  </a:cubicBezTo>
                  <a:cubicBezTo>
                    <a:pt x="71353" y="197387"/>
                    <a:pt x="223575" y="254463"/>
                    <a:pt x="271144" y="214034"/>
                  </a:cubicBezTo>
                  <a:cubicBezTo>
                    <a:pt x="318713" y="173605"/>
                    <a:pt x="313956" y="0"/>
                    <a:pt x="313956" y="0"/>
                  </a:cubicBezTo>
                  <a:lnTo>
                    <a:pt x="313956" y="0"/>
                  </a:lnTo>
                </a:path>
              </a:pathLst>
            </a:custGeom>
            <a:ln>
              <a:solidFill>
                <a:srgbClr val="000090"/>
              </a:solidFill>
              <a:headEnd type="ova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a:latin typeface="Gill Sans" charset="0"/>
                <a:ea typeface="Gill Sans" charset="0"/>
                <a:cs typeface="Gill Sans" charset="0"/>
              </a:endParaRPr>
            </a:p>
          </p:txBody>
        </p:sp>
        <p:sp>
          <p:nvSpPr>
            <p:cNvPr id="117" name="Rectangle 116"/>
            <p:cNvSpPr/>
            <p:nvPr/>
          </p:nvSpPr>
          <p:spPr>
            <a:xfrm rot="16200000">
              <a:off x="6363058" y="5590303"/>
              <a:ext cx="242349" cy="240920"/>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grpSp>
        <p:nvGrpSpPr>
          <p:cNvPr id="65" name="Group 64"/>
          <p:cNvGrpSpPr/>
          <p:nvPr/>
        </p:nvGrpSpPr>
        <p:grpSpPr>
          <a:xfrm>
            <a:off x="6675429" y="5060103"/>
            <a:ext cx="283215" cy="1175415"/>
            <a:chOff x="6749201" y="5060103"/>
            <a:chExt cx="283215" cy="1175415"/>
          </a:xfrm>
        </p:grpSpPr>
        <p:cxnSp>
          <p:nvCxnSpPr>
            <p:cNvPr id="51" name="Straight Connector 50"/>
            <p:cNvCxnSpPr/>
            <p:nvPr/>
          </p:nvCxnSpPr>
          <p:spPr>
            <a:xfrm flipH="1" flipV="1">
              <a:off x="6749201" y="5060103"/>
              <a:ext cx="283215" cy="1175415"/>
            </a:xfrm>
            <a:prstGeom prst="line">
              <a:avLst/>
            </a:prstGeom>
            <a:ln>
              <a:solidFill>
                <a:srgbClr val="FC230C"/>
              </a:solidFill>
            </a:ln>
          </p:spPr>
          <p:style>
            <a:lnRef idx="2">
              <a:schemeClr val="accent1"/>
            </a:lnRef>
            <a:fillRef idx="0">
              <a:schemeClr val="accent1"/>
            </a:fillRef>
            <a:effectRef idx="1">
              <a:schemeClr val="accent1"/>
            </a:effectRef>
            <a:fontRef idx="minor">
              <a:schemeClr val="tx1"/>
            </a:fontRef>
          </p:style>
        </p:cxnSp>
        <p:cxnSp>
          <p:nvCxnSpPr>
            <p:cNvPr id="118" name="Straight Connector 117"/>
            <p:cNvCxnSpPr/>
            <p:nvPr/>
          </p:nvCxnSpPr>
          <p:spPr>
            <a:xfrm flipV="1">
              <a:off x="6764076" y="5060103"/>
              <a:ext cx="268340" cy="117541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550268975"/>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112"/>
                                        </p:tgtEl>
                                        <p:attrNameLst>
                                          <p:attrName>style.visibility</p:attrName>
                                        </p:attrNameLst>
                                      </p:cBhvr>
                                      <p:to>
                                        <p:strVal val="visible"/>
                                      </p:to>
                                    </p:set>
                                  </p:childTnLst>
                                </p:cTn>
                              </p:par>
                              <p:par>
                                <p:cTn id="14" presetID="10" presetClass="exit" presetSubtype="0" fill="hold" nodeType="withEffect">
                                  <p:stCondLst>
                                    <p:cond delay="0"/>
                                  </p:stCondLst>
                                  <p:childTnLst>
                                    <p:animEffect transition="out" filter="fade">
                                      <p:cBhvr>
                                        <p:cTn id="15" dur="500"/>
                                        <p:tgtEl>
                                          <p:spTgt spid="11"/>
                                        </p:tgtEl>
                                      </p:cBhvr>
                                    </p:animEffect>
                                    <p:set>
                                      <p:cBhvr>
                                        <p:cTn id="16" dur="1" fill="hold">
                                          <p:stCondLst>
                                            <p:cond delay="499"/>
                                          </p:stCondLst>
                                        </p:cTn>
                                        <p:tgtEl>
                                          <p:spTgt spid="11"/>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13"/>
                                        </p:tgtEl>
                                        <p:attrNameLst>
                                          <p:attrName>style.visibility</p:attrName>
                                        </p:attrNameLst>
                                      </p:cBhvr>
                                      <p:to>
                                        <p:strVal val="visible"/>
                                      </p:to>
                                    </p:set>
                                  </p:childTnLst>
                                </p:cTn>
                              </p:par>
                              <p:par>
                                <p:cTn id="24" presetID="10" presetClass="exit" presetSubtype="0" fill="hold" nodeType="withEffect">
                                  <p:stCondLst>
                                    <p:cond delay="0"/>
                                  </p:stCondLst>
                                  <p:childTnLst>
                                    <p:animEffect transition="out" filter="fade">
                                      <p:cBhvr>
                                        <p:cTn id="25" dur="500"/>
                                        <p:tgtEl>
                                          <p:spTgt spid="112"/>
                                        </p:tgtEl>
                                      </p:cBhvr>
                                    </p:animEffect>
                                    <p:set>
                                      <p:cBhvr>
                                        <p:cTn id="26" dur="1" fill="hold">
                                          <p:stCondLst>
                                            <p:cond delay="499"/>
                                          </p:stCondLst>
                                        </p:cTn>
                                        <p:tgtEl>
                                          <p:spTgt spid="112"/>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4"/>
                                        </p:tgtEl>
                                        <p:attrNameLst>
                                          <p:attrName>style.visibility</p:attrName>
                                        </p:attrNameLst>
                                      </p:cBhvr>
                                      <p:to>
                                        <p:strVal val="visible"/>
                                      </p:to>
                                    </p:set>
                                  </p:childTnLst>
                                </p:cTn>
                              </p:par>
                              <p:par>
                                <p:cTn id="33" presetID="10" presetClass="exit" presetSubtype="0" fill="hold" nodeType="withEffect">
                                  <p:stCondLst>
                                    <p:cond delay="0"/>
                                  </p:stCondLst>
                                  <p:childTnLst>
                                    <p:animEffect transition="out" filter="fade">
                                      <p:cBhvr>
                                        <p:cTn id="34" dur="500"/>
                                        <p:tgtEl>
                                          <p:spTgt spid="113"/>
                                        </p:tgtEl>
                                      </p:cBhvr>
                                    </p:animEffect>
                                    <p:set>
                                      <p:cBhvr>
                                        <p:cTn id="35" dur="1" fill="hold">
                                          <p:stCondLst>
                                            <p:cond delay="499"/>
                                          </p:stCondLst>
                                        </p:cTn>
                                        <p:tgtEl>
                                          <p:spTgt spid="113"/>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65"/>
                                        </p:tgtEl>
                                        <p:attrNameLst>
                                          <p:attrName>style.visibility</p:attrName>
                                        </p:attrNameLst>
                                      </p:cBhvr>
                                      <p:to>
                                        <p:strVal val="visible"/>
                                      </p:to>
                                    </p:set>
                                    <p:animEffect transition="in" filter="blinds(horizontal)">
                                      <p:cBhvr>
                                        <p:cTn id="44" dur="500"/>
                                        <p:tgtEl>
                                          <p:spTgt spid="65"/>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0" presetClass="exit" presetSubtype="0" fill="hold" nodeType="clickEffect">
                                  <p:stCondLst>
                                    <p:cond delay="0"/>
                                  </p:stCondLst>
                                  <p:childTnLst>
                                    <p:animEffect transition="out" filter="fade">
                                      <p:cBhvr>
                                        <p:cTn id="52" dur="500"/>
                                        <p:tgtEl>
                                          <p:spTgt spid="11"/>
                                        </p:tgtEl>
                                      </p:cBhvr>
                                    </p:animEffect>
                                    <p:set>
                                      <p:cBhvr>
                                        <p:cTn id="53" dur="1" fill="hold">
                                          <p:stCondLst>
                                            <p:cond delay="499"/>
                                          </p:stCondLst>
                                        </p:cTn>
                                        <p:tgtEl>
                                          <p:spTgt spid="11"/>
                                        </p:tgtEl>
                                        <p:attrNameLst>
                                          <p:attrName>style.visibility</p:attrName>
                                        </p:attrNameLst>
                                      </p:cBhvr>
                                      <p:to>
                                        <p:strVal val="hidden"/>
                                      </p:to>
                                    </p:set>
                                  </p:childTnLst>
                                </p:cTn>
                              </p:par>
                              <p:par>
                                <p:cTn id="54" presetID="10" presetClass="exit" presetSubtype="0" fill="hold" grpId="1" nodeType="withEffect">
                                  <p:stCondLst>
                                    <p:cond delay="0"/>
                                  </p:stCondLst>
                                  <p:childTnLst>
                                    <p:animEffect transition="out" filter="fade">
                                      <p:cBhvr>
                                        <p:cTn id="55" dur="500"/>
                                        <p:tgtEl>
                                          <p:spTgt spid="12"/>
                                        </p:tgtEl>
                                      </p:cBhvr>
                                    </p:animEffect>
                                    <p:set>
                                      <p:cBhvr>
                                        <p:cTn id="56" dur="1" fill="hold">
                                          <p:stCondLst>
                                            <p:cond delay="499"/>
                                          </p:stCondLst>
                                        </p:cTn>
                                        <p:tgtEl>
                                          <p:spTgt spid="12"/>
                                        </p:tgtEl>
                                        <p:attrNameLst>
                                          <p:attrName>style.visibility</p:attrName>
                                        </p:attrNameLst>
                                      </p:cBhvr>
                                      <p:to>
                                        <p:strVal val="hidden"/>
                                      </p:to>
                                    </p:set>
                                  </p:childTnLst>
                                </p:cTn>
                              </p:par>
                              <p:par>
                                <p:cTn id="57" presetID="10" presetClass="exit" presetSubtype="0" fill="hold" nodeType="withEffect">
                                  <p:stCondLst>
                                    <p:cond delay="0"/>
                                  </p:stCondLst>
                                  <p:childTnLst>
                                    <p:animEffect transition="out" filter="fade">
                                      <p:cBhvr>
                                        <p:cTn id="58" dur="500"/>
                                        <p:tgtEl>
                                          <p:spTgt spid="112"/>
                                        </p:tgtEl>
                                      </p:cBhvr>
                                    </p:animEffect>
                                    <p:set>
                                      <p:cBhvr>
                                        <p:cTn id="59" dur="1" fill="hold">
                                          <p:stCondLst>
                                            <p:cond delay="499"/>
                                          </p:stCondLst>
                                        </p:cTn>
                                        <p:tgtEl>
                                          <p:spTgt spid="112"/>
                                        </p:tgtEl>
                                        <p:attrNameLst>
                                          <p:attrName>style.visibility</p:attrName>
                                        </p:attrNameLst>
                                      </p:cBhvr>
                                      <p:to>
                                        <p:strVal val="hidden"/>
                                      </p:to>
                                    </p:set>
                                  </p:childTnLst>
                                </p:cTn>
                              </p:par>
                              <p:par>
                                <p:cTn id="60" presetID="10" presetClass="exit" presetSubtype="0" fill="hold" nodeType="withEffect">
                                  <p:stCondLst>
                                    <p:cond delay="0"/>
                                  </p:stCondLst>
                                  <p:childTnLst>
                                    <p:animEffect transition="out" filter="fade">
                                      <p:cBhvr>
                                        <p:cTn id="61" dur="500"/>
                                        <p:tgtEl>
                                          <p:spTgt spid="113"/>
                                        </p:tgtEl>
                                      </p:cBhvr>
                                    </p:animEffect>
                                    <p:set>
                                      <p:cBhvr>
                                        <p:cTn id="62" dur="1" fill="hold">
                                          <p:stCondLst>
                                            <p:cond delay="499"/>
                                          </p:stCondLst>
                                        </p:cTn>
                                        <p:tgtEl>
                                          <p:spTgt spid="113"/>
                                        </p:tgtEl>
                                        <p:attrNameLst>
                                          <p:attrName>style.visibility</p:attrName>
                                        </p:attrNameLst>
                                      </p:cBhvr>
                                      <p:to>
                                        <p:strVal val="hidden"/>
                                      </p:to>
                                    </p:set>
                                  </p:childTnLst>
                                </p:cTn>
                              </p:par>
                              <p:par>
                                <p:cTn id="63" presetID="10" presetClass="exit" presetSubtype="0" fill="hold" grpId="0" nodeType="withEffect">
                                  <p:stCondLst>
                                    <p:cond delay="0"/>
                                  </p:stCondLst>
                                  <p:childTnLst>
                                    <p:animEffect transition="out" filter="fade">
                                      <p:cBhvr>
                                        <p:cTn id="64" dur="500"/>
                                        <p:tgtEl>
                                          <p:spTgt spid="108"/>
                                        </p:tgtEl>
                                      </p:cBhvr>
                                    </p:animEffect>
                                    <p:set>
                                      <p:cBhvr>
                                        <p:cTn id="65" dur="1" fill="hold">
                                          <p:stCondLst>
                                            <p:cond delay="499"/>
                                          </p:stCondLst>
                                        </p:cTn>
                                        <p:tgtEl>
                                          <p:spTgt spid="108"/>
                                        </p:tgtEl>
                                        <p:attrNameLst>
                                          <p:attrName>style.visibility</p:attrName>
                                        </p:attrNameLst>
                                      </p:cBhvr>
                                      <p:to>
                                        <p:strVal val="hidden"/>
                                      </p:to>
                                    </p:set>
                                  </p:childTnLst>
                                </p:cTn>
                              </p:par>
                              <p:par>
                                <p:cTn id="66" presetID="10" presetClass="exit" presetSubtype="0" fill="hold" nodeType="withEffect">
                                  <p:stCondLst>
                                    <p:cond delay="0"/>
                                  </p:stCondLst>
                                  <p:childTnLst>
                                    <p:animEffect transition="out" filter="fade">
                                      <p:cBhvr>
                                        <p:cTn id="67" dur="500"/>
                                        <p:tgtEl>
                                          <p:spTgt spid="114"/>
                                        </p:tgtEl>
                                      </p:cBhvr>
                                    </p:animEffect>
                                    <p:set>
                                      <p:cBhvr>
                                        <p:cTn id="68" dur="1" fill="hold">
                                          <p:stCondLst>
                                            <p:cond delay="499"/>
                                          </p:stCondLst>
                                        </p:cTn>
                                        <p:tgtEl>
                                          <p:spTgt spid="114"/>
                                        </p:tgtEl>
                                        <p:attrNameLst>
                                          <p:attrName>style.visibility</p:attrName>
                                        </p:attrNameLst>
                                      </p:cBhvr>
                                      <p:to>
                                        <p:strVal val="hidden"/>
                                      </p:to>
                                    </p:set>
                                  </p:childTnLst>
                                </p:cTn>
                              </p:par>
                              <p:par>
                                <p:cTn id="69" presetID="10" presetClass="exit" presetSubtype="0" fill="hold" nodeType="withEffect">
                                  <p:stCondLst>
                                    <p:cond delay="0"/>
                                  </p:stCondLst>
                                  <p:childTnLst>
                                    <p:animEffect transition="out" filter="fade">
                                      <p:cBhvr>
                                        <p:cTn id="70" dur="500"/>
                                        <p:tgtEl>
                                          <p:spTgt spid="65"/>
                                        </p:tgtEl>
                                      </p:cBhvr>
                                    </p:animEffect>
                                    <p:set>
                                      <p:cBhvr>
                                        <p:cTn id="71" dur="1" fill="hold">
                                          <p:stCondLst>
                                            <p:cond delay="499"/>
                                          </p:stCondLst>
                                        </p:cTn>
                                        <p:tgtEl>
                                          <p:spTgt spid="65"/>
                                        </p:tgtEl>
                                        <p:attrNameLst>
                                          <p:attrName>style.visibility</p:attrName>
                                        </p:attrNameLst>
                                      </p:cBhvr>
                                      <p:to>
                                        <p:strVal val="hidden"/>
                                      </p:to>
                                    </p:set>
                                  </p:childTnLst>
                                </p:cTn>
                              </p:par>
                              <p:par>
                                <p:cTn id="72" presetID="10" presetClass="exit" presetSubtype="0" fill="hold" nodeType="withEffect">
                                  <p:stCondLst>
                                    <p:cond delay="0"/>
                                  </p:stCondLst>
                                  <p:childTnLst>
                                    <p:animEffect transition="out" filter="fade">
                                      <p:cBhvr>
                                        <p:cTn id="73" dur="500"/>
                                        <p:tgtEl>
                                          <p:spTgt spid="16"/>
                                        </p:tgtEl>
                                      </p:cBhvr>
                                    </p:animEffect>
                                    <p:set>
                                      <p:cBhvr>
                                        <p:cTn id="74" dur="1" fill="hold">
                                          <p:stCondLst>
                                            <p:cond delay="499"/>
                                          </p:stCondLst>
                                        </p:cTn>
                                        <p:tgtEl>
                                          <p:spTgt spid="16"/>
                                        </p:tgtEl>
                                        <p:attrNameLst>
                                          <p:attrName>style.visibility</p:attrName>
                                        </p:attrNameLst>
                                      </p:cBhvr>
                                      <p:to>
                                        <p:strVal val="hidden"/>
                                      </p:to>
                                    </p:set>
                                  </p:childTnLst>
                                </p:cTn>
                              </p:par>
                              <p:par>
                                <p:cTn id="75" presetID="10" presetClass="exit" presetSubtype="0" fill="hold" nodeType="withEffect">
                                  <p:stCondLst>
                                    <p:cond delay="0"/>
                                  </p:stCondLst>
                                  <p:childTnLst>
                                    <p:animEffect transition="out" filter="fade">
                                      <p:cBhvr>
                                        <p:cTn id="76" dur="500"/>
                                        <p:tgtEl>
                                          <p:spTgt spid="4"/>
                                        </p:tgtEl>
                                      </p:cBhvr>
                                    </p:animEffect>
                                    <p:set>
                                      <p:cBhvr>
                                        <p:cTn id="77" dur="1" fill="hold">
                                          <p:stCondLst>
                                            <p:cond delay="499"/>
                                          </p:stCondLst>
                                        </p:cTn>
                                        <p:tgtEl>
                                          <p:spTgt spid="4"/>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0"/>
                                          </p:stCondLst>
                                        </p:cTn>
                                        <p:tgtEl>
                                          <p:spTgt spid="11"/>
                                        </p:tgtEl>
                                        <p:attrNameLst>
                                          <p:attrName>style.visibility</p:attrName>
                                        </p:attrNameLst>
                                      </p:cBhvr>
                                      <p:to>
                                        <p:strVal val="visible"/>
                                      </p:to>
                                    </p:set>
                                  </p:childTnLst>
                                </p:cTn>
                              </p:par>
                              <p:par>
                                <p:cTn id="82" presetID="1" presetClass="entr" presetSubtype="0" fill="hold" nodeType="withEffect">
                                  <p:stCondLst>
                                    <p:cond delay="0"/>
                                  </p:stCondLst>
                                  <p:childTnLst>
                                    <p:set>
                                      <p:cBhvr>
                                        <p:cTn id="83"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P spid="108"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Recovery After Commit</a:t>
            </a:r>
          </a:p>
        </p:txBody>
      </p:sp>
      <p:sp>
        <p:nvSpPr>
          <p:cNvPr id="9" name="Content Placeholder 8"/>
          <p:cNvSpPr>
            <a:spLocks noGrp="1"/>
          </p:cNvSpPr>
          <p:nvPr>
            <p:ph idx="1"/>
          </p:nvPr>
        </p:nvSpPr>
        <p:spPr>
          <a:xfrm>
            <a:off x="457200" y="1108316"/>
            <a:ext cx="4350995" cy="3828731"/>
          </a:xfrm>
        </p:spPr>
        <p:txBody>
          <a:bodyPr>
            <a:normAutofit/>
          </a:bodyPr>
          <a:lstStyle/>
          <a:p>
            <a:r>
              <a:rPr lang="en-US" dirty="0"/>
              <a:t>Scan log, find start</a:t>
            </a:r>
          </a:p>
          <a:p>
            <a:pPr lvl="1"/>
            <a:endParaRPr lang="en-US" sz="2400" dirty="0"/>
          </a:p>
          <a:p>
            <a:r>
              <a:rPr lang="en-US" dirty="0"/>
              <a:t>Find matching commit</a:t>
            </a:r>
          </a:p>
          <a:p>
            <a:pPr lvl="1"/>
            <a:endParaRPr lang="en-US" sz="2400" dirty="0"/>
          </a:p>
          <a:p>
            <a:r>
              <a:rPr lang="en-US" dirty="0"/>
              <a:t>Redo it as usual</a:t>
            </a:r>
          </a:p>
          <a:p>
            <a:pPr lvl="1"/>
            <a:r>
              <a:rPr lang="en-US" sz="2000" dirty="0"/>
              <a:t>Or just let it happen later</a:t>
            </a:r>
          </a:p>
          <a:p>
            <a:endParaRPr lang="en-US" dirty="0"/>
          </a:p>
        </p:txBody>
      </p:sp>
      <p:sp>
        <p:nvSpPr>
          <p:cNvPr id="10" name="Can 9"/>
          <p:cNvSpPr/>
          <p:nvPr/>
        </p:nvSpPr>
        <p:spPr>
          <a:xfrm>
            <a:off x="5609996" y="1622297"/>
            <a:ext cx="2099734" cy="3048000"/>
          </a:xfrm>
          <a:prstGeom prst="can">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8" name="TextBox 17"/>
          <p:cNvSpPr txBox="1"/>
          <p:nvPr/>
        </p:nvSpPr>
        <p:spPr>
          <a:xfrm>
            <a:off x="7780819" y="2843640"/>
            <a:ext cx="1287532" cy="369332"/>
          </a:xfrm>
          <a:prstGeom prst="rect">
            <a:avLst/>
          </a:prstGeom>
          <a:noFill/>
        </p:spPr>
        <p:txBody>
          <a:bodyPr wrap="none" rtlCol="0">
            <a:spAutoFit/>
          </a:bodyPr>
          <a:lstStyle/>
          <a:p>
            <a:r>
              <a:rPr lang="en-US" b="0" dirty="0">
                <a:latin typeface="Gill Sans" charset="0"/>
                <a:ea typeface="Gill Sans" charset="0"/>
                <a:cs typeface="Gill Sans" charset="0"/>
              </a:rPr>
              <a:t>Data blocks</a:t>
            </a:r>
          </a:p>
        </p:txBody>
      </p:sp>
      <p:sp>
        <p:nvSpPr>
          <p:cNvPr id="20" name="TextBox 19"/>
          <p:cNvSpPr txBox="1"/>
          <p:nvPr/>
        </p:nvSpPr>
        <p:spPr>
          <a:xfrm>
            <a:off x="7850854" y="2123750"/>
            <a:ext cx="1293146" cy="646331"/>
          </a:xfrm>
          <a:prstGeom prst="rect">
            <a:avLst/>
          </a:prstGeom>
          <a:noFill/>
        </p:spPr>
        <p:txBody>
          <a:bodyPr wrap="square" rtlCol="0">
            <a:spAutoFit/>
          </a:bodyPr>
          <a:lstStyle/>
          <a:p>
            <a:r>
              <a:rPr lang="en-US" b="0" dirty="0">
                <a:latin typeface="Gill Sans" charset="0"/>
                <a:ea typeface="Gill Sans" charset="0"/>
                <a:cs typeface="Gill Sans" charset="0"/>
              </a:rPr>
              <a:t>Free space map</a:t>
            </a:r>
          </a:p>
        </p:txBody>
      </p:sp>
      <p:grpSp>
        <p:nvGrpSpPr>
          <p:cNvPr id="21" name="Group 20"/>
          <p:cNvGrpSpPr/>
          <p:nvPr/>
        </p:nvGrpSpPr>
        <p:grpSpPr>
          <a:xfrm rot="16200000">
            <a:off x="6455590" y="2028473"/>
            <a:ext cx="415498" cy="1802120"/>
            <a:chOff x="7569976" y="1270135"/>
            <a:chExt cx="415498" cy="1802120"/>
          </a:xfrm>
        </p:grpSpPr>
        <p:sp>
          <p:nvSpPr>
            <p:cNvPr id="22" name="Rectangle 21"/>
            <p:cNvSpPr/>
            <p:nvPr/>
          </p:nvSpPr>
          <p:spPr>
            <a:xfrm>
              <a:off x="7605706" y="1270135"/>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3" name="Rectangle 22"/>
            <p:cNvSpPr/>
            <p:nvPr/>
          </p:nvSpPr>
          <p:spPr>
            <a:xfrm>
              <a:off x="7605706" y="1591319"/>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4" name="Rectangle 23"/>
            <p:cNvSpPr/>
            <p:nvPr/>
          </p:nvSpPr>
          <p:spPr>
            <a:xfrm>
              <a:off x="7605706" y="1897904"/>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5" name="Rectangle 24"/>
            <p:cNvSpPr/>
            <p:nvPr/>
          </p:nvSpPr>
          <p:spPr>
            <a:xfrm>
              <a:off x="7605706" y="2219088"/>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6" name="Rectangle 25"/>
            <p:cNvSpPr/>
            <p:nvPr/>
          </p:nvSpPr>
          <p:spPr>
            <a:xfrm>
              <a:off x="7605706" y="2751071"/>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7" name="TextBox 26"/>
            <p:cNvSpPr txBox="1"/>
            <p:nvPr/>
          </p:nvSpPr>
          <p:spPr>
            <a:xfrm>
              <a:off x="7569976" y="2425537"/>
              <a:ext cx="415498" cy="369332"/>
            </a:xfrm>
            <a:prstGeom prst="rect">
              <a:avLst/>
            </a:prstGeom>
            <a:noFill/>
          </p:spPr>
          <p:txBody>
            <a:bodyPr wrap="none" rtlCol="0">
              <a:spAutoFit/>
            </a:bodyPr>
            <a:lstStyle/>
            <a:p>
              <a:r>
                <a:rPr lang="en-US" b="0" dirty="0">
                  <a:latin typeface="Gill Sans" charset="0"/>
                  <a:ea typeface="Gill Sans" charset="0"/>
                  <a:cs typeface="Gill Sans" charset="0"/>
                </a:rPr>
                <a:t>…</a:t>
              </a:r>
            </a:p>
          </p:txBody>
        </p:sp>
      </p:grpSp>
      <p:grpSp>
        <p:nvGrpSpPr>
          <p:cNvPr id="35" name="Group 34"/>
          <p:cNvGrpSpPr/>
          <p:nvPr/>
        </p:nvGrpSpPr>
        <p:grpSpPr>
          <a:xfrm>
            <a:off x="6500681" y="2308416"/>
            <a:ext cx="640069" cy="121398"/>
            <a:chOff x="2607047" y="2031999"/>
            <a:chExt cx="1270137" cy="364957"/>
          </a:xfrm>
        </p:grpSpPr>
        <p:sp>
          <p:nvSpPr>
            <p:cNvPr id="29" name="Rectangle 28"/>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30" name="Rectangle 29"/>
            <p:cNvSpPr/>
            <p:nvPr/>
          </p:nvSpPr>
          <p:spPr>
            <a:xfrm rot="16200000">
              <a:off x="2906344"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31" name="Rectangle 30"/>
            <p:cNvSpPr/>
            <p:nvPr/>
          </p:nvSpPr>
          <p:spPr>
            <a:xfrm rot="16200000">
              <a:off x="3212929"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32" name="Rectangle 31"/>
            <p:cNvSpPr/>
            <p:nvPr/>
          </p:nvSpPr>
          <p:spPr>
            <a:xfrm rot="16200000">
              <a:off x="3534113"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grpSp>
        <p:nvGrpSpPr>
          <p:cNvPr id="36" name="Group 35"/>
          <p:cNvGrpSpPr/>
          <p:nvPr/>
        </p:nvGrpSpPr>
        <p:grpSpPr>
          <a:xfrm>
            <a:off x="7140750" y="2308416"/>
            <a:ext cx="640069" cy="121398"/>
            <a:chOff x="2607047" y="2031999"/>
            <a:chExt cx="1270137" cy="364957"/>
          </a:xfrm>
        </p:grpSpPr>
        <p:sp>
          <p:nvSpPr>
            <p:cNvPr id="37" name="Rectangle 36"/>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38" name="Rectangle 37"/>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39" name="Rectangle 38"/>
            <p:cNvSpPr/>
            <p:nvPr/>
          </p:nvSpPr>
          <p:spPr>
            <a:xfrm rot="16200000">
              <a:off x="3212929"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0" name="Rectangle 39"/>
            <p:cNvSpPr/>
            <p:nvPr/>
          </p:nvSpPr>
          <p:spPr>
            <a:xfrm rot="16200000">
              <a:off x="3534113"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grpSp>
        <p:nvGrpSpPr>
          <p:cNvPr id="41" name="Group 40"/>
          <p:cNvGrpSpPr/>
          <p:nvPr/>
        </p:nvGrpSpPr>
        <p:grpSpPr>
          <a:xfrm>
            <a:off x="5219534" y="2308416"/>
            <a:ext cx="640069" cy="121398"/>
            <a:chOff x="2607047" y="2031999"/>
            <a:chExt cx="1270137" cy="364957"/>
          </a:xfrm>
        </p:grpSpPr>
        <p:sp>
          <p:nvSpPr>
            <p:cNvPr id="42" name="Rectangle 41"/>
            <p:cNvSpPr/>
            <p:nvPr/>
          </p:nvSpPr>
          <p:spPr>
            <a:xfrm rot="16200000">
              <a:off x="2585160"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3" name="Rectangle 42"/>
            <p:cNvSpPr/>
            <p:nvPr/>
          </p:nvSpPr>
          <p:spPr>
            <a:xfrm rot="16200000">
              <a:off x="2906344"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4" name="Rectangle 43"/>
            <p:cNvSpPr/>
            <p:nvPr/>
          </p:nvSpPr>
          <p:spPr>
            <a:xfrm rot="16200000">
              <a:off x="3212929"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5" name="Rectangle 44"/>
            <p:cNvSpPr/>
            <p:nvPr/>
          </p:nvSpPr>
          <p:spPr>
            <a:xfrm rot="16200000">
              <a:off x="3534113"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grpSp>
        <p:nvGrpSpPr>
          <p:cNvPr id="46" name="Group 45"/>
          <p:cNvGrpSpPr/>
          <p:nvPr/>
        </p:nvGrpSpPr>
        <p:grpSpPr>
          <a:xfrm>
            <a:off x="5859603" y="2308416"/>
            <a:ext cx="640069" cy="121398"/>
            <a:chOff x="2607047" y="2031999"/>
            <a:chExt cx="1270137" cy="364957"/>
          </a:xfrm>
        </p:grpSpPr>
        <p:sp>
          <p:nvSpPr>
            <p:cNvPr id="47" name="Rectangle 46"/>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8" name="Rectangle 47"/>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9" name="Rectangle 48"/>
            <p:cNvSpPr/>
            <p:nvPr/>
          </p:nvSpPr>
          <p:spPr>
            <a:xfrm rot="16200000">
              <a:off x="3212929"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50" name="Rectangle 49"/>
            <p:cNvSpPr/>
            <p:nvPr/>
          </p:nvSpPr>
          <p:spPr>
            <a:xfrm rot="16200000">
              <a:off x="3534113"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69" name="Rectangle 68"/>
          <p:cNvSpPr/>
          <p:nvPr/>
        </p:nvSpPr>
        <p:spPr>
          <a:xfrm rot="16200000">
            <a:off x="7087320" y="3342493"/>
            <a:ext cx="242349" cy="240920"/>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0" name="Rectangle 69"/>
          <p:cNvSpPr/>
          <p:nvPr/>
        </p:nvSpPr>
        <p:spPr>
          <a:xfrm rot="16200000">
            <a:off x="7328240" y="3342493"/>
            <a:ext cx="242349" cy="240920"/>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1" name="Rectangle 70"/>
          <p:cNvSpPr/>
          <p:nvPr/>
        </p:nvSpPr>
        <p:spPr>
          <a:xfrm rot="16200000">
            <a:off x="7558209" y="3342493"/>
            <a:ext cx="242349" cy="240920"/>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nvGrpSpPr>
          <p:cNvPr id="55" name="Group 54"/>
          <p:cNvGrpSpPr/>
          <p:nvPr/>
        </p:nvGrpSpPr>
        <p:grpSpPr>
          <a:xfrm>
            <a:off x="5181077" y="3341778"/>
            <a:ext cx="952728" cy="242349"/>
            <a:chOff x="2607047" y="2031999"/>
            <a:chExt cx="1270137" cy="364957"/>
          </a:xfrm>
        </p:grpSpPr>
        <p:sp>
          <p:nvSpPr>
            <p:cNvPr id="61" name="Rectangle 60"/>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62" name="Rectangle 61"/>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63" name="Rectangle 62"/>
            <p:cNvSpPr/>
            <p:nvPr/>
          </p:nvSpPr>
          <p:spPr>
            <a:xfrm rot="16200000">
              <a:off x="3212929"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64" name="Rectangle 63"/>
            <p:cNvSpPr/>
            <p:nvPr/>
          </p:nvSpPr>
          <p:spPr>
            <a:xfrm rot="16200000">
              <a:off x="3534113"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grpSp>
        <p:nvGrpSpPr>
          <p:cNvPr id="56" name="Group 55"/>
          <p:cNvGrpSpPr/>
          <p:nvPr/>
        </p:nvGrpSpPr>
        <p:grpSpPr>
          <a:xfrm>
            <a:off x="6133805" y="3341778"/>
            <a:ext cx="952728" cy="242349"/>
            <a:chOff x="2607047" y="2031999"/>
            <a:chExt cx="1270137" cy="364957"/>
          </a:xfrm>
        </p:grpSpPr>
        <p:sp>
          <p:nvSpPr>
            <p:cNvPr id="57" name="Rectangle 56"/>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58" name="Rectangle 57"/>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59" name="Rectangle 58"/>
            <p:cNvSpPr/>
            <p:nvPr/>
          </p:nvSpPr>
          <p:spPr>
            <a:xfrm rot="16200000">
              <a:off x="3212929"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60" name="Rectangle 59"/>
            <p:cNvSpPr/>
            <p:nvPr/>
          </p:nvSpPr>
          <p:spPr>
            <a:xfrm rot="16200000">
              <a:off x="3534113"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73" name="TextBox 72"/>
          <p:cNvSpPr txBox="1"/>
          <p:nvPr/>
        </p:nvSpPr>
        <p:spPr>
          <a:xfrm>
            <a:off x="7884929" y="3284702"/>
            <a:ext cx="1251139" cy="369332"/>
          </a:xfrm>
          <a:prstGeom prst="rect">
            <a:avLst/>
          </a:prstGeom>
          <a:noFill/>
        </p:spPr>
        <p:txBody>
          <a:bodyPr wrap="none" rtlCol="0">
            <a:spAutoFit/>
          </a:bodyPr>
          <a:lstStyle/>
          <a:p>
            <a:r>
              <a:rPr lang="en-US" b="0" dirty="0" err="1">
                <a:latin typeface="Gill Sans" charset="0"/>
                <a:ea typeface="Gill Sans" charset="0"/>
                <a:cs typeface="Gill Sans" charset="0"/>
              </a:rPr>
              <a:t>Inode</a:t>
            </a:r>
            <a:r>
              <a:rPr lang="en-US" b="0" dirty="0">
                <a:latin typeface="Gill Sans" charset="0"/>
                <a:ea typeface="Gill Sans" charset="0"/>
                <a:cs typeface="Gill Sans" charset="0"/>
              </a:rPr>
              <a:t> table</a:t>
            </a:r>
          </a:p>
        </p:txBody>
      </p:sp>
      <p:grpSp>
        <p:nvGrpSpPr>
          <p:cNvPr id="83" name="Group 82"/>
          <p:cNvGrpSpPr/>
          <p:nvPr/>
        </p:nvGrpSpPr>
        <p:grpSpPr>
          <a:xfrm>
            <a:off x="5945908" y="3708339"/>
            <a:ext cx="1457827" cy="761444"/>
            <a:chOff x="1744000" y="2182577"/>
            <a:chExt cx="1430729" cy="918973"/>
          </a:xfrm>
        </p:grpSpPr>
        <p:sp>
          <p:nvSpPr>
            <p:cNvPr id="75" name="Rectangle 74"/>
            <p:cNvSpPr/>
            <p:nvPr/>
          </p:nvSpPr>
          <p:spPr>
            <a:xfrm rot="16200000">
              <a:off x="1882705" y="2758480"/>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6" name="Rectangle 75"/>
            <p:cNvSpPr/>
            <p:nvPr/>
          </p:nvSpPr>
          <p:spPr>
            <a:xfrm rot="16200000">
              <a:off x="2203889" y="2758480"/>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7" name="Rectangle 76"/>
            <p:cNvSpPr/>
            <p:nvPr/>
          </p:nvSpPr>
          <p:spPr>
            <a:xfrm rot="16200000">
              <a:off x="2510474" y="2758480"/>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8" name="Rectangle 77"/>
            <p:cNvSpPr/>
            <p:nvPr/>
          </p:nvSpPr>
          <p:spPr>
            <a:xfrm rot="16200000">
              <a:off x="2831658" y="2758480"/>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9" name="Rectangle 78"/>
            <p:cNvSpPr/>
            <p:nvPr/>
          </p:nvSpPr>
          <p:spPr>
            <a:xfrm rot="16200000">
              <a:off x="2781130" y="2234544"/>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81" name="Rectangle 80"/>
            <p:cNvSpPr/>
            <p:nvPr/>
          </p:nvSpPr>
          <p:spPr>
            <a:xfrm rot="16200000">
              <a:off x="1722113" y="2204464"/>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82" name="Rectangle 81"/>
            <p:cNvSpPr/>
            <p:nvPr/>
          </p:nvSpPr>
          <p:spPr>
            <a:xfrm rot="16200000">
              <a:off x="2206034" y="2234544"/>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84" name="TextBox 83"/>
          <p:cNvSpPr txBox="1"/>
          <p:nvPr/>
        </p:nvSpPr>
        <p:spPr>
          <a:xfrm>
            <a:off x="7892861" y="3982719"/>
            <a:ext cx="1110047" cy="646331"/>
          </a:xfrm>
          <a:prstGeom prst="rect">
            <a:avLst/>
          </a:prstGeom>
          <a:noFill/>
        </p:spPr>
        <p:txBody>
          <a:bodyPr wrap="none" rtlCol="0">
            <a:spAutoFit/>
          </a:bodyPr>
          <a:lstStyle/>
          <a:p>
            <a:r>
              <a:rPr lang="en-US" b="0" dirty="0">
                <a:latin typeface="Gill Sans" charset="0"/>
                <a:ea typeface="Gill Sans" charset="0"/>
                <a:cs typeface="Gill Sans" charset="0"/>
              </a:rPr>
              <a:t>Directory</a:t>
            </a:r>
          </a:p>
          <a:p>
            <a:r>
              <a:rPr lang="en-US" b="0" dirty="0">
                <a:latin typeface="Gill Sans" charset="0"/>
                <a:ea typeface="Gill Sans" charset="0"/>
                <a:cs typeface="Gill Sans" charset="0"/>
              </a:rPr>
              <a:t>entries</a:t>
            </a:r>
          </a:p>
        </p:txBody>
      </p:sp>
      <p:sp>
        <p:nvSpPr>
          <p:cNvPr id="86" name="Rectangle 85"/>
          <p:cNvSpPr/>
          <p:nvPr/>
        </p:nvSpPr>
        <p:spPr>
          <a:xfrm rot="16200000">
            <a:off x="6114238" y="3352203"/>
            <a:ext cx="242349" cy="240920"/>
          </a:xfrm>
          <a:prstGeom prst="rect">
            <a:avLst/>
          </a:prstGeom>
          <a:solidFill>
            <a:srgbClr val="FFFF00">
              <a:alpha val="16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88" name="Rectangle 87"/>
          <p:cNvSpPr/>
          <p:nvPr/>
        </p:nvSpPr>
        <p:spPr>
          <a:xfrm rot="16200000">
            <a:off x="6778696" y="4154950"/>
            <a:ext cx="302397" cy="327267"/>
          </a:xfrm>
          <a:prstGeom prst="rect">
            <a:avLst/>
          </a:prstGeom>
          <a:solidFill>
            <a:srgbClr val="FFFF00">
              <a:alpha val="27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66" name="Rectangle 65"/>
          <p:cNvSpPr/>
          <p:nvPr/>
        </p:nvSpPr>
        <p:spPr>
          <a:xfrm>
            <a:off x="756351" y="5336575"/>
            <a:ext cx="7930449" cy="623473"/>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 name="TextBox 1"/>
          <p:cNvSpPr txBox="1"/>
          <p:nvPr/>
        </p:nvSpPr>
        <p:spPr>
          <a:xfrm>
            <a:off x="1019736" y="6229290"/>
            <a:ext cx="5355953" cy="400110"/>
          </a:xfrm>
          <a:prstGeom prst="rect">
            <a:avLst/>
          </a:prstGeom>
          <a:noFill/>
        </p:spPr>
        <p:txBody>
          <a:bodyPr wrap="none" rtlCol="0">
            <a:spAutoFit/>
          </a:bodyPr>
          <a:lstStyle/>
          <a:p>
            <a:r>
              <a:rPr lang="en-US" sz="2000" b="0" dirty="0">
                <a:latin typeface="Gill Sans" charset="0"/>
                <a:ea typeface="Gill Sans" charset="0"/>
                <a:cs typeface="Gill Sans" charset="0"/>
              </a:rPr>
              <a:t>Log: in non-volatile storage (Flash or on Disk)</a:t>
            </a:r>
          </a:p>
        </p:txBody>
      </p:sp>
      <p:sp>
        <p:nvSpPr>
          <p:cNvPr id="3" name="TextBox 2"/>
          <p:cNvSpPr txBox="1"/>
          <p:nvPr/>
        </p:nvSpPr>
        <p:spPr>
          <a:xfrm>
            <a:off x="8177156" y="4629050"/>
            <a:ext cx="624578" cy="369332"/>
          </a:xfrm>
          <a:prstGeom prst="rect">
            <a:avLst/>
          </a:prstGeom>
          <a:noFill/>
        </p:spPr>
        <p:txBody>
          <a:bodyPr wrap="none" rtlCol="0">
            <a:spAutoFit/>
          </a:bodyPr>
          <a:lstStyle/>
          <a:p>
            <a:r>
              <a:rPr lang="en-US" b="0" dirty="0">
                <a:solidFill>
                  <a:srgbClr val="FF0000"/>
                </a:solidFill>
                <a:latin typeface="Gill Sans" charset="0"/>
                <a:ea typeface="Gill Sans" charset="0"/>
                <a:cs typeface="Gill Sans" charset="0"/>
              </a:rPr>
              <a:t>head</a:t>
            </a:r>
          </a:p>
        </p:txBody>
      </p:sp>
      <p:cxnSp>
        <p:nvCxnSpPr>
          <p:cNvPr id="11" name="Straight Arrow Connector 10"/>
          <p:cNvCxnSpPr>
            <a:stCxn id="3" idx="2"/>
          </p:cNvCxnSpPr>
          <p:nvPr/>
        </p:nvCxnSpPr>
        <p:spPr>
          <a:xfrm>
            <a:off x="8489445" y="4998382"/>
            <a:ext cx="1669" cy="296947"/>
          </a:xfrm>
          <a:prstGeom prst="straightConnector1">
            <a:avLst/>
          </a:prstGeom>
          <a:ln>
            <a:solidFill>
              <a:srgbClr val="FC230C"/>
            </a:solidFill>
            <a:tailEnd type="arrow"/>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2797878" y="4670297"/>
            <a:ext cx="461986" cy="369332"/>
          </a:xfrm>
          <a:prstGeom prst="rect">
            <a:avLst/>
          </a:prstGeom>
          <a:noFill/>
        </p:spPr>
        <p:txBody>
          <a:bodyPr wrap="none" rtlCol="0">
            <a:spAutoFit/>
          </a:bodyPr>
          <a:lstStyle/>
          <a:p>
            <a:r>
              <a:rPr lang="en-US" b="0" dirty="0">
                <a:latin typeface="Gill Sans" charset="0"/>
                <a:ea typeface="Gill Sans" charset="0"/>
                <a:cs typeface="Gill Sans" charset="0"/>
              </a:rPr>
              <a:t>tail</a:t>
            </a:r>
          </a:p>
        </p:txBody>
      </p:sp>
      <p:cxnSp>
        <p:nvCxnSpPr>
          <p:cNvPr id="74" name="Straight Arrow Connector 73"/>
          <p:cNvCxnSpPr>
            <a:stCxn id="72" idx="2"/>
          </p:cNvCxnSpPr>
          <p:nvPr/>
        </p:nvCxnSpPr>
        <p:spPr>
          <a:xfrm>
            <a:off x="3028871" y="5039629"/>
            <a:ext cx="82965" cy="29694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80" name="Rectangle 79"/>
          <p:cNvSpPr/>
          <p:nvPr/>
        </p:nvSpPr>
        <p:spPr>
          <a:xfrm>
            <a:off x="3111835" y="5346286"/>
            <a:ext cx="1583250" cy="613762"/>
          </a:xfrm>
          <a:prstGeom prst="rect">
            <a:avLst/>
          </a:prstGeom>
          <a:solidFill>
            <a:schemeClr val="accent6">
              <a:lumMod val="60000"/>
              <a:lumOff val="40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90" name="TextBox 89"/>
          <p:cNvSpPr txBox="1"/>
          <p:nvPr/>
        </p:nvSpPr>
        <p:spPr>
          <a:xfrm>
            <a:off x="3434873" y="5346286"/>
            <a:ext cx="902811" cy="369332"/>
          </a:xfrm>
          <a:prstGeom prst="rect">
            <a:avLst/>
          </a:prstGeom>
          <a:noFill/>
        </p:spPr>
        <p:txBody>
          <a:bodyPr wrap="none" rtlCol="0">
            <a:spAutoFit/>
          </a:bodyPr>
          <a:lstStyle/>
          <a:p>
            <a:r>
              <a:rPr lang="en-US" b="0" dirty="0">
                <a:latin typeface="Gill Sans" charset="0"/>
                <a:ea typeface="Gill Sans" charset="0"/>
                <a:cs typeface="Gill Sans" charset="0"/>
              </a:rPr>
              <a:t>pending</a:t>
            </a:r>
          </a:p>
        </p:txBody>
      </p:sp>
      <p:sp>
        <p:nvSpPr>
          <p:cNvPr id="91" name="TextBox 90"/>
          <p:cNvSpPr txBox="1"/>
          <p:nvPr/>
        </p:nvSpPr>
        <p:spPr>
          <a:xfrm>
            <a:off x="2026450" y="5349778"/>
            <a:ext cx="663801" cy="369332"/>
          </a:xfrm>
          <a:prstGeom prst="rect">
            <a:avLst/>
          </a:prstGeom>
          <a:noFill/>
        </p:spPr>
        <p:txBody>
          <a:bodyPr wrap="none" rtlCol="0">
            <a:spAutoFit/>
          </a:bodyPr>
          <a:lstStyle/>
          <a:p>
            <a:r>
              <a:rPr lang="en-US" b="0" dirty="0">
                <a:latin typeface="Gill Sans" charset="0"/>
                <a:ea typeface="Gill Sans" charset="0"/>
                <a:cs typeface="Gill Sans" charset="0"/>
              </a:rPr>
              <a:t>done</a:t>
            </a:r>
          </a:p>
        </p:txBody>
      </p:sp>
      <p:sp>
        <p:nvSpPr>
          <p:cNvPr id="12" name="TextBox 11"/>
          <p:cNvSpPr txBox="1"/>
          <p:nvPr/>
        </p:nvSpPr>
        <p:spPr>
          <a:xfrm rot="16200000">
            <a:off x="4581774" y="5465041"/>
            <a:ext cx="620683" cy="369332"/>
          </a:xfrm>
          <a:prstGeom prst="rect">
            <a:avLst/>
          </a:prstGeom>
          <a:solidFill>
            <a:schemeClr val="accent3">
              <a:lumMod val="40000"/>
              <a:lumOff val="60000"/>
            </a:schemeClr>
          </a:solidFill>
          <a:ln>
            <a:solidFill>
              <a:srgbClr val="000090"/>
            </a:solidFill>
          </a:ln>
        </p:spPr>
        <p:txBody>
          <a:bodyPr wrap="none" rtlCol="0">
            <a:spAutoFit/>
          </a:bodyPr>
          <a:lstStyle/>
          <a:p>
            <a:r>
              <a:rPr lang="en-US" b="0" dirty="0">
                <a:latin typeface="Gill Sans" charset="0"/>
                <a:ea typeface="Gill Sans" charset="0"/>
                <a:cs typeface="Gill Sans" charset="0"/>
              </a:rPr>
              <a:t>start</a:t>
            </a:r>
          </a:p>
        </p:txBody>
      </p:sp>
      <p:grpSp>
        <p:nvGrpSpPr>
          <p:cNvPr id="16" name="Group 15"/>
          <p:cNvGrpSpPr/>
          <p:nvPr/>
        </p:nvGrpSpPr>
        <p:grpSpPr>
          <a:xfrm>
            <a:off x="5076782" y="2429814"/>
            <a:ext cx="816103" cy="3530235"/>
            <a:chOff x="5076782" y="2429814"/>
            <a:chExt cx="816103" cy="3530235"/>
          </a:xfrm>
        </p:grpSpPr>
        <p:grpSp>
          <p:nvGrpSpPr>
            <p:cNvPr id="13" name="Group 12"/>
            <p:cNvGrpSpPr/>
            <p:nvPr/>
          </p:nvGrpSpPr>
          <p:grpSpPr>
            <a:xfrm>
              <a:off x="5135148" y="5628477"/>
              <a:ext cx="640069" cy="131108"/>
              <a:chOff x="5252815" y="1247958"/>
              <a:chExt cx="640069" cy="131108"/>
            </a:xfrm>
          </p:grpSpPr>
          <p:grpSp>
            <p:nvGrpSpPr>
              <p:cNvPr id="92" name="Group 91"/>
              <p:cNvGrpSpPr/>
              <p:nvPr/>
            </p:nvGrpSpPr>
            <p:grpSpPr>
              <a:xfrm>
                <a:off x="5252815" y="1247958"/>
                <a:ext cx="640069" cy="121398"/>
                <a:chOff x="2607047" y="2031999"/>
                <a:chExt cx="1270137" cy="364957"/>
              </a:xfrm>
            </p:grpSpPr>
            <p:sp>
              <p:nvSpPr>
                <p:cNvPr id="93" name="Rectangle 92"/>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94" name="Rectangle 93"/>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95" name="Rectangle 94"/>
                <p:cNvSpPr/>
                <p:nvPr/>
              </p:nvSpPr>
              <p:spPr>
                <a:xfrm rot="16200000">
                  <a:off x="3212929"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96" name="Rectangle 95"/>
                <p:cNvSpPr/>
                <p:nvPr/>
              </p:nvSpPr>
              <p:spPr>
                <a:xfrm rot="16200000">
                  <a:off x="3534113"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97" name="Rectangle 96"/>
              <p:cNvSpPr/>
              <p:nvPr/>
            </p:nvSpPr>
            <p:spPr>
              <a:xfrm rot="16200000">
                <a:off x="5282734" y="1237439"/>
                <a:ext cx="121398" cy="161856"/>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14" name="Rectangle 13"/>
            <p:cNvSpPr/>
            <p:nvPr/>
          </p:nvSpPr>
          <p:spPr>
            <a:xfrm>
              <a:off x="5076782" y="5349778"/>
              <a:ext cx="698435" cy="610271"/>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98" name="Freeform 97"/>
            <p:cNvSpPr/>
            <p:nvPr/>
          </p:nvSpPr>
          <p:spPr>
            <a:xfrm>
              <a:off x="5248206" y="2429814"/>
              <a:ext cx="644679" cy="3009496"/>
            </a:xfrm>
            <a:custGeom>
              <a:avLst/>
              <a:gdLst>
                <a:gd name="connsiteX0" fmla="*/ 14270 w 314088"/>
                <a:gd name="connsiteY0" fmla="*/ 485144 h 485144"/>
                <a:gd name="connsiteX1" fmla="*/ 28541 w 314088"/>
                <a:gd name="connsiteY1" fmla="*/ 242572 h 485144"/>
                <a:gd name="connsiteX2" fmla="*/ 271144 w 314088"/>
                <a:gd name="connsiteY2" fmla="*/ 214034 h 485144"/>
                <a:gd name="connsiteX3" fmla="*/ 313956 w 314088"/>
                <a:gd name="connsiteY3" fmla="*/ 0 h 485144"/>
                <a:gd name="connsiteX4" fmla="*/ 313956 w 314088"/>
                <a:gd name="connsiteY4" fmla="*/ 0 h 485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088" h="485144">
                  <a:moveTo>
                    <a:pt x="14270" y="485144"/>
                  </a:moveTo>
                  <a:cubicBezTo>
                    <a:pt x="-1" y="386450"/>
                    <a:pt x="-14271" y="287757"/>
                    <a:pt x="28541" y="242572"/>
                  </a:cubicBezTo>
                  <a:cubicBezTo>
                    <a:pt x="71353" y="197387"/>
                    <a:pt x="223575" y="254463"/>
                    <a:pt x="271144" y="214034"/>
                  </a:cubicBezTo>
                  <a:cubicBezTo>
                    <a:pt x="318713" y="173605"/>
                    <a:pt x="313956" y="0"/>
                    <a:pt x="313956" y="0"/>
                  </a:cubicBezTo>
                  <a:lnTo>
                    <a:pt x="313956" y="0"/>
                  </a:lnTo>
                </a:path>
              </a:pathLst>
            </a:custGeom>
            <a:ln>
              <a:solidFill>
                <a:srgbClr val="000090"/>
              </a:solidFill>
              <a:headEnd type="ova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a:latin typeface="Gill Sans" charset="0"/>
                <a:ea typeface="Gill Sans" charset="0"/>
                <a:cs typeface="Gill Sans" charset="0"/>
              </a:endParaRPr>
            </a:p>
          </p:txBody>
        </p:sp>
      </p:grpSp>
      <p:grpSp>
        <p:nvGrpSpPr>
          <p:cNvPr id="28" name="Group 27"/>
          <p:cNvGrpSpPr/>
          <p:nvPr/>
        </p:nvGrpSpPr>
        <p:grpSpPr>
          <a:xfrm>
            <a:off x="5786022" y="3654034"/>
            <a:ext cx="818671" cy="2301654"/>
            <a:chOff x="5786022" y="3654034"/>
            <a:chExt cx="818671" cy="2301654"/>
          </a:xfrm>
        </p:grpSpPr>
        <p:grpSp>
          <p:nvGrpSpPr>
            <p:cNvPr id="99" name="Group 98"/>
            <p:cNvGrpSpPr/>
            <p:nvPr/>
          </p:nvGrpSpPr>
          <p:grpSpPr>
            <a:xfrm>
              <a:off x="5892885" y="5589588"/>
              <a:ext cx="711808" cy="242349"/>
              <a:chOff x="2607047" y="2031999"/>
              <a:chExt cx="948953" cy="364957"/>
            </a:xfrm>
          </p:grpSpPr>
          <p:sp>
            <p:nvSpPr>
              <p:cNvPr id="100" name="Rectangle 99"/>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01" name="Rectangle 100"/>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02" name="Rectangle 101"/>
              <p:cNvSpPr/>
              <p:nvPr/>
            </p:nvSpPr>
            <p:spPr>
              <a:xfrm rot="16200000">
                <a:off x="3212929"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104" name="Rectangle 103"/>
            <p:cNvSpPr/>
            <p:nvPr/>
          </p:nvSpPr>
          <p:spPr>
            <a:xfrm rot="16200000">
              <a:off x="5873319" y="5600013"/>
              <a:ext cx="242349" cy="240920"/>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05" name="Freeform 104"/>
            <p:cNvSpPr/>
            <p:nvPr/>
          </p:nvSpPr>
          <p:spPr>
            <a:xfrm>
              <a:off x="5970966" y="3654034"/>
              <a:ext cx="212349" cy="2018098"/>
            </a:xfrm>
            <a:custGeom>
              <a:avLst/>
              <a:gdLst>
                <a:gd name="connsiteX0" fmla="*/ 14270 w 314088"/>
                <a:gd name="connsiteY0" fmla="*/ 485144 h 485144"/>
                <a:gd name="connsiteX1" fmla="*/ 28541 w 314088"/>
                <a:gd name="connsiteY1" fmla="*/ 242572 h 485144"/>
                <a:gd name="connsiteX2" fmla="*/ 271144 w 314088"/>
                <a:gd name="connsiteY2" fmla="*/ 214034 h 485144"/>
                <a:gd name="connsiteX3" fmla="*/ 313956 w 314088"/>
                <a:gd name="connsiteY3" fmla="*/ 0 h 485144"/>
                <a:gd name="connsiteX4" fmla="*/ 313956 w 314088"/>
                <a:gd name="connsiteY4" fmla="*/ 0 h 485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088" h="485144">
                  <a:moveTo>
                    <a:pt x="14270" y="485144"/>
                  </a:moveTo>
                  <a:cubicBezTo>
                    <a:pt x="-1" y="386450"/>
                    <a:pt x="-14271" y="287757"/>
                    <a:pt x="28541" y="242572"/>
                  </a:cubicBezTo>
                  <a:cubicBezTo>
                    <a:pt x="71353" y="197387"/>
                    <a:pt x="223575" y="254463"/>
                    <a:pt x="271144" y="214034"/>
                  </a:cubicBezTo>
                  <a:cubicBezTo>
                    <a:pt x="318713" y="173605"/>
                    <a:pt x="313956" y="0"/>
                    <a:pt x="313956" y="0"/>
                  </a:cubicBezTo>
                  <a:lnTo>
                    <a:pt x="313956" y="0"/>
                  </a:lnTo>
                </a:path>
              </a:pathLst>
            </a:custGeom>
            <a:ln>
              <a:solidFill>
                <a:srgbClr val="000090"/>
              </a:solidFill>
              <a:headEnd type="ova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a:latin typeface="Gill Sans" charset="0"/>
                <a:ea typeface="Gill Sans" charset="0"/>
                <a:cs typeface="Gill Sans" charset="0"/>
              </a:endParaRPr>
            </a:p>
          </p:txBody>
        </p:sp>
        <p:sp>
          <p:nvSpPr>
            <p:cNvPr id="108" name="Rectangle 107"/>
            <p:cNvSpPr/>
            <p:nvPr/>
          </p:nvSpPr>
          <p:spPr>
            <a:xfrm>
              <a:off x="5786022" y="5345417"/>
              <a:ext cx="818671" cy="610271"/>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grpSp>
        <p:nvGrpSpPr>
          <p:cNvPr id="33" name="Group 32"/>
          <p:cNvGrpSpPr/>
          <p:nvPr/>
        </p:nvGrpSpPr>
        <p:grpSpPr>
          <a:xfrm>
            <a:off x="6500681" y="4469782"/>
            <a:ext cx="927883" cy="1480844"/>
            <a:chOff x="6500681" y="4469782"/>
            <a:chExt cx="927883" cy="1480844"/>
          </a:xfrm>
        </p:grpSpPr>
        <p:sp>
          <p:nvSpPr>
            <p:cNvPr id="106" name="Rectangle 105"/>
            <p:cNvSpPr/>
            <p:nvPr/>
          </p:nvSpPr>
          <p:spPr>
            <a:xfrm rot="16200000">
              <a:off x="6686856" y="5497369"/>
              <a:ext cx="302397" cy="327267"/>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07" name="Rectangle 106"/>
            <p:cNvSpPr/>
            <p:nvPr/>
          </p:nvSpPr>
          <p:spPr>
            <a:xfrm rot="16200000">
              <a:off x="7014123" y="5500978"/>
              <a:ext cx="302397" cy="327267"/>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09" name="Rectangle 108"/>
            <p:cNvSpPr/>
            <p:nvPr/>
          </p:nvSpPr>
          <p:spPr>
            <a:xfrm>
              <a:off x="6609893" y="5340355"/>
              <a:ext cx="818671" cy="610271"/>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10" name="Freeform 109"/>
            <p:cNvSpPr/>
            <p:nvPr/>
          </p:nvSpPr>
          <p:spPr>
            <a:xfrm flipH="1">
              <a:off x="6500681" y="4469782"/>
              <a:ext cx="469611" cy="969527"/>
            </a:xfrm>
            <a:custGeom>
              <a:avLst/>
              <a:gdLst>
                <a:gd name="connsiteX0" fmla="*/ 14270 w 314088"/>
                <a:gd name="connsiteY0" fmla="*/ 485144 h 485144"/>
                <a:gd name="connsiteX1" fmla="*/ 28541 w 314088"/>
                <a:gd name="connsiteY1" fmla="*/ 242572 h 485144"/>
                <a:gd name="connsiteX2" fmla="*/ 271144 w 314088"/>
                <a:gd name="connsiteY2" fmla="*/ 214034 h 485144"/>
                <a:gd name="connsiteX3" fmla="*/ 313956 w 314088"/>
                <a:gd name="connsiteY3" fmla="*/ 0 h 485144"/>
                <a:gd name="connsiteX4" fmla="*/ 313956 w 314088"/>
                <a:gd name="connsiteY4" fmla="*/ 0 h 485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088" h="485144">
                  <a:moveTo>
                    <a:pt x="14270" y="485144"/>
                  </a:moveTo>
                  <a:cubicBezTo>
                    <a:pt x="-1" y="386450"/>
                    <a:pt x="-14271" y="287757"/>
                    <a:pt x="28541" y="242572"/>
                  </a:cubicBezTo>
                  <a:cubicBezTo>
                    <a:pt x="71353" y="197387"/>
                    <a:pt x="223575" y="254463"/>
                    <a:pt x="271144" y="214034"/>
                  </a:cubicBezTo>
                  <a:cubicBezTo>
                    <a:pt x="318713" y="173605"/>
                    <a:pt x="313956" y="0"/>
                    <a:pt x="313956" y="0"/>
                  </a:cubicBezTo>
                  <a:lnTo>
                    <a:pt x="313956" y="0"/>
                  </a:lnTo>
                </a:path>
              </a:pathLst>
            </a:custGeom>
            <a:ln>
              <a:solidFill>
                <a:srgbClr val="000090"/>
              </a:solidFill>
              <a:headEnd type="ova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a:latin typeface="Gill Sans" charset="0"/>
                <a:ea typeface="Gill Sans" charset="0"/>
                <a:cs typeface="Gill Sans" charset="0"/>
              </a:endParaRPr>
            </a:p>
          </p:txBody>
        </p:sp>
      </p:grpSp>
      <p:sp>
        <p:nvSpPr>
          <p:cNvPr id="111" name="TextBox 110"/>
          <p:cNvSpPr txBox="1"/>
          <p:nvPr/>
        </p:nvSpPr>
        <p:spPr>
          <a:xfrm rot="16200000">
            <a:off x="7182036" y="5475454"/>
            <a:ext cx="903087" cy="369332"/>
          </a:xfrm>
          <a:prstGeom prst="rect">
            <a:avLst/>
          </a:prstGeom>
          <a:solidFill>
            <a:schemeClr val="accent3">
              <a:lumMod val="40000"/>
              <a:lumOff val="60000"/>
            </a:schemeClr>
          </a:solidFill>
          <a:ln>
            <a:solidFill>
              <a:srgbClr val="000090"/>
            </a:solidFill>
          </a:ln>
        </p:spPr>
        <p:txBody>
          <a:bodyPr wrap="none" rtlCol="0">
            <a:spAutoFit/>
          </a:bodyPr>
          <a:lstStyle/>
          <a:p>
            <a:r>
              <a:rPr lang="en-US" b="0" dirty="0">
                <a:latin typeface="Gill Sans" charset="0"/>
                <a:ea typeface="Gill Sans" charset="0"/>
                <a:cs typeface="Gill Sans" charset="0"/>
              </a:rPr>
              <a:t>commit</a:t>
            </a:r>
          </a:p>
        </p:txBody>
      </p:sp>
    </p:spTree>
    <p:extLst>
      <p:ext uri="{BB962C8B-B14F-4D97-AF65-F5344CB8AC3E}">
        <p14:creationId xmlns:p14="http://schemas.microsoft.com/office/powerpoint/2010/main" val="771610162"/>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B333B-CDA3-DC44-887E-0C6972BEAF6B}"/>
              </a:ext>
            </a:extLst>
          </p:cNvPr>
          <p:cNvSpPr>
            <a:spLocks noGrp="1"/>
          </p:cNvSpPr>
          <p:nvPr>
            <p:ph type="title"/>
          </p:nvPr>
        </p:nvSpPr>
        <p:spPr/>
        <p:txBody>
          <a:bodyPr/>
          <a:lstStyle/>
          <a:p>
            <a:r>
              <a:rPr lang="en-US" altLang="zh-CN" dirty="0"/>
              <a:t>“</a:t>
            </a:r>
            <a:r>
              <a:rPr lang="en-US" dirty="0"/>
              <a:t>Journaling</a:t>
            </a:r>
            <a:r>
              <a:rPr lang="zh-CN" altLang="en-US" dirty="0"/>
              <a:t> </a:t>
            </a:r>
            <a:r>
              <a:rPr lang="en-US" altLang="zh-CN" dirty="0"/>
              <a:t>file</a:t>
            </a:r>
            <a:r>
              <a:rPr lang="zh-CN" altLang="en-US" dirty="0"/>
              <a:t> </a:t>
            </a:r>
            <a:r>
              <a:rPr lang="en-US" altLang="zh-CN" dirty="0"/>
              <a:t>system”</a:t>
            </a:r>
            <a:endParaRPr lang="en-US" dirty="0"/>
          </a:p>
        </p:txBody>
      </p:sp>
      <p:sp>
        <p:nvSpPr>
          <p:cNvPr id="3" name="Content Placeholder 2">
            <a:extLst>
              <a:ext uri="{FF2B5EF4-FFF2-40B4-BE49-F238E27FC236}">
                <a16:creationId xmlns:a16="http://schemas.microsoft.com/office/drawing/2014/main" id="{27A77335-8E12-CD47-BC0C-94D78CEAEA07}"/>
              </a:ext>
            </a:extLst>
          </p:cNvPr>
          <p:cNvSpPr>
            <a:spLocks noGrp="1"/>
          </p:cNvSpPr>
          <p:nvPr>
            <p:ph idx="1"/>
          </p:nvPr>
        </p:nvSpPr>
        <p:spPr>
          <a:xfrm>
            <a:off x="628650" y="990600"/>
            <a:ext cx="7886700" cy="5117431"/>
          </a:xfrm>
        </p:spPr>
        <p:txBody>
          <a:bodyPr>
            <a:normAutofit/>
          </a:bodyPr>
          <a:lstStyle/>
          <a:p>
            <a:pPr marL="0" indent="0">
              <a:buNone/>
            </a:pPr>
            <a:r>
              <a:rPr lang="en-US" dirty="0"/>
              <a:t>Why go through all this trouble?</a:t>
            </a:r>
          </a:p>
          <a:p>
            <a:r>
              <a:rPr lang="en-US" dirty="0"/>
              <a:t>Updates atomic, even if we crash:</a:t>
            </a:r>
          </a:p>
          <a:p>
            <a:pPr lvl="1"/>
            <a:r>
              <a:rPr lang="en-US" dirty="0"/>
              <a:t>Update either gets fully applied or discarded</a:t>
            </a:r>
          </a:p>
          <a:p>
            <a:pPr lvl="1"/>
            <a:r>
              <a:rPr lang="en-US" dirty="0"/>
              <a:t>All physical operations </a:t>
            </a:r>
            <a:r>
              <a:rPr lang="en-US" i="1" dirty="0"/>
              <a:t>treated as a logical unit</a:t>
            </a:r>
            <a:endParaRPr lang="en-US" dirty="0"/>
          </a:p>
          <a:p>
            <a:pPr lvl="1"/>
            <a:endParaRPr lang="en-US" dirty="0"/>
          </a:p>
          <a:p>
            <a:pPr marL="0" indent="0">
              <a:buNone/>
            </a:pPr>
            <a:r>
              <a:rPr lang="en-US" dirty="0"/>
              <a:t>Isn't this expensive?</a:t>
            </a:r>
          </a:p>
          <a:p>
            <a:r>
              <a:rPr lang="en-US" dirty="0"/>
              <a:t>Yes! We're now writing all data twice (once to log, once to actual data blocks in target file)</a:t>
            </a:r>
          </a:p>
          <a:p>
            <a:r>
              <a:rPr lang="en-US" dirty="0"/>
              <a:t>Modern file</a:t>
            </a:r>
            <a:r>
              <a:rPr lang="zh-CN" altLang="en-US" dirty="0"/>
              <a:t> </a:t>
            </a:r>
            <a:r>
              <a:rPr lang="en-US" dirty="0"/>
              <a:t>systems offer an option to journal metadata updates only</a:t>
            </a:r>
          </a:p>
          <a:p>
            <a:pPr lvl="1"/>
            <a:r>
              <a:rPr lang="en-US" dirty="0"/>
              <a:t>Record modifications to file system data structures</a:t>
            </a:r>
          </a:p>
          <a:p>
            <a:pPr lvl="1"/>
            <a:r>
              <a:rPr lang="en-US" dirty="0"/>
              <a:t>But apply updates to a file's contents directly</a:t>
            </a:r>
          </a:p>
        </p:txBody>
      </p:sp>
    </p:spTree>
    <p:extLst>
      <p:ext uri="{BB962C8B-B14F-4D97-AF65-F5344CB8AC3E}">
        <p14:creationId xmlns:p14="http://schemas.microsoft.com/office/powerpoint/2010/main" val="174417178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24A84F-AAC6-2C97-1682-468FBA20E0B8}"/>
              </a:ext>
            </a:extLst>
          </p:cNvPr>
          <p:cNvSpPr>
            <a:spLocks noGrp="1"/>
          </p:cNvSpPr>
          <p:nvPr>
            <p:ph type="title"/>
          </p:nvPr>
        </p:nvSpPr>
        <p:spPr/>
        <p:txBody>
          <a:bodyPr/>
          <a:lstStyle/>
          <a:p>
            <a:r>
              <a:rPr kumimoji="1" lang="en-US" altLang="zh-CN" dirty="0"/>
              <a:t>Implementing</a:t>
            </a:r>
            <a:r>
              <a:rPr kumimoji="1" lang="zh-CN" altLang="en-US" dirty="0"/>
              <a:t> </a:t>
            </a:r>
            <a:r>
              <a:rPr kumimoji="1" lang="en-US" altLang="zh-CN" dirty="0"/>
              <a:t>transactions:</a:t>
            </a:r>
            <a:br>
              <a:rPr kumimoji="1" lang="en-US" altLang="zh-CN" dirty="0"/>
            </a:br>
            <a:r>
              <a:rPr kumimoji="1" lang="en-US" altLang="zh-CN" dirty="0"/>
              <a:t>Locks</a:t>
            </a:r>
            <a:endParaRPr kumimoji="1" lang="zh-CN" altLang="en-US" dirty="0"/>
          </a:p>
        </p:txBody>
      </p:sp>
      <p:sp>
        <p:nvSpPr>
          <p:cNvPr id="3" name="文本占位符 2">
            <a:extLst>
              <a:ext uri="{FF2B5EF4-FFF2-40B4-BE49-F238E27FC236}">
                <a16:creationId xmlns:a16="http://schemas.microsoft.com/office/drawing/2014/main" id="{E1D30698-CD51-D463-8ADF-987FF7BE28BA}"/>
              </a:ext>
            </a:extLst>
          </p:cNvPr>
          <p:cNvSpPr>
            <a:spLocks noGrp="1"/>
          </p:cNvSpPr>
          <p:nvPr>
            <p:ph type="body" idx="1"/>
          </p:nvPr>
        </p:nvSpPr>
        <p:spPr/>
        <p:txBody>
          <a:bodyPr/>
          <a:lstStyle/>
          <a:p>
            <a:endParaRPr kumimoji="1" lang="zh-CN" altLang="en-US"/>
          </a:p>
        </p:txBody>
      </p:sp>
    </p:spTree>
    <p:extLst>
      <p:ext uri="{BB962C8B-B14F-4D97-AF65-F5344CB8AC3E}">
        <p14:creationId xmlns:p14="http://schemas.microsoft.com/office/powerpoint/2010/main" val="132141210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p:cNvSpPr>
            <a:spLocks noGrp="1"/>
          </p:cNvSpPr>
          <p:nvPr>
            <p:ph type="title"/>
          </p:nvPr>
        </p:nvSpPr>
        <p:spPr>
          <a:xfrm>
            <a:off x="762000" y="152400"/>
            <a:ext cx="8153400" cy="533400"/>
          </a:xfrm>
        </p:spPr>
        <p:txBody>
          <a:bodyPr/>
          <a:lstStyle/>
          <a:p>
            <a:pPr eaLnBrk="1" hangingPunct="1"/>
            <a:r>
              <a:rPr lang="en-US" altLang="zh-CN" dirty="0">
                <a:latin typeface="Helvetica" charset="0"/>
                <a:ea typeface="MS PGothic" charset="-128"/>
              </a:rPr>
              <a:t>From Multiprogramming to Transactions</a:t>
            </a:r>
          </a:p>
        </p:txBody>
      </p:sp>
      <p:sp>
        <p:nvSpPr>
          <p:cNvPr id="3" name="Content Placeholder 2"/>
          <p:cNvSpPr>
            <a:spLocks noGrp="1"/>
          </p:cNvSpPr>
          <p:nvPr>
            <p:ph idx="1"/>
          </p:nvPr>
        </p:nvSpPr>
        <p:spPr>
          <a:xfrm>
            <a:off x="609600" y="762000"/>
            <a:ext cx="7924800" cy="5105400"/>
          </a:xfrm>
        </p:spPr>
        <p:txBody>
          <a:bodyPr/>
          <a:lstStyle/>
          <a:p>
            <a:pPr marL="57150" indent="0">
              <a:buNone/>
            </a:pPr>
            <a:endParaRPr lang="en-US" altLang="zh-CN" dirty="0">
              <a:latin typeface="Helvetica" charset="0"/>
              <a:ea typeface="MS PGothic" charset="-128"/>
              <a:sym typeface="Wingdings" charset="2"/>
            </a:endParaRPr>
          </a:p>
          <a:p>
            <a:r>
              <a:rPr lang="en-US" altLang="zh-CN" dirty="0">
                <a:latin typeface="Tahoma" charset="0"/>
                <a:ea typeface="MS PGothic" charset="-128"/>
              </a:rPr>
              <a:t>Transactions</a:t>
            </a:r>
            <a:r>
              <a:rPr lang="zh-CN" altLang="en-US" dirty="0">
                <a:latin typeface="Tahoma" charset="0"/>
                <a:ea typeface="MS PGothic" charset="-128"/>
              </a:rPr>
              <a:t> </a:t>
            </a:r>
            <a:r>
              <a:rPr lang="en-US" altLang="zh-CN" dirty="0">
                <a:latin typeface="Tahoma" charset="0"/>
                <a:ea typeface="MS PGothic" charset="-128"/>
              </a:rPr>
              <a:t>are</a:t>
            </a:r>
            <a:r>
              <a:rPr lang="zh-CN" altLang="en-US" dirty="0">
                <a:latin typeface="Tahoma" charset="0"/>
                <a:ea typeface="MS PGothic" charset="-128"/>
              </a:rPr>
              <a:t> </a:t>
            </a:r>
            <a:r>
              <a:rPr lang="en-US" altLang="zh-CN" dirty="0">
                <a:latin typeface="Tahoma" charset="0"/>
                <a:ea typeface="MS PGothic" charset="-128"/>
              </a:rPr>
              <a:t>atomic</a:t>
            </a:r>
          </a:p>
          <a:p>
            <a:pPr lvl="1"/>
            <a:r>
              <a:rPr lang="en-US" altLang="zh-CN" dirty="0">
                <a:latin typeface="Tahoma" charset="0"/>
                <a:ea typeface="MS PGothic" charset="-128"/>
              </a:rPr>
              <a:t>But</a:t>
            </a:r>
            <a:r>
              <a:rPr lang="zh-CN" altLang="en-US" dirty="0">
                <a:latin typeface="Tahoma" charset="0"/>
                <a:ea typeface="MS PGothic" charset="-128"/>
              </a:rPr>
              <a:t> </a:t>
            </a:r>
            <a:r>
              <a:rPr lang="en-US" altLang="zh-CN" dirty="0">
                <a:latin typeface="Tahoma" charset="0"/>
                <a:ea typeface="MS PGothic" charset="-128"/>
              </a:rPr>
              <a:t>we</a:t>
            </a:r>
            <a:r>
              <a:rPr lang="zh-CN" altLang="en-US" dirty="0">
                <a:latin typeface="Tahoma" charset="0"/>
                <a:ea typeface="MS PGothic" charset="-128"/>
              </a:rPr>
              <a:t> </a:t>
            </a:r>
            <a:r>
              <a:rPr lang="en-US" altLang="zh-CN" dirty="0">
                <a:latin typeface="Tahoma" charset="0"/>
                <a:ea typeface="MS PGothic" charset="-128"/>
              </a:rPr>
              <a:t>do</a:t>
            </a:r>
            <a:r>
              <a:rPr lang="zh-CN" altLang="en-US" dirty="0">
                <a:latin typeface="Tahoma" charset="0"/>
                <a:ea typeface="MS PGothic" charset="-128"/>
              </a:rPr>
              <a:t> </a:t>
            </a:r>
            <a:r>
              <a:rPr lang="en-US" altLang="zh-CN" dirty="0">
                <a:latin typeface="Tahoma" charset="0"/>
                <a:ea typeface="MS PGothic" charset="-128"/>
              </a:rPr>
              <a:t>not</a:t>
            </a:r>
            <a:r>
              <a:rPr lang="zh-CN" altLang="en-US" dirty="0">
                <a:latin typeface="Tahoma" charset="0"/>
                <a:ea typeface="MS PGothic" charset="-128"/>
              </a:rPr>
              <a:t> </a:t>
            </a:r>
            <a:r>
              <a:rPr lang="en-US" altLang="zh-CN" dirty="0">
                <a:latin typeface="Tahoma" charset="0"/>
                <a:ea typeface="MS PGothic" charset="-128"/>
              </a:rPr>
              <a:t>run</a:t>
            </a:r>
            <a:r>
              <a:rPr lang="zh-CN" altLang="en-US" dirty="0">
                <a:latin typeface="Tahoma" charset="0"/>
                <a:ea typeface="MS PGothic" charset="-128"/>
              </a:rPr>
              <a:t> </a:t>
            </a:r>
            <a:r>
              <a:rPr lang="en-US" altLang="zh-CN" dirty="0">
                <a:latin typeface="Tahoma" charset="0"/>
                <a:ea typeface="MS PGothic" charset="-128"/>
              </a:rPr>
              <a:t>them</a:t>
            </a:r>
            <a:r>
              <a:rPr lang="zh-CN" altLang="en-US" dirty="0">
                <a:latin typeface="Tahoma" charset="0"/>
                <a:ea typeface="MS PGothic" charset="-128"/>
              </a:rPr>
              <a:t> </a:t>
            </a:r>
            <a:r>
              <a:rPr lang="en-US" altLang="zh-CN" dirty="0">
                <a:latin typeface="Tahoma" charset="0"/>
                <a:ea typeface="MS PGothic" charset="-128"/>
              </a:rPr>
              <a:t>one</a:t>
            </a:r>
            <a:r>
              <a:rPr lang="zh-CN" altLang="en-US" dirty="0">
                <a:latin typeface="Tahoma" charset="0"/>
                <a:ea typeface="MS PGothic" charset="-128"/>
              </a:rPr>
              <a:t> </a:t>
            </a:r>
            <a:r>
              <a:rPr lang="en-US" altLang="zh-CN" dirty="0">
                <a:latin typeface="Tahoma" charset="0"/>
                <a:ea typeface="MS PGothic" charset="-128"/>
              </a:rPr>
              <a:t>by</a:t>
            </a:r>
            <a:r>
              <a:rPr lang="zh-CN" altLang="en-US" dirty="0">
                <a:latin typeface="Tahoma" charset="0"/>
                <a:ea typeface="MS PGothic" charset="-128"/>
              </a:rPr>
              <a:t> </a:t>
            </a:r>
            <a:r>
              <a:rPr lang="en-US" altLang="zh-CN" dirty="0">
                <a:latin typeface="Tahoma" charset="0"/>
                <a:ea typeface="MS PGothic" charset="-128"/>
              </a:rPr>
              <a:t>one</a:t>
            </a:r>
          </a:p>
          <a:p>
            <a:pPr lvl="1"/>
            <a:r>
              <a:rPr lang="en-US" altLang="zh-CN" dirty="0">
                <a:latin typeface="Tahoma" charset="0"/>
                <a:ea typeface="MS PGothic" charset="-128"/>
              </a:rPr>
              <a:t>Concurrent execution essential for good performance</a:t>
            </a:r>
          </a:p>
          <a:p>
            <a:pPr lvl="2">
              <a:buSzPct val="75000"/>
            </a:pPr>
            <a:r>
              <a:rPr lang="en-US" altLang="zh-CN" dirty="0">
                <a:latin typeface="Tahoma" charset="0"/>
                <a:ea typeface="MS PGothic" charset="-128"/>
              </a:rPr>
              <a:t>Disk slow, so need to keep the CPU busy by working on several user programs concurrently</a:t>
            </a:r>
          </a:p>
          <a:p>
            <a:pPr lvl="1">
              <a:buSzPct val="75000"/>
            </a:pPr>
            <a:endParaRPr lang="en-US" altLang="zh-CN" dirty="0">
              <a:latin typeface="Tahoma" charset="0"/>
              <a:ea typeface="MS PGothic" charset="-128"/>
            </a:endParaRPr>
          </a:p>
          <a:p>
            <a:r>
              <a:rPr lang="en-US" altLang="zh-CN" dirty="0">
                <a:latin typeface="Tahoma" charset="0"/>
                <a:ea typeface="MS PGothic" charset="-128"/>
              </a:rPr>
              <a:t>DBMS only concerned about what data is read/written from/to the database</a:t>
            </a:r>
            <a:endParaRPr lang="en-US" altLang="zh-CN" i="1" u="sng" dirty="0">
              <a:solidFill>
                <a:schemeClr val="accent2"/>
              </a:solidFill>
              <a:latin typeface="Tahoma" charset="0"/>
              <a:ea typeface="MS PGothic" charset="-128"/>
            </a:endParaRPr>
          </a:p>
          <a:p>
            <a:pPr lvl="1"/>
            <a:r>
              <a:rPr lang="en-US" altLang="zh-CN" dirty="0">
                <a:latin typeface="Tahoma" charset="0"/>
                <a:ea typeface="MS PGothic" charset="-128"/>
              </a:rPr>
              <a:t>i.e.</a:t>
            </a:r>
            <a:r>
              <a:rPr lang="zh-CN" altLang="en-US" dirty="0">
                <a:latin typeface="Tahoma" charset="0"/>
                <a:ea typeface="MS PGothic" charset="-128"/>
              </a:rPr>
              <a:t> </a:t>
            </a:r>
            <a:r>
              <a:rPr lang="en-US" altLang="zh-CN" dirty="0">
                <a:latin typeface="Tahoma" charset="0"/>
                <a:ea typeface="MS PGothic" charset="-128"/>
              </a:rPr>
              <a:t>DBMS</a:t>
            </a:r>
            <a:r>
              <a:rPr lang="en-US" altLang="en-US" dirty="0">
                <a:latin typeface="Tahoma" charset="0"/>
                <a:ea typeface="MS PGothic" charset="-128"/>
              </a:rPr>
              <a:t>’</a:t>
            </a:r>
            <a:r>
              <a:rPr lang="en-US" altLang="ja-JP" dirty="0">
                <a:latin typeface="Tahoma" charset="0"/>
                <a:ea typeface="MS PGothic" charset="-128"/>
              </a:rPr>
              <a:t>s abstract view of a user program, i.e., a sequence of reads and writes.</a:t>
            </a:r>
          </a:p>
          <a:p>
            <a:pPr lvl="1">
              <a:buSzPct val="75000"/>
            </a:pPr>
            <a:endParaRPr lang="en-US" altLang="zh-CN" dirty="0">
              <a:latin typeface="Tahoma" charset="0"/>
              <a:ea typeface="MS PGothic" charset="-128"/>
            </a:endParaRPr>
          </a:p>
          <a:p>
            <a:pPr marL="57150" indent="0">
              <a:buNone/>
            </a:pPr>
            <a:endParaRPr lang="en-US" altLang="zh-CN" dirty="0">
              <a:latin typeface="Helvetica" charset="0"/>
              <a:ea typeface="MS PGothic" charset="-128"/>
              <a:sym typeface="Wingdings" charset="2"/>
            </a:endParaRPr>
          </a:p>
        </p:txBody>
      </p:sp>
    </p:spTree>
    <p:extLst>
      <p:ext uri="{BB962C8B-B14F-4D97-AF65-F5344CB8AC3E}">
        <p14:creationId xmlns:p14="http://schemas.microsoft.com/office/powerpoint/2010/main" val="197804655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p:cNvSpPr>
            <a:spLocks noGrp="1"/>
          </p:cNvSpPr>
          <p:nvPr>
            <p:ph type="title"/>
          </p:nvPr>
        </p:nvSpPr>
        <p:spPr/>
        <p:txBody>
          <a:bodyPr/>
          <a:lstStyle/>
          <a:p>
            <a:pPr eaLnBrk="1" hangingPunct="1"/>
            <a:r>
              <a:rPr lang="en-US" altLang="zh-CN">
                <a:latin typeface="Helvetica" charset="0"/>
                <a:ea typeface="MS PGothic" charset="-128"/>
              </a:rPr>
              <a:t>Example</a:t>
            </a:r>
          </a:p>
        </p:txBody>
      </p:sp>
      <p:sp>
        <p:nvSpPr>
          <p:cNvPr id="52226" name="Content Placeholder 2"/>
          <p:cNvSpPr>
            <a:spLocks noGrp="1"/>
          </p:cNvSpPr>
          <p:nvPr>
            <p:ph idx="1"/>
          </p:nvPr>
        </p:nvSpPr>
        <p:spPr/>
        <p:txBody>
          <a:bodyPr/>
          <a:lstStyle/>
          <a:p>
            <a:pPr eaLnBrk="1" hangingPunct="1"/>
            <a:r>
              <a:rPr lang="en-US" altLang="zh-CN">
                <a:latin typeface="Helvetica" charset="0"/>
                <a:ea typeface="MS PGothic" charset="-128"/>
              </a:rPr>
              <a:t>Consider two transactions:</a:t>
            </a:r>
          </a:p>
          <a:p>
            <a:pPr lvl="1" eaLnBrk="1" hangingPunct="1"/>
            <a:r>
              <a:rPr lang="en-US" altLang="zh-CN">
                <a:latin typeface="Helvetica" charset="0"/>
                <a:ea typeface="MS PGothic" charset="-128"/>
              </a:rPr>
              <a:t>T1: moves $100 from account A to account B</a:t>
            </a:r>
          </a:p>
          <a:p>
            <a:pPr lvl="1" eaLnBrk="1" hangingPunct="1">
              <a:buFontTx/>
              <a:buNone/>
            </a:pPr>
            <a:r>
              <a:rPr lang="en-US" altLang="zh-CN">
                <a:latin typeface="Helvetica" charset="0"/>
                <a:ea typeface="MS PGothic" charset="-128"/>
              </a:rPr>
              <a:t>			</a:t>
            </a:r>
          </a:p>
          <a:p>
            <a:pPr lvl="1" eaLnBrk="1" hangingPunct="1">
              <a:buFontTx/>
              <a:buNone/>
            </a:pPr>
            <a:r>
              <a:rPr lang="en-US" altLang="zh-CN">
                <a:latin typeface="Helvetica" charset="0"/>
                <a:ea typeface="MS PGothic" charset="-128"/>
              </a:rPr>
              <a:t>	</a:t>
            </a:r>
          </a:p>
          <a:p>
            <a:pPr lvl="1" eaLnBrk="1" hangingPunct="1"/>
            <a:r>
              <a:rPr lang="en-US" altLang="zh-CN">
                <a:latin typeface="Helvetica" charset="0"/>
                <a:ea typeface="MS PGothic" charset="-128"/>
              </a:rPr>
              <a:t>T2: moves $50 from account B to account A</a:t>
            </a:r>
          </a:p>
          <a:p>
            <a:pPr lvl="1" eaLnBrk="1" hangingPunct="1"/>
            <a:endParaRPr lang="en-US" altLang="zh-CN">
              <a:latin typeface="Helvetica" charset="0"/>
              <a:ea typeface="MS PGothic" charset="-128"/>
            </a:endParaRPr>
          </a:p>
          <a:p>
            <a:pPr lvl="1" eaLnBrk="1" hangingPunct="1">
              <a:buFontTx/>
              <a:buNone/>
            </a:pPr>
            <a:endParaRPr lang="en-US" altLang="zh-CN">
              <a:latin typeface="Helvetica" charset="0"/>
              <a:ea typeface="MS PGothic" charset="-128"/>
            </a:endParaRPr>
          </a:p>
          <a:p>
            <a:pPr eaLnBrk="1" hangingPunct="1"/>
            <a:r>
              <a:rPr lang="en-US" altLang="zh-CN">
                <a:latin typeface="Helvetica" charset="0"/>
                <a:ea typeface="MS PGothic" charset="-128"/>
              </a:rPr>
              <a:t>Each operation consists of (1) a read, (2) an addition/subtraction, and (3) a write </a:t>
            </a:r>
          </a:p>
          <a:p>
            <a:pPr eaLnBrk="1" hangingPunct="1"/>
            <a:r>
              <a:rPr lang="en-US" altLang="zh-CN">
                <a:latin typeface="Helvetica" charset="0"/>
                <a:ea typeface="MS PGothic" charset="-128"/>
              </a:rPr>
              <a:t>Example: A = A-100</a:t>
            </a:r>
          </a:p>
          <a:p>
            <a:pPr lvl="1" eaLnBrk="1" hangingPunct="1">
              <a:buFontTx/>
              <a:buNone/>
            </a:pPr>
            <a:endParaRPr lang="en-US" altLang="zh-CN">
              <a:latin typeface="Helvetica" charset="0"/>
              <a:ea typeface="MS PGothic" charset="-128"/>
            </a:endParaRPr>
          </a:p>
          <a:p>
            <a:pPr eaLnBrk="1" hangingPunct="1"/>
            <a:endParaRPr lang="en-US" altLang="zh-CN">
              <a:latin typeface="Helvetica" charset="0"/>
              <a:ea typeface="MS PGothic" charset="-128"/>
            </a:endParaRPr>
          </a:p>
          <a:p>
            <a:pPr eaLnBrk="1" hangingPunct="1"/>
            <a:endParaRPr lang="en-US" altLang="zh-CN">
              <a:latin typeface="Helvetica" charset="0"/>
              <a:ea typeface="MS PGothic" charset="-128"/>
            </a:endParaRPr>
          </a:p>
          <a:p>
            <a:pPr eaLnBrk="1" hangingPunct="1"/>
            <a:endParaRPr lang="en-US" altLang="zh-CN">
              <a:latin typeface="Helvetica" charset="0"/>
              <a:ea typeface="MS PGothic" charset="-128"/>
            </a:endParaRPr>
          </a:p>
        </p:txBody>
      </p:sp>
      <p:sp>
        <p:nvSpPr>
          <p:cNvPr id="47107" name="Content Placeholder 4"/>
          <p:cNvSpPr txBox="1">
            <a:spLocks/>
          </p:cNvSpPr>
          <p:nvPr/>
        </p:nvSpPr>
        <p:spPr bwMode="auto">
          <a:xfrm>
            <a:off x="1752600" y="1828800"/>
            <a:ext cx="5029200" cy="533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478" tIns="44445" rIns="90478" bIns="44445"/>
          <a:lstStyle>
            <a:lvl1pPr marL="2857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1pPr>
            <a:lvl2pPr marL="7429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2pPr>
            <a:lvl3pPr marL="11430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3pPr>
            <a:lvl4pPr marL="16002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4pPr>
            <a:lvl5pPr marL="20574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5pPr>
            <a:lvl6pPr marL="25146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6pPr>
            <a:lvl7pPr marL="29718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7pPr>
            <a:lvl8pPr marL="34290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8pPr>
            <a:lvl9pPr marL="38862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9pPr>
          </a:lstStyle>
          <a:p>
            <a:pPr>
              <a:lnSpc>
                <a:spcPct val="90000"/>
              </a:lnSpc>
              <a:spcBef>
                <a:spcPct val="30000"/>
              </a:spcBef>
              <a:buSzPct val="100000"/>
            </a:pPr>
            <a:r>
              <a:rPr lang="en-US" altLang="ko-KR" b="0">
                <a:latin typeface="Courier New" charset="0"/>
                <a:ea typeface="Gulim" charset="-127"/>
              </a:rPr>
              <a:t>T1:A := A-100; B := B+100;   </a:t>
            </a:r>
            <a:r>
              <a:rPr lang="en-US" altLang="zh-CN" b="0">
                <a:latin typeface="Courier New" charset="0"/>
                <a:ea typeface="Gulim" charset="-127"/>
              </a:rPr>
              <a:t> </a:t>
            </a:r>
            <a:endParaRPr lang="en-US" altLang="zh-CN" b="0">
              <a:latin typeface="Helvetica" charset="0"/>
            </a:endParaRPr>
          </a:p>
        </p:txBody>
      </p:sp>
      <p:sp>
        <p:nvSpPr>
          <p:cNvPr id="52228" name="Content Placeholder 4"/>
          <p:cNvSpPr txBox="1">
            <a:spLocks/>
          </p:cNvSpPr>
          <p:nvPr/>
        </p:nvSpPr>
        <p:spPr bwMode="auto">
          <a:xfrm>
            <a:off x="1219200" y="4953000"/>
            <a:ext cx="37338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78" tIns="44445" rIns="90478" bIns="44445"/>
          <a:lstStyle>
            <a:lvl1pPr marL="2857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1pPr>
            <a:lvl2pPr marL="7429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2pPr>
            <a:lvl3pPr marL="11430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3pPr>
            <a:lvl4pPr marL="16002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4pPr>
            <a:lvl5pPr marL="20574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5pPr>
            <a:lvl6pPr marL="25146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6pPr>
            <a:lvl7pPr marL="29718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7pPr>
            <a:lvl8pPr marL="34290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8pPr>
            <a:lvl9pPr marL="38862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9pPr>
          </a:lstStyle>
          <a:p>
            <a:pPr>
              <a:lnSpc>
                <a:spcPct val="90000"/>
              </a:lnSpc>
              <a:spcBef>
                <a:spcPct val="30000"/>
              </a:spcBef>
              <a:buSzPct val="100000"/>
            </a:pPr>
            <a:r>
              <a:rPr lang="en-US" altLang="ko-KR" b="0">
                <a:latin typeface="Courier New" charset="0"/>
                <a:ea typeface="Gulim" charset="-127"/>
              </a:rPr>
              <a:t>Read(A); // R(A)</a:t>
            </a:r>
          </a:p>
          <a:p>
            <a:pPr>
              <a:lnSpc>
                <a:spcPct val="90000"/>
              </a:lnSpc>
              <a:spcBef>
                <a:spcPct val="30000"/>
              </a:spcBef>
              <a:buSzPct val="100000"/>
            </a:pPr>
            <a:r>
              <a:rPr lang="en-US" altLang="ko-KR" b="0">
                <a:latin typeface="Courier New" charset="0"/>
                <a:ea typeface="Gulim" charset="-127"/>
              </a:rPr>
              <a:t>A := A – 100;</a:t>
            </a:r>
          </a:p>
          <a:p>
            <a:pPr>
              <a:lnSpc>
                <a:spcPct val="90000"/>
              </a:lnSpc>
              <a:spcBef>
                <a:spcPct val="30000"/>
              </a:spcBef>
              <a:buSzPct val="100000"/>
            </a:pPr>
            <a:r>
              <a:rPr lang="en-US" altLang="ko-KR" b="0">
                <a:latin typeface="Courier New" charset="0"/>
                <a:ea typeface="Gulim" charset="-127"/>
              </a:rPr>
              <a:t>Write(A)</a:t>
            </a:r>
            <a:r>
              <a:rPr lang="en-US" altLang="ko-KR" b="0">
                <a:latin typeface="Courier New" charset="0"/>
                <a:ea typeface="Gulim" charset="-127"/>
                <a:sym typeface="Wingdings" charset="2"/>
              </a:rPr>
              <a:t>; // W(A)</a:t>
            </a:r>
            <a:endParaRPr lang="en-US" altLang="ko-KR" b="0">
              <a:latin typeface="Courier New" charset="0"/>
              <a:ea typeface="Gulim" charset="-127"/>
            </a:endParaRPr>
          </a:p>
        </p:txBody>
      </p:sp>
      <p:sp>
        <p:nvSpPr>
          <p:cNvPr id="47109" name="Content Placeholder 4"/>
          <p:cNvSpPr txBox="1">
            <a:spLocks/>
          </p:cNvSpPr>
          <p:nvPr/>
        </p:nvSpPr>
        <p:spPr bwMode="auto">
          <a:xfrm>
            <a:off x="1752600" y="3048000"/>
            <a:ext cx="5029200" cy="533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478" tIns="44445" rIns="90478" bIns="44445"/>
          <a:lstStyle>
            <a:lvl1pPr marL="2857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1pPr>
            <a:lvl2pPr marL="7429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2pPr>
            <a:lvl3pPr marL="11430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3pPr>
            <a:lvl4pPr marL="16002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4pPr>
            <a:lvl5pPr marL="20574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5pPr>
            <a:lvl6pPr marL="25146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6pPr>
            <a:lvl7pPr marL="29718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7pPr>
            <a:lvl8pPr marL="34290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8pPr>
            <a:lvl9pPr marL="38862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9pPr>
          </a:lstStyle>
          <a:p>
            <a:pPr>
              <a:lnSpc>
                <a:spcPct val="90000"/>
              </a:lnSpc>
              <a:spcBef>
                <a:spcPct val="30000"/>
              </a:spcBef>
              <a:buSzPct val="100000"/>
            </a:pPr>
            <a:r>
              <a:rPr lang="en-US" altLang="ko-KR" b="0">
                <a:latin typeface="Courier New" charset="0"/>
                <a:ea typeface="Gulim" charset="-127"/>
              </a:rPr>
              <a:t>T2:A := A+50;  B := B-50;   </a:t>
            </a:r>
            <a:r>
              <a:rPr lang="en-US" altLang="zh-CN" b="0">
                <a:latin typeface="Courier New" charset="0"/>
                <a:ea typeface="Gulim" charset="-127"/>
              </a:rPr>
              <a:t> </a:t>
            </a:r>
            <a:endParaRPr lang="en-US" altLang="zh-CN" b="0">
              <a:latin typeface="Helvetica" charset="0"/>
            </a:endParaRPr>
          </a:p>
        </p:txBody>
      </p:sp>
    </p:spTree>
    <p:extLst>
      <p:ext uri="{BB962C8B-B14F-4D97-AF65-F5344CB8AC3E}">
        <p14:creationId xmlns:p14="http://schemas.microsoft.com/office/powerpoint/2010/main" val="203189785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2226">
                                            <p:txEl>
                                              <p:pRg st="7" end="7"/>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2226">
                                            <p:txEl>
                                              <p:pRg st="8" end="8"/>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22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ChangeArrowheads="1"/>
          </p:cNvSpPr>
          <p:nvPr>
            <p:ph type="title"/>
          </p:nvPr>
        </p:nvSpPr>
        <p:spPr>
          <a:xfrm>
            <a:off x="723900" y="-15766"/>
            <a:ext cx="7772400" cy="1143000"/>
          </a:xfrm>
        </p:spPr>
        <p:txBody>
          <a:bodyPr lIns="90488" tIns="44450" rIns="90488" bIns="44450"/>
          <a:lstStyle/>
          <a:p>
            <a:pPr eaLnBrk="1" hangingPunct="1"/>
            <a:r>
              <a:rPr lang="en-US" altLang="zh-CN" dirty="0">
                <a:latin typeface="Tahoma" charset="0"/>
                <a:ea typeface="MS PGothic" charset="-128"/>
              </a:rPr>
              <a:t>Database Locks</a:t>
            </a:r>
          </a:p>
        </p:txBody>
      </p:sp>
      <p:sp>
        <p:nvSpPr>
          <p:cNvPr id="6147" name="Rectangle 3"/>
          <p:cNvSpPr>
            <a:spLocks noGrp="1" noChangeArrowheads="1"/>
          </p:cNvSpPr>
          <p:nvPr>
            <p:ph idx="1"/>
          </p:nvPr>
        </p:nvSpPr>
        <p:spPr>
          <a:xfrm>
            <a:off x="304800" y="1219200"/>
            <a:ext cx="8610600" cy="4876800"/>
          </a:xfrm>
        </p:spPr>
        <p:txBody>
          <a:bodyPr lIns="90488" tIns="44450" rIns="90488" bIns="44450"/>
          <a:lstStyle/>
          <a:p>
            <a:pPr eaLnBrk="1" hangingPunct="1">
              <a:lnSpc>
                <a:spcPct val="100000"/>
              </a:lnSpc>
            </a:pPr>
            <a:r>
              <a:rPr lang="en-US" altLang="zh-CN">
                <a:latin typeface="Tahoma" charset="0"/>
                <a:ea typeface="MS PGothic" charset="-128"/>
              </a:rPr>
              <a:t>A </a:t>
            </a:r>
            <a:r>
              <a:rPr lang="en-US" altLang="en-US">
                <a:latin typeface="Tahoma" charset="0"/>
                <a:ea typeface="MS PGothic" charset="-128"/>
              </a:rPr>
              <a:t>“</a:t>
            </a:r>
            <a:r>
              <a:rPr lang="en-US" altLang="zh-CN">
                <a:latin typeface="Tahoma" charset="0"/>
                <a:ea typeface="MS PGothic" charset="-128"/>
              </a:rPr>
              <a:t>lock</a:t>
            </a:r>
            <a:r>
              <a:rPr lang="en-US" altLang="en-US">
                <a:latin typeface="Tahoma" charset="0"/>
                <a:ea typeface="MS PGothic" charset="-128"/>
              </a:rPr>
              <a:t>”</a:t>
            </a:r>
            <a:r>
              <a:rPr lang="en-US" altLang="zh-CN">
                <a:latin typeface="Tahoma" charset="0"/>
                <a:ea typeface="MS PGothic" charset="-128"/>
              </a:rPr>
              <a:t> in a DB is a higher-level construct than in an OS. </a:t>
            </a:r>
          </a:p>
          <a:p>
            <a:pPr eaLnBrk="1" hangingPunct="1">
              <a:lnSpc>
                <a:spcPct val="100000"/>
              </a:lnSpc>
            </a:pPr>
            <a:endParaRPr lang="en-US" altLang="zh-CN">
              <a:latin typeface="Tahoma" charset="0"/>
              <a:ea typeface="MS PGothic" charset="-128"/>
            </a:endParaRPr>
          </a:p>
          <a:p>
            <a:pPr eaLnBrk="1" hangingPunct="1">
              <a:lnSpc>
                <a:spcPct val="100000"/>
              </a:lnSpc>
            </a:pPr>
            <a:r>
              <a:rPr lang="en-US" altLang="zh-CN">
                <a:latin typeface="Tahoma" charset="0"/>
                <a:ea typeface="MS PGothic" charset="-128"/>
              </a:rPr>
              <a:t>Think of it as a Readers-Writers Monitor. Why?</a:t>
            </a:r>
          </a:p>
          <a:p>
            <a:pPr eaLnBrk="1" hangingPunct="1">
              <a:lnSpc>
                <a:spcPct val="100000"/>
              </a:lnSpc>
            </a:pPr>
            <a:endParaRPr lang="en-US" altLang="zh-CN">
              <a:latin typeface="Tahoma" charset="0"/>
              <a:ea typeface="MS PGothic" charset="-128"/>
            </a:endParaRPr>
          </a:p>
          <a:p>
            <a:pPr eaLnBrk="1" hangingPunct="1">
              <a:lnSpc>
                <a:spcPct val="100000"/>
              </a:lnSpc>
            </a:pPr>
            <a:r>
              <a:rPr lang="en-US" altLang="zh-CN">
                <a:latin typeface="Tahoma" charset="0"/>
                <a:ea typeface="MS PGothic" charset="-128"/>
              </a:rPr>
              <a:t>Locks are handled by a lock manager process, and involve updates to a lock table accessible to all clients. </a:t>
            </a:r>
          </a:p>
          <a:p>
            <a:pPr eaLnBrk="1" hangingPunct="1">
              <a:lnSpc>
                <a:spcPct val="100000"/>
              </a:lnSpc>
            </a:pPr>
            <a:endParaRPr lang="en-US" altLang="zh-CN">
              <a:latin typeface="Tahoma" charset="0"/>
              <a:ea typeface="MS PGothic" charset="-128"/>
            </a:endParaRPr>
          </a:p>
          <a:p>
            <a:pPr eaLnBrk="1" hangingPunct="1">
              <a:lnSpc>
                <a:spcPct val="100000"/>
              </a:lnSpc>
            </a:pPr>
            <a:r>
              <a:rPr lang="en-US" altLang="zh-CN">
                <a:latin typeface="Tahoma" charset="0"/>
                <a:ea typeface="MS PGothic" charset="-128"/>
              </a:rPr>
              <a:t>Setting and releasing locks is a relatively expensive process.</a:t>
            </a:r>
          </a:p>
        </p:txBody>
      </p:sp>
      <p:sp>
        <p:nvSpPr>
          <p:cNvPr id="32771" name="Footer Placeholder 3"/>
          <p:cNvSpPr>
            <a:spLocks noGrp="1"/>
          </p:cNvSpPr>
          <p:nvPr>
            <p:ph type="ftr" sz="quarter" idx="4294967295"/>
          </p:nvPr>
        </p:nvSpPr>
        <p:spPr bwMode="auto">
          <a:xfrm>
            <a:off x="0" y="6453188"/>
            <a:ext cx="2895600" cy="403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endParaRPr lang="en-US" altLang="zh-CN" sz="1200">
              <a:latin typeface="Times New Roman" charset="0"/>
            </a:endParaRPr>
          </a:p>
          <a:p>
            <a:endParaRPr lang="en-US" altLang="zh-CN" sz="1200">
              <a:solidFill>
                <a:schemeClr val="tx2"/>
              </a:solidFill>
              <a:latin typeface="Times New Roman" charset="0"/>
            </a:endParaRPr>
          </a:p>
        </p:txBody>
      </p:sp>
    </p:spTree>
    <p:extLst>
      <p:ext uri="{BB962C8B-B14F-4D97-AF65-F5344CB8AC3E}">
        <p14:creationId xmlns:p14="http://schemas.microsoft.com/office/powerpoint/2010/main" val="1566640650"/>
      </p:ext>
    </p:extLst>
  </p:cSld>
  <p:clrMapOvr>
    <a:masterClrMapping/>
  </p:clrMapOvr>
  <p:transition>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47">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4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4"/>
          <p:cNvSpPr>
            <a:spLocks noGrp="1"/>
          </p:cNvSpPr>
          <p:nvPr>
            <p:ph type="title"/>
          </p:nvPr>
        </p:nvSpPr>
        <p:spPr/>
        <p:txBody>
          <a:bodyPr/>
          <a:lstStyle/>
          <a:p>
            <a:pPr eaLnBrk="1" hangingPunct="1"/>
            <a:r>
              <a:rPr lang="en-US" altLang="zh-CN">
                <a:latin typeface="Helvetica" charset="0"/>
                <a:ea typeface="MS PGothic" charset="-128"/>
              </a:rPr>
              <a:t>Locking Granularity</a:t>
            </a:r>
          </a:p>
        </p:txBody>
      </p:sp>
      <p:sp>
        <p:nvSpPr>
          <p:cNvPr id="34818" name="Content Placeholder 5"/>
          <p:cNvSpPr>
            <a:spLocks noGrp="1"/>
          </p:cNvSpPr>
          <p:nvPr>
            <p:ph idx="1"/>
          </p:nvPr>
        </p:nvSpPr>
        <p:spPr>
          <a:xfrm>
            <a:off x="609600" y="914400"/>
            <a:ext cx="7924800" cy="5486400"/>
          </a:xfrm>
        </p:spPr>
        <p:txBody>
          <a:bodyPr/>
          <a:lstStyle/>
          <a:p>
            <a:pPr eaLnBrk="1" hangingPunct="1"/>
            <a:r>
              <a:rPr lang="en-US" altLang="zh-CN" dirty="0">
                <a:latin typeface="Helvetica" charset="0"/>
                <a:ea typeface="MS PGothic" charset="-128"/>
              </a:rPr>
              <a:t>What granularity to lock?</a:t>
            </a:r>
          </a:p>
          <a:p>
            <a:pPr lvl="1" eaLnBrk="1" hangingPunct="1"/>
            <a:r>
              <a:rPr lang="en-US" altLang="zh-CN" dirty="0">
                <a:latin typeface="Helvetica" charset="0"/>
                <a:ea typeface="MS PGothic" charset="-128"/>
              </a:rPr>
              <a:t>Database</a:t>
            </a:r>
          </a:p>
          <a:p>
            <a:pPr lvl="1" eaLnBrk="1" hangingPunct="1"/>
            <a:r>
              <a:rPr lang="en-US" altLang="zh-CN" dirty="0">
                <a:latin typeface="Helvetica" charset="0"/>
                <a:ea typeface="MS PGothic" charset="-128"/>
              </a:rPr>
              <a:t>Tables</a:t>
            </a:r>
          </a:p>
          <a:p>
            <a:pPr lvl="1" eaLnBrk="1" hangingPunct="1"/>
            <a:r>
              <a:rPr lang="en-US" altLang="zh-CN" dirty="0">
                <a:latin typeface="Helvetica" charset="0"/>
                <a:ea typeface="MS PGothic" charset="-128"/>
              </a:rPr>
              <a:t>Rows</a:t>
            </a:r>
          </a:p>
          <a:p>
            <a:pPr eaLnBrk="1" hangingPunct="1"/>
            <a:endParaRPr lang="en-US" altLang="zh-CN" dirty="0">
              <a:latin typeface="Helvetica" charset="0"/>
              <a:ea typeface="MS PGothic" charset="-128"/>
            </a:endParaRPr>
          </a:p>
          <a:p>
            <a:pPr eaLnBrk="1" hangingPunct="1"/>
            <a:endParaRPr lang="en-US" altLang="zh-CN" dirty="0">
              <a:latin typeface="Helvetica" charset="0"/>
              <a:ea typeface="MS PGothic" charset="-128"/>
            </a:endParaRPr>
          </a:p>
          <a:p>
            <a:pPr eaLnBrk="1" hangingPunct="1"/>
            <a:endParaRPr lang="en-US" altLang="zh-CN" dirty="0">
              <a:latin typeface="Helvetica" charset="0"/>
              <a:ea typeface="MS PGothic" charset="-128"/>
            </a:endParaRPr>
          </a:p>
          <a:p>
            <a:pPr eaLnBrk="1" hangingPunct="1"/>
            <a:r>
              <a:rPr lang="en-US" altLang="zh-CN" dirty="0">
                <a:latin typeface="Helvetica" charset="0"/>
                <a:ea typeface="MS PGothic" charset="-128"/>
              </a:rPr>
              <a:t>Fine granularity (e.g., row) </a:t>
            </a:r>
            <a:r>
              <a:rPr lang="en-US" altLang="zh-CN" dirty="0">
                <a:latin typeface="Helvetica" charset="0"/>
                <a:ea typeface="MS PGothic" charset="-128"/>
                <a:sym typeface="Wingdings" charset="2"/>
              </a:rPr>
              <a:t> high concurrency</a:t>
            </a:r>
          </a:p>
          <a:p>
            <a:pPr lvl="1" eaLnBrk="1" hangingPunct="1"/>
            <a:r>
              <a:rPr lang="en-US" altLang="zh-CN" dirty="0">
                <a:latin typeface="Helvetica" charset="0"/>
                <a:ea typeface="MS PGothic" charset="-128"/>
                <a:sym typeface="Wingdings" charset="2"/>
              </a:rPr>
              <a:t>Multiple users can update the database and same table simultaneously</a:t>
            </a:r>
          </a:p>
          <a:p>
            <a:pPr eaLnBrk="1" hangingPunct="1"/>
            <a:r>
              <a:rPr lang="en-US" altLang="zh-CN" dirty="0">
                <a:latin typeface="Helvetica" charset="0"/>
                <a:ea typeface="MS PGothic" charset="-128"/>
                <a:sym typeface="Wingdings" charset="2"/>
              </a:rPr>
              <a:t>Coarse granularity (e.g., database, table)  simple, but low concurrency</a:t>
            </a:r>
          </a:p>
          <a:p>
            <a:r>
              <a:rPr lang="en-US" altLang="zh-CN" dirty="0">
                <a:latin typeface="Helvetica" charset="0"/>
                <a:ea typeface="MS PGothic" charset="-128"/>
                <a:sym typeface="Wingdings" charset="2"/>
              </a:rPr>
              <a:t>Provide  the same semantics as clients were running one at a time</a:t>
            </a:r>
          </a:p>
        </p:txBody>
      </p:sp>
      <p:sp>
        <p:nvSpPr>
          <p:cNvPr id="34819" name="Rectangle 6"/>
          <p:cNvSpPr>
            <a:spLocks noChangeArrowheads="1"/>
          </p:cNvSpPr>
          <p:nvPr/>
        </p:nvSpPr>
        <p:spPr bwMode="auto">
          <a:xfrm>
            <a:off x="4876800" y="1066800"/>
            <a:ext cx="3657600" cy="2590800"/>
          </a:xfrm>
          <a:prstGeom prst="rect">
            <a:avLst/>
          </a:prstGeom>
          <a:solidFill>
            <a:srgbClr val="FFFFAA"/>
          </a:solidFill>
          <a:ln w="25400">
            <a:solidFill>
              <a:schemeClr val="tx1"/>
            </a:solidFill>
            <a:round/>
            <a:headEnd type="triangle" w="med" len="med"/>
            <a:tailEnd/>
          </a:ln>
        </p:spPr>
        <p:txBody>
          <a:bodyPr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algn="ctr" eaLnBrk="1" hangingPunct="1"/>
            <a:endParaRPr lang="zh-CN" altLang="zh-CN" b="0">
              <a:latin typeface="Helvetica" charset="0"/>
            </a:endParaRPr>
          </a:p>
        </p:txBody>
      </p:sp>
      <p:sp>
        <p:nvSpPr>
          <p:cNvPr id="8" name="Rectangle 7"/>
          <p:cNvSpPr/>
          <p:nvPr/>
        </p:nvSpPr>
        <p:spPr bwMode="auto">
          <a:xfrm>
            <a:off x="5029200" y="1447800"/>
            <a:ext cx="1219200" cy="762000"/>
          </a:xfrm>
          <a:prstGeom prst="rect">
            <a:avLst/>
          </a:prstGeom>
          <a:solidFill>
            <a:schemeClr val="accent1">
              <a:lumMod val="60000"/>
              <a:lumOff val="40000"/>
            </a:schemeClr>
          </a:solidFill>
          <a:ln w="25400" cap="flat" cmpd="sng" algn="ctr">
            <a:solidFill>
              <a:schemeClr val="tx1"/>
            </a:solidFill>
            <a:prstDash val="solid"/>
            <a:round/>
            <a:headEnd type="triangle" w="med" len="med"/>
            <a:tailEnd type="none" w="med" len="med"/>
          </a:ln>
          <a:effectLst/>
        </p:spPr>
        <p:txBody>
          <a:bodyPr anchor="ctr"/>
          <a:lstStyle/>
          <a:p>
            <a:pPr algn="ctr">
              <a:defRPr/>
            </a:pPr>
            <a:endParaRPr lang="en-US" b="0" dirty="0">
              <a:latin typeface="Helvetica"/>
              <a:ea typeface="ＭＳ Ｐゴシック" charset="-128"/>
              <a:cs typeface="Helvetica"/>
            </a:endParaRPr>
          </a:p>
        </p:txBody>
      </p:sp>
      <p:sp>
        <p:nvSpPr>
          <p:cNvPr id="9" name="Rectangle 8"/>
          <p:cNvSpPr/>
          <p:nvPr/>
        </p:nvSpPr>
        <p:spPr bwMode="auto">
          <a:xfrm>
            <a:off x="5029200" y="2590800"/>
            <a:ext cx="1524000" cy="838200"/>
          </a:xfrm>
          <a:prstGeom prst="rect">
            <a:avLst/>
          </a:prstGeom>
          <a:solidFill>
            <a:schemeClr val="accent1">
              <a:lumMod val="60000"/>
              <a:lumOff val="40000"/>
            </a:schemeClr>
          </a:solidFill>
          <a:ln w="25400" cap="flat" cmpd="sng" algn="ctr">
            <a:solidFill>
              <a:schemeClr val="tx1"/>
            </a:solidFill>
            <a:prstDash val="solid"/>
            <a:round/>
            <a:headEnd type="triangle" w="med" len="med"/>
            <a:tailEnd type="none" w="med" len="med"/>
          </a:ln>
          <a:effectLst/>
        </p:spPr>
        <p:txBody>
          <a:bodyPr anchor="ctr"/>
          <a:lstStyle/>
          <a:p>
            <a:pPr algn="ctr">
              <a:defRPr/>
            </a:pPr>
            <a:endParaRPr lang="en-US" b="0" dirty="0">
              <a:latin typeface="Helvetica"/>
              <a:ea typeface="ＭＳ Ｐゴシック" charset="-128"/>
              <a:cs typeface="Helvetica"/>
            </a:endParaRPr>
          </a:p>
        </p:txBody>
      </p:sp>
      <p:sp>
        <p:nvSpPr>
          <p:cNvPr id="10" name="Rectangle 9"/>
          <p:cNvSpPr/>
          <p:nvPr/>
        </p:nvSpPr>
        <p:spPr bwMode="auto">
          <a:xfrm>
            <a:off x="6934200" y="1371600"/>
            <a:ext cx="1295400" cy="838200"/>
          </a:xfrm>
          <a:prstGeom prst="rect">
            <a:avLst/>
          </a:prstGeom>
          <a:solidFill>
            <a:schemeClr val="accent1">
              <a:lumMod val="60000"/>
              <a:lumOff val="40000"/>
            </a:schemeClr>
          </a:solidFill>
          <a:ln w="25400" cap="flat" cmpd="sng" algn="ctr">
            <a:solidFill>
              <a:schemeClr val="tx1"/>
            </a:solidFill>
            <a:prstDash val="solid"/>
            <a:round/>
            <a:headEnd type="triangle" w="med" len="med"/>
            <a:tailEnd type="none" w="med" len="med"/>
          </a:ln>
          <a:effectLst/>
        </p:spPr>
        <p:txBody>
          <a:bodyPr anchor="ctr"/>
          <a:lstStyle/>
          <a:p>
            <a:pPr algn="ctr">
              <a:defRPr/>
            </a:pPr>
            <a:endParaRPr lang="en-US" b="0" dirty="0">
              <a:latin typeface="Helvetica"/>
              <a:ea typeface="ＭＳ Ｐゴシック" charset="-128"/>
              <a:cs typeface="Helvetica"/>
            </a:endParaRPr>
          </a:p>
        </p:txBody>
      </p:sp>
      <p:sp>
        <p:nvSpPr>
          <p:cNvPr id="11" name="Rectangle 10"/>
          <p:cNvSpPr/>
          <p:nvPr/>
        </p:nvSpPr>
        <p:spPr bwMode="auto">
          <a:xfrm>
            <a:off x="7086600" y="2590800"/>
            <a:ext cx="838200" cy="838200"/>
          </a:xfrm>
          <a:prstGeom prst="rect">
            <a:avLst/>
          </a:prstGeom>
          <a:solidFill>
            <a:schemeClr val="accent1">
              <a:lumMod val="60000"/>
              <a:lumOff val="40000"/>
            </a:schemeClr>
          </a:solidFill>
          <a:ln w="25400" cap="flat" cmpd="sng" algn="ctr">
            <a:solidFill>
              <a:schemeClr val="tx1"/>
            </a:solidFill>
            <a:prstDash val="solid"/>
            <a:round/>
            <a:headEnd type="triangle" w="med" len="med"/>
            <a:tailEnd type="none" w="med" len="med"/>
          </a:ln>
          <a:effectLst/>
        </p:spPr>
        <p:txBody>
          <a:bodyPr anchor="ctr"/>
          <a:lstStyle/>
          <a:p>
            <a:pPr algn="ctr">
              <a:defRPr/>
            </a:pPr>
            <a:endParaRPr lang="en-US" b="0" dirty="0">
              <a:latin typeface="Helvetica"/>
              <a:ea typeface="ＭＳ Ｐゴシック" charset="-128"/>
              <a:cs typeface="Helvetica"/>
            </a:endParaRPr>
          </a:p>
        </p:txBody>
      </p:sp>
      <p:sp>
        <p:nvSpPr>
          <p:cNvPr id="34824" name="Rectangle 11"/>
          <p:cNvSpPr>
            <a:spLocks noChangeArrowheads="1"/>
          </p:cNvSpPr>
          <p:nvPr/>
        </p:nvSpPr>
        <p:spPr bwMode="auto">
          <a:xfrm>
            <a:off x="5029200" y="1600200"/>
            <a:ext cx="1219200" cy="228600"/>
          </a:xfrm>
          <a:prstGeom prst="rect">
            <a:avLst/>
          </a:prstGeom>
          <a:solidFill>
            <a:srgbClr val="FF0000"/>
          </a:solidFill>
          <a:ln w="25400">
            <a:solidFill>
              <a:schemeClr val="tx1"/>
            </a:solidFill>
            <a:round/>
            <a:headEnd type="triangle" w="med" len="med"/>
            <a:tailEnd/>
          </a:ln>
        </p:spPr>
        <p:txBody>
          <a:bodyPr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algn="ctr" eaLnBrk="1" hangingPunct="1"/>
            <a:endParaRPr lang="zh-CN" altLang="zh-CN" b="0">
              <a:latin typeface="Helvetica" charset="0"/>
            </a:endParaRPr>
          </a:p>
        </p:txBody>
      </p:sp>
      <p:sp>
        <p:nvSpPr>
          <p:cNvPr id="34825" name="TextBox 12"/>
          <p:cNvSpPr txBox="1">
            <a:spLocks noChangeArrowheads="1"/>
          </p:cNvSpPr>
          <p:nvPr/>
        </p:nvSpPr>
        <p:spPr bwMode="auto">
          <a:xfrm>
            <a:off x="4876800" y="685800"/>
            <a:ext cx="1282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sz="2000" b="0">
                <a:latin typeface="Helvetica" charset="0"/>
              </a:rPr>
              <a:t>Database</a:t>
            </a:r>
          </a:p>
        </p:txBody>
      </p:sp>
      <p:sp>
        <p:nvSpPr>
          <p:cNvPr id="34826" name="TextBox 13"/>
          <p:cNvSpPr txBox="1">
            <a:spLocks noChangeArrowheads="1"/>
          </p:cNvSpPr>
          <p:nvPr/>
        </p:nvSpPr>
        <p:spPr bwMode="auto">
          <a:xfrm>
            <a:off x="4953000" y="1047750"/>
            <a:ext cx="10112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sz="2000" b="0">
                <a:latin typeface="Helvetica" charset="0"/>
              </a:rPr>
              <a:t>Table 1</a:t>
            </a:r>
          </a:p>
        </p:txBody>
      </p:sp>
      <p:sp>
        <p:nvSpPr>
          <p:cNvPr id="34827" name="TextBox 14"/>
          <p:cNvSpPr txBox="1">
            <a:spLocks noChangeArrowheads="1"/>
          </p:cNvSpPr>
          <p:nvPr/>
        </p:nvSpPr>
        <p:spPr bwMode="auto">
          <a:xfrm>
            <a:off x="4953000" y="1504950"/>
            <a:ext cx="711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sz="2000" b="0">
                <a:solidFill>
                  <a:schemeClr val="bg1"/>
                </a:solidFill>
                <a:latin typeface="Helvetica" charset="0"/>
              </a:rPr>
              <a:t>Row</a:t>
            </a:r>
          </a:p>
        </p:txBody>
      </p:sp>
      <p:sp>
        <p:nvSpPr>
          <p:cNvPr id="34828" name="TextBox 15"/>
          <p:cNvSpPr txBox="1">
            <a:spLocks noChangeArrowheads="1"/>
          </p:cNvSpPr>
          <p:nvPr/>
        </p:nvSpPr>
        <p:spPr bwMode="auto">
          <a:xfrm>
            <a:off x="4953000" y="2209800"/>
            <a:ext cx="10112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sz="2000" b="0">
                <a:latin typeface="Helvetica" charset="0"/>
              </a:rPr>
              <a:t>Table 2</a:t>
            </a:r>
          </a:p>
        </p:txBody>
      </p:sp>
      <p:sp>
        <p:nvSpPr>
          <p:cNvPr id="34829" name="TextBox 16"/>
          <p:cNvSpPr txBox="1">
            <a:spLocks noChangeArrowheads="1"/>
          </p:cNvSpPr>
          <p:nvPr/>
        </p:nvSpPr>
        <p:spPr bwMode="auto">
          <a:xfrm>
            <a:off x="6934200" y="2209800"/>
            <a:ext cx="10112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sz="2000" b="0">
                <a:latin typeface="Helvetica" charset="0"/>
              </a:rPr>
              <a:t>Table 4</a:t>
            </a:r>
          </a:p>
        </p:txBody>
      </p:sp>
      <p:sp>
        <p:nvSpPr>
          <p:cNvPr id="34830" name="TextBox 17"/>
          <p:cNvSpPr txBox="1">
            <a:spLocks noChangeArrowheads="1"/>
          </p:cNvSpPr>
          <p:nvPr/>
        </p:nvSpPr>
        <p:spPr bwMode="auto">
          <a:xfrm>
            <a:off x="6858000" y="990600"/>
            <a:ext cx="10112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sz="2000" b="0">
                <a:latin typeface="Helvetica" charset="0"/>
              </a:rPr>
              <a:t>Table 3</a:t>
            </a:r>
          </a:p>
        </p:txBody>
      </p:sp>
    </p:spTree>
    <p:extLst>
      <p:ext uri="{BB962C8B-B14F-4D97-AF65-F5344CB8AC3E}">
        <p14:creationId xmlns:p14="http://schemas.microsoft.com/office/powerpoint/2010/main" val="1967464935"/>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p:cNvSpPr>
            <a:spLocks noGrp="1"/>
          </p:cNvSpPr>
          <p:nvPr>
            <p:ph type="title"/>
          </p:nvPr>
        </p:nvSpPr>
        <p:spPr>
          <a:xfrm>
            <a:off x="457200" y="152400"/>
            <a:ext cx="8382000" cy="533400"/>
          </a:xfrm>
        </p:spPr>
        <p:txBody>
          <a:bodyPr/>
          <a:lstStyle/>
          <a:p>
            <a:pPr eaLnBrk="1" hangingPunct="1"/>
            <a:r>
              <a:rPr lang="en-US" altLang="zh-CN">
                <a:latin typeface="Helvetica" charset="0"/>
                <a:ea typeface="MS PGothic" charset="-128"/>
              </a:rPr>
              <a:t>Goals of Transaction Scheduling</a:t>
            </a:r>
          </a:p>
        </p:txBody>
      </p:sp>
      <p:sp>
        <p:nvSpPr>
          <p:cNvPr id="52226" name="Content Placeholder 2"/>
          <p:cNvSpPr>
            <a:spLocks noGrp="1"/>
          </p:cNvSpPr>
          <p:nvPr>
            <p:ph idx="1"/>
          </p:nvPr>
        </p:nvSpPr>
        <p:spPr>
          <a:xfrm>
            <a:off x="228600" y="1066800"/>
            <a:ext cx="8610600" cy="2438400"/>
          </a:xfrm>
        </p:spPr>
        <p:txBody>
          <a:bodyPr/>
          <a:lstStyle/>
          <a:p>
            <a:pPr eaLnBrk="1" hangingPunct="1"/>
            <a:r>
              <a:rPr lang="en-US" altLang="zh-CN">
                <a:latin typeface="Helvetica" charset="0"/>
                <a:ea typeface="MS PGothic" charset="-128"/>
              </a:rPr>
              <a:t>Maximize system utilization, i.e., concurrency</a:t>
            </a:r>
          </a:p>
          <a:p>
            <a:pPr lvl="1" eaLnBrk="1" hangingPunct="1"/>
            <a:r>
              <a:rPr lang="en-US" altLang="zh-CN">
                <a:latin typeface="Helvetica" charset="0"/>
                <a:ea typeface="MS PGothic" charset="-128"/>
              </a:rPr>
              <a:t>Interleave operations from different transactions</a:t>
            </a:r>
          </a:p>
          <a:p>
            <a:pPr eaLnBrk="1" hangingPunct="1"/>
            <a:endParaRPr lang="en-US" altLang="zh-CN">
              <a:latin typeface="Helvetica" charset="0"/>
              <a:ea typeface="MS PGothic" charset="-128"/>
            </a:endParaRPr>
          </a:p>
          <a:p>
            <a:pPr eaLnBrk="1" hangingPunct="1"/>
            <a:r>
              <a:rPr lang="en-US" altLang="zh-CN">
                <a:latin typeface="Helvetica" charset="0"/>
                <a:ea typeface="MS PGothic" charset="-128"/>
              </a:rPr>
              <a:t>Preserve transaction semantics</a:t>
            </a:r>
          </a:p>
          <a:p>
            <a:pPr lvl="1" eaLnBrk="1" hangingPunct="1"/>
            <a:r>
              <a:rPr lang="en-US" altLang="zh-CN">
                <a:latin typeface="Helvetica" charset="0"/>
                <a:ea typeface="MS PGothic" charset="-128"/>
              </a:rPr>
              <a:t>Semantically equivalent to a </a:t>
            </a:r>
            <a:r>
              <a:rPr lang="en-US" altLang="zh-CN" b="1">
                <a:latin typeface="Helvetica" charset="0"/>
                <a:ea typeface="MS PGothic" charset="-128"/>
              </a:rPr>
              <a:t>serial schedule</a:t>
            </a:r>
            <a:r>
              <a:rPr lang="en-US" altLang="zh-CN">
                <a:latin typeface="Helvetica" charset="0"/>
                <a:ea typeface="MS PGothic" charset="-128"/>
              </a:rPr>
              <a:t>, i.e., one transaction runs at a time </a:t>
            </a:r>
          </a:p>
          <a:p>
            <a:pPr lvl="1" eaLnBrk="1" hangingPunct="1">
              <a:buFontTx/>
              <a:buNone/>
            </a:pPr>
            <a:endParaRPr lang="en-US" altLang="zh-CN">
              <a:latin typeface="Helvetica" charset="0"/>
              <a:ea typeface="MS PGothic" charset="-128"/>
            </a:endParaRPr>
          </a:p>
          <a:p>
            <a:pPr lvl="1" eaLnBrk="1" hangingPunct="1">
              <a:buFontTx/>
              <a:buNone/>
            </a:pPr>
            <a:endParaRPr lang="en-US" altLang="zh-CN">
              <a:latin typeface="Helvetica" charset="0"/>
              <a:ea typeface="MS PGothic" charset="-128"/>
            </a:endParaRPr>
          </a:p>
          <a:p>
            <a:pPr eaLnBrk="1" hangingPunct="1"/>
            <a:endParaRPr lang="en-US" altLang="zh-CN">
              <a:latin typeface="Helvetica" charset="0"/>
              <a:ea typeface="MS PGothic" charset="-128"/>
            </a:endParaRPr>
          </a:p>
        </p:txBody>
      </p:sp>
      <p:sp>
        <p:nvSpPr>
          <p:cNvPr id="52227" name="TextBox 3"/>
          <p:cNvSpPr txBox="1">
            <a:spLocks noChangeArrowheads="1"/>
          </p:cNvSpPr>
          <p:nvPr/>
        </p:nvSpPr>
        <p:spPr bwMode="auto">
          <a:xfrm>
            <a:off x="1839913" y="3581400"/>
            <a:ext cx="22748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a:solidFill>
                  <a:srgbClr val="FF0000"/>
                </a:solidFill>
                <a:latin typeface="Helvetica" charset="0"/>
              </a:rPr>
              <a:t>T1:</a:t>
            </a:r>
            <a:r>
              <a:rPr lang="en-US" altLang="zh-CN" b="0">
                <a:solidFill>
                  <a:srgbClr val="FF0000"/>
                </a:solidFill>
                <a:latin typeface="Helvetica" charset="0"/>
              </a:rPr>
              <a:t> R, W, R, W</a:t>
            </a:r>
          </a:p>
        </p:txBody>
      </p:sp>
      <p:sp>
        <p:nvSpPr>
          <p:cNvPr id="52228" name="TextBox 4"/>
          <p:cNvSpPr txBox="1">
            <a:spLocks noChangeArrowheads="1"/>
          </p:cNvSpPr>
          <p:nvPr/>
        </p:nvSpPr>
        <p:spPr bwMode="auto">
          <a:xfrm>
            <a:off x="4419600" y="3576638"/>
            <a:ext cx="26590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a:solidFill>
                  <a:srgbClr val="2A40E2"/>
                </a:solidFill>
                <a:latin typeface="Helvetica" charset="0"/>
              </a:rPr>
              <a:t>T2: </a:t>
            </a:r>
            <a:r>
              <a:rPr lang="en-US" altLang="zh-CN" b="0">
                <a:solidFill>
                  <a:srgbClr val="2A40E2"/>
                </a:solidFill>
                <a:latin typeface="Helvetica" charset="0"/>
              </a:rPr>
              <a:t>R, W, R, R, W</a:t>
            </a:r>
          </a:p>
        </p:txBody>
      </p:sp>
      <p:grpSp>
        <p:nvGrpSpPr>
          <p:cNvPr id="6" name="Group 5"/>
          <p:cNvGrpSpPr>
            <a:grpSpLocks/>
          </p:cNvGrpSpPr>
          <p:nvPr/>
        </p:nvGrpSpPr>
        <p:grpSpPr bwMode="auto">
          <a:xfrm>
            <a:off x="533400" y="4495800"/>
            <a:ext cx="3810000" cy="1443038"/>
            <a:chOff x="533400" y="4495800"/>
            <a:chExt cx="3810000" cy="1443038"/>
          </a:xfrm>
        </p:grpSpPr>
        <p:sp>
          <p:nvSpPr>
            <p:cNvPr id="52235" name="TextBox 5"/>
            <p:cNvSpPr txBox="1">
              <a:spLocks noChangeArrowheads="1"/>
            </p:cNvSpPr>
            <p:nvPr/>
          </p:nvSpPr>
          <p:spPr bwMode="auto">
            <a:xfrm>
              <a:off x="533400" y="5476875"/>
              <a:ext cx="3810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triangle" w="med" len="med"/>
                  <a:tailEnd/>
                </a14:hiddenLine>
              </a:ext>
            </a:extLst>
          </p:spPr>
          <p:txBody>
            <a:bodyPr>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b="0">
                  <a:solidFill>
                    <a:srgbClr val="FF0000"/>
                  </a:solidFill>
                  <a:latin typeface="Helvetica" charset="0"/>
                </a:rPr>
                <a:t>R, W, R, W, </a:t>
              </a:r>
              <a:r>
                <a:rPr lang="en-US" altLang="zh-CN" b="0">
                  <a:solidFill>
                    <a:srgbClr val="2A40E2"/>
                  </a:solidFill>
                  <a:latin typeface="Helvetica" charset="0"/>
                </a:rPr>
                <a:t>R, W, R, R, W</a:t>
              </a:r>
            </a:p>
          </p:txBody>
        </p:sp>
        <p:sp>
          <p:nvSpPr>
            <p:cNvPr id="52236" name="TextBox 16"/>
            <p:cNvSpPr txBox="1">
              <a:spLocks noChangeArrowheads="1"/>
            </p:cNvSpPr>
            <p:nvPr/>
          </p:nvSpPr>
          <p:spPr bwMode="auto">
            <a:xfrm>
              <a:off x="533400" y="5157788"/>
              <a:ext cx="35587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triangle" w="med" len="med"/>
                  <a:tailEnd/>
                </a14:hiddenLine>
              </a:ext>
            </a:ex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sz="2000" b="0">
                  <a:latin typeface="Helvetica" charset="0"/>
                </a:rPr>
                <a:t>Serial schedule (T1, then T2):</a:t>
              </a:r>
            </a:p>
          </p:txBody>
        </p:sp>
        <p:cxnSp>
          <p:nvCxnSpPr>
            <p:cNvPr id="52237" name="Straight Arrow Connector 18"/>
            <p:cNvCxnSpPr>
              <a:cxnSpLocks noChangeShapeType="1"/>
              <a:stCxn id="52236" idx="0"/>
            </p:cNvCxnSpPr>
            <p:nvPr/>
          </p:nvCxnSpPr>
          <p:spPr bwMode="auto">
            <a:xfrm flipV="1">
              <a:off x="2312769" y="4495800"/>
              <a:ext cx="2030631" cy="661988"/>
            </a:xfrm>
            <a:prstGeom prst="straightConnector1">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cxnSp>
      </p:grpSp>
      <p:grpSp>
        <p:nvGrpSpPr>
          <p:cNvPr id="10246" name="Group 6"/>
          <p:cNvGrpSpPr>
            <a:grpSpLocks/>
          </p:cNvGrpSpPr>
          <p:nvPr/>
        </p:nvGrpSpPr>
        <p:grpSpPr bwMode="auto">
          <a:xfrm>
            <a:off x="4419600" y="4495800"/>
            <a:ext cx="4343400" cy="1447800"/>
            <a:chOff x="4419600" y="4495800"/>
            <a:chExt cx="4343400" cy="1447800"/>
          </a:xfrm>
        </p:grpSpPr>
        <p:sp>
          <p:nvSpPr>
            <p:cNvPr id="52232" name="TextBox 6"/>
            <p:cNvSpPr txBox="1">
              <a:spLocks noChangeArrowheads="1"/>
            </p:cNvSpPr>
            <p:nvPr/>
          </p:nvSpPr>
          <p:spPr bwMode="auto">
            <a:xfrm>
              <a:off x="4953000" y="5481638"/>
              <a:ext cx="3810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triangle" w="med" len="med"/>
                  <a:tailEnd/>
                </a14:hiddenLine>
              </a:ext>
            </a:extLst>
          </p:spPr>
          <p:txBody>
            <a:bodyPr>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b="0">
                  <a:solidFill>
                    <a:srgbClr val="2A40E2"/>
                  </a:solidFill>
                  <a:latin typeface="Helvetica" charset="0"/>
                </a:rPr>
                <a:t>R, W, R, R, W, </a:t>
              </a:r>
              <a:r>
                <a:rPr lang="en-US" altLang="zh-CN" b="0">
                  <a:solidFill>
                    <a:srgbClr val="FF0000"/>
                  </a:solidFill>
                  <a:latin typeface="Helvetica" charset="0"/>
                </a:rPr>
                <a:t>R, W, R, W</a:t>
              </a:r>
              <a:endParaRPr lang="en-US" altLang="zh-CN" b="0">
                <a:solidFill>
                  <a:srgbClr val="2A40E2"/>
                </a:solidFill>
                <a:latin typeface="Helvetica" charset="0"/>
              </a:endParaRPr>
            </a:p>
          </p:txBody>
        </p:sp>
        <p:sp>
          <p:nvSpPr>
            <p:cNvPr id="52233" name="TextBox 17"/>
            <p:cNvSpPr txBox="1">
              <a:spLocks noChangeArrowheads="1"/>
            </p:cNvSpPr>
            <p:nvPr/>
          </p:nvSpPr>
          <p:spPr bwMode="auto">
            <a:xfrm>
              <a:off x="4953000" y="5157788"/>
              <a:ext cx="35587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triangle" w="med" len="med"/>
                  <a:tailEnd/>
                </a14:hiddenLine>
              </a:ext>
            </a:ex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sz="2000" b="0">
                  <a:latin typeface="Helvetica" charset="0"/>
                </a:rPr>
                <a:t>Serial schedule (T2, then T1):</a:t>
              </a:r>
            </a:p>
          </p:txBody>
        </p:sp>
        <p:cxnSp>
          <p:nvCxnSpPr>
            <p:cNvPr id="52234" name="Straight Arrow Connector 21"/>
            <p:cNvCxnSpPr>
              <a:cxnSpLocks noChangeShapeType="1"/>
              <a:stCxn id="52233" idx="0"/>
            </p:cNvCxnSpPr>
            <p:nvPr/>
          </p:nvCxnSpPr>
          <p:spPr bwMode="auto">
            <a:xfrm flipH="1" flipV="1">
              <a:off x="4419600" y="4495800"/>
              <a:ext cx="2312769" cy="661988"/>
            </a:xfrm>
            <a:prstGeom prst="straightConnector1">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cxnSp>
      </p:grpSp>
      <p:sp>
        <p:nvSpPr>
          <p:cNvPr id="52231" name="Right Brace 29"/>
          <p:cNvSpPr>
            <a:spLocks/>
          </p:cNvSpPr>
          <p:nvPr/>
        </p:nvSpPr>
        <p:spPr bwMode="auto">
          <a:xfrm rot="5400000">
            <a:off x="4114800" y="1524000"/>
            <a:ext cx="533400" cy="5257800"/>
          </a:xfrm>
          <a:prstGeom prst="rightBrace">
            <a:avLst>
              <a:gd name="adj1" fmla="val 8351"/>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algn="ctr" eaLnBrk="1" hangingPunct="1"/>
            <a:endParaRPr lang="zh-CN" altLang="zh-CN"/>
          </a:p>
        </p:txBody>
      </p:sp>
    </p:spTree>
    <p:extLst>
      <p:ext uri="{BB962C8B-B14F-4D97-AF65-F5344CB8AC3E}">
        <p14:creationId xmlns:p14="http://schemas.microsoft.com/office/powerpoint/2010/main" val="71660611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0246"/>
                                        </p:tgtEl>
                                        <p:attrNameLst>
                                          <p:attrName>style.visibility</p:attrName>
                                        </p:attrNameLst>
                                      </p:cBhvr>
                                      <p:to>
                                        <p:strVal val="visible"/>
                                      </p:to>
                                    </p:set>
                                    <p:animEffect transition="in" filter="dissolve">
                                      <p:cBhvr>
                                        <p:cTn id="12" dur="500"/>
                                        <p:tgtEl>
                                          <p:spTgt spid="10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p:cNvSpPr>
            <a:spLocks noGrp="1"/>
          </p:cNvSpPr>
          <p:nvPr>
            <p:ph type="title"/>
          </p:nvPr>
        </p:nvSpPr>
        <p:spPr/>
        <p:txBody>
          <a:bodyPr/>
          <a:lstStyle/>
          <a:p>
            <a:pPr eaLnBrk="1" hangingPunct="1"/>
            <a:r>
              <a:rPr lang="en-US" altLang="zh-CN">
                <a:latin typeface="Helvetica" charset="0"/>
                <a:ea typeface="MS PGothic" charset="-128"/>
              </a:rPr>
              <a:t>Two Key Questions</a:t>
            </a:r>
          </a:p>
        </p:txBody>
      </p:sp>
      <p:sp>
        <p:nvSpPr>
          <p:cNvPr id="11266" name="Content Placeholder 2"/>
          <p:cNvSpPr>
            <a:spLocks noGrp="1"/>
          </p:cNvSpPr>
          <p:nvPr>
            <p:ph idx="1"/>
          </p:nvPr>
        </p:nvSpPr>
        <p:spPr>
          <a:xfrm>
            <a:off x="609600" y="1219200"/>
            <a:ext cx="7924800" cy="4800600"/>
          </a:xfrm>
        </p:spPr>
        <p:txBody>
          <a:bodyPr/>
          <a:lstStyle/>
          <a:p>
            <a:pPr marL="457200" indent="-457200" eaLnBrk="1" hangingPunct="1">
              <a:buFont typeface="+mj-lt"/>
              <a:buAutoNum type="arabicParenR"/>
              <a:defRPr/>
            </a:pPr>
            <a:r>
              <a:rPr lang="en-US" dirty="0">
                <a:solidFill>
                  <a:srgbClr val="FF0000"/>
                </a:solidFill>
                <a:latin typeface="Helvetica" charset="0"/>
                <a:ea typeface="ＭＳ Ｐゴシック" charset="0"/>
              </a:rPr>
              <a:t>Is a given schedule equivalent </a:t>
            </a:r>
            <a:r>
              <a:rPr lang="en-US" dirty="0">
                <a:latin typeface="Helvetica" charset="0"/>
                <a:ea typeface="ＭＳ Ｐゴシック" charset="0"/>
              </a:rPr>
              <a:t>to a serial execution of transactions?  </a:t>
            </a:r>
          </a:p>
          <a:p>
            <a:pPr marL="457200" indent="-457200" eaLnBrk="1" hangingPunct="1">
              <a:buFont typeface="+mj-lt"/>
              <a:buAutoNum type="arabicParenR"/>
              <a:defRPr/>
            </a:pPr>
            <a:endParaRPr lang="en-US" dirty="0">
              <a:latin typeface="Helvetica" charset="0"/>
              <a:ea typeface="ＭＳ Ｐゴシック" charset="0"/>
            </a:endParaRPr>
          </a:p>
          <a:p>
            <a:pPr marL="914400" lvl="1" indent="-457200" eaLnBrk="1" hangingPunct="1">
              <a:buFont typeface="+mj-lt"/>
              <a:buAutoNum type="arabicParenR"/>
              <a:defRPr/>
            </a:pPr>
            <a:endParaRPr lang="en-US" dirty="0">
              <a:latin typeface="Helvetica" charset="0"/>
              <a:ea typeface="ＭＳ Ｐゴシック" charset="0"/>
            </a:endParaRPr>
          </a:p>
          <a:p>
            <a:pPr marL="914400" lvl="1" indent="-457200" eaLnBrk="1" hangingPunct="1">
              <a:buFont typeface="+mj-lt"/>
              <a:buAutoNum type="arabicParenR"/>
              <a:defRPr/>
            </a:pPr>
            <a:endParaRPr lang="en-US" dirty="0">
              <a:latin typeface="Helvetica" charset="0"/>
              <a:ea typeface="ＭＳ Ｐゴシック" charset="0"/>
            </a:endParaRPr>
          </a:p>
          <a:p>
            <a:pPr marL="914400" lvl="1" indent="-457200" eaLnBrk="1" hangingPunct="1">
              <a:buFont typeface="+mj-lt"/>
              <a:buAutoNum type="arabicParenR"/>
              <a:defRPr/>
            </a:pPr>
            <a:endParaRPr lang="en-US" dirty="0">
              <a:latin typeface="Helvetica" charset="0"/>
              <a:ea typeface="ＭＳ Ｐゴシック" charset="0"/>
            </a:endParaRPr>
          </a:p>
          <a:p>
            <a:pPr marL="1257300" lvl="3" indent="0" eaLnBrk="1" hangingPunct="1">
              <a:buFontTx/>
              <a:buNone/>
              <a:defRPr/>
            </a:pPr>
            <a:endParaRPr lang="en-US" dirty="0">
              <a:latin typeface="Helvetica" charset="0"/>
              <a:ea typeface="ＭＳ Ｐゴシック" charset="0"/>
              <a:cs typeface="ＭＳ Ｐゴシック" charset="0"/>
            </a:endParaRPr>
          </a:p>
          <a:p>
            <a:pPr marL="457200" indent="-457200" eaLnBrk="1" hangingPunct="1">
              <a:buFont typeface="+mj-lt"/>
              <a:buAutoNum type="arabicParenR"/>
              <a:defRPr/>
            </a:pPr>
            <a:endParaRPr lang="en-US" dirty="0">
              <a:latin typeface="Helvetica" charset="0"/>
              <a:ea typeface="ＭＳ Ｐゴシック" charset="0"/>
              <a:cs typeface="ＭＳ Ｐゴシック" charset="0"/>
            </a:endParaRPr>
          </a:p>
          <a:p>
            <a:pPr marL="457200" indent="-457200" eaLnBrk="1" hangingPunct="1">
              <a:buFont typeface="+mj-lt"/>
              <a:buAutoNum type="arabicParenR"/>
              <a:defRPr/>
            </a:pPr>
            <a:r>
              <a:rPr lang="en-US" dirty="0">
                <a:solidFill>
                  <a:srgbClr val="FF0000"/>
                </a:solidFill>
                <a:latin typeface="Helvetica" charset="0"/>
                <a:ea typeface="ＭＳ Ｐゴシック" charset="0"/>
                <a:cs typeface="ＭＳ Ｐゴシック" charset="0"/>
              </a:rPr>
              <a:t>How do you come up </a:t>
            </a:r>
            <a:r>
              <a:rPr lang="en-US" dirty="0">
                <a:latin typeface="Helvetica" charset="0"/>
                <a:ea typeface="ＭＳ Ｐゴシック" charset="0"/>
                <a:cs typeface="ＭＳ Ｐゴシック" charset="0"/>
              </a:rPr>
              <a:t>with a schedule equivalent to a serial schedule?</a:t>
            </a:r>
          </a:p>
          <a:p>
            <a:pPr marL="457200" indent="-457200" eaLnBrk="1" hangingPunct="1">
              <a:buFont typeface="+mj-lt"/>
              <a:buAutoNum type="arabicParenR"/>
              <a:defRPr/>
            </a:pPr>
            <a:endParaRPr lang="en-US" dirty="0">
              <a:latin typeface="Helvetica" charset="0"/>
              <a:ea typeface="ＭＳ Ｐゴシック" charset="0"/>
              <a:cs typeface="ＭＳ Ｐゴシック" charset="0"/>
            </a:endParaRPr>
          </a:p>
          <a:p>
            <a:pPr marL="914400" lvl="1" indent="-457200" eaLnBrk="1" hangingPunct="1">
              <a:buFont typeface="+mj-lt"/>
              <a:buAutoNum type="arabicParenR"/>
              <a:defRPr/>
            </a:pPr>
            <a:endParaRPr lang="en-US" dirty="0">
              <a:latin typeface="Helvetica" charset="0"/>
              <a:ea typeface="ＭＳ Ｐゴシック" charset="0"/>
            </a:endParaRPr>
          </a:p>
          <a:p>
            <a:pPr lvl="1" eaLnBrk="1" hangingPunct="1">
              <a:defRPr/>
            </a:pPr>
            <a:endParaRPr lang="en-US" dirty="0">
              <a:latin typeface="Helvetica" charset="0"/>
              <a:ea typeface="ＭＳ Ｐゴシック" charset="0"/>
            </a:endParaRPr>
          </a:p>
        </p:txBody>
      </p:sp>
      <p:sp>
        <p:nvSpPr>
          <p:cNvPr id="53251" name="TextBox 5"/>
          <p:cNvSpPr txBox="1">
            <a:spLocks noChangeArrowheads="1"/>
          </p:cNvSpPr>
          <p:nvPr/>
        </p:nvSpPr>
        <p:spPr bwMode="auto">
          <a:xfrm>
            <a:off x="533400" y="3571875"/>
            <a:ext cx="3810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b="0">
                <a:solidFill>
                  <a:srgbClr val="FF0000"/>
                </a:solidFill>
                <a:latin typeface="Helvetica" charset="0"/>
              </a:rPr>
              <a:t>R, W, R, W, </a:t>
            </a:r>
            <a:r>
              <a:rPr lang="en-US" altLang="zh-CN" b="0">
                <a:solidFill>
                  <a:srgbClr val="2A40E2"/>
                </a:solidFill>
                <a:latin typeface="Helvetica" charset="0"/>
              </a:rPr>
              <a:t>R, W, R, R, W</a:t>
            </a:r>
          </a:p>
        </p:txBody>
      </p:sp>
      <p:sp>
        <p:nvSpPr>
          <p:cNvPr id="53252" name="TextBox 6"/>
          <p:cNvSpPr txBox="1">
            <a:spLocks noChangeArrowheads="1"/>
          </p:cNvSpPr>
          <p:nvPr/>
        </p:nvSpPr>
        <p:spPr bwMode="auto">
          <a:xfrm>
            <a:off x="5181600" y="3576638"/>
            <a:ext cx="3810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b="0">
                <a:solidFill>
                  <a:srgbClr val="2A40E2"/>
                </a:solidFill>
                <a:latin typeface="Helvetica" charset="0"/>
              </a:rPr>
              <a:t>R, W, R, R, W, </a:t>
            </a:r>
            <a:r>
              <a:rPr lang="en-US" altLang="zh-CN" b="0">
                <a:solidFill>
                  <a:srgbClr val="FF0000"/>
                </a:solidFill>
                <a:latin typeface="Helvetica" charset="0"/>
              </a:rPr>
              <a:t>R, W, R, W</a:t>
            </a:r>
            <a:endParaRPr lang="en-US" altLang="zh-CN" b="0">
              <a:solidFill>
                <a:srgbClr val="2A40E2"/>
              </a:solidFill>
              <a:latin typeface="Helvetica" charset="0"/>
            </a:endParaRPr>
          </a:p>
        </p:txBody>
      </p:sp>
      <p:sp>
        <p:nvSpPr>
          <p:cNvPr id="53253" name="TextBox 7"/>
          <p:cNvSpPr txBox="1">
            <a:spLocks noChangeArrowheads="1"/>
          </p:cNvSpPr>
          <p:nvPr/>
        </p:nvSpPr>
        <p:spPr bwMode="auto">
          <a:xfrm>
            <a:off x="2590800" y="2205038"/>
            <a:ext cx="3810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b="0">
                <a:solidFill>
                  <a:srgbClr val="FF0000"/>
                </a:solidFill>
                <a:latin typeface="Helvetica" charset="0"/>
              </a:rPr>
              <a:t>R, </a:t>
            </a:r>
            <a:r>
              <a:rPr lang="en-US" altLang="zh-CN" b="0">
                <a:solidFill>
                  <a:srgbClr val="2A40E2"/>
                </a:solidFill>
                <a:latin typeface="Helvetica" charset="0"/>
              </a:rPr>
              <a:t>R, </a:t>
            </a:r>
            <a:r>
              <a:rPr lang="en-US" altLang="zh-CN" b="0">
                <a:solidFill>
                  <a:srgbClr val="FF0000"/>
                </a:solidFill>
                <a:latin typeface="Helvetica" charset="0"/>
              </a:rPr>
              <a:t>W, </a:t>
            </a:r>
            <a:r>
              <a:rPr lang="en-US" altLang="zh-CN" b="0">
                <a:solidFill>
                  <a:srgbClr val="2A40E2"/>
                </a:solidFill>
                <a:latin typeface="Helvetica" charset="0"/>
              </a:rPr>
              <a:t>W, </a:t>
            </a:r>
            <a:r>
              <a:rPr lang="en-US" altLang="zh-CN" b="0">
                <a:solidFill>
                  <a:srgbClr val="FF0000"/>
                </a:solidFill>
                <a:latin typeface="Helvetica" charset="0"/>
              </a:rPr>
              <a:t>R, </a:t>
            </a:r>
            <a:r>
              <a:rPr lang="en-US" altLang="zh-CN" b="0">
                <a:solidFill>
                  <a:srgbClr val="2A40E2"/>
                </a:solidFill>
                <a:latin typeface="Helvetica" charset="0"/>
              </a:rPr>
              <a:t>R, R, </a:t>
            </a:r>
            <a:r>
              <a:rPr lang="en-US" altLang="zh-CN" b="0">
                <a:solidFill>
                  <a:srgbClr val="FF0000"/>
                </a:solidFill>
                <a:latin typeface="Helvetica" charset="0"/>
              </a:rPr>
              <a:t>W, </a:t>
            </a:r>
            <a:r>
              <a:rPr lang="en-US" altLang="zh-CN" b="0">
                <a:solidFill>
                  <a:srgbClr val="2A40E2"/>
                </a:solidFill>
                <a:latin typeface="Helvetica" charset="0"/>
              </a:rPr>
              <a:t>W</a:t>
            </a:r>
          </a:p>
        </p:txBody>
      </p:sp>
      <p:sp>
        <p:nvSpPr>
          <p:cNvPr id="53254" name="TextBox 10"/>
          <p:cNvSpPr txBox="1">
            <a:spLocks noChangeArrowheads="1"/>
          </p:cNvSpPr>
          <p:nvPr/>
        </p:nvSpPr>
        <p:spPr bwMode="auto">
          <a:xfrm>
            <a:off x="1371600" y="2286000"/>
            <a:ext cx="13255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sz="2000" b="0">
                <a:latin typeface="Helvetica" charset="0"/>
              </a:rPr>
              <a:t>Schedule:</a:t>
            </a:r>
          </a:p>
        </p:txBody>
      </p:sp>
      <p:sp>
        <p:nvSpPr>
          <p:cNvPr id="53255" name="TextBox 11"/>
          <p:cNvSpPr txBox="1">
            <a:spLocks noChangeArrowheads="1"/>
          </p:cNvSpPr>
          <p:nvPr/>
        </p:nvSpPr>
        <p:spPr bwMode="auto">
          <a:xfrm>
            <a:off x="533400" y="3252788"/>
            <a:ext cx="35591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sz="2000" b="0">
                <a:latin typeface="Helvetica" charset="0"/>
              </a:rPr>
              <a:t>Serial schedule (T1, then T2):</a:t>
            </a:r>
          </a:p>
          <a:p>
            <a:pPr eaLnBrk="1" hangingPunct="1"/>
            <a:r>
              <a:rPr lang="en-US" altLang="zh-CN" sz="2000" b="0">
                <a:latin typeface="Helvetica" charset="0"/>
              </a:rPr>
              <a:t>:</a:t>
            </a:r>
          </a:p>
        </p:txBody>
      </p:sp>
      <p:sp>
        <p:nvSpPr>
          <p:cNvPr id="53256" name="TextBox 12"/>
          <p:cNvSpPr txBox="1">
            <a:spLocks noChangeArrowheads="1"/>
          </p:cNvSpPr>
          <p:nvPr/>
        </p:nvSpPr>
        <p:spPr bwMode="auto">
          <a:xfrm>
            <a:off x="5153025" y="3252788"/>
            <a:ext cx="35591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sz="2000" b="0">
                <a:latin typeface="Helvetica" charset="0"/>
              </a:rPr>
              <a:t>Serial schedule (T2, then T1):</a:t>
            </a:r>
          </a:p>
        </p:txBody>
      </p:sp>
      <p:cxnSp>
        <p:nvCxnSpPr>
          <p:cNvPr id="53257" name="Straight Arrow Connector 13"/>
          <p:cNvCxnSpPr>
            <a:cxnSpLocks noChangeShapeType="1"/>
            <a:stCxn id="53255" idx="0"/>
          </p:cNvCxnSpPr>
          <p:nvPr/>
        </p:nvCxnSpPr>
        <p:spPr bwMode="auto">
          <a:xfrm flipV="1">
            <a:off x="2312988" y="2743200"/>
            <a:ext cx="1954212" cy="509588"/>
          </a:xfrm>
          <a:prstGeom prst="straightConnector1">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53258" name="Straight Arrow Connector 14"/>
          <p:cNvCxnSpPr>
            <a:cxnSpLocks noChangeShapeType="1"/>
            <a:stCxn id="53256" idx="0"/>
          </p:cNvCxnSpPr>
          <p:nvPr/>
        </p:nvCxnSpPr>
        <p:spPr bwMode="auto">
          <a:xfrm flipH="1" flipV="1">
            <a:off x="4648200" y="2743200"/>
            <a:ext cx="2284413" cy="509588"/>
          </a:xfrm>
          <a:prstGeom prst="straightConnector1">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graphicFrame>
        <p:nvGraphicFramePr>
          <p:cNvPr id="53259" name="Object 15"/>
          <p:cNvGraphicFramePr>
            <a:graphicFrameLocks noChangeAspect="1"/>
          </p:cNvGraphicFramePr>
          <p:nvPr/>
        </p:nvGraphicFramePr>
        <p:xfrm>
          <a:off x="5867400" y="2589213"/>
          <a:ext cx="609600" cy="530225"/>
        </p:xfrm>
        <a:graphic>
          <a:graphicData uri="http://schemas.openxmlformats.org/presentationml/2006/ole">
            <mc:AlternateContent xmlns:mc="http://schemas.openxmlformats.org/markup-compatibility/2006">
              <mc:Choice xmlns:v="urn:schemas-microsoft-com:vml" Requires="v">
                <p:oleObj name="Equation" r:id="rId2" imgW="215900" imgH="177800" progId="Equation.3">
                  <p:embed/>
                </p:oleObj>
              </mc:Choice>
              <mc:Fallback>
                <p:oleObj name="Equation" r:id="rId2" imgW="215900" imgH="177800" progId="Equation.3">
                  <p:embed/>
                  <p:pic>
                    <p:nvPicPr>
                      <p:cNvPr id="53259"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2589213"/>
                        <a:ext cx="6096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60" name="Object 16"/>
          <p:cNvGraphicFramePr>
            <a:graphicFrameLocks noChangeAspect="1"/>
          </p:cNvGraphicFramePr>
          <p:nvPr/>
        </p:nvGraphicFramePr>
        <p:xfrm>
          <a:off x="2590800" y="2593975"/>
          <a:ext cx="609600" cy="530225"/>
        </p:xfrm>
        <a:graphic>
          <a:graphicData uri="http://schemas.openxmlformats.org/presentationml/2006/ole">
            <mc:AlternateContent xmlns:mc="http://schemas.openxmlformats.org/markup-compatibility/2006">
              <mc:Choice xmlns:v="urn:schemas-microsoft-com:vml" Requires="v">
                <p:oleObj name="Equation" r:id="rId2" imgW="215900" imgH="177800" progId="Equation.3">
                  <p:embed/>
                </p:oleObj>
              </mc:Choice>
              <mc:Fallback>
                <p:oleObj name="Equation" r:id="rId2" imgW="215900" imgH="177800" progId="Equation.3">
                  <p:embed/>
                  <p:pic>
                    <p:nvPicPr>
                      <p:cNvPr id="53260" name="Object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2593975"/>
                        <a:ext cx="6096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06251649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1126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6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p:cNvSpPr>
            <a:spLocks noGrp="1"/>
          </p:cNvSpPr>
          <p:nvPr>
            <p:ph type="title"/>
          </p:nvPr>
        </p:nvSpPr>
        <p:spPr>
          <a:xfrm>
            <a:off x="990600" y="152400"/>
            <a:ext cx="7543800" cy="533400"/>
          </a:xfrm>
        </p:spPr>
        <p:txBody>
          <a:bodyPr/>
          <a:lstStyle/>
          <a:p>
            <a:pPr eaLnBrk="1" hangingPunct="1"/>
            <a:r>
              <a:rPr lang="en-US" altLang="zh-CN">
                <a:latin typeface="Helvetica" charset="0"/>
                <a:ea typeface="MS PGothic" charset="-128"/>
              </a:rPr>
              <a:t>Anomalies with Interleaved Execution </a:t>
            </a:r>
          </a:p>
        </p:txBody>
      </p:sp>
      <p:sp>
        <p:nvSpPr>
          <p:cNvPr id="55298" name="Content Placeholder 2"/>
          <p:cNvSpPr>
            <a:spLocks noGrp="1"/>
          </p:cNvSpPr>
          <p:nvPr>
            <p:ph idx="1"/>
          </p:nvPr>
        </p:nvSpPr>
        <p:spPr/>
        <p:txBody>
          <a:bodyPr/>
          <a:lstStyle/>
          <a:p>
            <a:pPr eaLnBrk="1" hangingPunct="1"/>
            <a:r>
              <a:rPr lang="en-US" altLang="zh-CN">
                <a:latin typeface="Helvetica" charset="0"/>
                <a:ea typeface="MS PGothic" charset="-128"/>
              </a:rPr>
              <a:t>May violate transaction semantics, e.g., some data read by the transaction changes before committing</a:t>
            </a:r>
          </a:p>
          <a:p>
            <a:pPr eaLnBrk="1" hangingPunct="1"/>
            <a:endParaRPr lang="en-US" altLang="zh-CN">
              <a:latin typeface="Helvetica" charset="0"/>
              <a:ea typeface="MS PGothic" charset="-128"/>
            </a:endParaRPr>
          </a:p>
          <a:p>
            <a:pPr eaLnBrk="1" hangingPunct="1"/>
            <a:r>
              <a:rPr lang="en-US" altLang="zh-CN">
                <a:latin typeface="Helvetica" charset="0"/>
                <a:ea typeface="MS PGothic" charset="-128"/>
              </a:rPr>
              <a:t>Inconsistent database state, e.g., some updates are lost</a:t>
            </a:r>
          </a:p>
          <a:p>
            <a:pPr eaLnBrk="1" hangingPunct="1"/>
            <a:endParaRPr lang="en-US" altLang="zh-CN">
              <a:latin typeface="Helvetica" charset="0"/>
              <a:ea typeface="MS PGothic" charset="-128"/>
            </a:endParaRPr>
          </a:p>
          <a:p>
            <a:pPr eaLnBrk="1" hangingPunct="1"/>
            <a:r>
              <a:rPr lang="en-US" altLang="zh-CN">
                <a:latin typeface="Helvetica" charset="0"/>
                <a:ea typeface="MS PGothic" charset="-128"/>
              </a:rPr>
              <a:t>Anomalies always involves a </a:t>
            </a:r>
            <a:r>
              <a:rPr lang="ja-JP" altLang="en-US">
                <a:latin typeface="Helvetica" charset="0"/>
                <a:ea typeface="MS PGothic" charset="-128"/>
              </a:rPr>
              <a:t>“</a:t>
            </a:r>
            <a:r>
              <a:rPr lang="en-US" altLang="ja-JP">
                <a:latin typeface="Helvetica" charset="0"/>
                <a:ea typeface="MS PGothic" charset="-128"/>
              </a:rPr>
              <a:t>write</a:t>
            </a:r>
            <a:r>
              <a:rPr lang="ja-JP" altLang="en-US">
                <a:latin typeface="Helvetica" charset="0"/>
                <a:ea typeface="MS PGothic" charset="-128"/>
              </a:rPr>
              <a:t>”</a:t>
            </a:r>
            <a:r>
              <a:rPr lang="en-US" altLang="ja-JP">
                <a:latin typeface="Helvetica" charset="0"/>
                <a:ea typeface="MS PGothic" charset="-128"/>
              </a:rPr>
              <a:t>; Why?</a:t>
            </a:r>
            <a:endParaRPr lang="en-US" altLang="zh-CN">
              <a:latin typeface="Helvetica" charset="0"/>
              <a:ea typeface="MS PGothic" charset="-128"/>
            </a:endParaRPr>
          </a:p>
        </p:txBody>
      </p:sp>
    </p:spTree>
    <p:extLst>
      <p:ext uri="{BB962C8B-B14F-4D97-AF65-F5344CB8AC3E}">
        <p14:creationId xmlns:p14="http://schemas.microsoft.com/office/powerpoint/2010/main" val="7141336"/>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p:cNvSpPr>
            <a:spLocks noGrp="1"/>
          </p:cNvSpPr>
          <p:nvPr>
            <p:ph type="title"/>
          </p:nvPr>
        </p:nvSpPr>
        <p:spPr>
          <a:xfrm>
            <a:off x="990600" y="152400"/>
            <a:ext cx="7543800" cy="533400"/>
          </a:xfrm>
        </p:spPr>
        <p:txBody>
          <a:bodyPr/>
          <a:lstStyle/>
          <a:p>
            <a:pPr eaLnBrk="1" hangingPunct="1"/>
            <a:r>
              <a:rPr lang="en-US" altLang="zh-CN">
                <a:latin typeface="Helvetica" charset="0"/>
                <a:ea typeface="MS PGothic" charset="-128"/>
              </a:rPr>
              <a:t>Anomalies with Interleaved Execution </a:t>
            </a:r>
          </a:p>
        </p:txBody>
      </p:sp>
      <p:sp>
        <p:nvSpPr>
          <p:cNvPr id="13314" name="Content Placeholder 2"/>
          <p:cNvSpPr>
            <a:spLocks noGrp="1"/>
          </p:cNvSpPr>
          <p:nvPr>
            <p:ph idx="1"/>
          </p:nvPr>
        </p:nvSpPr>
        <p:spPr/>
        <p:txBody>
          <a:bodyPr/>
          <a:lstStyle/>
          <a:p>
            <a:pPr eaLnBrk="1" hangingPunct="1"/>
            <a:r>
              <a:rPr lang="en-US" altLang="zh-CN" dirty="0">
                <a:latin typeface="Helvetica" charset="0"/>
                <a:ea typeface="MS PGothic" charset="-128"/>
              </a:rPr>
              <a:t>Write-write conflict (overwriting uncommitted data)</a:t>
            </a:r>
          </a:p>
          <a:p>
            <a:pPr eaLnBrk="1" hangingPunct="1"/>
            <a:endParaRPr lang="en-US" altLang="zh-CN" dirty="0">
              <a:latin typeface="Helvetica" charset="0"/>
              <a:ea typeface="MS PGothic" charset="-128"/>
            </a:endParaRPr>
          </a:p>
          <a:p>
            <a:pPr eaLnBrk="1" hangingPunct="1"/>
            <a:endParaRPr lang="en-US" altLang="zh-CN" dirty="0">
              <a:latin typeface="Helvetica" charset="0"/>
              <a:ea typeface="MS PGothic" charset="-128"/>
            </a:endParaRPr>
          </a:p>
          <a:p>
            <a:pPr eaLnBrk="1" hangingPunct="1"/>
            <a:endParaRPr lang="en-US" altLang="zh-CN" dirty="0">
              <a:latin typeface="Helvetica" charset="0"/>
              <a:ea typeface="MS PGothic" charset="-128"/>
            </a:endParaRPr>
          </a:p>
          <a:p>
            <a:pPr eaLnBrk="1" hangingPunct="1"/>
            <a:r>
              <a:rPr lang="en-US" altLang="zh-CN" dirty="0">
                <a:latin typeface="Helvetica" charset="0"/>
                <a:ea typeface="MS PGothic" charset="-128"/>
              </a:rPr>
              <a:t>Get T1</a:t>
            </a:r>
            <a:r>
              <a:rPr lang="en-US" altLang="en-US" dirty="0">
                <a:latin typeface="Helvetica" charset="0"/>
                <a:ea typeface="MS PGothic" charset="-128"/>
              </a:rPr>
              <a:t>’</a:t>
            </a:r>
            <a:r>
              <a:rPr lang="en-US" altLang="ja-JP" dirty="0">
                <a:latin typeface="Helvetica" charset="0"/>
                <a:ea typeface="MS PGothic" charset="-128"/>
              </a:rPr>
              <a:t>s update of B and T2’s update of A</a:t>
            </a:r>
          </a:p>
          <a:p>
            <a:pPr eaLnBrk="1" hangingPunct="1"/>
            <a:r>
              <a:rPr lang="en-US" altLang="zh-CN" dirty="0">
                <a:latin typeface="Helvetica" charset="0"/>
                <a:ea typeface="MS PGothic" charset="-128"/>
              </a:rPr>
              <a:t>Violates transaction serializability</a:t>
            </a:r>
          </a:p>
          <a:p>
            <a:pPr eaLnBrk="1" hangingPunct="1"/>
            <a:r>
              <a:rPr lang="en-US" altLang="zh-CN" dirty="0">
                <a:latin typeface="Helvetica" charset="0"/>
                <a:ea typeface="MS PGothic" charset="-128"/>
              </a:rPr>
              <a:t>Obviously</a:t>
            </a:r>
            <a:r>
              <a:rPr lang="zh-CN" altLang="en-US" dirty="0">
                <a:latin typeface="Helvetica" charset="0"/>
                <a:ea typeface="MS PGothic" charset="-128"/>
              </a:rPr>
              <a:t> </a:t>
            </a:r>
            <a:r>
              <a:rPr lang="en-US" altLang="zh-CN" dirty="0">
                <a:latin typeface="Helvetica" charset="0"/>
                <a:ea typeface="MS PGothic" charset="-128"/>
              </a:rPr>
              <a:t>incorrect</a:t>
            </a:r>
            <a:r>
              <a:rPr lang="zh-CN" altLang="en-US" dirty="0">
                <a:latin typeface="Helvetica" charset="0"/>
                <a:ea typeface="MS PGothic" charset="-128"/>
              </a:rPr>
              <a:t> </a:t>
            </a:r>
            <a:endParaRPr lang="en-US" altLang="zh-CN">
              <a:latin typeface="Helvetica" charset="0"/>
              <a:ea typeface="MS PGothic" charset="-128"/>
            </a:endParaRPr>
          </a:p>
          <a:p>
            <a:pPr eaLnBrk="1" hangingPunct="1"/>
            <a:r>
              <a:rPr lang="en-US" altLang="zh-CN">
                <a:latin typeface="Helvetica" charset="0"/>
                <a:ea typeface="MS PGothic" charset="-128"/>
              </a:rPr>
              <a:t>If </a:t>
            </a:r>
            <a:r>
              <a:rPr lang="en-US" altLang="zh-CN" dirty="0">
                <a:latin typeface="Helvetica" charset="0"/>
                <a:ea typeface="MS PGothic" charset="-128"/>
              </a:rPr>
              <a:t>transactions were serial, you</a:t>
            </a:r>
            <a:r>
              <a:rPr lang="en-US" altLang="en-US" dirty="0">
                <a:latin typeface="Helvetica" charset="0"/>
                <a:ea typeface="MS PGothic" charset="-128"/>
              </a:rPr>
              <a:t>’</a:t>
            </a:r>
            <a:r>
              <a:rPr lang="en-US" altLang="ja-JP" dirty="0">
                <a:latin typeface="Helvetica" charset="0"/>
                <a:ea typeface="MS PGothic" charset="-128"/>
              </a:rPr>
              <a:t>d get either:</a:t>
            </a:r>
          </a:p>
          <a:p>
            <a:pPr lvl="1" eaLnBrk="1" hangingPunct="1"/>
            <a:r>
              <a:rPr lang="en-US" altLang="zh-CN" dirty="0">
                <a:latin typeface="Helvetica" charset="0"/>
                <a:ea typeface="MS PGothic" charset="-128"/>
              </a:rPr>
              <a:t>T1</a:t>
            </a:r>
            <a:r>
              <a:rPr lang="en-US" altLang="en-US" dirty="0">
                <a:latin typeface="Helvetica" charset="0"/>
                <a:ea typeface="MS PGothic" charset="-128"/>
              </a:rPr>
              <a:t>’</a:t>
            </a:r>
            <a:r>
              <a:rPr lang="en-US" altLang="ja-JP" dirty="0">
                <a:latin typeface="Helvetica" charset="0"/>
                <a:ea typeface="MS PGothic" charset="-128"/>
              </a:rPr>
              <a:t>s updates of A and B</a:t>
            </a:r>
          </a:p>
          <a:p>
            <a:pPr lvl="1" eaLnBrk="1" hangingPunct="1"/>
            <a:r>
              <a:rPr lang="en-US" altLang="zh-CN" dirty="0">
                <a:latin typeface="Helvetica" charset="0"/>
                <a:ea typeface="MS PGothic" charset="-128"/>
              </a:rPr>
              <a:t>T2</a:t>
            </a:r>
            <a:r>
              <a:rPr lang="en-US" altLang="en-US" dirty="0">
                <a:latin typeface="Helvetica" charset="0"/>
                <a:ea typeface="MS PGothic" charset="-128"/>
              </a:rPr>
              <a:t>’</a:t>
            </a:r>
            <a:r>
              <a:rPr lang="en-US" altLang="ja-JP" dirty="0">
                <a:latin typeface="Helvetica" charset="0"/>
                <a:ea typeface="MS PGothic" charset="-128"/>
              </a:rPr>
              <a:t>s updates of A and B</a:t>
            </a:r>
          </a:p>
          <a:p>
            <a:pPr eaLnBrk="1" hangingPunct="1"/>
            <a:endParaRPr lang="en-US" altLang="zh-CN" dirty="0">
              <a:latin typeface="Helvetica" charset="0"/>
              <a:ea typeface="MS PGothic" charset="-128"/>
            </a:endParaRPr>
          </a:p>
          <a:p>
            <a:pPr eaLnBrk="1" hangingPunct="1"/>
            <a:endParaRPr lang="en-US" altLang="zh-CN" dirty="0">
              <a:latin typeface="Helvetica" charset="0"/>
              <a:ea typeface="MS PGothic" charset="-128"/>
            </a:endParaRPr>
          </a:p>
          <a:p>
            <a:pPr eaLnBrk="1" hangingPunct="1"/>
            <a:endParaRPr lang="en-US" altLang="zh-CN" dirty="0">
              <a:latin typeface="Helvetica" charset="0"/>
              <a:ea typeface="MS PGothic" charset="-128"/>
            </a:endParaRPr>
          </a:p>
        </p:txBody>
      </p:sp>
      <p:sp>
        <p:nvSpPr>
          <p:cNvPr id="59395" name="Content Placeholder 4"/>
          <p:cNvSpPr txBox="1">
            <a:spLocks/>
          </p:cNvSpPr>
          <p:nvPr/>
        </p:nvSpPr>
        <p:spPr bwMode="auto">
          <a:xfrm>
            <a:off x="838200" y="1524000"/>
            <a:ext cx="6019800" cy="990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478" tIns="44445" rIns="90478" bIns="44445"/>
          <a:lstStyle>
            <a:lvl1pPr marL="2857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1pPr>
            <a:lvl2pPr marL="7429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2pPr>
            <a:lvl3pPr marL="11430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3pPr>
            <a:lvl4pPr marL="16002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4pPr>
            <a:lvl5pPr marL="20574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5pPr>
            <a:lvl6pPr marL="25146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6pPr>
            <a:lvl7pPr marL="29718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7pPr>
            <a:lvl8pPr marL="34290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8pPr>
            <a:lvl9pPr marL="38862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9pPr>
          </a:lstStyle>
          <a:p>
            <a:pPr>
              <a:lnSpc>
                <a:spcPct val="90000"/>
              </a:lnSpc>
              <a:spcBef>
                <a:spcPct val="30000"/>
              </a:spcBef>
              <a:buSzPct val="100000"/>
            </a:pPr>
            <a:r>
              <a:rPr lang="en-US" altLang="ko-KR" b="0">
                <a:latin typeface="Courier New" charset="0"/>
                <a:ea typeface="Gulim" charset="-127"/>
              </a:rPr>
              <a:t>T1:W(A),         W(B)</a:t>
            </a:r>
          </a:p>
          <a:p>
            <a:pPr>
              <a:lnSpc>
                <a:spcPct val="90000"/>
              </a:lnSpc>
              <a:spcBef>
                <a:spcPct val="30000"/>
              </a:spcBef>
              <a:buSzPct val="100000"/>
            </a:pPr>
            <a:r>
              <a:rPr lang="en-US" altLang="ko-KR" b="0">
                <a:latin typeface="Courier New" charset="0"/>
                <a:ea typeface="Gulim" charset="-127"/>
              </a:rPr>
              <a:t>T2:     W(A),W(B)</a:t>
            </a:r>
            <a:r>
              <a:rPr lang="en-US" altLang="zh-CN" b="0">
                <a:latin typeface="Courier New" charset="0"/>
                <a:ea typeface="Gulim" charset="-127"/>
              </a:rPr>
              <a:t> </a:t>
            </a:r>
            <a:endParaRPr lang="en-US" altLang="zh-CN" b="0">
              <a:latin typeface="Helvetica" charset="0"/>
            </a:endParaRPr>
          </a:p>
        </p:txBody>
      </p:sp>
    </p:spTree>
    <p:extLst>
      <p:ext uri="{BB962C8B-B14F-4D97-AF65-F5344CB8AC3E}">
        <p14:creationId xmlns:p14="http://schemas.microsoft.com/office/powerpoint/2010/main" val="150003811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314">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3314">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314">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314">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314">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31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p:cNvSpPr>
            <a:spLocks noGrp="1"/>
          </p:cNvSpPr>
          <p:nvPr>
            <p:ph type="title"/>
          </p:nvPr>
        </p:nvSpPr>
        <p:spPr>
          <a:xfrm>
            <a:off x="990600" y="152400"/>
            <a:ext cx="7543800" cy="533400"/>
          </a:xfrm>
        </p:spPr>
        <p:txBody>
          <a:bodyPr/>
          <a:lstStyle/>
          <a:p>
            <a:pPr eaLnBrk="1" hangingPunct="1"/>
            <a:r>
              <a:rPr lang="en-US" altLang="zh-CN">
                <a:latin typeface="Helvetica" charset="0"/>
                <a:ea typeface="MS PGothic" charset="-128"/>
              </a:rPr>
              <a:t>Anomalies with Interleaved Execution </a:t>
            </a:r>
          </a:p>
        </p:txBody>
      </p:sp>
      <p:sp>
        <p:nvSpPr>
          <p:cNvPr id="11266" name="Content Placeholder 2"/>
          <p:cNvSpPr>
            <a:spLocks noGrp="1"/>
          </p:cNvSpPr>
          <p:nvPr>
            <p:ph idx="1"/>
          </p:nvPr>
        </p:nvSpPr>
        <p:spPr/>
        <p:txBody>
          <a:bodyPr/>
          <a:lstStyle/>
          <a:p>
            <a:pPr eaLnBrk="1" hangingPunct="1"/>
            <a:r>
              <a:rPr lang="en-US" altLang="zh-CN" dirty="0">
                <a:latin typeface="Helvetica" charset="0"/>
                <a:ea typeface="MS PGothic" charset="-128"/>
              </a:rPr>
              <a:t>Read-Write conflict (Unrepeatable reads)</a:t>
            </a:r>
          </a:p>
          <a:p>
            <a:pPr eaLnBrk="1" hangingPunct="1"/>
            <a:endParaRPr lang="en-US" altLang="zh-CN" dirty="0">
              <a:latin typeface="Helvetica" charset="0"/>
              <a:ea typeface="MS PGothic" charset="-128"/>
            </a:endParaRPr>
          </a:p>
          <a:p>
            <a:pPr eaLnBrk="1" hangingPunct="1"/>
            <a:endParaRPr lang="en-US" altLang="zh-CN" dirty="0">
              <a:latin typeface="Helvetica" charset="0"/>
              <a:ea typeface="MS PGothic" charset="-128"/>
            </a:endParaRPr>
          </a:p>
          <a:p>
            <a:pPr eaLnBrk="1" hangingPunct="1"/>
            <a:endParaRPr lang="en-US" altLang="zh-CN" dirty="0">
              <a:latin typeface="Helvetica" charset="0"/>
              <a:ea typeface="MS PGothic" charset="-128"/>
            </a:endParaRPr>
          </a:p>
          <a:p>
            <a:pPr eaLnBrk="1" hangingPunct="1"/>
            <a:r>
              <a:rPr lang="en-US" altLang="zh-CN" dirty="0">
                <a:latin typeface="Helvetica" charset="0"/>
                <a:ea typeface="MS PGothic" charset="-128"/>
              </a:rPr>
              <a:t>Violates transaction semantics</a:t>
            </a:r>
          </a:p>
          <a:p>
            <a:pPr eaLnBrk="1" hangingPunct="1"/>
            <a:r>
              <a:rPr lang="en-US" altLang="zh-CN" dirty="0">
                <a:latin typeface="Helvetica" charset="0"/>
                <a:ea typeface="MS PGothic" charset="-128"/>
              </a:rPr>
              <a:t>Example: Mary and John want to buy a TV set on </a:t>
            </a:r>
            <a:r>
              <a:rPr lang="en-US" altLang="zh-CN" dirty="0" err="1">
                <a:latin typeface="Helvetica" charset="0"/>
                <a:ea typeface="MS PGothic" charset="-128"/>
              </a:rPr>
              <a:t>jd.com</a:t>
            </a:r>
            <a:r>
              <a:rPr lang="en-US" altLang="zh-CN" dirty="0">
                <a:latin typeface="Helvetica" charset="0"/>
                <a:ea typeface="MS PGothic" charset="-128"/>
              </a:rPr>
              <a:t> on</a:t>
            </a:r>
            <a:r>
              <a:rPr lang="zh-CN" altLang="en-US" dirty="0">
                <a:latin typeface="Helvetica" charset="0"/>
                <a:ea typeface="MS PGothic" charset="-128"/>
              </a:rPr>
              <a:t> </a:t>
            </a:r>
            <a:r>
              <a:rPr lang="en-US" altLang="zh-CN" dirty="0">
                <a:latin typeface="Helvetica" charset="0"/>
                <a:ea typeface="MS PGothic" charset="-128"/>
              </a:rPr>
              <a:t>618,</a:t>
            </a:r>
            <a:r>
              <a:rPr lang="zh-CN" altLang="en-US" dirty="0">
                <a:latin typeface="Helvetica" charset="0"/>
                <a:ea typeface="MS PGothic" charset="-128"/>
              </a:rPr>
              <a:t> </a:t>
            </a:r>
            <a:r>
              <a:rPr lang="en-US" altLang="zh-CN" dirty="0">
                <a:latin typeface="Helvetica" charset="0"/>
                <a:ea typeface="MS PGothic" charset="-128"/>
              </a:rPr>
              <a:t>but there is only one left in stock</a:t>
            </a:r>
          </a:p>
          <a:p>
            <a:pPr lvl="1" eaLnBrk="1" hangingPunct="1"/>
            <a:r>
              <a:rPr lang="en-US" altLang="zh-CN" dirty="0">
                <a:latin typeface="Helvetica" charset="0"/>
                <a:ea typeface="MS PGothic" charset="-128"/>
              </a:rPr>
              <a:t>(T1) John logs in first, but waits…</a:t>
            </a:r>
          </a:p>
          <a:p>
            <a:pPr lvl="1" eaLnBrk="1" hangingPunct="1"/>
            <a:r>
              <a:rPr lang="en-US" altLang="zh-CN" dirty="0">
                <a:latin typeface="Helvetica" charset="0"/>
                <a:ea typeface="MS PGothic" charset="-128"/>
              </a:rPr>
              <a:t>(T2) Mary logs in second and buys the TV set right away</a:t>
            </a:r>
          </a:p>
          <a:p>
            <a:pPr lvl="1" eaLnBrk="1" hangingPunct="1"/>
            <a:r>
              <a:rPr lang="en-US" altLang="zh-CN" dirty="0">
                <a:latin typeface="Helvetica" charset="0"/>
                <a:ea typeface="MS PGothic" charset="-128"/>
              </a:rPr>
              <a:t>(T1) John decides to buy, but it is too late…</a:t>
            </a:r>
          </a:p>
        </p:txBody>
      </p:sp>
      <p:sp>
        <p:nvSpPr>
          <p:cNvPr id="57347" name="Content Placeholder 4"/>
          <p:cNvSpPr txBox="1">
            <a:spLocks/>
          </p:cNvSpPr>
          <p:nvPr/>
        </p:nvSpPr>
        <p:spPr bwMode="auto">
          <a:xfrm>
            <a:off x="838200" y="1524000"/>
            <a:ext cx="6019800" cy="990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478" tIns="44445" rIns="90478" bIns="44445"/>
          <a:lstStyle>
            <a:lvl1pPr marL="2857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1pPr>
            <a:lvl2pPr marL="7429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2pPr>
            <a:lvl3pPr marL="11430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3pPr>
            <a:lvl4pPr marL="16002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4pPr>
            <a:lvl5pPr marL="20574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5pPr>
            <a:lvl6pPr marL="25146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6pPr>
            <a:lvl7pPr marL="29718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7pPr>
            <a:lvl8pPr marL="34290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8pPr>
            <a:lvl9pPr marL="38862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9pPr>
          </a:lstStyle>
          <a:p>
            <a:pPr>
              <a:lnSpc>
                <a:spcPct val="90000"/>
              </a:lnSpc>
              <a:spcBef>
                <a:spcPct val="30000"/>
              </a:spcBef>
              <a:buSzPct val="100000"/>
            </a:pPr>
            <a:r>
              <a:rPr lang="en-US" altLang="ko-KR" b="0">
                <a:latin typeface="Courier New" charset="0"/>
                <a:ea typeface="Gulim" charset="-127"/>
              </a:rPr>
              <a:t>T1:R(A),         R(A),W(A)</a:t>
            </a:r>
          </a:p>
          <a:p>
            <a:pPr>
              <a:lnSpc>
                <a:spcPct val="90000"/>
              </a:lnSpc>
              <a:spcBef>
                <a:spcPct val="30000"/>
              </a:spcBef>
              <a:buSzPct val="100000"/>
            </a:pPr>
            <a:r>
              <a:rPr lang="en-US" altLang="ko-KR" b="0">
                <a:latin typeface="Courier New" charset="0"/>
                <a:ea typeface="Gulim" charset="-127"/>
              </a:rPr>
              <a:t>T2:     R(A),W(A)          </a:t>
            </a:r>
            <a:r>
              <a:rPr lang="en-US" altLang="zh-CN" b="0">
                <a:latin typeface="Courier New" charset="0"/>
                <a:ea typeface="Gulim" charset="-127"/>
              </a:rPr>
              <a:t> </a:t>
            </a:r>
            <a:endParaRPr lang="en-US" altLang="zh-CN" b="0">
              <a:latin typeface="Helvetica" charset="0"/>
            </a:endParaRPr>
          </a:p>
        </p:txBody>
      </p:sp>
    </p:spTree>
    <p:extLst>
      <p:ext uri="{BB962C8B-B14F-4D97-AF65-F5344CB8AC3E}">
        <p14:creationId xmlns:p14="http://schemas.microsoft.com/office/powerpoint/2010/main" val="116356497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266">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266">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266">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266">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26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p:cNvSpPr>
            <a:spLocks noGrp="1"/>
          </p:cNvSpPr>
          <p:nvPr>
            <p:ph type="title"/>
          </p:nvPr>
        </p:nvSpPr>
        <p:spPr>
          <a:xfrm>
            <a:off x="990600" y="152400"/>
            <a:ext cx="7543800" cy="533400"/>
          </a:xfrm>
        </p:spPr>
        <p:txBody>
          <a:bodyPr/>
          <a:lstStyle/>
          <a:p>
            <a:pPr eaLnBrk="1" hangingPunct="1"/>
            <a:r>
              <a:rPr lang="en-US" altLang="zh-CN">
                <a:latin typeface="Helvetica" charset="0"/>
                <a:ea typeface="MS PGothic" charset="-128"/>
              </a:rPr>
              <a:t>Anomalies with Interleaved Execution </a:t>
            </a:r>
          </a:p>
        </p:txBody>
      </p:sp>
      <p:sp>
        <p:nvSpPr>
          <p:cNvPr id="12290" name="Content Placeholder 2"/>
          <p:cNvSpPr>
            <a:spLocks noGrp="1"/>
          </p:cNvSpPr>
          <p:nvPr>
            <p:ph idx="1"/>
          </p:nvPr>
        </p:nvSpPr>
        <p:spPr/>
        <p:txBody>
          <a:bodyPr/>
          <a:lstStyle/>
          <a:p>
            <a:pPr eaLnBrk="1" hangingPunct="1"/>
            <a:r>
              <a:rPr lang="en-US" altLang="zh-CN">
                <a:latin typeface="Helvetica" charset="0"/>
                <a:ea typeface="MS PGothic" charset="-128"/>
              </a:rPr>
              <a:t>Write-read conflict (reading uncommitted data)</a:t>
            </a:r>
          </a:p>
          <a:p>
            <a:pPr eaLnBrk="1" hangingPunct="1"/>
            <a:endParaRPr lang="en-US" altLang="zh-CN">
              <a:latin typeface="Helvetica" charset="0"/>
              <a:ea typeface="MS PGothic" charset="-128"/>
            </a:endParaRPr>
          </a:p>
          <a:p>
            <a:pPr eaLnBrk="1" hangingPunct="1"/>
            <a:endParaRPr lang="en-US" altLang="zh-CN">
              <a:latin typeface="Helvetica" charset="0"/>
              <a:ea typeface="MS PGothic" charset="-128"/>
            </a:endParaRPr>
          </a:p>
          <a:p>
            <a:pPr eaLnBrk="1" hangingPunct="1"/>
            <a:endParaRPr lang="en-US" altLang="zh-CN">
              <a:latin typeface="Helvetica" charset="0"/>
              <a:ea typeface="MS PGothic" charset="-128"/>
            </a:endParaRPr>
          </a:p>
          <a:p>
            <a:pPr eaLnBrk="1" hangingPunct="1"/>
            <a:r>
              <a:rPr lang="en-US" altLang="zh-CN">
                <a:latin typeface="Helvetica" charset="0"/>
                <a:ea typeface="MS PGothic" charset="-128"/>
              </a:rPr>
              <a:t>Example: </a:t>
            </a:r>
          </a:p>
          <a:p>
            <a:pPr lvl="1" eaLnBrk="1" hangingPunct="1"/>
            <a:r>
              <a:rPr lang="en-US" altLang="zh-CN">
                <a:latin typeface="Helvetica" charset="0"/>
                <a:ea typeface="MS PGothic" charset="-128"/>
              </a:rPr>
              <a:t>(T1) A user updates value of A in two steps</a:t>
            </a:r>
          </a:p>
          <a:p>
            <a:pPr lvl="1" eaLnBrk="1" hangingPunct="1"/>
            <a:r>
              <a:rPr lang="en-US" altLang="zh-CN">
                <a:latin typeface="Helvetica" charset="0"/>
                <a:ea typeface="MS PGothic" charset="-128"/>
              </a:rPr>
              <a:t>(T2) Another user reads the intermediate value of A, which can be inconsistent</a:t>
            </a:r>
          </a:p>
          <a:p>
            <a:pPr lvl="1" eaLnBrk="1" hangingPunct="1"/>
            <a:r>
              <a:rPr lang="en-US" altLang="zh-CN">
                <a:latin typeface="Helvetica" charset="0"/>
                <a:ea typeface="MS PGothic" charset="-128"/>
              </a:rPr>
              <a:t>Violates transaction semantics since T2 is not supposed to see intermediate state of T1 </a:t>
            </a:r>
          </a:p>
          <a:p>
            <a:pPr lvl="1" eaLnBrk="1" hangingPunct="1">
              <a:buFontTx/>
              <a:buNone/>
            </a:pPr>
            <a:endParaRPr lang="en-US" altLang="zh-CN">
              <a:latin typeface="Helvetica" charset="0"/>
              <a:ea typeface="MS PGothic" charset="-128"/>
            </a:endParaRPr>
          </a:p>
          <a:p>
            <a:pPr eaLnBrk="1" hangingPunct="1"/>
            <a:endParaRPr lang="en-US" altLang="zh-CN">
              <a:latin typeface="Helvetica" charset="0"/>
              <a:ea typeface="MS PGothic" charset="-128"/>
            </a:endParaRPr>
          </a:p>
          <a:p>
            <a:pPr eaLnBrk="1" hangingPunct="1"/>
            <a:endParaRPr lang="en-US" altLang="zh-CN">
              <a:latin typeface="Helvetica" charset="0"/>
              <a:ea typeface="MS PGothic" charset="-128"/>
            </a:endParaRPr>
          </a:p>
          <a:p>
            <a:pPr eaLnBrk="1" hangingPunct="1"/>
            <a:endParaRPr lang="en-US" altLang="zh-CN">
              <a:latin typeface="Helvetica" charset="0"/>
              <a:ea typeface="MS PGothic" charset="-128"/>
            </a:endParaRPr>
          </a:p>
          <a:p>
            <a:pPr eaLnBrk="1" hangingPunct="1"/>
            <a:endParaRPr lang="en-US" altLang="zh-CN">
              <a:latin typeface="Helvetica" charset="0"/>
              <a:ea typeface="MS PGothic" charset="-128"/>
            </a:endParaRPr>
          </a:p>
        </p:txBody>
      </p:sp>
      <p:sp>
        <p:nvSpPr>
          <p:cNvPr id="58371" name="Content Placeholder 4"/>
          <p:cNvSpPr txBox="1">
            <a:spLocks/>
          </p:cNvSpPr>
          <p:nvPr/>
        </p:nvSpPr>
        <p:spPr bwMode="auto">
          <a:xfrm>
            <a:off x="838200" y="1524000"/>
            <a:ext cx="6019800" cy="990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478" tIns="44445" rIns="90478" bIns="44445"/>
          <a:lstStyle>
            <a:lvl1pPr marL="2857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1pPr>
            <a:lvl2pPr marL="7429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2pPr>
            <a:lvl3pPr marL="11430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3pPr>
            <a:lvl4pPr marL="16002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4pPr>
            <a:lvl5pPr marL="20574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5pPr>
            <a:lvl6pPr marL="25146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6pPr>
            <a:lvl7pPr marL="29718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7pPr>
            <a:lvl8pPr marL="34290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8pPr>
            <a:lvl9pPr marL="38862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9pPr>
          </a:lstStyle>
          <a:p>
            <a:pPr>
              <a:lnSpc>
                <a:spcPct val="90000"/>
              </a:lnSpc>
              <a:spcBef>
                <a:spcPct val="30000"/>
              </a:spcBef>
              <a:buSzPct val="100000"/>
            </a:pPr>
            <a:r>
              <a:rPr lang="en-US" altLang="ko-KR" b="0">
                <a:latin typeface="Courier New" charset="0"/>
                <a:ea typeface="Gulim" charset="-127"/>
              </a:rPr>
              <a:t>T1:R(A),W(A),     W(A)</a:t>
            </a:r>
          </a:p>
          <a:p>
            <a:pPr>
              <a:lnSpc>
                <a:spcPct val="90000"/>
              </a:lnSpc>
              <a:spcBef>
                <a:spcPct val="30000"/>
              </a:spcBef>
              <a:buSzPct val="100000"/>
            </a:pPr>
            <a:r>
              <a:rPr lang="en-US" altLang="ko-KR" b="0">
                <a:latin typeface="Courier New" charset="0"/>
                <a:ea typeface="Gulim" charset="-127"/>
              </a:rPr>
              <a:t>T2:          R(A),    …          </a:t>
            </a:r>
            <a:r>
              <a:rPr lang="en-US" altLang="zh-CN" b="0">
                <a:latin typeface="Courier New" charset="0"/>
                <a:ea typeface="Gulim" charset="-127"/>
              </a:rPr>
              <a:t> </a:t>
            </a:r>
            <a:endParaRPr lang="en-US" altLang="zh-CN" b="0">
              <a:latin typeface="Helvetica" charset="0"/>
            </a:endParaRPr>
          </a:p>
        </p:txBody>
      </p:sp>
    </p:spTree>
    <p:extLst>
      <p:ext uri="{BB962C8B-B14F-4D97-AF65-F5344CB8AC3E}">
        <p14:creationId xmlns:p14="http://schemas.microsoft.com/office/powerpoint/2010/main" val="105051247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290">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290">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290">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29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p:cNvSpPr>
            <a:spLocks noGrp="1"/>
          </p:cNvSpPr>
          <p:nvPr>
            <p:ph type="title"/>
          </p:nvPr>
        </p:nvSpPr>
        <p:spPr/>
        <p:txBody>
          <a:bodyPr/>
          <a:lstStyle/>
          <a:p>
            <a:pPr eaLnBrk="1" hangingPunct="1"/>
            <a:r>
              <a:rPr lang="en-US" altLang="zh-CN">
                <a:latin typeface="Helvetica" charset="0"/>
                <a:ea typeface="MS PGothic" charset="-128"/>
              </a:rPr>
              <a:t>Transaction Scheduling</a:t>
            </a:r>
          </a:p>
        </p:txBody>
      </p:sp>
      <p:sp>
        <p:nvSpPr>
          <p:cNvPr id="3" name="Content Placeholder 2"/>
          <p:cNvSpPr>
            <a:spLocks noGrp="1"/>
          </p:cNvSpPr>
          <p:nvPr>
            <p:ph idx="1"/>
          </p:nvPr>
        </p:nvSpPr>
        <p:spPr/>
        <p:txBody>
          <a:bodyPr/>
          <a:lstStyle/>
          <a:p>
            <a:pPr eaLnBrk="1" hangingPunct="1"/>
            <a:r>
              <a:rPr lang="en-US" altLang="zh-CN" b="1" dirty="0">
                <a:latin typeface="Helvetica" charset="0"/>
                <a:ea typeface="MS PGothic" charset="-128"/>
              </a:rPr>
              <a:t>Serial schedule: </a:t>
            </a:r>
            <a:r>
              <a:rPr lang="en-US" altLang="zh-CN" dirty="0">
                <a:latin typeface="Helvetica" charset="0"/>
                <a:ea typeface="MS PGothic" charset="-128"/>
              </a:rPr>
              <a:t>A schedule that </a:t>
            </a:r>
            <a:r>
              <a:rPr lang="en-US" altLang="zh-CN" dirty="0">
                <a:solidFill>
                  <a:srgbClr val="FF0000"/>
                </a:solidFill>
                <a:latin typeface="Helvetica" charset="0"/>
                <a:ea typeface="MS PGothic" charset="-128"/>
              </a:rPr>
              <a:t>does not interleave</a:t>
            </a:r>
            <a:r>
              <a:rPr lang="en-US" altLang="zh-CN" dirty="0">
                <a:latin typeface="Helvetica" charset="0"/>
                <a:ea typeface="MS PGothic" charset="-128"/>
              </a:rPr>
              <a:t> the operations of different transactions</a:t>
            </a:r>
          </a:p>
          <a:p>
            <a:pPr lvl="1" eaLnBrk="1" hangingPunct="1"/>
            <a:r>
              <a:rPr lang="en-US" altLang="zh-CN" dirty="0">
                <a:latin typeface="Helvetica" charset="0"/>
                <a:ea typeface="MS PGothic" charset="-128"/>
              </a:rPr>
              <a:t>Transactions run serially (one at a time)</a:t>
            </a:r>
          </a:p>
          <a:p>
            <a:pPr eaLnBrk="1" hangingPunct="1">
              <a:buFontTx/>
              <a:buNone/>
            </a:pPr>
            <a:endParaRPr lang="en-US" altLang="zh-CN" dirty="0">
              <a:latin typeface="Helvetica" charset="0"/>
              <a:ea typeface="MS PGothic" charset="-128"/>
            </a:endParaRPr>
          </a:p>
          <a:p>
            <a:pPr eaLnBrk="1" hangingPunct="1"/>
            <a:r>
              <a:rPr lang="en-US" altLang="zh-CN" b="1" dirty="0">
                <a:solidFill>
                  <a:srgbClr val="000000"/>
                </a:solidFill>
                <a:latin typeface="Helvetica" charset="0"/>
                <a:ea typeface="MS PGothic" charset="-128"/>
              </a:rPr>
              <a:t>Equivalent schedules: </a:t>
            </a:r>
            <a:r>
              <a:rPr lang="en-US" altLang="zh-CN" dirty="0">
                <a:latin typeface="Helvetica" charset="0"/>
                <a:ea typeface="MS PGothic" charset="-128"/>
              </a:rPr>
              <a:t>For any storage/database state, the effect (on storage/database) and output of executing the first schedule is identical to the effect of executing the second schedule</a:t>
            </a:r>
          </a:p>
          <a:p>
            <a:pPr eaLnBrk="1" hangingPunct="1">
              <a:buFontTx/>
              <a:buNone/>
            </a:pPr>
            <a:endParaRPr lang="en-US" altLang="zh-CN" dirty="0">
              <a:latin typeface="Helvetica" charset="0"/>
              <a:ea typeface="MS PGothic" charset="-128"/>
            </a:endParaRPr>
          </a:p>
          <a:p>
            <a:pPr eaLnBrk="1" hangingPunct="1"/>
            <a:r>
              <a:rPr lang="en-US" altLang="zh-CN" b="1" dirty="0">
                <a:solidFill>
                  <a:srgbClr val="000000"/>
                </a:solidFill>
                <a:latin typeface="Helvetica" charset="0"/>
                <a:ea typeface="MS PGothic" charset="-128"/>
              </a:rPr>
              <a:t>Serializable schedule: </a:t>
            </a:r>
            <a:r>
              <a:rPr lang="en-US" altLang="zh-CN" dirty="0">
                <a:latin typeface="Helvetica" charset="0"/>
                <a:ea typeface="MS PGothic" charset="-128"/>
              </a:rPr>
              <a:t>A schedule that is</a:t>
            </a:r>
            <a:r>
              <a:rPr lang="en-US" altLang="zh-CN" dirty="0">
                <a:solidFill>
                  <a:srgbClr val="FF0000"/>
                </a:solidFill>
                <a:latin typeface="Helvetica" charset="0"/>
                <a:ea typeface="MS PGothic" charset="-128"/>
              </a:rPr>
              <a:t> equivalent </a:t>
            </a:r>
            <a:r>
              <a:rPr lang="en-US" altLang="zh-CN" dirty="0">
                <a:latin typeface="Helvetica" charset="0"/>
                <a:ea typeface="MS PGothic" charset="-128"/>
              </a:rPr>
              <a:t>to </a:t>
            </a:r>
            <a:r>
              <a:rPr lang="en-US" altLang="zh-CN" i="1" dirty="0">
                <a:solidFill>
                  <a:srgbClr val="FF0000"/>
                </a:solidFill>
                <a:latin typeface="Helvetica" charset="0"/>
                <a:ea typeface="MS PGothic" charset="-128"/>
              </a:rPr>
              <a:t>some</a:t>
            </a:r>
            <a:r>
              <a:rPr lang="en-US" altLang="zh-CN" dirty="0">
                <a:latin typeface="Helvetica" charset="0"/>
                <a:ea typeface="MS PGothic" charset="-128"/>
              </a:rPr>
              <a:t> serial execution of the transactions</a:t>
            </a:r>
          </a:p>
          <a:p>
            <a:pPr lvl="1" eaLnBrk="1" hangingPunct="1"/>
            <a:r>
              <a:rPr lang="en-US" altLang="zh-CN" dirty="0">
                <a:latin typeface="Helvetica" charset="0"/>
                <a:ea typeface="MS PGothic" charset="-128"/>
              </a:rPr>
              <a:t>Intuitively: with a serializable schedule you only see things that could happen in situations where you were running transactions one-at-a-time</a:t>
            </a:r>
          </a:p>
          <a:p>
            <a:pPr eaLnBrk="1" hangingPunct="1">
              <a:buFontTx/>
              <a:buNone/>
            </a:pPr>
            <a:endParaRPr lang="en-US" altLang="zh-CN" dirty="0">
              <a:latin typeface="Helvetica" charset="0"/>
              <a:ea typeface="MS PGothic" charset="-128"/>
            </a:endParaRPr>
          </a:p>
        </p:txBody>
      </p:sp>
    </p:spTree>
    <p:extLst>
      <p:ext uri="{BB962C8B-B14F-4D97-AF65-F5344CB8AC3E}">
        <p14:creationId xmlns:p14="http://schemas.microsoft.com/office/powerpoint/2010/main" val="393220472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noChangeArrowheads="1"/>
          </p:cNvSpPr>
          <p:nvPr>
            <p:ph type="title"/>
          </p:nvPr>
        </p:nvSpPr>
        <p:spPr>
          <a:xfrm>
            <a:off x="685800" y="0"/>
            <a:ext cx="7772400" cy="1143000"/>
          </a:xfrm>
        </p:spPr>
        <p:txBody>
          <a:bodyPr lIns="90488" tIns="44450" rIns="90488" bIns="44450"/>
          <a:lstStyle/>
          <a:p>
            <a:pPr eaLnBrk="1" hangingPunct="1"/>
            <a:r>
              <a:rPr lang="en-US" altLang="zh-CN" dirty="0">
                <a:latin typeface="Tahoma" charset="0"/>
                <a:ea typeface="MS PGothic" charset="-128"/>
              </a:rPr>
              <a:t>Conflict Serializable Schedules</a:t>
            </a:r>
          </a:p>
        </p:txBody>
      </p:sp>
      <p:sp>
        <p:nvSpPr>
          <p:cNvPr id="44035" name="Rectangle 3"/>
          <p:cNvSpPr>
            <a:spLocks noGrp="1" noChangeArrowheads="1"/>
          </p:cNvSpPr>
          <p:nvPr>
            <p:ph idx="1"/>
          </p:nvPr>
        </p:nvSpPr>
        <p:spPr>
          <a:xfrm>
            <a:off x="228600" y="914400"/>
            <a:ext cx="8915400" cy="5486400"/>
          </a:xfrm>
        </p:spPr>
        <p:txBody>
          <a:bodyPr lIns="90488" tIns="44450" rIns="90488" bIns="44450"/>
          <a:lstStyle/>
          <a:p>
            <a:pPr eaLnBrk="1" hangingPunct="1"/>
            <a:r>
              <a:rPr lang="en-US" altLang="zh-CN">
                <a:latin typeface="Tahoma" charset="0"/>
                <a:ea typeface="MS PGothic" charset="-128"/>
              </a:rPr>
              <a:t>Two operations </a:t>
            </a:r>
            <a:r>
              <a:rPr lang="en-US" altLang="zh-CN" b="1">
                <a:solidFill>
                  <a:srgbClr val="000000"/>
                </a:solidFill>
                <a:latin typeface="Tahoma" charset="0"/>
                <a:ea typeface="MS PGothic" charset="-128"/>
              </a:rPr>
              <a:t>conflict</a:t>
            </a:r>
            <a:r>
              <a:rPr lang="en-US" altLang="zh-CN">
                <a:solidFill>
                  <a:schemeClr val="accent2"/>
                </a:solidFill>
                <a:latin typeface="Tahoma" charset="0"/>
                <a:ea typeface="MS PGothic" charset="-128"/>
              </a:rPr>
              <a:t> </a:t>
            </a:r>
            <a:r>
              <a:rPr lang="en-US" altLang="zh-CN">
                <a:latin typeface="Tahoma" charset="0"/>
                <a:ea typeface="MS PGothic" charset="-128"/>
              </a:rPr>
              <a:t>if they</a:t>
            </a:r>
          </a:p>
          <a:p>
            <a:pPr lvl="1" eaLnBrk="1" hangingPunct="1"/>
            <a:r>
              <a:rPr lang="en-US" altLang="zh-CN">
                <a:latin typeface="Tahoma" charset="0"/>
                <a:ea typeface="MS PGothic" charset="-128"/>
              </a:rPr>
              <a:t>Belong to different transactions</a:t>
            </a:r>
          </a:p>
          <a:p>
            <a:pPr lvl="1" eaLnBrk="1" hangingPunct="1"/>
            <a:r>
              <a:rPr lang="en-US" altLang="zh-CN">
                <a:latin typeface="Tahoma" charset="0"/>
                <a:ea typeface="MS PGothic" charset="-128"/>
              </a:rPr>
              <a:t>Are on the same data </a:t>
            </a:r>
          </a:p>
          <a:p>
            <a:pPr lvl="1" eaLnBrk="1" hangingPunct="1"/>
            <a:r>
              <a:rPr lang="en-US" altLang="zh-CN">
                <a:latin typeface="Tahoma" charset="0"/>
                <a:ea typeface="MS PGothic" charset="-128"/>
              </a:rPr>
              <a:t>At least one of them is a write</a:t>
            </a:r>
          </a:p>
          <a:p>
            <a:pPr eaLnBrk="1" hangingPunct="1"/>
            <a:endParaRPr lang="en-US" altLang="zh-CN">
              <a:latin typeface="Tahoma" charset="0"/>
              <a:ea typeface="MS PGothic" charset="-128"/>
            </a:endParaRPr>
          </a:p>
          <a:p>
            <a:pPr eaLnBrk="1" hangingPunct="1"/>
            <a:r>
              <a:rPr lang="en-US" altLang="zh-CN">
                <a:latin typeface="Tahoma" charset="0"/>
                <a:ea typeface="MS PGothic" charset="-128"/>
              </a:rPr>
              <a:t>Two schedules are </a:t>
            </a:r>
            <a:r>
              <a:rPr lang="en-US" altLang="zh-CN" b="1">
                <a:solidFill>
                  <a:srgbClr val="000000"/>
                </a:solidFill>
                <a:latin typeface="Tahoma" charset="0"/>
                <a:ea typeface="MS PGothic" charset="-128"/>
              </a:rPr>
              <a:t>conflict equivalent </a:t>
            </a:r>
            <a:r>
              <a:rPr lang="en-US" altLang="zh-CN">
                <a:latin typeface="Tahoma" charset="0"/>
                <a:ea typeface="MS PGothic" charset="-128"/>
              </a:rPr>
              <a:t>iff:</a:t>
            </a:r>
          </a:p>
          <a:p>
            <a:pPr lvl="1" eaLnBrk="1" hangingPunct="1"/>
            <a:r>
              <a:rPr lang="en-US" altLang="zh-CN">
                <a:latin typeface="Tahoma" charset="0"/>
                <a:ea typeface="MS PGothic" charset="-128"/>
              </a:rPr>
              <a:t>Involve same operations of same transactions </a:t>
            </a:r>
          </a:p>
          <a:p>
            <a:pPr lvl="1" eaLnBrk="1" hangingPunct="1"/>
            <a:r>
              <a:rPr lang="en-US" altLang="zh-CN">
                <a:latin typeface="Tahoma" charset="0"/>
                <a:ea typeface="MS PGothic" charset="-128"/>
              </a:rPr>
              <a:t>Every pair of </a:t>
            </a:r>
            <a:r>
              <a:rPr lang="en-US" altLang="zh-CN" b="1">
                <a:solidFill>
                  <a:srgbClr val="000000"/>
                </a:solidFill>
                <a:latin typeface="Tahoma" charset="0"/>
                <a:ea typeface="MS PGothic" charset="-128"/>
              </a:rPr>
              <a:t>conflicting </a:t>
            </a:r>
            <a:r>
              <a:rPr lang="en-US" altLang="zh-CN">
                <a:latin typeface="Tahoma" charset="0"/>
                <a:ea typeface="MS PGothic" charset="-128"/>
              </a:rPr>
              <a:t>operations is ordered the same way</a:t>
            </a:r>
          </a:p>
          <a:p>
            <a:pPr eaLnBrk="1" hangingPunct="1"/>
            <a:endParaRPr lang="en-US" altLang="zh-CN">
              <a:latin typeface="Tahoma" charset="0"/>
              <a:ea typeface="MS PGothic" charset="-128"/>
            </a:endParaRPr>
          </a:p>
          <a:p>
            <a:pPr eaLnBrk="1" hangingPunct="1"/>
            <a:r>
              <a:rPr lang="en-US" altLang="zh-CN">
                <a:latin typeface="Tahoma" charset="0"/>
                <a:ea typeface="MS PGothic" charset="-128"/>
              </a:rPr>
              <a:t>Schedule S is </a:t>
            </a:r>
            <a:r>
              <a:rPr lang="en-US" altLang="zh-CN" b="1">
                <a:solidFill>
                  <a:srgbClr val="000000"/>
                </a:solidFill>
                <a:latin typeface="Tahoma" charset="0"/>
                <a:ea typeface="MS PGothic" charset="-128"/>
              </a:rPr>
              <a:t>conflict serializable </a:t>
            </a:r>
            <a:r>
              <a:rPr lang="en-US" altLang="zh-CN">
                <a:latin typeface="Tahoma" charset="0"/>
                <a:ea typeface="MS PGothic" charset="-128"/>
              </a:rPr>
              <a:t>if S is conflict equivalent to some serial schedule</a:t>
            </a:r>
          </a:p>
          <a:p>
            <a:pPr eaLnBrk="1" hangingPunct="1"/>
            <a:endParaRPr lang="en-US" altLang="zh-CN">
              <a:latin typeface="Tahoma" charset="0"/>
              <a:ea typeface="MS PGothic" charset="-128"/>
            </a:endParaRPr>
          </a:p>
          <a:p>
            <a:pPr eaLnBrk="1" hangingPunct="1"/>
            <a:r>
              <a:rPr lang="en-US" altLang="zh-CN">
                <a:latin typeface="Tahoma" charset="0"/>
                <a:ea typeface="MS PGothic" charset="-128"/>
              </a:rPr>
              <a:t>Conflict serializable =&gt; serializable</a:t>
            </a:r>
          </a:p>
        </p:txBody>
      </p:sp>
      <p:sp>
        <p:nvSpPr>
          <p:cNvPr id="60419" name="Footer Placeholder 3"/>
          <p:cNvSpPr>
            <a:spLocks noGrp="1"/>
          </p:cNvSpPr>
          <p:nvPr>
            <p:ph type="ftr" sz="quarter" idx="4294967295"/>
          </p:nvPr>
        </p:nvSpPr>
        <p:spPr bwMode="auto">
          <a:xfrm>
            <a:off x="0" y="6453188"/>
            <a:ext cx="2895600" cy="403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endParaRPr lang="en-US" altLang="zh-CN" sz="1200">
              <a:latin typeface="Times New Roman" charset="0"/>
            </a:endParaRPr>
          </a:p>
          <a:p>
            <a:endParaRPr lang="en-US" altLang="zh-CN" sz="1200">
              <a:solidFill>
                <a:schemeClr val="tx2"/>
              </a:solidFill>
              <a:latin typeface="Times New Roman" charset="0"/>
            </a:endParaRPr>
          </a:p>
        </p:txBody>
      </p:sp>
    </p:spTree>
    <p:extLst>
      <p:ext uri="{BB962C8B-B14F-4D97-AF65-F5344CB8AC3E}">
        <p14:creationId xmlns:p14="http://schemas.microsoft.com/office/powerpoint/2010/main" val="1829982637"/>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03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403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035">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403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03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4035">
                                            <p:txEl>
                                              <p:pRg st="7" end="7"/>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4035">
                                            <p:txEl>
                                              <p:pRg st="9" end="9"/>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403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p:cNvSpPr>
            <a:spLocks noGrp="1"/>
          </p:cNvSpPr>
          <p:nvPr>
            <p:ph type="title"/>
          </p:nvPr>
        </p:nvSpPr>
        <p:spPr>
          <a:xfrm>
            <a:off x="381000" y="152400"/>
            <a:ext cx="8534400" cy="533400"/>
          </a:xfrm>
        </p:spPr>
        <p:txBody>
          <a:bodyPr/>
          <a:lstStyle/>
          <a:p>
            <a:pPr eaLnBrk="1" hangingPunct="1"/>
            <a:r>
              <a:rPr lang="en-US" altLang="zh-CN">
                <a:latin typeface="Tahoma" charset="0"/>
                <a:ea typeface="MS PGothic" charset="-128"/>
              </a:rPr>
              <a:t>Conflict Equivalence – Intuition</a:t>
            </a:r>
            <a:endParaRPr lang="en-US" altLang="zh-CN">
              <a:latin typeface="Helvetica" charset="0"/>
              <a:ea typeface="MS PGothic" charset="-128"/>
            </a:endParaRPr>
          </a:p>
        </p:txBody>
      </p:sp>
      <p:sp>
        <p:nvSpPr>
          <p:cNvPr id="62466" name="Content Placeholder 2"/>
          <p:cNvSpPr>
            <a:spLocks noGrp="1"/>
          </p:cNvSpPr>
          <p:nvPr>
            <p:ph idx="1"/>
          </p:nvPr>
        </p:nvSpPr>
        <p:spPr>
          <a:xfrm>
            <a:off x="609600" y="914400"/>
            <a:ext cx="7924800" cy="2362200"/>
          </a:xfrm>
        </p:spPr>
        <p:txBody>
          <a:bodyPr/>
          <a:lstStyle/>
          <a:p>
            <a:pPr eaLnBrk="1" hangingPunct="1"/>
            <a:r>
              <a:rPr lang="en-US" altLang="zh-CN">
                <a:latin typeface="Tahoma" charset="0"/>
                <a:ea typeface="MS PGothic" charset="-128"/>
              </a:rPr>
              <a:t>If you can transform an interleaved schedule by swapping </a:t>
            </a:r>
            <a:r>
              <a:rPr lang="en-US" altLang="zh-CN" i="1">
                <a:latin typeface="Tahoma" charset="0"/>
                <a:ea typeface="MS PGothic" charset="-128"/>
              </a:rPr>
              <a:t>consecutive non-conflicting </a:t>
            </a:r>
            <a:r>
              <a:rPr lang="en-US" altLang="zh-CN">
                <a:latin typeface="Tahoma" charset="0"/>
                <a:ea typeface="MS PGothic" charset="-128"/>
              </a:rPr>
              <a:t>operations of </a:t>
            </a:r>
            <a:r>
              <a:rPr lang="en-US" altLang="zh-CN" i="1">
                <a:latin typeface="Tahoma" charset="0"/>
                <a:ea typeface="MS PGothic" charset="-128"/>
              </a:rPr>
              <a:t>different transactions </a:t>
            </a:r>
            <a:r>
              <a:rPr lang="en-US" altLang="zh-CN">
                <a:latin typeface="Tahoma" charset="0"/>
                <a:ea typeface="MS PGothic" charset="-128"/>
              </a:rPr>
              <a:t>into a serial schedule, then the original schedule </a:t>
            </a:r>
            <a:r>
              <a:rPr lang="en-US" altLang="zh-CN">
                <a:solidFill>
                  <a:srgbClr val="000000"/>
                </a:solidFill>
                <a:latin typeface="Tahoma" charset="0"/>
                <a:ea typeface="MS PGothic" charset="-128"/>
              </a:rPr>
              <a:t>is </a:t>
            </a:r>
            <a:r>
              <a:rPr lang="en-US" altLang="zh-CN" b="1">
                <a:solidFill>
                  <a:srgbClr val="000000"/>
                </a:solidFill>
                <a:latin typeface="Tahoma" charset="0"/>
                <a:ea typeface="MS PGothic" charset="-128"/>
              </a:rPr>
              <a:t>conflict serializable</a:t>
            </a:r>
          </a:p>
          <a:p>
            <a:pPr eaLnBrk="1" hangingPunct="1"/>
            <a:r>
              <a:rPr lang="en-US" altLang="zh-CN">
                <a:solidFill>
                  <a:srgbClr val="000000"/>
                </a:solidFill>
                <a:latin typeface="Tahoma" charset="0"/>
                <a:ea typeface="MS PGothic" charset="-128"/>
              </a:rPr>
              <a:t>Example:</a:t>
            </a:r>
            <a:endParaRPr lang="en-US" altLang="zh-CN">
              <a:latin typeface="Helvetica" charset="0"/>
              <a:ea typeface="MS PGothic" charset="-128"/>
            </a:endParaRPr>
          </a:p>
        </p:txBody>
      </p:sp>
      <p:sp>
        <p:nvSpPr>
          <p:cNvPr id="62467" name="Content Placeholder 4"/>
          <p:cNvSpPr txBox="1">
            <a:spLocks/>
          </p:cNvSpPr>
          <p:nvPr/>
        </p:nvSpPr>
        <p:spPr bwMode="auto">
          <a:xfrm>
            <a:off x="609600" y="2819400"/>
            <a:ext cx="7924800" cy="990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478" tIns="44445" rIns="90478" bIns="44445"/>
          <a:lstStyle>
            <a:lvl1pPr marL="2857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1pPr>
            <a:lvl2pPr marL="7429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2pPr>
            <a:lvl3pPr marL="11430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3pPr>
            <a:lvl4pPr marL="16002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4pPr>
            <a:lvl5pPr marL="20574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5pPr>
            <a:lvl6pPr marL="25146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6pPr>
            <a:lvl7pPr marL="29718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7pPr>
            <a:lvl8pPr marL="34290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8pPr>
            <a:lvl9pPr marL="38862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9pPr>
          </a:lstStyle>
          <a:p>
            <a:pPr>
              <a:lnSpc>
                <a:spcPct val="90000"/>
              </a:lnSpc>
              <a:spcBef>
                <a:spcPct val="30000"/>
              </a:spcBef>
              <a:buSzPct val="100000"/>
            </a:pPr>
            <a:r>
              <a:rPr lang="en-US" altLang="ko-KR" b="0">
                <a:latin typeface="Courier New" charset="0"/>
                <a:ea typeface="Gulim" charset="-127"/>
              </a:rPr>
              <a:t>T1:R(A),W(A),          R(B),W(B)</a:t>
            </a:r>
          </a:p>
          <a:p>
            <a:pPr>
              <a:lnSpc>
                <a:spcPct val="90000"/>
              </a:lnSpc>
              <a:spcBef>
                <a:spcPct val="30000"/>
              </a:spcBef>
              <a:buSzPct val="100000"/>
            </a:pPr>
            <a:r>
              <a:rPr lang="en-US" altLang="ko-KR" b="0">
                <a:latin typeface="Courier New" charset="0"/>
                <a:ea typeface="Gulim" charset="-127"/>
              </a:rPr>
              <a:t>T2:          R(A),W(A),         R(B),W(B)          </a:t>
            </a:r>
            <a:r>
              <a:rPr lang="en-US" altLang="zh-CN" b="0">
                <a:latin typeface="Courier New" charset="0"/>
                <a:ea typeface="Gulim" charset="-127"/>
              </a:rPr>
              <a:t> </a:t>
            </a:r>
            <a:endParaRPr lang="en-US" altLang="zh-CN" b="0">
              <a:latin typeface="Helvetica" charset="0"/>
            </a:endParaRPr>
          </a:p>
        </p:txBody>
      </p:sp>
      <p:grpSp>
        <p:nvGrpSpPr>
          <p:cNvPr id="2" name="Group 9"/>
          <p:cNvGrpSpPr>
            <a:grpSpLocks/>
          </p:cNvGrpSpPr>
          <p:nvPr/>
        </p:nvGrpSpPr>
        <p:grpSpPr bwMode="auto">
          <a:xfrm>
            <a:off x="609600" y="3810000"/>
            <a:ext cx="7924800" cy="1295400"/>
            <a:chOff x="609600" y="3810000"/>
            <a:chExt cx="7924800" cy="1295400"/>
          </a:xfrm>
        </p:grpSpPr>
        <p:sp>
          <p:nvSpPr>
            <p:cNvPr id="62472" name="Content Placeholder 4"/>
            <p:cNvSpPr txBox="1">
              <a:spLocks/>
            </p:cNvSpPr>
            <p:nvPr/>
          </p:nvSpPr>
          <p:spPr bwMode="auto">
            <a:xfrm>
              <a:off x="609600" y="4114800"/>
              <a:ext cx="7924800" cy="990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478" tIns="44445" rIns="90478" bIns="44445"/>
            <a:lstStyle>
              <a:lvl1pPr marL="2857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1pPr>
              <a:lvl2pPr marL="7429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2pPr>
              <a:lvl3pPr marL="11430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3pPr>
              <a:lvl4pPr marL="16002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4pPr>
              <a:lvl5pPr marL="20574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5pPr>
              <a:lvl6pPr marL="25146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6pPr>
              <a:lvl7pPr marL="29718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7pPr>
              <a:lvl8pPr marL="34290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8pPr>
              <a:lvl9pPr marL="38862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9pPr>
            </a:lstStyle>
            <a:p>
              <a:pPr>
                <a:lnSpc>
                  <a:spcPct val="90000"/>
                </a:lnSpc>
                <a:spcBef>
                  <a:spcPct val="30000"/>
                </a:spcBef>
                <a:buSzPct val="100000"/>
              </a:pPr>
              <a:r>
                <a:rPr lang="en-US" altLang="ko-KR" b="0">
                  <a:latin typeface="Courier New" charset="0"/>
                  <a:ea typeface="Gulim" charset="-127"/>
                </a:rPr>
                <a:t>T1:R(A),W(A),     R(B),     W(B)</a:t>
              </a:r>
            </a:p>
            <a:p>
              <a:pPr>
                <a:lnSpc>
                  <a:spcPct val="90000"/>
                </a:lnSpc>
                <a:spcBef>
                  <a:spcPct val="30000"/>
                </a:spcBef>
                <a:buSzPct val="100000"/>
              </a:pPr>
              <a:r>
                <a:rPr lang="en-US" altLang="ko-KR" b="0">
                  <a:latin typeface="Courier New" charset="0"/>
                  <a:ea typeface="Gulim" charset="-127"/>
                </a:rPr>
                <a:t>T2:          R(A),     W(A),    R(B),W(B)          </a:t>
              </a:r>
              <a:r>
                <a:rPr lang="en-US" altLang="zh-CN" b="0">
                  <a:latin typeface="Courier New" charset="0"/>
                  <a:ea typeface="Gulim" charset="-127"/>
                </a:rPr>
                <a:t> </a:t>
              </a:r>
              <a:endParaRPr lang="en-US" altLang="zh-CN" b="0">
                <a:latin typeface="Helvetica" charset="0"/>
              </a:endParaRPr>
            </a:p>
          </p:txBody>
        </p:sp>
        <p:sp>
          <p:nvSpPr>
            <p:cNvPr id="62473" name="Down Arrow 7"/>
            <p:cNvSpPr>
              <a:spLocks noChangeArrowheads="1"/>
            </p:cNvSpPr>
            <p:nvPr/>
          </p:nvSpPr>
          <p:spPr bwMode="auto">
            <a:xfrm>
              <a:off x="4495800" y="3810000"/>
              <a:ext cx="228600" cy="304800"/>
            </a:xfrm>
            <a:prstGeom prst="downArrow">
              <a:avLst>
                <a:gd name="adj1" fmla="val 50000"/>
                <a:gd name="adj2" fmla="val 50000"/>
              </a:avLst>
            </a:prstGeom>
            <a:solidFill>
              <a:srgbClr val="FFFFAA"/>
            </a:solidFill>
            <a:ln w="25400">
              <a:solidFill>
                <a:schemeClr val="tx1"/>
              </a:solidFill>
              <a:round/>
              <a:headEnd type="triangle" w="med" len="med"/>
              <a:tailEnd/>
            </a:ln>
          </p:spPr>
          <p:txBody>
            <a:bodyPr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algn="ctr" eaLnBrk="1" hangingPunct="1"/>
              <a:endParaRPr lang="zh-CN" altLang="zh-CN" b="0">
                <a:latin typeface="Helvetica" charset="0"/>
              </a:endParaRPr>
            </a:p>
          </p:txBody>
        </p:sp>
      </p:grpSp>
      <p:grpSp>
        <p:nvGrpSpPr>
          <p:cNvPr id="3" name="Group 10"/>
          <p:cNvGrpSpPr>
            <a:grpSpLocks/>
          </p:cNvGrpSpPr>
          <p:nvPr/>
        </p:nvGrpSpPr>
        <p:grpSpPr bwMode="auto">
          <a:xfrm>
            <a:off x="609600" y="5105400"/>
            <a:ext cx="7924800" cy="1295400"/>
            <a:chOff x="609600" y="5105400"/>
            <a:chExt cx="7924800" cy="1295400"/>
          </a:xfrm>
        </p:grpSpPr>
        <p:sp>
          <p:nvSpPr>
            <p:cNvPr id="62470" name="Content Placeholder 4"/>
            <p:cNvSpPr txBox="1">
              <a:spLocks/>
            </p:cNvSpPr>
            <p:nvPr/>
          </p:nvSpPr>
          <p:spPr bwMode="auto">
            <a:xfrm>
              <a:off x="609600" y="5410200"/>
              <a:ext cx="7924800" cy="990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478" tIns="44445" rIns="90478" bIns="44445"/>
            <a:lstStyle>
              <a:lvl1pPr marL="2857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1pPr>
              <a:lvl2pPr marL="7429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2pPr>
              <a:lvl3pPr marL="11430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3pPr>
              <a:lvl4pPr marL="16002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4pPr>
              <a:lvl5pPr marL="20574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5pPr>
              <a:lvl6pPr marL="25146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6pPr>
              <a:lvl7pPr marL="29718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7pPr>
              <a:lvl8pPr marL="34290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8pPr>
              <a:lvl9pPr marL="38862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9pPr>
            </a:lstStyle>
            <a:p>
              <a:pPr>
                <a:lnSpc>
                  <a:spcPct val="90000"/>
                </a:lnSpc>
                <a:spcBef>
                  <a:spcPct val="30000"/>
                </a:spcBef>
                <a:buSzPct val="100000"/>
              </a:pPr>
              <a:r>
                <a:rPr lang="en-US" altLang="ko-KR" b="0">
                  <a:latin typeface="Courier New" charset="0"/>
                  <a:ea typeface="Gulim" charset="-127"/>
                </a:rPr>
                <a:t>T1:R(A),W(A),R(B),          W(B)</a:t>
              </a:r>
            </a:p>
            <a:p>
              <a:pPr>
                <a:lnSpc>
                  <a:spcPct val="90000"/>
                </a:lnSpc>
                <a:spcBef>
                  <a:spcPct val="30000"/>
                </a:spcBef>
                <a:buSzPct val="100000"/>
              </a:pPr>
              <a:r>
                <a:rPr lang="en-US" altLang="ko-KR" b="0">
                  <a:latin typeface="Courier New" charset="0"/>
                  <a:ea typeface="Gulim" charset="-127"/>
                </a:rPr>
                <a:t>T2:               R(A),W(A),    R(B),W(B)          </a:t>
              </a:r>
              <a:r>
                <a:rPr lang="en-US" altLang="zh-CN" b="0">
                  <a:latin typeface="Courier New" charset="0"/>
                  <a:ea typeface="Gulim" charset="-127"/>
                </a:rPr>
                <a:t> </a:t>
              </a:r>
              <a:endParaRPr lang="en-US" altLang="zh-CN" b="0">
                <a:latin typeface="Helvetica" charset="0"/>
              </a:endParaRPr>
            </a:p>
          </p:txBody>
        </p:sp>
        <p:sp>
          <p:nvSpPr>
            <p:cNvPr id="62471" name="Down Arrow 8"/>
            <p:cNvSpPr>
              <a:spLocks noChangeArrowheads="1"/>
            </p:cNvSpPr>
            <p:nvPr/>
          </p:nvSpPr>
          <p:spPr bwMode="auto">
            <a:xfrm>
              <a:off x="4495800" y="5105400"/>
              <a:ext cx="228600" cy="304800"/>
            </a:xfrm>
            <a:prstGeom prst="downArrow">
              <a:avLst>
                <a:gd name="adj1" fmla="val 50000"/>
                <a:gd name="adj2" fmla="val 50000"/>
              </a:avLst>
            </a:prstGeom>
            <a:solidFill>
              <a:srgbClr val="FFFFAA"/>
            </a:solidFill>
            <a:ln w="25400">
              <a:solidFill>
                <a:schemeClr val="tx1"/>
              </a:solidFill>
              <a:round/>
              <a:headEnd type="triangle" w="med" len="med"/>
              <a:tailEnd/>
            </a:ln>
          </p:spPr>
          <p:txBody>
            <a:bodyPr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algn="ctr" eaLnBrk="1" hangingPunct="1"/>
              <a:endParaRPr lang="zh-CN" altLang="zh-CN" b="0">
                <a:latin typeface="Helvetica" charset="0"/>
              </a:endParaRPr>
            </a:p>
          </p:txBody>
        </p:sp>
      </p:grpSp>
    </p:spTree>
    <p:extLst>
      <p:ext uri="{BB962C8B-B14F-4D97-AF65-F5344CB8AC3E}">
        <p14:creationId xmlns:p14="http://schemas.microsoft.com/office/powerpoint/2010/main" val="88342901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p:cNvSpPr>
            <a:spLocks noGrp="1"/>
          </p:cNvSpPr>
          <p:nvPr>
            <p:ph type="title"/>
          </p:nvPr>
        </p:nvSpPr>
        <p:spPr>
          <a:xfrm>
            <a:off x="304800" y="152400"/>
            <a:ext cx="8610600" cy="533400"/>
          </a:xfrm>
        </p:spPr>
        <p:txBody>
          <a:bodyPr/>
          <a:lstStyle/>
          <a:p>
            <a:pPr eaLnBrk="1" hangingPunct="1"/>
            <a:r>
              <a:rPr lang="en-US" altLang="zh-CN">
                <a:latin typeface="Tahoma" charset="0"/>
                <a:ea typeface="MS PGothic" charset="-128"/>
              </a:rPr>
              <a:t>Conflict Equivalence – Intuition  (cont</a:t>
            </a:r>
            <a:r>
              <a:rPr lang="en-US" altLang="en-US">
                <a:latin typeface="Tahoma" charset="0"/>
                <a:ea typeface="MS PGothic" charset="-128"/>
              </a:rPr>
              <a:t>’</a:t>
            </a:r>
            <a:r>
              <a:rPr lang="en-US" altLang="ja-JP">
                <a:latin typeface="Tahoma" charset="0"/>
                <a:ea typeface="MS PGothic" charset="-128"/>
              </a:rPr>
              <a:t>d)</a:t>
            </a:r>
            <a:endParaRPr lang="en-US" altLang="zh-CN">
              <a:latin typeface="Helvetica" charset="0"/>
              <a:ea typeface="MS PGothic" charset="-128"/>
            </a:endParaRPr>
          </a:p>
        </p:txBody>
      </p:sp>
      <p:sp>
        <p:nvSpPr>
          <p:cNvPr id="63490" name="Content Placeholder 2"/>
          <p:cNvSpPr>
            <a:spLocks noGrp="1"/>
          </p:cNvSpPr>
          <p:nvPr>
            <p:ph idx="1"/>
          </p:nvPr>
        </p:nvSpPr>
        <p:spPr/>
        <p:txBody>
          <a:bodyPr/>
          <a:lstStyle/>
          <a:p>
            <a:pPr eaLnBrk="1" hangingPunct="1"/>
            <a:r>
              <a:rPr lang="en-US" altLang="zh-CN">
                <a:latin typeface="Tahoma" charset="0"/>
                <a:ea typeface="MS PGothic" charset="-128"/>
              </a:rPr>
              <a:t>If you can transform an interleaved schedule by swapping </a:t>
            </a:r>
            <a:r>
              <a:rPr lang="en-US" altLang="zh-CN" i="1">
                <a:latin typeface="Tahoma" charset="0"/>
                <a:ea typeface="MS PGothic" charset="-128"/>
              </a:rPr>
              <a:t>consecutive non-conflicting </a:t>
            </a:r>
            <a:r>
              <a:rPr lang="en-US" altLang="zh-CN">
                <a:latin typeface="Tahoma" charset="0"/>
                <a:ea typeface="MS PGothic" charset="-128"/>
              </a:rPr>
              <a:t>operations of </a:t>
            </a:r>
            <a:r>
              <a:rPr lang="en-US" altLang="zh-CN" i="1">
                <a:latin typeface="Tahoma" charset="0"/>
                <a:ea typeface="MS PGothic" charset="-128"/>
              </a:rPr>
              <a:t>different transactions </a:t>
            </a:r>
            <a:r>
              <a:rPr lang="en-US" altLang="zh-CN">
                <a:latin typeface="Tahoma" charset="0"/>
                <a:ea typeface="MS PGothic" charset="-128"/>
              </a:rPr>
              <a:t>into a serial schedule, then the original schedule </a:t>
            </a:r>
            <a:r>
              <a:rPr lang="en-US" altLang="zh-CN">
                <a:solidFill>
                  <a:srgbClr val="000000"/>
                </a:solidFill>
                <a:latin typeface="Tahoma" charset="0"/>
                <a:ea typeface="MS PGothic" charset="-128"/>
              </a:rPr>
              <a:t>is </a:t>
            </a:r>
            <a:r>
              <a:rPr lang="en-US" altLang="zh-CN" b="1">
                <a:solidFill>
                  <a:srgbClr val="000000"/>
                </a:solidFill>
                <a:latin typeface="Tahoma" charset="0"/>
                <a:ea typeface="MS PGothic" charset="-128"/>
              </a:rPr>
              <a:t>conflict serializable</a:t>
            </a:r>
          </a:p>
          <a:p>
            <a:pPr eaLnBrk="1" hangingPunct="1"/>
            <a:r>
              <a:rPr lang="en-US" altLang="zh-CN">
                <a:solidFill>
                  <a:srgbClr val="000000"/>
                </a:solidFill>
                <a:latin typeface="Tahoma" charset="0"/>
                <a:ea typeface="MS PGothic" charset="-128"/>
              </a:rPr>
              <a:t>Example:</a:t>
            </a:r>
            <a:endParaRPr lang="en-US" altLang="zh-CN">
              <a:latin typeface="Helvetica" charset="0"/>
              <a:ea typeface="MS PGothic" charset="-128"/>
            </a:endParaRPr>
          </a:p>
        </p:txBody>
      </p:sp>
      <p:sp>
        <p:nvSpPr>
          <p:cNvPr id="63491" name="Content Placeholder 4"/>
          <p:cNvSpPr txBox="1">
            <a:spLocks/>
          </p:cNvSpPr>
          <p:nvPr/>
        </p:nvSpPr>
        <p:spPr bwMode="auto">
          <a:xfrm>
            <a:off x="609600" y="2819400"/>
            <a:ext cx="7924800" cy="990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478" tIns="44445" rIns="90478" bIns="44445"/>
          <a:lstStyle>
            <a:lvl1pPr marL="2857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1pPr>
            <a:lvl2pPr marL="7429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2pPr>
            <a:lvl3pPr marL="11430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3pPr>
            <a:lvl4pPr marL="16002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4pPr>
            <a:lvl5pPr marL="20574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5pPr>
            <a:lvl6pPr marL="25146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6pPr>
            <a:lvl7pPr marL="29718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7pPr>
            <a:lvl8pPr marL="34290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8pPr>
            <a:lvl9pPr marL="38862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9pPr>
          </a:lstStyle>
          <a:p>
            <a:pPr>
              <a:lnSpc>
                <a:spcPct val="90000"/>
              </a:lnSpc>
              <a:spcBef>
                <a:spcPct val="30000"/>
              </a:spcBef>
              <a:buSzPct val="100000"/>
            </a:pPr>
            <a:r>
              <a:rPr lang="en-US" altLang="ko-KR" b="0">
                <a:latin typeface="Courier New" charset="0"/>
                <a:ea typeface="Gulim" charset="-127"/>
              </a:rPr>
              <a:t>T1:R(A),W(A),R(B),          W(B)</a:t>
            </a:r>
          </a:p>
          <a:p>
            <a:pPr>
              <a:lnSpc>
                <a:spcPct val="90000"/>
              </a:lnSpc>
              <a:spcBef>
                <a:spcPct val="30000"/>
              </a:spcBef>
              <a:buSzPct val="100000"/>
            </a:pPr>
            <a:r>
              <a:rPr lang="en-US" altLang="ko-KR" b="0">
                <a:latin typeface="Courier New" charset="0"/>
                <a:ea typeface="Gulim" charset="-127"/>
              </a:rPr>
              <a:t>T2:               R(A),W(A),    R(B),W(B)          </a:t>
            </a:r>
            <a:r>
              <a:rPr lang="en-US" altLang="zh-CN" b="0">
                <a:latin typeface="Courier New" charset="0"/>
                <a:ea typeface="Gulim" charset="-127"/>
              </a:rPr>
              <a:t> </a:t>
            </a:r>
            <a:endParaRPr lang="en-US" altLang="zh-CN" b="0">
              <a:latin typeface="Helvetica" charset="0"/>
            </a:endParaRPr>
          </a:p>
        </p:txBody>
      </p:sp>
      <p:grpSp>
        <p:nvGrpSpPr>
          <p:cNvPr id="2" name="Group 12"/>
          <p:cNvGrpSpPr>
            <a:grpSpLocks/>
          </p:cNvGrpSpPr>
          <p:nvPr/>
        </p:nvGrpSpPr>
        <p:grpSpPr bwMode="auto">
          <a:xfrm>
            <a:off x="609600" y="3810000"/>
            <a:ext cx="7924800" cy="1295400"/>
            <a:chOff x="609600" y="3810000"/>
            <a:chExt cx="7924800" cy="1295400"/>
          </a:xfrm>
        </p:grpSpPr>
        <p:sp>
          <p:nvSpPr>
            <p:cNvPr id="63496" name="Down Arrow 7"/>
            <p:cNvSpPr>
              <a:spLocks noChangeArrowheads="1"/>
            </p:cNvSpPr>
            <p:nvPr/>
          </p:nvSpPr>
          <p:spPr bwMode="auto">
            <a:xfrm>
              <a:off x="4495800" y="3810000"/>
              <a:ext cx="228600" cy="304800"/>
            </a:xfrm>
            <a:prstGeom prst="downArrow">
              <a:avLst>
                <a:gd name="adj1" fmla="val 50000"/>
                <a:gd name="adj2" fmla="val 50000"/>
              </a:avLst>
            </a:prstGeom>
            <a:solidFill>
              <a:srgbClr val="FFFFAA"/>
            </a:solidFill>
            <a:ln w="25400">
              <a:solidFill>
                <a:schemeClr val="tx1"/>
              </a:solidFill>
              <a:round/>
              <a:headEnd type="triangle" w="med" len="med"/>
              <a:tailEnd/>
            </a:ln>
          </p:spPr>
          <p:txBody>
            <a:bodyPr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algn="ctr" eaLnBrk="1" hangingPunct="1"/>
              <a:endParaRPr lang="zh-CN" altLang="zh-CN" b="0">
                <a:latin typeface="Helvetica" charset="0"/>
              </a:endParaRPr>
            </a:p>
          </p:txBody>
        </p:sp>
        <p:sp>
          <p:nvSpPr>
            <p:cNvPr id="63497" name="Content Placeholder 4"/>
            <p:cNvSpPr txBox="1">
              <a:spLocks/>
            </p:cNvSpPr>
            <p:nvPr/>
          </p:nvSpPr>
          <p:spPr bwMode="auto">
            <a:xfrm>
              <a:off x="609600" y="4114800"/>
              <a:ext cx="7924800" cy="990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478" tIns="44445" rIns="90478" bIns="44445"/>
            <a:lstStyle>
              <a:lvl1pPr marL="2857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1pPr>
              <a:lvl2pPr marL="7429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2pPr>
              <a:lvl3pPr marL="11430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3pPr>
              <a:lvl4pPr marL="16002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4pPr>
              <a:lvl5pPr marL="20574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5pPr>
              <a:lvl6pPr marL="25146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6pPr>
              <a:lvl7pPr marL="29718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7pPr>
              <a:lvl8pPr marL="34290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8pPr>
              <a:lvl9pPr marL="38862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9pPr>
            </a:lstStyle>
            <a:p>
              <a:pPr>
                <a:lnSpc>
                  <a:spcPct val="90000"/>
                </a:lnSpc>
                <a:spcBef>
                  <a:spcPct val="30000"/>
                </a:spcBef>
                <a:buSzPct val="100000"/>
              </a:pPr>
              <a:r>
                <a:rPr lang="en-US" altLang="ko-KR" b="0">
                  <a:latin typeface="Courier New" charset="0"/>
                  <a:ea typeface="Gulim" charset="-127"/>
                </a:rPr>
                <a:t>T1:R(A),W(A),R(B),     W(B)</a:t>
              </a:r>
            </a:p>
            <a:p>
              <a:pPr>
                <a:lnSpc>
                  <a:spcPct val="90000"/>
                </a:lnSpc>
                <a:spcBef>
                  <a:spcPct val="30000"/>
                </a:spcBef>
                <a:buSzPct val="100000"/>
              </a:pPr>
              <a:r>
                <a:rPr lang="en-US" altLang="ko-KR" b="0">
                  <a:latin typeface="Courier New" charset="0"/>
                  <a:ea typeface="Gulim" charset="-127"/>
                </a:rPr>
                <a:t>T2:               R(A),     W(A),R(B),W(B)          </a:t>
              </a:r>
              <a:r>
                <a:rPr lang="en-US" altLang="zh-CN" b="0">
                  <a:latin typeface="Courier New" charset="0"/>
                  <a:ea typeface="Gulim" charset="-127"/>
                </a:rPr>
                <a:t> </a:t>
              </a:r>
              <a:endParaRPr lang="en-US" altLang="zh-CN" b="0">
                <a:latin typeface="Helvetica" charset="0"/>
              </a:endParaRPr>
            </a:p>
          </p:txBody>
        </p:sp>
      </p:grpSp>
      <p:grpSp>
        <p:nvGrpSpPr>
          <p:cNvPr id="3" name="Group 13"/>
          <p:cNvGrpSpPr>
            <a:grpSpLocks/>
          </p:cNvGrpSpPr>
          <p:nvPr/>
        </p:nvGrpSpPr>
        <p:grpSpPr bwMode="auto">
          <a:xfrm>
            <a:off x="609600" y="5105400"/>
            <a:ext cx="7924800" cy="1295400"/>
            <a:chOff x="609600" y="5105400"/>
            <a:chExt cx="7924800" cy="1295400"/>
          </a:xfrm>
        </p:grpSpPr>
        <p:sp>
          <p:nvSpPr>
            <p:cNvPr id="63494" name="Down Arrow 8"/>
            <p:cNvSpPr>
              <a:spLocks noChangeArrowheads="1"/>
            </p:cNvSpPr>
            <p:nvPr/>
          </p:nvSpPr>
          <p:spPr bwMode="auto">
            <a:xfrm>
              <a:off x="4495800" y="5105400"/>
              <a:ext cx="228600" cy="304800"/>
            </a:xfrm>
            <a:prstGeom prst="downArrow">
              <a:avLst>
                <a:gd name="adj1" fmla="val 50000"/>
                <a:gd name="adj2" fmla="val 50000"/>
              </a:avLst>
            </a:prstGeom>
            <a:solidFill>
              <a:srgbClr val="FFFFAA"/>
            </a:solidFill>
            <a:ln w="25400">
              <a:solidFill>
                <a:schemeClr val="tx1"/>
              </a:solidFill>
              <a:round/>
              <a:headEnd type="triangle" w="med" len="med"/>
              <a:tailEnd/>
            </a:ln>
          </p:spPr>
          <p:txBody>
            <a:bodyPr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algn="ctr" eaLnBrk="1" hangingPunct="1"/>
              <a:endParaRPr lang="zh-CN" altLang="zh-CN" b="0">
                <a:latin typeface="Helvetica" charset="0"/>
              </a:endParaRPr>
            </a:p>
          </p:txBody>
        </p:sp>
        <p:sp>
          <p:nvSpPr>
            <p:cNvPr id="63495" name="Content Placeholder 4"/>
            <p:cNvSpPr txBox="1">
              <a:spLocks/>
            </p:cNvSpPr>
            <p:nvPr/>
          </p:nvSpPr>
          <p:spPr bwMode="auto">
            <a:xfrm>
              <a:off x="609600" y="5410200"/>
              <a:ext cx="7924800" cy="990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478" tIns="44445" rIns="90478" bIns="44445"/>
            <a:lstStyle>
              <a:lvl1pPr marL="2857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1pPr>
              <a:lvl2pPr marL="7429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2pPr>
              <a:lvl3pPr marL="11430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3pPr>
              <a:lvl4pPr marL="16002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4pPr>
              <a:lvl5pPr marL="20574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5pPr>
              <a:lvl6pPr marL="25146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6pPr>
              <a:lvl7pPr marL="29718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7pPr>
              <a:lvl8pPr marL="34290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8pPr>
              <a:lvl9pPr marL="38862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9pPr>
            </a:lstStyle>
            <a:p>
              <a:pPr>
                <a:lnSpc>
                  <a:spcPct val="90000"/>
                </a:lnSpc>
                <a:spcBef>
                  <a:spcPct val="30000"/>
                </a:spcBef>
                <a:buSzPct val="100000"/>
              </a:pPr>
              <a:r>
                <a:rPr lang="en-US" altLang="ko-KR" b="0">
                  <a:latin typeface="Courier New" charset="0"/>
                  <a:ea typeface="Gulim" charset="-127"/>
                </a:rPr>
                <a:t>T1:R(A),W(A),R(B),W(B)</a:t>
              </a:r>
            </a:p>
            <a:p>
              <a:pPr>
                <a:lnSpc>
                  <a:spcPct val="90000"/>
                </a:lnSpc>
                <a:spcBef>
                  <a:spcPct val="30000"/>
                </a:spcBef>
                <a:buSzPct val="100000"/>
              </a:pPr>
              <a:r>
                <a:rPr lang="en-US" altLang="ko-KR" b="0">
                  <a:latin typeface="Courier New" charset="0"/>
                  <a:ea typeface="Gulim" charset="-127"/>
                </a:rPr>
                <a:t>T2:                    R(A),W(A),R(B),W(B)          </a:t>
              </a:r>
              <a:r>
                <a:rPr lang="en-US" altLang="zh-CN" b="0">
                  <a:latin typeface="Courier New" charset="0"/>
                  <a:ea typeface="Gulim" charset="-127"/>
                </a:rPr>
                <a:t> </a:t>
              </a:r>
              <a:endParaRPr lang="en-US" altLang="zh-CN" b="0">
                <a:latin typeface="Helvetica" charset="0"/>
              </a:endParaRPr>
            </a:p>
          </p:txBody>
        </p:sp>
      </p:grpSp>
    </p:spTree>
    <p:extLst>
      <p:ext uri="{BB962C8B-B14F-4D97-AF65-F5344CB8AC3E}">
        <p14:creationId xmlns:p14="http://schemas.microsoft.com/office/powerpoint/2010/main" val="8955336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p:cNvSpPr>
            <a:spLocks noGrp="1"/>
          </p:cNvSpPr>
          <p:nvPr>
            <p:ph type="title"/>
          </p:nvPr>
        </p:nvSpPr>
        <p:spPr>
          <a:xfrm>
            <a:off x="304800" y="152400"/>
            <a:ext cx="8610600" cy="533400"/>
          </a:xfrm>
        </p:spPr>
        <p:txBody>
          <a:bodyPr/>
          <a:lstStyle/>
          <a:p>
            <a:pPr eaLnBrk="1" hangingPunct="1"/>
            <a:r>
              <a:rPr lang="en-US" altLang="zh-CN">
                <a:latin typeface="Tahoma" charset="0"/>
                <a:ea typeface="MS PGothic" charset="-128"/>
              </a:rPr>
              <a:t>Conflict Equivalence – Intuition  (cont</a:t>
            </a:r>
            <a:r>
              <a:rPr lang="en-US" altLang="en-US">
                <a:latin typeface="Tahoma" charset="0"/>
                <a:ea typeface="MS PGothic" charset="-128"/>
              </a:rPr>
              <a:t>’</a:t>
            </a:r>
            <a:r>
              <a:rPr lang="en-US" altLang="ja-JP">
                <a:latin typeface="Tahoma" charset="0"/>
                <a:ea typeface="MS PGothic" charset="-128"/>
              </a:rPr>
              <a:t>d)</a:t>
            </a:r>
            <a:endParaRPr lang="en-US" altLang="zh-CN">
              <a:latin typeface="Helvetica" charset="0"/>
              <a:ea typeface="MS PGothic" charset="-128"/>
            </a:endParaRPr>
          </a:p>
        </p:txBody>
      </p:sp>
      <p:sp>
        <p:nvSpPr>
          <p:cNvPr id="64514" name="Content Placeholder 2"/>
          <p:cNvSpPr>
            <a:spLocks noGrp="1"/>
          </p:cNvSpPr>
          <p:nvPr>
            <p:ph idx="1"/>
          </p:nvPr>
        </p:nvSpPr>
        <p:spPr/>
        <p:txBody>
          <a:bodyPr/>
          <a:lstStyle/>
          <a:p>
            <a:pPr eaLnBrk="1" hangingPunct="1"/>
            <a:r>
              <a:rPr lang="en-US" altLang="zh-CN">
                <a:latin typeface="Tahoma" charset="0"/>
                <a:ea typeface="MS PGothic" charset="-128"/>
              </a:rPr>
              <a:t>If you can transform an interleaved schedule by swapping </a:t>
            </a:r>
            <a:r>
              <a:rPr lang="en-US" altLang="zh-CN" i="1">
                <a:latin typeface="Tahoma" charset="0"/>
                <a:ea typeface="MS PGothic" charset="-128"/>
              </a:rPr>
              <a:t>consecutive non-conflicting </a:t>
            </a:r>
            <a:r>
              <a:rPr lang="en-US" altLang="zh-CN">
                <a:latin typeface="Tahoma" charset="0"/>
                <a:ea typeface="MS PGothic" charset="-128"/>
              </a:rPr>
              <a:t>operations of </a:t>
            </a:r>
            <a:r>
              <a:rPr lang="en-US" altLang="zh-CN" i="1">
                <a:latin typeface="Tahoma" charset="0"/>
                <a:ea typeface="MS PGothic" charset="-128"/>
              </a:rPr>
              <a:t>different transactions </a:t>
            </a:r>
            <a:r>
              <a:rPr lang="en-US" altLang="zh-CN">
                <a:latin typeface="Tahoma" charset="0"/>
                <a:ea typeface="MS PGothic" charset="-128"/>
              </a:rPr>
              <a:t>into a serial schedule, then the original schedule </a:t>
            </a:r>
            <a:r>
              <a:rPr lang="en-US" altLang="zh-CN">
                <a:solidFill>
                  <a:srgbClr val="000000"/>
                </a:solidFill>
                <a:latin typeface="Tahoma" charset="0"/>
                <a:ea typeface="MS PGothic" charset="-128"/>
              </a:rPr>
              <a:t>is </a:t>
            </a:r>
            <a:r>
              <a:rPr lang="en-US" altLang="zh-CN" b="1">
                <a:solidFill>
                  <a:srgbClr val="000000"/>
                </a:solidFill>
                <a:latin typeface="Tahoma" charset="0"/>
                <a:ea typeface="MS PGothic" charset="-128"/>
              </a:rPr>
              <a:t>conflict serializable</a:t>
            </a:r>
          </a:p>
          <a:p>
            <a:pPr eaLnBrk="1" hangingPunct="1"/>
            <a:endParaRPr lang="en-US" altLang="zh-CN">
              <a:solidFill>
                <a:srgbClr val="000000"/>
              </a:solidFill>
              <a:latin typeface="Tahoma" charset="0"/>
              <a:ea typeface="MS PGothic" charset="-128"/>
            </a:endParaRPr>
          </a:p>
          <a:p>
            <a:pPr eaLnBrk="1" hangingPunct="1"/>
            <a:r>
              <a:rPr lang="en-US" altLang="zh-CN">
                <a:solidFill>
                  <a:srgbClr val="000000"/>
                </a:solidFill>
                <a:latin typeface="Tahoma" charset="0"/>
                <a:ea typeface="MS PGothic" charset="-128"/>
              </a:rPr>
              <a:t>Is this schedule conflict serializable?</a:t>
            </a:r>
            <a:endParaRPr lang="en-US" altLang="zh-CN">
              <a:latin typeface="Helvetica" charset="0"/>
              <a:ea typeface="MS PGothic" charset="-128"/>
            </a:endParaRPr>
          </a:p>
        </p:txBody>
      </p:sp>
      <p:sp>
        <p:nvSpPr>
          <p:cNvPr id="64515" name="Content Placeholder 4"/>
          <p:cNvSpPr txBox="1">
            <a:spLocks/>
          </p:cNvSpPr>
          <p:nvPr/>
        </p:nvSpPr>
        <p:spPr bwMode="auto">
          <a:xfrm>
            <a:off x="1600200" y="3352800"/>
            <a:ext cx="4953000" cy="990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478" tIns="44445" rIns="90478" bIns="44445"/>
          <a:lstStyle>
            <a:lvl1pPr marL="2857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1pPr>
            <a:lvl2pPr marL="7429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2pPr>
            <a:lvl3pPr marL="11430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3pPr>
            <a:lvl4pPr marL="16002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4pPr>
            <a:lvl5pPr marL="20574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5pPr>
            <a:lvl6pPr marL="25146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6pPr>
            <a:lvl7pPr marL="29718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7pPr>
            <a:lvl8pPr marL="34290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8pPr>
            <a:lvl9pPr marL="38862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9pPr>
          </a:lstStyle>
          <a:p>
            <a:pPr>
              <a:lnSpc>
                <a:spcPct val="90000"/>
              </a:lnSpc>
              <a:spcBef>
                <a:spcPct val="30000"/>
              </a:spcBef>
              <a:buSzPct val="100000"/>
            </a:pPr>
            <a:r>
              <a:rPr lang="en-US" altLang="ko-KR" b="0">
                <a:latin typeface="Courier New" charset="0"/>
                <a:ea typeface="Gulim" charset="-127"/>
              </a:rPr>
              <a:t>T1:R(A),          W(A)</a:t>
            </a:r>
          </a:p>
          <a:p>
            <a:pPr>
              <a:lnSpc>
                <a:spcPct val="90000"/>
              </a:lnSpc>
              <a:spcBef>
                <a:spcPct val="30000"/>
              </a:spcBef>
              <a:buSzPct val="100000"/>
            </a:pPr>
            <a:r>
              <a:rPr lang="en-US" altLang="ko-KR" b="0">
                <a:latin typeface="Courier New" charset="0"/>
                <a:ea typeface="Gulim" charset="-127"/>
              </a:rPr>
              <a:t>T2:     R(A),W(A), </a:t>
            </a:r>
            <a:endParaRPr lang="en-US" altLang="zh-CN" b="0">
              <a:latin typeface="Helvetica" charset="0"/>
            </a:endParaRPr>
          </a:p>
        </p:txBody>
      </p:sp>
    </p:spTree>
    <p:extLst>
      <p:ext uri="{BB962C8B-B14F-4D97-AF65-F5344CB8AC3E}">
        <p14:creationId xmlns:p14="http://schemas.microsoft.com/office/powerpoint/2010/main" val="1884785427"/>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noChangeArrowheads="1"/>
          </p:cNvSpPr>
          <p:nvPr>
            <p:ph type="title"/>
          </p:nvPr>
        </p:nvSpPr>
        <p:spPr/>
        <p:txBody>
          <a:bodyPr lIns="90488" tIns="44450" rIns="90488" bIns="44450"/>
          <a:lstStyle/>
          <a:p>
            <a:pPr eaLnBrk="1" hangingPunct="1"/>
            <a:r>
              <a:rPr lang="en-US" altLang="zh-CN">
                <a:latin typeface="Tahoma" charset="0"/>
                <a:ea typeface="MS PGothic" charset="-128"/>
              </a:rPr>
              <a:t>Dependency Graph</a:t>
            </a:r>
          </a:p>
        </p:txBody>
      </p:sp>
      <p:sp>
        <p:nvSpPr>
          <p:cNvPr id="65538" name="Rectangle 3"/>
          <p:cNvSpPr>
            <a:spLocks noGrp="1" noChangeArrowheads="1"/>
          </p:cNvSpPr>
          <p:nvPr>
            <p:ph idx="1"/>
          </p:nvPr>
        </p:nvSpPr>
        <p:spPr/>
        <p:txBody>
          <a:bodyPr lIns="90488" tIns="44450" rIns="90488" bIns="44450"/>
          <a:lstStyle/>
          <a:p>
            <a:pPr eaLnBrk="1" hangingPunct="1"/>
            <a:r>
              <a:rPr lang="en-US" altLang="zh-CN" b="1" dirty="0">
                <a:solidFill>
                  <a:srgbClr val="000000"/>
                </a:solidFill>
                <a:latin typeface="Tahoma" charset="0"/>
                <a:ea typeface="MS PGothic" charset="-128"/>
              </a:rPr>
              <a:t>Dependency graph:  </a:t>
            </a:r>
          </a:p>
          <a:p>
            <a:pPr lvl="1" eaLnBrk="1" hangingPunct="1"/>
            <a:r>
              <a:rPr lang="en-US" altLang="zh-CN" dirty="0">
                <a:latin typeface="Tahoma" charset="0"/>
                <a:ea typeface="MS PGothic" charset="-128"/>
              </a:rPr>
              <a:t>Transactions represented as nodes</a:t>
            </a:r>
          </a:p>
          <a:p>
            <a:pPr lvl="1" eaLnBrk="1" hangingPunct="1"/>
            <a:r>
              <a:rPr lang="en-US" altLang="zh-CN" dirty="0">
                <a:latin typeface="Tahoma" charset="0"/>
                <a:ea typeface="MS PGothic" charset="-128"/>
              </a:rPr>
              <a:t>Edge from </a:t>
            </a:r>
            <a:r>
              <a:rPr lang="en-US" altLang="zh-CN" dirty="0" err="1">
                <a:latin typeface="Tahoma" charset="0"/>
                <a:ea typeface="MS PGothic" charset="-128"/>
              </a:rPr>
              <a:t>Ti</a:t>
            </a:r>
            <a:r>
              <a:rPr lang="en-US" altLang="zh-CN" dirty="0">
                <a:latin typeface="Tahoma" charset="0"/>
                <a:ea typeface="MS PGothic" charset="-128"/>
              </a:rPr>
              <a:t> to </a:t>
            </a:r>
            <a:r>
              <a:rPr lang="en-US" altLang="zh-CN" dirty="0" err="1">
                <a:latin typeface="Tahoma" charset="0"/>
                <a:ea typeface="MS PGothic" charset="-128"/>
              </a:rPr>
              <a:t>Tj</a:t>
            </a:r>
            <a:r>
              <a:rPr lang="en-US" altLang="zh-CN" dirty="0">
                <a:latin typeface="Tahoma" charset="0"/>
                <a:ea typeface="MS PGothic" charset="-128"/>
              </a:rPr>
              <a:t>: </a:t>
            </a:r>
          </a:p>
          <a:p>
            <a:pPr lvl="2" eaLnBrk="1" hangingPunct="1"/>
            <a:r>
              <a:rPr lang="en-US" altLang="zh-CN" dirty="0">
                <a:latin typeface="Tahoma" charset="0"/>
                <a:ea typeface="MS PGothic" charset="-128"/>
              </a:rPr>
              <a:t>an operation of </a:t>
            </a:r>
            <a:r>
              <a:rPr lang="en-US" altLang="zh-CN" dirty="0" err="1">
                <a:latin typeface="Tahoma" charset="0"/>
                <a:ea typeface="MS PGothic" charset="-128"/>
              </a:rPr>
              <a:t>Ti</a:t>
            </a:r>
            <a:r>
              <a:rPr lang="en-US" altLang="zh-CN" dirty="0">
                <a:latin typeface="Tahoma" charset="0"/>
                <a:ea typeface="MS PGothic" charset="-128"/>
              </a:rPr>
              <a:t> conflicts with an operation of </a:t>
            </a:r>
            <a:r>
              <a:rPr lang="en-US" altLang="zh-CN" dirty="0" err="1">
                <a:latin typeface="Tahoma" charset="0"/>
                <a:ea typeface="MS PGothic" charset="-128"/>
              </a:rPr>
              <a:t>Tj</a:t>
            </a:r>
            <a:endParaRPr lang="en-US" altLang="zh-CN" dirty="0">
              <a:latin typeface="Tahoma" charset="0"/>
              <a:ea typeface="MS PGothic" charset="-128"/>
            </a:endParaRPr>
          </a:p>
          <a:p>
            <a:pPr lvl="2" eaLnBrk="1" hangingPunct="1"/>
            <a:r>
              <a:rPr lang="en-US" altLang="zh-CN" dirty="0" err="1">
                <a:latin typeface="Tahoma" charset="0"/>
                <a:ea typeface="MS PGothic" charset="-128"/>
              </a:rPr>
              <a:t>Ti</a:t>
            </a:r>
            <a:r>
              <a:rPr lang="en-US" altLang="zh-CN" dirty="0">
                <a:latin typeface="Tahoma" charset="0"/>
                <a:ea typeface="MS PGothic" charset="-128"/>
              </a:rPr>
              <a:t> appears earlier than </a:t>
            </a:r>
            <a:r>
              <a:rPr lang="en-US" altLang="zh-CN" dirty="0" err="1">
                <a:latin typeface="Tahoma" charset="0"/>
                <a:ea typeface="MS PGothic" charset="-128"/>
              </a:rPr>
              <a:t>Tj</a:t>
            </a:r>
            <a:r>
              <a:rPr lang="en-US" altLang="zh-CN" dirty="0">
                <a:latin typeface="Tahoma" charset="0"/>
                <a:ea typeface="MS PGothic" charset="-128"/>
              </a:rPr>
              <a:t> in the schedule</a:t>
            </a:r>
          </a:p>
          <a:p>
            <a:pPr eaLnBrk="1" hangingPunct="1"/>
            <a:endParaRPr lang="en-US" altLang="zh-CN" dirty="0">
              <a:latin typeface="Tahoma" charset="0"/>
              <a:ea typeface="MS PGothic" charset="-128"/>
            </a:endParaRPr>
          </a:p>
          <a:p>
            <a:pPr eaLnBrk="1" hangingPunct="1"/>
            <a:r>
              <a:rPr lang="en-US" altLang="zh-CN" b="1" dirty="0">
                <a:solidFill>
                  <a:srgbClr val="000000"/>
                </a:solidFill>
                <a:latin typeface="Tahoma" charset="0"/>
                <a:ea typeface="MS PGothic" charset="-128"/>
              </a:rPr>
              <a:t>Theorem: </a:t>
            </a:r>
            <a:r>
              <a:rPr lang="en-US" altLang="zh-CN" dirty="0">
                <a:latin typeface="Tahoma" charset="0"/>
                <a:ea typeface="MS PGothic" charset="-128"/>
              </a:rPr>
              <a:t>Schedule is conflict serializable </a:t>
            </a:r>
            <a:r>
              <a:rPr lang="en-US" altLang="zh-CN" dirty="0">
                <a:solidFill>
                  <a:srgbClr val="FF0000"/>
                </a:solidFill>
                <a:latin typeface="Tahoma" charset="0"/>
                <a:ea typeface="MS PGothic" charset="-128"/>
              </a:rPr>
              <a:t>if and only </a:t>
            </a:r>
            <a:r>
              <a:rPr lang="en-US" altLang="zh-CN" dirty="0">
                <a:latin typeface="Tahoma" charset="0"/>
                <a:ea typeface="MS PGothic" charset="-128"/>
              </a:rPr>
              <a:t>if its dependency graph is acyclic</a:t>
            </a:r>
          </a:p>
          <a:p>
            <a:pPr eaLnBrk="1" hangingPunct="1"/>
            <a:endParaRPr lang="en-US" altLang="zh-CN" dirty="0">
              <a:latin typeface="Tahoma" charset="0"/>
              <a:ea typeface="MS PGothic" charset="-128"/>
            </a:endParaRPr>
          </a:p>
        </p:txBody>
      </p:sp>
      <p:sp>
        <p:nvSpPr>
          <p:cNvPr id="65539" name="Footer Placeholder 3"/>
          <p:cNvSpPr>
            <a:spLocks noGrp="1"/>
          </p:cNvSpPr>
          <p:nvPr>
            <p:ph type="ftr" sz="quarter" idx="4294967295"/>
          </p:nvPr>
        </p:nvSpPr>
        <p:spPr bwMode="auto">
          <a:xfrm>
            <a:off x="0" y="6453188"/>
            <a:ext cx="2895600" cy="403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endParaRPr lang="en-US" altLang="zh-CN" sz="1200">
              <a:latin typeface="Times New Roman" charset="0"/>
            </a:endParaRPr>
          </a:p>
          <a:p>
            <a:endParaRPr lang="en-US" altLang="zh-CN" sz="1200">
              <a:solidFill>
                <a:schemeClr val="tx2"/>
              </a:solidFill>
              <a:latin typeface="Times New Roman" charset="0"/>
            </a:endParaRPr>
          </a:p>
        </p:txBody>
      </p:sp>
    </p:spTree>
    <p:extLst>
      <p:ext uri="{BB962C8B-B14F-4D97-AF65-F5344CB8AC3E}">
        <p14:creationId xmlns:p14="http://schemas.microsoft.com/office/powerpoint/2010/main" val="57394692"/>
      </p:ext>
    </p:extLst>
  </p:cSld>
  <p:clrMapOvr>
    <a:masterClrMapping/>
  </p:clrMapOvr>
  <p:transition spd="slow">
    <p:cu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Oval 32"/>
          <p:cNvSpPr/>
          <p:nvPr/>
        </p:nvSpPr>
        <p:spPr bwMode="auto">
          <a:xfrm rot="17189649">
            <a:off x="6215857" y="1724819"/>
            <a:ext cx="858837" cy="1844675"/>
          </a:xfrm>
          <a:prstGeom prst="ellipse">
            <a:avLst/>
          </a:prstGeom>
          <a:solidFill>
            <a:srgbClr val="FFFFAA"/>
          </a:solidFill>
          <a:ln w="12700" cap="flat" cmpd="sng" algn="ctr">
            <a:solidFill>
              <a:schemeClr val="bg2">
                <a:lumMod val="40000"/>
                <a:lumOff val="60000"/>
              </a:schemeClr>
            </a:solidFill>
            <a:prstDash val="solid"/>
            <a:round/>
            <a:headEnd type="triangle" w="med" len="med"/>
            <a:tailEnd type="none" w="med" len="med"/>
          </a:ln>
          <a:effectLst/>
        </p:spPr>
        <p:txBody>
          <a:bodyPr anchor="ctr"/>
          <a:lstStyle/>
          <a:p>
            <a:pPr algn="ctr">
              <a:defRPr/>
            </a:pPr>
            <a:endParaRPr lang="en-US" b="0" dirty="0">
              <a:latin typeface="Helvetica"/>
              <a:ea typeface="ＭＳ Ｐゴシック" charset="-128"/>
              <a:cs typeface="Helvetica"/>
            </a:endParaRPr>
          </a:p>
        </p:txBody>
      </p:sp>
      <p:sp>
        <p:nvSpPr>
          <p:cNvPr id="32" name="Oval 31"/>
          <p:cNvSpPr/>
          <p:nvPr/>
        </p:nvSpPr>
        <p:spPr bwMode="auto">
          <a:xfrm rot="17189649">
            <a:off x="2590801" y="1690687"/>
            <a:ext cx="857250" cy="1844675"/>
          </a:xfrm>
          <a:prstGeom prst="ellipse">
            <a:avLst/>
          </a:prstGeom>
          <a:solidFill>
            <a:srgbClr val="FFFFAA"/>
          </a:solidFill>
          <a:ln w="12700" cap="flat" cmpd="sng" algn="ctr">
            <a:solidFill>
              <a:schemeClr val="bg2">
                <a:lumMod val="40000"/>
                <a:lumOff val="60000"/>
              </a:schemeClr>
            </a:solidFill>
            <a:prstDash val="solid"/>
            <a:round/>
            <a:headEnd type="triangle" w="med" len="med"/>
            <a:tailEnd type="none" w="med" len="med"/>
          </a:ln>
          <a:effectLst/>
        </p:spPr>
        <p:txBody>
          <a:bodyPr anchor="ctr"/>
          <a:lstStyle/>
          <a:p>
            <a:pPr algn="ctr">
              <a:defRPr/>
            </a:pPr>
            <a:endParaRPr lang="en-US" b="0" dirty="0">
              <a:latin typeface="Helvetica"/>
              <a:ea typeface="ＭＳ Ｐゴシック" charset="-128"/>
              <a:cs typeface="Helvetica"/>
            </a:endParaRPr>
          </a:p>
        </p:txBody>
      </p:sp>
      <p:sp>
        <p:nvSpPr>
          <p:cNvPr id="67587" name="Rectangle 2"/>
          <p:cNvSpPr>
            <a:spLocks noGrp="1" noChangeArrowheads="1"/>
          </p:cNvSpPr>
          <p:nvPr>
            <p:ph type="title"/>
          </p:nvPr>
        </p:nvSpPr>
        <p:spPr>
          <a:xfrm>
            <a:off x="1066800" y="152400"/>
            <a:ext cx="7772400" cy="1143000"/>
          </a:xfrm>
        </p:spPr>
        <p:txBody>
          <a:bodyPr lIns="90488" tIns="44450" rIns="90488" bIns="44450"/>
          <a:lstStyle/>
          <a:p>
            <a:pPr eaLnBrk="1" hangingPunct="1"/>
            <a:r>
              <a:rPr lang="en-US" altLang="zh-CN">
                <a:latin typeface="Tahoma" charset="0"/>
                <a:ea typeface="MS PGothic" charset="-128"/>
              </a:rPr>
              <a:t>Example</a:t>
            </a:r>
          </a:p>
        </p:txBody>
      </p:sp>
      <p:sp>
        <p:nvSpPr>
          <p:cNvPr id="50179" name="Rectangle 3"/>
          <p:cNvSpPr>
            <a:spLocks noGrp="1" noChangeArrowheads="1"/>
          </p:cNvSpPr>
          <p:nvPr>
            <p:ph idx="1"/>
          </p:nvPr>
        </p:nvSpPr>
        <p:spPr>
          <a:xfrm>
            <a:off x="838200" y="1371600"/>
            <a:ext cx="7772400" cy="4953000"/>
          </a:xfrm>
        </p:spPr>
        <p:txBody>
          <a:bodyPr lIns="90488" tIns="44450" rIns="90488" bIns="44450"/>
          <a:lstStyle/>
          <a:p>
            <a:pPr eaLnBrk="1" hangingPunct="1"/>
            <a:r>
              <a:rPr lang="en-US" altLang="zh-CN">
                <a:latin typeface="Tahoma" charset="0"/>
                <a:ea typeface="MS PGothic" charset="-128"/>
              </a:rPr>
              <a:t>Conflict serializable schedule:</a:t>
            </a:r>
          </a:p>
          <a:p>
            <a:pPr eaLnBrk="1" hangingPunct="1"/>
            <a:endParaRPr lang="en-US" altLang="zh-CN">
              <a:latin typeface="Tahoma" charset="0"/>
              <a:ea typeface="MS PGothic" charset="-128"/>
            </a:endParaRPr>
          </a:p>
          <a:p>
            <a:pPr eaLnBrk="1" hangingPunct="1"/>
            <a:endParaRPr lang="en-US" altLang="zh-CN">
              <a:latin typeface="Tahoma" charset="0"/>
              <a:ea typeface="MS PGothic" charset="-128"/>
            </a:endParaRPr>
          </a:p>
          <a:p>
            <a:pPr eaLnBrk="1" hangingPunct="1"/>
            <a:endParaRPr lang="en-US" altLang="zh-CN">
              <a:latin typeface="Tahoma" charset="0"/>
              <a:ea typeface="MS PGothic" charset="-128"/>
            </a:endParaRPr>
          </a:p>
          <a:p>
            <a:pPr eaLnBrk="1" hangingPunct="1"/>
            <a:endParaRPr lang="en-US" altLang="zh-CN">
              <a:latin typeface="Tahoma" charset="0"/>
              <a:ea typeface="MS PGothic" charset="-128"/>
            </a:endParaRPr>
          </a:p>
          <a:p>
            <a:pPr eaLnBrk="1" hangingPunct="1"/>
            <a:endParaRPr lang="en-US" altLang="zh-CN">
              <a:latin typeface="Tahoma" charset="0"/>
              <a:ea typeface="MS PGothic" charset="-128"/>
            </a:endParaRPr>
          </a:p>
          <a:p>
            <a:pPr eaLnBrk="1" hangingPunct="1">
              <a:buFontTx/>
              <a:buNone/>
            </a:pPr>
            <a:endParaRPr lang="en-US" altLang="zh-CN">
              <a:latin typeface="Tahoma" charset="0"/>
              <a:ea typeface="MS PGothic" charset="-128"/>
            </a:endParaRPr>
          </a:p>
          <a:p>
            <a:pPr eaLnBrk="1" hangingPunct="1"/>
            <a:endParaRPr lang="en-US" altLang="zh-CN">
              <a:latin typeface="Tahoma" charset="0"/>
              <a:ea typeface="MS PGothic" charset="-128"/>
            </a:endParaRPr>
          </a:p>
          <a:p>
            <a:pPr eaLnBrk="1" hangingPunct="1"/>
            <a:endParaRPr lang="en-US" altLang="zh-CN">
              <a:latin typeface="Tahoma" charset="0"/>
              <a:ea typeface="MS PGothic" charset="-128"/>
            </a:endParaRPr>
          </a:p>
          <a:p>
            <a:pPr eaLnBrk="1" hangingPunct="1"/>
            <a:r>
              <a:rPr lang="en-US" altLang="zh-CN">
                <a:latin typeface="Tahoma" charset="0"/>
                <a:ea typeface="MS PGothic" charset="-128"/>
              </a:rPr>
              <a:t>No cycle!</a:t>
            </a:r>
          </a:p>
        </p:txBody>
      </p:sp>
      <p:sp>
        <p:nvSpPr>
          <p:cNvPr id="67589" name="Footer Placeholder 3"/>
          <p:cNvSpPr>
            <a:spLocks noGrp="1"/>
          </p:cNvSpPr>
          <p:nvPr>
            <p:ph type="ftr" sz="quarter" idx="4294967295"/>
          </p:nvPr>
        </p:nvSpPr>
        <p:spPr bwMode="auto">
          <a:xfrm>
            <a:off x="0" y="6453188"/>
            <a:ext cx="2895600" cy="403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endParaRPr lang="en-US" altLang="zh-CN" sz="1200">
              <a:latin typeface="Times New Roman" charset="0"/>
            </a:endParaRPr>
          </a:p>
          <a:p>
            <a:endParaRPr lang="en-US" altLang="zh-CN" sz="1200">
              <a:solidFill>
                <a:schemeClr val="tx2"/>
              </a:solidFill>
              <a:latin typeface="Times New Roman" charset="0"/>
            </a:endParaRPr>
          </a:p>
        </p:txBody>
      </p:sp>
      <p:grpSp>
        <p:nvGrpSpPr>
          <p:cNvPr id="2" name="Group 33"/>
          <p:cNvGrpSpPr>
            <a:grpSpLocks/>
          </p:cNvGrpSpPr>
          <p:nvPr/>
        </p:nvGrpSpPr>
        <p:grpSpPr bwMode="auto">
          <a:xfrm>
            <a:off x="1828800" y="3746500"/>
            <a:ext cx="673100" cy="673100"/>
            <a:chOff x="1828800" y="3746500"/>
            <a:chExt cx="673100" cy="673100"/>
          </a:xfrm>
        </p:grpSpPr>
        <p:sp>
          <p:nvSpPr>
            <p:cNvPr id="67602" name="Oval 4"/>
            <p:cNvSpPr>
              <a:spLocks noChangeArrowheads="1"/>
            </p:cNvSpPr>
            <p:nvPr/>
          </p:nvSpPr>
          <p:spPr bwMode="auto">
            <a:xfrm>
              <a:off x="1828800" y="3746500"/>
              <a:ext cx="673100" cy="6731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endParaRPr lang="zh-CN" altLang="zh-CN" b="0">
                <a:latin typeface="Courier New" charset="0"/>
              </a:endParaRPr>
            </a:p>
          </p:txBody>
        </p:sp>
        <p:sp>
          <p:nvSpPr>
            <p:cNvPr id="67603" name="Rectangle 6"/>
            <p:cNvSpPr>
              <a:spLocks noChangeArrowheads="1"/>
            </p:cNvSpPr>
            <p:nvPr/>
          </p:nvSpPr>
          <p:spPr bwMode="auto">
            <a:xfrm>
              <a:off x="1884362" y="3878262"/>
              <a:ext cx="55213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r>
                <a:rPr lang="en-US" altLang="zh-CN" b="0">
                  <a:latin typeface="Courier New" charset="0"/>
                </a:rPr>
                <a:t>T1</a:t>
              </a:r>
            </a:p>
          </p:txBody>
        </p:sp>
      </p:grpSp>
      <p:grpSp>
        <p:nvGrpSpPr>
          <p:cNvPr id="3" name="Group 34"/>
          <p:cNvGrpSpPr>
            <a:grpSpLocks/>
          </p:cNvGrpSpPr>
          <p:nvPr/>
        </p:nvGrpSpPr>
        <p:grpSpPr bwMode="auto">
          <a:xfrm>
            <a:off x="4724400" y="3746500"/>
            <a:ext cx="673100" cy="673100"/>
            <a:chOff x="4724400" y="3746500"/>
            <a:chExt cx="673100" cy="673100"/>
          </a:xfrm>
        </p:grpSpPr>
        <p:sp>
          <p:nvSpPr>
            <p:cNvPr id="67600" name="Oval 5"/>
            <p:cNvSpPr>
              <a:spLocks noChangeArrowheads="1"/>
            </p:cNvSpPr>
            <p:nvPr/>
          </p:nvSpPr>
          <p:spPr bwMode="auto">
            <a:xfrm>
              <a:off x="4724400" y="3746500"/>
              <a:ext cx="673100" cy="6731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endParaRPr lang="zh-CN" altLang="zh-CN" b="0">
                <a:latin typeface="Courier New" charset="0"/>
              </a:endParaRPr>
            </a:p>
          </p:txBody>
        </p:sp>
        <p:sp>
          <p:nvSpPr>
            <p:cNvPr id="67601" name="Rectangle 7"/>
            <p:cNvSpPr>
              <a:spLocks noChangeArrowheads="1"/>
            </p:cNvSpPr>
            <p:nvPr/>
          </p:nvSpPr>
          <p:spPr bwMode="auto">
            <a:xfrm>
              <a:off x="4779962" y="3878262"/>
              <a:ext cx="55213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r>
                <a:rPr lang="en-US" altLang="zh-CN" b="0">
                  <a:latin typeface="Courier New" charset="0"/>
                </a:rPr>
                <a:t>T2</a:t>
              </a:r>
            </a:p>
          </p:txBody>
        </p:sp>
      </p:grpSp>
      <p:grpSp>
        <p:nvGrpSpPr>
          <p:cNvPr id="4" name="Group 8"/>
          <p:cNvGrpSpPr>
            <a:grpSpLocks/>
          </p:cNvGrpSpPr>
          <p:nvPr/>
        </p:nvGrpSpPr>
        <p:grpSpPr bwMode="auto">
          <a:xfrm>
            <a:off x="2432050" y="3497263"/>
            <a:ext cx="2362200" cy="471487"/>
            <a:chOff x="1353" y="2352"/>
            <a:chExt cx="1488" cy="297"/>
          </a:xfrm>
        </p:grpSpPr>
        <p:sp>
          <p:nvSpPr>
            <p:cNvPr id="67596" name="Line 9"/>
            <p:cNvSpPr>
              <a:spLocks noChangeShapeType="1"/>
            </p:cNvSpPr>
            <p:nvPr/>
          </p:nvSpPr>
          <p:spPr bwMode="auto">
            <a:xfrm>
              <a:off x="1353" y="2601"/>
              <a:ext cx="148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97" name="Line 10"/>
            <p:cNvSpPr>
              <a:spLocks noChangeShapeType="1"/>
            </p:cNvSpPr>
            <p:nvPr/>
          </p:nvSpPr>
          <p:spPr bwMode="auto">
            <a:xfrm>
              <a:off x="2697" y="2553"/>
              <a:ext cx="144" cy="4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98" name="Line 11"/>
            <p:cNvSpPr>
              <a:spLocks noChangeShapeType="1"/>
            </p:cNvSpPr>
            <p:nvPr/>
          </p:nvSpPr>
          <p:spPr bwMode="auto">
            <a:xfrm flipV="1">
              <a:off x="2697" y="2601"/>
              <a:ext cx="144" cy="4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99" name="Rectangle 12"/>
            <p:cNvSpPr>
              <a:spLocks noChangeArrowheads="1"/>
            </p:cNvSpPr>
            <p:nvPr/>
          </p:nvSpPr>
          <p:spPr bwMode="auto">
            <a:xfrm>
              <a:off x="1968" y="2352"/>
              <a:ext cx="231"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r>
                <a:rPr lang="en-US" altLang="zh-CN" b="0">
                  <a:latin typeface="Courier New" charset="0"/>
                </a:rPr>
                <a:t>A</a:t>
              </a:r>
            </a:p>
          </p:txBody>
        </p:sp>
      </p:grpSp>
      <p:sp>
        <p:nvSpPr>
          <p:cNvPr id="67593" name="Rectangle 18"/>
          <p:cNvSpPr>
            <a:spLocks noChangeArrowheads="1"/>
          </p:cNvSpPr>
          <p:nvPr/>
        </p:nvSpPr>
        <p:spPr bwMode="auto">
          <a:xfrm>
            <a:off x="5657850" y="3803650"/>
            <a:ext cx="301942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r>
              <a:rPr lang="en-US" altLang="zh-CN" i="1">
                <a:solidFill>
                  <a:srgbClr val="000000"/>
                </a:solidFill>
                <a:latin typeface="Helvetica" charset="0"/>
              </a:rPr>
              <a:t>Dependency graph</a:t>
            </a:r>
          </a:p>
        </p:txBody>
      </p:sp>
      <p:sp>
        <p:nvSpPr>
          <p:cNvPr id="28" name="TextBox 27"/>
          <p:cNvSpPr txBox="1">
            <a:spLocks noChangeArrowheads="1"/>
          </p:cNvSpPr>
          <p:nvPr/>
        </p:nvSpPr>
        <p:spPr bwMode="auto">
          <a:xfrm>
            <a:off x="3713163" y="3497263"/>
            <a:ext cx="3730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b="0">
                <a:latin typeface="Courier New" charset="0"/>
              </a:rPr>
              <a:t>B</a:t>
            </a:r>
          </a:p>
        </p:txBody>
      </p:sp>
      <p:sp>
        <p:nvSpPr>
          <p:cNvPr id="67595" name="Content Placeholder 4"/>
          <p:cNvSpPr txBox="1">
            <a:spLocks/>
          </p:cNvSpPr>
          <p:nvPr/>
        </p:nvSpPr>
        <p:spPr bwMode="auto">
          <a:xfrm>
            <a:off x="762000" y="2125663"/>
            <a:ext cx="7924800" cy="990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478" tIns="44445" rIns="90478" bIns="44445"/>
          <a:lstStyle>
            <a:lvl1pPr marL="2857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1pPr>
            <a:lvl2pPr marL="7429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2pPr>
            <a:lvl3pPr marL="11430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3pPr>
            <a:lvl4pPr marL="16002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4pPr>
            <a:lvl5pPr marL="20574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5pPr>
            <a:lvl6pPr marL="25146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6pPr>
            <a:lvl7pPr marL="29718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7pPr>
            <a:lvl8pPr marL="34290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8pPr>
            <a:lvl9pPr marL="38862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9pPr>
          </a:lstStyle>
          <a:p>
            <a:pPr>
              <a:lnSpc>
                <a:spcPct val="90000"/>
              </a:lnSpc>
              <a:spcBef>
                <a:spcPct val="30000"/>
              </a:spcBef>
              <a:buSzPct val="100000"/>
            </a:pPr>
            <a:r>
              <a:rPr lang="en-US" altLang="ko-KR" b="0">
                <a:latin typeface="Courier New" charset="0"/>
                <a:ea typeface="Gulim" charset="-127"/>
              </a:rPr>
              <a:t>T1:R(A),W(A),          R(B),W(B)</a:t>
            </a:r>
          </a:p>
          <a:p>
            <a:pPr>
              <a:lnSpc>
                <a:spcPct val="90000"/>
              </a:lnSpc>
              <a:spcBef>
                <a:spcPct val="30000"/>
              </a:spcBef>
              <a:buSzPct val="100000"/>
            </a:pPr>
            <a:r>
              <a:rPr lang="en-US" altLang="ko-KR" b="0">
                <a:latin typeface="Courier New" charset="0"/>
                <a:ea typeface="Gulim" charset="-127"/>
              </a:rPr>
              <a:t>T2:          R(A),W(A),         R(B),W(B)          </a:t>
            </a:r>
            <a:r>
              <a:rPr lang="en-US" altLang="zh-CN" b="0">
                <a:latin typeface="Courier New" charset="0"/>
                <a:ea typeface="Gulim" charset="-127"/>
              </a:rPr>
              <a:t> </a:t>
            </a:r>
            <a:endParaRPr lang="en-US" altLang="zh-CN" b="0">
              <a:latin typeface="Helvetica" charset="0"/>
            </a:endParaRPr>
          </a:p>
        </p:txBody>
      </p:sp>
    </p:spTree>
    <p:extLst>
      <p:ext uri="{BB962C8B-B14F-4D97-AF65-F5344CB8AC3E}">
        <p14:creationId xmlns:p14="http://schemas.microsoft.com/office/powerpoint/2010/main" val="1797096518"/>
      </p:ext>
    </p:extLst>
  </p:cSld>
  <p:clrMapOvr>
    <a:masterClrMapping/>
  </p:clrMapOvr>
  <p:transition>
    <p:cu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wipe(up)">
                                      <p:cBhvr>
                                        <p:cTn id="15" dur="500"/>
                                        <p:tgtEl>
                                          <p:spTgt spid="3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left)">
                                      <p:cBhvr>
                                        <p:cTn id="20" dur="500"/>
                                        <p:tgtEl>
                                          <p:spTgt spid="4"/>
                                        </p:tgtEl>
                                      </p:cBhvr>
                                    </p:animEffect>
                                  </p:childTnLst>
                                </p:cTn>
                              </p:par>
                            </p:childTnLst>
                          </p:cTn>
                        </p:par>
                        <p:par>
                          <p:cTn id="21" fill="hold" nodeType="afterGroup">
                            <p:stCondLst>
                              <p:cond delay="500"/>
                            </p:stCondLst>
                            <p:childTnLst>
                              <p:par>
                                <p:cTn id="22" presetID="1" presetClass="entr" presetSubtype="0"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wipe(up)">
                                      <p:cBhvr>
                                        <p:cTn id="28" dur="500"/>
                                        <p:tgtEl>
                                          <p:spTgt spid="3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017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2" grpId="0" animBg="1"/>
      <p:bldP spid="50179" grpId="0" build="p"/>
      <p:bldP spid="2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Oval 32"/>
          <p:cNvSpPr/>
          <p:nvPr/>
        </p:nvSpPr>
        <p:spPr bwMode="auto">
          <a:xfrm rot="4316525">
            <a:off x="6256338" y="1676400"/>
            <a:ext cx="858837" cy="1846263"/>
          </a:xfrm>
          <a:prstGeom prst="ellipse">
            <a:avLst/>
          </a:prstGeom>
          <a:solidFill>
            <a:srgbClr val="FFFFAA"/>
          </a:solidFill>
          <a:ln w="12700" cap="flat" cmpd="sng" algn="ctr">
            <a:solidFill>
              <a:schemeClr val="bg2">
                <a:lumMod val="40000"/>
                <a:lumOff val="60000"/>
              </a:schemeClr>
            </a:solidFill>
            <a:prstDash val="solid"/>
            <a:round/>
            <a:headEnd type="triangle" w="med" len="med"/>
            <a:tailEnd type="none" w="med" len="med"/>
          </a:ln>
          <a:effectLst/>
        </p:spPr>
        <p:txBody>
          <a:bodyPr anchor="ctr"/>
          <a:lstStyle/>
          <a:p>
            <a:pPr algn="ctr">
              <a:defRPr/>
            </a:pPr>
            <a:endParaRPr lang="en-US" b="0" dirty="0">
              <a:latin typeface="Helvetica"/>
              <a:ea typeface="ＭＳ Ｐゴシック" charset="-128"/>
              <a:cs typeface="Helvetica"/>
            </a:endParaRPr>
          </a:p>
        </p:txBody>
      </p:sp>
      <p:sp>
        <p:nvSpPr>
          <p:cNvPr id="32" name="Oval 31"/>
          <p:cNvSpPr/>
          <p:nvPr/>
        </p:nvSpPr>
        <p:spPr bwMode="auto">
          <a:xfrm rot="17189649">
            <a:off x="2590801" y="1690687"/>
            <a:ext cx="857250" cy="1844675"/>
          </a:xfrm>
          <a:prstGeom prst="ellipse">
            <a:avLst/>
          </a:prstGeom>
          <a:solidFill>
            <a:srgbClr val="FFFFAA"/>
          </a:solidFill>
          <a:ln w="12700" cap="flat" cmpd="sng" algn="ctr">
            <a:solidFill>
              <a:schemeClr val="bg2">
                <a:lumMod val="40000"/>
                <a:lumOff val="60000"/>
              </a:schemeClr>
            </a:solidFill>
            <a:prstDash val="solid"/>
            <a:round/>
            <a:headEnd type="triangle" w="med" len="med"/>
            <a:tailEnd type="none" w="med" len="med"/>
          </a:ln>
          <a:effectLst/>
        </p:spPr>
        <p:txBody>
          <a:bodyPr anchor="ctr"/>
          <a:lstStyle/>
          <a:p>
            <a:pPr algn="ctr">
              <a:defRPr/>
            </a:pPr>
            <a:endParaRPr lang="en-US" b="0" dirty="0">
              <a:latin typeface="Helvetica"/>
              <a:ea typeface="ＭＳ Ｐゴシック" charset="-128"/>
              <a:cs typeface="Helvetica"/>
            </a:endParaRPr>
          </a:p>
        </p:txBody>
      </p:sp>
      <p:sp>
        <p:nvSpPr>
          <p:cNvPr id="69635" name="Rectangle 2"/>
          <p:cNvSpPr>
            <a:spLocks noGrp="1" noChangeArrowheads="1"/>
          </p:cNvSpPr>
          <p:nvPr>
            <p:ph type="title"/>
          </p:nvPr>
        </p:nvSpPr>
        <p:spPr>
          <a:xfrm>
            <a:off x="1066800" y="152400"/>
            <a:ext cx="7772400" cy="1143000"/>
          </a:xfrm>
        </p:spPr>
        <p:txBody>
          <a:bodyPr lIns="90488" tIns="44450" rIns="90488" bIns="44450"/>
          <a:lstStyle/>
          <a:p>
            <a:pPr eaLnBrk="1" hangingPunct="1"/>
            <a:r>
              <a:rPr lang="en-US" altLang="zh-CN">
                <a:latin typeface="Tahoma" charset="0"/>
                <a:ea typeface="MS PGothic" charset="-128"/>
              </a:rPr>
              <a:t>Example</a:t>
            </a:r>
          </a:p>
        </p:txBody>
      </p:sp>
      <p:sp>
        <p:nvSpPr>
          <p:cNvPr id="50179" name="Rectangle 3"/>
          <p:cNvSpPr>
            <a:spLocks noGrp="1" noChangeArrowheads="1"/>
          </p:cNvSpPr>
          <p:nvPr>
            <p:ph idx="1"/>
          </p:nvPr>
        </p:nvSpPr>
        <p:spPr>
          <a:xfrm>
            <a:off x="838200" y="1371600"/>
            <a:ext cx="7772400" cy="5029200"/>
          </a:xfrm>
        </p:spPr>
        <p:txBody>
          <a:bodyPr lIns="90488" tIns="44450" rIns="90488" bIns="44450"/>
          <a:lstStyle/>
          <a:p>
            <a:pPr eaLnBrk="1" hangingPunct="1"/>
            <a:r>
              <a:rPr lang="en-US" altLang="zh-CN">
                <a:latin typeface="Tahoma" charset="0"/>
                <a:ea typeface="MS PGothic" charset="-128"/>
              </a:rPr>
              <a:t>Conflict that is </a:t>
            </a:r>
            <a:r>
              <a:rPr lang="en-US" altLang="zh-CN" i="1">
                <a:latin typeface="Tahoma" charset="0"/>
                <a:ea typeface="MS PGothic" charset="-128"/>
              </a:rPr>
              <a:t>not</a:t>
            </a:r>
            <a:r>
              <a:rPr lang="en-US" altLang="zh-CN">
                <a:latin typeface="Tahoma" charset="0"/>
                <a:ea typeface="MS PGothic" charset="-128"/>
              </a:rPr>
              <a:t> serializable:</a:t>
            </a:r>
          </a:p>
          <a:p>
            <a:pPr eaLnBrk="1" hangingPunct="1"/>
            <a:endParaRPr lang="en-US" altLang="zh-CN">
              <a:latin typeface="Tahoma" charset="0"/>
              <a:ea typeface="MS PGothic" charset="-128"/>
            </a:endParaRPr>
          </a:p>
          <a:p>
            <a:pPr eaLnBrk="1" hangingPunct="1"/>
            <a:endParaRPr lang="en-US" altLang="zh-CN">
              <a:latin typeface="Tahoma" charset="0"/>
              <a:ea typeface="MS PGothic" charset="-128"/>
            </a:endParaRPr>
          </a:p>
          <a:p>
            <a:pPr eaLnBrk="1" hangingPunct="1"/>
            <a:endParaRPr lang="en-US" altLang="zh-CN">
              <a:latin typeface="Tahoma" charset="0"/>
              <a:ea typeface="MS PGothic" charset="-128"/>
            </a:endParaRPr>
          </a:p>
          <a:p>
            <a:pPr eaLnBrk="1" hangingPunct="1"/>
            <a:endParaRPr lang="en-US" altLang="zh-CN">
              <a:latin typeface="Tahoma" charset="0"/>
              <a:ea typeface="MS PGothic" charset="-128"/>
            </a:endParaRPr>
          </a:p>
          <a:p>
            <a:pPr eaLnBrk="1" hangingPunct="1"/>
            <a:endParaRPr lang="en-US" altLang="zh-CN">
              <a:latin typeface="Tahoma" charset="0"/>
              <a:ea typeface="MS PGothic" charset="-128"/>
            </a:endParaRPr>
          </a:p>
          <a:p>
            <a:pPr eaLnBrk="1" hangingPunct="1">
              <a:buFontTx/>
              <a:buNone/>
            </a:pPr>
            <a:endParaRPr lang="en-US" altLang="zh-CN">
              <a:latin typeface="Tahoma" charset="0"/>
              <a:ea typeface="MS PGothic" charset="-128"/>
            </a:endParaRPr>
          </a:p>
          <a:p>
            <a:pPr eaLnBrk="1" hangingPunct="1"/>
            <a:endParaRPr lang="en-US" altLang="zh-CN">
              <a:latin typeface="Tahoma" charset="0"/>
              <a:ea typeface="MS PGothic" charset="-128"/>
            </a:endParaRPr>
          </a:p>
          <a:p>
            <a:pPr eaLnBrk="1" hangingPunct="1"/>
            <a:endParaRPr lang="en-US" altLang="zh-CN">
              <a:latin typeface="Tahoma" charset="0"/>
              <a:ea typeface="MS PGothic" charset="-128"/>
            </a:endParaRPr>
          </a:p>
          <a:p>
            <a:pPr eaLnBrk="1" hangingPunct="1"/>
            <a:r>
              <a:rPr lang="en-US" altLang="zh-CN">
                <a:latin typeface="Tahoma" charset="0"/>
                <a:ea typeface="MS PGothic" charset="-128"/>
              </a:rPr>
              <a:t>Cycle: The output of T1 depends on T2, and vice-versa</a:t>
            </a:r>
          </a:p>
          <a:p>
            <a:pPr eaLnBrk="1" hangingPunct="1"/>
            <a:endParaRPr lang="en-US" altLang="zh-CN">
              <a:latin typeface="Tahoma" charset="0"/>
              <a:ea typeface="MS PGothic" charset="-128"/>
            </a:endParaRPr>
          </a:p>
        </p:txBody>
      </p:sp>
      <p:sp>
        <p:nvSpPr>
          <p:cNvPr id="69637" name="Footer Placeholder 3"/>
          <p:cNvSpPr>
            <a:spLocks noGrp="1"/>
          </p:cNvSpPr>
          <p:nvPr>
            <p:ph type="ftr" sz="quarter" idx="4294967295"/>
          </p:nvPr>
        </p:nvSpPr>
        <p:spPr bwMode="auto">
          <a:xfrm>
            <a:off x="0" y="6453188"/>
            <a:ext cx="2895600" cy="403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endParaRPr lang="en-US" altLang="zh-CN" sz="1200">
              <a:latin typeface="Times New Roman" charset="0"/>
            </a:endParaRPr>
          </a:p>
          <a:p>
            <a:endParaRPr lang="en-US" altLang="zh-CN" sz="1200">
              <a:solidFill>
                <a:schemeClr val="tx2"/>
              </a:solidFill>
              <a:latin typeface="Times New Roman" charset="0"/>
            </a:endParaRPr>
          </a:p>
        </p:txBody>
      </p:sp>
      <p:sp>
        <p:nvSpPr>
          <p:cNvPr id="69638" name="Content Placeholder 4"/>
          <p:cNvSpPr txBox="1">
            <a:spLocks/>
          </p:cNvSpPr>
          <p:nvPr/>
        </p:nvSpPr>
        <p:spPr bwMode="auto">
          <a:xfrm>
            <a:off x="762000" y="2125663"/>
            <a:ext cx="7924800" cy="990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478" tIns="44445" rIns="90478" bIns="44445"/>
          <a:lstStyle>
            <a:lvl1pPr marL="2857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1pPr>
            <a:lvl2pPr marL="7429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2pPr>
            <a:lvl3pPr marL="11430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3pPr>
            <a:lvl4pPr marL="16002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4pPr>
            <a:lvl5pPr marL="20574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5pPr>
            <a:lvl6pPr marL="25146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6pPr>
            <a:lvl7pPr marL="29718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7pPr>
            <a:lvl8pPr marL="34290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8pPr>
            <a:lvl9pPr marL="38862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9pPr>
          </a:lstStyle>
          <a:p>
            <a:pPr>
              <a:lnSpc>
                <a:spcPct val="90000"/>
              </a:lnSpc>
              <a:spcBef>
                <a:spcPct val="30000"/>
              </a:spcBef>
              <a:buSzPct val="100000"/>
            </a:pPr>
            <a:r>
              <a:rPr lang="en-US" altLang="ko-KR" b="0">
                <a:latin typeface="Courier New" charset="0"/>
                <a:ea typeface="Gulim" charset="-127"/>
              </a:rPr>
              <a:t>T1:R(A),W(A),                   R(B),W(B)</a:t>
            </a:r>
          </a:p>
          <a:p>
            <a:pPr>
              <a:lnSpc>
                <a:spcPct val="90000"/>
              </a:lnSpc>
              <a:spcBef>
                <a:spcPct val="30000"/>
              </a:spcBef>
              <a:buSzPct val="100000"/>
            </a:pPr>
            <a:r>
              <a:rPr lang="en-US" altLang="ko-KR" b="0">
                <a:latin typeface="Courier New" charset="0"/>
                <a:ea typeface="Gulim" charset="-127"/>
              </a:rPr>
              <a:t>T2:          R(A),W(A),R(B),W(B)          </a:t>
            </a:r>
            <a:r>
              <a:rPr lang="en-US" altLang="zh-CN" b="0">
                <a:latin typeface="Courier New" charset="0"/>
                <a:ea typeface="Gulim" charset="-127"/>
              </a:rPr>
              <a:t> </a:t>
            </a:r>
            <a:endParaRPr lang="en-US" altLang="zh-CN" b="0">
              <a:latin typeface="Helvetica" charset="0"/>
            </a:endParaRPr>
          </a:p>
        </p:txBody>
      </p:sp>
      <p:sp>
        <p:nvSpPr>
          <p:cNvPr id="69639" name="Oval 4"/>
          <p:cNvSpPr>
            <a:spLocks noChangeArrowheads="1"/>
          </p:cNvSpPr>
          <p:nvPr/>
        </p:nvSpPr>
        <p:spPr bwMode="auto">
          <a:xfrm>
            <a:off x="1544638" y="3754438"/>
            <a:ext cx="673100" cy="6731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endParaRPr lang="zh-CN" altLang="zh-CN" b="0">
              <a:latin typeface="Courier New" charset="0"/>
            </a:endParaRPr>
          </a:p>
        </p:txBody>
      </p:sp>
      <p:sp>
        <p:nvSpPr>
          <p:cNvPr id="69640" name="Oval 5"/>
          <p:cNvSpPr>
            <a:spLocks noChangeArrowheads="1"/>
          </p:cNvSpPr>
          <p:nvPr/>
        </p:nvSpPr>
        <p:spPr bwMode="auto">
          <a:xfrm>
            <a:off x="4440238" y="3754438"/>
            <a:ext cx="673100" cy="6731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endParaRPr lang="zh-CN" altLang="zh-CN" b="0">
              <a:latin typeface="Courier New" charset="0"/>
            </a:endParaRPr>
          </a:p>
        </p:txBody>
      </p:sp>
      <p:sp>
        <p:nvSpPr>
          <p:cNvPr id="69641" name="Rectangle 6"/>
          <p:cNvSpPr>
            <a:spLocks noChangeArrowheads="1"/>
          </p:cNvSpPr>
          <p:nvPr/>
        </p:nvSpPr>
        <p:spPr bwMode="auto">
          <a:xfrm>
            <a:off x="1600200" y="3886200"/>
            <a:ext cx="55245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r>
              <a:rPr lang="en-US" altLang="zh-CN" b="0">
                <a:latin typeface="Courier New" charset="0"/>
              </a:rPr>
              <a:t>T1</a:t>
            </a:r>
          </a:p>
        </p:txBody>
      </p:sp>
      <p:sp>
        <p:nvSpPr>
          <p:cNvPr id="69642" name="Rectangle 7"/>
          <p:cNvSpPr>
            <a:spLocks noChangeArrowheads="1"/>
          </p:cNvSpPr>
          <p:nvPr/>
        </p:nvSpPr>
        <p:spPr bwMode="auto">
          <a:xfrm>
            <a:off x="4495800" y="3886200"/>
            <a:ext cx="55245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r>
              <a:rPr lang="en-US" altLang="zh-CN" b="0">
                <a:latin typeface="Courier New" charset="0"/>
              </a:rPr>
              <a:t>T2</a:t>
            </a:r>
          </a:p>
        </p:txBody>
      </p:sp>
      <p:grpSp>
        <p:nvGrpSpPr>
          <p:cNvPr id="2" name="Group 8"/>
          <p:cNvGrpSpPr>
            <a:grpSpLocks/>
          </p:cNvGrpSpPr>
          <p:nvPr/>
        </p:nvGrpSpPr>
        <p:grpSpPr bwMode="auto">
          <a:xfrm>
            <a:off x="2147888" y="3505200"/>
            <a:ext cx="2362200" cy="471488"/>
            <a:chOff x="1353" y="2352"/>
            <a:chExt cx="1488" cy="297"/>
          </a:xfrm>
        </p:grpSpPr>
        <p:sp>
          <p:nvSpPr>
            <p:cNvPr id="69650" name="Line 9"/>
            <p:cNvSpPr>
              <a:spLocks noChangeShapeType="1"/>
            </p:cNvSpPr>
            <p:nvPr/>
          </p:nvSpPr>
          <p:spPr bwMode="auto">
            <a:xfrm>
              <a:off x="1353" y="2601"/>
              <a:ext cx="148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51" name="Line 10"/>
            <p:cNvSpPr>
              <a:spLocks noChangeShapeType="1"/>
            </p:cNvSpPr>
            <p:nvPr/>
          </p:nvSpPr>
          <p:spPr bwMode="auto">
            <a:xfrm>
              <a:off x="2697" y="2553"/>
              <a:ext cx="144" cy="4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52" name="Line 11"/>
            <p:cNvSpPr>
              <a:spLocks noChangeShapeType="1"/>
            </p:cNvSpPr>
            <p:nvPr/>
          </p:nvSpPr>
          <p:spPr bwMode="auto">
            <a:xfrm flipV="1">
              <a:off x="2697" y="2601"/>
              <a:ext cx="144" cy="4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53" name="Rectangle 12"/>
            <p:cNvSpPr>
              <a:spLocks noChangeArrowheads="1"/>
            </p:cNvSpPr>
            <p:nvPr/>
          </p:nvSpPr>
          <p:spPr bwMode="auto">
            <a:xfrm>
              <a:off x="1968" y="2352"/>
              <a:ext cx="231"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r>
                <a:rPr lang="en-US" altLang="zh-CN" b="0">
                  <a:latin typeface="Courier New" charset="0"/>
                </a:rPr>
                <a:t>A</a:t>
              </a:r>
            </a:p>
          </p:txBody>
        </p:sp>
      </p:grpSp>
      <p:grpSp>
        <p:nvGrpSpPr>
          <p:cNvPr id="3" name="Group 13"/>
          <p:cNvGrpSpPr>
            <a:grpSpLocks/>
          </p:cNvGrpSpPr>
          <p:nvPr/>
        </p:nvGrpSpPr>
        <p:grpSpPr bwMode="auto">
          <a:xfrm>
            <a:off x="2147888" y="4205288"/>
            <a:ext cx="2362200" cy="649287"/>
            <a:chOff x="1353" y="2793"/>
            <a:chExt cx="1488" cy="460"/>
          </a:xfrm>
        </p:grpSpPr>
        <p:sp>
          <p:nvSpPr>
            <p:cNvPr id="69646" name="Line 14"/>
            <p:cNvSpPr>
              <a:spLocks noChangeShapeType="1"/>
            </p:cNvSpPr>
            <p:nvPr/>
          </p:nvSpPr>
          <p:spPr bwMode="auto">
            <a:xfrm>
              <a:off x="1353" y="2841"/>
              <a:ext cx="148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47" name="Line 15"/>
            <p:cNvSpPr>
              <a:spLocks noChangeShapeType="1"/>
            </p:cNvSpPr>
            <p:nvPr/>
          </p:nvSpPr>
          <p:spPr bwMode="auto">
            <a:xfrm>
              <a:off x="1353" y="2841"/>
              <a:ext cx="144" cy="4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48" name="Line 16"/>
            <p:cNvSpPr>
              <a:spLocks noChangeShapeType="1"/>
            </p:cNvSpPr>
            <p:nvPr/>
          </p:nvSpPr>
          <p:spPr bwMode="auto">
            <a:xfrm flipV="1">
              <a:off x="1353" y="2793"/>
              <a:ext cx="144" cy="4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49" name="Rectangle 17"/>
            <p:cNvSpPr>
              <a:spLocks noChangeArrowheads="1"/>
            </p:cNvSpPr>
            <p:nvPr/>
          </p:nvSpPr>
          <p:spPr bwMode="auto">
            <a:xfrm>
              <a:off x="1968" y="2928"/>
              <a:ext cx="231"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r>
                <a:rPr lang="en-US" altLang="zh-CN" b="0">
                  <a:latin typeface="Courier New" charset="0"/>
                </a:rPr>
                <a:t>B</a:t>
              </a:r>
            </a:p>
          </p:txBody>
        </p:sp>
      </p:grpSp>
      <p:sp>
        <p:nvSpPr>
          <p:cNvPr id="69645" name="Rectangle 18"/>
          <p:cNvSpPr>
            <a:spLocks noChangeArrowheads="1"/>
          </p:cNvSpPr>
          <p:nvPr/>
        </p:nvSpPr>
        <p:spPr bwMode="auto">
          <a:xfrm>
            <a:off x="5486400" y="3886200"/>
            <a:ext cx="301942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r>
              <a:rPr lang="en-US" altLang="zh-CN" i="1">
                <a:solidFill>
                  <a:srgbClr val="000000"/>
                </a:solidFill>
                <a:latin typeface="Helvetica" charset="0"/>
              </a:rPr>
              <a:t>Dependency graph</a:t>
            </a:r>
          </a:p>
        </p:txBody>
      </p:sp>
    </p:spTree>
    <p:extLst>
      <p:ext uri="{BB962C8B-B14F-4D97-AF65-F5344CB8AC3E}">
        <p14:creationId xmlns:p14="http://schemas.microsoft.com/office/powerpoint/2010/main" val="123492635"/>
      </p:ext>
    </p:extLst>
  </p:cSld>
  <p:clrMapOvr>
    <a:masterClrMapping/>
  </p:clrMapOvr>
  <p:transition>
    <p:cu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wipe(up)">
                                      <p:cBhvr>
                                        <p:cTn id="11" dur="500"/>
                                        <p:tgtEl>
                                          <p:spTgt spid="3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wipe(up)">
                                      <p:cBhvr>
                                        <p:cTn id="21" dur="500"/>
                                        <p:tgtEl>
                                          <p:spTgt spid="3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2"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right)">
                                      <p:cBhvr>
                                        <p:cTn id="26" dur="500"/>
                                        <p:tgtEl>
                                          <p:spTgt spid="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017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2" grpId="0" animBg="1"/>
      <p:bldP spid="50179"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p:cNvSpPr>
            <a:spLocks noGrp="1"/>
          </p:cNvSpPr>
          <p:nvPr>
            <p:ph type="title"/>
          </p:nvPr>
        </p:nvSpPr>
        <p:spPr>
          <a:xfrm>
            <a:off x="304800" y="152400"/>
            <a:ext cx="8610600" cy="533400"/>
          </a:xfrm>
        </p:spPr>
        <p:txBody>
          <a:bodyPr/>
          <a:lstStyle/>
          <a:p>
            <a:pPr eaLnBrk="1" hangingPunct="1"/>
            <a:r>
              <a:rPr lang="en-US" altLang="zh-CN">
                <a:latin typeface="Tahoma" charset="0"/>
                <a:ea typeface="MS PGothic" charset="-128"/>
              </a:rPr>
              <a:t>Example</a:t>
            </a:r>
            <a:endParaRPr lang="en-US" altLang="zh-CN">
              <a:latin typeface="Helvetica" charset="0"/>
              <a:ea typeface="MS PGothic" charset="-128"/>
            </a:endParaRPr>
          </a:p>
        </p:txBody>
      </p:sp>
      <p:sp>
        <p:nvSpPr>
          <p:cNvPr id="71682" name="Content Placeholder 4"/>
          <p:cNvSpPr txBox="1">
            <a:spLocks/>
          </p:cNvSpPr>
          <p:nvPr/>
        </p:nvSpPr>
        <p:spPr bwMode="auto">
          <a:xfrm>
            <a:off x="2057400" y="1981200"/>
            <a:ext cx="4953000" cy="990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478" tIns="44445" rIns="90478" bIns="44445"/>
          <a:lstStyle>
            <a:lvl1pPr marL="2857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1pPr>
            <a:lvl2pPr marL="7429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2pPr>
            <a:lvl3pPr marL="11430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3pPr>
            <a:lvl4pPr marL="16002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4pPr>
            <a:lvl5pPr marL="20574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5pPr>
            <a:lvl6pPr marL="25146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6pPr>
            <a:lvl7pPr marL="29718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7pPr>
            <a:lvl8pPr marL="34290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8pPr>
            <a:lvl9pPr marL="38862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9pPr>
          </a:lstStyle>
          <a:p>
            <a:pPr>
              <a:lnSpc>
                <a:spcPct val="90000"/>
              </a:lnSpc>
              <a:spcBef>
                <a:spcPct val="30000"/>
              </a:spcBef>
              <a:buSzPct val="100000"/>
            </a:pPr>
            <a:r>
              <a:rPr lang="en-US" altLang="ko-KR" b="0">
                <a:latin typeface="Courier New" charset="0"/>
                <a:ea typeface="Gulim" charset="-127"/>
              </a:rPr>
              <a:t>T1:R(A),          W(A)</a:t>
            </a:r>
          </a:p>
          <a:p>
            <a:pPr>
              <a:lnSpc>
                <a:spcPct val="90000"/>
              </a:lnSpc>
              <a:spcBef>
                <a:spcPct val="30000"/>
              </a:spcBef>
              <a:buSzPct val="100000"/>
            </a:pPr>
            <a:r>
              <a:rPr lang="en-US" altLang="ko-KR" b="0">
                <a:latin typeface="Courier New" charset="0"/>
                <a:ea typeface="Gulim" charset="-127"/>
              </a:rPr>
              <a:t>T2:     R(A),W(A), </a:t>
            </a:r>
            <a:endParaRPr lang="en-US" altLang="zh-CN" b="0">
              <a:latin typeface="Helvetica" charset="0"/>
            </a:endParaRPr>
          </a:p>
        </p:txBody>
      </p:sp>
      <p:cxnSp>
        <p:nvCxnSpPr>
          <p:cNvPr id="71683" name="Straight Arrow Connector 2"/>
          <p:cNvCxnSpPr>
            <a:cxnSpLocks noChangeShapeType="1"/>
          </p:cNvCxnSpPr>
          <p:nvPr/>
        </p:nvCxnSpPr>
        <p:spPr bwMode="auto">
          <a:xfrm>
            <a:off x="3429000" y="2133600"/>
            <a:ext cx="952500" cy="381000"/>
          </a:xfrm>
          <a:prstGeom prst="straightConnector1">
            <a:avLst/>
          </a:prstGeom>
          <a:noFill/>
          <a:ln w="38100">
            <a:solidFill>
              <a:srgbClr val="C00000"/>
            </a:solidFill>
            <a:round/>
            <a:headEnd/>
            <a:tailEnd type="triangle" w="med" len="med"/>
          </a:ln>
          <a:extLst>
            <a:ext uri="{909E8E84-426E-40DD-AFC4-6F175D3DCCD1}">
              <a14:hiddenFill xmlns:a14="http://schemas.microsoft.com/office/drawing/2010/main">
                <a:noFill/>
              </a14:hiddenFill>
            </a:ext>
          </a:extLst>
        </p:spPr>
      </p:cxnSp>
      <p:cxnSp>
        <p:nvCxnSpPr>
          <p:cNvPr id="71684" name="Straight Arrow Connector 7"/>
          <p:cNvCxnSpPr>
            <a:cxnSpLocks noChangeShapeType="1"/>
          </p:cNvCxnSpPr>
          <p:nvPr/>
        </p:nvCxnSpPr>
        <p:spPr bwMode="auto">
          <a:xfrm flipV="1">
            <a:off x="5029200" y="2324100"/>
            <a:ext cx="381000" cy="190500"/>
          </a:xfrm>
          <a:prstGeom prst="straightConnector1">
            <a:avLst/>
          </a:prstGeom>
          <a:noFill/>
          <a:ln w="38100">
            <a:solidFill>
              <a:srgbClr val="C00000"/>
            </a:solidFill>
            <a:round/>
            <a:headEnd/>
            <a:tailEnd type="triangle" w="med" len="med"/>
          </a:ln>
          <a:extLst>
            <a:ext uri="{909E8E84-426E-40DD-AFC4-6F175D3DCCD1}">
              <a14:hiddenFill xmlns:a14="http://schemas.microsoft.com/office/drawing/2010/main">
                <a:noFill/>
              </a14:hiddenFill>
            </a:ext>
          </a:extLst>
        </p:spPr>
      </p:cxnSp>
      <p:sp>
        <p:nvSpPr>
          <p:cNvPr id="71685" name="Oval 4"/>
          <p:cNvSpPr>
            <a:spLocks noChangeArrowheads="1"/>
          </p:cNvSpPr>
          <p:nvPr/>
        </p:nvSpPr>
        <p:spPr bwMode="auto">
          <a:xfrm>
            <a:off x="1544638" y="3754438"/>
            <a:ext cx="673100" cy="6731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endParaRPr lang="zh-CN" altLang="zh-CN" b="0">
              <a:latin typeface="Courier New" charset="0"/>
            </a:endParaRPr>
          </a:p>
        </p:txBody>
      </p:sp>
      <p:sp>
        <p:nvSpPr>
          <p:cNvPr id="71686" name="Oval 5"/>
          <p:cNvSpPr>
            <a:spLocks noChangeArrowheads="1"/>
          </p:cNvSpPr>
          <p:nvPr/>
        </p:nvSpPr>
        <p:spPr bwMode="auto">
          <a:xfrm>
            <a:off x="4440238" y="3754438"/>
            <a:ext cx="673100" cy="6731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endParaRPr lang="zh-CN" altLang="zh-CN" b="0">
              <a:latin typeface="Courier New" charset="0"/>
            </a:endParaRPr>
          </a:p>
        </p:txBody>
      </p:sp>
      <p:sp>
        <p:nvSpPr>
          <p:cNvPr id="71687" name="Rectangle 6"/>
          <p:cNvSpPr>
            <a:spLocks noChangeArrowheads="1"/>
          </p:cNvSpPr>
          <p:nvPr/>
        </p:nvSpPr>
        <p:spPr bwMode="auto">
          <a:xfrm>
            <a:off x="1600200" y="3886200"/>
            <a:ext cx="55245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r>
              <a:rPr lang="en-US" altLang="zh-CN" b="0">
                <a:latin typeface="Courier New" charset="0"/>
              </a:rPr>
              <a:t>T1</a:t>
            </a:r>
          </a:p>
        </p:txBody>
      </p:sp>
      <p:sp>
        <p:nvSpPr>
          <p:cNvPr id="71688" name="Rectangle 7"/>
          <p:cNvSpPr>
            <a:spLocks noChangeArrowheads="1"/>
          </p:cNvSpPr>
          <p:nvPr/>
        </p:nvSpPr>
        <p:spPr bwMode="auto">
          <a:xfrm>
            <a:off x="4495800" y="3886200"/>
            <a:ext cx="55245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r>
              <a:rPr lang="en-US" altLang="zh-CN" b="0">
                <a:latin typeface="Courier New" charset="0"/>
              </a:rPr>
              <a:t>T2</a:t>
            </a:r>
          </a:p>
        </p:txBody>
      </p:sp>
      <p:grpSp>
        <p:nvGrpSpPr>
          <p:cNvPr id="19" name="Group 8"/>
          <p:cNvGrpSpPr>
            <a:grpSpLocks/>
          </p:cNvGrpSpPr>
          <p:nvPr/>
        </p:nvGrpSpPr>
        <p:grpSpPr bwMode="auto">
          <a:xfrm>
            <a:off x="2147888" y="3505200"/>
            <a:ext cx="2362200" cy="471488"/>
            <a:chOff x="1353" y="2352"/>
            <a:chExt cx="1488" cy="297"/>
          </a:xfrm>
        </p:grpSpPr>
        <p:sp>
          <p:nvSpPr>
            <p:cNvPr id="71696" name="Line 9"/>
            <p:cNvSpPr>
              <a:spLocks noChangeShapeType="1"/>
            </p:cNvSpPr>
            <p:nvPr/>
          </p:nvSpPr>
          <p:spPr bwMode="auto">
            <a:xfrm>
              <a:off x="1353" y="2601"/>
              <a:ext cx="148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697" name="Line 10"/>
            <p:cNvSpPr>
              <a:spLocks noChangeShapeType="1"/>
            </p:cNvSpPr>
            <p:nvPr/>
          </p:nvSpPr>
          <p:spPr bwMode="auto">
            <a:xfrm>
              <a:off x="2697" y="2553"/>
              <a:ext cx="144" cy="4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698" name="Line 11"/>
            <p:cNvSpPr>
              <a:spLocks noChangeShapeType="1"/>
            </p:cNvSpPr>
            <p:nvPr/>
          </p:nvSpPr>
          <p:spPr bwMode="auto">
            <a:xfrm flipV="1">
              <a:off x="2697" y="2601"/>
              <a:ext cx="144" cy="4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699" name="Rectangle 12"/>
            <p:cNvSpPr>
              <a:spLocks noChangeArrowheads="1"/>
            </p:cNvSpPr>
            <p:nvPr/>
          </p:nvSpPr>
          <p:spPr bwMode="auto">
            <a:xfrm>
              <a:off x="1968" y="2352"/>
              <a:ext cx="231"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r>
                <a:rPr lang="en-US" altLang="zh-CN" b="0">
                  <a:latin typeface="Courier New" charset="0"/>
                </a:rPr>
                <a:t>A</a:t>
              </a:r>
            </a:p>
          </p:txBody>
        </p:sp>
      </p:grpSp>
      <p:sp>
        <p:nvSpPr>
          <p:cNvPr id="71690" name="Rectangle 18"/>
          <p:cNvSpPr>
            <a:spLocks noChangeArrowheads="1"/>
          </p:cNvSpPr>
          <p:nvPr/>
        </p:nvSpPr>
        <p:spPr bwMode="auto">
          <a:xfrm>
            <a:off x="5486400" y="3886200"/>
            <a:ext cx="301942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r>
              <a:rPr lang="en-US" altLang="zh-CN" i="1">
                <a:solidFill>
                  <a:srgbClr val="000000"/>
                </a:solidFill>
                <a:latin typeface="Helvetica" charset="0"/>
              </a:rPr>
              <a:t>Dependency graph</a:t>
            </a:r>
          </a:p>
        </p:txBody>
      </p:sp>
      <p:grpSp>
        <p:nvGrpSpPr>
          <p:cNvPr id="25" name="Group 13"/>
          <p:cNvGrpSpPr>
            <a:grpSpLocks/>
          </p:cNvGrpSpPr>
          <p:nvPr/>
        </p:nvGrpSpPr>
        <p:grpSpPr bwMode="auto">
          <a:xfrm>
            <a:off x="2147888" y="4205288"/>
            <a:ext cx="2362200" cy="649287"/>
            <a:chOff x="1353" y="2793"/>
            <a:chExt cx="1488" cy="460"/>
          </a:xfrm>
        </p:grpSpPr>
        <p:sp>
          <p:nvSpPr>
            <p:cNvPr id="71692" name="Line 14"/>
            <p:cNvSpPr>
              <a:spLocks noChangeShapeType="1"/>
            </p:cNvSpPr>
            <p:nvPr/>
          </p:nvSpPr>
          <p:spPr bwMode="auto">
            <a:xfrm>
              <a:off x="1353" y="2841"/>
              <a:ext cx="148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693" name="Line 15"/>
            <p:cNvSpPr>
              <a:spLocks noChangeShapeType="1"/>
            </p:cNvSpPr>
            <p:nvPr/>
          </p:nvSpPr>
          <p:spPr bwMode="auto">
            <a:xfrm>
              <a:off x="1353" y="2841"/>
              <a:ext cx="144" cy="4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694" name="Line 16"/>
            <p:cNvSpPr>
              <a:spLocks noChangeShapeType="1"/>
            </p:cNvSpPr>
            <p:nvPr/>
          </p:nvSpPr>
          <p:spPr bwMode="auto">
            <a:xfrm flipV="1">
              <a:off x="1353" y="2793"/>
              <a:ext cx="144" cy="4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695" name="Rectangle 17"/>
            <p:cNvSpPr>
              <a:spLocks noChangeArrowheads="1"/>
            </p:cNvSpPr>
            <p:nvPr/>
          </p:nvSpPr>
          <p:spPr bwMode="auto">
            <a:xfrm>
              <a:off x="1968" y="2928"/>
              <a:ext cx="231"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r>
                <a:rPr lang="en-US" altLang="zh-CN" b="0">
                  <a:latin typeface="Courier New" charset="0"/>
                </a:rPr>
                <a:t>B</a:t>
              </a:r>
            </a:p>
          </p:txBody>
        </p:sp>
      </p:grpSp>
    </p:spTree>
    <p:extLst>
      <p:ext uri="{BB962C8B-B14F-4D97-AF65-F5344CB8AC3E}">
        <p14:creationId xmlns:p14="http://schemas.microsoft.com/office/powerpoint/2010/main" val="12857275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right)">
                                      <p:cBhvr>
                                        <p:cTn id="1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p:cNvSpPr>
            <a:spLocks noGrp="1"/>
          </p:cNvSpPr>
          <p:nvPr>
            <p:ph type="title"/>
          </p:nvPr>
        </p:nvSpPr>
        <p:spPr/>
        <p:txBody>
          <a:bodyPr/>
          <a:lstStyle/>
          <a:p>
            <a:pPr eaLnBrk="1" hangingPunct="1"/>
            <a:r>
              <a:rPr lang="en-US" altLang="zh-CN">
                <a:latin typeface="Tahoma" charset="0"/>
                <a:ea typeface="MS PGothic" charset="-128"/>
              </a:rPr>
              <a:t>Notes on Conflict Serializability</a:t>
            </a:r>
            <a:endParaRPr lang="en-US" altLang="zh-CN">
              <a:latin typeface="Helvetica" charset="0"/>
              <a:ea typeface="MS PGothic" charset="-128"/>
            </a:endParaRPr>
          </a:p>
        </p:txBody>
      </p:sp>
      <p:sp>
        <p:nvSpPr>
          <p:cNvPr id="3" name="Content Placeholder 2"/>
          <p:cNvSpPr>
            <a:spLocks noGrp="1"/>
          </p:cNvSpPr>
          <p:nvPr>
            <p:ph idx="1"/>
          </p:nvPr>
        </p:nvSpPr>
        <p:spPr/>
        <p:txBody>
          <a:bodyPr/>
          <a:lstStyle/>
          <a:p>
            <a:pPr eaLnBrk="1" hangingPunct="1"/>
            <a:r>
              <a:rPr lang="en-US" altLang="zh-CN" dirty="0">
                <a:latin typeface="Tahoma" charset="0"/>
                <a:ea typeface="MS PGothic" charset="-128"/>
              </a:rPr>
              <a:t>Conflict Serializability doesn</a:t>
            </a:r>
            <a:r>
              <a:rPr lang="en-US" altLang="en-US" dirty="0">
                <a:latin typeface="Tahoma" charset="0"/>
                <a:ea typeface="MS PGothic" charset="-128"/>
              </a:rPr>
              <a:t>’</a:t>
            </a:r>
            <a:r>
              <a:rPr lang="en-US" altLang="ja-JP" dirty="0">
                <a:latin typeface="Tahoma" charset="0"/>
                <a:ea typeface="MS PGothic" charset="-128"/>
              </a:rPr>
              <a:t>t allow all schedules that you would consider correct</a:t>
            </a:r>
          </a:p>
          <a:p>
            <a:pPr lvl="1" eaLnBrk="1" hangingPunct="1"/>
            <a:r>
              <a:rPr lang="en-US" altLang="zh-CN" dirty="0">
                <a:latin typeface="Tahoma" charset="0"/>
                <a:ea typeface="MS PGothic" charset="-128"/>
              </a:rPr>
              <a:t>This is because it is strictly </a:t>
            </a:r>
            <a:r>
              <a:rPr lang="en-US" altLang="zh-CN" i="1" dirty="0">
                <a:latin typeface="Tahoma" charset="0"/>
                <a:ea typeface="MS PGothic" charset="-128"/>
              </a:rPr>
              <a:t>syntactic</a:t>
            </a:r>
            <a:r>
              <a:rPr lang="en-US" altLang="zh-CN" dirty="0">
                <a:latin typeface="Tahoma" charset="0"/>
                <a:ea typeface="MS PGothic" charset="-128"/>
              </a:rPr>
              <a:t> - it doesn</a:t>
            </a:r>
            <a:r>
              <a:rPr lang="en-US" altLang="en-US" dirty="0">
                <a:latin typeface="Tahoma" charset="0"/>
                <a:ea typeface="MS PGothic" charset="-128"/>
              </a:rPr>
              <a:t>’</a:t>
            </a:r>
            <a:r>
              <a:rPr lang="en-US" altLang="ja-JP" dirty="0">
                <a:latin typeface="Tahoma" charset="0"/>
                <a:ea typeface="MS PGothic" charset="-128"/>
              </a:rPr>
              <a:t>t consider the meanings of the operations or the data</a:t>
            </a:r>
          </a:p>
          <a:p>
            <a:pPr lvl="1" eaLnBrk="1" hangingPunct="1"/>
            <a:endParaRPr lang="en-US" altLang="zh-CN" dirty="0">
              <a:latin typeface="Tahoma" charset="0"/>
              <a:ea typeface="MS PGothic" charset="-128"/>
            </a:endParaRPr>
          </a:p>
          <a:p>
            <a:pPr eaLnBrk="1" hangingPunct="1"/>
            <a:r>
              <a:rPr lang="en-US" altLang="zh-CN" dirty="0">
                <a:latin typeface="Tahoma" charset="0"/>
                <a:ea typeface="MS PGothic" charset="-128"/>
              </a:rPr>
              <a:t>In practice, Conflict Serializability is what gets used, because it can be done efficiently</a:t>
            </a:r>
          </a:p>
          <a:p>
            <a:pPr lvl="1" eaLnBrk="1" hangingPunct="1"/>
            <a:r>
              <a:rPr lang="en-US" altLang="zh-CN" dirty="0">
                <a:latin typeface="Tahoma" charset="0"/>
                <a:ea typeface="MS PGothic" charset="-128"/>
              </a:rPr>
              <a:t>Note: in order to allow more concurrency, some special cases do get implemented, such as for travel reservations, …</a:t>
            </a:r>
          </a:p>
          <a:p>
            <a:pPr lvl="1" eaLnBrk="1" hangingPunct="1">
              <a:buFontTx/>
              <a:buNone/>
            </a:pPr>
            <a:endParaRPr lang="en-US" altLang="zh-CN" dirty="0">
              <a:latin typeface="Tahoma" charset="0"/>
              <a:ea typeface="MS PGothic" charset="-128"/>
            </a:endParaRPr>
          </a:p>
        </p:txBody>
      </p:sp>
    </p:spTree>
    <p:extLst>
      <p:ext uri="{BB962C8B-B14F-4D97-AF65-F5344CB8AC3E}">
        <p14:creationId xmlns:p14="http://schemas.microsoft.com/office/powerpoint/2010/main" val="55381163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itle 1"/>
          <p:cNvSpPr>
            <a:spLocks noGrp="1"/>
          </p:cNvSpPr>
          <p:nvPr>
            <p:ph type="title"/>
          </p:nvPr>
        </p:nvSpPr>
        <p:spPr>
          <a:xfrm>
            <a:off x="533400" y="152400"/>
            <a:ext cx="8305800" cy="533400"/>
          </a:xfrm>
        </p:spPr>
        <p:txBody>
          <a:bodyPr/>
          <a:lstStyle/>
          <a:p>
            <a:pPr eaLnBrk="1" hangingPunct="1"/>
            <a:r>
              <a:rPr lang="en-US" altLang="zh-CN">
                <a:latin typeface="Helvetica" charset="0"/>
                <a:ea typeface="MS PGothic" charset="-128"/>
              </a:rPr>
              <a:t>Serializability ≠&gt; Conflict Serializability</a:t>
            </a:r>
          </a:p>
        </p:txBody>
      </p:sp>
      <p:sp>
        <p:nvSpPr>
          <p:cNvPr id="3" name="Content Placeholder 2"/>
          <p:cNvSpPr>
            <a:spLocks noGrp="1"/>
          </p:cNvSpPr>
          <p:nvPr>
            <p:ph idx="1"/>
          </p:nvPr>
        </p:nvSpPr>
        <p:spPr>
          <a:xfrm>
            <a:off x="609600" y="914400"/>
            <a:ext cx="7924800" cy="5638800"/>
          </a:xfrm>
        </p:spPr>
        <p:txBody>
          <a:bodyPr/>
          <a:lstStyle/>
          <a:p>
            <a:pPr eaLnBrk="1" hangingPunct="1">
              <a:defRPr/>
            </a:pPr>
            <a:r>
              <a:rPr lang="en-US" dirty="0"/>
              <a:t>Following schedule is </a:t>
            </a:r>
            <a:r>
              <a:rPr lang="en-US" b="1" dirty="0"/>
              <a:t>not</a:t>
            </a:r>
            <a:r>
              <a:rPr lang="en-US" dirty="0"/>
              <a:t> conflict serializable</a:t>
            </a:r>
          </a:p>
          <a:p>
            <a:pPr eaLnBrk="1" hangingPunct="1">
              <a:defRPr/>
            </a:pPr>
            <a:endParaRPr lang="en-US" dirty="0"/>
          </a:p>
          <a:p>
            <a:pPr eaLnBrk="1" hangingPunct="1">
              <a:defRPr/>
            </a:pPr>
            <a:endParaRPr lang="en-US" dirty="0"/>
          </a:p>
          <a:p>
            <a:pPr eaLnBrk="1" hangingPunct="1">
              <a:defRPr/>
            </a:pPr>
            <a:endParaRPr lang="en-US" dirty="0"/>
          </a:p>
          <a:p>
            <a:pPr eaLnBrk="1" hangingPunct="1">
              <a:defRPr/>
            </a:pPr>
            <a:endParaRPr lang="en-US" dirty="0"/>
          </a:p>
          <a:p>
            <a:pPr eaLnBrk="1" hangingPunct="1">
              <a:defRPr/>
            </a:pPr>
            <a:r>
              <a:rPr lang="en-US" dirty="0"/>
              <a:t>However, the schedule is serializable since its output is equivalent with the following serial schedule</a:t>
            </a:r>
          </a:p>
          <a:p>
            <a:pPr eaLnBrk="1" hangingPunct="1">
              <a:defRPr/>
            </a:pPr>
            <a:endParaRPr lang="en-US" dirty="0"/>
          </a:p>
          <a:p>
            <a:pPr eaLnBrk="1" hangingPunct="1">
              <a:defRPr/>
            </a:pPr>
            <a:endParaRPr lang="en-US" dirty="0"/>
          </a:p>
          <a:p>
            <a:pPr marL="0" indent="0" eaLnBrk="1" hangingPunct="1">
              <a:buFontTx/>
              <a:buNone/>
              <a:defRPr/>
            </a:pPr>
            <a:endParaRPr lang="en-US" dirty="0"/>
          </a:p>
          <a:p>
            <a:pPr eaLnBrk="1" hangingPunct="1">
              <a:defRPr/>
            </a:pPr>
            <a:endParaRPr lang="en-US" dirty="0"/>
          </a:p>
          <a:p>
            <a:pPr eaLnBrk="1" hangingPunct="1">
              <a:defRPr/>
            </a:pPr>
            <a:r>
              <a:rPr lang="en-US" dirty="0"/>
              <a:t>Note: deciding whether a schedule is serializable (not conflict-serializable) is NP-complete  </a:t>
            </a:r>
          </a:p>
          <a:p>
            <a:pPr eaLnBrk="1" hangingPunct="1">
              <a:defRPr/>
            </a:pPr>
            <a:endParaRPr lang="en-US" dirty="0"/>
          </a:p>
          <a:p>
            <a:pPr eaLnBrk="1" hangingPunct="1">
              <a:defRPr/>
            </a:pPr>
            <a:endParaRPr lang="en-US" dirty="0"/>
          </a:p>
          <a:p>
            <a:pPr marL="0" indent="0" eaLnBrk="1" hangingPunct="1">
              <a:buFontTx/>
              <a:buNone/>
              <a:defRPr/>
            </a:pPr>
            <a:endParaRPr lang="en-US" dirty="0"/>
          </a:p>
          <a:p>
            <a:pPr eaLnBrk="1" hangingPunct="1">
              <a:defRPr/>
            </a:pPr>
            <a:endParaRPr lang="en-US" dirty="0"/>
          </a:p>
          <a:p>
            <a:pPr eaLnBrk="1" hangingPunct="1">
              <a:defRPr/>
            </a:pPr>
            <a:endParaRPr lang="en-US" dirty="0"/>
          </a:p>
        </p:txBody>
      </p:sp>
      <p:sp>
        <p:nvSpPr>
          <p:cNvPr id="79875" name="Oval 4"/>
          <p:cNvSpPr>
            <a:spLocks noChangeArrowheads="1"/>
          </p:cNvSpPr>
          <p:nvPr/>
        </p:nvSpPr>
        <p:spPr bwMode="auto">
          <a:xfrm>
            <a:off x="5041900" y="1828800"/>
            <a:ext cx="673100" cy="6731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endParaRPr lang="zh-CN" altLang="zh-CN" b="0">
              <a:latin typeface="Courier New" charset="0"/>
            </a:endParaRPr>
          </a:p>
        </p:txBody>
      </p:sp>
      <p:sp>
        <p:nvSpPr>
          <p:cNvPr id="79876" name="Oval 5"/>
          <p:cNvSpPr>
            <a:spLocks noChangeArrowheads="1"/>
          </p:cNvSpPr>
          <p:nvPr/>
        </p:nvSpPr>
        <p:spPr bwMode="auto">
          <a:xfrm>
            <a:off x="7937500" y="1828800"/>
            <a:ext cx="673100" cy="6731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endParaRPr lang="zh-CN" altLang="zh-CN" b="0">
              <a:latin typeface="Courier New" charset="0"/>
            </a:endParaRPr>
          </a:p>
        </p:txBody>
      </p:sp>
      <p:sp>
        <p:nvSpPr>
          <p:cNvPr id="79877" name="Rectangle 6"/>
          <p:cNvSpPr>
            <a:spLocks noChangeArrowheads="1"/>
          </p:cNvSpPr>
          <p:nvPr/>
        </p:nvSpPr>
        <p:spPr bwMode="auto">
          <a:xfrm>
            <a:off x="5097463" y="1960563"/>
            <a:ext cx="55245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r>
              <a:rPr lang="en-US" altLang="zh-CN" b="0">
                <a:latin typeface="Courier New" charset="0"/>
              </a:rPr>
              <a:t>T1</a:t>
            </a:r>
          </a:p>
        </p:txBody>
      </p:sp>
      <p:sp>
        <p:nvSpPr>
          <p:cNvPr id="79878" name="Rectangle 7"/>
          <p:cNvSpPr>
            <a:spLocks noChangeArrowheads="1"/>
          </p:cNvSpPr>
          <p:nvPr/>
        </p:nvSpPr>
        <p:spPr bwMode="auto">
          <a:xfrm>
            <a:off x="7993063" y="1960563"/>
            <a:ext cx="55245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r>
              <a:rPr lang="en-US" altLang="zh-CN" b="0">
                <a:latin typeface="Courier New" charset="0"/>
              </a:rPr>
              <a:t>T2</a:t>
            </a:r>
          </a:p>
        </p:txBody>
      </p:sp>
      <p:sp>
        <p:nvSpPr>
          <p:cNvPr id="79879" name="Rectangle 17"/>
          <p:cNvSpPr>
            <a:spLocks noChangeArrowheads="1"/>
          </p:cNvSpPr>
          <p:nvPr/>
        </p:nvSpPr>
        <p:spPr bwMode="auto">
          <a:xfrm>
            <a:off x="6781800" y="1522413"/>
            <a:ext cx="366713"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r>
              <a:rPr lang="en-US" altLang="zh-CN" b="0">
                <a:latin typeface="Courier New" charset="0"/>
              </a:rPr>
              <a:t>A</a:t>
            </a:r>
          </a:p>
        </p:txBody>
      </p:sp>
      <p:sp>
        <p:nvSpPr>
          <p:cNvPr id="79880" name="Rectangle 18"/>
          <p:cNvSpPr>
            <a:spLocks noChangeArrowheads="1"/>
          </p:cNvSpPr>
          <p:nvPr/>
        </p:nvSpPr>
        <p:spPr bwMode="auto">
          <a:xfrm>
            <a:off x="5562600" y="1293813"/>
            <a:ext cx="301942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r>
              <a:rPr lang="en-US" altLang="zh-CN" i="1">
                <a:solidFill>
                  <a:srgbClr val="000000"/>
                </a:solidFill>
                <a:latin typeface="Helvetica" charset="0"/>
              </a:rPr>
              <a:t>Dependency graph</a:t>
            </a:r>
          </a:p>
        </p:txBody>
      </p:sp>
      <p:sp>
        <p:nvSpPr>
          <p:cNvPr id="79881" name="Oval 5"/>
          <p:cNvSpPr>
            <a:spLocks noChangeArrowheads="1"/>
          </p:cNvSpPr>
          <p:nvPr/>
        </p:nvSpPr>
        <p:spPr bwMode="auto">
          <a:xfrm>
            <a:off x="6629400" y="2438400"/>
            <a:ext cx="673100" cy="6731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endParaRPr lang="zh-CN" altLang="zh-CN" b="0">
              <a:latin typeface="Courier New" charset="0"/>
            </a:endParaRPr>
          </a:p>
        </p:txBody>
      </p:sp>
      <p:sp>
        <p:nvSpPr>
          <p:cNvPr id="79882" name="Rectangle 7"/>
          <p:cNvSpPr>
            <a:spLocks noChangeArrowheads="1"/>
          </p:cNvSpPr>
          <p:nvPr/>
        </p:nvSpPr>
        <p:spPr bwMode="auto">
          <a:xfrm>
            <a:off x="6705600" y="2514600"/>
            <a:ext cx="55245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r>
              <a:rPr lang="en-US" altLang="zh-CN" b="0">
                <a:latin typeface="Courier New" charset="0"/>
              </a:rPr>
              <a:t>T3</a:t>
            </a:r>
          </a:p>
        </p:txBody>
      </p:sp>
      <p:cxnSp>
        <p:nvCxnSpPr>
          <p:cNvPr id="79883" name="Straight Arrow Connector 5"/>
          <p:cNvCxnSpPr>
            <a:cxnSpLocks noChangeShapeType="1"/>
            <a:stCxn id="79875" idx="7"/>
            <a:endCxn id="79876" idx="1"/>
          </p:cNvCxnSpPr>
          <p:nvPr/>
        </p:nvCxnSpPr>
        <p:spPr bwMode="auto">
          <a:xfrm>
            <a:off x="5616575" y="1927225"/>
            <a:ext cx="2419350" cy="0"/>
          </a:xfrm>
          <a:prstGeom prst="straightConnector1">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79884" name="Straight Arrow Connector 26"/>
          <p:cNvCxnSpPr>
            <a:cxnSpLocks noChangeShapeType="1"/>
            <a:stCxn id="79876" idx="2"/>
            <a:endCxn id="79875" idx="6"/>
          </p:cNvCxnSpPr>
          <p:nvPr/>
        </p:nvCxnSpPr>
        <p:spPr bwMode="auto">
          <a:xfrm flipH="1">
            <a:off x="5715000" y="2165350"/>
            <a:ext cx="2222500" cy="0"/>
          </a:xfrm>
          <a:prstGeom prst="straightConnector1">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79885" name="Straight Arrow Connector 29"/>
          <p:cNvCxnSpPr>
            <a:cxnSpLocks noChangeShapeType="1"/>
            <a:stCxn id="79876" idx="3"/>
            <a:endCxn id="79881" idx="6"/>
          </p:cNvCxnSpPr>
          <p:nvPr/>
        </p:nvCxnSpPr>
        <p:spPr bwMode="auto">
          <a:xfrm flipH="1">
            <a:off x="7302500" y="2403475"/>
            <a:ext cx="733425" cy="371475"/>
          </a:xfrm>
          <a:prstGeom prst="straightConnector1">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79886" name="Straight Arrow Connector 32"/>
          <p:cNvCxnSpPr>
            <a:cxnSpLocks noChangeShapeType="1"/>
            <a:stCxn id="79875" idx="5"/>
            <a:endCxn id="79881" idx="2"/>
          </p:cNvCxnSpPr>
          <p:nvPr/>
        </p:nvCxnSpPr>
        <p:spPr bwMode="auto">
          <a:xfrm>
            <a:off x="5616575" y="2403475"/>
            <a:ext cx="1012825" cy="371475"/>
          </a:xfrm>
          <a:prstGeom prst="straightConnector1">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cxnSp>
      <p:sp>
        <p:nvSpPr>
          <p:cNvPr id="79887" name="Rectangle 17"/>
          <p:cNvSpPr>
            <a:spLocks noChangeArrowheads="1"/>
          </p:cNvSpPr>
          <p:nvPr/>
        </p:nvSpPr>
        <p:spPr bwMode="auto">
          <a:xfrm>
            <a:off x="6553200" y="1752600"/>
            <a:ext cx="366713"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r>
              <a:rPr lang="en-US" altLang="zh-CN" b="0">
                <a:latin typeface="Courier New" charset="0"/>
              </a:rPr>
              <a:t>A</a:t>
            </a:r>
          </a:p>
        </p:txBody>
      </p:sp>
      <p:sp>
        <p:nvSpPr>
          <p:cNvPr id="79888" name="Rectangle 17"/>
          <p:cNvSpPr>
            <a:spLocks noChangeArrowheads="1"/>
          </p:cNvSpPr>
          <p:nvPr/>
        </p:nvSpPr>
        <p:spPr bwMode="auto">
          <a:xfrm>
            <a:off x="7481888" y="2132013"/>
            <a:ext cx="366712"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r>
              <a:rPr lang="en-US" altLang="zh-CN" b="0">
                <a:latin typeface="Courier New" charset="0"/>
              </a:rPr>
              <a:t>A</a:t>
            </a:r>
          </a:p>
        </p:txBody>
      </p:sp>
      <p:sp>
        <p:nvSpPr>
          <p:cNvPr id="79889" name="Rectangle 17"/>
          <p:cNvSpPr>
            <a:spLocks noChangeArrowheads="1"/>
          </p:cNvSpPr>
          <p:nvPr/>
        </p:nvSpPr>
        <p:spPr bwMode="auto">
          <a:xfrm>
            <a:off x="6096000" y="2209800"/>
            <a:ext cx="366713"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r>
              <a:rPr lang="en-US" altLang="zh-CN" b="0">
                <a:latin typeface="Courier New" charset="0"/>
              </a:rPr>
              <a:t>A</a:t>
            </a:r>
          </a:p>
        </p:txBody>
      </p:sp>
      <p:sp>
        <p:nvSpPr>
          <p:cNvPr id="79890" name="Content Placeholder 4"/>
          <p:cNvSpPr txBox="1">
            <a:spLocks/>
          </p:cNvSpPr>
          <p:nvPr/>
        </p:nvSpPr>
        <p:spPr bwMode="auto">
          <a:xfrm>
            <a:off x="533400" y="1592263"/>
            <a:ext cx="4495800" cy="153193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478" tIns="44445" rIns="90478" bIns="44445"/>
          <a:lstStyle>
            <a:lvl1pPr marL="2857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1pPr>
            <a:lvl2pPr marL="7429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2pPr>
            <a:lvl3pPr marL="11430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3pPr>
            <a:lvl4pPr marL="16002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4pPr>
            <a:lvl5pPr marL="20574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5pPr>
            <a:lvl6pPr marL="25146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6pPr>
            <a:lvl7pPr marL="29718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7pPr>
            <a:lvl8pPr marL="34290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8pPr>
            <a:lvl9pPr marL="38862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9pPr>
          </a:lstStyle>
          <a:p>
            <a:pPr>
              <a:lnSpc>
                <a:spcPct val="90000"/>
              </a:lnSpc>
              <a:spcBef>
                <a:spcPct val="30000"/>
              </a:spcBef>
              <a:buSzPct val="100000"/>
            </a:pPr>
            <a:r>
              <a:rPr lang="en-US" altLang="ko-KR" b="0">
                <a:latin typeface="Courier New" charset="0"/>
                <a:ea typeface="Gulim" charset="-127"/>
              </a:rPr>
              <a:t>T1:R(A),     W(A),     </a:t>
            </a:r>
          </a:p>
          <a:p>
            <a:pPr>
              <a:lnSpc>
                <a:spcPct val="90000"/>
              </a:lnSpc>
              <a:spcBef>
                <a:spcPct val="30000"/>
              </a:spcBef>
              <a:buSzPct val="100000"/>
            </a:pPr>
            <a:r>
              <a:rPr lang="en-US" altLang="ko-KR" b="0">
                <a:latin typeface="Courier New" charset="0"/>
                <a:ea typeface="Gulim" charset="-127"/>
              </a:rPr>
              <a:t>T2:     W(A),</a:t>
            </a:r>
          </a:p>
          <a:p>
            <a:pPr>
              <a:lnSpc>
                <a:spcPct val="90000"/>
              </a:lnSpc>
              <a:spcBef>
                <a:spcPct val="30000"/>
              </a:spcBef>
              <a:buSzPct val="100000"/>
            </a:pPr>
            <a:r>
              <a:rPr lang="en-US" altLang="ko-KR" b="0">
                <a:latin typeface="Courier New" charset="0"/>
                <a:ea typeface="Gulim" charset="-127"/>
              </a:rPr>
              <a:t>T3:                W(A) </a:t>
            </a:r>
            <a:endParaRPr lang="en-US" altLang="zh-CN" b="0">
              <a:latin typeface="Helvetica" charset="0"/>
            </a:endParaRPr>
          </a:p>
        </p:txBody>
      </p:sp>
      <p:sp>
        <p:nvSpPr>
          <p:cNvPr id="26634" name="Content Placeholder 4"/>
          <p:cNvSpPr txBox="1">
            <a:spLocks/>
          </p:cNvSpPr>
          <p:nvPr/>
        </p:nvSpPr>
        <p:spPr bwMode="auto">
          <a:xfrm>
            <a:off x="533400" y="3962400"/>
            <a:ext cx="4343400" cy="145573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478" tIns="44445" rIns="90478" bIns="44445"/>
          <a:lstStyle>
            <a:lvl1pPr marL="2857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1pPr>
            <a:lvl2pPr marL="742950" indent="-28575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2pPr>
            <a:lvl3pPr marL="11430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3pPr>
            <a:lvl4pPr marL="16002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4pPr>
            <a:lvl5pPr marL="2057400" indent="-228600" eaLnBrk="0" hangingPunct="0">
              <a:tabLst>
                <a:tab pos="576263" algn="l"/>
                <a:tab pos="914400" algn="l"/>
                <a:tab pos="1252538" algn="l"/>
                <a:tab pos="1603375" algn="l"/>
                <a:tab pos="4233863" algn="l"/>
              </a:tabLst>
              <a:defRPr sz="2400" b="1">
                <a:solidFill>
                  <a:schemeClr val="tx1"/>
                </a:solidFill>
                <a:latin typeface="Comic Sans MS" charset="0"/>
                <a:ea typeface="MS PGothic" charset="-128"/>
              </a:defRPr>
            </a:lvl5pPr>
            <a:lvl6pPr marL="25146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6pPr>
            <a:lvl7pPr marL="29718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7pPr>
            <a:lvl8pPr marL="34290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8pPr>
            <a:lvl9pPr marL="3886200" indent="-228600" eaLnBrk="0" fontAlgn="base" hangingPunct="0">
              <a:spcBef>
                <a:spcPct val="0"/>
              </a:spcBef>
              <a:spcAft>
                <a:spcPct val="0"/>
              </a:spcAft>
              <a:tabLst>
                <a:tab pos="576263" algn="l"/>
                <a:tab pos="914400" algn="l"/>
                <a:tab pos="1252538" algn="l"/>
                <a:tab pos="1603375" algn="l"/>
                <a:tab pos="4233863" algn="l"/>
              </a:tabLst>
              <a:defRPr sz="2400" b="1">
                <a:solidFill>
                  <a:schemeClr val="tx1"/>
                </a:solidFill>
                <a:latin typeface="Comic Sans MS" charset="0"/>
                <a:ea typeface="MS PGothic" charset="-128"/>
              </a:defRPr>
            </a:lvl9pPr>
          </a:lstStyle>
          <a:p>
            <a:pPr>
              <a:lnSpc>
                <a:spcPct val="90000"/>
              </a:lnSpc>
              <a:spcBef>
                <a:spcPct val="30000"/>
              </a:spcBef>
              <a:buSzPct val="100000"/>
            </a:pPr>
            <a:r>
              <a:rPr lang="en-US" altLang="ko-KR" b="0">
                <a:latin typeface="Courier New" charset="0"/>
                <a:ea typeface="Gulim" charset="-127"/>
              </a:rPr>
              <a:t>T1:R(A),W(A),     </a:t>
            </a:r>
          </a:p>
          <a:p>
            <a:pPr>
              <a:lnSpc>
                <a:spcPct val="90000"/>
              </a:lnSpc>
              <a:spcBef>
                <a:spcPct val="30000"/>
              </a:spcBef>
              <a:buSzPct val="100000"/>
            </a:pPr>
            <a:r>
              <a:rPr lang="en-US" altLang="ko-KR" b="0">
                <a:latin typeface="Courier New" charset="0"/>
                <a:ea typeface="Gulim" charset="-127"/>
              </a:rPr>
              <a:t>T2:          W(A),</a:t>
            </a:r>
          </a:p>
          <a:p>
            <a:pPr>
              <a:lnSpc>
                <a:spcPct val="90000"/>
              </a:lnSpc>
              <a:spcBef>
                <a:spcPct val="30000"/>
              </a:spcBef>
              <a:buSzPct val="100000"/>
            </a:pPr>
            <a:r>
              <a:rPr lang="en-US" altLang="ko-KR" b="0">
                <a:latin typeface="Courier New" charset="0"/>
                <a:ea typeface="Gulim" charset="-127"/>
              </a:rPr>
              <a:t>T3:               W(A)   </a:t>
            </a:r>
            <a:endParaRPr lang="en-US" altLang="zh-CN" b="0">
              <a:latin typeface="Helvetica" charset="0"/>
            </a:endParaRPr>
          </a:p>
        </p:txBody>
      </p:sp>
    </p:spTree>
    <p:extLst>
      <p:ext uri="{BB962C8B-B14F-4D97-AF65-F5344CB8AC3E}">
        <p14:creationId xmlns:p14="http://schemas.microsoft.com/office/powerpoint/2010/main" val="136475507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63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4"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noChangeArrowheads="1"/>
          </p:cNvSpPr>
          <p:nvPr>
            <p:ph type="title"/>
          </p:nvPr>
        </p:nvSpPr>
        <p:spPr>
          <a:xfrm>
            <a:off x="1143000" y="0"/>
            <a:ext cx="7772400" cy="1143000"/>
          </a:xfrm>
        </p:spPr>
        <p:txBody>
          <a:bodyPr lIns="90488" tIns="44450" rIns="90488" bIns="44450"/>
          <a:lstStyle/>
          <a:p>
            <a:pPr eaLnBrk="1" hangingPunct="1"/>
            <a:r>
              <a:rPr lang="en-US" altLang="zh-CN">
                <a:latin typeface="Tahoma" charset="0"/>
                <a:ea typeface="MS PGothic" charset="-128"/>
              </a:rPr>
              <a:t>Locks</a:t>
            </a:r>
          </a:p>
        </p:txBody>
      </p:sp>
      <p:sp>
        <p:nvSpPr>
          <p:cNvPr id="74754" name="Rectangle 3"/>
          <p:cNvSpPr>
            <a:spLocks noGrp="1" noChangeArrowheads="1"/>
          </p:cNvSpPr>
          <p:nvPr>
            <p:ph idx="1"/>
          </p:nvPr>
        </p:nvSpPr>
        <p:spPr>
          <a:xfrm>
            <a:off x="533400" y="914400"/>
            <a:ext cx="7772400" cy="2971800"/>
          </a:xfrm>
        </p:spPr>
        <p:txBody>
          <a:bodyPr lIns="90488" tIns="44450" rIns="90488" bIns="44450"/>
          <a:lstStyle/>
          <a:p>
            <a:pPr eaLnBrk="1" hangingPunct="1"/>
            <a:r>
              <a:rPr lang="ja-JP" altLang="en-US">
                <a:latin typeface="Tahoma" charset="0"/>
                <a:ea typeface="MS PGothic" charset="-128"/>
              </a:rPr>
              <a:t>“</a:t>
            </a:r>
            <a:r>
              <a:rPr lang="en-US" altLang="ja-JP">
                <a:latin typeface="Tahoma" charset="0"/>
                <a:ea typeface="MS PGothic" charset="-128"/>
              </a:rPr>
              <a:t>Locks</a:t>
            </a:r>
            <a:r>
              <a:rPr lang="ja-JP" altLang="en-US">
                <a:latin typeface="Tahoma" charset="0"/>
                <a:ea typeface="MS PGothic" charset="-128"/>
              </a:rPr>
              <a:t>”</a:t>
            </a:r>
            <a:r>
              <a:rPr lang="en-US" altLang="ja-JP">
                <a:latin typeface="Tahoma" charset="0"/>
                <a:ea typeface="MS PGothic" charset="-128"/>
              </a:rPr>
              <a:t> to control access to data</a:t>
            </a:r>
          </a:p>
          <a:p>
            <a:pPr eaLnBrk="1" hangingPunct="1"/>
            <a:endParaRPr lang="en-US" altLang="zh-CN">
              <a:latin typeface="Tahoma" charset="0"/>
              <a:ea typeface="MS PGothic" charset="-128"/>
            </a:endParaRPr>
          </a:p>
          <a:p>
            <a:pPr eaLnBrk="1" hangingPunct="1"/>
            <a:r>
              <a:rPr lang="en-US" altLang="zh-CN">
                <a:latin typeface="Tahoma" charset="0"/>
                <a:ea typeface="MS PGothic" charset="-128"/>
              </a:rPr>
              <a:t>Two types of locks:</a:t>
            </a:r>
          </a:p>
          <a:p>
            <a:pPr lvl="1" eaLnBrk="1" hangingPunct="1"/>
            <a:r>
              <a:rPr lang="en-US" altLang="zh-CN">
                <a:latin typeface="Tahoma" charset="0"/>
                <a:ea typeface="MS PGothic" charset="-128"/>
              </a:rPr>
              <a:t>shared (S) lock – multiple concurrent transactions allowed to operate on data</a:t>
            </a:r>
          </a:p>
          <a:p>
            <a:pPr lvl="1" eaLnBrk="1" hangingPunct="1"/>
            <a:r>
              <a:rPr lang="en-US" altLang="zh-CN">
                <a:latin typeface="Tahoma" charset="0"/>
                <a:ea typeface="MS PGothic" charset="-128"/>
              </a:rPr>
              <a:t>exclusive (X) lock – only one transaction can operate on data at a time</a:t>
            </a:r>
          </a:p>
        </p:txBody>
      </p:sp>
      <p:sp>
        <p:nvSpPr>
          <p:cNvPr id="74755" name="Footer Placeholder 3"/>
          <p:cNvSpPr>
            <a:spLocks noGrp="1"/>
          </p:cNvSpPr>
          <p:nvPr>
            <p:ph type="ftr" sz="quarter" idx="4294967295"/>
          </p:nvPr>
        </p:nvSpPr>
        <p:spPr bwMode="auto">
          <a:xfrm>
            <a:off x="0" y="6453188"/>
            <a:ext cx="2895600" cy="403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endParaRPr lang="en-US" altLang="zh-CN" sz="1200">
              <a:latin typeface="Times New Roman" charset="0"/>
            </a:endParaRPr>
          </a:p>
          <a:p>
            <a:endParaRPr lang="en-US" altLang="zh-CN" sz="1200">
              <a:solidFill>
                <a:schemeClr val="tx2"/>
              </a:solidFill>
              <a:latin typeface="Times New Roman" charset="0"/>
            </a:endParaRPr>
          </a:p>
        </p:txBody>
      </p:sp>
      <p:graphicFrame>
        <p:nvGraphicFramePr>
          <p:cNvPr id="2" name="Group 4"/>
          <p:cNvGraphicFramePr>
            <a:graphicFrameLocks noGrp="1"/>
          </p:cNvGraphicFramePr>
          <p:nvPr/>
        </p:nvGraphicFramePr>
        <p:xfrm>
          <a:off x="4114800" y="3948113"/>
          <a:ext cx="1371600" cy="1843089"/>
        </p:xfrm>
        <a:graphic>
          <a:graphicData uri="http://schemas.openxmlformats.org/drawingml/2006/table">
            <a:tbl>
              <a:tblPr/>
              <a:tblGrid>
                <a:gridCol w="4572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tblGrid>
              <a:tr h="601663">
                <a:tc>
                  <a:txBody>
                    <a:bodyPr/>
                    <a:lstStyle>
                      <a:lvl1pPr eaLnBrk="0" hangingPunct="0">
                        <a:lnSpc>
                          <a:spcPct val="90000"/>
                        </a:lnSpc>
                        <a:spcBef>
                          <a:spcPct val="30000"/>
                        </a:spcBef>
                        <a:buSzPct val="100000"/>
                        <a:defRPr sz="2000">
                          <a:solidFill>
                            <a:schemeClr val="tx1"/>
                          </a:solidFill>
                          <a:latin typeface="Helvetica" charset="0"/>
                          <a:ea typeface="ＭＳ Ｐゴシック" charset="-128"/>
                        </a:defRPr>
                      </a:lvl1pPr>
                      <a:lvl2pPr marL="742950" indent="-285750" eaLnBrk="0" hangingPunct="0">
                        <a:lnSpc>
                          <a:spcPct val="90000"/>
                        </a:lnSpc>
                        <a:spcBef>
                          <a:spcPct val="30000"/>
                        </a:spcBef>
                        <a:buSzPct val="100000"/>
                        <a:defRPr sz="2000">
                          <a:solidFill>
                            <a:schemeClr val="tx1"/>
                          </a:solidFill>
                          <a:latin typeface="Helvetica" charset="0"/>
                          <a:ea typeface="ＭＳ Ｐゴシック" charset="-128"/>
                        </a:defRPr>
                      </a:lvl2pPr>
                      <a:lvl3pPr marL="1143000" indent="-228600" eaLnBrk="0" hangingPunct="0">
                        <a:lnSpc>
                          <a:spcPct val="90000"/>
                        </a:lnSpc>
                        <a:spcBef>
                          <a:spcPct val="30000"/>
                        </a:spcBef>
                        <a:buSzPct val="100000"/>
                        <a:defRPr>
                          <a:solidFill>
                            <a:schemeClr val="tx1"/>
                          </a:solidFill>
                          <a:latin typeface="Helvetica" charset="0"/>
                          <a:ea typeface="ＭＳ Ｐゴシック" charset="-128"/>
                        </a:defRPr>
                      </a:lvl3pPr>
                      <a:lvl4pPr marL="1600200" indent="-228600" eaLnBrk="0" hangingPunct="0">
                        <a:lnSpc>
                          <a:spcPct val="90000"/>
                        </a:lnSpc>
                        <a:spcBef>
                          <a:spcPct val="30000"/>
                        </a:spcBef>
                        <a:buSzPct val="100000"/>
                        <a:defRPr>
                          <a:solidFill>
                            <a:schemeClr val="tx1"/>
                          </a:solidFill>
                          <a:latin typeface="Helvetica" charset="0"/>
                          <a:ea typeface="ＭＳ Ｐゴシック" charset="-128"/>
                        </a:defRPr>
                      </a:lvl4pPr>
                      <a:lvl5pPr marL="2057400" indent="-228600" eaLnBrk="0" hangingPunct="0">
                        <a:lnSpc>
                          <a:spcPct val="90000"/>
                        </a:lnSpc>
                        <a:spcBef>
                          <a:spcPct val="30000"/>
                        </a:spcBef>
                        <a:buSzPct val="100000"/>
                        <a:defRPr>
                          <a:solidFill>
                            <a:schemeClr val="tx1"/>
                          </a:solidFill>
                          <a:latin typeface="Helvetica" charset="0"/>
                          <a:ea typeface="ＭＳ Ｐゴシック" charset="-128"/>
                        </a:defRPr>
                      </a:lvl5pPr>
                      <a:lvl6pPr marL="25146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6pPr>
                      <a:lvl7pPr marL="29718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7pPr>
                      <a:lvl8pPr marL="34290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8pPr>
                      <a:lvl9pPr marL="38862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000" b="1" i="0" u="none" strike="noStrike" cap="none" normalizeH="0" baseline="0">
                        <a:ln>
                          <a:noFill/>
                        </a:ln>
                        <a:solidFill>
                          <a:schemeClr val="tx1"/>
                        </a:solidFill>
                        <a:effectLst/>
                        <a:latin typeface="Tahoma" charset="0"/>
                        <a:ea typeface="MS PGothic" charset="-128"/>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lnSpc>
                          <a:spcPct val="90000"/>
                        </a:lnSpc>
                        <a:spcBef>
                          <a:spcPct val="30000"/>
                        </a:spcBef>
                        <a:buSzPct val="100000"/>
                        <a:defRPr sz="2000">
                          <a:solidFill>
                            <a:schemeClr val="tx1"/>
                          </a:solidFill>
                          <a:latin typeface="Helvetica" charset="0"/>
                          <a:ea typeface="ＭＳ Ｐゴシック" charset="-128"/>
                        </a:defRPr>
                      </a:lvl1pPr>
                      <a:lvl2pPr marL="742950" indent="-285750" eaLnBrk="0" hangingPunct="0">
                        <a:lnSpc>
                          <a:spcPct val="90000"/>
                        </a:lnSpc>
                        <a:spcBef>
                          <a:spcPct val="30000"/>
                        </a:spcBef>
                        <a:buSzPct val="100000"/>
                        <a:defRPr sz="2000">
                          <a:solidFill>
                            <a:schemeClr val="tx1"/>
                          </a:solidFill>
                          <a:latin typeface="Helvetica" charset="0"/>
                          <a:ea typeface="ＭＳ Ｐゴシック" charset="-128"/>
                        </a:defRPr>
                      </a:lvl2pPr>
                      <a:lvl3pPr marL="1143000" indent="-228600" eaLnBrk="0" hangingPunct="0">
                        <a:lnSpc>
                          <a:spcPct val="90000"/>
                        </a:lnSpc>
                        <a:spcBef>
                          <a:spcPct val="30000"/>
                        </a:spcBef>
                        <a:buSzPct val="100000"/>
                        <a:defRPr>
                          <a:solidFill>
                            <a:schemeClr val="tx1"/>
                          </a:solidFill>
                          <a:latin typeface="Helvetica" charset="0"/>
                          <a:ea typeface="ＭＳ Ｐゴシック" charset="-128"/>
                        </a:defRPr>
                      </a:lvl3pPr>
                      <a:lvl4pPr marL="1600200" indent="-228600" eaLnBrk="0" hangingPunct="0">
                        <a:lnSpc>
                          <a:spcPct val="90000"/>
                        </a:lnSpc>
                        <a:spcBef>
                          <a:spcPct val="30000"/>
                        </a:spcBef>
                        <a:buSzPct val="100000"/>
                        <a:defRPr>
                          <a:solidFill>
                            <a:schemeClr val="tx1"/>
                          </a:solidFill>
                          <a:latin typeface="Helvetica" charset="0"/>
                          <a:ea typeface="ＭＳ Ｐゴシック" charset="-128"/>
                        </a:defRPr>
                      </a:lvl4pPr>
                      <a:lvl5pPr marL="2057400" indent="-228600" eaLnBrk="0" hangingPunct="0">
                        <a:lnSpc>
                          <a:spcPct val="90000"/>
                        </a:lnSpc>
                        <a:spcBef>
                          <a:spcPct val="30000"/>
                        </a:spcBef>
                        <a:buSzPct val="100000"/>
                        <a:defRPr>
                          <a:solidFill>
                            <a:schemeClr val="tx1"/>
                          </a:solidFill>
                          <a:latin typeface="Helvetica" charset="0"/>
                          <a:ea typeface="ＭＳ Ｐゴシック" charset="-128"/>
                        </a:defRPr>
                      </a:lvl5pPr>
                      <a:lvl6pPr marL="25146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6pPr>
                      <a:lvl7pPr marL="29718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7pPr>
                      <a:lvl8pPr marL="34290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8pPr>
                      <a:lvl9pPr marL="38862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tx1"/>
                          </a:solidFill>
                          <a:effectLst/>
                          <a:latin typeface="Tahoma" charset="0"/>
                          <a:ea typeface="MS PGothic" charset="-128"/>
                        </a:rPr>
                        <a:t>S</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lnSpc>
                          <a:spcPct val="90000"/>
                        </a:lnSpc>
                        <a:spcBef>
                          <a:spcPct val="30000"/>
                        </a:spcBef>
                        <a:buSzPct val="100000"/>
                        <a:defRPr sz="2000">
                          <a:solidFill>
                            <a:schemeClr val="tx1"/>
                          </a:solidFill>
                          <a:latin typeface="Helvetica" charset="0"/>
                          <a:ea typeface="ＭＳ Ｐゴシック" charset="-128"/>
                        </a:defRPr>
                      </a:lvl1pPr>
                      <a:lvl2pPr marL="742950" indent="-285750" eaLnBrk="0" hangingPunct="0">
                        <a:lnSpc>
                          <a:spcPct val="90000"/>
                        </a:lnSpc>
                        <a:spcBef>
                          <a:spcPct val="30000"/>
                        </a:spcBef>
                        <a:buSzPct val="100000"/>
                        <a:defRPr sz="2000">
                          <a:solidFill>
                            <a:schemeClr val="tx1"/>
                          </a:solidFill>
                          <a:latin typeface="Helvetica" charset="0"/>
                          <a:ea typeface="ＭＳ Ｐゴシック" charset="-128"/>
                        </a:defRPr>
                      </a:lvl2pPr>
                      <a:lvl3pPr marL="1143000" indent="-228600" eaLnBrk="0" hangingPunct="0">
                        <a:lnSpc>
                          <a:spcPct val="90000"/>
                        </a:lnSpc>
                        <a:spcBef>
                          <a:spcPct val="30000"/>
                        </a:spcBef>
                        <a:buSzPct val="100000"/>
                        <a:defRPr>
                          <a:solidFill>
                            <a:schemeClr val="tx1"/>
                          </a:solidFill>
                          <a:latin typeface="Helvetica" charset="0"/>
                          <a:ea typeface="ＭＳ Ｐゴシック" charset="-128"/>
                        </a:defRPr>
                      </a:lvl3pPr>
                      <a:lvl4pPr marL="1600200" indent="-228600" eaLnBrk="0" hangingPunct="0">
                        <a:lnSpc>
                          <a:spcPct val="90000"/>
                        </a:lnSpc>
                        <a:spcBef>
                          <a:spcPct val="30000"/>
                        </a:spcBef>
                        <a:buSzPct val="100000"/>
                        <a:defRPr>
                          <a:solidFill>
                            <a:schemeClr val="tx1"/>
                          </a:solidFill>
                          <a:latin typeface="Helvetica" charset="0"/>
                          <a:ea typeface="ＭＳ Ｐゴシック" charset="-128"/>
                        </a:defRPr>
                      </a:lvl4pPr>
                      <a:lvl5pPr marL="2057400" indent="-228600" eaLnBrk="0" hangingPunct="0">
                        <a:lnSpc>
                          <a:spcPct val="90000"/>
                        </a:lnSpc>
                        <a:spcBef>
                          <a:spcPct val="30000"/>
                        </a:spcBef>
                        <a:buSzPct val="100000"/>
                        <a:defRPr>
                          <a:solidFill>
                            <a:schemeClr val="tx1"/>
                          </a:solidFill>
                          <a:latin typeface="Helvetica" charset="0"/>
                          <a:ea typeface="ＭＳ Ｐゴシック" charset="-128"/>
                        </a:defRPr>
                      </a:lvl5pPr>
                      <a:lvl6pPr marL="25146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6pPr>
                      <a:lvl7pPr marL="29718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7pPr>
                      <a:lvl8pPr marL="34290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8pPr>
                      <a:lvl9pPr marL="38862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tx1"/>
                          </a:solidFill>
                          <a:effectLst/>
                          <a:latin typeface="Tahoma" charset="0"/>
                          <a:ea typeface="MS PGothic" charset="-128"/>
                        </a:rPr>
                        <a:t>X</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639763">
                <a:tc>
                  <a:txBody>
                    <a:bodyPr/>
                    <a:lstStyle>
                      <a:lvl1pPr eaLnBrk="0" hangingPunct="0">
                        <a:lnSpc>
                          <a:spcPct val="90000"/>
                        </a:lnSpc>
                        <a:spcBef>
                          <a:spcPct val="30000"/>
                        </a:spcBef>
                        <a:buSzPct val="100000"/>
                        <a:defRPr sz="2000">
                          <a:solidFill>
                            <a:schemeClr val="tx1"/>
                          </a:solidFill>
                          <a:latin typeface="Helvetica" charset="0"/>
                          <a:ea typeface="ＭＳ Ｐゴシック" charset="-128"/>
                        </a:defRPr>
                      </a:lvl1pPr>
                      <a:lvl2pPr marL="742950" indent="-285750" eaLnBrk="0" hangingPunct="0">
                        <a:lnSpc>
                          <a:spcPct val="90000"/>
                        </a:lnSpc>
                        <a:spcBef>
                          <a:spcPct val="30000"/>
                        </a:spcBef>
                        <a:buSzPct val="100000"/>
                        <a:defRPr sz="2000">
                          <a:solidFill>
                            <a:schemeClr val="tx1"/>
                          </a:solidFill>
                          <a:latin typeface="Helvetica" charset="0"/>
                          <a:ea typeface="ＭＳ Ｐゴシック" charset="-128"/>
                        </a:defRPr>
                      </a:lvl2pPr>
                      <a:lvl3pPr marL="1143000" indent="-228600" eaLnBrk="0" hangingPunct="0">
                        <a:lnSpc>
                          <a:spcPct val="90000"/>
                        </a:lnSpc>
                        <a:spcBef>
                          <a:spcPct val="30000"/>
                        </a:spcBef>
                        <a:buSzPct val="100000"/>
                        <a:defRPr>
                          <a:solidFill>
                            <a:schemeClr val="tx1"/>
                          </a:solidFill>
                          <a:latin typeface="Helvetica" charset="0"/>
                          <a:ea typeface="ＭＳ Ｐゴシック" charset="-128"/>
                        </a:defRPr>
                      </a:lvl3pPr>
                      <a:lvl4pPr marL="1600200" indent="-228600" eaLnBrk="0" hangingPunct="0">
                        <a:lnSpc>
                          <a:spcPct val="90000"/>
                        </a:lnSpc>
                        <a:spcBef>
                          <a:spcPct val="30000"/>
                        </a:spcBef>
                        <a:buSzPct val="100000"/>
                        <a:defRPr>
                          <a:solidFill>
                            <a:schemeClr val="tx1"/>
                          </a:solidFill>
                          <a:latin typeface="Helvetica" charset="0"/>
                          <a:ea typeface="ＭＳ Ｐゴシック" charset="-128"/>
                        </a:defRPr>
                      </a:lvl4pPr>
                      <a:lvl5pPr marL="2057400" indent="-228600" eaLnBrk="0" hangingPunct="0">
                        <a:lnSpc>
                          <a:spcPct val="90000"/>
                        </a:lnSpc>
                        <a:spcBef>
                          <a:spcPct val="30000"/>
                        </a:spcBef>
                        <a:buSzPct val="100000"/>
                        <a:defRPr>
                          <a:solidFill>
                            <a:schemeClr val="tx1"/>
                          </a:solidFill>
                          <a:latin typeface="Helvetica" charset="0"/>
                          <a:ea typeface="ＭＳ Ｐゴシック" charset="-128"/>
                        </a:defRPr>
                      </a:lvl5pPr>
                      <a:lvl6pPr marL="25146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6pPr>
                      <a:lvl7pPr marL="29718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7pPr>
                      <a:lvl8pPr marL="34290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8pPr>
                      <a:lvl9pPr marL="38862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tx1"/>
                          </a:solidFill>
                          <a:effectLst/>
                          <a:latin typeface="Tahoma" charset="0"/>
                          <a:ea typeface="MS PGothic" charset="-128"/>
                        </a:rPr>
                        <a:t>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lnSpc>
                          <a:spcPct val="90000"/>
                        </a:lnSpc>
                        <a:spcBef>
                          <a:spcPct val="30000"/>
                        </a:spcBef>
                        <a:buSzPct val="100000"/>
                        <a:defRPr sz="2000">
                          <a:solidFill>
                            <a:schemeClr val="tx1"/>
                          </a:solidFill>
                          <a:latin typeface="Helvetica" charset="0"/>
                          <a:ea typeface="ＭＳ Ｐゴシック" charset="-128"/>
                        </a:defRPr>
                      </a:lvl1pPr>
                      <a:lvl2pPr marL="742950" indent="-285750" eaLnBrk="0" hangingPunct="0">
                        <a:lnSpc>
                          <a:spcPct val="90000"/>
                        </a:lnSpc>
                        <a:spcBef>
                          <a:spcPct val="30000"/>
                        </a:spcBef>
                        <a:buSzPct val="100000"/>
                        <a:defRPr sz="2000">
                          <a:solidFill>
                            <a:schemeClr val="tx1"/>
                          </a:solidFill>
                          <a:latin typeface="Helvetica" charset="0"/>
                          <a:ea typeface="ＭＳ Ｐゴシック" charset="-128"/>
                        </a:defRPr>
                      </a:lvl2pPr>
                      <a:lvl3pPr marL="1143000" indent="-228600" eaLnBrk="0" hangingPunct="0">
                        <a:lnSpc>
                          <a:spcPct val="90000"/>
                        </a:lnSpc>
                        <a:spcBef>
                          <a:spcPct val="30000"/>
                        </a:spcBef>
                        <a:buSzPct val="100000"/>
                        <a:defRPr>
                          <a:solidFill>
                            <a:schemeClr val="tx1"/>
                          </a:solidFill>
                          <a:latin typeface="Helvetica" charset="0"/>
                          <a:ea typeface="ＭＳ Ｐゴシック" charset="-128"/>
                        </a:defRPr>
                      </a:lvl3pPr>
                      <a:lvl4pPr marL="1600200" indent="-228600" eaLnBrk="0" hangingPunct="0">
                        <a:lnSpc>
                          <a:spcPct val="90000"/>
                        </a:lnSpc>
                        <a:spcBef>
                          <a:spcPct val="30000"/>
                        </a:spcBef>
                        <a:buSzPct val="100000"/>
                        <a:defRPr>
                          <a:solidFill>
                            <a:schemeClr val="tx1"/>
                          </a:solidFill>
                          <a:latin typeface="Helvetica" charset="0"/>
                          <a:ea typeface="ＭＳ Ｐゴシック" charset="-128"/>
                        </a:defRPr>
                      </a:lvl4pPr>
                      <a:lvl5pPr marL="2057400" indent="-228600" eaLnBrk="0" hangingPunct="0">
                        <a:lnSpc>
                          <a:spcPct val="90000"/>
                        </a:lnSpc>
                        <a:spcBef>
                          <a:spcPct val="30000"/>
                        </a:spcBef>
                        <a:buSzPct val="100000"/>
                        <a:defRPr>
                          <a:solidFill>
                            <a:schemeClr val="tx1"/>
                          </a:solidFill>
                          <a:latin typeface="Helvetica" charset="0"/>
                          <a:ea typeface="ＭＳ Ｐゴシック" charset="-128"/>
                        </a:defRPr>
                      </a:lvl5pPr>
                      <a:lvl6pPr marL="25146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6pPr>
                      <a:lvl7pPr marL="29718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7pPr>
                      <a:lvl8pPr marL="34290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8pPr>
                      <a:lvl9pPr marL="38862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3200" b="1" i="0" u="none" strike="noStrike" cap="none" normalizeH="0" baseline="0">
                          <a:ln>
                            <a:noFill/>
                          </a:ln>
                          <a:solidFill>
                            <a:schemeClr val="tx1"/>
                          </a:solidFill>
                          <a:effectLst/>
                          <a:latin typeface="Tahoma" charset="0"/>
                          <a:ea typeface="MS PGothic" charset="-128"/>
                          <a:sym typeface="Symbol" charset="2"/>
                        </a:rPr>
                        <a:t></a:t>
                      </a:r>
                      <a:endParaRPr kumimoji="0" lang="en-US" altLang="zh-CN" sz="3200" b="1" i="0" u="none" strike="noStrike" cap="none" normalizeH="0" baseline="0">
                        <a:ln>
                          <a:noFill/>
                        </a:ln>
                        <a:solidFill>
                          <a:schemeClr val="tx1"/>
                        </a:solidFill>
                        <a:effectLst/>
                        <a:latin typeface="Tahoma" charset="0"/>
                        <a:ea typeface="MS PGothic" charset="-128"/>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lnSpc>
                          <a:spcPct val="90000"/>
                        </a:lnSpc>
                        <a:spcBef>
                          <a:spcPct val="30000"/>
                        </a:spcBef>
                        <a:buSzPct val="100000"/>
                        <a:defRPr sz="2000">
                          <a:solidFill>
                            <a:schemeClr val="tx1"/>
                          </a:solidFill>
                          <a:latin typeface="Helvetica" charset="0"/>
                          <a:ea typeface="ＭＳ Ｐゴシック" charset="-128"/>
                        </a:defRPr>
                      </a:lvl1pPr>
                      <a:lvl2pPr marL="742950" indent="-285750" eaLnBrk="0" hangingPunct="0">
                        <a:lnSpc>
                          <a:spcPct val="90000"/>
                        </a:lnSpc>
                        <a:spcBef>
                          <a:spcPct val="30000"/>
                        </a:spcBef>
                        <a:buSzPct val="100000"/>
                        <a:defRPr sz="2000">
                          <a:solidFill>
                            <a:schemeClr val="tx1"/>
                          </a:solidFill>
                          <a:latin typeface="Helvetica" charset="0"/>
                          <a:ea typeface="ＭＳ Ｐゴシック" charset="-128"/>
                        </a:defRPr>
                      </a:lvl2pPr>
                      <a:lvl3pPr marL="1143000" indent="-228600" eaLnBrk="0" hangingPunct="0">
                        <a:lnSpc>
                          <a:spcPct val="90000"/>
                        </a:lnSpc>
                        <a:spcBef>
                          <a:spcPct val="30000"/>
                        </a:spcBef>
                        <a:buSzPct val="100000"/>
                        <a:defRPr>
                          <a:solidFill>
                            <a:schemeClr val="tx1"/>
                          </a:solidFill>
                          <a:latin typeface="Helvetica" charset="0"/>
                          <a:ea typeface="ＭＳ Ｐゴシック" charset="-128"/>
                        </a:defRPr>
                      </a:lvl3pPr>
                      <a:lvl4pPr marL="1600200" indent="-228600" eaLnBrk="0" hangingPunct="0">
                        <a:lnSpc>
                          <a:spcPct val="90000"/>
                        </a:lnSpc>
                        <a:spcBef>
                          <a:spcPct val="30000"/>
                        </a:spcBef>
                        <a:buSzPct val="100000"/>
                        <a:defRPr>
                          <a:solidFill>
                            <a:schemeClr val="tx1"/>
                          </a:solidFill>
                          <a:latin typeface="Helvetica" charset="0"/>
                          <a:ea typeface="ＭＳ Ｐゴシック" charset="-128"/>
                        </a:defRPr>
                      </a:lvl4pPr>
                      <a:lvl5pPr marL="2057400" indent="-228600" eaLnBrk="0" hangingPunct="0">
                        <a:lnSpc>
                          <a:spcPct val="90000"/>
                        </a:lnSpc>
                        <a:spcBef>
                          <a:spcPct val="30000"/>
                        </a:spcBef>
                        <a:buSzPct val="100000"/>
                        <a:defRPr>
                          <a:solidFill>
                            <a:schemeClr val="tx1"/>
                          </a:solidFill>
                          <a:latin typeface="Helvetica" charset="0"/>
                          <a:ea typeface="ＭＳ Ｐゴシック" charset="-128"/>
                        </a:defRPr>
                      </a:lvl5pPr>
                      <a:lvl6pPr marL="25146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6pPr>
                      <a:lvl7pPr marL="29718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7pPr>
                      <a:lvl8pPr marL="34290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8pPr>
                      <a:lvl9pPr marL="38862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tx1"/>
                          </a:solidFill>
                          <a:effectLst/>
                          <a:latin typeface="Tahoma" charset="0"/>
                          <a:ea typeface="MS PGothic" charset="-128"/>
                        </a:rPr>
                        <a: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601663">
                <a:tc>
                  <a:txBody>
                    <a:bodyPr/>
                    <a:lstStyle>
                      <a:lvl1pPr eaLnBrk="0" hangingPunct="0">
                        <a:lnSpc>
                          <a:spcPct val="90000"/>
                        </a:lnSpc>
                        <a:spcBef>
                          <a:spcPct val="30000"/>
                        </a:spcBef>
                        <a:buSzPct val="100000"/>
                        <a:defRPr sz="2000">
                          <a:solidFill>
                            <a:schemeClr val="tx1"/>
                          </a:solidFill>
                          <a:latin typeface="Helvetica" charset="0"/>
                          <a:ea typeface="ＭＳ Ｐゴシック" charset="-128"/>
                        </a:defRPr>
                      </a:lvl1pPr>
                      <a:lvl2pPr marL="742950" indent="-285750" eaLnBrk="0" hangingPunct="0">
                        <a:lnSpc>
                          <a:spcPct val="90000"/>
                        </a:lnSpc>
                        <a:spcBef>
                          <a:spcPct val="30000"/>
                        </a:spcBef>
                        <a:buSzPct val="100000"/>
                        <a:defRPr sz="2000">
                          <a:solidFill>
                            <a:schemeClr val="tx1"/>
                          </a:solidFill>
                          <a:latin typeface="Helvetica" charset="0"/>
                          <a:ea typeface="ＭＳ Ｐゴシック" charset="-128"/>
                        </a:defRPr>
                      </a:lvl2pPr>
                      <a:lvl3pPr marL="1143000" indent="-228600" eaLnBrk="0" hangingPunct="0">
                        <a:lnSpc>
                          <a:spcPct val="90000"/>
                        </a:lnSpc>
                        <a:spcBef>
                          <a:spcPct val="30000"/>
                        </a:spcBef>
                        <a:buSzPct val="100000"/>
                        <a:defRPr>
                          <a:solidFill>
                            <a:schemeClr val="tx1"/>
                          </a:solidFill>
                          <a:latin typeface="Helvetica" charset="0"/>
                          <a:ea typeface="ＭＳ Ｐゴシック" charset="-128"/>
                        </a:defRPr>
                      </a:lvl3pPr>
                      <a:lvl4pPr marL="1600200" indent="-228600" eaLnBrk="0" hangingPunct="0">
                        <a:lnSpc>
                          <a:spcPct val="90000"/>
                        </a:lnSpc>
                        <a:spcBef>
                          <a:spcPct val="30000"/>
                        </a:spcBef>
                        <a:buSzPct val="100000"/>
                        <a:defRPr>
                          <a:solidFill>
                            <a:schemeClr val="tx1"/>
                          </a:solidFill>
                          <a:latin typeface="Helvetica" charset="0"/>
                          <a:ea typeface="ＭＳ Ｐゴシック" charset="-128"/>
                        </a:defRPr>
                      </a:lvl4pPr>
                      <a:lvl5pPr marL="2057400" indent="-228600" eaLnBrk="0" hangingPunct="0">
                        <a:lnSpc>
                          <a:spcPct val="90000"/>
                        </a:lnSpc>
                        <a:spcBef>
                          <a:spcPct val="30000"/>
                        </a:spcBef>
                        <a:buSzPct val="100000"/>
                        <a:defRPr>
                          <a:solidFill>
                            <a:schemeClr val="tx1"/>
                          </a:solidFill>
                          <a:latin typeface="Helvetica" charset="0"/>
                          <a:ea typeface="ＭＳ Ｐゴシック" charset="-128"/>
                        </a:defRPr>
                      </a:lvl5pPr>
                      <a:lvl6pPr marL="25146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6pPr>
                      <a:lvl7pPr marL="29718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7pPr>
                      <a:lvl8pPr marL="34290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8pPr>
                      <a:lvl9pPr marL="38862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tx1"/>
                          </a:solidFill>
                          <a:effectLst/>
                          <a:latin typeface="Tahoma" charset="0"/>
                          <a:ea typeface="MS PGothic" charset="-128"/>
                        </a:rPr>
                        <a:t>X</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lnSpc>
                          <a:spcPct val="90000"/>
                        </a:lnSpc>
                        <a:spcBef>
                          <a:spcPct val="30000"/>
                        </a:spcBef>
                        <a:buSzPct val="100000"/>
                        <a:defRPr sz="2000">
                          <a:solidFill>
                            <a:schemeClr val="tx1"/>
                          </a:solidFill>
                          <a:latin typeface="Helvetica" charset="0"/>
                          <a:ea typeface="ＭＳ Ｐゴシック" charset="-128"/>
                        </a:defRPr>
                      </a:lvl1pPr>
                      <a:lvl2pPr marL="742950" indent="-285750" eaLnBrk="0" hangingPunct="0">
                        <a:lnSpc>
                          <a:spcPct val="90000"/>
                        </a:lnSpc>
                        <a:spcBef>
                          <a:spcPct val="30000"/>
                        </a:spcBef>
                        <a:buSzPct val="100000"/>
                        <a:defRPr sz="2000">
                          <a:solidFill>
                            <a:schemeClr val="tx1"/>
                          </a:solidFill>
                          <a:latin typeface="Helvetica" charset="0"/>
                          <a:ea typeface="ＭＳ Ｐゴシック" charset="-128"/>
                        </a:defRPr>
                      </a:lvl2pPr>
                      <a:lvl3pPr marL="1143000" indent="-228600" eaLnBrk="0" hangingPunct="0">
                        <a:lnSpc>
                          <a:spcPct val="90000"/>
                        </a:lnSpc>
                        <a:spcBef>
                          <a:spcPct val="30000"/>
                        </a:spcBef>
                        <a:buSzPct val="100000"/>
                        <a:defRPr>
                          <a:solidFill>
                            <a:schemeClr val="tx1"/>
                          </a:solidFill>
                          <a:latin typeface="Helvetica" charset="0"/>
                          <a:ea typeface="ＭＳ Ｐゴシック" charset="-128"/>
                        </a:defRPr>
                      </a:lvl3pPr>
                      <a:lvl4pPr marL="1600200" indent="-228600" eaLnBrk="0" hangingPunct="0">
                        <a:lnSpc>
                          <a:spcPct val="90000"/>
                        </a:lnSpc>
                        <a:spcBef>
                          <a:spcPct val="30000"/>
                        </a:spcBef>
                        <a:buSzPct val="100000"/>
                        <a:defRPr>
                          <a:solidFill>
                            <a:schemeClr val="tx1"/>
                          </a:solidFill>
                          <a:latin typeface="Helvetica" charset="0"/>
                          <a:ea typeface="ＭＳ Ｐゴシック" charset="-128"/>
                        </a:defRPr>
                      </a:lvl4pPr>
                      <a:lvl5pPr marL="2057400" indent="-228600" eaLnBrk="0" hangingPunct="0">
                        <a:lnSpc>
                          <a:spcPct val="90000"/>
                        </a:lnSpc>
                        <a:spcBef>
                          <a:spcPct val="30000"/>
                        </a:spcBef>
                        <a:buSzPct val="100000"/>
                        <a:defRPr>
                          <a:solidFill>
                            <a:schemeClr val="tx1"/>
                          </a:solidFill>
                          <a:latin typeface="Helvetica" charset="0"/>
                          <a:ea typeface="ＭＳ Ｐゴシック" charset="-128"/>
                        </a:defRPr>
                      </a:lvl5pPr>
                      <a:lvl6pPr marL="25146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6pPr>
                      <a:lvl7pPr marL="29718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7pPr>
                      <a:lvl8pPr marL="34290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8pPr>
                      <a:lvl9pPr marL="38862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tx1"/>
                          </a:solidFill>
                          <a:effectLst/>
                          <a:latin typeface="Tahoma" charset="0"/>
                          <a:ea typeface="MS PGothic" charset="-128"/>
                        </a:rPr>
                        <a:t>–</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lnSpc>
                          <a:spcPct val="90000"/>
                        </a:lnSpc>
                        <a:spcBef>
                          <a:spcPct val="30000"/>
                        </a:spcBef>
                        <a:buSzPct val="100000"/>
                        <a:defRPr sz="2000">
                          <a:solidFill>
                            <a:schemeClr val="tx1"/>
                          </a:solidFill>
                          <a:latin typeface="Helvetica" charset="0"/>
                          <a:ea typeface="ＭＳ Ｐゴシック" charset="-128"/>
                        </a:defRPr>
                      </a:lvl1pPr>
                      <a:lvl2pPr marL="742950" indent="-285750" eaLnBrk="0" hangingPunct="0">
                        <a:lnSpc>
                          <a:spcPct val="90000"/>
                        </a:lnSpc>
                        <a:spcBef>
                          <a:spcPct val="30000"/>
                        </a:spcBef>
                        <a:buSzPct val="100000"/>
                        <a:defRPr sz="2000">
                          <a:solidFill>
                            <a:schemeClr val="tx1"/>
                          </a:solidFill>
                          <a:latin typeface="Helvetica" charset="0"/>
                          <a:ea typeface="ＭＳ Ｐゴシック" charset="-128"/>
                        </a:defRPr>
                      </a:lvl2pPr>
                      <a:lvl3pPr marL="1143000" indent="-228600" eaLnBrk="0" hangingPunct="0">
                        <a:lnSpc>
                          <a:spcPct val="90000"/>
                        </a:lnSpc>
                        <a:spcBef>
                          <a:spcPct val="30000"/>
                        </a:spcBef>
                        <a:buSzPct val="100000"/>
                        <a:defRPr>
                          <a:solidFill>
                            <a:schemeClr val="tx1"/>
                          </a:solidFill>
                          <a:latin typeface="Helvetica" charset="0"/>
                          <a:ea typeface="ＭＳ Ｐゴシック" charset="-128"/>
                        </a:defRPr>
                      </a:lvl3pPr>
                      <a:lvl4pPr marL="1600200" indent="-228600" eaLnBrk="0" hangingPunct="0">
                        <a:lnSpc>
                          <a:spcPct val="90000"/>
                        </a:lnSpc>
                        <a:spcBef>
                          <a:spcPct val="30000"/>
                        </a:spcBef>
                        <a:buSzPct val="100000"/>
                        <a:defRPr>
                          <a:solidFill>
                            <a:schemeClr val="tx1"/>
                          </a:solidFill>
                          <a:latin typeface="Helvetica" charset="0"/>
                          <a:ea typeface="ＭＳ Ｐゴシック" charset="-128"/>
                        </a:defRPr>
                      </a:lvl4pPr>
                      <a:lvl5pPr marL="2057400" indent="-228600" eaLnBrk="0" hangingPunct="0">
                        <a:lnSpc>
                          <a:spcPct val="90000"/>
                        </a:lnSpc>
                        <a:spcBef>
                          <a:spcPct val="30000"/>
                        </a:spcBef>
                        <a:buSzPct val="100000"/>
                        <a:defRPr>
                          <a:solidFill>
                            <a:schemeClr val="tx1"/>
                          </a:solidFill>
                          <a:latin typeface="Helvetica" charset="0"/>
                          <a:ea typeface="ＭＳ Ｐゴシック" charset="-128"/>
                        </a:defRPr>
                      </a:lvl5pPr>
                      <a:lvl6pPr marL="25146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6pPr>
                      <a:lvl7pPr marL="29718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7pPr>
                      <a:lvl8pPr marL="34290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8pPr>
                      <a:lvl9pPr marL="3886200" indent="-228600" eaLnBrk="0" fontAlgn="base" hangingPunct="0">
                        <a:lnSpc>
                          <a:spcPct val="90000"/>
                        </a:lnSpc>
                        <a:spcBef>
                          <a:spcPct val="30000"/>
                        </a:spcBef>
                        <a:spcAft>
                          <a:spcPct val="0"/>
                        </a:spcAft>
                        <a:buSzPct val="100000"/>
                        <a:defRPr>
                          <a:solidFill>
                            <a:schemeClr val="tx1"/>
                          </a:solidFill>
                          <a:latin typeface="Helvetica" charset="0"/>
                          <a:ea typeface="ＭＳ Ｐゴシック" charset="-128"/>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tx1"/>
                          </a:solidFill>
                          <a:effectLst/>
                          <a:latin typeface="Tahoma" charset="0"/>
                          <a:ea typeface="MS PGothic" charset="-128"/>
                        </a:rPr>
                        <a: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bl>
          </a:graphicData>
        </a:graphic>
      </p:graphicFrame>
      <p:sp>
        <p:nvSpPr>
          <p:cNvPr id="55318" name="Text Box 22"/>
          <p:cNvSpPr txBox="1">
            <a:spLocks noChangeArrowheads="1"/>
          </p:cNvSpPr>
          <p:nvPr/>
        </p:nvSpPr>
        <p:spPr bwMode="auto">
          <a:xfrm>
            <a:off x="1905000" y="4195763"/>
            <a:ext cx="2133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r>
              <a:rPr lang="en-US" altLang="zh-CN" dirty="0">
                <a:solidFill>
                  <a:srgbClr val="000000"/>
                </a:solidFill>
                <a:latin typeface="Helvetica" charset="0"/>
              </a:rPr>
              <a:t>Lock</a:t>
            </a:r>
          </a:p>
          <a:p>
            <a:r>
              <a:rPr lang="en-US" altLang="zh-CN" dirty="0">
                <a:solidFill>
                  <a:srgbClr val="000000"/>
                </a:solidFill>
                <a:latin typeface="Helvetica" charset="0"/>
              </a:rPr>
              <a:t>Compatibility</a:t>
            </a:r>
          </a:p>
          <a:p>
            <a:r>
              <a:rPr lang="en-US" altLang="zh-CN" dirty="0">
                <a:solidFill>
                  <a:srgbClr val="000000"/>
                </a:solidFill>
                <a:latin typeface="Helvetica" charset="0"/>
              </a:rPr>
              <a:t>Matrix</a:t>
            </a:r>
          </a:p>
        </p:txBody>
      </p:sp>
    </p:spTree>
    <p:extLst>
      <p:ext uri="{BB962C8B-B14F-4D97-AF65-F5344CB8AC3E}">
        <p14:creationId xmlns:p14="http://schemas.microsoft.com/office/powerpoint/2010/main" val="2125363187"/>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5318"/>
                                        </p:tgtEl>
                                        <p:attrNameLst>
                                          <p:attrName>style.visibility</p:attrName>
                                        </p:attrNameLst>
                                      </p:cBhvr>
                                      <p:to>
                                        <p:strVal val="visible"/>
                                      </p:to>
                                    </p:set>
                                    <p:animEffect transition="in" filter="dissolve">
                                      <p:cBhvr>
                                        <p:cTn id="10" dur="500"/>
                                        <p:tgtEl>
                                          <p:spTgt spid="553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1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title"/>
          </p:nvPr>
        </p:nvSpPr>
        <p:spPr>
          <a:xfrm>
            <a:off x="1143000" y="0"/>
            <a:ext cx="7772400" cy="1143000"/>
          </a:xfrm>
        </p:spPr>
        <p:txBody>
          <a:bodyPr lIns="90488" tIns="44450" rIns="90488" bIns="44450"/>
          <a:lstStyle/>
          <a:p>
            <a:pPr eaLnBrk="1" hangingPunct="1"/>
            <a:r>
              <a:rPr lang="en-US" altLang="zh-CN">
                <a:latin typeface="Tahoma" charset="0"/>
                <a:ea typeface="MS PGothic" charset="-128"/>
              </a:rPr>
              <a:t>Two-Phase Locking (2PL)</a:t>
            </a:r>
          </a:p>
        </p:txBody>
      </p:sp>
      <p:sp>
        <p:nvSpPr>
          <p:cNvPr id="67587" name="Rectangle 3"/>
          <p:cNvSpPr>
            <a:spLocks noGrp="1" noChangeArrowheads="1"/>
          </p:cNvSpPr>
          <p:nvPr>
            <p:ph idx="1"/>
          </p:nvPr>
        </p:nvSpPr>
        <p:spPr>
          <a:xfrm>
            <a:off x="152400" y="1066800"/>
            <a:ext cx="8686800" cy="3276600"/>
          </a:xfrm>
        </p:spPr>
        <p:txBody>
          <a:bodyPr lIns="90488" tIns="44450" rIns="90488" bIns="44450"/>
          <a:lstStyle/>
          <a:p>
            <a:pPr eaLnBrk="1" hangingPunct="1">
              <a:buSzPct val="75000"/>
              <a:buFontTx/>
              <a:buNone/>
            </a:pPr>
            <a:r>
              <a:rPr lang="en-US" altLang="zh-CN">
                <a:latin typeface="Tahoma" charset="0"/>
                <a:ea typeface="MS PGothic" charset="-128"/>
              </a:rPr>
              <a:t>1) Each transaction must obtain: </a:t>
            </a:r>
          </a:p>
          <a:p>
            <a:pPr lvl="1" eaLnBrk="1" hangingPunct="1">
              <a:buSzPct val="75000"/>
            </a:pPr>
            <a:r>
              <a:rPr lang="en-US" altLang="zh-CN">
                <a:latin typeface="Tahoma" charset="0"/>
                <a:ea typeface="MS PGothic" charset="-128"/>
              </a:rPr>
              <a:t>S (</a:t>
            </a:r>
            <a:r>
              <a:rPr lang="en-US" altLang="zh-CN" i="1">
                <a:latin typeface="Tahoma" charset="0"/>
                <a:ea typeface="MS PGothic" charset="-128"/>
              </a:rPr>
              <a:t>shared</a:t>
            </a:r>
            <a:r>
              <a:rPr lang="en-US" altLang="zh-CN">
                <a:latin typeface="Tahoma" charset="0"/>
                <a:ea typeface="MS PGothic" charset="-128"/>
              </a:rPr>
              <a:t>) or X (</a:t>
            </a:r>
            <a:r>
              <a:rPr lang="en-US" altLang="zh-CN" i="1">
                <a:latin typeface="Tahoma" charset="0"/>
                <a:ea typeface="MS PGothic" charset="-128"/>
              </a:rPr>
              <a:t>exclusive</a:t>
            </a:r>
            <a:r>
              <a:rPr lang="en-US" altLang="zh-CN">
                <a:latin typeface="Tahoma" charset="0"/>
                <a:ea typeface="MS PGothic" charset="-128"/>
              </a:rPr>
              <a:t>) lock on data before reading, </a:t>
            </a:r>
          </a:p>
          <a:p>
            <a:pPr lvl="1" eaLnBrk="1" hangingPunct="1">
              <a:buSzPct val="75000"/>
            </a:pPr>
            <a:r>
              <a:rPr lang="en-US" altLang="zh-CN">
                <a:latin typeface="Tahoma" charset="0"/>
                <a:ea typeface="MS PGothic" charset="-128"/>
              </a:rPr>
              <a:t>X (</a:t>
            </a:r>
            <a:r>
              <a:rPr lang="en-US" altLang="zh-CN" i="1">
                <a:latin typeface="Tahoma" charset="0"/>
                <a:ea typeface="MS PGothic" charset="-128"/>
              </a:rPr>
              <a:t>exclusive</a:t>
            </a:r>
            <a:r>
              <a:rPr lang="en-US" altLang="zh-CN">
                <a:latin typeface="Tahoma" charset="0"/>
                <a:ea typeface="MS PGothic" charset="-128"/>
              </a:rPr>
              <a:t>) lock on data before writing</a:t>
            </a:r>
          </a:p>
          <a:p>
            <a:pPr eaLnBrk="1" hangingPunct="1">
              <a:buSzPct val="75000"/>
              <a:buFontTx/>
              <a:buNone/>
            </a:pPr>
            <a:r>
              <a:rPr lang="en-US" altLang="zh-CN">
                <a:solidFill>
                  <a:srgbClr val="000000"/>
                </a:solidFill>
                <a:latin typeface="Tahoma" charset="0"/>
                <a:ea typeface="MS PGothic" charset="-128"/>
              </a:rPr>
              <a:t>2) A transaction can not request additional locks once it </a:t>
            </a:r>
            <a:r>
              <a:rPr lang="en-US" altLang="zh-CN">
                <a:latin typeface="Tahoma" charset="0"/>
                <a:ea typeface="MS PGothic" charset="-128"/>
              </a:rPr>
              <a:t>releases any locks</a:t>
            </a:r>
          </a:p>
          <a:p>
            <a:pPr eaLnBrk="1" hangingPunct="1">
              <a:buSzPct val="75000"/>
              <a:buFontTx/>
              <a:buNone/>
            </a:pPr>
            <a:r>
              <a:rPr lang="en-US" altLang="zh-CN">
                <a:latin typeface="Tahoma" charset="0"/>
                <a:ea typeface="MS PGothic" charset="-128"/>
              </a:rPr>
              <a:t>Thus, each transaction has a </a:t>
            </a:r>
            <a:r>
              <a:rPr lang="ja-JP" altLang="en-US">
                <a:latin typeface="Tahoma" charset="0"/>
                <a:ea typeface="MS PGothic" charset="-128"/>
              </a:rPr>
              <a:t>“</a:t>
            </a:r>
            <a:r>
              <a:rPr lang="en-US" altLang="ja-JP">
                <a:latin typeface="Tahoma" charset="0"/>
                <a:ea typeface="MS PGothic" charset="-128"/>
              </a:rPr>
              <a:t>growing phase</a:t>
            </a:r>
            <a:r>
              <a:rPr lang="ja-JP" altLang="en-US">
                <a:latin typeface="Tahoma" charset="0"/>
                <a:ea typeface="MS PGothic" charset="-128"/>
              </a:rPr>
              <a:t>”</a:t>
            </a:r>
            <a:r>
              <a:rPr lang="en-US" altLang="ja-JP">
                <a:latin typeface="Tahoma" charset="0"/>
                <a:ea typeface="MS PGothic" charset="-128"/>
              </a:rPr>
              <a:t> followed by a </a:t>
            </a:r>
            <a:r>
              <a:rPr lang="ja-JP" altLang="en-US">
                <a:latin typeface="Tahoma" charset="0"/>
                <a:ea typeface="MS PGothic" charset="-128"/>
              </a:rPr>
              <a:t>“</a:t>
            </a:r>
            <a:r>
              <a:rPr lang="en-US" altLang="ja-JP">
                <a:latin typeface="Tahoma" charset="0"/>
                <a:ea typeface="MS PGothic" charset="-128"/>
              </a:rPr>
              <a:t>shrinking phase</a:t>
            </a:r>
            <a:r>
              <a:rPr lang="ja-JP" altLang="en-US">
                <a:latin typeface="Tahoma" charset="0"/>
                <a:ea typeface="MS PGothic" charset="-128"/>
              </a:rPr>
              <a:t>”</a:t>
            </a:r>
            <a:endParaRPr lang="en-US" altLang="ja-JP">
              <a:latin typeface="Tahoma" charset="0"/>
              <a:ea typeface="MS PGothic" charset="-128"/>
            </a:endParaRPr>
          </a:p>
          <a:p>
            <a:pPr eaLnBrk="1" hangingPunct="1">
              <a:buSzPct val="75000"/>
            </a:pPr>
            <a:endParaRPr lang="en-US" altLang="zh-CN">
              <a:latin typeface="Tahoma" charset="0"/>
              <a:ea typeface="MS PGothic" charset="-128"/>
            </a:endParaRPr>
          </a:p>
        </p:txBody>
      </p:sp>
      <p:graphicFrame>
        <p:nvGraphicFramePr>
          <p:cNvPr id="6" name="Chart 5"/>
          <p:cNvGraphicFramePr/>
          <p:nvPr/>
        </p:nvGraphicFramePr>
        <p:xfrm>
          <a:off x="2743200" y="3814762"/>
          <a:ext cx="5791200" cy="2743200"/>
        </p:xfrm>
        <a:graphic>
          <a:graphicData uri="http://schemas.openxmlformats.org/drawingml/2006/chart">
            <c:chart xmlns:c="http://schemas.openxmlformats.org/drawingml/2006/chart" xmlns:r="http://schemas.openxmlformats.org/officeDocument/2006/relationships" r:id="rId3"/>
          </a:graphicData>
        </a:graphic>
      </p:graphicFrame>
      <p:cxnSp>
        <p:nvCxnSpPr>
          <p:cNvPr id="8" name="Straight Connector 7"/>
          <p:cNvCxnSpPr>
            <a:cxnSpLocks noChangeShapeType="1"/>
          </p:cNvCxnSpPr>
          <p:nvPr/>
        </p:nvCxnSpPr>
        <p:spPr bwMode="auto">
          <a:xfrm rot="5400000">
            <a:off x="4801394" y="5109369"/>
            <a:ext cx="3200400" cy="1588"/>
          </a:xfrm>
          <a:prstGeom prst="line">
            <a:avLst/>
          </a:prstGeom>
          <a:noFill/>
          <a:ln w="28575">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cxnSp>
      <p:sp>
        <p:nvSpPr>
          <p:cNvPr id="9" name="TextBox 8"/>
          <p:cNvSpPr txBox="1">
            <a:spLocks noChangeArrowheads="1"/>
          </p:cNvSpPr>
          <p:nvPr/>
        </p:nvSpPr>
        <p:spPr bwMode="auto">
          <a:xfrm>
            <a:off x="3429000" y="3967163"/>
            <a:ext cx="13303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b="0">
                <a:solidFill>
                  <a:srgbClr val="CF0E30"/>
                </a:solidFill>
                <a:latin typeface="Helvetica" charset="0"/>
              </a:rPr>
              <a:t>Growing</a:t>
            </a:r>
          </a:p>
          <a:p>
            <a:pPr eaLnBrk="1" hangingPunct="1"/>
            <a:r>
              <a:rPr lang="en-US" altLang="zh-CN" b="0">
                <a:solidFill>
                  <a:srgbClr val="CF0E30"/>
                </a:solidFill>
                <a:latin typeface="Helvetica" charset="0"/>
              </a:rPr>
              <a:t>Phase</a:t>
            </a:r>
          </a:p>
        </p:txBody>
      </p:sp>
      <p:sp>
        <p:nvSpPr>
          <p:cNvPr id="10" name="TextBox 9"/>
          <p:cNvSpPr txBox="1">
            <a:spLocks noChangeArrowheads="1"/>
          </p:cNvSpPr>
          <p:nvPr/>
        </p:nvSpPr>
        <p:spPr bwMode="auto">
          <a:xfrm>
            <a:off x="6642100" y="3967163"/>
            <a:ext cx="146843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algn="r" eaLnBrk="1" hangingPunct="1"/>
            <a:r>
              <a:rPr lang="en-US" altLang="zh-CN" b="0">
                <a:solidFill>
                  <a:srgbClr val="CF0E30"/>
                </a:solidFill>
                <a:latin typeface="Helvetica" charset="0"/>
              </a:rPr>
              <a:t>Shrinking</a:t>
            </a:r>
          </a:p>
          <a:p>
            <a:pPr algn="r" eaLnBrk="1" hangingPunct="1"/>
            <a:r>
              <a:rPr lang="en-US" altLang="zh-CN" b="0">
                <a:solidFill>
                  <a:srgbClr val="CF0E30"/>
                </a:solidFill>
                <a:latin typeface="Helvetica" charset="0"/>
              </a:rPr>
              <a:t>Phase</a:t>
            </a:r>
          </a:p>
        </p:txBody>
      </p:sp>
      <p:grpSp>
        <p:nvGrpSpPr>
          <p:cNvPr id="2" name="Group 14"/>
          <p:cNvGrpSpPr>
            <a:grpSpLocks/>
          </p:cNvGrpSpPr>
          <p:nvPr/>
        </p:nvGrpSpPr>
        <p:grpSpPr bwMode="auto">
          <a:xfrm>
            <a:off x="6400800" y="3429000"/>
            <a:ext cx="2006600" cy="614363"/>
            <a:chOff x="6400800" y="3576935"/>
            <a:chExt cx="2006776" cy="614065"/>
          </a:xfrm>
        </p:grpSpPr>
        <p:cxnSp>
          <p:nvCxnSpPr>
            <p:cNvPr id="76808" name="Straight Connector 11"/>
            <p:cNvCxnSpPr>
              <a:cxnSpLocks noChangeShapeType="1"/>
            </p:cNvCxnSpPr>
            <p:nvPr/>
          </p:nvCxnSpPr>
          <p:spPr bwMode="auto">
            <a:xfrm rot="5400000">
              <a:off x="6400800" y="3886200"/>
              <a:ext cx="304800" cy="304800"/>
            </a:xfrm>
            <a:prstGeom prst="line">
              <a:avLst/>
            </a:prstGeom>
            <a:noFill/>
            <a:ln w="28575">
              <a:solidFill>
                <a:srgbClr val="FF0000"/>
              </a:solidFill>
              <a:round/>
              <a:headEnd type="none" w="sm" len="sm"/>
              <a:tailEnd type="stealth" w="lg" len="lg"/>
            </a:ln>
            <a:extLst>
              <a:ext uri="{909E8E84-426E-40DD-AFC4-6F175D3DCCD1}">
                <a14:hiddenFill xmlns:a14="http://schemas.microsoft.com/office/drawing/2010/main">
                  <a:noFill/>
                </a14:hiddenFill>
              </a:ext>
            </a:extLst>
          </p:spPr>
        </p:cxnSp>
        <p:sp>
          <p:nvSpPr>
            <p:cNvPr id="76809" name="TextBox 12"/>
            <p:cNvSpPr txBox="1">
              <a:spLocks noChangeArrowheads="1"/>
            </p:cNvSpPr>
            <p:nvPr/>
          </p:nvSpPr>
          <p:spPr bwMode="auto">
            <a:xfrm>
              <a:off x="6700258" y="3576935"/>
              <a:ext cx="1707318" cy="461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b="0">
                  <a:solidFill>
                    <a:srgbClr val="CF0E30"/>
                  </a:solidFill>
                  <a:latin typeface="Helvetica" charset="0"/>
                </a:rPr>
                <a:t>Lock Point!</a:t>
              </a:r>
            </a:p>
          </p:txBody>
        </p:sp>
      </p:grpSp>
    </p:spTree>
    <p:extLst>
      <p:ext uri="{BB962C8B-B14F-4D97-AF65-F5344CB8AC3E}">
        <p14:creationId xmlns:p14="http://schemas.microsoft.com/office/powerpoint/2010/main" val="1329057479"/>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758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758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7587">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7587">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2000"/>
                                        <p:tgtEl>
                                          <p:spTgt spid="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2000"/>
                                        <p:tgtEl>
                                          <p:spTgt spid="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2000"/>
                                        <p:tgtEl>
                                          <p:spTgt spid="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2000"/>
                                        <p:tgtEl>
                                          <p:spTgt spid="1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7" presetClass="entr" presetSubtype="10"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anim calcmode="lin" valueType="num">
                                      <p:cBhvr>
                                        <p:cTn id="43" dur="500" fill="hold"/>
                                        <p:tgtEl>
                                          <p:spTgt spid="2"/>
                                        </p:tgtEl>
                                        <p:attrNameLst>
                                          <p:attrName>ppt_w</p:attrName>
                                        </p:attrNameLst>
                                      </p:cBhvr>
                                      <p:tavLst>
                                        <p:tav tm="0">
                                          <p:val>
                                            <p:fltVal val="0"/>
                                          </p:val>
                                        </p:tav>
                                        <p:tav tm="100000">
                                          <p:val>
                                            <p:strVal val="#ppt_w"/>
                                          </p:val>
                                        </p:tav>
                                      </p:tavLst>
                                    </p:anim>
                                    <p:anim calcmode="lin" valueType="num">
                                      <p:cBhvr>
                                        <p:cTn id="44" dur="5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build="p"/>
      <p:bldP spid="9" grpId="0"/>
      <p:bldP spid="10"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le 1"/>
          <p:cNvSpPr>
            <a:spLocks noGrp="1"/>
          </p:cNvSpPr>
          <p:nvPr>
            <p:ph type="title"/>
          </p:nvPr>
        </p:nvSpPr>
        <p:spPr/>
        <p:txBody>
          <a:bodyPr/>
          <a:lstStyle/>
          <a:p>
            <a:pPr eaLnBrk="1" hangingPunct="1"/>
            <a:r>
              <a:rPr lang="en-US" altLang="zh-CN">
                <a:latin typeface="Tahoma" charset="0"/>
                <a:ea typeface="MS PGothic" charset="-128"/>
              </a:rPr>
              <a:t>Two-Phase Locking (2PL)</a:t>
            </a:r>
            <a:endParaRPr lang="en-US" altLang="zh-CN">
              <a:latin typeface="Helvetica" charset="0"/>
              <a:ea typeface="MS PGothic" charset="-128"/>
            </a:endParaRPr>
          </a:p>
        </p:txBody>
      </p:sp>
      <p:sp>
        <p:nvSpPr>
          <p:cNvPr id="3" name="Content Placeholder 2"/>
          <p:cNvSpPr>
            <a:spLocks noGrp="1"/>
          </p:cNvSpPr>
          <p:nvPr>
            <p:ph idx="1"/>
          </p:nvPr>
        </p:nvSpPr>
        <p:spPr>
          <a:xfrm>
            <a:off x="304800" y="914400"/>
            <a:ext cx="8686800" cy="5867400"/>
          </a:xfrm>
        </p:spPr>
        <p:txBody>
          <a:bodyPr/>
          <a:lstStyle/>
          <a:p>
            <a:pPr eaLnBrk="1" hangingPunct="1">
              <a:lnSpc>
                <a:spcPct val="100000"/>
              </a:lnSpc>
            </a:pPr>
            <a:r>
              <a:rPr lang="en-US" altLang="zh-CN">
                <a:latin typeface="Tahoma" charset="0"/>
                <a:ea typeface="MS PGothic" charset="-128"/>
              </a:rPr>
              <a:t>2PL guarantees that the dependency graph of a schedule is acyclic.  =&gt; Conflict Serializable</a:t>
            </a:r>
          </a:p>
          <a:p>
            <a:pPr eaLnBrk="1" hangingPunct="1">
              <a:lnSpc>
                <a:spcPct val="100000"/>
              </a:lnSpc>
            </a:pPr>
            <a:endParaRPr lang="en-US" altLang="zh-CN">
              <a:latin typeface="Tahoma" charset="0"/>
              <a:ea typeface="MS PGothic" charset="-128"/>
            </a:endParaRPr>
          </a:p>
          <a:p>
            <a:pPr eaLnBrk="1" hangingPunct="1">
              <a:lnSpc>
                <a:spcPct val="100000"/>
              </a:lnSpc>
            </a:pPr>
            <a:r>
              <a:rPr lang="en-US" altLang="zh-CN">
                <a:latin typeface="Tahoma" charset="0"/>
                <a:ea typeface="MS PGothic" charset="-128"/>
              </a:rPr>
              <a:t>Why?</a:t>
            </a:r>
          </a:p>
          <a:p>
            <a:pPr lvl="1" eaLnBrk="1" hangingPunct="1">
              <a:lnSpc>
                <a:spcPct val="100000"/>
              </a:lnSpc>
            </a:pPr>
            <a:r>
              <a:rPr lang="en-US" altLang="zh-CN">
                <a:latin typeface="Tahoma" charset="0"/>
                <a:ea typeface="MS PGothic" charset="-128"/>
              </a:rPr>
              <a:t>Assume</a:t>
            </a:r>
            <a:r>
              <a:rPr lang="zh-CN" altLang="en-US">
                <a:latin typeface="Tahoma" charset="0"/>
                <a:ea typeface="MS PGothic" charset="-128"/>
              </a:rPr>
              <a:t> </a:t>
            </a:r>
            <a:r>
              <a:rPr lang="en-US" altLang="zh-CN">
                <a:latin typeface="Tahoma" charset="0"/>
                <a:ea typeface="MS PGothic" charset="-128"/>
              </a:rPr>
              <a:t>there</a:t>
            </a:r>
            <a:r>
              <a:rPr lang="zh-CN" altLang="en-US">
                <a:latin typeface="Tahoma" charset="0"/>
                <a:ea typeface="MS PGothic" charset="-128"/>
              </a:rPr>
              <a:t> </a:t>
            </a:r>
            <a:r>
              <a:rPr lang="en-US" altLang="zh-CN">
                <a:latin typeface="Tahoma" charset="0"/>
                <a:ea typeface="MS PGothic" charset="-128"/>
              </a:rPr>
              <a:t>is</a:t>
            </a:r>
            <a:r>
              <a:rPr lang="zh-CN" altLang="en-US">
                <a:latin typeface="Tahoma" charset="0"/>
                <a:ea typeface="MS PGothic" charset="-128"/>
              </a:rPr>
              <a:t> </a:t>
            </a:r>
            <a:r>
              <a:rPr lang="en-US" altLang="zh-CN">
                <a:latin typeface="Tahoma" charset="0"/>
                <a:ea typeface="MS PGothic" charset="-128"/>
              </a:rPr>
              <a:t>a</a:t>
            </a:r>
            <a:r>
              <a:rPr lang="zh-CN" altLang="en-US">
                <a:latin typeface="Tahoma" charset="0"/>
                <a:ea typeface="MS PGothic" charset="-128"/>
              </a:rPr>
              <a:t> </a:t>
            </a:r>
            <a:r>
              <a:rPr lang="en-US" altLang="zh-CN">
                <a:latin typeface="Tahoma" charset="0"/>
                <a:ea typeface="MS PGothic" charset="-128"/>
              </a:rPr>
              <a:t>cycle</a:t>
            </a:r>
            <a:r>
              <a:rPr lang="zh-CN" altLang="en-US">
                <a:latin typeface="Tahoma" charset="0"/>
                <a:ea typeface="MS PGothic" charset="-128"/>
              </a:rPr>
              <a:t> </a:t>
            </a:r>
            <a:r>
              <a:rPr lang="en-US" altLang="zh-CN">
                <a:latin typeface="Tahoma" charset="0"/>
                <a:ea typeface="MS PGothic" charset="-128"/>
              </a:rPr>
              <a:t>between</a:t>
            </a:r>
            <a:r>
              <a:rPr lang="zh-CN" altLang="en-US">
                <a:latin typeface="Tahoma" charset="0"/>
                <a:ea typeface="MS PGothic" charset="-128"/>
              </a:rPr>
              <a:t> </a:t>
            </a:r>
            <a:r>
              <a:rPr lang="en-US" altLang="zh-CN">
                <a:latin typeface="Tahoma" charset="0"/>
                <a:ea typeface="MS PGothic" charset="-128"/>
              </a:rPr>
              <a:t>Tj</a:t>
            </a:r>
            <a:r>
              <a:rPr lang="zh-CN" altLang="en-US">
                <a:latin typeface="Tahoma" charset="0"/>
                <a:ea typeface="MS PGothic" charset="-128"/>
              </a:rPr>
              <a:t> </a:t>
            </a:r>
            <a:r>
              <a:rPr lang="en-US" altLang="zh-CN">
                <a:latin typeface="Tahoma" charset="0"/>
                <a:ea typeface="MS PGothic" charset="-128"/>
              </a:rPr>
              <a:t>and</a:t>
            </a:r>
            <a:r>
              <a:rPr lang="zh-CN" altLang="en-US">
                <a:latin typeface="Tahoma" charset="0"/>
                <a:ea typeface="MS PGothic" charset="-128"/>
              </a:rPr>
              <a:t> </a:t>
            </a:r>
            <a:r>
              <a:rPr lang="en-US" altLang="zh-CN">
                <a:latin typeface="Tahoma" charset="0"/>
                <a:ea typeface="MS PGothic" charset="-128"/>
              </a:rPr>
              <a:t>Tj</a:t>
            </a:r>
          </a:p>
          <a:p>
            <a:pPr lvl="1" eaLnBrk="1" hangingPunct="1">
              <a:lnSpc>
                <a:spcPct val="100000"/>
              </a:lnSpc>
            </a:pPr>
            <a:r>
              <a:rPr lang="en-US" altLang="zh-CN">
                <a:latin typeface="Tahoma" charset="0"/>
                <a:ea typeface="MS PGothic" charset="-128"/>
              </a:rPr>
              <a:t>Edge</a:t>
            </a:r>
            <a:r>
              <a:rPr lang="zh-CN" altLang="en-US">
                <a:latin typeface="Tahoma" charset="0"/>
                <a:ea typeface="MS PGothic" charset="-128"/>
              </a:rPr>
              <a:t> </a:t>
            </a:r>
            <a:r>
              <a:rPr lang="en-US" altLang="zh-CN">
                <a:latin typeface="Tahoma" charset="0"/>
                <a:ea typeface="MS PGothic" charset="-128"/>
              </a:rPr>
              <a:t>from</a:t>
            </a:r>
            <a:r>
              <a:rPr lang="zh-CN" altLang="en-US">
                <a:latin typeface="Tahoma" charset="0"/>
                <a:ea typeface="MS PGothic" charset="-128"/>
              </a:rPr>
              <a:t> </a:t>
            </a:r>
            <a:r>
              <a:rPr lang="en-US" altLang="zh-CN">
                <a:latin typeface="Tahoma" charset="0"/>
                <a:ea typeface="MS PGothic" charset="-128"/>
              </a:rPr>
              <a:t>Ti</a:t>
            </a:r>
            <a:r>
              <a:rPr lang="zh-CN" altLang="en-US">
                <a:latin typeface="Tahoma" charset="0"/>
                <a:ea typeface="MS PGothic" charset="-128"/>
              </a:rPr>
              <a:t> </a:t>
            </a:r>
            <a:r>
              <a:rPr lang="en-US" altLang="zh-CN">
                <a:latin typeface="Tahoma" charset="0"/>
                <a:ea typeface="MS PGothic" charset="-128"/>
              </a:rPr>
              <a:t>-&gt;</a:t>
            </a:r>
            <a:r>
              <a:rPr lang="zh-CN" altLang="en-US">
                <a:latin typeface="Tahoma" charset="0"/>
                <a:ea typeface="MS PGothic" charset="-128"/>
              </a:rPr>
              <a:t> </a:t>
            </a:r>
            <a:r>
              <a:rPr lang="en-US" altLang="zh-CN">
                <a:latin typeface="Tahoma" charset="0"/>
                <a:ea typeface="MS PGothic" charset="-128"/>
              </a:rPr>
              <a:t>Tj</a:t>
            </a:r>
            <a:r>
              <a:rPr lang="zh-CN" altLang="en-US">
                <a:latin typeface="Tahoma" charset="0"/>
                <a:ea typeface="MS PGothic" charset="-128"/>
              </a:rPr>
              <a:t> </a:t>
            </a:r>
            <a:r>
              <a:rPr lang="en-US" altLang="zh-CN">
                <a:latin typeface="Tahoma" charset="0"/>
                <a:ea typeface="MS PGothic" charset="-128"/>
              </a:rPr>
              <a:t>:</a:t>
            </a:r>
            <a:r>
              <a:rPr lang="zh-CN" altLang="en-US">
                <a:latin typeface="Tahoma" charset="0"/>
                <a:ea typeface="MS PGothic" charset="-128"/>
              </a:rPr>
              <a:t> </a:t>
            </a:r>
            <a:r>
              <a:rPr lang="en-US" altLang="zh-CN">
                <a:latin typeface="Tahoma" charset="0"/>
                <a:ea typeface="MS PGothic" charset="-128"/>
              </a:rPr>
              <a:t>Ti</a:t>
            </a:r>
            <a:r>
              <a:rPr lang="zh-CN" altLang="en-US">
                <a:latin typeface="Tahoma" charset="0"/>
                <a:ea typeface="MS PGothic" charset="-128"/>
              </a:rPr>
              <a:t> </a:t>
            </a:r>
            <a:r>
              <a:rPr lang="en-US" altLang="zh-CN">
                <a:latin typeface="Tahoma" charset="0"/>
                <a:ea typeface="MS PGothic" charset="-128"/>
              </a:rPr>
              <a:t>acquires</a:t>
            </a:r>
            <a:r>
              <a:rPr lang="zh-CN" altLang="en-US">
                <a:latin typeface="Tahoma" charset="0"/>
                <a:ea typeface="MS PGothic" charset="-128"/>
              </a:rPr>
              <a:t> </a:t>
            </a:r>
            <a:r>
              <a:rPr lang="en-US" altLang="zh-CN">
                <a:latin typeface="Tahoma" charset="0"/>
                <a:ea typeface="MS PGothic" charset="-128"/>
              </a:rPr>
              <a:t>lock</a:t>
            </a:r>
            <a:r>
              <a:rPr lang="zh-CN" altLang="en-US">
                <a:latin typeface="Tahoma" charset="0"/>
                <a:ea typeface="MS PGothic" charset="-128"/>
              </a:rPr>
              <a:t> </a:t>
            </a:r>
            <a:r>
              <a:rPr lang="en-US" altLang="zh-CN">
                <a:latin typeface="Tahoma" charset="0"/>
                <a:ea typeface="MS PGothic" charset="-128"/>
              </a:rPr>
              <a:t>first,</a:t>
            </a:r>
            <a:r>
              <a:rPr lang="zh-CN" altLang="en-US">
                <a:latin typeface="Tahoma" charset="0"/>
                <a:ea typeface="MS PGothic" charset="-128"/>
              </a:rPr>
              <a:t> </a:t>
            </a:r>
            <a:r>
              <a:rPr lang="en-US" altLang="zh-CN">
                <a:latin typeface="Tahoma" charset="0"/>
                <a:ea typeface="MS PGothic" charset="-128"/>
              </a:rPr>
              <a:t>Tj</a:t>
            </a:r>
            <a:r>
              <a:rPr lang="zh-CN" altLang="en-US">
                <a:latin typeface="Tahoma" charset="0"/>
                <a:ea typeface="MS PGothic" charset="-128"/>
              </a:rPr>
              <a:t> </a:t>
            </a:r>
            <a:r>
              <a:rPr lang="en-US" altLang="zh-CN">
                <a:latin typeface="Tahoma" charset="0"/>
                <a:ea typeface="MS PGothic" charset="-128"/>
              </a:rPr>
              <a:t>waits</a:t>
            </a:r>
          </a:p>
          <a:p>
            <a:pPr lvl="1" eaLnBrk="1" hangingPunct="1">
              <a:lnSpc>
                <a:spcPct val="100000"/>
              </a:lnSpc>
            </a:pPr>
            <a:r>
              <a:rPr lang="en-US" altLang="zh-CN">
                <a:latin typeface="Tahoma" charset="0"/>
                <a:ea typeface="MS PGothic" charset="-128"/>
              </a:rPr>
              <a:t>Edge</a:t>
            </a:r>
            <a:r>
              <a:rPr lang="zh-CN" altLang="en-US">
                <a:latin typeface="Tahoma" charset="0"/>
                <a:ea typeface="MS PGothic" charset="-128"/>
              </a:rPr>
              <a:t> </a:t>
            </a:r>
            <a:r>
              <a:rPr lang="en-US" altLang="zh-CN">
                <a:latin typeface="Tahoma" charset="0"/>
                <a:ea typeface="MS PGothic" charset="-128"/>
              </a:rPr>
              <a:t>from</a:t>
            </a:r>
            <a:r>
              <a:rPr lang="zh-CN" altLang="en-US">
                <a:latin typeface="Tahoma" charset="0"/>
                <a:ea typeface="MS PGothic" charset="-128"/>
              </a:rPr>
              <a:t> </a:t>
            </a:r>
            <a:r>
              <a:rPr lang="en-US" altLang="zh-CN">
                <a:latin typeface="Tahoma" charset="0"/>
                <a:ea typeface="MS PGothic" charset="-128"/>
              </a:rPr>
              <a:t>Tj</a:t>
            </a:r>
            <a:r>
              <a:rPr lang="zh-CN" altLang="en-US">
                <a:latin typeface="Tahoma" charset="0"/>
                <a:ea typeface="MS PGothic" charset="-128"/>
              </a:rPr>
              <a:t> </a:t>
            </a:r>
            <a:r>
              <a:rPr lang="en-US" altLang="zh-CN">
                <a:latin typeface="Tahoma" charset="0"/>
                <a:ea typeface="MS PGothic" charset="-128"/>
              </a:rPr>
              <a:t>-&gt;</a:t>
            </a:r>
            <a:r>
              <a:rPr lang="zh-CN" altLang="en-US">
                <a:latin typeface="Tahoma" charset="0"/>
                <a:ea typeface="MS PGothic" charset="-128"/>
              </a:rPr>
              <a:t> </a:t>
            </a:r>
            <a:r>
              <a:rPr lang="en-US" altLang="zh-CN">
                <a:latin typeface="Tahoma" charset="0"/>
                <a:ea typeface="MS PGothic" charset="-128"/>
              </a:rPr>
              <a:t>Ti</a:t>
            </a:r>
            <a:r>
              <a:rPr lang="zh-CN" altLang="en-US">
                <a:latin typeface="Tahoma" charset="0"/>
                <a:ea typeface="MS PGothic" charset="-128"/>
              </a:rPr>
              <a:t> </a:t>
            </a:r>
            <a:r>
              <a:rPr lang="en-US" altLang="zh-CN">
                <a:latin typeface="Tahoma" charset="0"/>
                <a:ea typeface="MS PGothic" charset="-128"/>
              </a:rPr>
              <a:t>:</a:t>
            </a:r>
            <a:r>
              <a:rPr lang="zh-CN" altLang="en-US">
                <a:latin typeface="Tahoma" charset="0"/>
                <a:ea typeface="MS PGothic" charset="-128"/>
              </a:rPr>
              <a:t> </a:t>
            </a:r>
            <a:r>
              <a:rPr lang="en-US" altLang="zh-CN">
                <a:latin typeface="Tahoma" charset="0"/>
                <a:ea typeface="MS PGothic" charset="-128"/>
              </a:rPr>
              <a:t>Tj</a:t>
            </a:r>
            <a:r>
              <a:rPr lang="zh-CN" altLang="en-US">
                <a:latin typeface="Tahoma" charset="0"/>
                <a:ea typeface="MS PGothic" charset="-128"/>
              </a:rPr>
              <a:t> </a:t>
            </a:r>
            <a:r>
              <a:rPr lang="en-US" altLang="zh-CN">
                <a:latin typeface="Tahoma" charset="0"/>
                <a:ea typeface="MS PGothic" charset="-128"/>
              </a:rPr>
              <a:t>acquires</a:t>
            </a:r>
            <a:r>
              <a:rPr lang="zh-CN" altLang="en-US">
                <a:latin typeface="Tahoma" charset="0"/>
                <a:ea typeface="MS PGothic" charset="-128"/>
              </a:rPr>
              <a:t> </a:t>
            </a:r>
            <a:r>
              <a:rPr lang="en-US" altLang="zh-CN">
                <a:latin typeface="Tahoma" charset="0"/>
                <a:ea typeface="MS PGothic" charset="-128"/>
              </a:rPr>
              <a:t>lock</a:t>
            </a:r>
            <a:r>
              <a:rPr lang="zh-CN" altLang="en-US">
                <a:latin typeface="Tahoma" charset="0"/>
                <a:ea typeface="MS PGothic" charset="-128"/>
              </a:rPr>
              <a:t> </a:t>
            </a:r>
            <a:r>
              <a:rPr lang="en-US" altLang="zh-CN">
                <a:latin typeface="Tahoma" charset="0"/>
                <a:ea typeface="MS PGothic" charset="-128"/>
              </a:rPr>
              <a:t>first,</a:t>
            </a:r>
            <a:r>
              <a:rPr lang="zh-CN" altLang="en-US">
                <a:latin typeface="Tahoma" charset="0"/>
                <a:ea typeface="MS PGothic" charset="-128"/>
              </a:rPr>
              <a:t> </a:t>
            </a:r>
            <a:r>
              <a:rPr lang="en-US" altLang="zh-CN">
                <a:latin typeface="Tahoma" charset="0"/>
                <a:ea typeface="MS PGothic" charset="-128"/>
              </a:rPr>
              <a:t>Ti</a:t>
            </a:r>
            <a:r>
              <a:rPr lang="zh-CN" altLang="en-US">
                <a:latin typeface="Tahoma" charset="0"/>
                <a:ea typeface="MS PGothic" charset="-128"/>
              </a:rPr>
              <a:t> </a:t>
            </a:r>
            <a:r>
              <a:rPr lang="en-US" altLang="zh-CN">
                <a:latin typeface="Tahoma" charset="0"/>
                <a:ea typeface="MS PGothic" charset="-128"/>
              </a:rPr>
              <a:t>waits</a:t>
            </a:r>
          </a:p>
          <a:p>
            <a:pPr lvl="1" eaLnBrk="1" hangingPunct="1">
              <a:lnSpc>
                <a:spcPct val="100000"/>
              </a:lnSpc>
            </a:pPr>
            <a:r>
              <a:rPr lang="en-US" altLang="zh-CN">
                <a:latin typeface="Tahoma" charset="0"/>
                <a:ea typeface="MS PGothic" charset="-128"/>
              </a:rPr>
              <a:t>Thus,</a:t>
            </a:r>
            <a:r>
              <a:rPr lang="zh-CN" altLang="en-US">
                <a:latin typeface="Tahoma" charset="0"/>
                <a:ea typeface="MS PGothic" charset="-128"/>
              </a:rPr>
              <a:t> </a:t>
            </a:r>
            <a:r>
              <a:rPr lang="en-US" altLang="zh-CN">
                <a:latin typeface="Tahoma" charset="0"/>
                <a:ea typeface="MS PGothic" charset="-128"/>
              </a:rPr>
              <a:t>Both</a:t>
            </a:r>
            <a:r>
              <a:rPr lang="zh-CN" altLang="en-US">
                <a:latin typeface="Tahoma" charset="0"/>
                <a:ea typeface="MS PGothic" charset="-128"/>
              </a:rPr>
              <a:t> </a:t>
            </a:r>
            <a:r>
              <a:rPr lang="en-US" altLang="zh-CN">
                <a:latin typeface="Tahoma" charset="0"/>
                <a:ea typeface="MS PGothic" charset="-128"/>
              </a:rPr>
              <a:t>Ti</a:t>
            </a:r>
            <a:r>
              <a:rPr lang="zh-CN" altLang="en-US">
                <a:latin typeface="Tahoma" charset="0"/>
                <a:ea typeface="MS PGothic" charset="-128"/>
              </a:rPr>
              <a:t> </a:t>
            </a:r>
            <a:r>
              <a:rPr lang="en-US" altLang="zh-CN">
                <a:latin typeface="Tahoma" charset="0"/>
                <a:ea typeface="MS PGothic" charset="-128"/>
              </a:rPr>
              <a:t>and</a:t>
            </a:r>
            <a:r>
              <a:rPr lang="zh-CN" altLang="en-US">
                <a:latin typeface="Tahoma" charset="0"/>
                <a:ea typeface="MS PGothic" charset="-128"/>
              </a:rPr>
              <a:t> </a:t>
            </a:r>
            <a:r>
              <a:rPr lang="en-US" altLang="zh-CN">
                <a:latin typeface="Tahoma" charset="0"/>
                <a:ea typeface="MS PGothic" charset="-128"/>
              </a:rPr>
              <a:t>Tj</a:t>
            </a:r>
            <a:r>
              <a:rPr lang="zh-CN" altLang="en-US">
                <a:latin typeface="Tahoma" charset="0"/>
                <a:ea typeface="MS PGothic" charset="-128"/>
              </a:rPr>
              <a:t> </a:t>
            </a:r>
            <a:r>
              <a:rPr lang="en-US" altLang="zh-CN">
                <a:latin typeface="Tahoma" charset="0"/>
                <a:ea typeface="MS PGothic" charset="-128"/>
              </a:rPr>
              <a:t>waits</a:t>
            </a:r>
            <a:r>
              <a:rPr lang="zh-CN" altLang="en-US">
                <a:latin typeface="Tahoma" charset="0"/>
                <a:ea typeface="MS PGothic" charset="-128"/>
              </a:rPr>
              <a:t> </a:t>
            </a:r>
            <a:r>
              <a:rPr lang="en-US" altLang="zh-CN">
                <a:latin typeface="Tahoma" charset="0"/>
                <a:ea typeface="MS PGothic" charset="-128"/>
              </a:rPr>
              <a:t>(for</a:t>
            </a:r>
            <a:r>
              <a:rPr lang="zh-CN" altLang="en-US">
                <a:latin typeface="Tahoma" charset="0"/>
                <a:ea typeface="MS PGothic" charset="-128"/>
              </a:rPr>
              <a:t> </a:t>
            </a:r>
            <a:r>
              <a:rPr lang="en-US" altLang="zh-CN">
                <a:latin typeface="Tahoma" charset="0"/>
                <a:ea typeface="MS PGothic" charset="-128"/>
              </a:rPr>
              <a:t>each</a:t>
            </a:r>
            <a:r>
              <a:rPr lang="zh-CN" altLang="en-US">
                <a:latin typeface="Tahoma" charset="0"/>
                <a:ea typeface="MS PGothic" charset="-128"/>
              </a:rPr>
              <a:t> </a:t>
            </a:r>
            <a:r>
              <a:rPr lang="en-US" altLang="zh-CN">
                <a:latin typeface="Tahoma" charset="0"/>
                <a:ea typeface="MS PGothic" charset="-128"/>
              </a:rPr>
              <a:t>other),</a:t>
            </a:r>
            <a:r>
              <a:rPr lang="zh-CN" altLang="en-US">
                <a:latin typeface="Tahoma" charset="0"/>
                <a:ea typeface="MS PGothic" charset="-128"/>
              </a:rPr>
              <a:t> </a:t>
            </a:r>
            <a:r>
              <a:rPr lang="en-US" altLang="zh-CN">
                <a:latin typeface="Tahoma" charset="0"/>
                <a:ea typeface="MS PGothic" charset="-128"/>
              </a:rPr>
              <a:t>and</a:t>
            </a:r>
            <a:r>
              <a:rPr lang="zh-CN" altLang="en-US">
                <a:latin typeface="Tahoma" charset="0"/>
                <a:ea typeface="MS PGothic" charset="-128"/>
              </a:rPr>
              <a:t> </a:t>
            </a:r>
            <a:r>
              <a:rPr lang="en-US" altLang="zh-CN">
                <a:latin typeface="Tahoma" charset="0"/>
                <a:ea typeface="MS PGothic" charset="-128"/>
              </a:rPr>
              <a:t>no</a:t>
            </a:r>
            <a:r>
              <a:rPr lang="zh-CN" altLang="en-US">
                <a:latin typeface="Tahoma" charset="0"/>
                <a:ea typeface="MS PGothic" charset="-128"/>
              </a:rPr>
              <a:t> </a:t>
            </a:r>
            <a:r>
              <a:rPr lang="en-US" altLang="zh-CN">
                <a:latin typeface="Tahoma" charset="0"/>
                <a:ea typeface="MS PGothic" charset="-128"/>
              </a:rPr>
              <a:t>one</a:t>
            </a:r>
            <a:r>
              <a:rPr lang="zh-CN" altLang="en-US">
                <a:latin typeface="Tahoma" charset="0"/>
                <a:ea typeface="MS PGothic" charset="-128"/>
              </a:rPr>
              <a:t> </a:t>
            </a:r>
            <a:r>
              <a:rPr lang="en-US" altLang="zh-CN">
                <a:latin typeface="Tahoma" charset="0"/>
                <a:ea typeface="MS PGothic" charset="-128"/>
              </a:rPr>
              <a:t>releases</a:t>
            </a:r>
            <a:r>
              <a:rPr lang="zh-CN" altLang="en-US">
                <a:latin typeface="Tahoma" charset="0"/>
                <a:ea typeface="MS PGothic" charset="-128"/>
              </a:rPr>
              <a:t> </a:t>
            </a:r>
            <a:r>
              <a:rPr lang="en-US" altLang="zh-CN">
                <a:latin typeface="Tahoma" charset="0"/>
                <a:ea typeface="MS PGothic" charset="-128"/>
              </a:rPr>
              <a:t>the</a:t>
            </a:r>
            <a:r>
              <a:rPr lang="zh-CN" altLang="en-US">
                <a:latin typeface="Tahoma" charset="0"/>
                <a:ea typeface="MS PGothic" charset="-128"/>
              </a:rPr>
              <a:t> </a:t>
            </a:r>
            <a:r>
              <a:rPr lang="en-US" altLang="zh-CN">
                <a:latin typeface="Tahoma" charset="0"/>
                <a:ea typeface="MS PGothic" charset="-128"/>
              </a:rPr>
              <a:t>lock</a:t>
            </a:r>
          </a:p>
          <a:p>
            <a:pPr lvl="1" eaLnBrk="1" hangingPunct="1">
              <a:lnSpc>
                <a:spcPct val="100000"/>
              </a:lnSpc>
            </a:pPr>
            <a:r>
              <a:rPr lang="en-US" altLang="zh-CN">
                <a:latin typeface="Tahoma" charset="0"/>
                <a:ea typeface="MS PGothic" charset="-128"/>
              </a:rPr>
              <a:t>Deadlocked</a:t>
            </a:r>
            <a:r>
              <a:rPr lang="zh-CN" altLang="en-US">
                <a:latin typeface="Tahoma" charset="0"/>
                <a:ea typeface="MS PGothic" charset="-128"/>
              </a:rPr>
              <a:t> </a:t>
            </a:r>
            <a:r>
              <a:rPr lang="en-US" altLang="zh-CN">
                <a:latin typeface="Tahoma" charset="0"/>
                <a:ea typeface="MS PGothic" charset="-128"/>
              </a:rPr>
              <a:t>=&gt;</a:t>
            </a:r>
            <a:r>
              <a:rPr lang="zh-CN" altLang="en-US">
                <a:latin typeface="Tahoma" charset="0"/>
                <a:ea typeface="MS PGothic" charset="-128"/>
              </a:rPr>
              <a:t> </a:t>
            </a:r>
            <a:r>
              <a:rPr lang="en-US" altLang="zh-CN">
                <a:latin typeface="Tahoma" charset="0"/>
                <a:ea typeface="MS PGothic" charset="-128"/>
              </a:rPr>
              <a:t>cannot</a:t>
            </a:r>
            <a:r>
              <a:rPr lang="zh-CN" altLang="en-US">
                <a:latin typeface="Tahoma" charset="0"/>
                <a:ea typeface="MS PGothic" charset="-128"/>
              </a:rPr>
              <a:t> </a:t>
            </a:r>
            <a:r>
              <a:rPr lang="en-US" altLang="zh-CN">
                <a:latin typeface="Tahoma" charset="0"/>
                <a:ea typeface="MS PGothic" charset="-128"/>
              </a:rPr>
              <a:t>proceed,</a:t>
            </a:r>
            <a:r>
              <a:rPr lang="zh-CN" altLang="en-US">
                <a:latin typeface="Tahoma" charset="0"/>
                <a:ea typeface="MS PGothic" charset="-128"/>
              </a:rPr>
              <a:t> </a:t>
            </a:r>
            <a:r>
              <a:rPr lang="en-US" altLang="zh-CN">
                <a:latin typeface="Tahoma" charset="0"/>
                <a:ea typeface="MS PGothic" charset="-128"/>
              </a:rPr>
              <a:t>so</a:t>
            </a:r>
            <a:r>
              <a:rPr lang="zh-CN" altLang="en-US">
                <a:latin typeface="Tahoma" charset="0"/>
                <a:ea typeface="MS PGothic" charset="-128"/>
              </a:rPr>
              <a:t> </a:t>
            </a:r>
            <a:r>
              <a:rPr lang="en-US" altLang="zh-CN">
                <a:latin typeface="Tahoma" charset="0"/>
                <a:ea typeface="MS PGothic" charset="-128"/>
              </a:rPr>
              <a:t>contradiction.</a:t>
            </a:r>
          </a:p>
          <a:p>
            <a:pPr eaLnBrk="1" hangingPunct="1">
              <a:lnSpc>
                <a:spcPct val="100000"/>
              </a:lnSpc>
            </a:pPr>
            <a:r>
              <a:rPr lang="en-US" altLang="zh-CN">
                <a:latin typeface="Tahoma" charset="0"/>
                <a:ea typeface="MS PGothic" charset="-128"/>
              </a:rPr>
              <a:t>Therefore 2PL-compatible schedules are conflict serializable. </a:t>
            </a:r>
          </a:p>
          <a:p>
            <a:pPr marL="914400" lvl="2" indent="0" eaLnBrk="1" hangingPunct="1">
              <a:buSzPct val="75000"/>
              <a:buFontTx/>
              <a:buNone/>
            </a:pPr>
            <a:r>
              <a:rPr lang="en-US" altLang="zh-CN">
                <a:latin typeface="Tahoma" charset="0"/>
                <a:ea typeface="MS PGothic" charset="-128"/>
              </a:rPr>
              <a:t>	</a:t>
            </a:r>
          </a:p>
          <a:p>
            <a:pPr lvl="1" eaLnBrk="1" hangingPunct="1"/>
            <a:endParaRPr lang="en-US" altLang="zh-CN">
              <a:latin typeface="Helvetica" charset="0"/>
              <a:ea typeface="MS PGothic" charset="-128"/>
            </a:endParaRPr>
          </a:p>
        </p:txBody>
      </p:sp>
    </p:spTree>
    <p:extLst>
      <p:ext uri="{BB962C8B-B14F-4D97-AF65-F5344CB8AC3E}">
        <p14:creationId xmlns:p14="http://schemas.microsoft.com/office/powerpoint/2010/main" val="22074546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Title 1"/>
          <p:cNvSpPr>
            <a:spLocks noGrp="1"/>
          </p:cNvSpPr>
          <p:nvPr>
            <p:ph type="title"/>
          </p:nvPr>
        </p:nvSpPr>
        <p:spPr/>
        <p:txBody>
          <a:bodyPr/>
          <a:lstStyle/>
          <a:p>
            <a:pPr eaLnBrk="1" hangingPunct="1"/>
            <a:r>
              <a:rPr lang="en-US" altLang="zh-CN">
                <a:latin typeface="Helvetica" charset="0"/>
                <a:ea typeface="MS PGothic" charset="-128"/>
              </a:rPr>
              <a:t>Summary</a:t>
            </a:r>
          </a:p>
        </p:txBody>
      </p:sp>
      <p:sp>
        <p:nvSpPr>
          <p:cNvPr id="79874" name="Content Placeholder 2"/>
          <p:cNvSpPr>
            <a:spLocks noGrp="1"/>
          </p:cNvSpPr>
          <p:nvPr>
            <p:ph idx="1"/>
          </p:nvPr>
        </p:nvSpPr>
        <p:spPr>
          <a:xfrm>
            <a:off x="228600" y="914400"/>
            <a:ext cx="8610600" cy="5105400"/>
          </a:xfrm>
        </p:spPr>
        <p:txBody>
          <a:bodyPr/>
          <a:lstStyle/>
          <a:p>
            <a:pPr eaLnBrk="1" hangingPunct="1"/>
            <a:r>
              <a:rPr lang="en-US" altLang="zh-CN">
                <a:latin typeface="Tahoma" charset="0"/>
                <a:ea typeface="MS PGothic" charset="-128"/>
              </a:rPr>
              <a:t>Transaction: a sequence of storage operations</a:t>
            </a:r>
            <a:endParaRPr lang="en-US" altLang="zh-CN" sz="2000">
              <a:latin typeface="Tahoma" charset="0"/>
              <a:ea typeface="MS PGothic" charset="-128"/>
            </a:endParaRPr>
          </a:p>
          <a:p>
            <a:pPr eaLnBrk="1" hangingPunct="1"/>
            <a:r>
              <a:rPr lang="en-US" altLang="zh-CN">
                <a:latin typeface="Tahoma" charset="0"/>
                <a:ea typeface="MS PGothic" charset="-128"/>
              </a:rPr>
              <a:t>ACID:</a:t>
            </a:r>
          </a:p>
          <a:p>
            <a:pPr lvl="1" eaLnBrk="1" hangingPunct="1"/>
            <a:r>
              <a:rPr lang="en-US" altLang="zh-CN" sz="2000">
                <a:latin typeface="Tahoma" charset="0"/>
                <a:ea typeface="MS PGothic" charset="-128"/>
              </a:rPr>
              <a:t>Atomicity: all operations in a transaction happen, or none happens</a:t>
            </a:r>
          </a:p>
          <a:p>
            <a:pPr lvl="1" eaLnBrk="1" hangingPunct="1"/>
            <a:r>
              <a:rPr lang="en-US" altLang="zh-CN" sz="2000">
                <a:latin typeface="Tahoma" charset="0"/>
                <a:ea typeface="MS PGothic" charset="-128"/>
              </a:rPr>
              <a:t>Consistency: if database/storage starts consistent, it ends up consistent</a:t>
            </a:r>
          </a:p>
          <a:p>
            <a:pPr lvl="1" eaLnBrk="1" hangingPunct="1"/>
            <a:r>
              <a:rPr lang="en-US" altLang="zh-CN" sz="2000">
                <a:latin typeface="Tahoma" charset="0"/>
                <a:ea typeface="MS PGothic" charset="-128"/>
              </a:rPr>
              <a:t>Isolation: execution of  one transaction is isolated from another</a:t>
            </a:r>
          </a:p>
          <a:p>
            <a:pPr lvl="1" eaLnBrk="1" hangingPunct="1"/>
            <a:r>
              <a:rPr lang="en-US" altLang="zh-CN" sz="2000">
                <a:latin typeface="Tahoma" charset="0"/>
                <a:ea typeface="MS PGothic" charset="-128"/>
              </a:rPr>
              <a:t>Durability: the results of a transaction persists</a:t>
            </a:r>
          </a:p>
          <a:p>
            <a:pPr eaLnBrk="1" hangingPunct="1">
              <a:lnSpc>
                <a:spcPct val="100000"/>
              </a:lnSpc>
            </a:pPr>
            <a:r>
              <a:rPr lang="en-US" altLang="zh-CN">
                <a:latin typeface="Tahoma" charset="0"/>
                <a:ea typeface="MS PGothic" charset="-128"/>
              </a:rPr>
              <a:t>Correctness criterion for transactions is </a:t>
            </a:r>
            <a:r>
              <a:rPr lang="ja-JP" altLang="en-US">
                <a:latin typeface="Tahoma" charset="0"/>
                <a:ea typeface="MS PGothic" charset="-128"/>
              </a:rPr>
              <a:t>“</a:t>
            </a:r>
            <a:r>
              <a:rPr lang="en-US" altLang="ja-JP">
                <a:latin typeface="Tahoma" charset="0"/>
                <a:ea typeface="MS PGothic" charset="-128"/>
              </a:rPr>
              <a:t>Serializability</a:t>
            </a:r>
            <a:r>
              <a:rPr lang="ja-JP" altLang="en-US">
                <a:latin typeface="Tahoma" charset="0"/>
                <a:ea typeface="MS PGothic" charset="-128"/>
              </a:rPr>
              <a:t>”</a:t>
            </a:r>
            <a:endParaRPr lang="en-US" altLang="ja-JP">
              <a:latin typeface="Tahoma" charset="0"/>
              <a:ea typeface="MS PGothic" charset="-128"/>
            </a:endParaRPr>
          </a:p>
          <a:p>
            <a:pPr lvl="1" eaLnBrk="1" hangingPunct="1">
              <a:lnSpc>
                <a:spcPct val="100000"/>
              </a:lnSpc>
            </a:pPr>
            <a:r>
              <a:rPr lang="en-US" altLang="zh-CN" sz="2000">
                <a:latin typeface="Tahoma" charset="0"/>
                <a:ea typeface="MS PGothic" charset="-128"/>
              </a:rPr>
              <a:t>In practice, we use </a:t>
            </a:r>
            <a:r>
              <a:rPr lang="ja-JP" altLang="en-US" sz="2000">
                <a:latin typeface="Tahoma" charset="0"/>
                <a:ea typeface="MS PGothic" charset="-128"/>
              </a:rPr>
              <a:t>“</a:t>
            </a:r>
            <a:r>
              <a:rPr lang="en-US" altLang="ja-JP" sz="2000">
                <a:latin typeface="Tahoma" charset="0"/>
                <a:ea typeface="MS PGothic" charset="-128"/>
              </a:rPr>
              <a:t>Conflict Serializability</a:t>
            </a:r>
            <a:r>
              <a:rPr lang="ja-JP" altLang="en-US" sz="2000">
                <a:latin typeface="Tahoma" charset="0"/>
                <a:ea typeface="MS PGothic" charset="-128"/>
              </a:rPr>
              <a:t>”</a:t>
            </a:r>
            <a:r>
              <a:rPr lang="en-US" altLang="ja-JP" sz="2000">
                <a:latin typeface="Tahoma" charset="0"/>
                <a:ea typeface="MS PGothic" charset="-128"/>
              </a:rPr>
              <a:t>, which is somewhat more restrictive but easy to enforce</a:t>
            </a:r>
          </a:p>
          <a:p>
            <a:pPr lvl="1" eaLnBrk="1" hangingPunct="1">
              <a:lnSpc>
                <a:spcPct val="100000"/>
              </a:lnSpc>
            </a:pPr>
            <a:r>
              <a:rPr lang="en-US" altLang="ja-JP" sz="2000">
                <a:latin typeface="Tahoma" charset="0"/>
                <a:ea typeface="MS PGothic" charset="-128"/>
              </a:rPr>
              <a:t>2PL is an algorithm to implement conflict serializability</a:t>
            </a:r>
          </a:p>
          <a:p>
            <a:pPr eaLnBrk="1" hangingPunct="1">
              <a:lnSpc>
                <a:spcPct val="100000"/>
              </a:lnSpc>
            </a:pPr>
            <a:r>
              <a:rPr lang="en-US" altLang="ja-JP">
                <a:latin typeface="Tahoma" charset="0"/>
                <a:ea typeface="MS PGothic" charset="-128"/>
              </a:rPr>
              <a:t>Atomicity and Durability if there are failures</a:t>
            </a:r>
          </a:p>
          <a:p>
            <a:pPr lvl="1" eaLnBrk="1" hangingPunct="1">
              <a:lnSpc>
                <a:spcPct val="100000"/>
              </a:lnSpc>
            </a:pPr>
            <a:r>
              <a:rPr lang="en-US" altLang="ja-JP">
                <a:latin typeface="Tahoma" charset="0"/>
                <a:ea typeface="MS PGothic" charset="-128"/>
              </a:rPr>
              <a:t>Redo Logging</a:t>
            </a:r>
          </a:p>
          <a:p>
            <a:pPr lvl="1" eaLnBrk="1" hangingPunct="1">
              <a:buFontTx/>
              <a:buNone/>
            </a:pPr>
            <a:endParaRPr lang="en-US" altLang="zh-CN">
              <a:latin typeface="Tahoma" charset="0"/>
              <a:ea typeface="MS PGothic" charset="-128"/>
            </a:endParaRPr>
          </a:p>
          <a:p>
            <a:pPr eaLnBrk="1" hangingPunct="1"/>
            <a:endParaRPr lang="en-US" altLang="zh-CN">
              <a:latin typeface="Helvetica" charset="0"/>
              <a:ea typeface="MS PGothic" charset="-128"/>
            </a:endParaRPr>
          </a:p>
          <a:p>
            <a:pPr eaLnBrk="1" hangingPunct="1"/>
            <a:endParaRPr lang="en-US" altLang="zh-CN" sz="2000">
              <a:latin typeface="Tahoma" charset="0"/>
              <a:ea typeface="MS PGothic" charset="-128"/>
            </a:endParaRPr>
          </a:p>
        </p:txBody>
      </p:sp>
    </p:spTree>
  </p:cSld>
  <p:clrMapOvr>
    <a:masterClrMapping/>
  </p:clrMapOvr>
  <p:transition/>
</p:sld>
</file>

<file path=ppt/theme/theme1.xml><?xml version="1.0" encoding="utf-8"?>
<a:theme xmlns:a="http://schemas.openxmlformats.org/drawingml/2006/main" name="iiis-os">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FFAA"/>
        </a:solidFill>
        <a:ln w="25400" cap="flat" cmpd="sng" algn="ctr">
          <a:solidFill>
            <a:schemeClr val="tx1"/>
          </a:solidFill>
          <a:prstDash val="solid"/>
          <a:round/>
          <a:headEnd type="triangle" w="med" len="med"/>
          <a:tailEnd type="none" w="med" len="med"/>
        </a:ln>
        <a:effectLst/>
      </a:spPr>
      <a:bodyPr rtlCol="0" anchor="ctr"/>
      <a:lstStyle>
        <a:defPPr algn="ctr">
          <a:defRPr b="0" dirty="0" smtClean="0">
            <a:latin typeface="Helvetica"/>
            <a:cs typeface="Helvetica"/>
          </a:defRPr>
        </a:defPPr>
      </a:lstStyle>
    </a:spDef>
    <a:lnDef>
      <a:spPr bwMode="auto">
        <a:solidFill>
          <a:schemeClr val="bg1"/>
        </a:solidFill>
        <a:ln w="38100" cap="flat" cmpd="sng" algn="ctr">
          <a:solidFill>
            <a:schemeClr val="tx1"/>
          </a:solidFill>
          <a:prstDash val="solid"/>
          <a:round/>
          <a:headEnd type="none" w="med" len="med"/>
          <a:tailEnd type="triangle"/>
        </a:ln>
        <a:effectLst/>
      </a:spPr>
      <a:bodyPr/>
      <a:lstStyle/>
    </a:lnDef>
    <a:txDef>
      <a:spPr>
        <a:noFill/>
      </a:spPr>
      <a:bodyPr wrap="none" rtlCol="0">
        <a:spAutoFit/>
      </a:bodyPr>
      <a:lstStyle>
        <a:defPPr>
          <a:defRPr sz="2000" b="0" dirty="0" smtClean="0">
            <a:latin typeface="Helvetica"/>
            <a:cs typeface="Helvetica"/>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iiis-os</Template>
  <TotalTime>93478</TotalTime>
  <Pages>60</Pages>
  <Words>3541</Words>
  <Application>Microsoft Macintosh PowerPoint</Application>
  <PresentationFormat>全屏显示(4:3)</PresentationFormat>
  <Paragraphs>618</Paragraphs>
  <Slides>52</Slides>
  <Notes>18</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52</vt:i4>
      </vt:variant>
    </vt:vector>
  </HeadingPairs>
  <TitlesOfParts>
    <vt:vector size="67" baseType="lpstr">
      <vt:lpstr>Microsoft YaHei</vt:lpstr>
      <vt:lpstr>굴림</vt:lpstr>
      <vt:lpstr>MS PGothic</vt:lpstr>
      <vt:lpstr>Comic Sans MS</vt:lpstr>
      <vt:lpstr>Courier</vt:lpstr>
      <vt:lpstr>Courier New</vt:lpstr>
      <vt:lpstr>Gill Sans</vt:lpstr>
      <vt:lpstr>Gill Sans Light</vt:lpstr>
      <vt:lpstr>Helvetica</vt:lpstr>
      <vt:lpstr>Lucida Sans Unicode</vt:lpstr>
      <vt:lpstr>Tahoma</vt:lpstr>
      <vt:lpstr>Times New Roman</vt:lpstr>
      <vt:lpstr>Trebuchet MS</vt:lpstr>
      <vt:lpstr>iiis-os</vt:lpstr>
      <vt:lpstr>Equation</vt:lpstr>
      <vt:lpstr> Introduction to Computer Systems   Lecture 12  Transactions</vt:lpstr>
      <vt:lpstr>Announcement</vt:lpstr>
      <vt:lpstr>Agenda</vt:lpstr>
      <vt:lpstr>Databases and queries</vt:lpstr>
      <vt:lpstr>Why do we talk about DB?</vt:lpstr>
      <vt:lpstr>Key Concept: Structured Data</vt:lpstr>
      <vt:lpstr>Example: Course Database</vt:lpstr>
      <vt:lpstr>What is a Database System?</vt:lpstr>
      <vt:lpstr>Key Concepts: Queries, Query Plans, and Operators</vt:lpstr>
      <vt:lpstr>Key Concepts: Queries, Query Plans, and Operators</vt:lpstr>
      <vt:lpstr>A general way to reliability: transactions</vt:lpstr>
      <vt:lpstr>Key concept: Transaction</vt:lpstr>
      <vt:lpstr>“Consistency” </vt:lpstr>
      <vt:lpstr>The ACID properties of Transactions</vt:lpstr>
      <vt:lpstr>Database functionality: group any sequences as a transaction</vt:lpstr>
      <vt:lpstr>Implementing transactions:  atomic writes to disk</vt:lpstr>
      <vt:lpstr>Operations on persistent storage are not atomic ! </vt:lpstr>
      <vt:lpstr>PowerPoint 演示文稿</vt:lpstr>
      <vt:lpstr>File Systems: Create a File</vt:lpstr>
      <vt:lpstr>Concept of a log</vt:lpstr>
      <vt:lpstr>Example: Creating a File</vt:lpstr>
      <vt:lpstr>Ex: Creating a file (as a transaction)</vt:lpstr>
      <vt:lpstr>“Redo Log “ – Replay Transactions</vt:lpstr>
      <vt:lpstr>Crash During Logging – Recover</vt:lpstr>
      <vt:lpstr>Recovery After Commit</vt:lpstr>
      <vt:lpstr>“Journaling file system”</vt:lpstr>
      <vt:lpstr>Implementing transactions: Locks</vt:lpstr>
      <vt:lpstr>From Multiprogramming to Transactions</vt:lpstr>
      <vt:lpstr>Example</vt:lpstr>
      <vt:lpstr>Database Locks</vt:lpstr>
      <vt:lpstr>Locking Granularity</vt:lpstr>
      <vt:lpstr>Goals of Transaction Scheduling</vt:lpstr>
      <vt:lpstr>Two Key Questions</vt:lpstr>
      <vt:lpstr>Anomalies with Interleaved Execution </vt:lpstr>
      <vt:lpstr>Anomalies with Interleaved Execution </vt:lpstr>
      <vt:lpstr>Anomalies with Interleaved Execution </vt:lpstr>
      <vt:lpstr>Anomalies with Interleaved Execution </vt:lpstr>
      <vt:lpstr>Transaction Scheduling</vt:lpstr>
      <vt:lpstr>Conflict Serializable Schedules</vt:lpstr>
      <vt:lpstr>Conflict Equivalence – Intuition</vt:lpstr>
      <vt:lpstr>Conflict Equivalence – Intuition  (cont’d)</vt:lpstr>
      <vt:lpstr>Conflict Equivalence – Intuition  (cont’d)</vt:lpstr>
      <vt:lpstr>Dependency Graph</vt:lpstr>
      <vt:lpstr>Example</vt:lpstr>
      <vt:lpstr>Example</vt:lpstr>
      <vt:lpstr>Example</vt:lpstr>
      <vt:lpstr>Notes on Conflict Serializability</vt:lpstr>
      <vt:lpstr>Serializability ≠&gt; Conflict Serializability</vt:lpstr>
      <vt:lpstr>Locks</vt:lpstr>
      <vt:lpstr>Two-Phase Locking (2PL)</vt:lpstr>
      <vt:lpstr>Two-Phase Locking (2PL)</vt:lpstr>
      <vt:lpstr>Summary</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Course Introduction and Overview</dc:title>
  <dc:creator>John D. Kubiatowicz</dc:creator>
  <dc:description>Imported some pictures from Silbershatz (c) 2005</dc:description>
  <cp:lastModifiedBy>Wei Xu</cp:lastModifiedBy>
  <cp:revision>1581</cp:revision>
  <cp:lastPrinted>2013-04-25T07:40:13Z</cp:lastPrinted>
  <dcterms:created xsi:type="dcterms:W3CDTF">2011-04-13T03:37:24Z</dcterms:created>
  <dcterms:modified xsi:type="dcterms:W3CDTF">2026-06-04T15:37:57Z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Joseph</vt:lpwstr>
  </property>
  <property fmtid="{D5CDD505-2E9C-101B-9397-08002B2CF9AE}" pid="3" name="Semester">
    <vt:lpwstr>Spring 2006</vt:lpwstr>
  </property>
</Properties>
</file>