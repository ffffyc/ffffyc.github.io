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181" r:id="rId1"/>
  </p:sldMasterIdLst>
  <p:notesMasterIdLst>
    <p:notesMasterId r:id="rId97"/>
  </p:notesMasterIdLst>
  <p:handoutMasterIdLst>
    <p:handoutMasterId r:id="rId98"/>
  </p:handoutMasterIdLst>
  <p:sldIdLst>
    <p:sldId id="866" r:id="rId2"/>
    <p:sldId id="1308" r:id="rId3"/>
    <p:sldId id="1274" r:id="rId4"/>
    <p:sldId id="1275" r:id="rId5"/>
    <p:sldId id="1276" r:id="rId6"/>
    <p:sldId id="1277" r:id="rId7"/>
    <p:sldId id="1137" r:id="rId8"/>
    <p:sldId id="803" r:id="rId9"/>
    <p:sldId id="1307" r:id="rId10"/>
    <p:sldId id="804" r:id="rId11"/>
    <p:sldId id="805" r:id="rId12"/>
    <p:sldId id="806" r:id="rId13"/>
    <p:sldId id="1138" r:id="rId14"/>
    <p:sldId id="808" r:id="rId15"/>
    <p:sldId id="809" r:id="rId16"/>
    <p:sldId id="810" r:id="rId17"/>
    <p:sldId id="811" r:id="rId18"/>
    <p:sldId id="812" r:id="rId19"/>
    <p:sldId id="813" r:id="rId20"/>
    <p:sldId id="814" r:id="rId21"/>
    <p:sldId id="815" r:id="rId22"/>
    <p:sldId id="816" r:id="rId23"/>
    <p:sldId id="817" r:id="rId24"/>
    <p:sldId id="1139" r:id="rId25"/>
    <p:sldId id="819" r:id="rId26"/>
    <p:sldId id="1140" r:id="rId27"/>
    <p:sldId id="1141" r:id="rId28"/>
    <p:sldId id="822" r:id="rId29"/>
    <p:sldId id="823" r:id="rId30"/>
    <p:sldId id="824" r:id="rId31"/>
    <p:sldId id="825" r:id="rId32"/>
    <p:sldId id="826" r:id="rId33"/>
    <p:sldId id="827" r:id="rId34"/>
    <p:sldId id="828" r:id="rId35"/>
    <p:sldId id="829" r:id="rId36"/>
    <p:sldId id="830" r:id="rId37"/>
    <p:sldId id="831" r:id="rId38"/>
    <p:sldId id="832" r:id="rId39"/>
    <p:sldId id="833" r:id="rId40"/>
    <p:sldId id="1142" r:id="rId41"/>
    <p:sldId id="1143" r:id="rId42"/>
    <p:sldId id="1144" r:id="rId43"/>
    <p:sldId id="1145" r:id="rId44"/>
    <p:sldId id="1146" r:id="rId45"/>
    <p:sldId id="1147" r:id="rId46"/>
    <p:sldId id="1148" r:id="rId47"/>
    <p:sldId id="1149" r:id="rId48"/>
    <p:sldId id="1150" r:id="rId49"/>
    <p:sldId id="1151" r:id="rId50"/>
    <p:sldId id="1152" r:id="rId51"/>
    <p:sldId id="1153" r:id="rId52"/>
    <p:sldId id="1154" r:id="rId53"/>
    <p:sldId id="1155" r:id="rId54"/>
    <p:sldId id="1156" r:id="rId55"/>
    <p:sldId id="1157" r:id="rId56"/>
    <p:sldId id="1158" r:id="rId57"/>
    <p:sldId id="1159" r:id="rId58"/>
    <p:sldId id="1160" r:id="rId59"/>
    <p:sldId id="1161" r:id="rId60"/>
    <p:sldId id="960" r:id="rId61"/>
    <p:sldId id="1273" r:id="rId62"/>
    <p:sldId id="876" r:id="rId63"/>
    <p:sldId id="914" r:id="rId64"/>
    <p:sldId id="915" r:id="rId65"/>
    <p:sldId id="916" r:id="rId66"/>
    <p:sldId id="917" r:id="rId67"/>
    <p:sldId id="918" r:id="rId68"/>
    <p:sldId id="919" r:id="rId69"/>
    <p:sldId id="923" r:id="rId70"/>
    <p:sldId id="926" r:id="rId71"/>
    <p:sldId id="927" r:id="rId72"/>
    <p:sldId id="898" r:id="rId73"/>
    <p:sldId id="913" r:id="rId74"/>
    <p:sldId id="875" r:id="rId75"/>
    <p:sldId id="687" r:id="rId76"/>
    <p:sldId id="762" r:id="rId77"/>
    <p:sldId id="763" r:id="rId78"/>
    <p:sldId id="1272" r:id="rId79"/>
    <p:sldId id="764" r:id="rId80"/>
    <p:sldId id="1306" r:id="rId81"/>
    <p:sldId id="767" r:id="rId82"/>
    <p:sldId id="1278" r:id="rId83"/>
    <p:sldId id="1304" r:id="rId84"/>
    <p:sldId id="1305" r:id="rId85"/>
    <p:sldId id="1072" r:id="rId86"/>
    <p:sldId id="1076" r:id="rId87"/>
    <p:sldId id="1077" r:id="rId88"/>
    <p:sldId id="1162" r:id="rId89"/>
    <p:sldId id="1163" r:id="rId90"/>
    <p:sldId id="1168" r:id="rId91"/>
    <p:sldId id="1169" r:id="rId92"/>
    <p:sldId id="1170" r:id="rId93"/>
    <p:sldId id="1172" r:id="rId94"/>
    <p:sldId id="1174" r:id="rId95"/>
    <p:sldId id="1175" r:id="rId96"/>
  </p:sldIdLst>
  <p:sldSz cx="9144000" cy="6858000" type="screen4x3"/>
  <p:notesSz cx="9601200" cy="7315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MS PGothic" charset="0"/>
        <a:cs typeface="MS PGothic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MS PGothic" charset="0"/>
        <a:cs typeface="MS PGothic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MS PGothic" charset="0"/>
        <a:cs typeface="MS PGothic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MS PGothic" charset="0"/>
        <a:cs typeface="MS PGothic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MS PGothic" charset="0"/>
        <a:cs typeface="MS PGothic" charset="0"/>
      </a:defRPr>
    </a:lvl5pPr>
    <a:lvl6pPr marL="2286000" algn="l" defTabSz="457200" rtl="0" eaLnBrk="1" latinLnBrk="0" hangingPunct="1">
      <a:defRPr b="1" kern="1200">
        <a:solidFill>
          <a:schemeClr val="tx1"/>
        </a:solidFill>
        <a:latin typeface="Comic Sans MS" charset="0"/>
        <a:ea typeface="MS PGothic" charset="0"/>
        <a:cs typeface="MS PGothic" charset="0"/>
      </a:defRPr>
    </a:lvl6pPr>
    <a:lvl7pPr marL="2743200" algn="l" defTabSz="457200" rtl="0" eaLnBrk="1" latinLnBrk="0" hangingPunct="1">
      <a:defRPr b="1" kern="1200">
        <a:solidFill>
          <a:schemeClr val="tx1"/>
        </a:solidFill>
        <a:latin typeface="Comic Sans MS" charset="0"/>
        <a:ea typeface="MS PGothic" charset="0"/>
        <a:cs typeface="MS PGothic" charset="0"/>
      </a:defRPr>
    </a:lvl7pPr>
    <a:lvl8pPr marL="3200400" algn="l" defTabSz="457200" rtl="0" eaLnBrk="1" latinLnBrk="0" hangingPunct="1">
      <a:defRPr b="1" kern="1200">
        <a:solidFill>
          <a:schemeClr val="tx1"/>
        </a:solidFill>
        <a:latin typeface="Comic Sans MS" charset="0"/>
        <a:ea typeface="MS PGothic" charset="0"/>
        <a:cs typeface="MS PGothic" charset="0"/>
      </a:defRPr>
    </a:lvl8pPr>
    <a:lvl9pPr marL="3657600" algn="l" defTabSz="457200" rtl="0" eaLnBrk="1" latinLnBrk="0" hangingPunct="1">
      <a:defRPr b="1" kern="1200">
        <a:solidFill>
          <a:schemeClr val="tx1"/>
        </a:solidFill>
        <a:latin typeface="Comic Sans MS" charset="0"/>
        <a:ea typeface="MS PGothic" charset="0"/>
        <a:cs typeface="MS PGothic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40E2"/>
    <a:srgbClr val="AAF8AA"/>
    <a:srgbClr val="C4A3FF"/>
    <a:srgbClr val="A3FDFF"/>
    <a:srgbClr val="B2E9FC"/>
    <a:srgbClr val="FFFFAA"/>
    <a:srgbClr val="233AE1"/>
    <a:srgbClr val="1C31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 autoAdjust="0"/>
    <p:restoredTop sz="82123" autoAdjust="0"/>
  </p:normalViewPr>
  <p:slideViewPr>
    <p:cSldViewPr>
      <p:cViewPr varScale="1">
        <p:scale>
          <a:sx n="103" d="100"/>
          <a:sy n="103" d="100"/>
        </p:scale>
        <p:origin x="254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handoutMaster" Target="handoutMasters/handout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ChangeArrowheads="1"/>
          </p:cNvSpPr>
          <p:nvPr/>
        </p:nvSpPr>
        <p:spPr bwMode="auto">
          <a:xfrm>
            <a:off x="4405313" y="6956425"/>
            <a:ext cx="792162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315" tIns="46997" rIns="92315" bIns="46997">
            <a:spAutoFit/>
          </a:bodyPr>
          <a:lstStyle/>
          <a:p>
            <a:pPr algn="ctr" defTabSz="917575">
              <a:lnSpc>
                <a:spcPct val="90000"/>
              </a:lnSpc>
            </a:pPr>
            <a:r>
              <a:rPr lang="en-US" sz="1300" b="0"/>
              <a:t>Page </a:t>
            </a:r>
            <a:fld id="{77B260D2-F006-2F4E-ACD9-A7922296BC75}" type="slidenum">
              <a:rPr lang="en-US" sz="1300" b="0"/>
              <a:pPr algn="ctr" defTabSz="917575">
                <a:lnSpc>
                  <a:spcPct val="90000"/>
                </a:lnSpc>
              </a:pPr>
              <a:t>‹#›</a:t>
            </a:fld>
            <a:endParaRPr lang="en-US" sz="1300" b="0"/>
          </a:p>
        </p:txBody>
      </p:sp>
    </p:spTree>
    <p:extLst>
      <p:ext uri="{BB962C8B-B14F-4D97-AF65-F5344CB8AC3E}">
        <p14:creationId xmlns:p14="http://schemas.microsoft.com/office/powerpoint/2010/main" val="2711956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4405313" y="6956425"/>
            <a:ext cx="792162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315" tIns="46997" rIns="92315" bIns="46997">
            <a:spAutoFit/>
          </a:bodyPr>
          <a:lstStyle/>
          <a:p>
            <a:pPr algn="ctr" defTabSz="917575">
              <a:lnSpc>
                <a:spcPct val="90000"/>
              </a:lnSpc>
            </a:pPr>
            <a:r>
              <a:rPr lang="en-US" sz="1300" b="0"/>
              <a:t>Page </a:t>
            </a:r>
            <a:fld id="{42C43703-E2CF-A047-A4D5-6AB0E3803482}" type="slidenum">
              <a:rPr lang="en-US" sz="1300" b="0"/>
              <a:pPr algn="ctr" defTabSz="917575">
                <a:lnSpc>
                  <a:spcPct val="90000"/>
                </a:lnSpc>
              </a:pPr>
              <a:t>‹#›</a:t>
            </a:fld>
            <a:endParaRPr lang="en-US" sz="1300" b="0"/>
          </a:p>
        </p:txBody>
      </p:sp>
      <p:sp>
        <p:nvSpPr>
          <p:cNvPr id="76803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71800" y="547688"/>
            <a:ext cx="3659188" cy="27447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1113" y="3475038"/>
            <a:ext cx="7038975" cy="3292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672" tIns="46997" rIns="95672" bIns="469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45588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charset="0"/>
        <a:ea typeface="MS PGothic" pitchFamily="34" charset="-128"/>
        <a:cs typeface="MS PGothic" charset="0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charset="0"/>
        <a:ea typeface="MS PGothic" pitchFamily="34" charset="-128"/>
        <a:cs typeface="MS PGothic" charset="0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charset="0"/>
        <a:ea typeface="MS PGothic" pitchFamily="34" charset="-128"/>
        <a:cs typeface="MS PGothic" charset="0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charset="0"/>
        <a:ea typeface="MS PGothic" pitchFamily="34" charset="-128"/>
        <a:cs typeface="MS PGothic" charset="0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charset="0"/>
        <a:ea typeface="MS PGothic" pitchFamily="34" charset="-128"/>
        <a:cs typeface="MS PGothic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34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933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298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865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505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wake</a:t>
            </a:r>
            <a:r>
              <a:rPr lang="zh-CN" altLang="en-US" dirty="0"/>
              <a:t> </a:t>
            </a:r>
            <a:r>
              <a:rPr lang="en-US" altLang="zh-CN" dirty="0"/>
              <a:t>up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reader,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reader</a:t>
            </a:r>
            <a:r>
              <a:rPr lang="zh-CN" altLang="en-US" dirty="0"/>
              <a:t> </a:t>
            </a:r>
            <a:r>
              <a:rPr lang="en-US" altLang="zh-CN" dirty="0"/>
              <a:t>goes</a:t>
            </a:r>
            <a:r>
              <a:rPr lang="zh-CN" altLang="en-US" dirty="0"/>
              <a:t> </a:t>
            </a:r>
            <a:r>
              <a:rPr lang="en-US" altLang="zh-CN" dirty="0"/>
              <a:t>back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sleep.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842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834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394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669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025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944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1028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>
                <a:ea typeface="Gulim" charset="0"/>
                <a:cs typeface="Gulim" charset="0"/>
              </a:rPr>
              <a:t>Synchronized  is like synchronized(this) { } </a:t>
            </a:r>
            <a:endParaRPr lang="ko-KR" altLang="en-US"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221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As the </a:t>
            </a:r>
            <a:r>
              <a:rPr lang="en-US" dirty="0" err="1"/>
              <a:t>goroutines</a:t>
            </a:r>
            <a:r>
              <a:rPr lang="en-US" dirty="0"/>
              <a:t> are scheduled cooperatively, a </a:t>
            </a:r>
            <a:r>
              <a:rPr lang="en-US" dirty="0" err="1"/>
              <a:t>goroutine</a:t>
            </a:r>
            <a:r>
              <a:rPr lang="en-US" dirty="0"/>
              <a:t> that loops continuously can starve other </a:t>
            </a:r>
            <a:r>
              <a:rPr lang="en-US" dirty="0" err="1"/>
              <a:t>goroutines</a:t>
            </a:r>
            <a:r>
              <a:rPr lang="en-US" dirty="0"/>
              <a:t> on the same thread. In Go 1.2, this problem is somewhat alleviated by occasionally invoking the Go scheduler when entering a function, so a loop that includes a non-</a:t>
            </a:r>
            <a:r>
              <a:rPr lang="en-US" dirty="0" err="1"/>
              <a:t>inlined</a:t>
            </a:r>
            <a:r>
              <a:rPr lang="en-US" dirty="0"/>
              <a:t> function call can be </a:t>
            </a:r>
            <a:r>
              <a:rPr lang="en-US" dirty="0" err="1"/>
              <a:t>prempted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 simple terms, </a:t>
            </a:r>
            <a:r>
              <a:rPr lang="en-US" dirty="0" err="1"/>
              <a:t>goroutines</a:t>
            </a:r>
            <a:r>
              <a:rPr lang="en-US" dirty="0"/>
              <a:t> are a lightweight abstraction over threads. A Go programmer does not deal with threads, and similarly the OS is not aware of the existence of </a:t>
            </a:r>
            <a:r>
              <a:rPr lang="en-US" dirty="0" err="1"/>
              <a:t>goroutines</a:t>
            </a:r>
            <a:r>
              <a:rPr lang="en-US" dirty="0"/>
              <a:t>. From the OS's perspective, a Go program will behave like an event-driven C program. [5]</a:t>
            </a:r>
          </a:p>
        </p:txBody>
      </p:sp>
    </p:spTree>
    <p:extLst>
      <p:ext uri="{BB962C8B-B14F-4D97-AF65-F5344CB8AC3E}">
        <p14:creationId xmlns:p14="http://schemas.microsoft.com/office/powerpoint/2010/main" val="2007186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dirty="0">
                <a:ea typeface="Gulim" charset="0"/>
                <a:cs typeface="Gulim" charset="0"/>
              </a:rPr>
              <a:t>Lu, Shan, et al. "Learning from mistakes: a comprehensive study on real world concurrency bug characteristics." ACM </a:t>
            </a:r>
            <a:r>
              <a:rPr lang="en-US" altLang="ko-KR" dirty="0" err="1">
                <a:ea typeface="Gulim" charset="0"/>
                <a:cs typeface="Gulim" charset="0"/>
              </a:rPr>
              <a:t>Sigplan</a:t>
            </a:r>
            <a:r>
              <a:rPr lang="en-US" altLang="ko-KR" dirty="0">
                <a:ea typeface="Gulim" charset="0"/>
                <a:cs typeface="Gulim" charset="0"/>
              </a:rPr>
              <a:t> Notices. Vol. 43. No. 3. ACM, 2008.</a:t>
            </a:r>
            <a:endParaRPr lang="ko-KR" altLang="en-US" dirty="0"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9993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1756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423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9216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7740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3788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0943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0100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5518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5912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zh-CN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5922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zh-CN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1866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zh-CN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75241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zh-CN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0411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9977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7824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4272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6747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532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pic>
        <p:nvPicPr>
          <p:cNvPr id="4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1270000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566750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10917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536246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14400"/>
            <a:ext cx="38862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862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82875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31356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0994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66055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6500034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CN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358345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1597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152400"/>
            <a:ext cx="1981200" cy="5867400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52400"/>
            <a:ext cx="5791200" cy="5867400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8488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914400"/>
            <a:ext cx="3886200" cy="51054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86200" cy="51054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4484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152400"/>
            <a:ext cx="7162800" cy="533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78" tIns="44445" rIns="90478" bIns="44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14400"/>
            <a:ext cx="7924800" cy="5105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8034081" y="6397625"/>
            <a:ext cx="402147" cy="305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/>
          <a:p>
            <a:pPr algn="ctr"/>
            <a:fld id="{223A0746-0397-CE44-BE95-6B0EE6063BB3}" type="slidenum">
              <a:rPr lang="en-US" sz="1400" b="0" smtClean="0">
                <a:solidFill>
                  <a:srgbClr val="2A40E2"/>
                </a:solidFill>
                <a:latin typeface="Helvetica" charset="0"/>
              </a:rPr>
              <a:pPr algn="ctr"/>
              <a:t>‹#›</a:t>
            </a:fld>
            <a:endParaRPr lang="en-US" sz="1400" b="0" dirty="0">
              <a:solidFill>
                <a:srgbClr val="2A40E2"/>
              </a:solidFill>
              <a:latin typeface="Helvetica" charset="0"/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25" r="75185"/>
          <a:stretch>
            <a:fillRect/>
          </a:stretch>
        </p:blipFill>
        <p:spPr bwMode="auto">
          <a:xfrm>
            <a:off x="38100" y="76200"/>
            <a:ext cx="794266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"/>
          <p:cNvSpPr>
            <a:spLocks noChangeArrowheads="1"/>
          </p:cNvSpPr>
          <p:nvPr userDrawn="1"/>
        </p:nvSpPr>
        <p:spPr bwMode="auto">
          <a:xfrm>
            <a:off x="8034081" y="6397625"/>
            <a:ext cx="402147" cy="305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/>
          <a:p>
            <a:pPr algn="ctr"/>
            <a:fld id="{2C707617-9E37-0B40-9EB1-1D8AE6BD3576}" type="slidenum">
              <a:rPr lang="en-US" sz="1400" b="0" smtClean="0">
                <a:solidFill>
                  <a:srgbClr val="2A40E2"/>
                </a:solidFill>
                <a:latin typeface="Helvetica" charset="0"/>
              </a:rPr>
              <a:pPr algn="ctr"/>
              <a:t>‹#›</a:t>
            </a:fld>
            <a:endParaRPr lang="en-US" sz="1400" b="0" dirty="0">
              <a:solidFill>
                <a:srgbClr val="2A40E2"/>
              </a:solidFill>
              <a:latin typeface="Helvetica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2" r:id="rId1"/>
    <p:sldLayoutId id="2147484183" r:id="rId2"/>
    <p:sldLayoutId id="2147484184" r:id="rId3"/>
    <p:sldLayoutId id="2147484185" r:id="rId4"/>
    <p:sldLayoutId id="2147484186" r:id="rId5"/>
    <p:sldLayoutId id="2147484187" r:id="rId6"/>
    <p:sldLayoutId id="2147484188" r:id="rId7"/>
    <p:sldLayoutId id="2147484189" r:id="rId8"/>
    <p:sldLayoutId id="2147484190" r:id="rId9"/>
    <p:sldLayoutId id="2147484191" r:id="rId10"/>
    <p:sldLayoutId id="2147484192" r:id="rId11"/>
    <p:sldLayoutId id="2147484193" r:id="rId12"/>
  </p:sldLayoutIdLst>
  <p:transition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A40E2"/>
          </a:solidFill>
          <a:latin typeface="Helvetica"/>
          <a:ea typeface="ＭＳ Ｐゴシック" charset="-128"/>
          <a:cs typeface="ＭＳ Ｐゴシック" charset="-128"/>
        </a:defRPr>
      </a:lvl1pPr>
      <a:lvl2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A40E2"/>
          </a:solidFill>
          <a:latin typeface="Helvetica" charset="0"/>
          <a:ea typeface="ＭＳ Ｐゴシック" charset="-128"/>
          <a:cs typeface="ＭＳ Ｐゴシック" charset="-128"/>
        </a:defRPr>
      </a:lvl2pPr>
      <a:lvl3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A40E2"/>
          </a:solidFill>
          <a:latin typeface="Helvetica" charset="0"/>
          <a:ea typeface="ＭＳ Ｐゴシック" charset="-128"/>
          <a:cs typeface="ＭＳ Ｐゴシック" charset="-128"/>
        </a:defRPr>
      </a:lvl3pPr>
      <a:lvl4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A40E2"/>
          </a:solidFill>
          <a:latin typeface="Helvetica" charset="0"/>
          <a:ea typeface="ＭＳ Ｐゴシック" charset="-128"/>
          <a:cs typeface="ＭＳ Ｐゴシック" charset="-128"/>
        </a:defRPr>
      </a:lvl4pPr>
      <a:lvl5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A40E2"/>
          </a:solidFill>
          <a:latin typeface="Helvetica" charset="0"/>
          <a:ea typeface="ＭＳ Ｐゴシック" charset="-128"/>
          <a:cs typeface="ＭＳ Ｐゴシック" charset="-128"/>
        </a:defRPr>
      </a:lvl5pPr>
      <a:lvl6pPr marL="4572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charset="0"/>
        </a:defRPr>
      </a:lvl6pPr>
      <a:lvl7pPr marL="9144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charset="0"/>
        </a:defRPr>
      </a:lvl7pPr>
      <a:lvl8pPr marL="13716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charset="0"/>
        </a:defRPr>
      </a:lvl8pPr>
      <a:lvl9pPr marL="18288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charset="0"/>
        </a:defRPr>
      </a:lvl9pPr>
    </p:titleStyle>
    <p:bodyStyle>
      <a:lvl1pPr marL="285750" indent="-2857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Helvetica"/>
          <a:ea typeface="ＭＳ Ｐゴシック" charset="-128"/>
          <a:cs typeface="ＭＳ Ｐゴシック" charset="-128"/>
        </a:defRPr>
      </a:lvl1pPr>
      <a:lvl2pPr marL="6858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200">
          <a:solidFill>
            <a:schemeClr val="tx1"/>
          </a:solidFill>
          <a:latin typeface="Helvetica"/>
          <a:ea typeface="ＭＳ Ｐゴシック" charset="-128"/>
        </a:defRPr>
      </a:lvl2pPr>
      <a:lvl3pPr marL="11430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Helvetica"/>
          <a:ea typeface="ＭＳ Ｐゴシック" charset="-128"/>
        </a:defRPr>
      </a:lvl3pPr>
      <a:lvl4pPr marL="1543050" indent="-1714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Helvetica"/>
          <a:ea typeface="ＭＳ Ｐゴシック" charset="-128"/>
        </a:defRPr>
      </a:lvl4pPr>
      <a:lvl5pPr marL="2000250" indent="-1714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Helvetica"/>
          <a:ea typeface="ＭＳ Ｐゴシック" charset="-128"/>
        </a:defRPr>
      </a:lvl5pPr>
      <a:lvl6pPr marL="2457450" indent="-1714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  <a:ea typeface="ＭＳ Ｐゴシック" charset="-128"/>
        </a:defRPr>
      </a:lvl6pPr>
      <a:lvl7pPr marL="2914650" indent="-1714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  <a:ea typeface="ＭＳ Ｐゴシック" charset="-128"/>
        </a:defRPr>
      </a:lvl7pPr>
      <a:lvl8pPr marL="3371850" indent="-1714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  <a:ea typeface="ＭＳ Ｐゴシック" charset="-128"/>
        </a:defRPr>
      </a:lvl8pPr>
      <a:lvl9pPr marL="3829050" indent="-1714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7/docs/api/java/lang/management/ThreadMXBean.html#findDeadlockedThreads()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295400"/>
            <a:ext cx="7848600" cy="2057400"/>
          </a:xfrm>
          <a:noFill/>
        </p:spPr>
        <p:txBody>
          <a:bodyPr/>
          <a:lstStyle/>
          <a:p>
            <a:br>
              <a:rPr lang="en-US" sz="3000" dirty="0">
                <a:latin typeface="Helvetica" charset="0"/>
                <a:ea typeface="ＭＳ Ｐゴシック" charset="0"/>
                <a:cs typeface="ＭＳ Ｐゴシック" charset="0"/>
              </a:rPr>
            </a:br>
            <a:r>
              <a:rPr lang="en-US" altLang="zh-CN" sz="3000" dirty="0">
                <a:latin typeface="Helvetica" charset="0"/>
                <a:ea typeface="ＭＳ Ｐゴシック" charset="0"/>
                <a:cs typeface="ＭＳ Ｐゴシック" charset="0"/>
              </a:rPr>
              <a:t>Introduction</a:t>
            </a:r>
            <a:r>
              <a:rPr lang="zh-CN" altLang="en-US" sz="30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3000" dirty="0">
                <a:latin typeface="Helvetica" charset="0"/>
                <a:ea typeface="ＭＳ Ｐゴシック" charset="0"/>
                <a:cs typeface="ＭＳ Ｐゴシック" charset="0"/>
              </a:rPr>
              <a:t>to</a:t>
            </a:r>
            <a:r>
              <a:rPr lang="zh-CN" altLang="en-US" sz="30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3000" dirty="0">
                <a:latin typeface="Helvetica" charset="0"/>
                <a:ea typeface="ＭＳ Ｐゴシック" charset="0"/>
                <a:cs typeface="ＭＳ Ｐゴシック" charset="0"/>
              </a:rPr>
              <a:t>Computer</a:t>
            </a:r>
            <a:r>
              <a:rPr lang="en-US" sz="3000" dirty="0">
                <a:latin typeface="Helvetica" charset="0"/>
                <a:ea typeface="ＭＳ Ｐゴシック" charset="0"/>
                <a:cs typeface="ＭＳ Ｐゴシック" charset="0"/>
              </a:rPr>
              <a:t> Systems </a:t>
            </a:r>
            <a:br>
              <a:rPr lang="en-US" sz="3000" dirty="0">
                <a:latin typeface="Helvetica" charset="0"/>
                <a:ea typeface="ＭＳ Ｐゴシック" charset="0"/>
                <a:cs typeface="ＭＳ Ｐゴシック" charset="0"/>
              </a:rPr>
            </a:br>
            <a:br>
              <a:rPr lang="en-US" sz="3000" dirty="0">
                <a:latin typeface="Helvetica" charset="0"/>
                <a:ea typeface="ＭＳ Ｐゴシック" charset="0"/>
                <a:cs typeface="ＭＳ Ｐゴシック" charset="0"/>
              </a:rPr>
            </a:br>
            <a:r>
              <a:rPr lang="en-US" sz="3000" dirty="0">
                <a:latin typeface="Helvetica" charset="0"/>
                <a:ea typeface="ＭＳ Ｐゴシック" charset="0"/>
                <a:cs typeface="ＭＳ Ｐゴシック" charset="0"/>
              </a:rPr>
              <a:t>Lecture </a:t>
            </a:r>
            <a:r>
              <a:rPr lang="en-US" altLang="zh-CN" sz="3000" dirty="0">
                <a:latin typeface="Helvetica" charset="0"/>
                <a:ea typeface="ＭＳ Ｐゴシック" charset="0"/>
                <a:cs typeface="ＭＳ Ｐゴシック" charset="0"/>
              </a:rPr>
              <a:t>7</a:t>
            </a:r>
            <a:br>
              <a:rPr lang="en-US" altLang="zh-CN" sz="3000" dirty="0">
                <a:latin typeface="Helvetica" charset="0"/>
                <a:ea typeface="ＭＳ Ｐゴシック" charset="0"/>
                <a:cs typeface="ＭＳ Ｐゴシック" charset="0"/>
              </a:rPr>
            </a:br>
            <a:br>
              <a:rPr lang="en-US" sz="3000" dirty="0">
                <a:latin typeface="Helvetica" charset="0"/>
                <a:ea typeface="ＭＳ Ｐゴシック" charset="0"/>
                <a:cs typeface="ＭＳ Ｐゴシック" charset="0"/>
              </a:rPr>
            </a:br>
            <a:r>
              <a:rPr lang="en-US" altLang="zh-CN" sz="3000" dirty="0">
                <a:latin typeface="Helvetica" charset="0"/>
                <a:ea typeface="ＭＳ Ｐゴシック" charset="0"/>
                <a:cs typeface="ＭＳ Ｐゴシック" charset="0"/>
              </a:rPr>
              <a:t>Concurrency</a:t>
            </a:r>
            <a:r>
              <a:rPr lang="zh-CN" altLang="en-US" sz="30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3000" dirty="0">
                <a:latin typeface="Helvetica" charset="0"/>
                <a:ea typeface="ＭＳ Ｐゴシック" charset="0"/>
                <a:cs typeface="ＭＳ Ｐゴシック" charset="0"/>
              </a:rPr>
              <a:t>and</a:t>
            </a:r>
            <a:r>
              <a:rPr lang="zh-CN" altLang="en-US" sz="30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3000" dirty="0">
                <a:latin typeface="Helvetica" charset="0"/>
                <a:ea typeface="ＭＳ Ｐゴシック" charset="0"/>
                <a:cs typeface="ＭＳ Ｐゴシック" charset="0"/>
              </a:rPr>
              <a:t>Synchronization</a:t>
            </a:r>
            <a:r>
              <a:rPr lang="zh-CN" altLang="en-US" sz="30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3000" dirty="0">
                <a:latin typeface="Helvetica" charset="0"/>
                <a:ea typeface="ＭＳ Ｐゴシック" charset="0"/>
                <a:cs typeface="ＭＳ Ｐゴシック" charset="0"/>
              </a:rPr>
              <a:t>(2)</a:t>
            </a:r>
            <a:endParaRPr lang="en-US" sz="3000" dirty="0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09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4419600"/>
            <a:ext cx="8001000" cy="1219200"/>
          </a:xfrm>
          <a:noFill/>
        </p:spPr>
        <p:txBody>
          <a:bodyPr/>
          <a:lstStyle/>
          <a:p>
            <a:pPr marL="285750" indent="-285750"/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Wei</a:t>
            </a:r>
            <a:r>
              <a:rPr lang="zh-CN" altLang="en-US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Helvetica" charset="0"/>
                <a:ea typeface="ＭＳ Ｐゴシック" charset="0"/>
                <a:cs typeface="ＭＳ Ｐゴシック" charset="0"/>
              </a:rPr>
              <a:t>Xu</a:t>
            </a:r>
          </a:p>
          <a:p>
            <a:pPr marL="285750" indent="-285750"/>
            <a:endParaRPr lang="en-US" altLang="zh-CN" dirty="0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81000" y="5791200"/>
            <a:ext cx="8382000" cy="738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>
            <a:spAutoFit/>
          </a:bodyPr>
          <a:lstStyle>
            <a:lvl1pPr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400" b="0" dirty="0">
                <a:latin typeface="Helvetica" charset="0"/>
                <a:cs typeface="Helvetica" charset="0"/>
              </a:rPr>
              <a:t>Note: Some slides and/or pictures in the following are adapted from slides ©2005 </a:t>
            </a:r>
            <a:r>
              <a:rPr lang="en-US" sz="1400" b="0" dirty="0" err="1">
                <a:latin typeface="Helvetica" charset="0"/>
                <a:cs typeface="Helvetica" charset="0"/>
              </a:rPr>
              <a:t>Silberschatz</a:t>
            </a:r>
            <a:r>
              <a:rPr lang="en-US" sz="1400" b="0" dirty="0">
                <a:latin typeface="Helvetica" charset="0"/>
                <a:cs typeface="Helvetica" charset="0"/>
              </a:rPr>
              <a:t>, Galvin, and Gagne. Slides courtesy of Anthony D. Joseph, John </a:t>
            </a:r>
            <a:r>
              <a:rPr lang="en-US" sz="1400" b="0" dirty="0" err="1">
                <a:latin typeface="Helvetica" charset="0"/>
                <a:cs typeface="Helvetica" charset="0"/>
              </a:rPr>
              <a:t>Kubiatowicz</a:t>
            </a:r>
            <a:r>
              <a:rPr lang="en-US" sz="1400" b="0" dirty="0">
                <a:latin typeface="Helvetica" charset="0"/>
                <a:cs typeface="Helvetica" charset="0"/>
              </a:rPr>
              <a:t>, AJ Shankar, George </a:t>
            </a:r>
            <a:r>
              <a:rPr lang="en-US" sz="1400" b="0" dirty="0" err="1">
                <a:latin typeface="Helvetica" charset="0"/>
                <a:cs typeface="Helvetica" charset="0"/>
              </a:rPr>
              <a:t>Necula</a:t>
            </a:r>
            <a:r>
              <a:rPr lang="en-US" sz="1400" b="0" dirty="0">
                <a:latin typeface="Helvetica" charset="0"/>
                <a:cs typeface="Helvetica" charset="0"/>
              </a:rPr>
              <a:t>, Alex Aiken, Eric Brewer, </a:t>
            </a:r>
            <a:r>
              <a:rPr lang="en-US" sz="1400" b="0" dirty="0" err="1">
                <a:latin typeface="Helvetica" charset="0"/>
                <a:cs typeface="Helvetica" charset="0"/>
              </a:rPr>
              <a:t>Ras</a:t>
            </a:r>
            <a:r>
              <a:rPr lang="en-US" sz="1400" b="0" dirty="0">
                <a:latin typeface="Helvetica" charset="0"/>
                <a:cs typeface="Helvetica" charset="0"/>
              </a:rPr>
              <a:t> </a:t>
            </a:r>
            <a:r>
              <a:rPr lang="en-US" sz="1400" b="0" dirty="0" err="1">
                <a:latin typeface="Helvetica" charset="0"/>
                <a:cs typeface="Helvetica" charset="0"/>
              </a:rPr>
              <a:t>Bodik</a:t>
            </a:r>
            <a:r>
              <a:rPr lang="en-US" sz="1400" b="0" dirty="0">
                <a:latin typeface="Helvetica" charset="0"/>
                <a:cs typeface="Helvetica" charset="0"/>
              </a:rPr>
              <a:t>, Ion </a:t>
            </a:r>
            <a:r>
              <a:rPr lang="en-US" sz="1400" b="0" dirty="0" err="1">
                <a:latin typeface="Helvetica" charset="0"/>
                <a:cs typeface="Helvetica" charset="0"/>
              </a:rPr>
              <a:t>Stoica</a:t>
            </a:r>
            <a:r>
              <a:rPr lang="en-US" sz="1400" b="0" dirty="0">
                <a:latin typeface="Helvetica" charset="0"/>
                <a:cs typeface="Helvetica" charset="0"/>
              </a:rPr>
              <a:t>, Doug </a:t>
            </a:r>
            <a:r>
              <a:rPr lang="en-US" sz="1400" b="0" dirty="0" err="1">
                <a:latin typeface="Helvetica" charset="0"/>
                <a:cs typeface="Helvetica" charset="0"/>
              </a:rPr>
              <a:t>Tygar</a:t>
            </a:r>
            <a:r>
              <a:rPr lang="en-US" sz="1400" b="0" dirty="0">
                <a:latin typeface="Helvetica" charset="0"/>
                <a:cs typeface="Helvetica" charset="0"/>
              </a:rPr>
              <a:t>, and David Wagner.</a:t>
            </a:r>
          </a:p>
        </p:txBody>
      </p:sp>
    </p:spTree>
    <p:extLst>
      <p:ext uri="{BB962C8B-B14F-4D97-AF65-F5344CB8AC3E}">
        <p14:creationId xmlns:p14="http://schemas.microsoft.com/office/powerpoint/2010/main" val="321126405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1CCB6-45DB-619B-CDDB-C906B5191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Agenda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today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4E3328-B3E2-661C-E77A-5EC39332E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using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monitor:</a:t>
            </a:r>
          </a:p>
          <a:p>
            <a:pPr lvl="1"/>
            <a:r>
              <a:rPr kumimoji="1" lang="en-US" altLang="zh-CN" dirty="0"/>
              <a:t>Reader-Writer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problem</a:t>
            </a:r>
          </a:p>
          <a:p>
            <a:r>
              <a:rPr kumimoji="1" lang="en-US" altLang="zh-CN" dirty="0"/>
              <a:t>Programming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language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support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synchronization</a:t>
            </a:r>
          </a:p>
          <a:p>
            <a:r>
              <a:rPr kumimoji="1" lang="en-US" altLang="zh-CN" dirty="0"/>
              <a:t>Resource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contention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deadlocks</a:t>
            </a:r>
          </a:p>
          <a:p>
            <a:r>
              <a:rPr kumimoji="1" lang="en-US" altLang="zh-CN" dirty="0"/>
              <a:t>(will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exam)</a:t>
            </a:r>
            <a:r>
              <a:rPr kumimoji="1" lang="zh-CN" altLang="en-US" dirty="0"/>
              <a:t> </a:t>
            </a:r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implement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locks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993186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54CB78-9B0A-6B4F-A7C8-6501165C1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Recap: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Basic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Concepts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A24E07-DA55-464E-8CD3-738293B5D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hlink"/>
                </a:solidFill>
                <a:latin typeface="Helvetica" charset="0"/>
                <a:ea typeface="굴림" charset="-127"/>
              </a:rPr>
              <a:t>Atomic Operation</a:t>
            </a:r>
            <a:r>
              <a:rPr lang="en-US" altLang="ko-KR" dirty="0">
                <a:latin typeface="Helvetica" charset="0"/>
                <a:ea typeface="굴림" charset="-127"/>
              </a:rPr>
              <a:t>: an operation that always runs to completion or not at all</a:t>
            </a:r>
          </a:p>
          <a:p>
            <a:pPr>
              <a:lnSpc>
                <a:spcPct val="80000"/>
              </a:lnSpc>
            </a:pP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굴림" charset="-127"/>
              </a:rPr>
              <a:t>Critical Section</a:t>
            </a:r>
            <a:r>
              <a:rPr lang="en-US" altLang="ko-KR" dirty="0">
                <a:latin typeface="Helvetica" charset="0"/>
                <a:ea typeface="굴림" charset="-127"/>
              </a:rPr>
              <a:t>: piece of code that only one thread can execute at once</a:t>
            </a:r>
            <a:endParaRPr lang="en-US" altLang="ko-KR" dirty="0">
              <a:solidFill>
                <a:schemeClr val="hlink"/>
              </a:solidFill>
              <a:latin typeface="Helvetica" charset="0"/>
              <a:ea typeface="굴림" charset="-127"/>
            </a:endParaRPr>
          </a:p>
          <a:p>
            <a:pPr>
              <a:lnSpc>
                <a:spcPct val="80000"/>
              </a:lnSpc>
            </a:pP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굴림" charset="-127"/>
              </a:rPr>
              <a:t>Mutual Exclusion</a:t>
            </a:r>
            <a:r>
              <a:rPr lang="en-US" altLang="ko-KR" dirty="0">
                <a:latin typeface="Helvetica" charset="0"/>
                <a:ea typeface="굴림" charset="-127"/>
              </a:rPr>
              <a:t>: ensuring that only one thread executes critical section</a:t>
            </a:r>
          </a:p>
          <a:p>
            <a:pPr>
              <a:lnSpc>
                <a:spcPct val="80000"/>
              </a:lnSpc>
            </a:pPr>
            <a:endParaRPr lang="en-US" altLang="ko-KR" dirty="0">
              <a:latin typeface="Helvetica" charset="0"/>
              <a:ea typeface="굴림" charset="-127"/>
            </a:endParaRP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Helvetica" charset="0"/>
                <a:ea typeface="굴림" charset="-127"/>
              </a:rPr>
              <a:t>Locks</a:t>
            </a:r>
            <a:r>
              <a:rPr lang="zh-CN" altLang="en-US" dirty="0">
                <a:latin typeface="Helvetica" charset="0"/>
                <a:ea typeface="굴림" charset="-127"/>
              </a:rPr>
              <a:t> </a:t>
            </a:r>
            <a:r>
              <a:rPr lang="en-US" altLang="zh-CN" dirty="0">
                <a:latin typeface="Helvetica" charset="0"/>
                <a:ea typeface="굴림" charset="-127"/>
              </a:rPr>
              <a:t>to</a:t>
            </a:r>
            <a:r>
              <a:rPr lang="zh-CN" altLang="en-US" dirty="0">
                <a:latin typeface="Helvetica" charset="0"/>
                <a:ea typeface="굴림" charset="-127"/>
              </a:rPr>
              <a:t> </a:t>
            </a:r>
            <a:r>
              <a:rPr lang="en-US" altLang="zh-CN" dirty="0">
                <a:latin typeface="Helvetica" charset="0"/>
                <a:ea typeface="굴림" charset="-127"/>
              </a:rPr>
              <a:t>achieve</a:t>
            </a:r>
            <a:r>
              <a:rPr lang="zh-CN" altLang="en-US" dirty="0">
                <a:latin typeface="Helvetica" charset="0"/>
                <a:ea typeface="굴림" charset="-127"/>
              </a:rPr>
              <a:t> </a:t>
            </a:r>
            <a:r>
              <a:rPr lang="en-US" altLang="zh-CN" dirty="0">
                <a:latin typeface="Helvetica" charset="0"/>
                <a:ea typeface="굴림" charset="-127"/>
              </a:rPr>
              <a:t>mutual</a:t>
            </a:r>
            <a:r>
              <a:rPr lang="zh-CN" altLang="en-US" dirty="0">
                <a:latin typeface="Helvetica" charset="0"/>
                <a:ea typeface="굴림" charset="-127"/>
              </a:rPr>
              <a:t> </a:t>
            </a:r>
            <a:r>
              <a:rPr lang="en-US" altLang="zh-CN" dirty="0">
                <a:latin typeface="Helvetica" charset="0"/>
                <a:ea typeface="굴림" charset="-127"/>
              </a:rPr>
              <a:t>exclusion</a:t>
            </a:r>
            <a:endParaRPr lang="en-US" altLang="ko-KR" dirty="0">
              <a:latin typeface="Helvetica" charset="0"/>
              <a:ea typeface="굴림" charset="-127"/>
            </a:endParaRPr>
          </a:p>
          <a:p>
            <a:pPr lvl="1">
              <a:lnSpc>
                <a:spcPct val="100000"/>
              </a:lnSpc>
              <a:spcBef>
                <a:spcPct val="25000"/>
              </a:spcBef>
            </a:pPr>
            <a:r>
              <a:rPr lang="en-US" altLang="ko-KR" dirty="0" err="1">
                <a:solidFill>
                  <a:schemeClr val="hlink"/>
                </a:solidFill>
                <a:latin typeface="Courier New" charset="0"/>
                <a:ea typeface="굴림" charset="-127"/>
              </a:rPr>
              <a:t>Lock.Acquire</a:t>
            </a:r>
            <a:r>
              <a:rPr lang="en-US" altLang="ko-KR" dirty="0">
                <a:solidFill>
                  <a:schemeClr val="hlink"/>
                </a:solidFill>
                <a:latin typeface="Courier New" charset="0"/>
                <a:ea typeface="굴림" charset="-127"/>
              </a:rPr>
              <a:t>()</a:t>
            </a:r>
            <a:r>
              <a:rPr lang="en-US" altLang="ko-KR" dirty="0">
                <a:latin typeface="Helvetica" charset="0"/>
                <a:ea typeface="굴림" charset="-127"/>
              </a:rPr>
              <a:t> – wait until lock is free, then grab</a:t>
            </a:r>
          </a:p>
          <a:p>
            <a:pPr lvl="1">
              <a:lnSpc>
                <a:spcPct val="100000"/>
              </a:lnSpc>
              <a:spcBef>
                <a:spcPct val="25000"/>
              </a:spcBef>
            </a:pPr>
            <a:r>
              <a:rPr lang="en-US" altLang="ko-KR" dirty="0" err="1">
                <a:solidFill>
                  <a:schemeClr val="hlink"/>
                </a:solidFill>
                <a:latin typeface="Courier New" charset="0"/>
                <a:ea typeface="굴림" charset="-127"/>
              </a:rPr>
              <a:t>Lock.Release</a:t>
            </a:r>
            <a:r>
              <a:rPr lang="en-US" altLang="ko-KR" dirty="0">
                <a:solidFill>
                  <a:schemeClr val="hlink"/>
                </a:solidFill>
                <a:latin typeface="Courier New" charset="0"/>
                <a:ea typeface="굴림" charset="-127"/>
              </a:rPr>
              <a:t>()</a:t>
            </a:r>
            <a:r>
              <a:rPr lang="en-US" altLang="ko-KR" dirty="0">
                <a:latin typeface="Helvetica" charset="0"/>
                <a:ea typeface="굴림" charset="-127"/>
              </a:rPr>
              <a:t> – unlock, waking up anyone waiting</a:t>
            </a:r>
          </a:p>
          <a:p>
            <a:pPr lvl="1">
              <a:lnSpc>
                <a:spcPct val="100000"/>
              </a:lnSpc>
              <a:spcBef>
                <a:spcPct val="25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These must be atomic operations – if two threads are waiting for the lock, only one succeeds to grab the lock</a:t>
            </a:r>
          </a:p>
          <a:p>
            <a:pPr>
              <a:lnSpc>
                <a:spcPct val="80000"/>
              </a:lnSpc>
            </a:pPr>
            <a:endParaRPr lang="en-US" altLang="ko-KR" dirty="0">
              <a:latin typeface="Helvetica" charset="0"/>
              <a:ea typeface="굴림" charset="-127"/>
            </a:endParaRP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134113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613D3-21AD-834C-BAC1-B4D14CD92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Recap: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Semaphores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80DEC7-8926-3644-9106-95ED5EAF9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25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Definition: a Semaphore has a non-negative integer value and supports the following two operations:</a:t>
            </a:r>
          </a:p>
          <a:p>
            <a:pPr lvl="1">
              <a:spcBef>
                <a:spcPct val="25000"/>
              </a:spcBef>
            </a:pP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P():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an atomic operation that waits for semaphore to become positive, then decrements it by 1 </a:t>
            </a:r>
          </a:p>
          <a:p>
            <a:pPr lvl="1">
              <a:spcBef>
                <a:spcPct val="25000"/>
              </a:spcBef>
            </a:pPr>
            <a:endParaRPr lang="en-US" altLang="ko-KR" dirty="0">
              <a:solidFill>
                <a:schemeClr val="hlink"/>
              </a:solidFill>
              <a:latin typeface="Helvetica" charset="0"/>
              <a:ea typeface="Gulim" charset="0"/>
              <a:cs typeface="Gulim" charset="0"/>
            </a:endParaRPr>
          </a:p>
          <a:p>
            <a:pPr lvl="1">
              <a:spcBef>
                <a:spcPct val="25000"/>
              </a:spcBef>
            </a:pP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V():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an atomic operation that increments the semaphore by 1, waking up a waiting P, if any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485408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7A77B-1E59-4C41-AB07-596900E7B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Recap: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semaphores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D1A992-13AC-FB47-AB35-F05CF8E29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Mutual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exclusion</a:t>
            </a:r>
          </a:p>
          <a:p>
            <a:r>
              <a:rPr kumimoji="1" lang="en-US" altLang="zh-CN" dirty="0"/>
              <a:t>Scheduling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constraints</a:t>
            </a:r>
            <a:endParaRPr kumimoji="1"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B394E3-74BD-0B43-B2E2-77741359C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" y="1905000"/>
            <a:ext cx="7988300" cy="5105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Helvetica"/>
                <a:ea typeface="ＭＳ Ｐゴシック" charset="-128"/>
                <a:cs typeface="ＭＳ Ｐゴシック" charset="-128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Helvetica"/>
                <a:ea typeface="ＭＳ Ｐゴシック" charset="-128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Helvetica"/>
                <a:ea typeface="ＭＳ Ｐゴシック" charset="-128"/>
              </a:defRPr>
            </a:lvl3pPr>
            <a:lvl4pPr marL="1543050" indent="-1714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Helvetica"/>
                <a:ea typeface="ＭＳ Ｐゴシック" charset="-128"/>
              </a:defRPr>
            </a:lvl4pPr>
            <a:lvl5pPr marL="2000250" indent="-1714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Helvetica"/>
                <a:ea typeface="ＭＳ Ｐゴシック" charset="-128"/>
              </a:defRPr>
            </a:lvl5pPr>
            <a:lvl6pPr marL="2457450" indent="-1714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14650" indent="-1714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371850" indent="-1714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29050" indent="-1714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lnSpc>
                <a:spcPct val="80000"/>
              </a:lnSpc>
              <a:buFontTx/>
              <a:buNone/>
              <a:tabLst>
                <a:tab pos="801688" algn="l"/>
                <a:tab pos="1139825" algn="l"/>
                <a:tab pos="1541463" algn="l"/>
                <a:tab pos="4284663" algn="l"/>
              </a:tabLst>
            </a:pP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  Semaphore fullSlots = 0; 	// Initially, no coke</a:t>
            </a:r>
          </a:p>
          <a:p>
            <a:pPr>
              <a:lnSpc>
                <a:spcPct val="80000"/>
              </a:lnSpc>
              <a:buFontTx/>
              <a:buNone/>
              <a:tabLst>
                <a:tab pos="801688" algn="l"/>
                <a:tab pos="1139825" algn="l"/>
                <a:tab pos="1541463" algn="l"/>
                <a:tab pos="4284663" algn="l"/>
              </a:tabLst>
            </a:pP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	Semaphore emptySlots = bufSize;</a:t>
            </a:r>
            <a:b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				// Initially, num empty slots</a:t>
            </a:r>
          </a:p>
          <a:p>
            <a:pPr>
              <a:lnSpc>
                <a:spcPct val="80000"/>
              </a:lnSpc>
              <a:buFontTx/>
              <a:buNone/>
              <a:tabLst>
                <a:tab pos="801688" algn="l"/>
                <a:tab pos="1139825" algn="l"/>
                <a:tab pos="1541463" algn="l"/>
                <a:tab pos="4284663" algn="l"/>
              </a:tabLst>
            </a:pP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	Semaphore mutex = 1;	// No one using machine</a:t>
            </a:r>
          </a:p>
          <a:p>
            <a:pPr>
              <a:lnSpc>
                <a:spcPct val="80000"/>
              </a:lnSpc>
              <a:buFontTx/>
              <a:buNone/>
              <a:tabLst>
                <a:tab pos="801688" algn="l"/>
                <a:tab pos="1139825" algn="l"/>
                <a:tab pos="1541463" algn="l"/>
                <a:tab pos="4284663" algn="l"/>
              </a:tabLst>
            </a:pPr>
            <a:b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Producer(item) {</a:t>
            </a:r>
            <a:b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	emptySlots.P();	// Wait until space</a:t>
            </a:r>
            <a:b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	mutex.P();	// Wait until machine free</a:t>
            </a:r>
            <a:b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	</a:t>
            </a:r>
            <a:r>
              <a:rPr lang="en-US" altLang="ko-KR" sz="1600" b="0" kern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Enqueue(item);</a:t>
            </a:r>
            <a:b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	mutex.V();</a:t>
            </a:r>
            <a:b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	fullSlots.V();	// Tell consumers there is</a:t>
            </a:r>
            <a:b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				// more coke</a:t>
            </a:r>
            <a:b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  <a:tabLst>
                <a:tab pos="801688" algn="l"/>
                <a:tab pos="1139825" algn="l"/>
                <a:tab pos="1541463" algn="l"/>
                <a:tab pos="4284663" algn="l"/>
              </a:tabLst>
            </a:pP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	Consumer() {</a:t>
            </a:r>
            <a:b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	fullSlots.P();	// Check if there’s a coke</a:t>
            </a:r>
            <a:b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	mutex.P();	// Wait until machine free</a:t>
            </a:r>
            <a:b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	</a:t>
            </a:r>
            <a:r>
              <a:rPr lang="en-US" altLang="ko-KR" sz="1600" b="0" kern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item = Dequeue();</a:t>
            </a:r>
            <a:b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	mutex.V();</a:t>
            </a:r>
            <a:b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	emptySlots.V();	// tell producer need more</a:t>
            </a:r>
            <a:b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	return item;</a:t>
            </a:r>
            <a:b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  <a:t>}</a:t>
            </a:r>
            <a:br>
              <a:rPr lang="en-US" altLang="ko-KR" sz="1600" b="0" kern="0">
                <a:latin typeface="Courier New" charset="0"/>
                <a:ea typeface="Gulim" charset="0"/>
                <a:cs typeface="Gulim" charset="0"/>
              </a:rPr>
            </a:br>
            <a:endParaRPr lang="en-US" altLang="ko-KR" sz="1600" b="0" kern="0" dirty="0">
              <a:latin typeface="Courier New" charset="0"/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2079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A1576F-A3DC-7047-82CD-9DBC1AEA3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Recap:</a:t>
            </a:r>
            <a:r>
              <a:rPr kumimoji="1" lang="zh-CN" altLang="en-US" dirty="0"/>
              <a:t> </a:t>
            </a:r>
            <a:r>
              <a:rPr kumimoji="1" lang="en-US" altLang="zh-CN" dirty="0"/>
              <a:t>monitors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62E2EE-E766-1C47-877E-2C0254169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Lock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: the lock provides mutual exclusion to shared data</a:t>
            </a:r>
          </a:p>
          <a:p>
            <a:pPr>
              <a:lnSpc>
                <a:spcPct val="85000"/>
              </a:lnSpc>
              <a:spcBef>
                <a:spcPct val="20000"/>
              </a:spcBef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Condition Variable</a:t>
            </a:r>
            <a:r>
              <a:rPr lang="en-US" altLang="zh-CN" dirty="0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s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: a queue of threads waiting for something </a:t>
            </a:r>
            <a:r>
              <a:rPr lang="en-US" altLang="ko-KR" i="1" dirty="0">
                <a:latin typeface="Helvetica" charset="0"/>
                <a:ea typeface="Gulim" charset="0"/>
                <a:cs typeface="Gulim" charset="0"/>
              </a:rPr>
              <a:t>inside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a critical section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 altLang="ko-KR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Wait(&amp;lock)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: Atomically release lock and go to sleep. Re-acquire lock later, before returning. 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 altLang="ko-KR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Signal()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: Wake up one waiter, if any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 altLang="ko-KR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Broadcast()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: Wake up all waiters</a:t>
            </a:r>
            <a:endParaRPr kumimoji="1" lang="en-US" altLang="zh-CN" dirty="0"/>
          </a:p>
          <a:p>
            <a:pPr lvl="1"/>
            <a:r>
              <a:rPr kumimoji="1" lang="en-US" altLang="zh-CN" dirty="0">
                <a:latin typeface="Helvetica" charset="0"/>
                <a:ea typeface="Gulim" charset="0"/>
                <a:cs typeface="Gulim" charset="0"/>
              </a:rPr>
              <a:t>Allow</a:t>
            </a:r>
            <a:r>
              <a:rPr kumimoji="1"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kumimoji="1" lang="en-US" altLang="zh-CN" dirty="0">
                <a:latin typeface="Helvetica" charset="0"/>
                <a:ea typeface="Gulim" charset="0"/>
                <a:cs typeface="Gulim" charset="0"/>
              </a:rPr>
              <a:t>s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leep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ing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inside critical section by atomically releasing lock at time we go to slee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p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642481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Reader / writer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Important Application -- </a:t>
            </a:r>
          </a:p>
        </p:txBody>
      </p:sp>
    </p:spTree>
    <p:extLst>
      <p:ext uri="{BB962C8B-B14F-4D97-AF65-F5344CB8AC3E}">
        <p14:creationId xmlns:p14="http://schemas.microsoft.com/office/powerpoint/2010/main" val="417586089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Readers/Writers Problem</a:t>
            </a:r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3465513"/>
            <a:ext cx="8496300" cy="3200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Motivation: Consider a shared database</a:t>
            </a:r>
          </a:p>
          <a:p>
            <a:pPr lvl="1"/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Two classes of users:</a:t>
            </a:r>
          </a:p>
          <a:p>
            <a:pPr lvl="2"/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Readers – never modify database</a:t>
            </a:r>
          </a:p>
          <a:p>
            <a:pPr lvl="2"/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Writers – read and modify database</a:t>
            </a:r>
          </a:p>
          <a:p>
            <a:pPr lvl="1"/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Is using a single lock on the whole database sufficient?</a:t>
            </a:r>
          </a:p>
          <a:p>
            <a:pPr lvl="2"/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Like to have many readers at the same time</a:t>
            </a:r>
          </a:p>
          <a:p>
            <a:pPr lvl="2"/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Only one writer at a time</a:t>
            </a:r>
          </a:p>
        </p:txBody>
      </p:sp>
      <p:grpSp>
        <p:nvGrpSpPr>
          <p:cNvPr id="48131" name="Group 26"/>
          <p:cNvGrpSpPr>
            <a:grpSpLocks/>
          </p:cNvGrpSpPr>
          <p:nvPr/>
        </p:nvGrpSpPr>
        <p:grpSpPr bwMode="auto">
          <a:xfrm>
            <a:off x="1676400" y="609600"/>
            <a:ext cx="5867400" cy="2882900"/>
            <a:chOff x="672" y="392"/>
            <a:chExt cx="4300" cy="2031"/>
          </a:xfrm>
        </p:grpSpPr>
        <p:pic>
          <p:nvPicPr>
            <p:cNvPr id="48132" name="Picture 4" descr="BD18201_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6" y="472"/>
              <a:ext cx="966" cy="1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8133" name="Picture 7" descr="j029202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480"/>
              <a:ext cx="864" cy="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8134" name="Picture 8" descr="j019538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5" y="392"/>
              <a:ext cx="987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8135" name="Picture 10" descr="MCj03967340000[1]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" y="1392"/>
              <a:ext cx="911" cy="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8136" name="Picture 12" descr="MCj03967320000[1]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8" y="1560"/>
              <a:ext cx="863" cy="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7" name="Freeform 14"/>
            <p:cNvSpPr>
              <a:spLocks/>
            </p:cNvSpPr>
            <p:nvPr/>
          </p:nvSpPr>
          <p:spPr bwMode="auto">
            <a:xfrm>
              <a:off x="1536" y="704"/>
              <a:ext cx="864" cy="208"/>
            </a:xfrm>
            <a:custGeom>
              <a:avLst/>
              <a:gdLst>
                <a:gd name="T0" fmla="*/ 0 w 864"/>
                <a:gd name="T1" fmla="*/ 112 h 208"/>
                <a:gd name="T2" fmla="*/ 384 w 864"/>
                <a:gd name="T3" fmla="*/ 16 h 208"/>
                <a:gd name="T4" fmla="*/ 864 w 864"/>
                <a:gd name="T5" fmla="*/ 208 h 208"/>
                <a:gd name="T6" fmla="*/ 0 60000 65536"/>
                <a:gd name="T7" fmla="*/ 0 60000 65536"/>
                <a:gd name="T8" fmla="*/ 0 60000 65536"/>
                <a:gd name="T9" fmla="*/ 0 w 864"/>
                <a:gd name="T10" fmla="*/ 0 h 208"/>
                <a:gd name="T11" fmla="*/ 864 w 864"/>
                <a:gd name="T12" fmla="*/ 208 h 2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208">
                  <a:moveTo>
                    <a:pt x="0" y="112"/>
                  </a:moveTo>
                  <a:cubicBezTo>
                    <a:pt x="120" y="56"/>
                    <a:pt x="240" y="0"/>
                    <a:pt x="384" y="16"/>
                  </a:cubicBezTo>
                  <a:cubicBezTo>
                    <a:pt x="528" y="32"/>
                    <a:pt x="696" y="120"/>
                    <a:pt x="864" y="20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48138" name="Freeform 15"/>
            <p:cNvSpPr>
              <a:spLocks/>
            </p:cNvSpPr>
            <p:nvPr/>
          </p:nvSpPr>
          <p:spPr bwMode="auto">
            <a:xfrm rot="10800000">
              <a:off x="1488" y="960"/>
              <a:ext cx="864" cy="208"/>
            </a:xfrm>
            <a:custGeom>
              <a:avLst/>
              <a:gdLst>
                <a:gd name="T0" fmla="*/ 0 w 864"/>
                <a:gd name="T1" fmla="*/ 112 h 208"/>
                <a:gd name="T2" fmla="*/ 384 w 864"/>
                <a:gd name="T3" fmla="*/ 16 h 208"/>
                <a:gd name="T4" fmla="*/ 864 w 864"/>
                <a:gd name="T5" fmla="*/ 208 h 208"/>
                <a:gd name="T6" fmla="*/ 0 60000 65536"/>
                <a:gd name="T7" fmla="*/ 0 60000 65536"/>
                <a:gd name="T8" fmla="*/ 0 60000 65536"/>
                <a:gd name="T9" fmla="*/ 0 w 864"/>
                <a:gd name="T10" fmla="*/ 0 h 208"/>
                <a:gd name="T11" fmla="*/ 864 w 864"/>
                <a:gd name="T12" fmla="*/ 208 h 2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208">
                  <a:moveTo>
                    <a:pt x="0" y="112"/>
                  </a:moveTo>
                  <a:cubicBezTo>
                    <a:pt x="120" y="56"/>
                    <a:pt x="240" y="0"/>
                    <a:pt x="384" y="16"/>
                  </a:cubicBezTo>
                  <a:cubicBezTo>
                    <a:pt x="528" y="32"/>
                    <a:pt x="696" y="120"/>
                    <a:pt x="864" y="20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48139" name="Freeform 16"/>
            <p:cNvSpPr>
              <a:spLocks/>
            </p:cNvSpPr>
            <p:nvPr/>
          </p:nvSpPr>
          <p:spPr bwMode="auto">
            <a:xfrm>
              <a:off x="3216" y="624"/>
              <a:ext cx="864" cy="208"/>
            </a:xfrm>
            <a:custGeom>
              <a:avLst/>
              <a:gdLst>
                <a:gd name="T0" fmla="*/ 0 w 864"/>
                <a:gd name="T1" fmla="*/ 112 h 208"/>
                <a:gd name="T2" fmla="*/ 384 w 864"/>
                <a:gd name="T3" fmla="*/ 16 h 208"/>
                <a:gd name="T4" fmla="*/ 864 w 864"/>
                <a:gd name="T5" fmla="*/ 208 h 208"/>
                <a:gd name="T6" fmla="*/ 0 60000 65536"/>
                <a:gd name="T7" fmla="*/ 0 60000 65536"/>
                <a:gd name="T8" fmla="*/ 0 60000 65536"/>
                <a:gd name="T9" fmla="*/ 0 w 864"/>
                <a:gd name="T10" fmla="*/ 0 h 208"/>
                <a:gd name="T11" fmla="*/ 864 w 864"/>
                <a:gd name="T12" fmla="*/ 208 h 2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208">
                  <a:moveTo>
                    <a:pt x="0" y="112"/>
                  </a:moveTo>
                  <a:cubicBezTo>
                    <a:pt x="120" y="56"/>
                    <a:pt x="240" y="0"/>
                    <a:pt x="384" y="16"/>
                  </a:cubicBezTo>
                  <a:cubicBezTo>
                    <a:pt x="528" y="32"/>
                    <a:pt x="696" y="120"/>
                    <a:pt x="864" y="20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48140" name="Freeform 17"/>
            <p:cNvSpPr>
              <a:spLocks/>
            </p:cNvSpPr>
            <p:nvPr/>
          </p:nvSpPr>
          <p:spPr bwMode="auto">
            <a:xfrm rot="10800000">
              <a:off x="3168" y="880"/>
              <a:ext cx="864" cy="208"/>
            </a:xfrm>
            <a:custGeom>
              <a:avLst/>
              <a:gdLst>
                <a:gd name="T0" fmla="*/ 0 w 864"/>
                <a:gd name="T1" fmla="*/ 112 h 208"/>
                <a:gd name="T2" fmla="*/ 384 w 864"/>
                <a:gd name="T3" fmla="*/ 16 h 208"/>
                <a:gd name="T4" fmla="*/ 864 w 864"/>
                <a:gd name="T5" fmla="*/ 208 h 208"/>
                <a:gd name="T6" fmla="*/ 0 60000 65536"/>
                <a:gd name="T7" fmla="*/ 0 60000 65536"/>
                <a:gd name="T8" fmla="*/ 0 60000 65536"/>
                <a:gd name="T9" fmla="*/ 0 w 864"/>
                <a:gd name="T10" fmla="*/ 0 h 208"/>
                <a:gd name="T11" fmla="*/ 864 w 864"/>
                <a:gd name="T12" fmla="*/ 208 h 2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208">
                  <a:moveTo>
                    <a:pt x="0" y="112"/>
                  </a:moveTo>
                  <a:cubicBezTo>
                    <a:pt x="120" y="56"/>
                    <a:pt x="240" y="0"/>
                    <a:pt x="384" y="16"/>
                  </a:cubicBezTo>
                  <a:cubicBezTo>
                    <a:pt x="528" y="32"/>
                    <a:pt x="696" y="120"/>
                    <a:pt x="864" y="20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48141" name="Freeform 18"/>
            <p:cNvSpPr>
              <a:spLocks/>
            </p:cNvSpPr>
            <p:nvPr/>
          </p:nvSpPr>
          <p:spPr bwMode="auto">
            <a:xfrm rot="1801102">
              <a:off x="3216" y="1440"/>
              <a:ext cx="864" cy="208"/>
            </a:xfrm>
            <a:custGeom>
              <a:avLst/>
              <a:gdLst>
                <a:gd name="T0" fmla="*/ 0 w 864"/>
                <a:gd name="T1" fmla="*/ 112 h 208"/>
                <a:gd name="T2" fmla="*/ 384 w 864"/>
                <a:gd name="T3" fmla="*/ 16 h 208"/>
                <a:gd name="T4" fmla="*/ 864 w 864"/>
                <a:gd name="T5" fmla="*/ 208 h 208"/>
                <a:gd name="T6" fmla="*/ 0 60000 65536"/>
                <a:gd name="T7" fmla="*/ 0 60000 65536"/>
                <a:gd name="T8" fmla="*/ 0 60000 65536"/>
                <a:gd name="T9" fmla="*/ 0 w 864"/>
                <a:gd name="T10" fmla="*/ 0 h 208"/>
                <a:gd name="T11" fmla="*/ 864 w 864"/>
                <a:gd name="T12" fmla="*/ 208 h 2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208">
                  <a:moveTo>
                    <a:pt x="0" y="112"/>
                  </a:moveTo>
                  <a:cubicBezTo>
                    <a:pt x="120" y="56"/>
                    <a:pt x="240" y="0"/>
                    <a:pt x="384" y="16"/>
                  </a:cubicBezTo>
                  <a:cubicBezTo>
                    <a:pt x="528" y="32"/>
                    <a:pt x="696" y="120"/>
                    <a:pt x="864" y="20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48142" name="Freeform 19"/>
            <p:cNvSpPr>
              <a:spLocks/>
            </p:cNvSpPr>
            <p:nvPr/>
          </p:nvSpPr>
          <p:spPr bwMode="auto">
            <a:xfrm rot="-8998898">
              <a:off x="3168" y="1696"/>
              <a:ext cx="864" cy="208"/>
            </a:xfrm>
            <a:custGeom>
              <a:avLst/>
              <a:gdLst>
                <a:gd name="T0" fmla="*/ 0 w 864"/>
                <a:gd name="T1" fmla="*/ 112 h 208"/>
                <a:gd name="T2" fmla="*/ 384 w 864"/>
                <a:gd name="T3" fmla="*/ 16 h 208"/>
                <a:gd name="T4" fmla="*/ 864 w 864"/>
                <a:gd name="T5" fmla="*/ 208 h 208"/>
                <a:gd name="T6" fmla="*/ 0 60000 65536"/>
                <a:gd name="T7" fmla="*/ 0 60000 65536"/>
                <a:gd name="T8" fmla="*/ 0 60000 65536"/>
                <a:gd name="T9" fmla="*/ 0 w 864"/>
                <a:gd name="T10" fmla="*/ 0 h 208"/>
                <a:gd name="T11" fmla="*/ 864 w 864"/>
                <a:gd name="T12" fmla="*/ 208 h 2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208">
                  <a:moveTo>
                    <a:pt x="0" y="112"/>
                  </a:moveTo>
                  <a:cubicBezTo>
                    <a:pt x="120" y="56"/>
                    <a:pt x="240" y="0"/>
                    <a:pt x="384" y="16"/>
                  </a:cubicBezTo>
                  <a:cubicBezTo>
                    <a:pt x="528" y="32"/>
                    <a:pt x="696" y="120"/>
                    <a:pt x="864" y="20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48143" name="Freeform 20"/>
            <p:cNvSpPr>
              <a:spLocks/>
            </p:cNvSpPr>
            <p:nvPr/>
          </p:nvSpPr>
          <p:spPr bwMode="auto">
            <a:xfrm rot="8899147">
              <a:off x="1776" y="1632"/>
              <a:ext cx="864" cy="208"/>
            </a:xfrm>
            <a:custGeom>
              <a:avLst/>
              <a:gdLst>
                <a:gd name="T0" fmla="*/ 0 w 864"/>
                <a:gd name="T1" fmla="*/ 112 h 208"/>
                <a:gd name="T2" fmla="*/ 384 w 864"/>
                <a:gd name="T3" fmla="*/ 16 h 208"/>
                <a:gd name="T4" fmla="*/ 864 w 864"/>
                <a:gd name="T5" fmla="*/ 208 h 208"/>
                <a:gd name="T6" fmla="*/ 0 60000 65536"/>
                <a:gd name="T7" fmla="*/ 0 60000 65536"/>
                <a:gd name="T8" fmla="*/ 0 60000 65536"/>
                <a:gd name="T9" fmla="*/ 0 w 864"/>
                <a:gd name="T10" fmla="*/ 0 h 208"/>
                <a:gd name="T11" fmla="*/ 864 w 864"/>
                <a:gd name="T12" fmla="*/ 208 h 2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208">
                  <a:moveTo>
                    <a:pt x="0" y="112"/>
                  </a:moveTo>
                  <a:cubicBezTo>
                    <a:pt x="120" y="56"/>
                    <a:pt x="240" y="0"/>
                    <a:pt x="384" y="16"/>
                  </a:cubicBezTo>
                  <a:cubicBezTo>
                    <a:pt x="528" y="32"/>
                    <a:pt x="696" y="120"/>
                    <a:pt x="864" y="20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48144" name="Freeform 21"/>
            <p:cNvSpPr>
              <a:spLocks/>
            </p:cNvSpPr>
            <p:nvPr/>
          </p:nvSpPr>
          <p:spPr bwMode="auto">
            <a:xfrm rot="-1900853">
              <a:off x="1680" y="1488"/>
              <a:ext cx="864" cy="208"/>
            </a:xfrm>
            <a:custGeom>
              <a:avLst/>
              <a:gdLst>
                <a:gd name="T0" fmla="*/ 0 w 864"/>
                <a:gd name="T1" fmla="*/ 112 h 208"/>
                <a:gd name="T2" fmla="*/ 384 w 864"/>
                <a:gd name="T3" fmla="*/ 16 h 208"/>
                <a:gd name="T4" fmla="*/ 864 w 864"/>
                <a:gd name="T5" fmla="*/ 208 h 208"/>
                <a:gd name="T6" fmla="*/ 0 60000 65536"/>
                <a:gd name="T7" fmla="*/ 0 60000 65536"/>
                <a:gd name="T8" fmla="*/ 0 60000 65536"/>
                <a:gd name="T9" fmla="*/ 0 w 864"/>
                <a:gd name="T10" fmla="*/ 0 h 208"/>
                <a:gd name="T11" fmla="*/ 864 w 864"/>
                <a:gd name="T12" fmla="*/ 208 h 2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208">
                  <a:moveTo>
                    <a:pt x="0" y="112"/>
                  </a:moveTo>
                  <a:cubicBezTo>
                    <a:pt x="120" y="56"/>
                    <a:pt x="240" y="0"/>
                    <a:pt x="384" y="16"/>
                  </a:cubicBezTo>
                  <a:cubicBezTo>
                    <a:pt x="528" y="32"/>
                    <a:pt x="696" y="120"/>
                    <a:pt x="864" y="20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48145" name="Text Box 22"/>
            <p:cNvSpPr txBox="1">
              <a:spLocks noChangeArrowheads="1"/>
            </p:cNvSpPr>
            <p:nvPr/>
          </p:nvSpPr>
          <p:spPr bwMode="auto">
            <a:xfrm>
              <a:off x="1871" y="1248"/>
              <a:ext cx="27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2800">
                  <a:ea typeface="굴림" charset="0"/>
                  <a:cs typeface="굴림" charset="0"/>
                </a:rPr>
                <a:t>R</a:t>
              </a:r>
            </a:p>
          </p:txBody>
        </p:sp>
        <p:sp>
          <p:nvSpPr>
            <p:cNvPr id="48146" name="Text Box 23"/>
            <p:cNvSpPr txBox="1">
              <a:spLocks noChangeArrowheads="1"/>
            </p:cNvSpPr>
            <p:nvPr/>
          </p:nvSpPr>
          <p:spPr bwMode="auto">
            <a:xfrm>
              <a:off x="3696" y="1008"/>
              <a:ext cx="274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2800">
                  <a:ea typeface="굴림" charset="0"/>
                  <a:cs typeface="굴림" charset="0"/>
                </a:rPr>
                <a:t>R</a:t>
              </a:r>
            </a:p>
          </p:txBody>
        </p:sp>
        <p:sp>
          <p:nvSpPr>
            <p:cNvPr id="48147" name="Text Box 24"/>
            <p:cNvSpPr txBox="1">
              <a:spLocks noChangeArrowheads="1"/>
            </p:cNvSpPr>
            <p:nvPr/>
          </p:nvSpPr>
          <p:spPr bwMode="auto">
            <a:xfrm>
              <a:off x="3504" y="1440"/>
              <a:ext cx="274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2800">
                  <a:ea typeface="굴림" charset="0"/>
                  <a:cs typeface="굴림" charset="0"/>
                </a:rPr>
                <a:t>R</a:t>
              </a:r>
            </a:p>
          </p:txBody>
        </p:sp>
        <p:sp>
          <p:nvSpPr>
            <p:cNvPr id="48148" name="Text Box 25"/>
            <p:cNvSpPr txBox="1">
              <a:spLocks noChangeArrowheads="1"/>
            </p:cNvSpPr>
            <p:nvPr/>
          </p:nvSpPr>
          <p:spPr bwMode="auto">
            <a:xfrm>
              <a:off x="1727" y="434"/>
              <a:ext cx="3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2800">
                  <a:ea typeface="굴림" charset="0"/>
                  <a:cs typeface="굴림" charset="0"/>
                </a:rPr>
                <a:t>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86315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3" grpId="0" build="p" bldLvl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4FDC8D-25D0-80D6-E12A-9B5A002A6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Basic Readers/Writers Solution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ED2893-B12C-0B24-EB50-400859226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Correctness Constraints:</a:t>
            </a:r>
          </a:p>
          <a:p>
            <a:pPr lvl="1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Readers can access database when no writers</a:t>
            </a:r>
          </a:p>
          <a:p>
            <a:pPr lvl="1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Writers can access database when no readers or writers</a:t>
            </a:r>
          </a:p>
          <a:p>
            <a:pPr lvl="1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Only one thread manipulates state variables at a time</a:t>
            </a:r>
            <a:endParaRPr kumimoji="1" lang="en-US" altLang="zh-CN" dirty="0"/>
          </a:p>
          <a:p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keep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readers/writers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waiting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</a:p>
          <a:p>
            <a:pPr lvl="1"/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keep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track?</a:t>
            </a:r>
            <a:r>
              <a:rPr kumimoji="1" lang="zh-CN" altLang="en-US" dirty="0"/>
              <a:t>  </a:t>
            </a:r>
            <a:r>
              <a:rPr kumimoji="1" lang="en-US" altLang="zh-CN" dirty="0"/>
              <a:t>Threads</a:t>
            </a:r>
            <a:r>
              <a:rPr kumimoji="1" lang="zh-CN" altLang="en-US" dirty="0"/>
              <a:t> </a:t>
            </a:r>
            <a:r>
              <a:rPr kumimoji="1" lang="en-US" altLang="zh-CN" dirty="0"/>
              <a:t>collaborate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maintain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counters</a:t>
            </a:r>
          </a:p>
          <a:p>
            <a:pPr lvl="1"/>
            <a:r>
              <a:rPr kumimoji="1" lang="zh-CN" altLang="en-US" dirty="0"/>
              <a:t> </a:t>
            </a:r>
            <a:endParaRPr kumimoji="1" lang="en-US" altLang="zh-CN" dirty="0"/>
          </a:p>
          <a:p>
            <a:pPr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Basic structure of a solution:</a:t>
            </a:r>
          </a:p>
          <a:p>
            <a:pPr lvl="1">
              <a:lnSpc>
                <a:spcPct val="75000"/>
              </a:lnSpc>
              <a:spcBef>
                <a:spcPct val="20000"/>
              </a:spcBef>
            </a:pPr>
            <a:r>
              <a:rPr lang="en-US" altLang="ko-KR" b="1" dirty="0">
                <a:latin typeface="Courier New" charset="0"/>
                <a:ea typeface="굴림" charset="0"/>
                <a:cs typeface="굴림" charset="0"/>
              </a:rPr>
              <a:t>Reader()</a:t>
            </a:r>
            <a:br>
              <a:rPr lang="en-US" altLang="ko-KR" b="1" dirty="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 dirty="0">
                <a:latin typeface="Courier New" charset="0"/>
                <a:ea typeface="굴림" charset="0"/>
                <a:cs typeface="굴림" charset="0"/>
              </a:rPr>
              <a:t>   Wait until no writers</a:t>
            </a:r>
            <a:br>
              <a:rPr lang="en-US" altLang="ko-KR" sz="2000" b="1" dirty="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 dirty="0">
                <a:latin typeface="Courier New" charset="0"/>
                <a:ea typeface="굴림" charset="0"/>
                <a:cs typeface="굴림" charset="0"/>
              </a:rPr>
              <a:t>   Access database</a:t>
            </a:r>
            <a:br>
              <a:rPr lang="en-US" altLang="ko-KR" sz="2000" b="1" dirty="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 dirty="0">
                <a:latin typeface="Courier New" charset="0"/>
                <a:ea typeface="굴림" charset="0"/>
                <a:cs typeface="굴림" charset="0"/>
              </a:rPr>
              <a:t>   Check out – wake up a waiting writer</a:t>
            </a:r>
          </a:p>
          <a:p>
            <a:pPr lvl="1">
              <a:lnSpc>
                <a:spcPct val="75000"/>
              </a:lnSpc>
              <a:spcBef>
                <a:spcPct val="20000"/>
              </a:spcBef>
            </a:pPr>
            <a:r>
              <a:rPr lang="en-US" altLang="ko-KR" b="1" dirty="0">
                <a:latin typeface="Courier New" charset="0"/>
                <a:ea typeface="굴림" charset="0"/>
                <a:cs typeface="굴림" charset="0"/>
              </a:rPr>
              <a:t>Writer()</a:t>
            </a:r>
            <a:br>
              <a:rPr lang="en-US" altLang="ko-KR" b="1" dirty="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 dirty="0">
                <a:latin typeface="Courier New" charset="0"/>
                <a:ea typeface="굴림" charset="0"/>
                <a:cs typeface="굴림" charset="0"/>
              </a:rPr>
              <a:t>   Wait until no active readers or writers</a:t>
            </a:r>
            <a:br>
              <a:rPr lang="en-US" altLang="ko-KR" sz="2000" b="1" dirty="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 dirty="0">
                <a:latin typeface="Courier New" charset="0"/>
                <a:ea typeface="굴림" charset="0"/>
                <a:cs typeface="굴림" charset="0"/>
              </a:rPr>
              <a:t>   Access database</a:t>
            </a:r>
            <a:br>
              <a:rPr lang="en-US" altLang="ko-KR" sz="2000" b="1" dirty="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 dirty="0">
                <a:latin typeface="Courier New" charset="0"/>
                <a:ea typeface="굴림" charset="0"/>
                <a:cs typeface="굴림" charset="0"/>
              </a:rPr>
              <a:t>   Check out – wake up waiting readers or writer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138828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Basic Readers/Writers Solution</a:t>
            </a:r>
          </a:p>
        </p:txBody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683625" cy="2743200"/>
          </a:xfrm>
        </p:spPr>
        <p:txBody>
          <a:bodyPr/>
          <a:lstStyle/>
          <a:p>
            <a:pPr lvl="1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State variables (Protected by a lock called “lock”):</a:t>
            </a:r>
          </a:p>
          <a:p>
            <a:pPr lvl="2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int AR: Number of active readers; initially = 0</a:t>
            </a:r>
          </a:p>
          <a:p>
            <a:pPr lvl="2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int WR: Number of waiting readers; initially = 0</a:t>
            </a:r>
          </a:p>
          <a:p>
            <a:pPr lvl="2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int AW: Number of active writers; initially = 0</a:t>
            </a:r>
          </a:p>
          <a:p>
            <a:pPr lvl="2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int WW: Number of waiting writers; initially = 0</a:t>
            </a:r>
          </a:p>
          <a:p>
            <a:pPr lvl="2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Condition </a:t>
            </a:r>
            <a:r>
              <a:rPr lang="en-US" altLang="ko-KR" dirty="0" err="1">
                <a:latin typeface="Helvetica" charset="0"/>
                <a:ea typeface="굴림" charset="0"/>
                <a:cs typeface="굴림" charset="0"/>
              </a:rPr>
              <a:t>okToRead</a:t>
            </a: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 = NIL</a:t>
            </a:r>
          </a:p>
          <a:p>
            <a:pPr lvl="2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Condition </a:t>
            </a:r>
            <a:r>
              <a:rPr lang="en-US" altLang="ko-KR" dirty="0" err="1">
                <a:latin typeface="Helvetica" charset="0"/>
                <a:ea typeface="굴림" charset="0"/>
                <a:cs typeface="굴림" charset="0"/>
              </a:rPr>
              <a:t>okToWrite</a:t>
            </a: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 = NIL</a:t>
            </a:r>
          </a:p>
        </p:txBody>
      </p:sp>
    </p:spTree>
    <p:extLst>
      <p:ext uri="{BB962C8B-B14F-4D97-AF65-F5344CB8AC3E}">
        <p14:creationId xmlns:p14="http://schemas.microsoft.com/office/powerpoint/2010/main" val="10443888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0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Code for a Reader</a:t>
            </a:r>
          </a:p>
        </p:txBody>
      </p:sp>
      <p:sp>
        <p:nvSpPr>
          <p:cNvPr id="483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382000" cy="5791200"/>
          </a:xfrm>
        </p:spPr>
        <p:txBody>
          <a:bodyPr/>
          <a:lstStyle/>
          <a:p>
            <a:pPr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  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// First check self into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while ((AW + WW) &gt; 0) {	</a:t>
            </a:r>
            <a:r>
              <a:rPr lang="en-US" altLang="ko-KR" sz="2000" b="1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 b="1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 b="1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 b="1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 b="1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</a:t>
            </a:r>
            <a: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// Perform actual read-only access</a:t>
            </a:r>
            <a:b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AccessDatabase(ReadOnly);</a:t>
            </a:r>
          </a:p>
          <a:p>
            <a:pPr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// Now, check out of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AR--;		</a:t>
            </a:r>
            <a:r>
              <a:rPr lang="en-US" altLang="ko-KR" sz="2000" b="1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active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r>
              <a:rPr lang="en-US" altLang="ko-KR" sz="2000" b="1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other active readers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okToWrite.signal();	</a:t>
            </a:r>
            <a:r>
              <a:rPr lang="en-US" altLang="ko-KR" sz="2000" b="1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Wake up one writer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b="1">
              <a:latin typeface="Helvetica" charset="0"/>
              <a:ea typeface="굴림" charset="0"/>
              <a:cs typeface="굴림" charset="0"/>
            </a:endParaRPr>
          </a:p>
        </p:txBody>
      </p:sp>
      <p:sp>
        <p:nvSpPr>
          <p:cNvPr id="483332" name="AutoShape 4"/>
          <p:cNvSpPr>
            <a:spLocks noChangeArrowheads="1"/>
          </p:cNvSpPr>
          <p:nvPr/>
        </p:nvSpPr>
        <p:spPr bwMode="auto">
          <a:xfrm>
            <a:off x="-2438400" y="6248400"/>
            <a:ext cx="2438400" cy="1219200"/>
          </a:xfrm>
          <a:prstGeom prst="wedgeRoundRectCallout">
            <a:avLst>
              <a:gd name="adj1" fmla="val -41602"/>
              <a:gd name="adj2" fmla="val 77472"/>
              <a:gd name="adj3" fmla="val 16667"/>
            </a:avLst>
          </a:prstGeom>
          <a:solidFill>
            <a:srgbClr val="CCFFCC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altLang="ko-KR">
                <a:ea typeface="굴림" charset="0"/>
                <a:cs typeface="굴림" charset="0"/>
              </a:rPr>
              <a:t>Why Release the Lock here?</a:t>
            </a:r>
          </a:p>
        </p:txBody>
      </p:sp>
    </p:spTree>
    <p:extLst>
      <p:ext uri="{BB962C8B-B14F-4D97-AF65-F5344CB8AC3E}">
        <p14:creationId xmlns:p14="http://schemas.microsoft.com/office/powerpoint/2010/main" val="23076241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3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3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3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3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3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3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3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3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3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3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4687 -0.83256 C 0.94687 -0.83256 0.78593 -0.7271 0.625 -0.62164 " pathEditMode="fixed" rAng="0" ptsTypes="aA">
                                      <p:cBhvr>
                                        <p:cTn id="36" dur="500" fill="hold"/>
                                        <p:tgtEl>
                                          <p:spTgt spid="4833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94" y="10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1" grpId="0" build="p"/>
      <p:bldP spid="4833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685800"/>
            <a:ext cx="8915400" cy="59436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  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Writer() {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// First check self into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>
              <a:lnSpc>
                <a:spcPct val="8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while ((AW + AR) &gt; 0) {	</a:t>
            </a:r>
            <a:r>
              <a:rPr lang="en-US" altLang="ko-KR" sz="2000" b="1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write?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WW++;	</a:t>
            </a:r>
            <a:r>
              <a:rPr lang="en-US" altLang="ko-KR" sz="2000" b="1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Active users exist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okToWrite.wait(&amp;lock);	</a:t>
            </a:r>
            <a:r>
              <a:rPr lang="en-US" altLang="ko-KR" sz="2000" b="1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WW--;	</a:t>
            </a:r>
            <a:r>
              <a:rPr lang="en-US" altLang="ko-KR" sz="2000" b="1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>
              <a:lnSpc>
                <a:spcPct val="8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AW++;		</a:t>
            </a:r>
            <a:r>
              <a:rPr lang="en-US" altLang="ko-KR" sz="2000" b="1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>
              <a:lnSpc>
                <a:spcPct val="8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</a:t>
            </a:r>
            <a: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// Perform actual read/write access</a:t>
            </a:r>
            <a:b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AccessDatabase(ReadWrite);</a:t>
            </a:r>
          </a:p>
          <a:p>
            <a:pPr>
              <a:lnSpc>
                <a:spcPct val="8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// Now, check out of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AW--;		</a:t>
            </a:r>
            <a:r>
              <a:rPr lang="en-US" altLang="ko-KR" sz="2000" b="1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active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if (WW &gt; 0){	</a:t>
            </a:r>
            <a:r>
              <a:rPr lang="en-US" altLang="ko-KR" sz="2000" b="1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Give priority to writers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okToWrite.signal();	</a:t>
            </a:r>
            <a:r>
              <a:rPr lang="en-US" altLang="ko-KR" sz="2000" b="1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Wake up one writer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 else if (WR &gt; 0) {	</a:t>
            </a:r>
            <a:r>
              <a:rPr lang="en-US" altLang="ko-KR" sz="2000" b="1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Otherwise, wake reader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okToRead.broadcast();	</a:t>
            </a:r>
            <a:r>
              <a:rPr lang="en-US" altLang="ko-KR" sz="2000" b="1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Wake all readers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>
              <a:latin typeface="Helvetica" charset="0"/>
              <a:ea typeface="굴림" charset="0"/>
              <a:cs typeface="굴림" charset="0"/>
            </a:endParaRPr>
          </a:p>
          <a:p>
            <a:pPr>
              <a:lnSpc>
                <a:spcPct val="80000"/>
              </a:lnSpc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endParaRPr lang="en-US" altLang="ko-KR">
              <a:latin typeface="Helvetica" charset="0"/>
              <a:ea typeface="굴림" charset="0"/>
              <a:cs typeface="굴림" charset="0"/>
            </a:endParaRPr>
          </a:p>
        </p:txBody>
      </p:sp>
      <p:sp>
        <p:nvSpPr>
          <p:cNvPr id="484357" name="AutoShape 5"/>
          <p:cNvSpPr>
            <a:spLocks noChangeArrowheads="1"/>
          </p:cNvSpPr>
          <p:nvPr/>
        </p:nvSpPr>
        <p:spPr bwMode="auto">
          <a:xfrm>
            <a:off x="-2438400" y="5638800"/>
            <a:ext cx="2438400" cy="1219200"/>
          </a:xfrm>
          <a:prstGeom prst="wedgeRoundRectCallout">
            <a:avLst>
              <a:gd name="adj1" fmla="val -41602"/>
              <a:gd name="adj2" fmla="val 77472"/>
              <a:gd name="adj3" fmla="val 16667"/>
            </a:avLst>
          </a:prstGeom>
          <a:solidFill>
            <a:srgbClr val="CCFFCC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altLang="ko-KR">
                <a:ea typeface="굴림" charset="0"/>
                <a:cs typeface="굴림" charset="0"/>
              </a:rPr>
              <a:t>Why Give priority to writers?</a:t>
            </a: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Code for a Writer</a:t>
            </a:r>
          </a:p>
        </p:txBody>
      </p:sp>
      <p:sp>
        <p:nvSpPr>
          <p:cNvPr id="484356" name="AutoShape 4"/>
          <p:cNvSpPr>
            <a:spLocks noChangeArrowheads="1"/>
          </p:cNvSpPr>
          <p:nvPr/>
        </p:nvSpPr>
        <p:spPr bwMode="auto">
          <a:xfrm>
            <a:off x="-2438400" y="5638800"/>
            <a:ext cx="2438400" cy="1219200"/>
          </a:xfrm>
          <a:prstGeom prst="wedgeRoundRectCallout">
            <a:avLst>
              <a:gd name="adj1" fmla="val -41602"/>
              <a:gd name="adj2" fmla="val 77472"/>
              <a:gd name="adj3" fmla="val 16667"/>
            </a:avLst>
          </a:prstGeom>
          <a:solidFill>
            <a:srgbClr val="CCFFCC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altLang="ko-KR" sz="2000">
                <a:ea typeface="굴림" charset="0"/>
                <a:cs typeface="굴림" charset="0"/>
              </a:rPr>
              <a:t>Why broadcast() here instead of signal()?</a:t>
            </a:r>
          </a:p>
        </p:txBody>
      </p:sp>
    </p:spTree>
    <p:extLst>
      <p:ext uri="{BB962C8B-B14F-4D97-AF65-F5344CB8AC3E}">
        <p14:creationId xmlns:p14="http://schemas.microsoft.com/office/powerpoint/2010/main" val="11504152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4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4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4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4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4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4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4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4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4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4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3559 -0.79903 C 0.95521 -0.63737 0.97483 -0.47549 0.93698 -0.38298 C 0.89914 -0.29047 0.80365 -0.26735 0.70834 -0.24422 " pathEditMode="fixed" ptsTypes="aaA">
                                      <p:cBhvr>
                                        <p:cTn id="36" dur="500" fill="hold"/>
                                        <p:tgtEl>
                                          <p:spTgt spid="4843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3942 -0.2544 C 0.99167 -0.30551 0.94393 -0.35639 0.88178 -0.36772 C 0.81963 -0.37905 0.74306 -0.35061 0.66667 -0.32192 " pathEditMode="fixed" ptsTypes="aaA">
                                      <p:cBhvr>
                                        <p:cTn id="40" dur="500" fill="hold"/>
                                        <p:tgtEl>
                                          <p:spTgt spid="4843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355" grpId="0" build="p"/>
      <p:bldP spid="484357" grpId="0" animBg="1"/>
      <p:bldP spid="48435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7924800" cy="3886200"/>
          </a:xfrm>
        </p:spPr>
        <p:txBody>
          <a:bodyPr/>
          <a:lstStyle/>
          <a:p>
            <a:pPr>
              <a:tabLst>
                <a:tab pos="688975" algn="l"/>
                <a:tab pos="1027113" algn="l"/>
                <a:tab pos="4346575" algn="l"/>
              </a:tabLst>
            </a:pP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Use an example to simulate the solution</a:t>
            </a:r>
          </a:p>
          <a:p>
            <a:pPr>
              <a:tabLst>
                <a:tab pos="688975" algn="l"/>
                <a:tab pos="1027113" algn="l"/>
                <a:tab pos="4346575" algn="l"/>
              </a:tabLst>
            </a:pPr>
            <a:endParaRPr lang="en-US" altLang="ko-KR">
              <a:latin typeface="Helvetica" charset="0"/>
              <a:ea typeface="굴림" charset="0"/>
              <a:cs typeface="굴림" charset="0"/>
            </a:endParaRPr>
          </a:p>
          <a:p>
            <a:pPr>
              <a:tabLst>
                <a:tab pos="688975" algn="l"/>
                <a:tab pos="1027113" algn="l"/>
                <a:tab pos="4346575" algn="l"/>
              </a:tabLst>
            </a:pP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Consider the following sequence of operators:</a:t>
            </a:r>
          </a:p>
          <a:p>
            <a:pPr lvl="1">
              <a:tabLst>
                <a:tab pos="688975" algn="l"/>
                <a:tab pos="1027113" algn="l"/>
                <a:tab pos="4346575" algn="l"/>
              </a:tabLst>
            </a:pP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R1, R2, W1, R3</a:t>
            </a:r>
          </a:p>
          <a:p>
            <a:pPr>
              <a:tabLst>
                <a:tab pos="688975" algn="l"/>
                <a:tab pos="1027113" algn="l"/>
                <a:tab pos="4346575" algn="l"/>
              </a:tabLst>
            </a:pP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  <a:p>
            <a:pPr>
              <a:tabLst>
                <a:tab pos="688975" algn="l"/>
                <a:tab pos="1027113" algn="l"/>
                <a:tab pos="4346575" algn="l"/>
              </a:tabLst>
            </a:pP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Initially: AR = 0, WR = 0, AW = 0, WW = 0</a:t>
            </a:r>
          </a:p>
          <a:p>
            <a:pPr>
              <a:tabLst>
                <a:tab pos="688975" algn="l"/>
                <a:tab pos="1027113" algn="l"/>
                <a:tab pos="4346575" algn="l"/>
              </a:tabLst>
            </a:pP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92024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7346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R1 comes along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0, WR = 0, AW = 0,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7347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 b="0">
              <a:latin typeface="Helvetica" charset="0"/>
            </a:endParaRP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914400" y="20574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616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8370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pPr>
              <a:tabLst>
                <a:tab pos="688975" algn="l"/>
                <a:tab pos="1027113" algn="l"/>
                <a:tab pos="4346575" algn="l"/>
              </a:tabLst>
            </a:pPr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R1 comes along</a:t>
            </a:r>
          </a:p>
          <a:p>
            <a:pPr>
              <a:tabLst>
                <a:tab pos="688975" algn="l"/>
                <a:tab pos="1027113" algn="l"/>
                <a:tab pos="4346575" algn="l"/>
              </a:tabLst>
            </a:pP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0, WR = 0, AW = 0, WW = 0</a:t>
            </a:r>
          </a:p>
        </p:txBody>
      </p:sp>
      <p:sp>
        <p:nvSpPr>
          <p:cNvPr id="58371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914400" y="23622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2323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9394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R1 comes along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</a:t>
            </a:r>
            <a:r>
              <a:rPr lang="en-US" altLang="ko-KR">
                <a:solidFill>
                  <a:srgbClr val="FF0000"/>
                </a:solidFill>
                <a:latin typeface="Helvetica" charset="0"/>
                <a:ea typeface="굴림" charset="0"/>
                <a:cs typeface="굴림" charset="0"/>
              </a:rPr>
              <a:t>1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, WR =</a:t>
            </a:r>
            <a:r>
              <a:rPr lang="en-US" altLang="ko-KR">
                <a:solidFill>
                  <a:srgbClr val="000000"/>
                </a:solidFill>
                <a:latin typeface="Helvetica" charset="0"/>
                <a:ea typeface="굴림" charset="0"/>
                <a:cs typeface="굴림" charset="0"/>
              </a:rPr>
              <a:t> 0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, AW = 0, WW = 0</a:t>
            </a:r>
          </a:p>
          <a:p>
            <a:pPr>
              <a:buFontTx/>
              <a:buNone/>
            </a:pP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9395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914400" y="35052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3088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0418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R1 comes along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</a:t>
            </a:r>
            <a:r>
              <a:rPr lang="en-US" altLang="ko-KR">
                <a:solidFill>
                  <a:srgbClr val="000000"/>
                </a:solidFill>
                <a:latin typeface="Helvetica" charset="0"/>
                <a:ea typeface="굴림" charset="0"/>
                <a:cs typeface="굴림" charset="0"/>
              </a:rPr>
              <a:t>1, 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WR =</a:t>
            </a:r>
            <a:r>
              <a:rPr lang="en-US" altLang="ko-KR">
                <a:solidFill>
                  <a:srgbClr val="000000"/>
                </a:solidFill>
                <a:latin typeface="Helvetica" charset="0"/>
                <a:ea typeface="굴림" charset="0"/>
                <a:cs typeface="굴림" charset="0"/>
              </a:rPr>
              <a:t> 0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, AW = 0, WW = 0</a:t>
            </a:r>
          </a:p>
          <a:p>
            <a:pPr>
              <a:buFontTx/>
              <a:buNone/>
            </a:pP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0419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914400" y="37338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2597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1442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R1 comes along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1, WR =</a:t>
            </a:r>
            <a:r>
              <a:rPr lang="en-US" altLang="ko-KR">
                <a:solidFill>
                  <a:srgbClr val="000000"/>
                </a:solidFill>
                <a:latin typeface="Helvetica" charset="0"/>
                <a:ea typeface="굴림" charset="0"/>
                <a:cs typeface="굴림" charset="0"/>
              </a:rPr>
              <a:t> 0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, AW = 0, WW = 0</a:t>
            </a:r>
          </a:p>
          <a:p>
            <a:pPr>
              <a:buFontTx/>
              <a:buNone/>
            </a:pP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1443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914400" y="42672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7372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2466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R2 comes along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1, WR = 0, AW = 0,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2467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914400" y="20574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2030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3490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R2 comes along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1, WR = 0, AW = 0,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3491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914400" y="23622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2695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4514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R2 comes along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</a:t>
            </a:r>
            <a:r>
              <a:rPr lang="en-US" altLang="ko-KR">
                <a:solidFill>
                  <a:srgbClr val="FF0000"/>
                </a:solidFill>
                <a:latin typeface="Helvetica" charset="0"/>
                <a:ea typeface="굴림" charset="0"/>
                <a:cs typeface="굴림" charset="0"/>
              </a:rPr>
              <a:t>2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, WR = 0, AW = 0,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4515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914400" y="35052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7834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5538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R2 comes along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</a:t>
            </a:r>
            <a:r>
              <a:rPr lang="en-US" altLang="ko-KR">
                <a:solidFill>
                  <a:srgbClr val="000000"/>
                </a:solidFill>
                <a:latin typeface="Helvetica" charset="0"/>
                <a:ea typeface="굴림" charset="0"/>
                <a:cs typeface="굴림" charset="0"/>
              </a:rPr>
              <a:t>= 2,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 WR = 0, AW = 0,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5539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914400" y="37338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6309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6562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R2 comes along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2, WR = 0, AW = 0,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6563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914400" y="42672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66800" y="5562600"/>
            <a:ext cx="6873875" cy="830263"/>
          </a:xfrm>
          <a:prstGeom prst="rect">
            <a:avLst/>
          </a:prstGeom>
          <a:solidFill>
            <a:srgbClr val="FFFFAA"/>
          </a:solidFill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>
            <a:spAutoFit/>
          </a:bodyPr>
          <a:lstStyle>
            <a:lvl1pPr>
              <a:tabLst>
                <a:tab pos="688975" algn="l"/>
                <a:tab pos="1027113" algn="l"/>
                <a:tab pos="4346575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688975" algn="l"/>
                <a:tab pos="1027113" algn="l"/>
                <a:tab pos="4346575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>
              <a:tabLst>
                <a:tab pos="688975" algn="l"/>
                <a:tab pos="1027113" algn="l"/>
                <a:tab pos="4346575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>
              <a:tabLst>
                <a:tab pos="688975" algn="l"/>
                <a:tab pos="1027113" algn="l"/>
                <a:tab pos="4346575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>
              <a:tabLst>
                <a:tab pos="688975" algn="l"/>
                <a:tab pos="1027113" algn="l"/>
                <a:tab pos="4346575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88975" algn="l"/>
                <a:tab pos="1027113" algn="l"/>
                <a:tab pos="4346575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688975" algn="l"/>
                <a:tab pos="1027113" algn="l"/>
                <a:tab pos="4346575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8975" algn="l"/>
                <a:tab pos="1027113" algn="l"/>
                <a:tab pos="4346575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688975" algn="l"/>
                <a:tab pos="1027113" algn="l"/>
                <a:tab pos="4346575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ko-KR" b="0" dirty="0">
                <a:latin typeface="Helvetica" charset="0"/>
                <a:ea typeface="굴림" charset="0"/>
                <a:cs typeface="굴림" charset="0"/>
              </a:rPr>
              <a:t>Assume readers take a while to access database</a:t>
            </a:r>
          </a:p>
          <a:p>
            <a:pPr lvl="1">
              <a:defRPr/>
            </a:pPr>
            <a:r>
              <a:rPr lang="en-US" altLang="ko-KR" b="0" dirty="0">
                <a:latin typeface="Helvetica" charset="0"/>
                <a:ea typeface="굴림" charset="0"/>
                <a:cs typeface="굴림" charset="0"/>
              </a:rPr>
              <a:t>Situation: Locks released, only AR is non-zero</a:t>
            </a:r>
            <a:endParaRPr lang="en-US" b="0" dirty="0">
              <a:latin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8404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7586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W1 comes along (R1 and R2 are still accessing dbase)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2, WR = 0, AW = 0,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7587" name="Rectangle 4"/>
          <p:cNvSpPr>
            <a:spLocks noChangeArrowheads="1"/>
          </p:cNvSpPr>
          <p:nvPr/>
        </p:nvSpPr>
        <p:spPr bwMode="auto">
          <a:xfrm>
            <a:off x="1143000" y="1981200"/>
            <a:ext cx="35052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67588" name="Content Placeholder 5"/>
          <p:cNvSpPr txBox="1">
            <a:spLocks/>
          </p:cNvSpPr>
          <p:nvPr/>
        </p:nvSpPr>
        <p:spPr bwMode="auto">
          <a:xfrm>
            <a:off x="457200" y="1752600"/>
            <a:ext cx="8610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Writer()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AR) &gt; 0) {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write?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WW++;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Active users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okToWrite.wait(&amp;lock);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WW--;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AW++;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AccessDbase(ReadWrite);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endParaRPr lang="en-US" altLang="ko-KR" sz="2000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   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AW--;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(WW &gt; 0){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 else if (WR &gt; 0) 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okToRead.broadcast();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74919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8610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W1 comes along (R1 and R2 are still accessing dbase)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2, WR = 0, AW = 0,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8611" name="Rectangle 4"/>
          <p:cNvSpPr>
            <a:spLocks noChangeArrowheads="1"/>
          </p:cNvSpPr>
          <p:nvPr/>
        </p:nvSpPr>
        <p:spPr bwMode="auto">
          <a:xfrm>
            <a:off x="1143000" y="2209800"/>
            <a:ext cx="35052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68612" name="Content Placeholder 5"/>
          <p:cNvSpPr txBox="1">
            <a:spLocks/>
          </p:cNvSpPr>
          <p:nvPr/>
        </p:nvSpPr>
        <p:spPr bwMode="auto">
          <a:xfrm>
            <a:off x="457200" y="1752600"/>
            <a:ext cx="8610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Writer()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AR) &gt; 0) {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write?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WW++;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Active users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okToWrite.wait(&amp;lock);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WW--;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AW++;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AccessDbase(ReadWrite);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endParaRPr lang="en-US" altLang="ko-KR" sz="2000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   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AW--;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(WW &gt; 0){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 else if (WR &gt; 0) 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okToRead.broadcast();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73615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9634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W1 comes along (R1 and R2 are still accessing dbase)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2, WR = 0, AW = 0, WW = </a:t>
            </a:r>
            <a:r>
              <a:rPr lang="en-US" altLang="ko-KR">
                <a:solidFill>
                  <a:srgbClr val="FF0000"/>
                </a:solidFill>
                <a:latin typeface="Helvetica" charset="0"/>
                <a:ea typeface="굴림" charset="0"/>
                <a:cs typeface="굴림" charset="0"/>
              </a:rPr>
              <a:t>1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9635" name="Rectangle 4"/>
          <p:cNvSpPr>
            <a:spLocks noChangeArrowheads="1"/>
          </p:cNvSpPr>
          <p:nvPr/>
        </p:nvSpPr>
        <p:spPr bwMode="auto">
          <a:xfrm>
            <a:off x="1143000" y="2438400"/>
            <a:ext cx="35052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69636" name="Content Placeholder 5"/>
          <p:cNvSpPr txBox="1">
            <a:spLocks/>
          </p:cNvSpPr>
          <p:nvPr/>
        </p:nvSpPr>
        <p:spPr bwMode="auto">
          <a:xfrm>
            <a:off x="457200" y="1752600"/>
            <a:ext cx="8610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Writer()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AR) &gt; 0) {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write?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WW++;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Active users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okToWrite.wait(&amp;lock);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WW--;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AW++;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AccessDbase(ReadWrite);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endParaRPr lang="en-US" altLang="ko-KR" sz="2000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   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AW--;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(WW &gt; 0){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 else if (WR &gt; 0) 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okToRead.broadcast();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66048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0658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W1 comes along (R1 and R2 are still accessing dbase)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2, WR = 0, AW = 0, WW = 1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0659" name="Rectangle 4"/>
          <p:cNvSpPr>
            <a:spLocks noChangeArrowheads="1"/>
          </p:cNvSpPr>
          <p:nvPr/>
        </p:nvSpPr>
        <p:spPr bwMode="auto">
          <a:xfrm>
            <a:off x="1143000" y="2590800"/>
            <a:ext cx="35052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70660" name="Content Placeholder 5"/>
          <p:cNvSpPr txBox="1">
            <a:spLocks/>
          </p:cNvSpPr>
          <p:nvPr/>
        </p:nvSpPr>
        <p:spPr bwMode="auto">
          <a:xfrm>
            <a:off x="457200" y="1752600"/>
            <a:ext cx="8610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Writer()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AR) &gt; 0) {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write?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WW++;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Active users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okToWrite.wait(&amp;lock);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WW--;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AW++;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AccessDbase(ReadWrite);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endParaRPr lang="en-US" altLang="ko-KR" sz="2000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   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AW--;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(WW &gt; 0){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 else if (WR &gt; 0) 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okToRead.broadcast();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6800" y="5943600"/>
            <a:ext cx="7472363" cy="461963"/>
          </a:xfrm>
          <a:prstGeom prst="rect">
            <a:avLst/>
          </a:prstGeom>
          <a:solidFill>
            <a:srgbClr val="FFFFAA"/>
          </a:solidFill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>
            <a:spAutoFit/>
          </a:bodyPr>
          <a:lstStyle/>
          <a:p>
            <a:pPr>
              <a:tabLst>
                <a:tab pos="688975" algn="l"/>
                <a:tab pos="1027113" algn="l"/>
                <a:tab pos="4346575" algn="l"/>
              </a:tabLst>
              <a:defRPr/>
            </a:pPr>
            <a:r>
              <a:rPr lang="en-US" b="0" dirty="0">
                <a:latin typeface="Helvetica"/>
                <a:ea typeface="+mn-ea"/>
                <a:cs typeface="Helvetica"/>
              </a:rPr>
              <a:t>W1 cannot start because of readers, so goes to sleep</a:t>
            </a:r>
          </a:p>
        </p:txBody>
      </p:sp>
    </p:spTree>
    <p:extLst>
      <p:ext uri="{BB962C8B-B14F-4D97-AF65-F5344CB8AC3E}">
        <p14:creationId xmlns:p14="http://schemas.microsoft.com/office/powerpoint/2010/main" val="18673699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1682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R3 comes along (R1, R2 accessing dbase, W1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2, WR = 0, AW = 0, WW = 1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1683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71684" name="Rectangle 7"/>
          <p:cNvSpPr>
            <a:spLocks noChangeArrowheads="1"/>
          </p:cNvSpPr>
          <p:nvPr/>
        </p:nvSpPr>
        <p:spPr bwMode="auto">
          <a:xfrm>
            <a:off x="914400" y="20574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00201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2706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R3 comes along (R1, R2 accessing dbase, W1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2, WR = 0, AW = 0, WW = 1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2707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72708" name="Rectangle 7"/>
          <p:cNvSpPr>
            <a:spLocks noChangeArrowheads="1"/>
          </p:cNvSpPr>
          <p:nvPr/>
        </p:nvSpPr>
        <p:spPr bwMode="auto">
          <a:xfrm>
            <a:off x="914400" y="23622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16919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3730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R3 comes along (R1, R2 accessing dbase, W1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2, WR =</a:t>
            </a:r>
            <a:r>
              <a:rPr lang="en-US" altLang="ko-KR">
                <a:solidFill>
                  <a:srgbClr val="FF0000"/>
                </a:solidFill>
                <a:latin typeface="Helvetica" charset="0"/>
                <a:ea typeface="굴림" charset="0"/>
                <a:cs typeface="굴림" charset="0"/>
              </a:rPr>
              <a:t> 1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, AW = 0, WW = 1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3731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73732" name="Rectangle 7"/>
          <p:cNvSpPr>
            <a:spLocks noChangeArrowheads="1"/>
          </p:cNvSpPr>
          <p:nvPr/>
        </p:nvSpPr>
        <p:spPr bwMode="auto">
          <a:xfrm>
            <a:off x="914400" y="25908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6011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54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R3 comes along (R1, R2 accessing dbase, W1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2, WR = 1, AW = 0, WW = 1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55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74756" name="Rectangle 7"/>
          <p:cNvSpPr>
            <a:spLocks noChangeArrowheads="1"/>
          </p:cNvSpPr>
          <p:nvPr/>
        </p:nvSpPr>
        <p:spPr bwMode="auto">
          <a:xfrm>
            <a:off x="914400" y="28194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52400" y="5200650"/>
            <a:ext cx="8866188" cy="1200150"/>
          </a:xfrm>
          <a:prstGeom prst="rect">
            <a:avLst/>
          </a:prstGeom>
          <a:solidFill>
            <a:srgbClr val="FFFFAA"/>
          </a:solidFill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>
            <a:spAutoFit/>
          </a:bodyPr>
          <a:lstStyle>
            <a:lvl1pPr>
              <a:tabLst>
                <a:tab pos="688975" algn="l"/>
                <a:tab pos="1027113" algn="l"/>
                <a:tab pos="4346575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688975" algn="l"/>
                <a:tab pos="1027113" algn="l"/>
                <a:tab pos="4346575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>
              <a:tabLst>
                <a:tab pos="688975" algn="l"/>
                <a:tab pos="1027113" algn="l"/>
                <a:tab pos="4346575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>
              <a:tabLst>
                <a:tab pos="688975" algn="l"/>
                <a:tab pos="1027113" algn="l"/>
                <a:tab pos="4346575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>
              <a:tabLst>
                <a:tab pos="688975" algn="l"/>
                <a:tab pos="1027113" algn="l"/>
                <a:tab pos="4346575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88975" algn="l"/>
                <a:tab pos="1027113" algn="l"/>
                <a:tab pos="4346575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688975" algn="l"/>
                <a:tab pos="1027113" algn="l"/>
                <a:tab pos="4346575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8975" algn="l"/>
                <a:tab pos="1027113" algn="l"/>
                <a:tab pos="4346575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688975" algn="l"/>
                <a:tab pos="1027113" algn="l"/>
                <a:tab pos="4346575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ko-KR" b="0" dirty="0">
                <a:latin typeface="Helvetica" charset="0"/>
                <a:ea typeface="굴림" charset="0"/>
                <a:cs typeface="굴림" charset="0"/>
              </a:rPr>
              <a:t>Status: 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b="0" dirty="0">
                <a:latin typeface="Helvetica" charset="0"/>
                <a:ea typeface="굴림" charset="0"/>
                <a:cs typeface="굴림" charset="0"/>
              </a:rPr>
              <a:t>R1 and R2 still reading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b="0" dirty="0">
                <a:latin typeface="Helvetica" charset="0"/>
                <a:cs typeface="Helvetica" charset="0"/>
              </a:rPr>
              <a:t>W1 and R3 waiting on </a:t>
            </a:r>
            <a:r>
              <a:rPr lang="en-US" b="0" dirty="0" err="1">
                <a:latin typeface="Helvetica" charset="0"/>
                <a:cs typeface="Helvetica" charset="0"/>
              </a:rPr>
              <a:t>okToWrite</a:t>
            </a:r>
            <a:r>
              <a:rPr lang="en-US" b="0" dirty="0">
                <a:latin typeface="Helvetica" charset="0"/>
                <a:cs typeface="Helvetica" charset="0"/>
              </a:rPr>
              <a:t> and </a:t>
            </a:r>
            <a:r>
              <a:rPr lang="en-US" b="0" dirty="0" err="1">
                <a:latin typeface="Helvetica" charset="0"/>
                <a:cs typeface="Helvetica" charset="0"/>
              </a:rPr>
              <a:t>okToRead</a:t>
            </a:r>
            <a:r>
              <a:rPr lang="en-US" b="0" dirty="0">
                <a:latin typeface="Helvetica" charset="0"/>
                <a:cs typeface="Helvetica" charset="0"/>
              </a:rPr>
              <a:t>, respectively</a:t>
            </a:r>
          </a:p>
        </p:txBody>
      </p:sp>
    </p:spTree>
    <p:extLst>
      <p:ext uri="{BB962C8B-B14F-4D97-AF65-F5344CB8AC3E}">
        <p14:creationId xmlns:p14="http://schemas.microsoft.com/office/powerpoint/2010/main" val="16492551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78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R2 finishes (R1 accessing dbase, W1, R3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2, WR = 1, AW = 0, WW = 1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79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75780" name="Rectangle 7"/>
          <p:cNvSpPr>
            <a:spLocks noChangeArrowheads="1"/>
          </p:cNvSpPr>
          <p:nvPr/>
        </p:nvSpPr>
        <p:spPr bwMode="auto">
          <a:xfrm>
            <a:off x="914400" y="48006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88022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02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R2 finishes (R1 accessing dbase, W1, R3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</a:t>
            </a:r>
            <a:r>
              <a:rPr lang="en-US" altLang="ko-KR">
                <a:solidFill>
                  <a:srgbClr val="FF0000"/>
                </a:solidFill>
                <a:latin typeface="Helvetica" charset="0"/>
                <a:ea typeface="굴림" charset="0"/>
                <a:cs typeface="굴림" charset="0"/>
              </a:rPr>
              <a:t>1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, WR = 1, AW = 0, WW = 1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03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76804" name="Rectangle 7"/>
          <p:cNvSpPr>
            <a:spLocks noChangeArrowheads="1"/>
          </p:cNvSpPr>
          <p:nvPr/>
        </p:nvSpPr>
        <p:spPr bwMode="auto">
          <a:xfrm>
            <a:off x="914400" y="50292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08941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7826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R2 finishes (R1 accessing dbase, W1, R3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1, WR = 1, AW = 0, WW = 1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7827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77828" name="Rectangle 7"/>
          <p:cNvSpPr>
            <a:spLocks noChangeArrowheads="1"/>
          </p:cNvSpPr>
          <p:nvPr/>
        </p:nvSpPr>
        <p:spPr bwMode="auto">
          <a:xfrm>
            <a:off x="914400" y="51816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03697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8850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R2 finishes (R1 accessing dbase, W1, R3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1, WR = 1, AW = 0, WW = 1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8851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78852" name="Rectangle 7"/>
          <p:cNvSpPr>
            <a:spLocks noChangeArrowheads="1"/>
          </p:cNvSpPr>
          <p:nvPr/>
        </p:nvSpPr>
        <p:spPr bwMode="auto">
          <a:xfrm>
            <a:off x="914400" y="56388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40496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9874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R1 finishes (W1, R3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1, WR = 1, AW = 0, WW = 1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9875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79876" name="Rectangle 7"/>
          <p:cNvSpPr>
            <a:spLocks noChangeArrowheads="1"/>
          </p:cNvSpPr>
          <p:nvPr/>
        </p:nvSpPr>
        <p:spPr bwMode="auto">
          <a:xfrm>
            <a:off x="914400" y="48006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97748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0898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R1 finishes (W1, R3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</a:t>
            </a:r>
            <a:r>
              <a:rPr lang="en-US" altLang="ko-KR">
                <a:solidFill>
                  <a:srgbClr val="FF0000"/>
                </a:solidFill>
                <a:latin typeface="Helvetica" charset="0"/>
                <a:ea typeface="굴림" charset="0"/>
                <a:cs typeface="굴림" charset="0"/>
              </a:rPr>
              <a:t>0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, WR = 1, AW = 0, WW = 1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0899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80900" name="Rectangle 7"/>
          <p:cNvSpPr>
            <a:spLocks noChangeArrowheads="1"/>
          </p:cNvSpPr>
          <p:nvPr/>
        </p:nvSpPr>
        <p:spPr bwMode="auto">
          <a:xfrm>
            <a:off x="914400" y="50292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60621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1922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R1 finishes (W1, R3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0, WR = 1, AW = 0, WW = 1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1923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81924" name="Rectangle 7"/>
          <p:cNvSpPr>
            <a:spLocks noChangeArrowheads="1"/>
          </p:cNvSpPr>
          <p:nvPr/>
        </p:nvSpPr>
        <p:spPr bwMode="auto">
          <a:xfrm>
            <a:off x="914400" y="52578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882423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2946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R1 finishes (W1, R3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0, WR = 1, AW = 0, WW = 1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2947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82948" name="Rectangle 7"/>
          <p:cNvSpPr>
            <a:spLocks noChangeArrowheads="1"/>
          </p:cNvSpPr>
          <p:nvPr/>
        </p:nvSpPr>
        <p:spPr bwMode="auto">
          <a:xfrm>
            <a:off x="914400" y="54102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66800" y="5943600"/>
            <a:ext cx="7540625" cy="461963"/>
          </a:xfrm>
          <a:prstGeom prst="rect">
            <a:avLst/>
          </a:prstGeom>
          <a:solidFill>
            <a:srgbClr val="FFFFAA"/>
          </a:solidFill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>
            <a:spAutoFit/>
          </a:bodyPr>
          <a:lstStyle/>
          <a:p>
            <a:pPr>
              <a:tabLst>
                <a:tab pos="688975" algn="l"/>
                <a:tab pos="1027113" algn="l"/>
                <a:tab pos="4346575" algn="l"/>
              </a:tabLst>
              <a:defRPr/>
            </a:pPr>
            <a:r>
              <a:rPr lang="en-US" b="0" dirty="0">
                <a:latin typeface="Helvetica"/>
                <a:ea typeface="+mn-ea"/>
                <a:cs typeface="Helvetica"/>
              </a:rPr>
              <a:t>All reader finished, signal writer – note, R3 still waiting</a:t>
            </a:r>
          </a:p>
        </p:txBody>
      </p:sp>
    </p:spTree>
    <p:extLst>
      <p:ext uri="{BB962C8B-B14F-4D97-AF65-F5344CB8AC3E}">
        <p14:creationId xmlns:p14="http://schemas.microsoft.com/office/powerpoint/2010/main" val="24400776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3970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W1 gets signal (R3 still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0, WR = 1, AW = 0, WW = 1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3971" name="Rectangle 4"/>
          <p:cNvSpPr>
            <a:spLocks noChangeArrowheads="1"/>
          </p:cNvSpPr>
          <p:nvPr/>
        </p:nvSpPr>
        <p:spPr bwMode="auto">
          <a:xfrm>
            <a:off x="1143000" y="2590800"/>
            <a:ext cx="35052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83972" name="Content Placeholder 5"/>
          <p:cNvSpPr txBox="1">
            <a:spLocks/>
          </p:cNvSpPr>
          <p:nvPr/>
        </p:nvSpPr>
        <p:spPr bwMode="auto">
          <a:xfrm>
            <a:off x="457200" y="1752600"/>
            <a:ext cx="8610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Writer()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AR) &gt; 0) {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write?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WW++;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Active users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okToWrite.wait(&amp;lock);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WW--;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AW++;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AccessDbase(ReadWrite);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endParaRPr lang="en-US" altLang="ko-KR" sz="2000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   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AW--;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(WW &gt; 0){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 else if (WR &gt; 0) 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okToRead.broadcast();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83973" name="Rectangular Callout 9"/>
          <p:cNvSpPr>
            <a:spLocks noChangeArrowheads="1"/>
          </p:cNvSpPr>
          <p:nvPr/>
        </p:nvSpPr>
        <p:spPr bwMode="auto">
          <a:xfrm>
            <a:off x="152400" y="3048000"/>
            <a:ext cx="1371600" cy="762000"/>
          </a:xfrm>
          <a:prstGeom prst="wedgeRectCallout">
            <a:avLst>
              <a:gd name="adj1" fmla="val 21278"/>
              <a:gd name="adj2" fmla="val -77597"/>
            </a:avLst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r>
              <a:rPr lang="en-US" sz="2000" b="0">
                <a:latin typeface="Helvetica" charset="0"/>
                <a:cs typeface="Helvetica" charset="0"/>
              </a:rPr>
              <a:t>Got signal from R1</a:t>
            </a:r>
          </a:p>
        </p:txBody>
      </p:sp>
    </p:spTree>
    <p:extLst>
      <p:ext uri="{BB962C8B-B14F-4D97-AF65-F5344CB8AC3E}">
        <p14:creationId xmlns:p14="http://schemas.microsoft.com/office/powerpoint/2010/main" val="3620412583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4994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W1 gets signal (R3 still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0, WR = 1, AW = 0, WW = </a:t>
            </a:r>
            <a:r>
              <a:rPr lang="en-US" altLang="ko-KR">
                <a:solidFill>
                  <a:srgbClr val="FF0000"/>
                </a:solidFill>
                <a:latin typeface="Helvetica" charset="0"/>
                <a:ea typeface="굴림" charset="0"/>
                <a:cs typeface="굴림" charset="0"/>
              </a:rPr>
              <a:t>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4995" name="Rectangle 4"/>
          <p:cNvSpPr>
            <a:spLocks noChangeArrowheads="1"/>
          </p:cNvSpPr>
          <p:nvPr/>
        </p:nvSpPr>
        <p:spPr bwMode="auto">
          <a:xfrm>
            <a:off x="1143000" y="2743200"/>
            <a:ext cx="35052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84996" name="Content Placeholder 5"/>
          <p:cNvSpPr txBox="1">
            <a:spLocks/>
          </p:cNvSpPr>
          <p:nvPr/>
        </p:nvSpPr>
        <p:spPr bwMode="auto">
          <a:xfrm>
            <a:off x="457200" y="1752600"/>
            <a:ext cx="8610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Writer()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AR) &gt; 0) {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write?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WW++;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Active users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okToWrite.wait(&amp;lock);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WW--;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AW++;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AccessDbase(ReadWrite);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endParaRPr lang="en-US" altLang="ko-KR" sz="2000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   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AW--;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(WW &gt; 0){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 else if (WR &gt; 0) 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okToRead.broadcast();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505706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Content Placeholder 5"/>
          <p:cNvSpPr txBox="1">
            <a:spLocks/>
          </p:cNvSpPr>
          <p:nvPr/>
        </p:nvSpPr>
        <p:spPr bwMode="auto">
          <a:xfrm>
            <a:off x="457200" y="1752600"/>
            <a:ext cx="8610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Writer()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AR) &gt; 0) {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write?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WW++;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Active users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okToWrite.wait(&amp;lock);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WW--;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AW++;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AccessDbase(ReadWrite);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endParaRPr lang="en-US" altLang="ko-KR" sz="2000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   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AW--;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(WW &gt; 0){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 else if (WR &gt; 0) 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okToRead.broadcast();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86018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6019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W1 gets signal (R3 still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0, WR = 1, AW = 0,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1143000" y="2209800"/>
            <a:ext cx="35052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72039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7042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W1 gets signal (R3 still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0, WR = 1, AW = </a:t>
            </a:r>
            <a:r>
              <a:rPr lang="en-US" altLang="ko-KR">
                <a:solidFill>
                  <a:srgbClr val="FF0000"/>
                </a:solidFill>
                <a:latin typeface="Helvetica" charset="0"/>
                <a:ea typeface="굴림" charset="0"/>
                <a:cs typeface="굴림" charset="0"/>
              </a:rPr>
              <a:t>1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7043" name="Rectangle 4"/>
          <p:cNvSpPr>
            <a:spLocks noChangeArrowheads="1"/>
          </p:cNvSpPr>
          <p:nvPr/>
        </p:nvSpPr>
        <p:spPr bwMode="auto">
          <a:xfrm>
            <a:off x="1143000" y="3200400"/>
            <a:ext cx="35052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87044" name="Content Placeholder 5"/>
          <p:cNvSpPr txBox="1">
            <a:spLocks/>
          </p:cNvSpPr>
          <p:nvPr/>
        </p:nvSpPr>
        <p:spPr bwMode="auto">
          <a:xfrm>
            <a:off x="457200" y="1752600"/>
            <a:ext cx="8610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Writer()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AR) &gt; 0) {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write?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WW++;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Active users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okToWrite.wait(&amp;lock);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WW--;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AW++;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AccessDbase(ReadWrite);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endParaRPr lang="en-US" altLang="ko-KR" sz="2000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   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AW--;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(WW &gt; 0){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 else if (WR &gt; 0) 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okToRead.broadcast();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43892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8066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W1 gets signal (R3 still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0, WR = 1, AW = </a:t>
            </a:r>
            <a:r>
              <a:rPr lang="en-US" altLang="ko-KR">
                <a:solidFill>
                  <a:srgbClr val="FF0000"/>
                </a:solidFill>
                <a:latin typeface="Helvetica" charset="0"/>
                <a:ea typeface="굴림" charset="0"/>
                <a:cs typeface="굴림" charset="0"/>
              </a:rPr>
              <a:t>1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8067" name="Rectangle 4"/>
          <p:cNvSpPr>
            <a:spLocks noChangeArrowheads="1"/>
          </p:cNvSpPr>
          <p:nvPr/>
        </p:nvSpPr>
        <p:spPr bwMode="auto">
          <a:xfrm>
            <a:off x="1143000" y="3886200"/>
            <a:ext cx="35052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88068" name="Content Placeholder 5"/>
          <p:cNvSpPr txBox="1">
            <a:spLocks/>
          </p:cNvSpPr>
          <p:nvPr/>
        </p:nvSpPr>
        <p:spPr bwMode="auto">
          <a:xfrm>
            <a:off x="457200" y="1752600"/>
            <a:ext cx="8610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Writer()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AR) &gt; 0) {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write?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WW++;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Active users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okToWrite.wait(&amp;lock);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WW--;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AW++;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AccessDbase(ReadWrite);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endParaRPr lang="en-US" altLang="ko-KR" sz="2000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   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AW--;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(WW &gt; 0){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 else if (WR &gt; 0) 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okToRead.broadcast();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024989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9090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W1 gets signal (R3 still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0, WR = 1, AW = </a:t>
            </a:r>
            <a:r>
              <a:rPr lang="en-US" altLang="ko-KR">
                <a:solidFill>
                  <a:srgbClr val="FF0000"/>
                </a:solidFill>
                <a:latin typeface="Helvetica" charset="0"/>
                <a:ea typeface="굴림" charset="0"/>
                <a:cs typeface="굴림" charset="0"/>
              </a:rPr>
              <a:t>0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9091" name="Rectangle 4"/>
          <p:cNvSpPr>
            <a:spLocks noChangeArrowheads="1"/>
          </p:cNvSpPr>
          <p:nvPr/>
        </p:nvSpPr>
        <p:spPr bwMode="auto">
          <a:xfrm>
            <a:off x="1143000" y="4624388"/>
            <a:ext cx="35052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89092" name="Content Placeholder 5"/>
          <p:cNvSpPr txBox="1">
            <a:spLocks/>
          </p:cNvSpPr>
          <p:nvPr/>
        </p:nvSpPr>
        <p:spPr bwMode="auto">
          <a:xfrm>
            <a:off x="457200" y="1752600"/>
            <a:ext cx="8610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Writer()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AR) &gt; 0) {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write?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WW++;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Active users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okToWrite.wait(&amp;lock);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WW--;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AW++;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AccessDbase(ReadWrite);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endParaRPr lang="en-US" altLang="ko-KR" sz="2000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   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AW--;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(WW &gt; 0){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 else if (WR &gt; 0) 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okToRead.broadcast();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899333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0114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W1 gets signal (R3 still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0, WR = 1, AW = 0,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0115" name="Rectangle 4"/>
          <p:cNvSpPr>
            <a:spLocks noChangeArrowheads="1"/>
          </p:cNvSpPr>
          <p:nvPr/>
        </p:nvSpPr>
        <p:spPr bwMode="auto">
          <a:xfrm>
            <a:off x="1143000" y="4800600"/>
            <a:ext cx="35052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90116" name="Content Placeholder 5"/>
          <p:cNvSpPr txBox="1">
            <a:spLocks/>
          </p:cNvSpPr>
          <p:nvPr/>
        </p:nvSpPr>
        <p:spPr bwMode="auto">
          <a:xfrm>
            <a:off x="457200" y="1752600"/>
            <a:ext cx="8610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Writer()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AR) &gt; 0) {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write?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WW++;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Active users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okToWrite.wait(&amp;lock);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WW--;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AW++;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AccessDbase(ReadWrite);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endParaRPr lang="en-US" altLang="ko-KR" sz="2000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   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AW--;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(WW &gt; 0){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 else if (WR &gt; 0) 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okToRead.broadcast();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127860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1138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W1 gets signal (R3 still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0, WR = 1, AW = 0,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1139" name="Rectangle 4"/>
          <p:cNvSpPr>
            <a:spLocks noChangeArrowheads="1"/>
          </p:cNvSpPr>
          <p:nvPr/>
        </p:nvSpPr>
        <p:spPr bwMode="auto">
          <a:xfrm>
            <a:off x="1143000" y="5334000"/>
            <a:ext cx="35052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91140" name="Content Placeholder 5"/>
          <p:cNvSpPr txBox="1">
            <a:spLocks/>
          </p:cNvSpPr>
          <p:nvPr/>
        </p:nvSpPr>
        <p:spPr bwMode="auto">
          <a:xfrm>
            <a:off x="457200" y="1752600"/>
            <a:ext cx="8610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Writer()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AR) &gt; 0) {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write?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WW++;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Active users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okToWrite.wait(&amp;lock);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WW--;	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AW++;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AccessDbase(ReadWrite);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endParaRPr lang="en-US" altLang="ko-KR" sz="2000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   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AW--;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(WW &gt; 0){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 else if (WR &gt; 0) {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okToRead.broadcast();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800" y="5943600"/>
            <a:ext cx="4872038" cy="461963"/>
          </a:xfrm>
          <a:prstGeom prst="rect">
            <a:avLst/>
          </a:prstGeom>
          <a:solidFill>
            <a:srgbClr val="FFFFAA"/>
          </a:solidFill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>
            <a:spAutoFit/>
          </a:bodyPr>
          <a:lstStyle/>
          <a:p>
            <a:pPr>
              <a:tabLst>
                <a:tab pos="688975" algn="l"/>
                <a:tab pos="1027113" algn="l"/>
                <a:tab pos="4346575" algn="l"/>
              </a:tabLst>
              <a:defRPr/>
            </a:pPr>
            <a:r>
              <a:rPr lang="en-US" b="0" dirty="0">
                <a:latin typeface="Helvetica"/>
                <a:ea typeface="+mn-ea"/>
                <a:cs typeface="Helvetica"/>
              </a:rPr>
              <a:t>No waiting writer, signal reader R3</a:t>
            </a:r>
          </a:p>
        </p:txBody>
      </p:sp>
    </p:spTree>
    <p:extLst>
      <p:ext uri="{BB962C8B-B14F-4D97-AF65-F5344CB8AC3E}">
        <p14:creationId xmlns:p14="http://schemas.microsoft.com/office/powerpoint/2010/main" val="18111260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2162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R1 finishes (W1, R3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0, WR = 1, AW = 0,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2163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92164" name="Rectangle 7"/>
          <p:cNvSpPr>
            <a:spLocks noChangeArrowheads="1"/>
          </p:cNvSpPr>
          <p:nvPr/>
        </p:nvSpPr>
        <p:spPr bwMode="auto">
          <a:xfrm>
            <a:off x="914400" y="28194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92165" name="Rectangular Callout 9"/>
          <p:cNvSpPr>
            <a:spLocks noChangeArrowheads="1"/>
          </p:cNvSpPr>
          <p:nvPr/>
        </p:nvSpPr>
        <p:spPr bwMode="auto">
          <a:xfrm>
            <a:off x="152400" y="3276600"/>
            <a:ext cx="1371600" cy="762000"/>
          </a:xfrm>
          <a:prstGeom prst="wedgeRectCallout">
            <a:avLst>
              <a:gd name="adj1" fmla="val 21278"/>
              <a:gd name="adj2" fmla="val -77597"/>
            </a:avLst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r>
              <a:rPr lang="en-US" sz="2000" b="0">
                <a:latin typeface="Helvetica" charset="0"/>
                <a:cs typeface="Helvetica" charset="0"/>
              </a:rPr>
              <a:t>Got signal from W1</a:t>
            </a:r>
          </a:p>
        </p:txBody>
      </p:sp>
    </p:spTree>
    <p:extLst>
      <p:ext uri="{BB962C8B-B14F-4D97-AF65-F5344CB8AC3E}">
        <p14:creationId xmlns:p14="http://schemas.microsoft.com/office/powerpoint/2010/main" val="3888875791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3186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R1 finishes (W1, R3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0, WR = </a:t>
            </a:r>
            <a:r>
              <a:rPr lang="en-US" altLang="ko-KR">
                <a:solidFill>
                  <a:srgbClr val="FF0000"/>
                </a:solidFill>
                <a:latin typeface="Helvetica" charset="0"/>
                <a:ea typeface="굴림" charset="0"/>
                <a:cs typeface="굴림" charset="0"/>
              </a:rPr>
              <a:t>0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, AW = 0,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3187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93188" name="Rectangle 7"/>
          <p:cNvSpPr>
            <a:spLocks noChangeArrowheads="1"/>
          </p:cNvSpPr>
          <p:nvPr/>
        </p:nvSpPr>
        <p:spPr bwMode="auto">
          <a:xfrm>
            <a:off x="914400" y="30480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05496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94210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4211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R1 finishes (W1, R3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0, WR = </a:t>
            </a:r>
            <a:r>
              <a:rPr lang="en-US" altLang="ko-KR">
                <a:solidFill>
                  <a:srgbClr val="000000"/>
                </a:solidFill>
                <a:latin typeface="Helvetica" charset="0"/>
                <a:ea typeface="굴림" charset="0"/>
                <a:cs typeface="굴림" charset="0"/>
              </a:rPr>
              <a:t>0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, AW = 0,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4212" name="Rectangle 7"/>
          <p:cNvSpPr>
            <a:spLocks noChangeArrowheads="1"/>
          </p:cNvSpPr>
          <p:nvPr/>
        </p:nvSpPr>
        <p:spPr bwMode="auto">
          <a:xfrm>
            <a:off x="914400" y="2362200"/>
            <a:ext cx="35814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64911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5234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R1 finishes (W1, R3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</a:t>
            </a:r>
            <a:r>
              <a:rPr lang="en-US" altLang="ko-KR">
                <a:solidFill>
                  <a:srgbClr val="FF0000"/>
                </a:solidFill>
                <a:latin typeface="Helvetica" charset="0"/>
                <a:ea typeface="굴림" charset="0"/>
                <a:cs typeface="굴림" charset="0"/>
              </a:rPr>
              <a:t>1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, WR = </a:t>
            </a:r>
            <a:r>
              <a:rPr lang="en-US" altLang="ko-KR">
                <a:solidFill>
                  <a:srgbClr val="000000"/>
                </a:solidFill>
                <a:latin typeface="Helvetica" charset="0"/>
                <a:ea typeface="굴림" charset="0"/>
                <a:cs typeface="굴림" charset="0"/>
              </a:rPr>
              <a:t>0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, AW = 0,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5235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95236" name="Rectangle 7"/>
          <p:cNvSpPr>
            <a:spLocks noChangeArrowheads="1"/>
          </p:cNvSpPr>
          <p:nvPr/>
        </p:nvSpPr>
        <p:spPr bwMode="auto">
          <a:xfrm>
            <a:off x="914400" y="35052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35873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6258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R1 finishes (W1, R3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1, WR = </a:t>
            </a:r>
            <a:r>
              <a:rPr lang="en-US" altLang="ko-KR">
                <a:solidFill>
                  <a:srgbClr val="000000"/>
                </a:solidFill>
                <a:latin typeface="Helvetica" charset="0"/>
                <a:ea typeface="굴림" charset="0"/>
                <a:cs typeface="굴림" charset="0"/>
              </a:rPr>
              <a:t>0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, AW = 0,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6259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96260" name="Rectangle 7"/>
          <p:cNvSpPr>
            <a:spLocks noChangeArrowheads="1"/>
          </p:cNvSpPr>
          <p:nvPr/>
        </p:nvSpPr>
        <p:spPr bwMode="auto">
          <a:xfrm>
            <a:off x="914400" y="42672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71863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7282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R1 finishes (W1, R3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1, WR = </a:t>
            </a:r>
            <a:r>
              <a:rPr lang="en-US" altLang="ko-KR">
                <a:solidFill>
                  <a:srgbClr val="000000"/>
                </a:solidFill>
                <a:latin typeface="Helvetica" charset="0"/>
                <a:ea typeface="굴림" charset="0"/>
                <a:cs typeface="굴림" charset="0"/>
              </a:rPr>
              <a:t>0</a:t>
            </a: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, AW = 0,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7283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97284" name="Rectangle 7"/>
          <p:cNvSpPr>
            <a:spLocks noChangeArrowheads="1"/>
          </p:cNvSpPr>
          <p:nvPr/>
        </p:nvSpPr>
        <p:spPr bwMode="auto">
          <a:xfrm>
            <a:off x="914400" y="48006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34023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Simulation of Readers/Writers Solution</a:t>
            </a:r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8306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924800" cy="1066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R1 finishes (W1, R3 waiting)</a:t>
            </a:r>
          </a:p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AR = 0, WR = 0, AW = 0, WW = 0</a:t>
            </a:r>
          </a:p>
          <a:p>
            <a:endParaRPr lang="en-US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8307" name="Content Placeholder 4"/>
          <p:cNvSpPr txBox="1">
            <a:spLocks/>
          </p:cNvSpPr>
          <p:nvPr/>
        </p:nvSpPr>
        <p:spPr bwMode="auto">
          <a:xfrm>
            <a:off x="304800" y="1828800"/>
            <a:ext cx="9067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while ((AW + WW) &gt; 0) { 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Is it safe to read?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WR++;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No. Writers exist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Sleep on cond var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WR--;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 longer waiting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AR++;		</a:t>
            </a:r>
            <a:r>
              <a:rPr lang="en-US" altLang="ko-KR" sz="2000">
                <a:solidFill>
                  <a:schemeClr val="accent2"/>
                </a:solidFill>
                <a:latin typeface="Courier New" charset="0"/>
                <a:ea typeface="굴림" charset="0"/>
                <a:cs typeface="굴림" charset="0"/>
              </a:rPr>
              <a:t>// Now we are active!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lnSpc>
                <a:spcPct val="70000"/>
              </a:lnSpc>
              <a:spcBef>
                <a:spcPct val="30000"/>
              </a:spcBef>
              <a:buSzPct val="100000"/>
            </a:pPr>
            <a:endParaRPr lang="en-US" sz="1800">
              <a:latin typeface="Helvetica" charset="0"/>
            </a:endParaRPr>
          </a:p>
        </p:txBody>
      </p:sp>
      <p:sp>
        <p:nvSpPr>
          <p:cNvPr id="98308" name="Rectangle 7"/>
          <p:cNvSpPr>
            <a:spLocks noChangeArrowheads="1"/>
          </p:cNvSpPr>
          <p:nvPr/>
        </p:nvSpPr>
        <p:spPr bwMode="auto">
          <a:xfrm>
            <a:off x="914400" y="5638800"/>
            <a:ext cx="3352800" cy="228600"/>
          </a:xfrm>
          <a:prstGeom prst="rect">
            <a:avLst/>
          </a:prstGeom>
          <a:solidFill>
            <a:srgbClr val="2A40E2">
              <a:alpha val="59999"/>
            </a:srgbClr>
          </a:solidFill>
          <a:ln w="38100">
            <a:solidFill>
              <a:srgbClr val="2A40E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038600" y="5943600"/>
            <a:ext cx="1158875" cy="461963"/>
          </a:xfrm>
          <a:prstGeom prst="rect">
            <a:avLst/>
          </a:prstGeom>
          <a:solidFill>
            <a:srgbClr val="FFFFAA"/>
          </a:solidFill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>
            <a:spAutoFit/>
          </a:bodyPr>
          <a:lstStyle/>
          <a:p>
            <a:pPr>
              <a:tabLst>
                <a:tab pos="688975" algn="l"/>
                <a:tab pos="1027113" algn="l"/>
                <a:tab pos="4346575" algn="l"/>
              </a:tabLst>
              <a:defRPr/>
            </a:pPr>
            <a:r>
              <a:rPr lang="en-US" b="0" dirty="0">
                <a:latin typeface="Helvetica"/>
                <a:ea typeface="+mn-ea"/>
                <a:cs typeface="Helvetica"/>
              </a:rPr>
              <a:t>DONE!</a:t>
            </a:r>
          </a:p>
        </p:txBody>
      </p:sp>
    </p:spTree>
    <p:extLst>
      <p:ext uri="{BB962C8B-B14F-4D97-AF65-F5344CB8AC3E}">
        <p14:creationId xmlns:p14="http://schemas.microsoft.com/office/powerpoint/2010/main" val="23393179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Read/Writer Questions</a:t>
            </a:r>
          </a:p>
        </p:txBody>
      </p:sp>
      <p:sp>
        <p:nvSpPr>
          <p:cNvPr id="99330" name="Content Placeholder 4"/>
          <p:cNvSpPr>
            <a:spLocks noGrp="1"/>
          </p:cNvSpPr>
          <p:nvPr>
            <p:ph sz="half" idx="1"/>
          </p:nvPr>
        </p:nvSpPr>
        <p:spPr>
          <a:xfrm>
            <a:off x="0" y="914400"/>
            <a:ext cx="4724400" cy="5486400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// check into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while ((AW + WW) &gt; 0) 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WR++;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WR--;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AR++;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endParaRPr lang="en-US" altLang="ko-KR" sz="2000" b="1"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</a:t>
            </a:r>
            <a: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// read-only access</a:t>
            </a:r>
            <a:b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endParaRPr lang="en-US" altLang="ko-KR" sz="2000" b="1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// check out of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 b="1">
              <a:latin typeface="Helvetica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endParaRPr lang="en-US" sz="1800" b="1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9331" name="Content Placeholder 5"/>
          <p:cNvSpPr>
            <a:spLocks noGrp="1"/>
          </p:cNvSpPr>
          <p:nvPr>
            <p:ph sz="half" idx="2"/>
          </p:nvPr>
        </p:nvSpPr>
        <p:spPr>
          <a:xfrm>
            <a:off x="4114800" y="914400"/>
            <a:ext cx="5029200" cy="5105400"/>
          </a:xfrm>
        </p:spPr>
        <p:txBody>
          <a:bodyPr/>
          <a:lstStyle/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Writer() {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// check into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while ((AW + AR) &gt; 0) 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WW++;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okToWrite.wait(&amp;lock);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WW--;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AW++;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endParaRPr lang="en-US" altLang="ko-KR" sz="2000" b="1"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</a:t>
            </a:r>
            <a: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// read/write access</a:t>
            </a:r>
            <a:b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AccessDbase(ReadWrite);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endParaRPr lang="en-US" altLang="ko-KR" sz="2000" b="1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// check out of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AW--;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if (WW &gt; 0){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 else if (WR &gt; 0) 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okToRead.broadcast();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 b="1">
              <a:latin typeface="Helvetica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endParaRPr lang="en-US" sz="1800" b="1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609600" y="3276600"/>
            <a:ext cx="3810000" cy="2057400"/>
            <a:chOff x="609600" y="3276600"/>
            <a:chExt cx="3810000" cy="2057400"/>
          </a:xfrm>
        </p:grpSpPr>
        <p:sp>
          <p:nvSpPr>
            <p:cNvPr id="99333" name="Rectangle 4"/>
            <p:cNvSpPr>
              <a:spLocks noChangeArrowheads="1"/>
            </p:cNvSpPr>
            <p:nvPr/>
          </p:nvSpPr>
          <p:spPr bwMode="auto">
            <a:xfrm>
              <a:off x="609600" y="5105400"/>
              <a:ext cx="3352800" cy="228600"/>
            </a:xfrm>
            <a:prstGeom prst="rect">
              <a:avLst/>
            </a:prstGeom>
            <a:solidFill>
              <a:srgbClr val="2A40E2">
                <a:alpha val="59999"/>
              </a:srgbClr>
            </a:solidFill>
            <a:ln w="38100">
              <a:solidFill>
                <a:srgbClr val="2A40E2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99334" name="Rectangular Callout 9"/>
            <p:cNvSpPr>
              <a:spLocks noChangeArrowheads="1"/>
            </p:cNvSpPr>
            <p:nvPr/>
          </p:nvSpPr>
          <p:spPr bwMode="auto">
            <a:xfrm>
              <a:off x="2438400" y="3276600"/>
              <a:ext cx="1981200" cy="1371600"/>
            </a:xfrm>
            <a:prstGeom prst="wedgeRectCallout">
              <a:avLst>
                <a:gd name="adj1" fmla="val -52417"/>
                <a:gd name="adj2" fmla="val 83954"/>
              </a:avLst>
            </a:prstGeom>
            <a:solidFill>
              <a:srgbClr val="FFFFAA"/>
            </a:solidFill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r>
                <a:rPr lang="en-US">
                  <a:latin typeface="Helvetica" charset="0"/>
                  <a:cs typeface="Helvetica" charset="0"/>
                </a:rPr>
                <a:t>What if we remove this line?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17201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Read/Writer Questions</a:t>
            </a:r>
          </a:p>
        </p:txBody>
      </p:sp>
      <p:sp>
        <p:nvSpPr>
          <p:cNvPr id="100354" name="Content Placeholder 4"/>
          <p:cNvSpPr>
            <a:spLocks noGrp="1"/>
          </p:cNvSpPr>
          <p:nvPr>
            <p:ph sz="half" idx="1"/>
          </p:nvPr>
        </p:nvSpPr>
        <p:spPr>
          <a:xfrm>
            <a:off x="0" y="914400"/>
            <a:ext cx="5251450" cy="5486400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// check into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while ((AW + WW) &gt; 0) 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WR++;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okToRead.wait(&amp;lock);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WR--;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AR++;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endParaRPr lang="en-US" altLang="ko-KR" sz="2000" b="1"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</a:t>
            </a:r>
            <a: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// read-only access</a:t>
            </a:r>
            <a:b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endParaRPr lang="en-US" altLang="ko-KR" sz="2000" b="1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// check out of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okToWrite.</a:t>
            </a:r>
            <a:r>
              <a:rPr lang="en-US" altLang="ko-KR" sz="2000" b="1">
                <a:solidFill>
                  <a:srgbClr val="FF0000"/>
                </a:solidFill>
                <a:latin typeface="Courier New" charset="0"/>
                <a:ea typeface="굴림" charset="0"/>
                <a:cs typeface="굴림" charset="0"/>
              </a:rPr>
              <a:t>broadcast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();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 b="1">
              <a:latin typeface="Helvetica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endParaRPr lang="en-US" sz="1800" b="1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0355" name="Content Placeholder 5"/>
          <p:cNvSpPr>
            <a:spLocks noGrp="1"/>
          </p:cNvSpPr>
          <p:nvPr>
            <p:ph sz="half" idx="2"/>
          </p:nvPr>
        </p:nvSpPr>
        <p:spPr>
          <a:xfrm>
            <a:off x="4114800" y="914400"/>
            <a:ext cx="5416550" cy="5105400"/>
          </a:xfrm>
        </p:spPr>
        <p:txBody>
          <a:bodyPr/>
          <a:lstStyle/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Writer() {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// check into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while ((AW + AR) &gt; 0) 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WW++;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okToWrite.wait(&amp;lock);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WW--;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AW++;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endParaRPr lang="en-US" altLang="ko-KR" sz="2000" b="1"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</a:t>
            </a:r>
            <a: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// read/write access</a:t>
            </a:r>
            <a:b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AccessDbase(ReadWrite);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endParaRPr lang="en-US" altLang="ko-KR" sz="2000" b="1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// check out of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AW--;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if (WW &gt; 0){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okToWrite.signal();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 else if (WR &gt; 0) 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okToRead.broadcast();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 b="1">
              <a:latin typeface="Helvetica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endParaRPr lang="en-US" sz="1800" b="1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0356" name="Rectangular Callout 9"/>
          <p:cNvSpPr>
            <a:spLocks noChangeArrowheads="1"/>
          </p:cNvSpPr>
          <p:nvPr/>
        </p:nvSpPr>
        <p:spPr bwMode="auto">
          <a:xfrm>
            <a:off x="2438400" y="3581400"/>
            <a:ext cx="2133600" cy="1371600"/>
          </a:xfrm>
          <a:prstGeom prst="wedgeRectCallout">
            <a:avLst>
              <a:gd name="adj1" fmla="val -26620"/>
              <a:gd name="adj2" fmla="val 82829"/>
            </a:avLst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r>
              <a:rPr lang="en-US">
                <a:latin typeface="Helvetica" charset="0"/>
                <a:cs typeface="Helvetica" charset="0"/>
              </a:rPr>
              <a:t>What if we turn signal to  broadcast?</a:t>
            </a:r>
          </a:p>
        </p:txBody>
      </p:sp>
    </p:spTree>
    <p:extLst>
      <p:ext uri="{BB962C8B-B14F-4D97-AF65-F5344CB8AC3E}">
        <p14:creationId xmlns:p14="http://schemas.microsoft.com/office/powerpoint/2010/main" val="4025351185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Read/Writer Questions</a:t>
            </a:r>
          </a:p>
        </p:txBody>
      </p:sp>
      <p:sp>
        <p:nvSpPr>
          <p:cNvPr id="101378" name="Content Placeholder 4"/>
          <p:cNvSpPr>
            <a:spLocks noGrp="1"/>
          </p:cNvSpPr>
          <p:nvPr>
            <p:ph sz="half" idx="1"/>
          </p:nvPr>
        </p:nvSpPr>
        <p:spPr>
          <a:xfrm>
            <a:off x="0" y="914400"/>
            <a:ext cx="4876800" cy="5486400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// check into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while ((AW + WW) &gt; 0) 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WR++;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</a:t>
            </a:r>
            <a:r>
              <a:rPr lang="en-US" altLang="ko-KR" sz="2000" b="1">
                <a:solidFill>
                  <a:srgbClr val="FF0000"/>
                </a:solidFill>
                <a:latin typeface="Courier New" charset="0"/>
                <a:ea typeface="굴림" charset="0"/>
                <a:cs typeface="굴림" charset="0"/>
              </a:rPr>
              <a:t>okContinue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.wait(&amp;lock);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WR--;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AR++;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endParaRPr lang="en-US" altLang="ko-KR" sz="2000" b="1"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</a:t>
            </a:r>
            <a: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// read-only access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endParaRPr lang="en-US" altLang="ko-KR" sz="2000" b="1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// check out of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</a:t>
            </a:r>
            <a:r>
              <a:rPr lang="en-US" altLang="ko-KR" sz="2000" b="1">
                <a:solidFill>
                  <a:srgbClr val="FF0000"/>
                </a:solidFill>
                <a:latin typeface="Courier New" charset="0"/>
                <a:ea typeface="굴림" charset="0"/>
                <a:cs typeface="굴림" charset="0"/>
              </a:rPr>
              <a:t>okContinue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.signal();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 b="1">
              <a:latin typeface="Helvetica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endParaRPr lang="en-US" sz="1800" b="1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1379" name="Content Placeholder 5"/>
          <p:cNvSpPr>
            <a:spLocks noGrp="1"/>
          </p:cNvSpPr>
          <p:nvPr>
            <p:ph sz="half" idx="2"/>
          </p:nvPr>
        </p:nvSpPr>
        <p:spPr>
          <a:xfrm>
            <a:off x="4114800" y="914400"/>
            <a:ext cx="5029200" cy="5105400"/>
          </a:xfrm>
        </p:spPr>
        <p:txBody>
          <a:bodyPr/>
          <a:lstStyle/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Writer() {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// check into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while ((AW + AR) &gt; 0) 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WW++;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</a:t>
            </a:r>
            <a:r>
              <a:rPr lang="en-US" altLang="ko-KR" sz="2000" b="1">
                <a:solidFill>
                  <a:srgbClr val="FF0000"/>
                </a:solidFill>
                <a:latin typeface="Courier New" charset="0"/>
                <a:ea typeface="굴림" charset="0"/>
                <a:cs typeface="굴림" charset="0"/>
              </a:rPr>
              <a:t>okContinue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.wait(&amp;lock);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WW--;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AW++;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endParaRPr lang="en-US" altLang="ko-KR" sz="2000" b="1">
              <a:solidFill>
                <a:srgbClr val="000000"/>
              </a:solidFill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solidFill>
                  <a:srgbClr val="000000"/>
                </a:solidFill>
                <a:latin typeface="Courier New" charset="0"/>
                <a:ea typeface="굴림" charset="0"/>
                <a:cs typeface="굴림" charset="0"/>
              </a:rPr>
              <a:t>		// read/write access</a:t>
            </a:r>
            <a:br>
              <a:rPr lang="en-US" altLang="ko-KR" sz="2000" b="1">
                <a:solidFill>
                  <a:srgbClr val="000000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solidFill>
                  <a:srgbClr val="000000"/>
                </a:solidFill>
                <a:latin typeface="Courier New" charset="0"/>
                <a:ea typeface="굴림" charset="0"/>
                <a:cs typeface="굴림" charset="0"/>
              </a:rPr>
              <a:t>	AccessDbase(ReadWrite);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endParaRPr lang="en-US" altLang="ko-KR" sz="2000" b="1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// check out of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AW--;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if (WW &gt; 0){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</a:t>
            </a:r>
            <a:r>
              <a:rPr lang="en-US" altLang="ko-KR" sz="2000" b="1">
                <a:solidFill>
                  <a:srgbClr val="FF0000"/>
                </a:solidFill>
                <a:latin typeface="Courier New" charset="0"/>
                <a:ea typeface="굴림" charset="0"/>
                <a:cs typeface="굴림" charset="0"/>
              </a:rPr>
              <a:t>okContinue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.signal();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 else if (WR &gt; 0) 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</a:t>
            </a:r>
            <a:r>
              <a:rPr lang="en-US" altLang="ko-KR" sz="2000" b="1">
                <a:solidFill>
                  <a:srgbClr val="FF0000"/>
                </a:solidFill>
                <a:latin typeface="Courier New" charset="0"/>
                <a:ea typeface="굴림" charset="0"/>
                <a:cs typeface="굴림" charset="0"/>
              </a:rPr>
              <a:t>okContinue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.broadcast();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 b="1">
              <a:latin typeface="Helvetica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endParaRPr lang="en-US" sz="1800" b="1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1380" name="Rectangle 7"/>
          <p:cNvSpPr>
            <a:spLocks noChangeArrowheads="1"/>
          </p:cNvSpPr>
          <p:nvPr/>
        </p:nvSpPr>
        <p:spPr bwMode="auto">
          <a:xfrm>
            <a:off x="762000" y="5867400"/>
            <a:ext cx="8153400" cy="838200"/>
          </a:xfrm>
          <a:prstGeom prst="rect">
            <a:avLst/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>
                <a:latin typeface="Helvetica" charset="0"/>
                <a:cs typeface="Helvetica" charset="0"/>
              </a:rPr>
              <a:t>What if we turn okToWrite and okToRead into okContinue?</a:t>
            </a:r>
          </a:p>
        </p:txBody>
      </p:sp>
    </p:spTree>
    <p:extLst>
      <p:ext uri="{BB962C8B-B14F-4D97-AF65-F5344CB8AC3E}">
        <p14:creationId xmlns:p14="http://schemas.microsoft.com/office/powerpoint/2010/main" val="2788174372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3"/>
          <p:cNvSpPr>
            <a:spLocks noGrp="1"/>
          </p:cNvSpPr>
          <p:nvPr>
            <p:ph type="title"/>
          </p:nvPr>
        </p:nvSpPr>
        <p:spPr>
          <a:xfrm>
            <a:off x="990600" y="0"/>
            <a:ext cx="7162800" cy="5334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Read/Writer Questions</a:t>
            </a:r>
          </a:p>
        </p:txBody>
      </p:sp>
      <p:sp>
        <p:nvSpPr>
          <p:cNvPr id="102402" name="Content Placeholder 4"/>
          <p:cNvSpPr>
            <a:spLocks noGrp="1"/>
          </p:cNvSpPr>
          <p:nvPr>
            <p:ph sz="half" idx="1"/>
          </p:nvPr>
        </p:nvSpPr>
        <p:spPr>
          <a:xfrm>
            <a:off x="0" y="609600"/>
            <a:ext cx="4876800" cy="5486400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// check into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while ((AW + WW) &gt; 0) 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WR++;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</a:t>
            </a:r>
            <a:r>
              <a:rPr lang="en-US" altLang="ko-KR" sz="2000" b="1">
                <a:solidFill>
                  <a:srgbClr val="FF0000"/>
                </a:solidFill>
                <a:latin typeface="Courier New" charset="0"/>
                <a:ea typeface="굴림" charset="0"/>
                <a:cs typeface="굴림" charset="0"/>
              </a:rPr>
              <a:t>okContinue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.wait(&amp;lock);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WR--;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AR++;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endParaRPr lang="en-US" altLang="ko-KR" sz="2000" b="1"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</a:t>
            </a:r>
            <a: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// read-only access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endParaRPr lang="en-US" altLang="ko-KR" sz="2000" b="1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// check out of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</a:t>
            </a:r>
            <a:r>
              <a:rPr lang="en-US" altLang="ko-KR" sz="2000" b="1">
                <a:solidFill>
                  <a:srgbClr val="FF0000"/>
                </a:solidFill>
                <a:latin typeface="Courier New" charset="0"/>
                <a:ea typeface="굴림" charset="0"/>
                <a:cs typeface="굴림" charset="0"/>
              </a:rPr>
              <a:t>okContinue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.signal();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 b="1">
              <a:latin typeface="Helvetica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endParaRPr lang="en-US" sz="1800" b="1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2403" name="Content Placeholder 5"/>
          <p:cNvSpPr>
            <a:spLocks noGrp="1"/>
          </p:cNvSpPr>
          <p:nvPr>
            <p:ph sz="half" idx="2"/>
          </p:nvPr>
        </p:nvSpPr>
        <p:spPr>
          <a:xfrm>
            <a:off x="4114800" y="609600"/>
            <a:ext cx="5029200" cy="5105400"/>
          </a:xfrm>
        </p:spPr>
        <p:txBody>
          <a:bodyPr/>
          <a:lstStyle/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Writer() {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// check into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while ((AW + AR) &gt; 0) 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WW++;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</a:t>
            </a:r>
            <a:r>
              <a:rPr lang="en-US" altLang="ko-KR" sz="2000" b="1">
                <a:solidFill>
                  <a:srgbClr val="FF0000"/>
                </a:solidFill>
                <a:latin typeface="Courier New" charset="0"/>
                <a:ea typeface="굴림" charset="0"/>
                <a:cs typeface="굴림" charset="0"/>
              </a:rPr>
              <a:t>okContinue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.wait(&amp;lock);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WW--;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AW++;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endParaRPr lang="en-US" altLang="ko-KR" sz="2000" b="1">
              <a:solidFill>
                <a:srgbClr val="000000"/>
              </a:solidFill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solidFill>
                  <a:srgbClr val="000000"/>
                </a:solidFill>
                <a:latin typeface="Courier New" charset="0"/>
                <a:ea typeface="굴림" charset="0"/>
                <a:cs typeface="굴림" charset="0"/>
              </a:rPr>
              <a:t>		// read/write access</a:t>
            </a:r>
            <a:br>
              <a:rPr lang="en-US" altLang="ko-KR" sz="2000" b="1">
                <a:solidFill>
                  <a:srgbClr val="000000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solidFill>
                  <a:srgbClr val="000000"/>
                </a:solidFill>
                <a:latin typeface="Courier New" charset="0"/>
                <a:ea typeface="굴림" charset="0"/>
                <a:cs typeface="굴림" charset="0"/>
              </a:rPr>
              <a:t>	AccessDbase(ReadWrite);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endParaRPr lang="en-US" altLang="ko-KR" sz="2000" b="1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// check out of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AW--;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if (WW &gt; 0){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</a:t>
            </a:r>
            <a:r>
              <a:rPr lang="en-US" altLang="ko-KR" sz="2000" b="1">
                <a:solidFill>
                  <a:srgbClr val="FF0000"/>
                </a:solidFill>
                <a:latin typeface="Courier New" charset="0"/>
                <a:ea typeface="굴림" charset="0"/>
                <a:cs typeface="굴림" charset="0"/>
              </a:rPr>
              <a:t>okContinue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.signal();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 else if (WR &gt; 0) 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</a:t>
            </a:r>
            <a:r>
              <a:rPr lang="en-US" altLang="ko-KR" sz="2000" b="1">
                <a:solidFill>
                  <a:srgbClr val="FF0000"/>
                </a:solidFill>
                <a:latin typeface="Courier New" charset="0"/>
                <a:ea typeface="굴림" charset="0"/>
                <a:cs typeface="굴림" charset="0"/>
              </a:rPr>
              <a:t>okContinue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.broadcast();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 b="1">
              <a:latin typeface="Helvetica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endParaRPr lang="en-US" sz="1800" b="1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2404" name="Rectangle 7"/>
          <p:cNvSpPr>
            <a:spLocks noChangeArrowheads="1"/>
          </p:cNvSpPr>
          <p:nvPr/>
        </p:nvSpPr>
        <p:spPr bwMode="auto">
          <a:xfrm>
            <a:off x="76200" y="5562600"/>
            <a:ext cx="9067800" cy="1066800"/>
          </a:xfrm>
          <a:prstGeom prst="rect">
            <a:avLst/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>
              <a:buFont typeface="Arial" charset="0"/>
              <a:buChar char="•"/>
            </a:pPr>
            <a:r>
              <a:rPr lang="en-US">
                <a:latin typeface="Helvetica" charset="0"/>
                <a:cs typeface="Helvetica" charset="0"/>
              </a:rPr>
              <a:t> </a:t>
            </a:r>
            <a:r>
              <a:rPr lang="en-US" sz="2000">
                <a:latin typeface="Helvetica" charset="0"/>
                <a:cs typeface="Helvetica" charset="0"/>
              </a:rPr>
              <a:t>R1 arrives </a:t>
            </a:r>
          </a:p>
          <a:p>
            <a:pPr>
              <a:buFont typeface="Arial" charset="0"/>
              <a:buChar char="•"/>
            </a:pPr>
            <a:r>
              <a:rPr lang="en-US" sz="2000">
                <a:latin typeface="Helvetica" charset="0"/>
                <a:cs typeface="Helvetica" charset="0"/>
              </a:rPr>
              <a:t> W1, R2 arrive while R1 still reading </a:t>
            </a:r>
            <a:r>
              <a:rPr lang="en-US" sz="2000">
                <a:latin typeface="Helvetica" charset="0"/>
                <a:cs typeface="Helvetica" charset="0"/>
                <a:sym typeface="Wingdings" charset="0"/>
              </a:rPr>
              <a:t> W1 and R2 wait for R1 to finish</a:t>
            </a:r>
            <a:endParaRPr lang="en-US" sz="2000">
              <a:latin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r>
              <a:rPr lang="en-US" sz="2000">
                <a:latin typeface="Helvetica" charset="0"/>
                <a:cs typeface="Helvetica" charset="0"/>
              </a:rPr>
              <a:t> R1 signals R2</a:t>
            </a:r>
          </a:p>
        </p:txBody>
      </p:sp>
    </p:spTree>
    <p:extLst>
      <p:ext uri="{BB962C8B-B14F-4D97-AF65-F5344CB8AC3E}">
        <p14:creationId xmlns:p14="http://schemas.microsoft.com/office/powerpoint/2010/main" val="1251557219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Read/Writer Questions</a:t>
            </a:r>
          </a:p>
        </p:txBody>
      </p:sp>
      <p:sp>
        <p:nvSpPr>
          <p:cNvPr id="103426" name="Content Placeholder 4"/>
          <p:cNvSpPr>
            <a:spLocks noGrp="1"/>
          </p:cNvSpPr>
          <p:nvPr>
            <p:ph sz="half" idx="1"/>
          </p:nvPr>
        </p:nvSpPr>
        <p:spPr>
          <a:xfrm>
            <a:off x="0" y="914400"/>
            <a:ext cx="4876800" cy="5486400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Reader() {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// check into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while ((AW + WW) &gt; 0) 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WR++;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</a:t>
            </a:r>
            <a:r>
              <a:rPr lang="en-US" altLang="ko-KR" sz="2000" b="1">
                <a:solidFill>
                  <a:srgbClr val="FF0000"/>
                </a:solidFill>
                <a:latin typeface="Courier New" charset="0"/>
                <a:ea typeface="굴림" charset="0"/>
                <a:cs typeface="굴림" charset="0"/>
              </a:rPr>
              <a:t>okContinue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.wait(&amp;lock);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WR--;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AR++;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endParaRPr lang="en-US" altLang="ko-KR" sz="2000" b="1"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</a:t>
            </a:r>
            <a: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// read-only access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AccessDbase(ReadOnly);</a:t>
            </a: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endParaRPr lang="en-US" altLang="ko-KR" sz="2000" b="1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// check out of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AR--;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if (AR == 0 &amp;&amp; WW &gt; 0)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</a:t>
            </a:r>
            <a:r>
              <a:rPr lang="en-US" altLang="ko-KR" sz="2000" b="1">
                <a:solidFill>
                  <a:srgbClr val="FF0000"/>
                </a:solidFill>
                <a:latin typeface="Courier New" charset="0"/>
                <a:ea typeface="굴림" charset="0"/>
                <a:cs typeface="굴림" charset="0"/>
              </a:rPr>
              <a:t>okContinue.broadcast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();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 b="1">
              <a:latin typeface="Helvetica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233863" algn="l"/>
              </a:tabLst>
            </a:pPr>
            <a:endParaRPr lang="en-US" sz="1800" b="1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3427" name="Content Placeholder 5"/>
          <p:cNvSpPr>
            <a:spLocks noGrp="1"/>
          </p:cNvSpPr>
          <p:nvPr>
            <p:ph sz="half" idx="2"/>
          </p:nvPr>
        </p:nvSpPr>
        <p:spPr>
          <a:xfrm>
            <a:off x="4114800" y="914400"/>
            <a:ext cx="5029200" cy="5105400"/>
          </a:xfrm>
        </p:spPr>
        <p:txBody>
          <a:bodyPr/>
          <a:lstStyle/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Writer() {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// check into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while ((AW + AR) &gt; 0) 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WW++;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</a:t>
            </a:r>
            <a:r>
              <a:rPr lang="en-US" altLang="ko-KR" sz="2000" b="1">
                <a:solidFill>
                  <a:srgbClr val="FF0000"/>
                </a:solidFill>
                <a:latin typeface="Courier New" charset="0"/>
                <a:ea typeface="굴림" charset="0"/>
                <a:cs typeface="굴림" charset="0"/>
              </a:rPr>
              <a:t>okContinue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.wait(&amp;lock);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WW--;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AW++;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endParaRPr lang="en-US" altLang="ko-KR" sz="2000" b="1">
              <a:solidFill>
                <a:srgbClr val="000000"/>
              </a:solidFill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solidFill>
                  <a:srgbClr val="000000"/>
                </a:solidFill>
                <a:latin typeface="Courier New" charset="0"/>
                <a:ea typeface="굴림" charset="0"/>
                <a:cs typeface="굴림" charset="0"/>
              </a:rPr>
              <a:t>		// read/write access</a:t>
            </a:r>
            <a:br>
              <a:rPr lang="en-US" altLang="ko-KR" sz="2000" b="1">
                <a:solidFill>
                  <a:srgbClr val="000000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solidFill>
                  <a:srgbClr val="000000"/>
                </a:solidFill>
                <a:latin typeface="Courier New" charset="0"/>
                <a:ea typeface="굴림" charset="0"/>
                <a:cs typeface="굴림" charset="0"/>
              </a:rPr>
              <a:t>	AccessDbase(ReadWrite);</a:t>
            </a: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endParaRPr lang="en-US" altLang="ko-KR" sz="2000" b="1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6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// check out of system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lock.Acquire();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AW--;	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if (WW &gt; 0){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</a:t>
            </a:r>
            <a:r>
              <a:rPr lang="en-US" altLang="ko-KR" sz="2000" b="1">
                <a:solidFill>
                  <a:srgbClr val="FF0000"/>
                </a:solidFill>
                <a:latin typeface="Courier New" charset="0"/>
                <a:ea typeface="굴림" charset="0"/>
                <a:cs typeface="굴림" charset="0"/>
              </a:rPr>
              <a:t>okContinue.broadcast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();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 else if (WR &gt; 0) {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	</a:t>
            </a:r>
            <a:r>
              <a:rPr lang="en-US" altLang="ko-KR" sz="2000" b="1">
                <a:solidFill>
                  <a:srgbClr val="FF0000"/>
                </a:solidFill>
                <a:latin typeface="Courier New" charset="0"/>
                <a:ea typeface="굴림" charset="0"/>
                <a:cs typeface="굴림" charset="0"/>
              </a:rPr>
              <a:t>okContinue</a:t>
            </a: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.broadcast();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}	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	lock.release();</a:t>
            </a:r>
            <a:br>
              <a:rPr lang="en-US" altLang="ko-KR" sz="2000" b="1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 sz="2000" b="1">
              <a:latin typeface="Helvetica" charset="0"/>
              <a:ea typeface="굴림" charset="0"/>
              <a:cs typeface="굴림" charset="0"/>
            </a:endParaRPr>
          </a:p>
          <a:p>
            <a:pPr>
              <a:lnSpc>
                <a:spcPct val="70000"/>
              </a:lnSpc>
              <a:buFontTx/>
              <a:buNone/>
              <a:tabLst>
                <a:tab pos="576263" algn="l"/>
                <a:tab pos="914400" algn="l"/>
                <a:tab pos="1252538" algn="l"/>
                <a:tab pos="1603375" algn="l"/>
                <a:tab pos="4171950" algn="l"/>
              </a:tabLst>
            </a:pPr>
            <a:endParaRPr lang="en-US" sz="1800" b="1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3428" name="Rectangular Callout 6"/>
          <p:cNvSpPr>
            <a:spLocks noChangeArrowheads="1"/>
          </p:cNvSpPr>
          <p:nvPr/>
        </p:nvSpPr>
        <p:spPr bwMode="auto">
          <a:xfrm>
            <a:off x="3124200" y="5867400"/>
            <a:ext cx="4419600" cy="685800"/>
          </a:xfrm>
          <a:prstGeom prst="wedgeRectCallout">
            <a:avLst>
              <a:gd name="adj1" fmla="val 37250"/>
              <a:gd name="adj2" fmla="val -169773"/>
            </a:avLst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>
                <a:latin typeface="Helvetica" charset="0"/>
                <a:cs typeface="Helvetica" charset="0"/>
              </a:rPr>
              <a:t>Need to change to broadcast!</a:t>
            </a:r>
          </a:p>
        </p:txBody>
      </p:sp>
      <p:sp>
        <p:nvSpPr>
          <p:cNvPr id="103429" name="Rectangular Callout 6"/>
          <p:cNvSpPr>
            <a:spLocks noChangeArrowheads="1"/>
          </p:cNvSpPr>
          <p:nvPr/>
        </p:nvSpPr>
        <p:spPr bwMode="auto">
          <a:xfrm>
            <a:off x="3124200" y="5867400"/>
            <a:ext cx="4419600" cy="685800"/>
          </a:xfrm>
          <a:prstGeom prst="wedgeRectCallout">
            <a:avLst>
              <a:gd name="adj1" fmla="val -54273"/>
              <a:gd name="adj2" fmla="val -72046"/>
            </a:avLst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>
                <a:latin typeface="Helvetica" charset="0"/>
                <a:cs typeface="Helvetica" charset="0"/>
              </a:rPr>
              <a:t>Need to change to broadcast!</a:t>
            </a:r>
          </a:p>
        </p:txBody>
      </p:sp>
    </p:spTree>
    <p:extLst>
      <p:ext uri="{BB962C8B-B14F-4D97-AF65-F5344CB8AC3E}">
        <p14:creationId xmlns:p14="http://schemas.microsoft.com/office/powerpoint/2010/main" val="3141527327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9C9B6-3DCF-654A-843B-855BE3740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914400"/>
            <a:ext cx="7886700" cy="4995305"/>
          </a:xfrm>
        </p:spPr>
        <p:txBody>
          <a:bodyPr>
            <a:normAutofit/>
          </a:bodyPr>
          <a:lstStyle/>
          <a:p>
            <a:r>
              <a:rPr lang="en-US" dirty="0"/>
              <a:t>Given that the overhead of a critical section is X</a:t>
            </a:r>
          </a:p>
          <a:p>
            <a:pPr lvl="1"/>
            <a:r>
              <a:rPr lang="en-US" dirty="0"/>
              <a:t>User-&gt;Kernel Context Switch</a:t>
            </a:r>
          </a:p>
          <a:p>
            <a:pPr lvl="1"/>
            <a:r>
              <a:rPr lang="en-US" dirty="0"/>
              <a:t>Acquire Lock</a:t>
            </a:r>
          </a:p>
          <a:p>
            <a:pPr lvl="1"/>
            <a:r>
              <a:rPr lang="en-US" dirty="0"/>
              <a:t>Kernel-&gt;User Context Switch</a:t>
            </a:r>
          </a:p>
          <a:p>
            <a:pPr lvl="1"/>
            <a:r>
              <a:rPr lang="en-US" dirty="0"/>
              <a:t>&lt;perform </a:t>
            </a:r>
            <a:r>
              <a:rPr lang="en-US"/>
              <a:t>critical section </a:t>
            </a:r>
            <a:r>
              <a:rPr lang="en-US" dirty="0"/>
              <a:t>work&gt;</a:t>
            </a:r>
          </a:p>
          <a:p>
            <a:pPr lvl="1"/>
            <a:r>
              <a:rPr lang="en-US" dirty="0"/>
              <a:t>User-&gt;Kernel Context Switch</a:t>
            </a:r>
          </a:p>
          <a:p>
            <a:pPr lvl="1"/>
            <a:r>
              <a:rPr lang="en-US" dirty="0"/>
              <a:t>Release Lock</a:t>
            </a:r>
          </a:p>
          <a:p>
            <a:pPr lvl="1"/>
            <a:r>
              <a:rPr lang="en-US" dirty="0"/>
              <a:t>Kernel-&gt;User Context Switch</a:t>
            </a:r>
          </a:p>
          <a:p>
            <a:r>
              <a:rPr lang="en-US" dirty="0"/>
              <a:t>Even if everything else is infinitely fast, with any number of threads and cores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Performance Model</a:t>
            </a:r>
          </a:p>
        </p:txBody>
      </p:sp>
    </p:spTree>
    <p:extLst>
      <p:ext uri="{BB962C8B-B14F-4D97-AF65-F5344CB8AC3E}">
        <p14:creationId xmlns:p14="http://schemas.microsoft.com/office/powerpoint/2010/main" val="15934217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EB3D9D-7140-0A43-BE6B-5F1951B1A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Announcement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5618F2-4F3B-4A46-BFD6-9E648E79D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14400"/>
            <a:ext cx="8382000" cy="5105400"/>
          </a:xfrm>
        </p:spPr>
        <p:txBody>
          <a:bodyPr/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Midterm</a:t>
            </a:r>
            <a:r>
              <a:rPr kumimoji="1" lang="zh-CN" altLang="en-US" dirty="0"/>
              <a:t> </a:t>
            </a:r>
            <a:r>
              <a:rPr kumimoji="1" lang="en-US" altLang="zh-CN" dirty="0"/>
              <a:t>next</a:t>
            </a:r>
            <a:r>
              <a:rPr kumimoji="1" lang="zh-CN" altLang="en-US" dirty="0"/>
              <a:t> </a:t>
            </a:r>
            <a:r>
              <a:rPr kumimoji="1" lang="en-US" altLang="zh-CN" dirty="0"/>
              <a:t>week</a:t>
            </a:r>
            <a:r>
              <a:rPr kumimoji="1" lang="zh-CN" altLang="en-US" dirty="0"/>
              <a:t> </a:t>
            </a:r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Apr</a:t>
            </a:r>
            <a:r>
              <a:rPr kumimoji="1" lang="zh-CN" altLang="en-US" dirty="0"/>
              <a:t> </a:t>
            </a:r>
            <a:r>
              <a:rPr kumimoji="1" lang="en-US" altLang="zh-CN"/>
              <a:t>17,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class</a:t>
            </a:r>
          </a:p>
          <a:p>
            <a:pPr lvl="1"/>
            <a:r>
              <a:rPr kumimoji="1" lang="en-US" altLang="zh-CN" dirty="0"/>
              <a:t>6A047</a:t>
            </a:r>
            <a:r>
              <a:rPr kumimoji="1" lang="zh-CN" altLang="en-US" dirty="0"/>
              <a:t> </a:t>
            </a:r>
            <a:r>
              <a:rPr kumimoji="1" lang="en-US" altLang="zh-CN" dirty="0"/>
              <a:t>(odd</a:t>
            </a:r>
            <a:r>
              <a:rPr kumimoji="1" lang="zh-CN" altLang="en-US" dirty="0"/>
              <a:t> </a:t>
            </a:r>
            <a:r>
              <a:rPr kumimoji="1" lang="en-US" altLang="zh-CN" dirty="0"/>
              <a:t>student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IDs)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/>
              <a:t>6A215</a:t>
            </a:r>
            <a:r>
              <a:rPr kumimoji="1" lang="zh-CN" altLang="en-US" dirty="0"/>
              <a:t> </a:t>
            </a:r>
            <a:r>
              <a:rPr kumimoji="1" lang="en-US" altLang="zh-CN" dirty="0"/>
              <a:t>(even</a:t>
            </a:r>
            <a:r>
              <a:rPr kumimoji="1" lang="zh-CN" altLang="en-US" dirty="0"/>
              <a:t> </a:t>
            </a:r>
            <a:r>
              <a:rPr kumimoji="1" lang="en-US" altLang="zh-CN" dirty="0"/>
              <a:t>student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IDs)</a:t>
            </a:r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A4-size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cheat</a:t>
            </a:r>
            <a:r>
              <a:rPr kumimoji="1" lang="zh-CN" altLang="en-US" dirty="0"/>
              <a:t> </a:t>
            </a:r>
            <a:r>
              <a:rPr kumimoji="1" lang="en-US" altLang="zh-CN" dirty="0"/>
              <a:t>sheet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allowed</a:t>
            </a:r>
          </a:p>
          <a:p>
            <a:pPr lvl="1"/>
            <a:r>
              <a:rPr kumimoji="1" lang="en-US" altLang="zh-CN" dirty="0"/>
              <a:t>Must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bare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eyes</a:t>
            </a:r>
            <a:r>
              <a:rPr kumimoji="1" lang="zh-CN" altLang="en-US" dirty="0"/>
              <a:t> </a:t>
            </a:r>
            <a:r>
              <a:rPr kumimoji="1" lang="en-US" altLang="zh-CN" dirty="0"/>
              <a:t>(and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destroying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them)</a:t>
            </a:r>
          </a:p>
          <a:p>
            <a:r>
              <a:rPr kumimoji="1" lang="en-US" altLang="zh-CN" dirty="0"/>
              <a:t>Covers</a:t>
            </a:r>
            <a:r>
              <a:rPr kumimoji="1" lang="zh-CN" altLang="en-US" dirty="0"/>
              <a:t> </a:t>
            </a:r>
            <a:r>
              <a:rPr kumimoji="1" lang="en-US" altLang="zh-CN" dirty="0"/>
              <a:t>materials</a:t>
            </a:r>
            <a:r>
              <a:rPr kumimoji="1" lang="zh-CN" altLang="en-US" dirty="0"/>
              <a:t> </a:t>
            </a:r>
            <a:r>
              <a:rPr kumimoji="1" lang="en-US" altLang="zh-CN" dirty="0"/>
              <a:t>up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end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today</a:t>
            </a:r>
          </a:p>
          <a:p>
            <a:endParaRPr kumimoji="1" lang="en-US" altLang="zh-CN" dirty="0"/>
          </a:p>
          <a:p>
            <a:r>
              <a:rPr kumimoji="1" lang="en-US" altLang="zh-CN" dirty="0">
                <a:solidFill>
                  <a:srgbClr val="FF0000"/>
                </a:solidFill>
              </a:rPr>
              <a:t>Lab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2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out</a:t>
            </a:r>
          </a:p>
          <a:p>
            <a:pPr lvl="1"/>
            <a:r>
              <a:rPr kumimoji="1" lang="en-US" altLang="zh-CN" dirty="0"/>
              <a:t>Please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early,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</a:t>
            </a:r>
            <a:r>
              <a:rPr kumimoji="1" lang="zh-CN" altLang="en-US" dirty="0"/>
              <a:t> </a:t>
            </a:r>
            <a:r>
              <a:rPr kumimoji="1" lang="en-US" altLang="zh-CN" dirty="0"/>
              <a:t>have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any</a:t>
            </a:r>
            <a:r>
              <a:rPr kumimoji="1" lang="zh-CN" altLang="en-US" dirty="0"/>
              <a:t> </a:t>
            </a:r>
            <a:r>
              <a:rPr kumimoji="1" lang="en-US" altLang="zh-CN" dirty="0"/>
              <a:t>questions</a:t>
            </a:r>
          </a:p>
          <a:p>
            <a:pPr lvl="1"/>
            <a:r>
              <a:rPr kumimoji="1" lang="en-US" altLang="zh-CN" dirty="0"/>
              <a:t>TA’s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host</a:t>
            </a:r>
            <a:r>
              <a:rPr kumimoji="1" lang="zh-CN" altLang="en-US" dirty="0"/>
              <a:t> </a:t>
            </a:r>
            <a:r>
              <a:rPr kumimoji="1" lang="en-US" altLang="zh-CN" dirty="0"/>
              <a:t>Q&amp;A</a:t>
            </a:r>
            <a:r>
              <a:rPr kumimoji="1" lang="zh-CN" altLang="en-US" dirty="0"/>
              <a:t> </a:t>
            </a:r>
            <a:r>
              <a:rPr kumimoji="1" lang="en-US" altLang="zh-CN" dirty="0"/>
              <a:t>sessions</a:t>
            </a:r>
          </a:p>
          <a:p>
            <a:pPr lvl="1"/>
            <a:r>
              <a:rPr kumimoji="1" lang="en-US" altLang="zh-CN" dirty="0"/>
              <a:t>Consider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working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it</a:t>
            </a:r>
            <a:r>
              <a:rPr kumimoji="1" lang="zh-CN" altLang="en-US" dirty="0"/>
              <a:t> </a:t>
            </a:r>
            <a:r>
              <a:rPr kumimoji="1" lang="en-US" altLang="zh-CN" dirty="0"/>
              <a:t>right</a:t>
            </a:r>
            <a:r>
              <a:rPr kumimoji="1" lang="zh-CN" altLang="en-US" dirty="0"/>
              <a:t> </a:t>
            </a:r>
            <a:r>
              <a:rPr kumimoji="1" lang="en-US" altLang="zh-CN" dirty="0"/>
              <a:t>after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midterm?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HW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2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out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weekend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4984836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support for synchronization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504185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wrong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ko-KR" dirty="0" err="1">
                <a:latin typeface="Consolas" charset="0"/>
                <a:ea typeface="Gulim" charset="0"/>
                <a:cs typeface="Consolas" charset="0"/>
              </a:rPr>
              <a:t>int</a:t>
            </a: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 </a:t>
            </a:r>
            <a:r>
              <a:rPr lang="en-US" altLang="ko-KR" dirty="0" err="1">
                <a:latin typeface="Consolas" charset="0"/>
                <a:ea typeface="Gulim" charset="0"/>
                <a:cs typeface="Consolas" charset="0"/>
              </a:rPr>
              <a:t>Rtn</a:t>
            </a: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() {</a:t>
            </a:r>
            <a:br>
              <a:rPr lang="en-US" altLang="ko-KR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		</a:t>
            </a:r>
            <a:r>
              <a:rPr lang="en-US" altLang="ko-KR" dirty="0" err="1">
                <a:latin typeface="Consolas" charset="0"/>
                <a:ea typeface="Gulim" charset="0"/>
                <a:cs typeface="Consolas" charset="0"/>
              </a:rPr>
              <a:t>lock.acquire</a:t>
            </a: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();</a:t>
            </a:r>
            <a:br>
              <a:rPr lang="en-US" altLang="ko-KR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		</a:t>
            </a:r>
            <a:r>
              <a:rPr lang="mr-IN" altLang="zh-CN" dirty="0">
                <a:latin typeface="Consolas" charset="0"/>
                <a:ea typeface="Gulim" charset="0"/>
                <a:cs typeface="Consolas" charset="0"/>
              </a:rPr>
              <a:t>…</a:t>
            </a:r>
            <a:endParaRPr lang="en-US" altLang="zh-CN" dirty="0">
              <a:latin typeface="Consolas" charset="0"/>
              <a:ea typeface="Gulim" charset="0"/>
              <a:cs typeface="Consolas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		</a:t>
            </a:r>
            <a:r>
              <a:rPr lang="en-US" altLang="zh-CN" dirty="0" err="1">
                <a:latin typeface="Consolas" charset="0"/>
                <a:ea typeface="Gulim" charset="0"/>
                <a:cs typeface="Consolas" charset="0"/>
              </a:rPr>
              <a:t>int</a:t>
            </a:r>
            <a:r>
              <a:rPr lang="zh-CN" altLang="en-US" dirty="0">
                <a:latin typeface="Consolas" charset="0"/>
                <a:ea typeface="Gulim" charset="0"/>
                <a:cs typeface="Consolas" charset="0"/>
              </a:rPr>
              <a:t> </a:t>
            </a:r>
            <a:r>
              <a:rPr lang="en-US" altLang="zh-CN" dirty="0">
                <a:latin typeface="Consolas" charset="0"/>
                <a:ea typeface="Gulim" charset="0"/>
                <a:cs typeface="Consolas" charset="0"/>
              </a:rPr>
              <a:t>error</a:t>
            </a:r>
            <a:r>
              <a:rPr lang="zh-CN" altLang="en-US" dirty="0">
                <a:latin typeface="Consolas" charset="0"/>
                <a:ea typeface="Gulim" charset="0"/>
                <a:cs typeface="Consolas" charset="0"/>
              </a:rPr>
              <a:t> </a:t>
            </a:r>
            <a:r>
              <a:rPr lang="en-US" altLang="zh-CN" dirty="0">
                <a:latin typeface="Consolas" charset="0"/>
                <a:ea typeface="Gulim" charset="0"/>
                <a:cs typeface="Consolas" charset="0"/>
              </a:rPr>
              <a:t>=</a:t>
            </a:r>
            <a:r>
              <a:rPr lang="zh-CN" altLang="en-US" dirty="0">
                <a:latin typeface="Consolas" charset="0"/>
                <a:ea typeface="Gulim" charset="0"/>
                <a:cs typeface="Consolas" charset="0"/>
              </a:rPr>
              <a:t> </a:t>
            </a:r>
            <a:r>
              <a:rPr lang="en-US" altLang="zh-CN" dirty="0">
                <a:latin typeface="Consolas" charset="0"/>
                <a:ea typeface="Gulim" charset="0"/>
                <a:cs typeface="Consolas" charset="0"/>
              </a:rPr>
              <a:t>open(“</a:t>
            </a:r>
            <a:r>
              <a:rPr lang="en-US" altLang="zh-CN" dirty="0" err="1">
                <a:latin typeface="Consolas" charset="0"/>
                <a:ea typeface="Gulim" charset="0"/>
                <a:cs typeface="Consolas" charset="0"/>
              </a:rPr>
              <a:t>file_name</a:t>
            </a:r>
            <a:r>
              <a:rPr lang="en-US" altLang="zh-CN" dirty="0">
                <a:latin typeface="Consolas" charset="0"/>
                <a:ea typeface="Gulim" charset="0"/>
                <a:cs typeface="Consolas" charset="0"/>
              </a:rPr>
              <a:t>”);</a:t>
            </a:r>
            <a:br>
              <a:rPr lang="en-US" altLang="ko-KR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		if (error) {</a:t>
            </a:r>
            <a:br>
              <a:rPr lang="en-US" altLang="ko-KR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			return </a:t>
            </a:r>
            <a:r>
              <a:rPr lang="en-US" altLang="ko-KR" dirty="0" err="1">
                <a:latin typeface="Consolas" charset="0"/>
                <a:ea typeface="Gulim" charset="0"/>
                <a:cs typeface="Consolas" charset="0"/>
              </a:rPr>
              <a:t>errReturnCode</a:t>
            </a: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;</a:t>
            </a:r>
            <a:br>
              <a:rPr lang="en-US" altLang="ko-KR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		}</a:t>
            </a:r>
            <a:br>
              <a:rPr lang="en-US" altLang="ko-KR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		…</a:t>
            </a:r>
            <a:br>
              <a:rPr lang="en-US" altLang="ko-KR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		</a:t>
            </a:r>
            <a:r>
              <a:rPr lang="en-US" altLang="ko-KR" dirty="0" err="1">
                <a:latin typeface="Consolas" charset="0"/>
                <a:ea typeface="Gulim" charset="0"/>
                <a:cs typeface="Consolas" charset="0"/>
              </a:rPr>
              <a:t>lock.release</a:t>
            </a: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();</a:t>
            </a:r>
            <a:br>
              <a:rPr lang="en-US" altLang="ko-KR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		return OK;</a:t>
            </a:r>
            <a:br>
              <a:rPr lang="en-US" altLang="ko-KR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6864317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533400"/>
          </a:xfrm>
        </p:spPr>
        <p:txBody>
          <a:bodyPr/>
          <a:lstStyle/>
          <a:p>
            <a:r>
              <a:rPr lang="en-US" altLang="ko-KR" sz="2800" dirty="0">
                <a:latin typeface="Helvetica" charset="0"/>
                <a:ea typeface="Gulim" charset="0"/>
                <a:cs typeface="Gulim" charset="0"/>
              </a:rPr>
              <a:t>C-Language Support for Synchronization</a:t>
            </a:r>
          </a:p>
        </p:txBody>
      </p:sp>
      <p:sp>
        <p:nvSpPr>
          <p:cNvPr id="5416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153400" cy="5486400"/>
          </a:xfrm>
        </p:spPr>
        <p:txBody>
          <a:bodyPr/>
          <a:lstStyle/>
          <a:p>
            <a:pPr>
              <a:lnSpc>
                <a:spcPct val="100000"/>
              </a:lnSpc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C language: All locking/unlocking is explicit: you need to check every possible exit path from a critical section. </a:t>
            </a:r>
          </a:p>
          <a:p>
            <a:pPr lvl="1">
              <a:lnSpc>
                <a:spcPct val="80000"/>
              </a:lnSpc>
              <a:buFontTx/>
              <a:buNone/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	</a:t>
            </a:r>
          </a:p>
          <a:p>
            <a:pPr lvl="1">
              <a:lnSpc>
                <a:spcPct val="80000"/>
              </a:lnSpc>
              <a:spcBef>
                <a:spcPct val="0"/>
              </a:spcBef>
              <a:buFontTx/>
              <a:buNone/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 </a:t>
            </a:r>
            <a:r>
              <a:rPr lang="en-US" altLang="ko-KR" sz="2000" dirty="0" err="1">
                <a:latin typeface="Consolas" charset="0"/>
                <a:ea typeface="Gulim" charset="0"/>
                <a:cs typeface="Consolas" charset="0"/>
              </a:rPr>
              <a:t>int</a:t>
            </a: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 </a:t>
            </a:r>
            <a:r>
              <a:rPr lang="en-US" altLang="ko-KR" sz="2000" dirty="0" err="1">
                <a:latin typeface="Consolas" charset="0"/>
                <a:ea typeface="Gulim" charset="0"/>
                <a:cs typeface="Consolas" charset="0"/>
              </a:rPr>
              <a:t>Rtn</a:t>
            </a: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() {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</a:t>
            </a:r>
            <a:r>
              <a:rPr lang="en-US" altLang="ko-KR" sz="2000" dirty="0" err="1">
                <a:latin typeface="Consolas" charset="0"/>
                <a:ea typeface="Gulim" charset="0"/>
                <a:cs typeface="Consolas" charset="0"/>
              </a:rPr>
              <a:t>lock.acquire</a:t>
            </a: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();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…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</a:t>
            </a:r>
            <a: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  <a:t>if (error) {</a:t>
            </a:r>
            <a:b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  <a:t>			</a:t>
            </a:r>
            <a:r>
              <a:rPr lang="en-US" altLang="ko-KR" sz="2000" dirty="0" err="1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  <a:t>lock.release</a:t>
            </a:r>
            <a: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  <a:t>();</a:t>
            </a:r>
            <a:b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  <a:t>			return </a:t>
            </a:r>
            <a:r>
              <a:rPr lang="en-US" altLang="ko-KR" sz="2000" dirty="0" err="1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  <a:t>errReturnCode</a:t>
            </a:r>
            <a: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  <a:t>;</a:t>
            </a:r>
            <a:b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  <a:t>		}</a:t>
            </a:r>
            <a:b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…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</a:t>
            </a:r>
            <a:r>
              <a:rPr lang="en-US" altLang="ko-KR" sz="2000" dirty="0" err="1">
                <a:latin typeface="Consolas" charset="0"/>
                <a:ea typeface="Gulim" charset="0"/>
                <a:cs typeface="Consolas" charset="0"/>
              </a:rPr>
              <a:t>lock.release</a:t>
            </a: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();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return OK;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9040615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wrong?</a:t>
            </a:r>
            <a:r>
              <a:rPr kumimoji="1" lang="zh-CN" altLang="en-US" dirty="0"/>
              <a:t> </a:t>
            </a:r>
            <a:r>
              <a:rPr kumimoji="1" lang="en-US" altLang="zh-CN" dirty="0"/>
              <a:t>(C++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void </a:t>
            </a:r>
            <a:r>
              <a:rPr lang="en-US" altLang="ko-KR" dirty="0" err="1">
                <a:latin typeface="Consolas" charset="0"/>
                <a:ea typeface="Gulim" charset="0"/>
                <a:cs typeface="Consolas" charset="0"/>
              </a:rPr>
              <a:t>Rtn</a:t>
            </a: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() {</a:t>
            </a:r>
            <a:br>
              <a:rPr lang="en-US" altLang="ko-KR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		</a:t>
            </a:r>
            <a:r>
              <a:rPr lang="en-US" altLang="ko-KR" dirty="0" err="1">
                <a:latin typeface="Consolas" charset="0"/>
                <a:ea typeface="Gulim" charset="0"/>
                <a:cs typeface="Consolas" charset="0"/>
              </a:rPr>
              <a:t>lock.acquire</a:t>
            </a: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();</a:t>
            </a:r>
            <a:br>
              <a:rPr lang="en-US" altLang="ko-KR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		…</a:t>
            </a:r>
            <a:br>
              <a:rPr lang="en-US" altLang="ko-KR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		</a:t>
            </a:r>
            <a:r>
              <a:rPr lang="en-US" altLang="ko-KR" dirty="0" err="1">
                <a:latin typeface="Consolas" charset="0"/>
                <a:ea typeface="Gulim" charset="0"/>
                <a:cs typeface="Consolas" charset="0"/>
              </a:rPr>
              <a:t>DoFoo</a:t>
            </a: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();</a:t>
            </a:r>
            <a:br>
              <a:rPr lang="en-US" altLang="ko-KR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		…</a:t>
            </a:r>
            <a:br>
              <a:rPr lang="en-US" altLang="ko-KR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		</a:t>
            </a:r>
            <a:r>
              <a:rPr lang="en-US" altLang="ko-KR" dirty="0" err="1">
                <a:latin typeface="Consolas" charset="0"/>
                <a:ea typeface="Gulim" charset="0"/>
                <a:cs typeface="Consolas" charset="0"/>
              </a:rPr>
              <a:t>lock.release</a:t>
            </a: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();</a:t>
            </a:r>
            <a:br>
              <a:rPr lang="en-US" altLang="ko-KR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	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6654108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533400"/>
          </a:xfrm>
        </p:spPr>
        <p:txBody>
          <a:bodyPr/>
          <a:lstStyle/>
          <a:p>
            <a:r>
              <a:rPr lang="en-US" altLang="ko-KR" sz="2800" dirty="0">
                <a:latin typeface="Helvetica" charset="0"/>
                <a:ea typeface="Gulim" charset="0"/>
                <a:cs typeface="Gulim" charset="0"/>
              </a:rPr>
              <a:t>C++ Language Support for Synchronization</a:t>
            </a:r>
          </a:p>
        </p:txBody>
      </p:sp>
      <p:sp>
        <p:nvSpPr>
          <p:cNvPr id="49664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685800"/>
            <a:ext cx="8839200" cy="5867400"/>
          </a:xfrm>
        </p:spPr>
        <p:txBody>
          <a:bodyPr/>
          <a:lstStyle/>
          <a:p>
            <a:pPr>
              <a:spcBef>
                <a:spcPct val="20000"/>
              </a:spcBef>
              <a:tabLst>
                <a:tab pos="1027113" algn="l"/>
                <a:tab pos="1377950" algn="l"/>
                <a:tab pos="1716088" algn="l"/>
                <a:tab pos="3206750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Languages with exceptions like C++</a:t>
            </a:r>
          </a:p>
          <a:p>
            <a:pPr lvl="1">
              <a:spcBef>
                <a:spcPct val="20000"/>
              </a:spcBef>
              <a:tabLst>
                <a:tab pos="1027113" algn="l"/>
                <a:tab pos="1377950" algn="l"/>
                <a:tab pos="1716088" algn="l"/>
                <a:tab pos="3206750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Languages that support exceptions are more challenging: exceptions create many new exit paths from the critical section.</a:t>
            </a:r>
          </a:p>
          <a:p>
            <a:pPr lvl="1">
              <a:spcBef>
                <a:spcPct val="20000"/>
              </a:spcBef>
              <a:tabLst>
                <a:tab pos="1027113" algn="l"/>
                <a:tab pos="1377950" algn="l"/>
                <a:tab pos="1716088" algn="l"/>
                <a:tab pos="3206750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Consider:</a:t>
            </a:r>
          </a:p>
          <a:p>
            <a:pPr lvl="1">
              <a:lnSpc>
                <a:spcPct val="80000"/>
              </a:lnSpc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3206750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	</a:t>
            </a: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	</a:t>
            </a: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void </a:t>
            </a:r>
            <a:r>
              <a:rPr lang="en-US" altLang="ko-KR" sz="2000" dirty="0" err="1">
                <a:latin typeface="Consolas" charset="0"/>
                <a:ea typeface="Gulim" charset="0"/>
                <a:cs typeface="Consolas" charset="0"/>
              </a:rPr>
              <a:t>Rtn</a:t>
            </a: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() {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</a:t>
            </a:r>
            <a:r>
              <a:rPr lang="en-US" altLang="ko-KR" sz="2000" dirty="0" err="1">
                <a:latin typeface="Consolas" charset="0"/>
                <a:ea typeface="Gulim" charset="0"/>
                <a:cs typeface="Consolas" charset="0"/>
              </a:rPr>
              <a:t>lock.acquire</a:t>
            </a: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();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…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</a:t>
            </a:r>
            <a:r>
              <a:rPr lang="en-US" altLang="ko-KR" sz="2000" dirty="0" err="1">
                <a:latin typeface="Consolas" charset="0"/>
                <a:ea typeface="Gulim" charset="0"/>
                <a:cs typeface="Consolas" charset="0"/>
              </a:rPr>
              <a:t>DoFoo</a:t>
            </a: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();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…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</a:t>
            </a:r>
            <a:r>
              <a:rPr lang="en-US" altLang="ko-KR" sz="2000" dirty="0" err="1">
                <a:latin typeface="Consolas" charset="0"/>
                <a:ea typeface="Gulim" charset="0"/>
                <a:cs typeface="Consolas" charset="0"/>
              </a:rPr>
              <a:t>lock.release</a:t>
            </a: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();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}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void </a:t>
            </a:r>
            <a:r>
              <a:rPr lang="en-US" altLang="ko-KR" sz="2000" dirty="0" err="1">
                <a:latin typeface="Consolas" charset="0"/>
                <a:ea typeface="Gulim" charset="0"/>
                <a:cs typeface="Consolas" charset="0"/>
              </a:rPr>
              <a:t>DoFoo</a:t>
            </a: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() {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…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if (exception) throw </a:t>
            </a:r>
            <a:r>
              <a:rPr lang="en-US" altLang="ko-KR" sz="2000" dirty="0" err="1">
                <a:latin typeface="Consolas" charset="0"/>
                <a:ea typeface="Gulim" charset="0"/>
                <a:cs typeface="Consolas" charset="0"/>
              </a:rPr>
              <a:t>errException</a:t>
            </a: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;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…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}</a:t>
            </a:r>
          </a:p>
          <a:p>
            <a:pPr lvl="1">
              <a:spcBef>
                <a:spcPct val="20000"/>
              </a:spcBef>
              <a:tabLst>
                <a:tab pos="1027113" algn="l"/>
                <a:tab pos="1377950" algn="l"/>
                <a:tab pos="1716088" algn="l"/>
                <a:tab pos="3206750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Notice that an exception in </a:t>
            </a:r>
            <a:r>
              <a:rPr lang="en-US" altLang="ko-KR" dirty="0" err="1">
                <a:latin typeface="Helvetica" charset="0"/>
                <a:ea typeface="Gulim" charset="0"/>
                <a:cs typeface="Gulim" charset="0"/>
              </a:rPr>
              <a:t>DoFoo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() will exit without releasing the lock</a:t>
            </a:r>
          </a:p>
        </p:txBody>
      </p:sp>
    </p:spTree>
    <p:extLst>
      <p:ext uri="{BB962C8B-B14F-4D97-AF65-F5344CB8AC3E}">
        <p14:creationId xmlns:p14="http://schemas.microsoft.com/office/powerpoint/2010/main" val="5240480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152400"/>
            <a:ext cx="9220200" cy="533400"/>
          </a:xfrm>
        </p:spPr>
        <p:txBody>
          <a:bodyPr/>
          <a:lstStyle/>
          <a:p>
            <a:r>
              <a:rPr lang="en-US" altLang="ko-KR" sz="2400" dirty="0">
                <a:latin typeface="Helvetica" charset="0"/>
                <a:ea typeface="Gulim" charset="0"/>
                <a:cs typeface="Gulim" charset="0"/>
              </a:rPr>
              <a:t>C++ Language Support for Synchronization (cont’d)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686800" cy="6019800"/>
          </a:xfrm>
        </p:spPr>
        <p:txBody>
          <a:bodyPr/>
          <a:lstStyle/>
          <a:p>
            <a:pPr>
              <a:lnSpc>
                <a:spcPct val="85000"/>
              </a:lnSpc>
              <a:spcBef>
                <a:spcPct val="15000"/>
              </a:spcBef>
              <a:tabLst>
                <a:tab pos="1027113" algn="l"/>
                <a:tab pos="1377950" algn="l"/>
                <a:tab pos="1716088" algn="l"/>
                <a:tab pos="4121150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Must catch </a:t>
            </a:r>
            <a:r>
              <a:rPr lang="en-US" altLang="ko-KR" b="1" dirty="0">
                <a:solidFill>
                  <a:srgbClr val="C00000"/>
                </a:solidFill>
                <a:latin typeface="Helvetica" charset="0"/>
                <a:ea typeface="Gulim" charset="0"/>
                <a:cs typeface="Gulim" charset="0"/>
              </a:rPr>
              <a:t>all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exceptions in critical sections</a:t>
            </a:r>
          </a:p>
          <a:p>
            <a:pPr lvl="1">
              <a:lnSpc>
                <a:spcPct val="85000"/>
              </a:lnSpc>
              <a:spcBef>
                <a:spcPct val="15000"/>
              </a:spcBef>
              <a:tabLst>
                <a:tab pos="1027113" algn="l"/>
                <a:tab pos="1377950" algn="l"/>
                <a:tab pos="1716088" algn="l"/>
                <a:tab pos="4121150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Catch exceptions, release lock, and re-throw exception:</a:t>
            </a:r>
            <a:br>
              <a:rPr lang="en-US" altLang="ko-KR" dirty="0">
                <a:latin typeface="Helvetica" charset="0"/>
                <a:ea typeface="Gulim" charset="0"/>
                <a:cs typeface="Gulim" charset="0"/>
              </a:rPr>
            </a:br>
            <a:r>
              <a:rPr lang="en-US" altLang="ko-KR" dirty="0">
                <a:latin typeface="Consolas" charset="0"/>
                <a:ea typeface="Gulim" charset="0"/>
                <a:cs typeface="Consolas" charset="0"/>
              </a:rPr>
              <a:t>	</a:t>
            </a: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void </a:t>
            </a:r>
            <a:r>
              <a:rPr lang="en-US" altLang="ko-KR" sz="2000" dirty="0" err="1">
                <a:latin typeface="Consolas" charset="0"/>
                <a:ea typeface="Gulim" charset="0"/>
                <a:cs typeface="Consolas" charset="0"/>
              </a:rPr>
              <a:t>Rtn</a:t>
            </a: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() {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</a:t>
            </a:r>
            <a:r>
              <a:rPr lang="en-US" altLang="ko-KR" sz="2000" dirty="0" err="1">
                <a:latin typeface="Consolas" charset="0"/>
                <a:ea typeface="Gulim" charset="0"/>
                <a:cs typeface="Consolas" charset="0"/>
              </a:rPr>
              <a:t>lock.acquire</a:t>
            </a: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();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</a:t>
            </a:r>
            <a: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  <a:t>try {</a:t>
            </a:r>
            <a:b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	…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	</a:t>
            </a:r>
            <a:r>
              <a:rPr lang="en-US" altLang="ko-KR" sz="2000" dirty="0" err="1">
                <a:latin typeface="Consolas" charset="0"/>
                <a:ea typeface="Gulim" charset="0"/>
                <a:cs typeface="Consolas" charset="0"/>
              </a:rPr>
              <a:t>DoFoo</a:t>
            </a: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();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	…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</a:t>
            </a:r>
            <a: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  <a:t>} catch (...) {     // really three dots!</a:t>
            </a:r>
          </a:p>
          <a:p>
            <a:pPr lvl="1">
              <a:lnSpc>
                <a:spcPct val="85000"/>
              </a:lnSpc>
              <a:spcBef>
                <a:spcPct val="1500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4121150" algn="l"/>
              </a:tabLst>
            </a:pPr>
            <a: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  <a:t>                           // catch all exceptions</a:t>
            </a:r>
            <a:b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  <a:t>			</a:t>
            </a:r>
            <a:r>
              <a:rPr lang="en-US" altLang="ko-KR" sz="2000" dirty="0" err="1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  <a:t>lock.release</a:t>
            </a:r>
            <a: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  <a:t>();	 // release lock</a:t>
            </a:r>
            <a:b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  <a:t>			throw;            // re-throw unknown exception</a:t>
            </a:r>
            <a:b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  <a:t>		}</a:t>
            </a:r>
            <a:br>
              <a:rPr lang="en-US" altLang="ko-KR" sz="2000" dirty="0">
                <a:solidFill>
                  <a:schemeClr val="hlink"/>
                </a:solidFill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</a:t>
            </a:r>
            <a:r>
              <a:rPr lang="en-US" altLang="ko-KR" sz="2000" dirty="0" err="1">
                <a:latin typeface="Consolas" charset="0"/>
                <a:ea typeface="Gulim" charset="0"/>
                <a:cs typeface="Consolas" charset="0"/>
              </a:rPr>
              <a:t>lock.release</a:t>
            </a: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();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}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void </a:t>
            </a:r>
            <a:r>
              <a:rPr lang="en-US" altLang="ko-KR" sz="2000" dirty="0" err="1">
                <a:latin typeface="Consolas" charset="0"/>
                <a:ea typeface="Gulim" charset="0"/>
                <a:cs typeface="Consolas" charset="0"/>
              </a:rPr>
              <a:t>DoFoo</a:t>
            </a: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() {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…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if (exception) throw </a:t>
            </a:r>
            <a:r>
              <a:rPr lang="en-US" altLang="ko-KR" sz="2000" dirty="0" err="1">
                <a:latin typeface="Consolas" charset="0"/>
                <a:ea typeface="Gulim" charset="0"/>
                <a:cs typeface="Consolas" charset="0"/>
              </a:rPr>
              <a:t>errException</a:t>
            </a: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;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	…</a:t>
            </a:r>
            <a:br>
              <a:rPr lang="en-US" altLang="ko-KR" sz="2000" dirty="0">
                <a:latin typeface="Consolas" charset="0"/>
                <a:ea typeface="Gulim" charset="0"/>
                <a:cs typeface="Consolas" charset="0"/>
              </a:rPr>
            </a:br>
            <a:r>
              <a:rPr lang="en-US" altLang="ko-KR" sz="2000" dirty="0">
                <a:latin typeface="Consolas" charset="0"/>
                <a:ea typeface="Gulim" charset="0"/>
                <a:cs typeface="Consolas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491816779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152400"/>
            <a:ext cx="9220200" cy="533400"/>
          </a:xfrm>
        </p:spPr>
        <p:txBody>
          <a:bodyPr/>
          <a:lstStyle/>
          <a:p>
            <a:r>
              <a:rPr lang="en-US" altLang="ko-KR" sz="2400" dirty="0">
                <a:latin typeface="Helvetica" charset="0"/>
                <a:ea typeface="Gulim" charset="0"/>
                <a:cs typeface="Gulim" charset="0"/>
              </a:rPr>
              <a:t>C++ Language Support for Synchronization (cont’d)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839200" cy="6019800"/>
          </a:xfrm>
        </p:spPr>
        <p:txBody>
          <a:bodyPr/>
          <a:lstStyle/>
          <a:p>
            <a:pPr>
              <a:lnSpc>
                <a:spcPct val="85000"/>
              </a:lnSpc>
              <a:spcBef>
                <a:spcPct val="15000"/>
              </a:spcBef>
              <a:tabLst>
                <a:tab pos="1027113" algn="l"/>
                <a:tab pos="1377950" algn="l"/>
                <a:tab pos="1716088" algn="l"/>
                <a:tab pos="4121150" algn="l"/>
              </a:tabLst>
              <a:defRPr/>
            </a:pP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Alternative (Recommended by </a:t>
            </a:r>
            <a:r>
              <a:rPr lang="en-US" altLang="ko-KR" dirty="0" err="1">
                <a:latin typeface="Helvetica" charset="0"/>
                <a:ea typeface="Gulim" pitchFamily="34" charset="-127"/>
                <a:cs typeface="ＭＳ Ｐゴシック" charset="-128"/>
              </a:rPr>
              <a:t>Stroustrup</a:t>
            </a: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): Use the lock class destructor to release the lock. </a:t>
            </a:r>
          </a:p>
          <a:p>
            <a:pPr>
              <a:lnSpc>
                <a:spcPct val="85000"/>
              </a:lnSpc>
              <a:spcBef>
                <a:spcPct val="15000"/>
              </a:spcBef>
              <a:tabLst>
                <a:tab pos="1027113" algn="l"/>
                <a:tab pos="1377950" algn="l"/>
                <a:tab pos="1716088" algn="l"/>
                <a:tab pos="4121150" algn="l"/>
              </a:tabLst>
              <a:defRPr/>
            </a:pP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Set it on entry to critical section contained in a { } block, gets automatically destroyed (&amp; released) on block exit.</a:t>
            </a:r>
          </a:p>
          <a:p>
            <a:pPr>
              <a:lnSpc>
                <a:spcPct val="85000"/>
              </a:lnSpc>
              <a:spcBef>
                <a:spcPct val="15000"/>
              </a:spcBef>
              <a:tabLst>
                <a:tab pos="1027113" algn="l"/>
                <a:tab pos="1377950" algn="l"/>
                <a:tab pos="1716088" algn="l"/>
                <a:tab pos="4121150" algn="l"/>
              </a:tabLst>
              <a:defRPr/>
            </a:pP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Exceptions will unwind the stack, call destructor, free the lock</a:t>
            </a:r>
          </a:p>
          <a:p>
            <a:pPr>
              <a:lnSpc>
                <a:spcPct val="85000"/>
              </a:lnSpc>
              <a:spcBef>
                <a:spcPct val="15000"/>
              </a:spcBef>
              <a:tabLst>
                <a:tab pos="1027113" algn="l"/>
                <a:tab pos="1377950" algn="l"/>
                <a:tab pos="1716088" algn="l"/>
                <a:tab pos="4121150" algn="l"/>
              </a:tabLst>
              <a:defRPr/>
            </a:pPr>
            <a:endParaRPr lang="en-US" sz="2000" dirty="0">
              <a:latin typeface="Helvetica" charset="0"/>
              <a:ea typeface="Gulim" pitchFamily="34" charset="-127"/>
              <a:cs typeface="Consolas" pitchFamily="49" charset="0"/>
            </a:endParaRPr>
          </a:p>
          <a:p>
            <a:pPr marL="0" indent="0">
              <a:lnSpc>
                <a:spcPct val="85000"/>
              </a:lnSpc>
              <a:spcBef>
                <a:spcPct val="1500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4121150" algn="l"/>
              </a:tabLst>
              <a:defRPr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class lock { </a:t>
            </a:r>
          </a:p>
          <a:p>
            <a:pPr marL="0" indent="0">
              <a:lnSpc>
                <a:spcPct val="85000"/>
              </a:lnSpc>
              <a:spcBef>
                <a:spcPct val="1500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4121150" algn="l"/>
              </a:tabLst>
              <a:defRPr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sz="2000" dirty="0" err="1">
                <a:latin typeface="Consolas" pitchFamily="49" charset="0"/>
                <a:cs typeface="Consolas" pitchFamily="49" charset="0"/>
              </a:rPr>
              <a:t>mutex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 &amp;m_; </a:t>
            </a:r>
          </a:p>
          <a:p>
            <a:pPr marL="0" indent="0">
              <a:lnSpc>
                <a:spcPct val="85000"/>
              </a:lnSpc>
              <a:spcBef>
                <a:spcPct val="1500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4121150" algn="l"/>
              </a:tabLst>
              <a:defRPr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public: </a:t>
            </a:r>
          </a:p>
          <a:p>
            <a:pPr marL="0" indent="0">
              <a:lnSpc>
                <a:spcPct val="85000"/>
              </a:lnSpc>
              <a:spcBef>
                <a:spcPct val="1500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4121150" algn="l"/>
              </a:tabLst>
              <a:defRPr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lock(</a:t>
            </a:r>
            <a:r>
              <a:rPr lang="en-US" sz="2000" dirty="0" err="1">
                <a:latin typeface="Consolas" pitchFamily="49" charset="0"/>
                <a:cs typeface="Consolas" pitchFamily="49" charset="0"/>
              </a:rPr>
              <a:t>mutex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 &amp;m) : m_(m) { </a:t>
            </a:r>
          </a:p>
          <a:p>
            <a:pPr marL="0" indent="0">
              <a:lnSpc>
                <a:spcPct val="85000"/>
              </a:lnSpc>
              <a:spcBef>
                <a:spcPct val="1500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4121150" algn="l"/>
              </a:tabLst>
              <a:defRPr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dirty="0" err="1">
                <a:latin typeface="Consolas" pitchFamily="49" charset="0"/>
                <a:cs typeface="Consolas" pitchFamily="49" charset="0"/>
              </a:rPr>
              <a:t>m.acquire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(); </a:t>
            </a:r>
          </a:p>
          <a:p>
            <a:pPr marL="0" indent="0">
              <a:lnSpc>
                <a:spcPct val="85000"/>
              </a:lnSpc>
              <a:spcBef>
                <a:spcPct val="1500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4121150" algn="l"/>
              </a:tabLst>
              <a:defRPr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} </a:t>
            </a:r>
          </a:p>
          <a:p>
            <a:pPr marL="0" indent="0">
              <a:lnSpc>
                <a:spcPct val="85000"/>
              </a:lnSpc>
              <a:spcBef>
                <a:spcPct val="1500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4121150" algn="l"/>
              </a:tabLst>
              <a:defRPr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~lock() { </a:t>
            </a:r>
          </a:p>
          <a:p>
            <a:pPr marL="0" indent="0">
              <a:lnSpc>
                <a:spcPct val="85000"/>
              </a:lnSpc>
              <a:spcBef>
                <a:spcPct val="1500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4121150" algn="l"/>
              </a:tabLst>
              <a:defRPr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dirty="0" err="1">
                <a:latin typeface="Consolas" pitchFamily="49" charset="0"/>
                <a:cs typeface="Consolas" pitchFamily="49" charset="0"/>
              </a:rPr>
              <a:t>m_.release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(); </a:t>
            </a:r>
          </a:p>
          <a:p>
            <a:pPr marL="0" indent="0">
              <a:lnSpc>
                <a:spcPct val="85000"/>
              </a:lnSpc>
              <a:spcBef>
                <a:spcPct val="1500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4121150" algn="l"/>
              </a:tabLst>
              <a:defRPr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} </a:t>
            </a:r>
          </a:p>
          <a:p>
            <a:pPr marL="0" indent="0">
              <a:lnSpc>
                <a:spcPct val="85000"/>
              </a:lnSpc>
              <a:spcBef>
                <a:spcPct val="1500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4121150" algn="l"/>
              </a:tabLst>
              <a:defRPr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};</a:t>
            </a:r>
            <a:endParaRPr lang="en-US" altLang="ko-KR" sz="2000" dirty="0">
              <a:latin typeface="Consolas" pitchFamily="49" charset="0"/>
              <a:ea typeface="Gulim" pitchFamily="34" charset="-127"/>
              <a:cs typeface="Consolas" pitchFamily="49" charset="0"/>
            </a:endParaRP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4683125" y="2862263"/>
            <a:ext cx="3992563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000" b="0">
                <a:latin typeface="Consolas" charset="0"/>
                <a:cs typeface="Consolas" charset="0"/>
              </a:rPr>
              <a:t>mutex m;</a:t>
            </a:r>
          </a:p>
          <a:p>
            <a:r>
              <a:rPr lang="en-US" sz="2000" b="0">
                <a:latin typeface="Consolas" charset="0"/>
                <a:cs typeface="Consolas" charset="0"/>
              </a:rPr>
              <a:t>...</a:t>
            </a:r>
          </a:p>
          <a:p>
            <a:r>
              <a:rPr lang="en-US" sz="2000" b="0">
                <a:latin typeface="Consolas" charset="0"/>
                <a:cs typeface="Consolas" charset="0"/>
              </a:rPr>
              <a:t>{</a:t>
            </a:r>
          </a:p>
          <a:p>
            <a:r>
              <a:rPr lang="en-US" sz="2000" b="0">
                <a:latin typeface="Consolas" charset="0"/>
                <a:cs typeface="Consolas" charset="0"/>
              </a:rPr>
              <a:t>  lock mylock(m);</a:t>
            </a:r>
          </a:p>
          <a:p>
            <a:r>
              <a:rPr lang="en-US" sz="2000" b="0">
                <a:latin typeface="Consolas" charset="0"/>
                <a:cs typeface="Consolas" charset="0"/>
              </a:rPr>
              <a:t>  ...</a:t>
            </a:r>
          </a:p>
          <a:p>
            <a:r>
              <a:rPr lang="en-US" sz="2000" b="0">
                <a:latin typeface="Consolas" charset="0"/>
                <a:cs typeface="Consolas" charset="0"/>
              </a:rPr>
              <a:t>  ... </a:t>
            </a:r>
          </a:p>
          <a:p>
            <a:r>
              <a:rPr lang="en-US" sz="2000" b="0">
                <a:latin typeface="Consolas" charset="0"/>
                <a:cs typeface="Consolas" charset="0"/>
              </a:rPr>
              <a:t>  ... </a:t>
            </a:r>
            <a:r>
              <a:rPr lang="en-US" sz="2000" b="0">
                <a:solidFill>
                  <a:srgbClr val="C00000"/>
                </a:solidFill>
                <a:latin typeface="Consolas" charset="0"/>
                <a:cs typeface="Consolas" charset="0"/>
              </a:rPr>
              <a:t>// no explicit unlock</a:t>
            </a:r>
          </a:p>
          <a:p>
            <a:r>
              <a:rPr lang="en-US" sz="2000" b="0">
                <a:latin typeface="Consolas" charset="0"/>
                <a:cs typeface="Consolas" charset="0"/>
              </a:rPr>
              <a:t>}</a:t>
            </a:r>
          </a:p>
        </p:txBody>
      </p:sp>
      <p:sp>
        <p:nvSpPr>
          <p:cNvPr id="3" name="Up-Down Arrow 2"/>
          <p:cNvSpPr>
            <a:spLocks noChangeArrowheads="1"/>
          </p:cNvSpPr>
          <p:nvPr/>
        </p:nvSpPr>
        <p:spPr bwMode="auto">
          <a:xfrm>
            <a:off x="4302125" y="3556000"/>
            <a:ext cx="228600" cy="1860550"/>
          </a:xfrm>
          <a:prstGeom prst="upDownArrow">
            <a:avLst>
              <a:gd name="adj1" fmla="val 50000"/>
              <a:gd name="adj2" fmla="val 50001"/>
            </a:avLst>
          </a:prstGeom>
          <a:solidFill>
            <a:srgbClr val="FFC000"/>
          </a:solidFill>
          <a:ln w="127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468688" y="5461000"/>
            <a:ext cx="1895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000" b="0">
                <a:latin typeface="Helvetica" charset="0"/>
              </a:rPr>
              <a:t>Critical Section</a:t>
            </a:r>
          </a:p>
        </p:txBody>
      </p:sp>
    </p:spTree>
    <p:extLst>
      <p:ext uri="{BB962C8B-B14F-4D97-AF65-F5344CB8AC3E}">
        <p14:creationId xmlns:p14="http://schemas.microsoft.com/office/powerpoint/2010/main" val="9116554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build="p"/>
      <p:bldP spid="2" grpId="0"/>
      <p:bldP spid="3" grpId="0" animBg="1"/>
      <p:bldP spid="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90500"/>
            <a:ext cx="9144000" cy="533400"/>
          </a:xfrm>
        </p:spPr>
        <p:txBody>
          <a:bodyPr/>
          <a:lstStyle/>
          <a:p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Why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do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we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need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even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a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h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igh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er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-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l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evel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s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ynchronization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?</a:t>
            </a: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</p:txBody>
      </p:sp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990600"/>
            <a:ext cx="8382000" cy="5562600"/>
          </a:xfrm>
        </p:spPr>
        <p:txBody>
          <a:bodyPr/>
          <a:lstStyle/>
          <a:p>
            <a:pPr marL="0" indent="0">
              <a:buFontTx/>
              <a:buNone/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sz="3200" dirty="0">
                <a:latin typeface="Helvetica" charset="0"/>
                <a:ea typeface="Gulim" charset="0"/>
                <a:cs typeface="Gulim" charset="0"/>
              </a:rPr>
              <a:t>KISS Principle</a:t>
            </a:r>
            <a:r>
              <a:rPr lang="en-US" altLang="ko-KR" sz="2800" dirty="0">
                <a:latin typeface="Helvetica" charset="0"/>
                <a:ea typeface="Gulim" charset="0"/>
                <a:cs typeface="Gulim" charset="0"/>
              </a:rPr>
              <a:t>:</a:t>
            </a:r>
          </a:p>
          <a:p>
            <a:pPr marL="0" indent="0">
              <a:buFontTx/>
              <a:buNone/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sz="2800" dirty="0">
                <a:latin typeface="Helvetica" charset="0"/>
                <a:ea typeface="Gulim" charset="0"/>
                <a:cs typeface="Gulim" charset="0"/>
              </a:rPr>
              <a:t>	    KEEP IT SIMPLE,</a:t>
            </a:r>
          </a:p>
          <a:p>
            <a:pPr marL="0" indent="0">
              <a:buFontTx/>
              <a:buNone/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dirty="0">
                <a:solidFill>
                  <a:srgbClr val="FF0000"/>
                </a:solidFill>
                <a:latin typeface="Helvetica" charset="0"/>
                <a:ea typeface="Gulim" charset="0"/>
                <a:cs typeface="Gulim" charset="0"/>
              </a:rPr>
              <a:t>Explicit locks can help efficiency, but are difficult to analyze.</a:t>
            </a:r>
          </a:p>
          <a:p>
            <a:pPr marL="0" indent="0">
              <a:buFontTx/>
              <a:buNone/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They also make code harder to maintain – constraints and invariants must hold in original code, but also in all modified versions. </a:t>
            </a:r>
          </a:p>
          <a:p>
            <a:pPr marL="0" indent="0">
              <a:buFontTx/>
              <a:buNone/>
              <a:tabLst>
                <a:tab pos="1027113" algn="l"/>
                <a:tab pos="1377950" algn="l"/>
                <a:tab pos="1716088" algn="l"/>
              </a:tabLst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marL="0" indent="0">
              <a:buFontTx/>
              <a:buNone/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Q: What is the typical lifetime of a piece of code? </a:t>
            </a:r>
          </a:p>
          <a:p>
            <a:pPr marL="0" indent="0">
              <a:buFontTx/>
              <a:buNone/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A: At least a decade longer than any of the original</a:t>
            </a:r>
            <a:br>
              <a:rPr lang="en-US" altLang="ko-KR" dirty="0">
                <a:latin typeface="Helvetica" charset="0"/>
                <a:ea typeface="Gulim" charset="0"/>
                <a:cs typeface="Gulim" charset="0"/>
              </a:rPr>
            </a:b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   developers anticipated! </a:t>
            </a:r>
          </a:p>
          <a:p>
            <a:pPr marL="0" indent="0">
              <a:buFontTx/>
              <a:buNone/>
              <a:tabLst>
                <a:tab pos="1027113" algn="l"/>
                <a:tab pos="1377950" algn="l"/>
                <a:tab pos="1716088" algn="l"/>
              </a:tabLst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marL="0" indent="0">
              <a:buNone/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dirty="0">
                <a:ea typeface="Gulim" charset="0"/>
                <a:cs typeface="Gulim" charset="0"/>
              </a:rPr>
              <a:t>Mach</a:t>
            </a:r>
            <a:r>
              <a:rPr lang="zh-CN" altLang="en-US" dirty="0">
                <a:ea typeface="Gulim" charset="0"/>
                <a:cs typeface="Gulim" charset="0"/>
              </a:rPr>
              <a:t> </a:t>
            </a:r>
            <a:r>
              <a:rPr lang="en-US" altLang="zh-CN" dirty="0">
                <a:ea typeface="Gulim" charset="0"/>
                <a:cs typeface="Gulim" charset="0"/>
              </a:rPr>
              <a:t>OS</a:t>
            </a:r>
            <a:r>
              <a:rPr lang="en-US" altLang="ko-KR" dirty="0">
                <a:ea typeface="Gulim" charset="0"/>
                <a:cs typeface="Gulim" charset="0"/>
              </a:rPr>
              <a:t> developers in </a:t>
            </a:r>
            <a:r>
              <a:rPr lang="en-US" altLang="zh-CN" dirty="0">
                <a:ea typeface="Gulim" charset="0"/>
                <a:cs typeface="Gulim" charset="0"/>
              </a:rPr>
              <a:t>late</a:t>
            </a:r>
            <a:r>
              <a:rPr lang="zh-CN" altLang="en-US" dirty="0">
                <a:ea typeface="Gulim" charset="0"/>
                <a:cs typeface="Gulim" charset="0"/>
              </a:rPr>
              <a:t> </a:t>
            </a:r>
            <a:r>
              <a:rPr lang="en-US" altLang="ko-KR" dirty="0">
                <a:ea typeface="Gulim" charset="0"/>
                <a:cs typeface="Gulim" charset="0"/>
              </a:rPr>
              <a:t>19</a:t>
            </a:r>
            <a:r>
              <a:rPr lang="en-US" altLang="zh-CN" dirty="0">
                <a:ea typeface="Gulim" charset="0"/>
                <a:cs typeface="Gulim" charset="0"/>
              </a:rPr>
              <a:t>8</a:t>
            </a:r>
            <a:r>
              <a:rPr lang="en-US" altLang="ko-KR" dirty="0">
                <a:ea typeface="Gulim" charset="0"/>
                <a:cs typeface="Gulim" charset="0"/>
              </a:rPr>
              <a:t>0s probably didn’t realize they were writing code for iPhones in 202</a:t>
            </a:r>
            <a:r>
              <a:rPr lang="en-US" altLang="zh-CN" dirty="0">
                <a:ea typeface="Gulim" charset="0"/>
                <a:cs typeface="Gulim" charset="0"/>
              </a:rPr>
              <a:t>4</a:t>
            </a:r>
            <a:r>
              <a:rPr lang="en-US" altLang="ko-KR" dirty="0">
                <a:ea typeface="Gulim" charset="0"/>
                <a:cs typeface="Gulim" charset="0"/>
              </a:rPr>
              <a:t>. </a:t>
            </a:r>
            <a:endParaRPr lang="ko-KR" altLang="en-US" dirty="0">
              <a:ea typeface="Gulim" charset="0"/>
              <a:cs typeface="Gulim" charset="0"/>
            </a:endParaRPr>
          </a:p>
          <a:p>
            <a:pPr marL="0" indent="0">
              <a:buFontTx/>
              <a:buNone/>
              <a:tabLst>
                <a:tab pos="1027113" algn="l"/>
                <a:tab pos="1377950" algn="l"/>
                <a:tab pos="1716088" algn="l"/>
              </a:tabLst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marL="0" indent="0">
              <a:buFontTx/>
              <a:buNone/>
              <a:tabLst>
                <a:tab pos="1027113" algn="l"/>
                <a:tab pos="1377950" algn="l"/>
                <a:tab pos="1716088" algn="l"/>
              </a:tabLst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marL="0" indent="0">
              <a:buFontTx/>
              <a:buNone/>
              <a:tabLst>
                <a:tab pos="1027113" algn="l"/>
                <a:tab pos="1377950" algn="l"/>
                <a:tab pos="1716088" algn="l"/>
              </a:tabLst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4697413" y="1524000"/>
            <a:ext cx="16001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800" b="0" dirty="0">
                <a:latin typeface="Helvetica" charset="0"/>
              </a:rPr>
              <a:t>STUPID!</a:t>
            </a:r>
          </a:p>
        </p:txBody>
      </p:sp>
    </p:spTree>
    <p:extLst>
      <p:ext uri="{BB962C8B-B14F-4D97-AF65-F5344CB8AC3E}">
        <p14:creationId xmlns:p14="http://schemas.microsoft.com/office/powerpoint/2010/main" val="8088016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533400"/>
          </a:xfrm>
        </p:spPr>
        <p:txBody>
          <a:bodyPr/>
          <a:lstStyle/>
          <a:p>
            <a:r>
              <a:rPr lang="en-US" altLang="ko-KR" sz="2800" dirty="0">
                <a:latin typeface="Helvetica" charset="0"/>
                <a:ea typeface="Gulim" charset="0"/>
                <a:cs typeface="Gulim" charset="0"/>
              </a:rPr>
              <a:t>Java Language High-level Synchronization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/>
          <a:lstStyle/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public class SynchronizedQueue {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   public LinkedList&lt;Integer&gt; q = new LinkedList&lt;Integer&gt;(); 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endParaRPr lang="en-US" altLang="ko-KR" sz="1800">
              <a:latin typeface="Consolas" charset="0"/>
              <a:ea typeface="Gulim" charset="0"/>
              <a:cs typeface="Consolas" charset="0"/>
            </a:endParaRPr>
          </a:p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   public </a:t>
            </a:r>
            <a:r>
              <a:rPr lang="en-US" altLang="ko-KR" sz="1800">
                <a:solidFill>
                  <a:srgbClr val="C00000"/>
                </a:solidFill>
                <a:latin typeface="Consolas" charset="0"/>
                <a:ea typeface="Gulim" charset="0"/>
                <a:cs typeface="Consolas" charset="0"/>
              </a:rPr>
              <a:t>synchronized</a:t>
            </a: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 void enqueue (int item) { 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      q.add(item);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      </a:t>
            </a:r>
            <a:r>
              <a:rPr lang="en-US" altLang="ko-KR" sz="1800">
                <a:solidFill>
                  <a:srgbClr val="C00000"/>
                </a:solidFill>
                <a:latin typeface="Consolas" charset="0"/>
                <a:ea typeface="Gulim" charset="0"/>
                <a:cs typeface="Consolas" charset="0"/>
              </a:rPr>
              <a:t>notify();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   }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endParaRPr lang="en-US" altLang="ko-KR" sz="1800">
              <a:latin typeface="Consolas" charset="0"/>
              <a:ea typeface="Gulim" charset="0"/>
              <a:cs typeface="Consolas" charset="0"/>
            </a:endParaRPr>
          </a:p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   public </a:t>
            </a:r>
            <a:r>
              <a:rPr lang="en-US" altLang="ko-KR" sz="1800">
                <a:solidFill>
                  <a:srgbClr val="C00000"/>
                </a:solidFill>
                <a:latin typeface="Consolas" charset="0"/>
                <a:ea typeface="Gulim" charset="0"/>
                <a:cs typeface="Consolas" charset="0"/>
              </a:rPr>
              <a:t>synchronized</a:t>
            </a: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 int dequeue () { 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      try {      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         while (q.size() == 0) {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            </a:t>
            </a:r>
            <a:r>
              <a:rPr lang="en-US" altLang="ko-KR" sz="1800">
                <a:solidFill>
                  <a:srgbClr val="C00000"/>
                </a:solidFill>
                <a:latin typeface="Consolas" charset="0"/>
                <a:ea typeface="Gulim" charset="0"/>
                <a:cs typeface="Consolas" charset="0"/>
              </a:rPr>
              <a:t>wait();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         }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         return q.removeFirst();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      } catch (InterruptedException e) {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         return 0;  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      }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   }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r>
              <a:rPr lang="en-US" altLang="ko-KR" sz="1800">
                <a:latin typeface="Consolas" charset="0"/>
                <a:ea typeface="Gulim" charset="0"/>
                <a:cs typeface="Consolas" charset="0"/>
              </a:rPr>
              <a:t>}</a:t>
            </a:r>
          </a:p>
          <a:p>
            <a:pPr marL="0" indent="0">
              <a:lnSpc>
                <a:spcPct val="80000"/>
              </a:lnSpc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endParaRPr lang="en-US" altLang="ko-KR" sz="1800">
              <a:latin typeface="Consolas" charset="0"/>
              <a:ea typeface="Gulim" charset="0"/>
              <a:cs typeface="Consolas" charset="0"/>
            </a:endParaRPr>
          </a:p>
          <a:p>
            <a:pPr marL="0" indent="0">
              <a:lnSpc>
                <a:spcPct val="80000"/>
              </a:lnSpc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endParaRPr lang="en-US" altLang="ko-KR" sz="2000">
              <a:latin typeface="Consolas" charset="0"/>
              <a:ea typeface="Gulim" charset="0"/>
              <a:cs typeface="Consolas" charset="0"/>
            </a:endParaRPr>
          </a:p>
          <a:p>
            <a:pPr marL="0" indent="0">
              <a:lnSpc>
                <a:spcPct val="80000"/>
              </a:lnSpc>
              <a:buFontTx/>
              <a:buNone/>
              <a:tabLst>
                <a:tab pos="1027113" algn="l"/>
                <a:tab pos="1377950" algn="l"/>
                <a:tab pos="1716088" algn="l"/>
                <a:tab pos="2054225" algn="l"/>
              </a:tabLst>
            </a:pPr>
            <a:endParaRPr lang="en-US" altLang="ko-KR" sz="2000">
              <a:latin typeface="Consolas" charset="0"/>
              <a:ea typeface="Gulim" charset="0"/>
              <a:cs typeface="Consolas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12A10B-B07E-B73F-F048-4B97833568C2}"/>
              </a:ext>
            </a:extLst>
          </p:cNvPr>
          <p:cNvSpPr txBox="1"/>
          <p:nvPr/>
        </p:nvSpPr>
        <p:spPr>
          <a:xfrm>
            <a:off x="1295400" y="6019800"/>
            <a:ext cx="6960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Question: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where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is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the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lock?</a:t>
            </a:r>
            <a:r>
              <a:rPr kumimoji="1" lang="zh-CN" altLang="en-US" sz="2000" b="0" dirty="0">
                <a:latin typeface="Helvetica"/>
                <a:cs typeface="Helvetica"/>
              </a:rPr>
              <a:t>  </a:t>
            </a:r>
            <a:r>
              <a:rPr kumimoji="1" lang="en-US" altLang="zh-CN" sz="2000" b="0" dirty="0">
                <a:latin typeface="Helvetica"/>
                <a:cs typeface="Helvetica"/>
              </a:rPr>
              <a:t>What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is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the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scope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of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the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lock?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51773345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772400" cy="533400"/>
          </a:xfrm>
        </p:spPr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way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sharing</a:t>
            </a:r>
            <a:r>
              <a:rPr lang="zh-CN" altLang="en-US" dirty="0"/>
              <a:t> </a:t>
            </a:r>
            <a:r>
              <a:rPr lang="en-US" altLang="zh-CN" dirty="0"/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Sharing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communicate</a:t>
            </a:r>
            <a:endParaRPr lang="en-US" dirty="0"/>
          </a:p>
          <a:p>
            <a:pPr lvl="1"/>
            <a:r>
              <a:rPr lang="en-US" dirty="0"/>
              <a:t>Mutual exclusion</a:t>
            </a:r>
          </a:p>
          <a:p>
            <a:pPr lvl="1"/>
            <a:r>
              <a:rPr lang="en-US" dirty="0"/>
              <a:t>Scheduling constraints</a:t>
            </a:r>
          </a:p>
          <a:p>
            <a:pPr lvl="1"/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cause</a:t>
            </a:r>
            <a:r>
              <a:rPr lang="zh-CN" altLang="en-US" dirty="0"/>
              <a:t> </a:t>
            </a:r>
            <a:r>
              <a:rPr lang="en-US" altLang="zh-CN" dirty="0"/>
              <a:t>synchronization</a:t>
            </a:r>
            <a:r>
              <a:rPr lang="zh-CN" altLang="en-US" dirty="0"/>
              <a:t> </a:t>
            </a:r>
            <a:r>
              <a:rPr lang="en-US" altLang="zh-CN" dirty="0"/>
              <a:t>problems,</a:t>
            </a:r>
            <a:r>
              <a:rPr lang="zh-CN" altLang="en-US" dirty="0"/>
              <a:t> </a:t>
            </a:r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forget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it,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share!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Communicate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Share</a:t>
            </a:r>
          </a:p>
          <a:p>
            <a:pPr lvl="1"/>
            <a:r>
              <a:rPr lang="en-US" altLang="zh-CN" dirty="0"/>
              <a:t>Share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memory,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share,</a:t>
            </a:r>
            <a:r>
              <a:rPr lang="zh-CN" altLang="en-US" dirty="0"/>
              <a:t> </a:t>
            </a:r>
            <a:r>
              <a:rPr lang="en-US" altLang="zh-CN" dirty="0"/>
              <a:t>send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message!</a:t>
            </a:r>
          </a:p>
          <a:p>
            <a:pPr lvl="1"/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queue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send</a:t>
            </a:r>
            <a:r>
              <a:rPr lang="zh-CN" altLang="en-US" dirty="0"/>
              <a:t> </a:t>
            </a:r>
            <a:r>
              <a:rPr lang="en-US" altLang="zh-CN" dirty="0"/>
              <a:t>message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060790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r>
              <a:rPr lang="zh-CN" altLang="en-US" dirty="0"/>
              <a:t> </a:t>
            </a:r>
            <a:r>
              <a:rPr lang="en-US" dirty="0"/>
              <a:t>Go</a:t>
            </a:r>
            <a:r>
              <a:rPr lang="zh-CN" altLang="en-US" dirty="0"/>
              <a:t> </a:t>
            </a:r>
            <a:r>
              <a:rPr lang="en-US" altLang="zh-CN" dirty="0"/>
              <a:t>Channels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err="1"/>
              <a:t>func</a:t>
            </a:r>
            <a:r>
              <a:rPr lang="en-US" sz="2000" dirty="0"/>
              <a:t> </a:t>
            </a:r>
            <a:r>
              <a:rPr lang="en-US" sz="2000" dirty="0" err="1"/>
              <a:t>pinger</a:t>
            </a:r>
            <a:r>
              <a:rPr lang="en-US" sz="2000" dirty="0"/>
              <a:t>(c </a:t>
            </a:r>
            <a:r>
              <a:rPr lang="en-US" sz="2000" dirty="0" err="1"/>
              <a:t>chan</a:t>
            </a:r>
            <a:r>
              <a:rPr lang="en-US" sz="2000" dirty="0"/>
              <a:t> string) {</a:t>
            </a:r>
          </a:p>
          <a:p>
            <a:pPr marL="0" indent="0">
              <a:buNone/>
            </a:pPr>
            <a:r>
              <a:rPr lang="en-US" sz="2000" dirty="0"/>
              <a:t>    for i := 0; ; i++ {</a:t>
            </a:r>
          </a:p>
          <a:p>
            <a:pPr marL="0" indent="0">
              <a:buNone/>
            </a:pPr>
            <a:r>
              <a:rPr lang="en-US" sz="2000" dirty="0"/>
              <a:t>        c &lt;- “ping”</a:t>
            </a:r>
            <a:r>
              <a:rPr lang="zh-CN" altLang="en-US" sz="2000" dirty="0"/>
              <a:t> </a:t>
            </a: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dirty="0" err="1"/>
              <a:t>func</a:t>
            </a:r>
            <a:r>
              <a:rPr lang="en-US" sz="2000" dirty="0"/>
              <a:t> printer(c </a:t>
            </a:r>
            <a:r>
              <a:rPr lang="en-US" sz="2000" dirty="0" err="1"/>
              <a:t>chan</a:t>
            </a:r>
            <a:r>
              <a:rPr lang="en-US" sz="2000" dirty="0"/>
              <a:t> string) {</a:t>
            </a:r>
          </a:p>
          <a:p>
            <a:pPr marL="0" indent="0">
              <a:buNone/>
            </a:pPr>
            <a:r>
              <a:rPr lang="en-US" sz="2000" dirty="0"/>
              <a:t>    for { </a:t>
            </a:r>
            <a:r>
              <a:rPr lang="en-US" sz="2000" dirty="0" err="1"/>
              <a:t>msg</a:t>
            </a:r>
            <a:r>
              <a:rPr lang="en-US" sz="2000" dirty="0"/>
              <a:t> := &lt;- c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fmt.Println</a:t>
            </a:r>
            <a:r>
              <a:rPr lang="en-US" sz="2000" dirty="0"/>
              <a:t>(</a:t>
            </a:r>
            <a:r>
              <a:rPr lang="en-US" sz="2000" dirty="0" err="1"/>
              <a:t>msg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time.Sleep</a:t>
            </a:r>
            <a:r>
              <a:rPr lang="en-US" sz="2000" dirty="0"/>
              <a:t>(</a:t>
            </a:r>
            <a:r>
              <a:rPr lang="en-US" sz="2000" dirty="0" err="1"/>
              <a:t>time.Second</a:t>
            </a:r>
            <a:r>
              <a:rPr lang="en-US" sz="2000" dirty="0"/>
              <a:t> * 1)</a:t>
            </a:r>
            <a:r>
              <a:rPr lang="zh-CN" altLang="en-US" sz="2000" dirty="0"/>
              <a:t> </a:t>
            </a: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dirty="0" err="1"/>
              <a:t>func</a:t>
            </a:r>
            <a:r>
              <a:rPr lang="en-US" sz="2000" dirty="0"/>
              <a:t> main() {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var</a:t>
            </a:r>
            <a:r>
              <a:rPr lang="en-US" sz="2000" dirty="0"/>
              <a:t> c </a:t>
            </a:r>
            <a:r>
              <a:rPr lang="en-US" sz="2000" dirty="0" err="1"/>
              <a:t>chan</a:t>
            </a:r>
            <a:r>
              <a:rPr lang="en-US" sz="2000" dirty="0"/>
              <a:t> string = make(</a:t>
            </a:r>
            <a:r>
              <a:rPr lang="en-US" sz="2000" dirty="0" err="1"/>
              <a:t>chan</a:t>
            </a:r>
            <a:r>
              <a:rPr lang="en-US" sz="2000" dirty="0"/>
              <a:t> string) </a:t>
            </a:r>
          </a:p>
          <a:p>
            <a:pPr marL="0" indent="0">
              <a:buNone/>
            </a:pPr>
            <a:r>
              <a:rPr lang="en-US" sz="2000" dirty="0"/>
              <a:t>    go </a:t>
            </a:r>
            <a:r>
              <a:rPr lang="en-US" sz="2000" dirty="0" err="1"/>
              <a:t>pinger</a:t>
            </a:r>
            <a:r>
              <a:rPr lang="en-US" sz="2000" dirty="0"/>
              <a:t>(c)</a:t>
            </a:r>
          </a:p>
          <a:p>
            <a:pPr marL="0" indent="0">
              <a:buNone/>
            </a:pPr>
            <a:r>
              <a:rPr lang="en-US" sz="2000" dirty="0"/>
              <a:t>    go printer(c)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altLang="zh-CN" sz="2000" dirty="0"/>
              <a:t>…….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  <p:sp>
        <p:nvSpPr>
          <p:cNvPr id="4" name="Rectangular Callout 3"/>
          <p:cNvSpPr/>
          <p:nvPr/>
        </p:nvSpPr>
        <p:spPr bwMode="auto">
          <a:xfrm>
            <a:off x="4419600" y="5334000"/>
            <a:ext cx="3429000" cy="838200"/>
          </a:xfrm>
          <a:prstGeom prst="wedgeRectCallout">
            <a:avLst>
              <a:gd name="adj1" fmla="val -111646"/>
              <a:gd name="adj2" fmla="val -53716"/>
            </a:avLst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b="0" dirty="0">
                <a:latin typeface="Helvetica"/>
                <a:cs typeface="Helvetica"/>
              </a:rPr>
              <a:t>Go</a:t>
            </a:r>
            <a:r>
              <a:rPr lang="zh-CN" altLang="en-US" b="0" dirty="0">
                <a:latin typeface="Helvetica"/>
                <a:cs typeface="Helvetica"/>
              </a:rPr>
              <a:t> </a:t>
            </a:r>
            <a:r>
              <a:rPr lang="en-US" altLang="zh-CN" b="0" dirty="0">
                <a:latin typeface="Helvetica"/>
                <a:cs typeface="Helvetica"/>
              </a:rPr>
              <a:t>Routines</a:t>
            </a:r>
            <a:r>
              <a:rPr lang="zh-CN" altLang="en-US" b="0" dirty="0">
                <a:latin typeface="Helvetica"/>
                <a:cs typeface="Helvetica"/>
              </a:rPr>
              <a:t> </a:t>
            </a:r>
            <a:r>
              <a:rPr lang="en-US" altLang="zh-CN" b="0" dirty="0">
                <a:latin typeface="Helvetica"/>
                <a:cs typeface="Helvetica"/>
              </a:rPr>
              <a:t>(think</a:t>
            </a:r>
            <a:r>
              <a:rPr lang="zh-CN" altLang="en-US" b="0" dirty="0">
                <a:latin typeface="Helvetica"/>
                <a:cs typeface="Helvetica"/>
              </a:rPr>
              <a:t> </a:t>
            </a:r>
            <a:r>
              <a:rPr lang="en-US" altLang="zh-CN" b="0" dirty="0">
                <a:latin typeface="Helvetica"/>
                <a:cs typeface="Helvetica"/>
              </a:rPr>
              <a:t>of</a:t>
            </a:r>
            <a:r>
              <a:rPr lang="zh-CN" altLang="en-US" b="0" dirty="0">
                <a:latin typeface="Helvetica"/>
                <a:cs typeface="Helvetica"/>
              </a:rPr>
              <a:t> </a:t>
            </a:r>
            <a:r>
              <a:rPr lang="en-US" altLang="zh-CN" b="0" dirty="0">
                <a:latin typeface="Helvetica"/>
                <a:cs typeface="Helvetica"/>
              </a:rPr>
              <a:t>it</a:t>
            </a:r>
            <a:r>
              <a:rPr lang="zh-CN" altLang="en-US" b="0" dirty="0">
                <a:latin typeface="Helvetica"/>
                <a:cs typeface="Helvetica"/>
              </a:rPr>
              <a:t> </a:t>
            </a:r>
            <a:r>
              <a:rPr lang="en-US" altLang="zh-CN" b="0" dirty="0">
                <a:latin typeface="Helvetica"/>
                <a:cs typeface="Helvetica"/>
              </a:rPr>
              <a:t>as</a:t>
            </a:r>
            <a:r>
              <a:rPr lang="zh-CN" altLang="en-US" b="0" dirty="0">
                <a:latin typeface="Helvetica"/>
                <a:cs typeface="Helvetica"/>
              </a:rPr>
              <a:t> </a:t>
            </a:r>
            <a:r>
              <a:rPr lang="en-US" altLang="zh-CN" b="0" dirty="0">
                <a:latin typeface="Helvetica"/>
                <a:cs typeface="Helvetica"/>
              </a:rPr>
              <a:t>cheap</a:t>
            </a:r>
            <a:r>
              <a:rPr lang="zh-CN" altLang="en-US" b="0" dirty="0">
                <a:latin typeface="Helvetica"/>
                <a:cs typeface="Helvetica"/>
              </a:rPr>
              <a:t> </a:t>
            </a:r>
            <a:r>
              <a:rPr lang="en-US" altLang="zh-CN" b="0" dirty="0">
                <a:latin typeface="Helvetica"/>
                <a:cs typeface="Helvetica"/>
              </a:rPr>
              <a:t>threads)</a:t>
            </a:r>
            <a:endParaRPr lang="en-US" b="0" dirty="0">
              <a:latin typeface="Helvetica"/>
              <a:cs typeface="Helvetica"/>
            </a:endParaRPr>
          </a:p>
        </p:txBody>
      </p:sp>
      <p:sp>
        <p:nvSpPr>
          <p:cNvPr id="5" name="Rectangular Callout 4"/>
          <p:cNvSpPr/>
          <p:nvPr/>
        </p:nvSpPr>
        <p:spPr bwMode="auto">
          <a:xfrm>
            <a:off x="5486400" y="3581400"/>
            <a:ext cx="3429000" cy="838200"/>
          </a:xfrm>
          <a:prstGeom prst="wedgeRectCallout">
            <a:avLst>
              <a:gd name="adj1" fmla="val -130418"/>
              <a:gd name="adj2" fmla="val 97780"/>
            </a:avLst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b="0" dirty="0">
                <a:latin typeface="Helvetica"/>
                <a:cs typeface="Helvetica"/>
              </a:rPr>
              <a:t>Channels</a:t>
            </a:r>
            <a:r>
              <a:rPr lang="zh-CN" altLang="en-US" b="0" dirty="0">
                <a:latin typeface="Helvetica"/>
                <a:cs typeface="Helvetica"/>
              </a:rPr>
              <a:t> </a:t>
            </a:r>
            <a:r>
              <a:rPr lang="en-US" altLang="zh-CN" b="0" dirty="0">
                <a:latin typeface="Helvetica"/>
                <a:cs typeface="Helvetica"/>
              </a:rPr>
              <a:t>(a</a:t>
            </a:r>
            <a:r>
              <a:rPr lang="zh-CN" altLang="en-US" b="0" dirty="0">
                <a:latin typeface="Helvetica"/>
                <a:cs typeface="Helvetica"/>
              </a:rPr>
              <a:t> </a:t>
            </a:r>
            <a:r>
              <a:rPr lang="en-US" altLang="zh-CN" b="0" dirty="0">
                <a:latin typeface="Helvetica"/>
                <a:cs typeface="Helvetica"/>
              </a:rPr>
              <a:t>unbounded</a:t>
            </a:r>
            <a:r>
              <a:rPr lang="zh-CN" altLang="en-US" b="0" dirty="0">
                <a:latin typeface="Helvetica"/>
                <a:cs typeface="Helvetica"/>
              </a:rPr>
              <a:t> </a:t>
            </a:r>
            <a:r>
              <a:rPr lang="en-US" altLang="zh-CN" b="0" dirty="0">
                <a:latin typeface="Helvetica"/>
                <a:cs typeface="Helvetica"/>
              </a:rPr>
              <a:t>queue)</a:t>
            </a:r>
            <a:endParaRPr lang="en-US" b="0" dirty="0">
              <a:latin typeface="Helvetica"/>
              <a:cs typeface="Helvetica"/>
            </a:endParaRPr>
          </a:p>
        </p:txBody>
      </p:sp>
      <p:sp>
        <p:nvSpPr>
          <p:cNvPr id="6" name="Rectangular Callout 4">
            <a:extLst>
              <a:ext uri="{FF2B5EF4-FFF2-40B4-BE49-F238E27FC236}">
                <a16:creationId xmlns:a16="http://schemas.microsoft.com/office/drawing/2014/main" id="{ACC265C7-A374-1B7A-BBA7-239B5CCF9026}"/>
              </a:ext>
            </a:extLst>
          </p:cNvPr>
          <p:cNvSpPr/>
          <p:nvPr/>
        </p:nvSpPr>
        <p:spPr bwMode="auto">
          <a:xfrm>
            <a:off x="5715000" y="1676400"/>
            <a:ext cx="3429000" cy="838200"/>
          </a:xfrm>
          <a:prstGeom prst="wedgeRectCallout">
            <a:avLst>
              <a:gd name="adj1" fmla="val -130418"/>
              <a:gd name="adj2" fmla="val 97780"/>
            </a:avLst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altLang="zh-CN" b="0" dirty="0">
                <a:latin typeface="Helvetica"/>
                <a:cs typeface="Helvetica"/>
              </a:rPr>
              <a:t>Read</a:t>
            </a:r>
            <a:r>
              <a:rPr lang="zh-CN" altLang="en-US" b="0" dirty="0">
                <a:latin typeface="Helvetica"/>
                <a:cs typeface="Helvetica"/>
              </a:rPr>
              <a:t> </a:t>
            </a:r>
            <a:r>
              <a:rPr lang="en-US" altLang="zh-CN" b="0" dirty="0">
                <a:latin typeface="Helvetica"/>
                <a:cs typeface="Helvetica"/>
              </a:rPr>
              <a:t>from</a:t>
            </a:r>
            <a:r>
              <a:rPr lang="zh-CN" altLang="en-US" b="0" dirty="0">
                <a:latin typeface="Helvetica"/>
                <a:cs typeface="Helvetica"/>
              </a:rPr>
              <a:t> </a:t>
            </a:r>
            <a:r>
              <a:rPr lang="en-US" altLang="zh-CN" b="0" dirty="0">
                <a:latin typeface="Helvetica"/>
                <a:cs typeface="Helvetica"/>
              </a:rPr>
              <a:t>channel</a:t>
            </a:r>
            <a:endParaRPr lang="en-US" b="0" dirty="0">
              <a:latin typeface="Helvetica"/>
              <a:cs typeface="Helvetica"/>
            </a:endParaRPr>
          </a:p>
        </p:txBody>
      </p:sp>
      <p:sp>
        <p:nvSpPr>
          <p:cNvPr id="7" name="Rectangular Callout 4">
            <a:extLst>
              <a:ext uri="{FF2B5EF4-FFF2-40B4-BE49-F238E27FC236}">
                <a16:creationId xmlns:a16="http://schemas.microsoft.com/office/drawing/2014/main" id="{86C30A29-1B8B-A139-D706-E587DCCDEA8F}"/>
              </a:ext>
            </a:extLst>
          </p:cNvPr>
          <p:cNvSpPr/>
          <p:nvPr/>
        </p:nvSpPr>
        <p:spPr bwMode="auto">
          <a:xfrm>
            <a:off x="5410200" y="533400"/>
            <a:ext cx="3429000" cy="838200"/>
          </a:xfrm>
          <a:prstGeom prst="wedgeRectCallout">
            <a:avLst>
              <a:gd name="adj1" fmla="val -130418"/>
              <a:gd name="adj2" fmla="val 97780"/>
            </a:avLst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altLang="zh-CN" b="0" dirty="0">
                <a:latin typeface="Helvetica"/>
                <a:cs typeface="Helvetica"/>
              </a:rPr>
              <a:t>Write</a:t>
            </a:r>
            <a:r>
              <a:rPr lang="zh-CN" altLang="en-US" b="0" dirty="0">
                <a:latin typeface="Helvetica"/>
                <a:cs typeface="Helvetica"/>
              </a:rPr>
              <a:t> </a:t>
            </a:r>
            <a:r>
              <a:rPr lang="en-US" altLang="zh-CN" b="0" dirty="0">
                <a:latin typeface="Helvetica"/>
                <a:cs typeface="Helvetica"/>
              </a:rPr>
              <a:t>to</a:t>
            </a:r>
            <a:r>
              <a:rPr lang="zh-CN" altLang="en-US" b="0" dirty="0">
                <a:latin typeface="Helvetica"/>
                <a:cs typeface="Helvetica"/>
              </a:rPr>
              <a:t> </a:t>
            </a:r>
            <a:r>
              <a:rPr lang="en-US" altLang="zh-CN" b="0" dirty="0">
                <a:latin typeface="Helvetica"/>
                <a:cs typeface="Helvetica"/>
              </a:rPr>
              <a:t>channel</a:t>
            </a:r>
            <a:endParaRPr lang="en-US" b="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859016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533400"/>
          </a:xfrm>
        </p:spPr>
        <p:txBody>
          <a:bodyPr/>
          <a:lstStyle/>
          <a:p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Observations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about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Concurrency Bugs </a:t>
            </a:r>
            <a:br>
              <a:rPr lang="en-US" altLang="ko-KR" dirty="0">
                <a:latin typeface="Helvetica" charset="0"/>
                <a:ea typeface="Gulim" charset="0"/>
                <a:cs typeface="Gulim" charset="0"/>
              </a:rPr>
            </a:b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(Lu et al. 2008)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990600"/>
            <a:ext cx="8382000" cy="5562600"/>
          </a:xfrm>
        </p:spPr>
        <p:txBody>
          <a:bodyPr/>
          <a:lstStyle/>
          <a:p>
            <a:pPr marL="0" indent="0">
              <a:buFontTx/>
              <a:buNone/>
              <a:tabLst>
                <a:tab pos="1027113" algn="l"/>
                <a:tab pos="1377950" algn="l"/>
                <a:tab pos="1716088" algn="l"/>
              </a:tabLst>
              <a:defRPr/>
            </a:pPr>
            <a:r>
              <a:rPr lang="en-US" altLang="ko-KR" sz="2800" dirty="0">
                <a:latin typeface="Helvetica" charset="0"/>
                <a:ea typeface="Gulim" pitchFamily="34" charset="-127"/>
                <a:cs typeface="ＭＳ Ｐゴシック" charset="-128"/>
              </a:rPr>
              <a:t>Most concurrency bugs (98%) are one of … 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  <a:tabLst>
                <a:tab pos="1027113" algn="l"/>
                <a:tab pos="1377950" algn="l"/>
                <a:tab pos="1716088" algn="l"/>
              </a:tabLst>
              <a:defRPr/>
            </a:pP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Atomicity violations (not protecting shared resources)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  <a:tabLst>
                <a:tab pos="1027113" algn="l"/>
                <a:tab pos="1377950" algn="l"/>
                <a:tab pos="1716088" algn="l"/>
              </a:tabLst>
              <a:defRPr/>
            </a:pP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Order violations 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  <a:tabLst>
                <a:tab pos="1027113" algn="l"/>
                <a:tab pos="1377950" algn="l"/>
                <a:tab pos="1716088" algn="l"/>
              </a:tabLst>
              <a:defRPr/>
            </a:pP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Deadlocks</a:t>
            </a:r>
            <a:endParaRPr lang="en-US" altLang="ko-KR" sz="2000" dirty="0">
              <a:latin typeface="Helvetica" charset="0"/>
              <a:ea typeface="Gulim" pitchFamily="34" charset="-127"/>
              <a:cs typeface="ＭＳ Ｐゴシック" charset="-128"/>
            </a:endParaRPr>
          </a:p>
          <a:p>
            <a:pPr marL="0" indent="0">
              <a:buFontTx/>
              <a:buNone/>
              <a:tabLst>
                <a:tab pos="1027113" algn="l"/>
                <a:tab pos="1377950" algn="l"/>
                <a:tab pos="1716088" algn="l"/>
              </a:tabLst>
              <a:defRPr/>
            </a:pP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Type 1. problems are caused by </a:t>
            </a:r>
            <a:r>
              <a:rPr lang="en-US" altLang="ko-KR" dirty="0">
                <a:solidFill>
                  <a:srgbClr val="2A40E2"/>
                </a:solidFill>
                <a:latin typeface="Helvetica" charset="0"/>
                <a:ea typeface="Gulim" pitchFamily="34" charset="-127"/>
                <a:cs typeface="ＭＳ Ｐゴシック" charset="-128"/>
              </a:rPr>
              <a:t>under-protecting</a:t>
            </a: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 shared resources, type 3. often caused by </a:t>
            </a:r>
            <a:r>
              <a:rPr lang="en-US" altLang="ko-KR" dirty="0">
                <a:solidFill>
                  <a:srgbClr val="2A40E2"/>
                </a:solidFill>
                <a:latin typeface="Helvetica" charset="0"/>
                <a:ea typeface="Gulim" pitchFamily="34" charset="-127"/>
                <a:cs typeface="ＭＳ Ｐゴシック" charset="-128"/>
              </a:rPr>
              <a:t>over-protection</a:t>
            </a: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. </a:t>
            </a:r>
            <a:b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</a:b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Fixes to type 3. bugs often create type 1. bugs. </a:t>
            </a: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  <a:sym typeface="Wingdings" pitchFamily="2" charset="2"/>
              </a:rPr>
              <a:t></a:t>
            </a:r>
            <a:endParaRPr lang="en-US" altLang="ko-KR" dirty="0">
              <a:latin typeface="Helvetica" charset="0"/>
              <a:ea typeface="Gulim" pitchFamily="34" charset="-127"/>
              <a:cs typeface="ＭＳ Ｐゴシック" charset="-128"/>
            </a:endParaRPr>
          </a:p>
          <a:p>
            <a:pPr marL="0" indent="0">
              <a:buFontTx/>
              <a:buNone/>
              <a:tabLst>
                <a:tab pos="1027113" algn="l"/>
                <a:tab pos="1377950" algn="l"/>
                <a:tab pos="1716088" algn="l"/>
              </a:tabLst>
              <a:defRPr/>
            </a:pP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Good news:</a:t>
            </a:r>
          </a:p>
          <a:p>
            <a:pPr marL="457200" indent="-457200">
              <a:buFont typeface="+mj-lt"/>
              <a:buAutoNum type="arabicPeriod" startAt="4"/>
              <a:tabLst>
                <a:tab pos="1027113" algn="l"/>
                <a:tab pos="1377950" algn="l"/>
                <a:tab pos="1716088" algn="l"/>
              </a:tabLst>
              <a:defRPr/>
            </a:pP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Most non-deadlock bugs involve </a:t>
            </a:r>
            <a:r>
              <a:rPr lang="en-US" altLang="ko-KR" i="1" dirty="0">
                <a:solidFill>
                  <a:srgbClr val="C00000"/>
                </a:solidFill>
                <a:latin typeface="Helvetica" charset="0"/>
                <a:ea typeface="Gulim" pitchFamily="34" charset="-127"/>
                <a:cs typeface="ＭＳ Ｐゴシック" charset="-128"/>
              </a:rPr>
              <a:t>only one variable</a:t>
            </a:r>
            <a:r>
              <a:rPr lang="en-US" altLang="ko-KR" i="1" dirty="0">
                <a:latin typeface="Helvetica" charset="0"/>
                <a:ea typeface="Gulim" pitchFamily="34" charset="-127"/>
                <a:cs typeface="ＭＳ Ｐゴシック" charset="-128"/>
              </a:rPr>
              <a:t>.</a:t>
            </a:r>
            <a:endParaRPr lang="en-US" altLang="ko-KR" dirty="0">
              <a:latin typeface="Helvetica" charset="0"/>
              <a:ea typeface="Gulim" pitchFamily="34" charset="-127"/>
              <a:cs typeface="ＭＳ Ｐゴシック" charset="-128"/>
            </a:endParaRPr>
          </a:p>
          <a:p>
            <a:pPr marL="457200" indent="-457200">
              <a:buFontTx/>
              <a:buAutoNum type="arabicPeriod" startAt="5"/>
              <a:tabLst>
                <a:tab pos="1027113" algn="l"/>
                <a:tab pos="1377950" algn="l"/>
                <a:tab pos="1716088" algn="l"/>
              </a:tabLst>
              <a:defRPr/>
            </a:pP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Most (97%) of deadlocks involve </a:t>
            </a:r>
            <a:r>
              <a:rPr lang="en-US" altLang="ko-KR" i="1" dirty="0">
                <a:solidFill>
                  <a:srgbClr val="C00000"/>
                </a:solidFill>
                <a:latin typeface="Helvetica" charset="0"/>
                <a:ea typeface="Gulim" pitchFamily="34" charset="-127"/>
                <a:cs typeface="ＭＳ Ｐゴシック" charset="-128"/>
              </a:rPr>
              <a:t>two threads </a:t>
            </a: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which </a:t>
            </a:r>
            <a:r>
              <a:rPr lang="en-US" altLang="ko-KR" i="1" dirty="0">
                <a:solidFill>
                  <a:srgbClr val="C00000"/>
                </a:solidFill>
                <a:latin typeface="Helvetica" charset="0"/>
                <a:ea typeface="Gulim" pitchFamily="34" charset="-127"/>
                <a:cs typeface="ＭＳ Ｐゴシック" charset="-128"/>
              </a:rPr>
              <a:t>access at most two resources</a:t>
            </a: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.</a:t>
            </a:r>
          </a:p>
          <a:p>
            <a:pPr marL="0" indent="0">
              <a:buFontTx/>
              <a:buNone/>
              <a:tabLst>
                <a:tab pos="1027113" algn="l"/>
                <a:tab pos="1377950" algn="l"/>
                <a:tab pos="1716088" algn="l"/>
              </a:tabLst>
              <a:defRPr/>
            </a:pP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Not-so-good news: concurrency bugs seem to be a </a:t>
            </a:r>
            <a:r>
              <a:rPr lang="en-US" altLang="ko-KR" dirty="0">
                <a:solidFill>
                  <a:srgbClr val="C00000"/>
                </a:solidFill>
                <a:latin typeface="Helvetica" charset="0"/>
                <a:ea typeface="Gulim" pitchFamily="34" charset="-127"/>
                <a:cs typeface="ＭＳ Ｐゴシック" charset="-128"/>
              </a:rPr>
              <a:t>small fraction</a:t>
            </a: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 of all reported bugs, but consume a </a:t>
            </a:r>
            <a:r>
              <a:rPr lang="en-US" altLang="ko-KR" dirty="0">
                <a:solidFill>
                  <a:srgbClr val="C00000"/>
                </a:solidFill>
                <a:latin typeface="Helvetica" charset="0"/>
                <a:ea typeface="Gulim" pitchFamily="34" charset="-127"/>
                <a:cs typeface="ＭＳ Ｐゴシック" charset="-128"/>
              </a:rPr>
              <a:t>large fraction of debugging time</a:t>
            </a:r>
            <a:r>
              <a:rPr lang="en-US" altLang="ko-KR" dirty="0">
                <a:latin typeface="Helvetica" charset="0"/>
                <a:ea typeface="Gulim" pitchFamily="34" charset="-127"/>
                <a:cs typeface="ＭＳ Ｐゴシック" charset="-128"/>
              </a:rPr>
              <a:t> (days per bug instead of hours). </a:t>
            </a:r>
          </a:p>
          <a:p>
            <a:pPr marL="0" indent="0">
              <a:buFontTx/>
              <a:buNone/>
              <a:tabLst>
                <a:tab pos="1027113" algn="l"/>
                <a:tab pos="1377950" algn="l"/>
                <a:tab pos="1716088" algn="l"/>
              </a:tabLst>
              <a:defRPr/>
            </a:pPr>
            <a:endParaRPr lang="en-US" altLang="ko-KR" dirty="0">
              <a:latin typeface="Helvetica" charset="0"/>
              <a:ea typeface="Gulim" pitchFamily="34" charset="-127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03579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contention and deadlocks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16956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5925634" y="1371600"/>
            <a:ext cx="2997200" cy="1828800"/>
            <a:chOff x="3216" y="816"/>
            <a:chExt cx="2032" cy="1339"/>
          </a:xfrm>
        </p:grpSpPr>
        <p:pic>
          <p:nvPicPr>
            <p:cNvPr id="25605" name="Picture 6" descr="memory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785491">
              <a:off x="3216" y="960"/>
              <a:ext cx="1152" cy="1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06" name="Picture 4" descr="MCj02983990000[1]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6" y="1008"/>
              <a:ext cx="702" cy="1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07" name="Picture 13" descr="MCj02509730000[1]"/>
            <p:cNvSpPr>
              <a:spLocks noChangeAspect="1" noChangeArrowheads="1"/>
            </p:cNvSpPr>
            <p:nvPr/>
          </p:nvSpPr>
          <p:spPr bwMode="auto">
            <a:xfrm>
              <a:off x="4320" y="816"/>
              <a:ext cx="928" cy="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Definition: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Pre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emptive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/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non-preemptive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r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esources</a:t>
            </a:r>
          </a:p>
        </p:txBody>
      </p:sp>
      <p:sp>
        <p:nvSpPr>
          <p:cNvPr id="50483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915400" cy="5867400"/>
          </a:xfrm>
        </p:spPr>
        <p:txBody>
          <a:bodyPr/>
          <a:lstStyle/>
          <a:p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Resources – passive entities needed by threads to do their work</a:t>
            </a:r>
          </a:p>
          <a:p>
            <a:pPr lvl="1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CPU time, disk space, memory</a:t>
            </a:r>
          </a:p>
          <a:p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Two types of resources:</a:t>
            </a:r>
          </a:p>
          <a:p>
            <a:pPr lvl="1"/>
            <a:r>
              <a:rPr lang="en-US" altLang="ko-KR" dirty="0" err="1">
                <a:latin typeface="Helvetica" charset="0"/>
                <a:ea typeface="Gulim" charset="0"/>
                <a:cs typeface="Gulim" charset="0"/>
              </a:rPr>
              <a:t>Preemptable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– can take it away</a:t>
            </a:r>
          </a:p>
          <a:p>
            <a:pPr lvl="2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CPU, Embedded security chip</a:t>
            </a:r>
          </a:p>
          <a:p>
            <a:pPr lvl="1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Non-</a:t>
            </a:r>
            <a:r>
              <a:rPr lang="en-US" altLang="ko-KR" dirty="0" err="1">
                <a:latin typeface="Helvetica" charset="0"/>
                <a:ea typeface="Gulim" charset="0"/>
                <a:cs typeface="Gulim" charset="0"/>
              </a:rPr>
              <a:t>preemptable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– must leave it with the thread</a:t>
            </a:r>
          </a:p>
          <a:p>
            <a:pPr lvl="2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Disk space, printer, chunk of virtual address space</a:t>
            </a:r>
          </a:p>
          <a:p>
            <a:pPr lvl="2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Critical section </a:t>
            </a:r>
          </a:p>
          <a:p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Resources may require exclusive access or may be sharable</a:t>
            </a:r>
          </a:p>
          <a:p>
            <a:pPr lvl="1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Read-only files are typically sharable</a:t>
            </a:r>
          </a:p>
          <a:p>
            <a:pPr lvl="1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Printers are not sharable during time of printing</a:t>
            </a:r>
          </a:p>
          <a:p>
            <a:pPr lvl="2"/>
            <a:endParaRPr lang="ko-KR" altLang="en-US" dirty="0">
              <a:latin typeface="Helvetica" charset="0"/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128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35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Starvation vs Deadlock</a:t>
            </a:r>
          </a:p>
        </p:txBody>
      </p:sp>
      <p:sp>
        <p:nvSpPr>
          <p:cNvPr id="51814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750888"/>
            <a:ext cx="8259763" cy="59436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Starvation vs. Deadlock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Starvation: thread waits indefinitely</a:t>
            </a:r>
          </a:p>
          <a:p>
            <a:pPr lvl="2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Example, low-priority thread waiting for resources constantly in use by high-priority threads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Deadlock: circular waiting for resources</a:t>
            </a:r>
          </a:p>
          <a:p>
            <a:pPr lvl="2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Thread A owns Res 1 and is waiting for Res 2</a:t>
            </a:r>
            <a:br>
              <a:rPr lang="en-US" altLang="ko-KR" dirty="0">
                <a:latin typeface="Helvetica" charset="0"/>
                <a:ea typeface="Gulim" charset="0"/>
                <a:cs typeface="Gulim" charset="0"/>
              </a:rPr>
            </a:b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Thread B owns Res 2 and is waiting for Res 1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Deadlock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  <a:sym typeface="Symbol" charset="0"/>
              </a:rPr>
              <a:t>-&gt;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  <a:sym typeface="Symbol" charset="0"/>
              </a:rPr>
              <a:t> Starvation but not vice versa</a:t>
            </a:r>
          </a:p>
          <a:p>
            <a:pPr lvl="2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  <a:sym typeface="Symbol" charset="0"/>
              </a:rPr>
              <a:t>Starvation can end (but doesn’t have to)</a:t>
            </a:r>
          </a:p>
          <a:p>
            <a:pPr lvl="2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  <a:sym typeface="Symbol" charset="0"/>
              </a:rPr>
              <a:t>Deadlock can’t end without external intervention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ko-KR" altLang="en-US" dirty="0">
              <a:latin typeface="Helvetica" charset="0"/>
              <a:ea typeface="Gulim" charset="0"/>
              <a:cs typeface="Gulim" charset="0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2332038" y="2984339"/>
            <a:ext cx="3974591" cy="2584611"/>
            <a:chOff x="1429" y="1751"/>
            <a:chExt cx="2535" cy="1649"/>
          </a:xfrm>
        </p:grpSpPr>
        <p:sp>
          <p:nvSpPr>
            <p:cNvPr id="26634" name="Rectangle 4"/>
            <p:cNvSpPr>
              <a:spLocks noChangeArrowheads="1"/>
            </p:cNvSpPr>
            <p:nvPr/>
          </p:nvSpPr>
          <p:spPr bwMode="auto">
            <a:xfrm>
              <a:off x="3116" y="2383"/>
              <a:ext cx="512" cy="384"/>
            </a:xfrm>
            <a:prstGeom prst="rect">
              <a:avLst/>
            </a:prstGeom>
            <a:solidFill>
              <a:srgbClr val="FF66C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latin typeface="Helvetica" charset="0"/>
                </a:rPr>
                <a:t>Res 2</a:t>
              </a:r>
            </a:p>
          </p:txBody>
        </p:sp>
        <p:sp>
          <p:nvSpPr>
            <p:cNvPr id="26635" name="Rectangle 5"/>
            <p:cNvSpPr>
              <a:spLocks noChangeArrowheads="1"/>
            </p:cNvSpPr>
            <p:nvPr/>
          </p:nvSpPr>
          <p:spPr bwMode="auto">
            <a:xfrm>
              <a:off x="1787" y="2397"/>
              <a:ext cx="511" cy="384"/>
            </a:xfrm>
            <a:prstGeom prst="rect">
              <a:avLst/>
            </a:prstGeom>
            <a:solidFill>
              <a:srgbClr val="FF66C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latin typeface="Helvetica" charset="0"/>
                </a:rPr>
                <a:t>Res 1</a:t>
              </a:r>
            </a:p>
          </p:txBody>
        </p:sp>
        <p:sp>
          <p:nvSpPr>
            <p:cNvPr id="26636" name="Oval 7"/>
            <p:cNvSpPr>
              <a:spLocks noChangeArrowheads="1"/>
            </p:cNvSpPr>
            <p:nvPr/>
          </p:nvSpPr>
          <p:spPr bwMode="auto">
            <a:xfrm>
              <a:off x="2405" y="2853"/>
              <a:ext cx="597" cy="547"/>
            </a:xfrm>
            <a:prstGeom prst="ellipse">
              <a:avLst/>
            </a:prstGeom>
            <a:solidFill>
              <a:srgbClr val="00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600" dirty="0">
                  <a:latin typeface="Helvetica" charset="0"/>
                </a:rPr>
                <a:t>Thread</a:t>
              </a:r>
            </a:p>
            <a:p>
              <a:r>
                <a:rPr lang="en-US" sz="1600" dirty="0">
                  <a:latin typeface="Helvetica" charset="0"/>
                </a:rPr>
                <a:t>B</a:t>
              </a:r>
            </a:p>
          </p:txBody>
        </p:sp>
        <p:sp>
          <p:nvSpPr>
            <p:cNvPr id="26637" name="Oval 8"/>
            <p:cNvSpPr>
              <a:spLocks noChangeArrowheads="1"/>
            </p:cNvSpPr>
            <p:nvPr/>
          </p:nvSpPr>
          <p:spPr bwMode="auto">
            <a:xfrm>
              <a:off x="2415" y="1751"/>
              <a:ext cx="597" cy="547"/>
            </a:xfrm>
            <a:prstGeom prst="ellipse">
              <a:avLst/>
            </a:prstGeom>
            <a:solidFill>
              <a:srgbClr val="00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600" dirty="0">
                  <a:latin typeface="Helvetica" charset="0"/>
                </a:rPr>
                <a:t>Thread</a:t>
              </a:r>
            </a:p>
            <a:p>
              <a:r>
                <a:rPr lang="en-US" sz="1600" dirty="0">
                  <a:latin typeface="Helvetica" charset="0"/>
                </a:rPr>
                <a:t>A</a:t>
              </a:r>
            </a:p>
          </p:txBody>
        </p:sp>
        <p:sp>
          <p:nvSpPr>
            <p:cNvPr id="26638" name="AutoShape 10"/>
            <p:cNvSpPr>
              <a:spLocks noChangeArrowheads="1"/>
            </p:cNvSpPr>
            <p:nvPr/>
          </p:nvSpPr>
          <p:spPr bwMode="auto">
            <a:xfrm>
              <a:off x="1978" y="1878"/>
              <a:ext cx="470" cy="5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2409 w 21600"/>
                <a:gd name="T13" fmla="*/ 2911 h 21600"/>
                <a:gd name="T14" fmla="*/ 18245 w 21600"/>
                <a:gd name="T15" fmla="*/ 923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 sz="1600"/>
            </a:p>
          </p:txBody>
        </p:sp>
        <p:sp>
          <p:nvSpPr>
            <p:cNvPr id="26639" name="AutoShape 11"/>
            <p:cNvSpPr>
              <a:spLocks noChangeArrowheads="1"/>
            </p:cNvSpPr>
            <p:nvPr/>
          </p:nvSpPr>
          <p:spPr bwMode="auto">
            <a:xfrm rot="5400000">
              <a:off x="3023" y="1935"/>
              <a:ext cx="469" cy="5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2435 w 21600"/>
                <a:gd name="T13" fmla="*/ 2911 h 21600"/>
                <a:gd name="T14" fmla="*/ 18238 w 21600"/>
                <a:gd name="T15" fmla="*/ 923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 sz="1600"/>
            </a:p>
          </p:txBody>
        </p:sp>
        <p:sp>
          <p:nvSpPr>
            <p:cNvPr id="26640" name="AutoShape 12"/>
            <p:cNvSpPr>
              <a:spLocks noChangeArrowheads="1"/>
            </p:cNvSpPr>
            <p:nvPr/>
          </p:nvSpPr>
          <p:spPr bwMode="auto">
            <a:xfrm rot="10800000">
              <a:off x="2959" y="2767"/>
              <a:ext cx="470" cy="51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2409 w 21600"/>
                <a:gd name="T13" fmla="*/ 2917 h 21600"/>
                <a:gd name="T14" fmla="*/ 18245 w 21600"/>
                <a:gd name="T15" fmla="*/ 9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 sz="1600"/>
            </a:p>
          </p:txBody>
        </p:sp>
        <p:sp>
          <p:nvSpPr>
            <p:cNvPr id="26641" name="AutoShape 13"/>
            <p:cNvSpPr>
              <a:spLocks noChangeArrowheads="1"/>
            </p:cNvSpPr>
            <p:nvPr/>
          </p:nvSpPr>
          <p:spPr bwMode="auto">
            <a:xfrm rot="-5400000">
              <a:off x="1921" y="2704"/>
              <a:ext cx="469" cy="5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2435 w 21600"/>
                <a:gd name="T13" fmla="*/ 2911 h 21600"/>
                <a:gd name="T14" fmla="*/ 18238 w 21600"/>
                <a:gd name="T15" fmla="*/ 923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 sz="1600"/>
            </a:p>
          </p:txBody>
        </p:sp>
        <p:sp>
          <p:nvSpPr>
            <p:cNvPr id="26642" name="Text Box 14"/>
            <p:cNvSpPr txBox="1">
              <a:spLocks noChangeArrowheads="1"/>
            </p:cNvSpPr>
            <p:nvPr/>
          </p:nvSpPr>
          <p:spPr bwMode="auto">
            <a:xfrm>
              <a:off x="3380" y="1895"/>
              <a:ext cx="390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9pPr>
            </a:lstStyle>
            <a:p>
              <a:r>
                <a:rPr lang="en-US" sz="1600">
                  <a:latin typeface="Helvetica" charset="0"/>
                </a:rPr>
                <a:t>Wait</a:t>
              </a:r>
            </a:p>
            <a:p>
              <a:r>
                <a:rPr lang="en-US" sz="1600">
                  <a:latin typeface="Helvetica" charset="0"/>
                </a:rPr>
                <a:t>For</a:t>
              </a:r>
            </a:p>
          </p:txBody>
        </p:sp>
        <p:sp>
          <p:nvSpPr>
            <p:cNvPr id="26643" name="Text Box 17"/>
            <p:cNvSpPr txBox="1">
              <a:spLocks noChangeArrowheads="1"/>
            </p:cNvSpPr>
            <p:nvPr/>
          </p:nvSpPr>
          <p:spPr bwMode="auto">
            <a:xfrm>
              <a:off x="1567" y="2851"/>
              <a:ext cx="390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9pPr>
            </a:lstStyle>
            <a:p>
              <a:r>
                <a:rPr lang="en-US" sz="1600">
                  <a:latin typeface="Helvetica" charset="0"/>
                </a:rPr>
                <a:t>Wait</a:t>
              </a:r>
            </a:p>
            <a:p>
              <a:r>
                <a:rPr lang="en-US" sz="1600">
                  <a:latin typeface="Helvetica" charset="0"/>
                </a:rPr>
                <a:t>For</a:t>
              </a:r>
            </a:p>
          </p:txBody>
        </p:sp>
        <p:sp>
          <p:nvSpPr>
            <p:cNvPr id="26644" name="Text Box 18"/>
            <p:cNvSpPr txBox="1">
              <a:spLocks noChangeArrowheads="1"/>
            </p:cNvSpPr>
            <p:nvPr/>
          </p:nvSpPr>
          <p:spPr bwMode="auto">
            <a:xfrm>
              <a:off x="3410" y="2759"/>
              <a:ext cx="554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9pPr>
            </a:lstStyle>
            <a:p>
              <a:r>
                <a:rPr lang="en-US" sz="1600">
                  <a:latin typeface="Helvetica" charset="0"/>
                </a:rPr>
                <a:t>Owned</a:t>
              </a:r>
            </a:p>
            <a:p>
              <a:r>
                <a:rPr lang="en-US" sz="1600">
                  <a:latin typeface="Helvetica" charset="0"/>
                </a:rPr>
                <a:t>By</a:t>
              </a:r>
            </a:p>
          </p:txBody>
        </p:sp>
        <p:sp>
          <p:nvSpPr>
            <p:cNvPr id="26645" name="Text Box 19"/>
            <p:cNvSpPr txBox="1">
              <a:spLocks noChangeArrowheads="1"/>
            </p:cNvSpPr>
            <p:nvPr/>
          </p:nvSpPr>
          <p:spPr bwMode="auto">
            <a:xfrm>
              <a:off x="1429" y="1998"/>
              <a:ext cx="554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9pPr>
            </a:lstStyle>
            <a:p>
              <a:r>
                <a:rPr lang="en-US" sz="1600" dirty="0">
                  <a:latin typeface="Helvetica" charset="0"/>
                </a:rPr>
                <a:t>Owned</a:t>
              </a:r>
            </a:p>
            <a:p>
              <a:r>
                <a:rPr lang="en-US" sz="1600" dirty="0">
                  <a:latin typeface="Helvetica" charset="0"/>
                </a:rPr>
                <a:t>By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34848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147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When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do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deadlocks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happen?</a:t>
            </a: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</p:txBody>
      </p:sp>
      <p:sp>
        <p:nvSpPr>
          <p:cNvPr id="519171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762000"/>
            <a:ext cx="8991600" cy="60960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tabLst>
                <a:tab pos="2405063" algn="ctr"/>
                <a:tab pos="5486400" algn="ctr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Deadlock not always deterministic – Example 2 mutexes:</a:t>
            </a:r>
          </a:p>
          <a:p>
            <a:pPr>
              <a:lnSpc>
                <a:spcPct val="80000"/>
              </a:lnSpc>
              <a:spcBef>
                <a:spcPct val="20000"/>
              </a:spcBef>
              <a:tabLst>
                <a:tab pos="2405063" algn="ctr"/>
                <a:tab pos="5486400" algn="ctr"/>
              </a:tabLst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60000"/>
              </a:lnSpc>
              <a:spcBef>
                <a:spcPct val="20000"/>
              </a:spcBef>
              <a:buFontTx/>
              <a:buNone/>
              <a:tabLst>
                <a:tab pos="2405063" algn="ctr"/>
                <a:tab pos="5486400" algn="ctr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	</a:t>
            </a:r>
            <a:r>
              <a:rPr lang="en-US" altLang="ko-KR" sz="2000" dirty="0">
                <a:latin typeface="Courier New" charset="0"/>
                <a:ea typeface="MS PGothic" charset="0"/>
                <a:cs typeface="Courier New" charset="0"/>
              </a:rPr>
              <a:t>x=1, y=1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	</a:t>
            </a:r>
            <a:r>
              <a:rPr lang="en-US" altLang="ko-KR" sz="2000" u="sng" dirty="0">
                <a:latin typeface="Courier New" charset="0"/>
                <a:ea typeface="Gulim" charset="0"/>
                <a:cs typeface="Gulim" charset="0"/>
              </a:rPr>
              <a:t>Thread A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</a:t>
            </a:r>
            <a:r>
              <a:rPr lang="en-US" altLang="ko-KR" sz="2000" u="sng" dirty="0">
                <a:latin typeface="Courier New" charset="0"/>
                <a:ea typeface="Gulim" charset="0"/>
                <a:cs typeface="Gulim" charset="0"/>
              </a:rPr>
              <a:t>Thread B</a:t>
            </a:r>
          </a:p>
          <a:p>
            <a:pPr>
              <a:spcBef>
                <a:spcPct val="20000"/>
              </a:spcBef>
              <a:buFontTx/>
              <a:buNone/>
              <a:tabLst>
                <a:tab pos="2405063" algn="ctr"/>
                <a:tab pos="5486400" algn="ctr"/>
              </a:tabLst>
            </a:pP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	</a:t>
            </a:r>
            <a:r>
              <a:rPr lang="en-US" altLang="ko-KR" sz="2000" dirty="0" err="1">
                <a:latin typeface="Courier New" charset="0"/>
                <a:ea typeface="Gulim" charset="0"/>
                <a:cs typeface="Gulim" charset="0"/>
              </a:rPr>
              <a:t>x.P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();	</a:t>
            </a:r>
            <a:r>
              <a:rPr lang="en-US" altLang="ko-KR" sz="2000" dirty="0" err="1">
                <a:latin typeface="Courier New" charset="0"/>
                <a:ea typeface="Gulim" charset="0"/>
                <a:cs typeface="Gulim" charset="0"/>
              </a:rPr>
              <a:t>y.P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();</a:t>
            </a:r>
          </a:p>
          <a:p>
            <a:pPr>
              <a:spcBef>
                <a:spcPct val="20000"/>
              </a:spcBef>
              <a:buFontTx/>
              <a:buNone/>
              <a:tabLst>
                <a:tab pos="2405063" algn="ctr"/>
                <a:tab pos="5486400" algn="ctr"/>
              </a:tabLst>
            </a:pP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	</a:t>
            </a:r>
            <a:r>
              <a:rPr lang="en-US" altLang="ko-KR" sz="2000" dirty="0" err="1">
                <a:latin typeface="Courier New" charset="0"/>
                <a:ea typeface="Gulim" charset="0"/>
                <a:cs typeface="Gulim" charset="0"/>
              </a:rPr>
              <a:t>y.P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();	</a:t>
            </a:r>
            <a:r>
              <a:rPr lang="en-US" altLang="ko-KR" sz="2000" dirty="0" err="1">
                <a:latin typeface="Courier New" charset="0"/>
                <a:ea typeface="Gulim" charset="0"/>
                <a:cs typeface="Gulim" charset="0"/>
              </a:rPr>
              <a:t>x.P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();</a:t>
            </a:r>
          </a:p>
          <a:p>
            <a:pPr>
              <a:spcBef>
                <a:spcPct val="20000"/>
              </a:spcBef>
              <a:buFontTx/>
              <a:buNone/>
              <a:tabLst>
                <a:tab pos="2405063" algn="ctr"/>
                <a:tab pos="5486400" algn="ctr"/>
              </a:tabLst>
            </a:pP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           …                   …</a:t>
            </a:r>
          </a:p>
          <a:p>
            <a:pPr>
              <a:spcBef>
                <a:spcPct val="20000"/>
              </a:spcBef>
              <a:buFontTx/>
              <a:buNone/>
              <a:tabLst>
                <a:tab pos="2405063" algn="ctr"/>
                <a:tab pos="5486400" algn="ctr"/>
              </a:tabLst>
            </a:pP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             </a:t>
            </a:r>
            <a:r>
              <a:rPr lang="en-US" altLang="ko-KR" sz="2000" dirty="0" err="1">
                <a:latin typeface="Courier New" charset="0"/>
                <a:ea typeface="Gulim" charset="0"/>
                <a:cs typeface="Gulim" charset="0"/>
              </a:rPr>
              <a:t>y.V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();	</a:t>
            </a:r>
            <a:r>
              <a:rPr lang="en-US" altLang="ko-KR" sz="2000" dirty="0" err="1">
                <a:latin typeface="Courier New" charset="0"/>
                <a:ea typeface="Gulim" charset="0"/>
                <a:cs typeface="Gulim" charset="0"/>
              </a:rPr>
              <a:t>x.V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();</a:t>
            </a:r>
          </a:p>
          <a:p>
            <a:pPr>
              <a:spcBef>
                <a:spcPct val="20000"/>
              </a:spcBef>
              <a:buFontTx/>
              <a:buNone/>
              <a:tabLst>
                <a:tab pos="2405063" algn="ctr"/>
                <a:tab pos="5486400" algn="ctr"/>
              </a:tabLst>
            </a:pP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	</a:t>
            </a:r>
            <a:r>
              <a:rPr lang="en-US" altLang="ko-KR" sz="2000" dirty="0" err="1">
                <a:latin typeface="Courier New" charset="0"/>
                <a:ea typeface="Gulim" charset="0"/>
                <a:cs typeface="Gulim" charset="0"/>
              </a:rPr>
              <a:t>x.V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();	</a:t>
            </a:r>
            <a:r>
              <a:rPr lang="en-US" altLang="ko-KR" sz="2000" dirty="0" err="1">
                <a:latin typeface="Courier New" charset="0"/>
                <a:ea typeface="Gulim" charset="0"/>
                <a:cs typeface="Gulim" charset="0"/>
              </a:rPr>
              <a:t>y.V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();</a:t>
            </a:r>
          </a:p>
          <a:p>
            <a:pPr lvl="1">
              <a:spcBef>
                <a:spcPct val="20000"/>
              </a:spcBef>
              <a:tabLst>
                <a:tab pos="2405063" algn="ctr"/>
                <a:tab pos="5486400" algn="ctr"/>
              </a:tabLst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lvl="1">
              <a:spcBef>
                <a:spcPct val="20000"/>
              </a:spcBef>
              <a:tabLst>
                <a:tab pos="2405063" algn="ctr"/>
                <a:tab pos="5486400" algn="ctr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Deadlock won’t always happen with this code</a:t>
            </a:r>
          </a:p>
          <a:p>
            <a:pPr lvl="2">
              <a:spcBef>
                <a:spcPct val="20000"/>
              </a:spcBef>
              <a:tabLst>
                <a:tab pos="2405063" algn="ctr"/>
                <a:tab pos="5486400" algn="ctr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Have to have exactly the right timing (“wrong” timing?)</a:t>
            </a:r>
          </a:p>
          <a:p>
            <a:pPr>
              <a:spcBef>
                <a:spcPct val="20000"/>
              </a:spcBef>
              <a:tabLst>
                <a:tab pos="2405063" algn="ctr"/>
                <a:tab pos="5486400" algn="ctr"/>
              </a:tabLst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>
              <a:spcBef>
                <a:spcPct val="20000"/>
              </a:spcBef>
              <a:tabLst>
                <a:tab pos="2405063" algn="ctr"/>
                <a:tab pos="5486400" algn="ctr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Deadlocks occur with multiple resources</a:t>
            </a:r>
          </a:p>
          <a:p>
            <a:pPr lvl="1">
              <a:spcBef>
                <a:spcPct val="20000"/>
              </a:spcBef>
              <a:tabLst>
                <a:tab pos="2405063" algn="ctr"/>
                <a:tab pos="5486400" algn="ctr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Means you can’t decompose the problem</a:t>
            </a:r>
          </a:p>
          <a:p>
            <a:pPr lvl="1">
              <a:spcBef>
                <a:spcPct val="20000"/>
              </a:spcBef>
              <a:tabLst>
                <a:tab pos="2405063" algn="ctr"/>
                <a:tab pos="5486400" algn="ctr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Can’t solve deadlock for each resource independently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705600" y="1371600"/>
            <a:ext cx="1828800" cy="2209800"/>
            <a:chOff x="6705600" y="1219200"/>
            <a:chExt cx="1828800" cy="2209800"/>
          </a:xfrm>
        </p:grpSpPr>
        <p:sp>
          <p:nvSpPr>
            <p:cNvPr id="27658" name="Rectangular Callout 4"/>
            <p:cNvSpPr>
              <a:spLocks noChangeArrowheads="1"/>
            </p:cNvSpPr>
            <p:nvPr/>
          </p:nvSpPr>
          <p:spPr bwMode="auto">
            <a:xfrm>
              <a:off x="6705600" y="1600200"/>
              <a:ext cx="1828800" cy="1828800"/>
            </a:xfrm>
            <a:prstGeom prst="wedgeRectCallout">
              <a:avLst>
                <a:gd name="adj1" fmla="val -78653"/>
                <a:gd name="adj2" fmla="val -28194"/>
              </a:avLst>
            </a:prstGeom>
            <a:solidFill>
              <a:srgbClr val="FFFFAA"/>
            </a:solidFill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r>
                <a:rPr lang="en-US" altLang="ko-KR" sz="2000" b="0">
                  <a:latin typeface="Courier New" charset="0"/>
                  <a:ea typeface="Gulim" charset="0"/>
                  <a:cs typeface="Gulim" charset="0"/>
                </a:rPr>
                <a:t>A: x.P();</a:t>
              </a:r>
            </a:p>
            <a:p>
              <a:r>
                <a:rPr lang="en-US" altLang="ko-KR" sz="2000" b="0">
                  <a:latin typeface="Courier New" charset="0"/>
                  <a:ea typeface="Gulim" charset="0"/>
                  <a:cs typeface="Gulim" charset="0"/>
                </a:rPr>
                <a:t>B: y.P();</a:t>
              </a:r>
            </a:p>
            <a:p>
              <a:r>
                <a:rPr lang="en-US" altLang="ko-KR" sz="2000" b="0">
                  <a:latin typeface="Courier New" charset="0"/>
                  <a:ea typeface="Gulim" charset="0"/>
                  <a:cs typeface="Gulim" charset="0"/>
                </a:rPr>
                <a:t>A: y.P();</a:t>
              </a:r>
            </a:p>
            <a:p>
              <a:r>
                <a:rPr lang="en-US" altLang="ko-KR" sz="2000" b="0">
                  <a:latin typeface="Courier New" charset="0"/>
                  <a:ea typeface="Gulim" charset="0"/>
                  <a:cs typeface="Gulim" charset="0"/>
                </a:rPr>
                <a:t>B: x.P();</a:t>
              </a:r>
            </a:p>
            <a:p>
              <a:r>
                <a:rPr lang="en-US" altLang="ko-KR" sz="2000" b="0">
                  <a:latin typeface="Courier New" charset="0"/>
                  <a:ea typeface="Gulim" charset="0"/>
                  <a:cs typeface="Gulim" charset="0"/>
                </a:rPr>
                <a:t>...</a:t>
              </a:r>
            </a:p>
            <a:p>
              <a:pPr algn="ctr"/>
              <a:endParaRPr lang="en-US" sz="2000" b="0">
                <a:latin typeface="Helvetica" charset="0"/>
              </a:endParaRPr>
            </a:p>
          </p:txBody>
        </p:sp>
        <p:sp>
          <p:nvSpPr>
            <p:cNvPr id="27659" name="TextBox 5"/>
            <p:cNvSpPr txBox="1">
              <a:spLocks noChangeArrowheads="1"/>
            </p:cNvSpPr>
            <p:nvPr/>
          </p:nvSpPr>
          <p:spPr bwMode="auto">
            <a:xfrm>
              <a:off x="6781800" y="1219200"/>
              <a:ext cx="125391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9pPr>
            </a:lstStyle>
            <a:p>
              <a:r>
                <a:rPr lang="en-US" sz="2000" b="0">
                  <a:latin typeface="Helvetica" charset="0"/>
                </a:rPr>
                <a:t>Deadlock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4702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171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Four 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requirements for Deadlock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762000"/>
            <a:ext cx="8534400" cy="594360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Mutual exclusion</a:t>
            </a:r>
          </a:p>
          <a:p>
            <a:pPr lvl="1">
              <a:spcBef>
                <a:spcPct val="20000"/>
              </a:spcBef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Only one thread at a time can use a resource</a:t>
            </a:r>
          </a:p>
          <a:p>
            <a:pPr>
              <a:spcBef>
                <a:spcPct val="20000"/>
              </a:spcBef>
            </a:pPr>
            <a:r>
              <a:rPr lang="en-US" altLang="ko-KR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Hold and wait</a:t>
            </a:r>
          </a:p>
          <a:p>
            <a:pPr lvl="1">
              <a:spcBef>
                <a:spcPct val="20000"/>
              </a:spcBef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Thread holding at least one resource is waiting to acquire additional resources held by other threads</a:t>
            </a:r>
          </a:p>
          <a:p>
            <a:pPr>
              <a:spcBef>
                <a:spcPct val="20000"/>
              </a:spcBef>
            </a:pPr>
            <a:r>
              <a:rPr lang="en-US" altLang="ko-KR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No preemption</a:t>
            </a:r>
          </a:p>
          <a:p>
            <a:pPr lvl="1">
              <a:spcBef>
                <a:spcPct val="20000"/>
              </a:spcBef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Resources are released only voluntarily by the thread holding the resource, after thread is finished with it</a:t>
            </a:r>
          </a:p>
          <a:p>
            <a:pPr>
              <a:spcBef>
                <a:spcPct val="20000"/>
              </a:spcBef>
            </a:pPr>
            <a:r>
              <a:rPr lang="en-US" altLang="ko-KR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Circular wait</a:t>
            </a:r>
          </a:p>
          <a:p>
            <a:pPr lvl="1">
              <a:spcBef>
                <a:spcPct val="20000"/>
              </a:spcBef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There exists a set {</a:t>
            </a:r>
            <a:r>
              <a:rPr lang="en-US" altLang="ko-KR" i="1">
                <a:latin typeface="Helvetica" charset="0"/>
                <a:ea typeface="Gulim" charset="0"/>
                <a:cs typeface="Gulim" charset="0"/>
              </a:rPr>
              <a:t>T</a:t>
            </a:r>
            <a:r>
              <a:rPr lang="en-US" altLang="ko-KR" baseline="-25000">
                <a:latin typeface="Helvetica" charset="0"/>
                <a:ea typeface="Gulim" charset="0"/>
                <a:cs typeface="Gulim" charset="0"/>
              </a:rPr>
              <a:t>1</a:t>
            </a: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, …, </a:t>
            </a:r>
            <a:r>
              <a:rPr lang="en-US" altLang="ko-KR" i="1">
                <a:latin typeface="Helvetica" charset="0"/>
                <a:ea typeface="Gulim" charset="0"/>
                <a:cs typeface="Gulim" charset="0"/>
              </a:rPr>
              <a:t>T</a:t>
            </a:r>
            <a:r>
              <a:rPr lang="en-US" altLang="ko-KR" baseline="-25000">
                <a:latin typeface="Helvetica" charset="0"/>
                <a:ea typeface="Gulim" charset="0"/>
                <a:cs typeface="Gulim" charset="0"/>
              </a:rPr>
              <a:t>n</a:t>
            </a: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} of waiting threads</a:t>
            </a:r>
          </a:p>
          <a:p>
            <a:pPr lvl="2">
              <a:spcBef>
                <a:spcPct val="20000"/>
              </a:spcBef>
            </a:pPr>
            <a:r>
              <a:rPr lang="en-US" altLang="ko-KR" i="1">
                <a:latin typeface="Helvetica" charset="0"/>
                <a:ea typeface="Gulim" charset="0"/>
                <a:cs typeface="Gulim" charset="0"/>
              </a:rPr>
              <a:t>T</a:t>
            </a:r>
            <a:r>
              <a:rPr lang="en-US" altLang="ko-KR" baseline="-25000">
                <a:latin typeface="Helvetica" charset="0"/>
                <a:ea typeface="Gulim" charset="0"/>
                <a:cs typeface="Gulim" charset="0"/>
              </a:rPr>
              <a:t>1 </a:t>
            </a: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is waiting for a resource that is held by </a:t>
            </a:r>
            <a:r>
              <a:rPr lang="en-US" altLang="ko-KR" i="1">
                <a:latin typeface="Helvetica" charset="0"/>
                <a:ea typeface="Gulim" charset="0"/>
                <a:cs typeface="Gulim" charset="0"/>
              </a:rPr>
              <a:t>T</a:t>
            </a:r>
            <a:r>
              <a:rPr lang="en-US" altLang="ko-KR" baseline="-25000">
                <a:latin typeface="Helvetica" charset="0"/>
                <a:ea typeface="Gulim" charset="0"/>
                <a:cs typeface="Gulim" charset="0"/>
              </a:rPr>
              <a:t>2</a:t>
            </a:r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pPr lvl="2">
              <a:spcBef>
                <a:spcPct val="20000"/>
              </a:spcBef>
            </a:pPr>
            <a:r>
              <a:rPr lang="en-US" altLang="ko-KR" i="1">
                <a:latin typeface="Helvetica" charset="0"/>
                <a:ea typeface="Gulim" charset="0"/>
                <a:cs typeface="Gulim" charset="0"/>
              </a:rPr>
              <a:t>T</a:t>
            </a:r>
            <a:r>
              <a:rPr lang="en-US" altLang="ko-KR" baseline="-25000">
                <a:latin typeface="Helvetica" charset="0"/>
                <a:ea typeface="Gulim" charset="0"/>
                <a:cs typeface="Gulim" charset="0"/>
              </a:rPr>
              <a:t>2</a:t>
            </a: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 is waiting for a resource that is held by </a:t>
            </a:r>
            <a:r>
              <a:rPr lang="en-US" altLang="ko-KR" i="1">
                <a:latin typeface="Helvetica" charset="0"/>
                <a:ea typeface="Gulim" charset="0"/>
                <a:cs typeface="Gulim" charset="0"/>
              </a:rPr>
              <a:t>T</a:t>
            </a:r>
            <a:r>
              <a:rPr lang="en-US" altLang="ko-KR" baseline="-25000">
                <a:latin typeface="Helvetica" charset="0"/>
                <a:ea typeface="Gulim" charset="0"/>
                <a:cs typeface="Gulim" charset="0"/>
              </a:rPr>
              <a:t>3</a:t>
            </a:r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pPr lvl="2">
              <a:spcBef>
                <a:spcPct val="20000"/>
              </a:spcBef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…</a:t>
            </a:r>
          </a:p>
          <a:p>
            <a:pPr lvl="2">
              <a:spcBef>
                <a:spcPct val="20000"/>
              </a:spcBef>
            </a:pPr>
            <a:r>
              <a:rPr lang="en-US" altLang="ko-KR" i="1">
                <a:latin typeface="Helvetica" charset="0"/>
                <a:ea typeface="Gulim" charset="0"/>
                <a:cs typeface="Gulim" charset="0"/>
              </a:rPr>
              <a:t>T</a:t>
            </a:r>
            <a:r>
              <a:rPr lang="en-US" altLang="ko-KR" i="1" baseline="-25000">
                <a:latin typeface="Helvetica" charset="0"/>
                <a:ea typeface="Gulim" charset="0"/>
                <a:cs typeface="Gulim" charset="0"/>
              </a:rPr>
              <a:t>n</a:t>
            </a: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 is waiting for a resource that is held by </a:t>
            </a:r>
            <a:r>
              <a:rPr lang="en-US" altLang="ko-KR" i="1">
                <a:latin typeface="Helvetica" charset="0"/>
                <a:ea typeface="Gulim" charset="0"/>
                <a:cs typeface="Gulim" charset="0"/>
              </a:rPr>
              <a:t>T</a:t>
            </a:r>
            <a:r>
              <a:rPr lang="en-US" altLang="ko-KR" baseline="-25000">
                <a:latin typeface="Helvetica" charset="0"/>
                <a:ea typeface="Gulim" charset="0"/>
                <a:cs typeface="Gulim" charset="0"/>
              </a:rPr>
              <a:t>1</a:t>
            </a:r>
            <a:endParaRPr lang="en-US" altLang="ko-KR">
              <a:latin typeface="Helvetica" charset="0"/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6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Bridge Crossing Example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2133600"/>
            <a:ext cx="8763000" cy="4343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Each segment of road can be viewed as a resource</a:t>
            </a:r>
          </a:p>
          <a:p>
            <a:pPr lvl="1"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Car must own the segment under them</a:t>
            </a:r>
          </a:p>
          <a:p>
            <a:pPr lvl="1"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Must acquire segment that they are moving into</a:t>
            </a:r>
          </a:p>
          <a:p>
            <a:pPr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For bridge: must acquire both halves </a:t>
            </a:r>
          </a:p>
          <a:p>
            <a:pPr lvl="1"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Traffic only in one direction at a time </a:t>
            </a:r>
          </a:p>
          <a:p>
            <a:pPr lvl="1"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Problem occurs when two cars in opposite directions on bridge: each acquires one segment and needs next</a:t>
            </a:r>
          </a:p>
          <a:p>
            <a:pPr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If a deadlock occurs, it can be resolved if one car backs up (preempt resources and rollback)</a:t>
            </a:r>
          </a:p>
          <a:p>
            <a:pPr lvl="1"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Several cars may have to be backed up </a:t>
            </a:r>
          </a:p>
          <a:p>
            <a:pPr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Starvation is possible</a:t>
            </a:r>
          </a:p>
          <a:p>
            <a:pPr lvl="1"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East-going traffic really fast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  <a:sym typeface="Symbol" charset="0"/>
              </a:rPr>
              <a:t>-&gt;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  <a:sym typeface="Symbol" charset="0"/>
              </a:rPr>
              <a:t> no one goes west</a:t>
            </a:r>
          </a:p>
        </p:txBody>
      </p:sp>
      <p:grpSp>
        <p:nvGrpSpPr>
          <p:cNvPr id="28676" name="Group 461"/>
          <p:cNvGrpSpPr>
            <a:grpSpLocks/>
          </p:cNvGrpSpPr>
          <p:nvPr/>
        </p:nvGrpSpPr>
        <p:grpSpPr bwMode="auto">
          <a:xfrm>
            <a:off x="1419225" y="635000"/>
            <a:ext cx="6276975" cy="1484313"/>
            <a:chOff x="808" y="400"/>
            <a:chExt cx="3954" cy="935"/>
          </a:xfrm>
        </p:grpSpPr>
        <p:grpSp>
          <p:nvGrpSpPr>
            <p:cNvPr id="28682" name="Group 454"/>
            <p:cNvGrpSpPr>
              <a:grpSpLocks/>
            </p:cNvGrpSpPr>
            <p:nvPr/>
          </p:nvGrpSpPr>
          <p:grpSpPr bwMode="auto">
            <a:xfrm>
              <a:off x="808" y="471"/>
              <a:ext cx="3954" cy="864"/>
              <a:chOff x="816" y="432"/>
              <a:chExt cx="3954" cy="864"/>
            </a:xfrm>
          </p:grpSpPr>
          <p:grpSp>
            <p:nvGrpSpPr>
              <p:cNvPr id="28688" name="Group 5"/>
              <p:cNvGrpSpPr>
                <a:grpSpLocks/>
              </p:cNvGrpSpPr>
              <p:nvPr/>
            </p:nvGrpSpPr>
            <p:grpSpPr bwMode="auto">
              <a:xfrm>
                <a:off x="834" y="432"/>
                <a:ext cx="3936" cy="240"/>
                <a:chOff x="672" y="1008"/>
                <a:chExt cx="3936" cy="240"/>
              </a:xfrm>
            </p:grpSpPr>
            <p:sp>
              <p:nvSpPr>
                <p:cNvPr id="28941" name="Line 6"/>
                <p:cNvSpPr>
                  <a:spLocks noChangeShapeType="1"/>
                </p:cNvSpPr>
                <p:nvPr/>
              </p:nvSpPr>
              <p:spPr bwMode="auto">
                <a:xfrm>
                  <a:off x="672" y="1008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942" name="Line 7"/>
                <p:cNvSpPr>
                  <a:spLocks noChangeShapeType="1"/>
                </p:cNvSpPr>
                <p:nvPr/>
              </p:nvSpPr>
              <p:spPr bwMode="auto">
                <a:xfrm>
                  <a:off x="1824" y="1008"/>
                  <a:ext cx="384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943" name="Line 8"/>
                <p:cNvSpPr>
                  <a:spLocks noChangeShapeType="1"/>
                </p:cNvSpPr>
                <p:nvPr/>
              </p:nvSpPr>
              <p:spPr bwMode="auto">
                <a:xfrm>
                  <a:off x="2208" y="1248"/>
                  <a:ext cx="86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944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3072" y="1026"/>
                  <a:ext cx="384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945" name="Line 10"/>
                <p:cNvSpPr>
                  <a:spLocks noChangeShapeType="1"/>
                </p:cNvSpPr>
                <p:nvPr/>
              </p:nvSpPr>
              <p:spPr bwMode="auto">
                <a:xfrm>
                  <a:off x="3456" y="102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689" name="Group 11"/>
              <p:cNvGrpSpPr>
                <a:grpSpLocks/>
              </p:cNvGrpSpPr>
              <p:nvPr/>
            </p:nvGrpSpPr>
            <p:grpSpPr bwMode="auto">
              <a:xfrm flipV="1">
                <a:off x="834" y="1056"/>
                <a:ext cx="3936" cy="240"/>
                <a:chOff x="672" y="1008"/>
                <a:chExt cx="3936" cy="240"/>
              </a:xfrm>
            </p:grpSpPr>
            <p:sp>
              <p:nvSpPr>
                <p:cNvPr id="28936" name="Line 12"/>
                <p:cNvSpPr>
                  <a:spLocks noChangeShapeType="1"/>
                </p:cNvSpPr>
                <p:nvPr/>
              </p:nvSpPr>
              <p:spPr bwMode="auto">
                <a:xfrm>
                  <a:off x="672" y="1008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937" name="Line 13"/>
                <p:cNvSpPr>
                  <a:spLocks noChangeShapeType="1"/>
                </p:cNvSpPr>
                <p:nvPr/>
              </p:nvSpPr>
              <p:spPr bwMode="auto">
                <a:xfrm>
                  <a:off x="1824" y="1008"/>
                  <a:ext cx="384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938" name="Line 14"/>
                <p:cNvSpPr>
                  <a:spLocks noChangeShapeType="1"/>
                </p:cNvSpPr>
                <p:nvPr/>
              </p:nvSpPr>
              <p:spPr bwMode="auto">
                <a:xfrm>
                  <a:off x="2208" y="1248"/>
                  <a:ext cx="86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939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3072" y="1026"/>
                  <a:ext cx="384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940" name="Line 16"/>
                <p:cNvSpPr>
                  <a:spLocks noChangeShapeType="1"/>
                </p:cNvSpPr>
                <p:nvPr/>
              </p:nvSpPr>
              <p:spPr bwMode="auto">
                <a:xfrm>
                  <a:off x="3456" y="102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8690" name="Line 20"/>
              <p:cNvSpPr>
                <a:spLocks noChangeShapeType="1"/>
              </p:cNvSpPr>
              <p:nvPr/>
            </p:nvSpPr>
            <p:spPr bwMode="auto">
              <a:xfrm>
                <a:off x="816" y="852"/>
                <a:ext cx="1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1" name="Line 21"/>
              <p:cNvSpPr>
                <a:spLocks noChangeShapeType="1"/>
              </p:cNvSpPr>
              <p:nvPr/>
            </p:nvSpPr>
            <p:spPr bwMode="auto">
              <a:xfrm>
                <a:off x="3462" y="846"/>
                <a:ext cx="1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pic>
            <p:nvPicPr>
              <p:cNvPr id="28692" name="Picture 64" descr="j0212957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4" y="720"/>
                <a:ext cx="480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693" name="Picture 65" descr="MCj03914140000[1]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56" y="576"/>
                <a:ext cx="480" cy="4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8694" name="Group 224"/>
              <p:cNvGrpSpPr>
                <a:grpSpLocks/>
              </p:cNvGrpSpPr>
              <p:nvPr/>
            </p:nvGrpSpPr>
            <p:grpSpPr bwMode="auto">
              <a:xfrm>
                <a:off x="3456" y="528"/>
                <a:ext cx="520" cy="303"/>
                <a:chOff x="4464" y="1825"/>
                <a:chExt cx="520" cy="303"/>
              </a:xfrm>
            </p:grpSpPr>
            <p:sp>
              <p:nvSpPr>
                <p:cNvPr id="28902" name="Freeform 188"/>
                <p:cNvSpPr>
                  <a:spLocks/>
                </p:cNvSpPr>
                <p:nvPr/>
              </p:nvSpPr>
              <p:spPr bwMode="auto">
                <a:xfrm>
                  <a:off x="4464" y="1825"/>
                  <a:ext cx="520" cy="303"/>
                </a:xfrm>
                <a:custGeom>
                  <a:avLst/>
                  <a:gdLst>
                    <a:gd name="T0" fmla="*/ 0 w 1141"/>
                    <a:gd name="T1" fmla="*/ 0 h 663"/>
                    <a:gd name="T2" fmla="*/ 0 w 1141"/>
                    <a:gd name="T3" fmla="*/ 0 h 663"/>
                    <a:gd name="T4" fmla="*/ 0 w 1141"/>
                    <a:gd name="T5" fmla="*/ 0 h 663"/>
                    <a:gd name="T6" fmla="*/ 0 w 1141"/>
                    <a:gd name="T7" fmla="*/ 0 h 663"/>
                    <a:gd name="T8" fmla="*/ 0 w 1141"/>
                    <a:gd name="T9" fmla="*/ 0 h 663"/>
                    <a:gd name="T10" fmla="*/ 0 w 1141"/>
                    <a:gd name="T11" fmla="*/ 0 h 663"/>
                    <a:gd name="T12" fmla="*/ 0 w 1141"/>
                    <a:gd name="T13" fmla="*/ 0 h 663"/>
                    <a:gd name="T14" fmla="*/ 0 w 1141"/>
                    <a:gd name="T15" fmla="*/ 0 h 663"/>
                    <a:gd name="T16" fmla="*/ 0 w 1141"/>
                    <a:gd name="T17" fmla="*/ 0 h 663"/>
                    <a:gd name="T18" fmla="*/ 0 w 1141"/>
                    <a:gd name="T19" fmla="*/ 0 h 663"/>
                    <a:gd name="T20" fmla="*/ 0 w 1141"/>
                    <a:gd name="T21" fmla="*/ 0 h 663"/>
                    <a:gd name="T22" fmla="*/ 0 w 1141"/>
                    <a:gd name="T23" fmla="*/ 0 h 663"/>
                    <a:gd name="T24" fmla="*/ 0 w 1141"/>
                    <a:gd name="T25" fmla="*/ 0 h 663"/>
                    <a:gd name="T26" fmla="*/ 0 w 1141"/>
                    <a:gd name="T27" fmla="*/ 0 h 663"/>
                    <a:gd name="T28" fmla="*/ 0 w 1141"/>
                    <a:gd name="T29" fmla="*/ 0 h 663"/>
                    <a:gd name="T30" fmla="*/ 0 w 1141"/>
                    <a:gd name="T31" fmla="*/ 0 h 663"/>
                    <a:gd name="T32" fmla="*/ 0 w 1141"/>
                    <a:gd name="T33" fmla="*/ 0 h 663"/>
                    <a:gd name="T34" fmla="*/ 0 w 1141"/>
                    <a:gd name="T35" fmla="*/ 0 h 663"/>
                    <a:gd name="T36" fmla="*/ 0 w 1141"/>
                    <a:gd name="T37" fmla="*/ 0 h 663"/>
                    <a:gd name="T38" fmla="*/ 0 w 1141"/>
                    <a:gd name="T39" fmla="*/ 0 h 663"/>
                    <a:gd name="T40" fmla="*/ 0 w 1141"/>
                    <a:gd name="T41" fmla="*/ 0 h 663"/>
                    <a:gd name="T42" fmla="*/ 0 w 1141"/>
                    <a:gd name="T43" fmla="*/ 0 h 663"/>
                    <a:gd name="T44" fmla="*/ 0 w 1141"/>
                    <a:gd name="T45" fmla="*/ 0 h 663"/>
                    <a:gd name="T46" fmla="*/ 0 w 1141"/>
                    <a:gd name="T47" fmla="*/ 0 h 663"/>
                    <a:gd name="T48" fmla="*/ 0 w 1141"/>
                    <a:gd name="T49" fmla="*/ 0 h 663"/>
                    <a:gd name="T50" fmla="*/ 0 w 1141"/>
                    <a:gd name="T51" fmla="*/ 0 h 663"/>
                    <a:gd name="T52" fmla="*/ 0 w 1141"/>
                    <a:gd name="T53" fmla="*/ 0 h 663"/>
                    <a:gd name="T54" fmla="*/ 0 w 1141"/>
                    <a:gd name="T55" fmla="*/ 0 h 663"/>
                    <a:gd name="T56" fmla="*/ 0 w 1141"/>
                    <a:gd name="T57" fmla="*/ 0 h 663"/>
                    <a:gd name="T58" fmla="*/ 0 w 1141"/>
                    <a:gd name="T59" fmla="*/ 0 h 663"/>
                    <a:gd name="T60" fmla="*/ 0 w 1141"/>
                    <a:gd name="T61" fmla="*/ 0 h 663"/>
                    <a:gd name="T62" fmla="*/ 0 w 1141"/>
                    <a:gd name="T63" fmla="*/ 0 h 663"/>
                    <a:gd name="T64" fmla="*/ 0 w 1141"/>
                    <a:gd name="T65" fmla="*/ 0 h 663"/>
                    <a:gd name="T66" fmla="*/ 0 w 1141"/>
                    <a:gd name="T67" fmla="*/ 0 h 663"/>
                    <a:gd name="T68" fmla="*/ 0 w 1141"/>
                    <a:gd name="T69" fmla="*/ 0 h 663"/>
                    <a:gd name="T70" fmla="*/ 0 w 1141"/>
                    <a:gd name="T71" fmla="*/ 0 h 663"/>
                    <a:gd name="T72" fmla="*/ 0 w 1141"/>
                    <a:gd name="T73" fmla="*/ 0 h 663"/>
                    <a:gd name="T74" fmla="*/ 0 w 1141"/>
                    <a:gd name="T75" fmla="*/ 0 h 663"/>
                    <a:gd name="T76" fmla="*/ 0 w 1141"/>
                    <a:gd name="T77" fmla="*/ 0 h 663"/>
                    <a:gd name="T78" fmla="*/ 0 w 1141"/>
                    <a:gd name="T79" fmla="*/ 0 h 663"/>
                    <a:gd name="T80" fmla="*/ 0 w 1141"/>
                    <a:gd name="T81" fmla="*/ 0 h 663"/>
                    <a:gd name="T82" fmla="*/ 0 w 1141"/>
                    <a:gd name="T83" fmla="*/ 0 h 663"/>
                    <a:gd name="T84" fmla="*/ 0 w 1141"/>
                    <a:gd name="T85" fmla="*/ 0 h 663"/>
                    <a:gd name="T86" fmla="*/ 0 w 1141"/>
                    <a:gd name="T87" fmla="*/ 0 h 663"/>
                    <a:gd name="T88" fmla="*/ 0 w 1141"/>
                    <a:gd name="T89" fmla="*/ 0 h 663"/>
                    <a:gd name="T90" fmla="*/ 0 w 1141"/>
                    <a:gd name="T91" fmla="*/ 0 h 663"/>
                    <a:gd name="T92" fmla="*/ 0 w 1141"/>
                    <a:gd name="T93" fmla="*/ 0 h 663"/>
                    <a:gd name="T94" fmla="*/ 0 w 1141"/>
                    <a:gd name="T95" fmla="*/ 0 h 663"/>
                    <a:gd name="T96" fmla="*/ 0 w 1141"/>
                    <a:gd name="T97" fmla="*/ 0 h 663"/>
                    <a:gd name="T98" fmla="*/ 0 w 1141"/>
                    <a:gd name="T99" fmla="*/ 0 h 663"/>
                    <a:gd name="T100" fmla="*/ 0 w 1141"/>
                    <a:gd name="T101" fmla="*/ 0 h 663"/>
                    <a:gd name="T102" fmla="*/ 0 w 1141"/>
                    <a:gd name="T103" fmla="*/ 0 h 663"/>
                    <a:gd name="T104" fmla="*/ 0 w 1141"/>
                    <a:gd name="T105" fmla="*/ 0 h 663"/>
                    <a:gd name="T106" fmla="*/ 0 w 1141"/>
                    <a:gd name="T107" fmla="*/ 0 h 663"/>
                    <a:gd name="T108" fmla="*/ 0 w 1141"/>
                    <a:gd name="T109" fmla="*/ 0 h 663"/>
                    <a:gd name="T110" fmla="*/ 0 w 1141"/>
                    <a:gd name="T111" fmla="*/ 0 h 663"/>
                    <a:gd name="T112" fmla="*/ 0 w 1141"/>
                    <a:gd name="T113" fmla="*/ 0 h 663"/>
                    <a:gd name="T114" fmla="*/ 0 w 1141"/>
                    <a:gd name="T115" fmla="*/ 0 h 663"/>
                    <a:gd name="T116" fmla="*/ 0 w 1141"/>
                    <a:gd name="T117" fmla="*/ 0 h 663"/>
                    <a:gd name="T118" fmla="*/ 0 w 1141"/>
                    <a:gd name="T119" fmla="*/ 0 h 663"/>
                    <a:gd name="T120" fmla="*/ 0 w 1141"/>
                    <a:gd name="T121" fmla="*/ 0 h 663"/>
                    <a:gd name="T122" fmla="*/ 0 w 1141"/>
                    <a:gd name="T123" fmla="*/ 0 h 663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141"/>
                    <a:gd name="T187" fmla="*/ 0 h 663"/>
                    <a:gd name="T188" fmla="*/ 1141 w 1141"/>
                    <a:gd name="T189" fmla="*/ 663 h 663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141" h="663">
                      <a:moveTo>
                        <a:pt x="1140" y="427"/>
                      </a:moveTo>
                      <a:lnTo>
                        <a:pt x="1138" y="420"/>
                      </a:lnTo>
                      <a:lnTo>
                        <a:pt x="1136" y="413"/>
                      </a:lnTo>
                      <a:lnTo>
                        <a:pt x="1133" y="406"/>
                      </a:lnTo>
                      <a:lnTo>
                        <a:pt x="1129" y="400"/>
                      </a:lnTo>
                      <a:lnTo>
                        <a:pt x="1125" y="393"/>
                      </a:lnTo>
                      <a:lnTo>
                        <a:pt x="1119" y="386"/>
                      </a:lnTo>
                      <a:lnTo>
                        <a:pt x="1112" y="379"/>
                      </a:lnTo>
                      <a:lnTo>
                        <a:pt x="1105" y="373"/>
                      </a:lnTo>
                      <a:lnTo>
                        <a:pt x="1105" y="338"/>
                      </a:lnTo>
                      <a:lnTo>
                        <a:pt x="1105" y="289"/>
                      </a:lnTo>
                      <a:lnTo>
                        <a:pt x="1105" y="245"/>
                      </a:lnTo>
                      <a:lnTo>
                        <a:pt x="1105" y="227"/>
                      </a:lnTo>
                      <a:lnTo>
                        <a:pt x="1059" y="67"/>
                      </a:lnTo>
                      <a:lnTo>
                        <a:pt x="1054" y="54"/>
                      </a:lnTo>
                      <a:lnTo>
                        <a:pt x="1047" y="41"/>
                      </a:lnTo>
                      <a:lnTo>
                        <a:pt x="1039" y="30"/>
                      </a:lnTo>
                      <a:lnTo>
                        <a:pt x="1029" y="19"/>
                      </a:lnTo>
                      <a:lnTo>
                        <a:pt x="1016" y="11"/>
                      </a:lnTo>
                      <a:lnTo>
                        <a:pt x="1004" y="5"/>
                      </a:lnTo>
                      <a:lnTo>
                        <a:pt x="989" y="1"/>
                      </a:lnTo>
                      <a:lnTo>
                        <a:pt x="972" y="0"/>
                      </a:lnTo>
                      <a:lnTo>
                        <a:pt x="967" y="0"/>
                      </a:lnTo>
                      <a:lnTo>
                        <a:pt x="951" y="0"/>
                      </a:lnTo>
                      <a:lnTo>
                        <a:pt x="926" y="0"/>
                      </a:lnTo>
                      <a:lnTo>
                        <a:pt x="895" y="0"/>
                      </a:lnTo>
                      <a:lnTo>
                        <a:pt x="857" y="0"/>
                      </a:lnTo>
                      <a:lnTo>
                        <a:pt x="815" y="0"/>
                      </a:lnTo>
                      <a:lnTo>
                        <a:pt x="770" y="0"/>
                      </a:lnTo>
                      <a:lnTo>
                        <a:pt x="724" y="0"/>
                      </a:lnTo>
                      <a:lnTo>
                        <a:pt x="678" y="0"/>
                      </a:lnTo>
                      <a:lnTo>
                        <a:pt x="633" y="0"/>
                      </a:lnTo>
                      <a:lnTo>
                        <a:pt x="590" y="0"/>
                      </a:lnTo>
                      <a:lnTo>
                        <a:pt x="553" y="0"/>
                      </a:lnTo>
                      <a:lnTo>
                        <a:pt x="521" y="0"/>
                      </a:lnTo>
                      <a:lnTo>
                        <a:pt x="497" y="0"/>
                      </a:lnTo>
                      <a:lnTo>
                        <a:pt x="480" y="0"/>
                      </a:lnTo>
                      <a:lnTo>
                        <a:pt x="475" y="0"/>
                      </a:lnTo>
                      <a:lnTo>
                        <a:pt x="451" y="1"/>
                      </a:lnTo>
                      <a:lnTo>
                        <a:pt x="430" y="6"/>
                      </a:lnTo>
                      <a:lnTo>
                        <a:pt x="411" y="13"/>
                      </a:lnTo>
                      <a:lnTo>
                        <a:pt x="396" y="21"/>
                      </a:lnTo>
                      <a:lnTo>
                        <a:pt x="384" y="29"/>
                      </a:lnTo>
                      <a:lnTo>
                        <a:pt x="374" y="36"/>
                      </a:lnTo>
                      <a:lnTo>
                        <a:pt x="368" y="41"/>
                      </a:lnTo>
                      <a:lnTo>
                        <a:pt x="364" y="45"/>
                      </a:lnTo>
                      <a:lnTo>
                        <a:pt x="365" y="45"/>
                      </a:lnTo>
                      <a:lnTo>
                        <a:pt x="364" y="46"/>
                      </a:lnTo>
                      <a:lnTo>
                        <a:pt x="362" y="47"/>
                      </a:lnTo>
                      <a:lnTo>
                        <a:pt x="361" y="49"/>
                      </a:lnTo>
                      <a:lnTo>
                        <a:pt x="358" y="51"/>
                      </a:lnTo>
                      <a:lnTo>
                        <a:pt x="354" y="55"/>
                      </a:lnTo>
                      <a:lnTo>
                        <a:pt x="341" y="69"/>
                      </a:lnTo>
                      <a:lnTo>
                        <a:pt x="323" y="87"/>
                      </a:lnTo>
                      <a:lnTo>
                        <a:pt x="302" y="110"/>
                      </a:lnTo>
                      <a:lnTo>
                        <a:pt x="280" y="132"/>
                      </a:lnTo>
                      <a:lnTo>
                        <a:pt x="262" y="153"/>
                      </a:lnTo>
                      <a:lnTo>
                        <a:pt x="247" y="169"/>
                      </a:lnTo>
                      <a:lnTo>
                        <a:pt x="239" y="177"/>
                      </a:lnTo>
                      <a:lnTo>
                        <a:pt x="229" y="181"/>
                      </a:lnTo>
                      <a:lnTo>
                        <a:pt x="213" y="185"/>
                      </a:lnTo>
                      <a:lnTo>
                        <a:pt x="194" y="192"/>
                      </a:lnTo>
                      <a:lnTo>
                        <a:pt x="172" y="199"/>
                      </a:lnTo>
                      <a:lnTo>
                        <a:pt x="150" y="206"/>
                      </a:lnTo>
                      <a:lnTo>
                        <a:pt x="131" y="212"/>
                      </a:lnTo>
                      <a:lnTo>
                        <a:pt x="119" y="216"/>
                      </a:lnTo>
                      <a:lnTo>
                        <a:pt x="114" y="218"/>
                      </a:lnTo>
                      <a:lnTo>
                        <a:pt x="112" y="219"/>
                      </a:lnTo>
                      <a:lnTo>
                        <a:pt x="92" y="229"/>
                      </a:lnTo>
                      <a:lnTo>
                        <a:pt x="77" y="242"/>
                      </a:lnTo>
                      <a:lnTo>
                        <a:pt x="63" y="257"/>
                      </a:lnTo>
                      <a:lnTo>
                        <a:pt x="54" y="272"/>
                      </a:lnTo>
                      <a:lnTo>
                        <a:pt x="46" y="288"/>
                      </a:lnTo>
                      <a:lnTo>
                        <a:pt x="40" y="305"/>
                      </a:lnTo>
                      <a:lnTo>
                        <a:pt x="38" y="321"/>
                      </a:lnTo>
                      <a:lnTo>
                        <a:pt x="37" y="337"/>
                      </a:lnTo>
                      <a:lnTo>
                        <a:pt x="37" y="338"/>
                      </a:lnTo>
                      <a:lnTo>
                        <a:pt x="37" y="340"/>
                      </a:lnTo>
                      <a:lnTo>
                        <a:pt x="37" y="342"/>
                      </a:lnTo>
                      <a:lnTo>
                        <a:pt x="37" y="348"/>
                      </a:lnTo>
                      <a:lnTo>
                        <a:pt x="37" y="356"/>
                      </a:lnTo>
                      <a:lnTo>
                        <a:pt x="37" y="366"/>
                      </a:lnTo>
                      <a:lnTo>
                        <a:pt x="29" y="371"/>
                      </a:lnTo>
                      <a:lnTo>
                        <a:pt x="22" y="376"/>
                      </a:lnTo>
                      <a:lnTo>
                        <a:pt x="16" y="383"/>
                      </a:lnTo>
                      <a:lnTo>
                        <a:pt x="12" y="390"/>
                      </a:lnTo>
                      <a:lnTo>
                        <a:pt x="8" y="397"/>
                      </a:lnTo>
                      <a:lnTo>
                        <a:pt x="5" y="404"/>
                      </a:lnTo>
                      <a:lnTo>
                        <a:pt x="2" y="411"/>
                      </a:lnTo>
                      <a:lnTo>
                        <a:pt x="1" y="418"/>
                      </a:lnTo>
                      <a:lnTo>
                        <a:pt x="1" y="419"/>
                      </a:lnTo>
                      <a:lnTo>
                        <a:pt x="0" y="421"/>
                      </a:lnTo>
                      <a:lnTo>
                        <a:pt x="0" y="485"/>
                      </a:lnTo>
                      <a:lnTo>
                        <a:pt x="0" y="486"/>
                      </a:lnTo>
                      <a:lnTo>
                        <a:pt x="2" y="502"/>
                      </a:lnTo>
                      <a:lnTo>
                        <a:pt x="7" y="517"/>
                      </a:lnTo>
                      <a:lnTo>
                        <a:pt x="14" y="530"/>
                      </a:lnTo>
                      <a:lnTo>
                        <a:pt x="23" y="541"/>
                      </a:lnTo>
                      <a:lnTo>
                        <a:pt x="33" y="552"/>
                      </a:lnTo>
                      <a:lnTo>
                        <a:pt x="45" y="560"/>
                      </a:lnTo>
                      <a:lnTo>
                        <a:pt x="56" y="565"/>
                      </a:lnTo>
                      <a:lnTo>
                        <a:pt x="69" y="570"/>
                      </a:lnTo>
                      <a:lnTo>
                        <a:pt x="70" y="570"/>
                      </a:lnTo>
                      <a:lnTo>
                        <a:pt x="71" y="571"/>
                      </a:lnTo>
                      <a:lnTo>
                        <a:pt x="73" y="571"/>
                      </a:lnTo>
                      <a:lnTo>
                        <a:pt x="77" y="572"/>
                      </a:lnTo>
                      <a:lnTo>
                        <a:pt x="84" y="573"/>
                      </a:lnTo>
                      <a:lnTo>
                        <a:pt x="92" y="575"/>
                      </a:lnTo>
                      <a:lnTo>
                        <a:pt x="101" y="577"/>
                      </a:lnTo>
                      <a:lnTo>
                        <a:pt x="111" y="578"/>
                      </a:lnTo>
                      <a:lnTo>
                        <a:pt x="120" y="580"/>
                      </a:lnTo>
                      <a:lnTo>
                        <a:pt x="128" y="581"/>
                      </a:lnTo>
                      <a:lnTo>
                        <a:pt x="139" y="599"/>
                      </a:lnTo>
                      <a:lnTo>
                        <a:pt x="153" y="615"/>
                      </a:lnTo>
                      <a:lnTo>
                        <a:pt x="168" y="629"/>
                      </a:lnTo>
                      <a:lnTo>
                        <a:pt x="184" y="641"/>
                      </a:lnTo>
                      <a:lnTo>
                        <a:pt x="203" y="651"/>
                      </a:lnTo>
                      <a:lnTo>
                        <a:pt x="222" y="657"/>
                      </a:lnTo>
                      <a:lnTo>
                        <a:pt x="243" y="662"/>
                      </a:lnTo>
                      <a:lnTo>
                        <a:pt x="265" y="663"/>
                      </a:lnTo>
                      <a:lnTo>
                        <a:pt x="285" y="662"/>
                      </a:lnTo>
                      <a:lnTo>
                        <a:pt x="304" y="659"/>
                      </a:lnTo>
                      <a:lnTo>
                        <a:pt x="323" y="652"/>
                      </a:lnTo>
                      <a:lnTo>
                        <a:pt x="340" y="644"/>
                      </a:lnTo>
                      <a:lnTo>
                        <a:pt x="356" y="633"/>
                      </a:lnTo>
                      <a:lnTo>
                        <a:pt x="371" y="621"/>
                      </a:lnTo>
                      <a:lnTo>
                        <a:pt x="384" y="607"/>
                      </a:lnTo>
                      <a:lnTo>
                        <a:pt x="395" y="591"/>
                      </a:lnTo>
                      <a:lnTo>
                        <a:pt x="404" y="591"/>
                      </a:lnTo>
                      <a:lnTo>
                        <a:pt x="417" y="591"/>
                      </a:lnTo>
                      <a:lnTo>
                        <a:pt x="434" y="591"/>
                      </a:lnTo>
                      <a:lnTo>
                        <a:pt x="456" y="591"/>
                      </a:lnTo>
                      <a:lnTo>
                        <a:pt x="479" y="591"/>
                      </a:lnTo>
                      <a:lnTo>
                        <a:pt x="506" y="591"/>
                      </a:lnTo>
                      <a:lnTo>
                        <a:pt x="532" y="591"/>
                      </a:lnTo>
                      <a:lnTo>
                        <a:pt x="561" y="591"/>
                      </a:lnTo>
                      <a:lnTo>
                        <a:pt x="589" y="591"/>
                      </a:lnTo>
                      <a:lnTo>
                        <a:pt x="615" y="591"/>
                      </a:lnTo>
                      <a:lnTo>
                        <a:pt x="642" y="591"/>
                      </a:lnTo>
                      <a:lnTo>
                        <a:pt x="665" y="591"/>
                      </a:lnTo>
                      <a:lnTo>
                        <a:pt x="687" y="591"/>
                      </a:lnTo>
                      <a:lnTo>
                        <a:pt x="704" y="591"/>
                      </a:lnTo>
                      <a:lnTo>
                        <a:pt x="717" y="591"/>
                      </a:lnTo>
                      <a:lnTo>
                        <a:pt x="726" y="591"/>
                      </a:lnTo>
                      <a:lnTo>
                        <a:pt x="737" y="607"/>
                      </a:lnTo>
                      <a:lnTo>
                        <a:pt x="750" y="621"/>
                      </a:lnTo>
                      <a:lnTo>
                        <a:pt x="765" y="633"/>
                      </a:lnTo>
                      <a:lnTo>
                        <a:pt x="781" y="644"/>
                      </a:lnTo>
                      <a:lnTo>
                        <a:pt x="800" y="652"/>
                      </a:lnTo>
                      <a:lnTo>
                        <a:pt x="818" y="659"/>
                      </a:lnTo>
                      <a:lnTo>
                        <a:pt x="838" y="662"/>
                      </a:lnTo>
                      <a:lnTo>
                        <a:pt x="857" y="663"/>
                      </a:lnTo>
                      <a:lnTo>
                        <a:pt x="878" y="662"/>
                      </a:lnTo>
                      <a:lnTo>
                        <a:pt x="899" y="657"/>
                      </a:lnTo>
                      <a:lnTo>
                        <a:pt x="918" y="651"/>
                      </a:lnTo>
                      <a:lnTo>
                        <a:pt x="937" y="640"/>
                      </a:lnTo>
                      <a:lnTo>
                        <a:pt x="954" y="629"/>
                      </a:lnTo>
                      <a:lnTo>
                        <a:pt x="969" y="614"/>
                      </a:lnTo>
                      <a:lnTo>
                        <a:pt x="983" y="598"/>
                      </a:lnTo>
                      <a:lnTo>
                        <a:pt x="994" y="580"/>
                      </a:lnTo>
                      <a:lnTo>
                        <a:pt x="1005" y="579"/>
                      </a:lnTo>
                      <a:lnTo>
                        <a:pt x="1017" y="577"/>
                      </a:lnTo>
                      <a:lnTo>
                        <a:pt x="1031" y="575"/>
                      </a:lnTo>
                      <a:lnTo>
                        <a:pt x="1045" y="572"/>
                      </a:lnTo>
                      <a:lnTo>
                        <a:pt x="1057" y="571"/>
                      </a:lnTo>
                      <a:lnTo>
                        <a:pt x="1068" y="569"/>
                      </a:lnTo>
                      <a:lnTo>
                        <a:pt x="1075" y="568"/>
                      </a:lnTo>
                      <a:lnTo>
                        <a:pt x="1077" y="568"/>
                      </a:lnTo>
                      <a:lnTo>
                        <a:pt x="1089" y="565"/>
                      </a:lnTo>
                      <a:lnTo>
                        <a:pt x="1100" y="560"/>
                      </a:lnTo>
                      <a:lnTo>
                        <a:pt x="1111" y="554"/>
                      </a:lnTo>
                      <a:lnTo>
                        <a:pt x="1120" y="545"/>
                      </a:lnTo>
                      <a:lnTo>
                        <a:pt x="1128" y="534"/>
                      </a:lnTo>
                      <a:lnTo>
                        <a:pt x="1135" y="522"/>
                      </a:lnTo>
                      <a:lnTo>
                        <a:pt x="1138" y="508"/>
                      </a:lnTo>
                      <a:lnTo>
                        <a:pt x="1141" y="492"/>
                      </a:lnTo>
                      <a:lnTo>
                        <a:pt x="1141" y="432"/>
                      </a:lnTo>
                      <a:lnTo>
                        <a:pt x="1140" y="42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03" name="Freeform 190"/>
                <p:cNvSpPr>
                  <a:spLocks noEditPoints="1"/>
                </p:cNvSpPr>
                <p:nvPr/>
              </p:nvSpPr>
              <p:spPr bwMode="auto">
                <a:xfrm>
                  <a:off x="4479" y="1839"/>
                  <a:ext cx="490" cy="274"/>
                </a:xfrm>
                <a:custGeom>
                  <a:avLst/>
                  <a:gdLst>
                    <a:gd name="T0" fmla="*/ 0 w 1076"/>
                    <a:gd name="T1" fmla="*/ 0 h 599"/>
                    <a:gd name="T2" fmla="*/ 0 w 1076"/>
                    <a:gd name="T3" fmla="*/ 0 h 599"/>
                    <a:gd name="T4" fmla="*/ 0 w 1076"/>
                    <a:gd name="T5" fmla="*/ 0 h 599"/>
                    <a:gd name="T6" fmla="*/ 0 w 1076"/>
                    <a:gd name="T7" fmla="*/ 0 h 599"/>
                    <a:gd name="T8" fmla="*/ 0 w 1076"/>
                    <a:gd name="T9" fmla="*/ 0 h 599"/>
                    <a:gd name="T10" fmla="*/ 0 w 1076"/>
                    <a:gd name="T11" fmla="*/ 0 h 599"/>
                    <a:gd name="T12" fmla="*/ 0 w 1076"/>
                    <a:gd name="T13" fmla="*/ 0 h 599"/>
                    <a:gd name="T14" fmla="*/ 0 w 1076"/>
                    <a:gd name="T15" fmla="*/ 0 h 599"/>
                    <a:gd name="T16" fmla="*/ 0 w 1076"/>
                    <a:gd name="T17" fmla="*/ 0 h 599"/>
                    <a:gd name="T18" fmla="*/ 0 w 1076"/>
                    <a:gd name="T19" fmla="*/ 0 h 599"/>
                    <a:gd name="T20" fmla="*/ 0 w 1076"/>
                    <a:gd name="T21" fmla="*/ 0 h 599"/>
                    <a:gd name="T22" fmla="*/ 0 w 1076"/>
                    <a:gd name="T23" fmla="*/ 0 h 599"/>
                    <a:gd name="T24" fmla="*/ 0 w 1076"/>
                    <a:gd name="T25" fmla="*/ 0 h 599"/>
                    <a:gd name="T26" fmla="*/ 0 w 1076"/>
                    <a:gd name="T27" fmla="*/ 0 h 599"/>
                    <a:gd name="T28" fmla="*/ 0 w 1076"/>
                    <a:gd name="T29" fmla="*/ 0 h 599"/>
                    <a:gd name="T30" fmla="*/ 0 w 1076"/>
                    <a:gd name="T31" fmla="*/ 0 h 599"/>
                    <a:gd name="T32" fmla="*/ 0 w 1076"/>
                    <a:gd name="T33" fmla="*/ 0 h 599"/>
                    <a:gd name="T34" fmla="*/ 0 w 1076"/>
                    <a:gd name="T35" fmla="*/ 0 h 599"/>
                    <a:gd name="T36" fmla="*/ 0 w 1076"/>
                    <a:gd name="T37" fmla="*/ 0 h 599"/>
                    <a:gd name="T38" fmla="*/ 0 w 1076"/>
                    <a:gd name="T39" fmla="*/ 0 h 599"/>
                    <a:gd name="T40" fmla="*/ 0 w 1076"/>
                    <a:gd name="T41" fmla="*/ 0 h 599"/>
                    <a:gd name="T42" fmla="*/ 0 w 1076"/>
                    <a:gd name="T43" fmla="*/ 0 h 599"/>
                    <a:gd name="T44" fmla="*/ 0 w 1076"/>
                    <a:gd name="T45" fmla="*/ 0 h 599"/>
                    <a:gd name="T46" fmla="*/ 0 w 1076"/>
                    <a:gd name="T47" fmla="*/ 0 h 599"/>
                    <a:gd name="T48" fmla="*/ 0 w 1076"/>
                    <a:gd name="T49" fmla="*/ 0 h 599"/>
                    <a:gd name="T50" fmla="*/ 0 w 1076"/>
                    <a:gd name="T51" fmla="*/ 0 h 599"/>
                    <a:gd name="T52" fmla="*/ 0 w 1076"/>
                    <a:gd name="T53" fmla="*/ 0 h 599"/>
                    <a:gd name="T54" fmla="*/ 0 w 1076"/>
                    <a:gd name="T55" fmla="*/ 0 h 599"/>
                    <a:gd name="T56" fmla="*/ 0 w 1076"/>
                    <a:gd name="T57" fmla="*/ 0 h 599"/>
                    <a:gd name="T58" fmla="*/ 0 w 1076"/>
                    <a:gd name="T59" fmla="*/ 0 h 599"/>
                    <a:gd name="T60" fmla="*/ 0 w 1076"/>
                    <a:gd name="T61" fmla="*/ 0 h 599"/>
                    <a:gd name="T62" fmla="*/ 0 w 1076"/>
                    <a:gd name="T63" fmla="*/ 0 h 599"/>
                    <a:gd name="T64" fmla="*/ 0 w 1076"/>
                    <a:gd name="T65" fmla="*/ 0 h 599"/>
                    <a:gd name="T66" fmla="*/ 0 w 1076"/>
                    <a:gd name="T67" fmla="*/ 0 h 599"/>
                    <a:gd name="T68" fmla="*/ 0 w 1076"/>
                    <a:gd name="T69" fmla="*/ 0 h 599"/>
                    <a:gd name="T70" fmla="*/ 0 w 1076"/>
                    <a:gd name="T71" fmla="*/ 0 h 599"/>
                    <a:gd name="T72" fmla="*/ 0 w 1076"/>
                    <a:gd name="T73" fmla="*/ 0 h 599"/>
                    <a:gd name="T74" fmla="*/ 0 w 1076"/>
                    <a:gd name="T75" fmla="*/ 0 h 599"/>
                    <a:gd name="T76" fmla="*/ 0 w 1076"/>
                    <a:gd name="T77" fmla="*/ 0 h 599"/>
                    <a:gd name="T78" fmla="*/ 0 w 1076"/>
                    <a:gd name="T79" fmla="*/ 0 h 599"/>
                    <a:gd name="T80" fmla="*/ 0 w 1076"/>
                    <a:gd name="T81" fmla="*/ 0 h 599"/>
                    <a:gd name="T82" fmla="*/ 0 w 1076"/>
                    <a:gd name="T83" fmla="*/ 0 h 599"/>
                    <a:gd name="T84" fmla="*/ 0 w 1076"/>
                    <a:gd name="T85" fmla="*/ 0 h 599"/>
                    <a:gd name="T86" fmla="*/ 0 w 1076"/>
                    <a:gd name="T87" fmla="*/ 0 h 599"/>
                    <a:gd name="T88" fmla="*/ 0 w 1076"/>
                    <a:gd name="T89" fmla="*/ 0 h 599"/>
                    <a:gd name="T90" fmla="*/ 0 w 1076"/>
                    <a:gd name="T91" fmla="*/ 0 h 599"/>
                    <a:gd name="T92" fmla="*/ 0 w 1076"/>
                    <a:gd name="T93" fmla="*/ 0 h 599"/>
                    <a:gd name="T94" fmla="*/ 0 w 1076"/>
                    <a:gd name="T95" fmla="*/ 0 h 599"/>
                    <a:gd name="T96" fmla="*/ 0 w 1076"/>
                    <a:gd name="T97" fmla="*/ 0 h 599"/>
                    <a:gd name="T98" fmla="*/ 0 w 1076"/>
                    <a:gd name="T99" fmla="*/ 0 h 599"/>
                    <a:gd name="T100" fmla="*/ 0 w 1076"/>
                    <a:gd name="T101" fmla="*/ 0 h 599"/>
                    <a:gd name="T102" fmla="*/ 0 w 1076"/>
                    <a:gd name="T103" fmla="*/ 0 h 599"/>
                    <a:gd name="T104" fmla="*/ 0 w 1076"/>
                    <a:gd name="T105" fmla="*/ 0 h 599"/>
                    <a:gd name="T106" fmla="*/ 0 w 1076"/>
                    <a:gd name="T107" fmla="*/ 0 h 599"/>
                    <a:gd name="T108" fmla="*/ 0 w 1076"/>
                    <a:gd name="T109" fmla="*/ 0 h 599"/>
                    <a:gd name="T110" fmla="*/ 0 w 1076"/>
                    <a:gd name="T111" fmla="*/ 0 h 599"/>
                    <a:gd name="T112" fmla="*/ 0 w 1076"/>
                    <a:gd name="T113" fmla="*/ 0 h 599"/>
                    <a:gd name="T114" fmla="*/ 0 w 1076"/>
                    <a:gd name="T115" fmla="*/ 0 h 599"/>
                    <a:gd name="T116" fmla="*/ 0 w 1076"/>
                    <a:gd name="T117" fmla="*/ 0 h 599"/>
                    <a:gd name="T118" fmla="*/ 0 w 1076"/>
                    <a:gd name="T119" fmla="*/ 0 h 599"/>
                    <a:gd name="T120" fmla="*/ 0 w 1076"/>
                    <a:gd name="T121" fmla="*/ 0 h 599"/>
                    <a:gd name="T122" fmla="*/ 0 w 1076"/>
                    <a:gd name="T123" fmla="*/ 0 h 599"/>
                    <a:gd name="T124" fmla="*/ 0 w 1076"/>
                    <a:gd name="T125" fmla="*/ 0 h 599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  <a:gd name="T189" fmla="*/ 0 w 1076"/>
                    <a:gd name="T190" fmla="*/ 0 h 599"/>
                    <a:gd name="T191" fmla="*/ 1076 w 1076"/>
                    <a:gd name="T192" fmla="*/ 599 h 599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T189" t="T190" r="T191" b="T192"/>
                  <a:pathLst>
                    <a:path w="1076" h="599">
                      <a:moveTo>
                        <a:pt x="1076" y="401"/>
                      </a:moveTo>
                      <a:lnTo>
                        <a:pt x="1075" y="396"/>
                      </a:lnTo>
                      <a:lnTo>
                        <a:pt x="1073" y="391"/>
                      </a:lnTo>
                      <a:lnTo>
                        <a:pt x="1071" y="386"/>
                      </a:lnTo>
                      <a:lnTo>
                        <a:pt x="1066" y="380"/>
                      </a:lnTo>
                      <a:lnTo>
                        <a:pt x="1061" y="374"/>
                      </a:lnTo>
                      <a:lnTo>
                        <a:pt x="1056" y="369"/>
                      </a:lnTo>
                      <a:lnTo>
                        <a:pt x="1049" y="364"/>
                      </a:lnTo>
                      <a:lnTo>
                        <a:pt x="1041" y="359"/>
                      </a:lnTo>
                      <a:lnTo>
                        <a:pt x="1041" y="326"/>
                      </a:lnTo>
                      <a:lnTo>
                        <a:pt x="1041" y="272"/>
                      </a:lnTo>
                      <a:lnTo>
                        <a:pt x="1041" y="221"/>
                      </a:lnTo>
                      <a:lnTo>
                        <a:pt x="1041" y="199"/>
                      </a:lnTo>
                      <a:lnTo>
                        <a:pt x="997" y="44"/>
                      </a:lnTo>
                      <a:lnTo>
                        <a:pt x="995" y="37"/>
                      </a:lnTo>
                      <a:lnTo>
                        <a:pt x="990" y="30"/>
                      </a:lnTo>
                      <a:lnTo>
                        <a:pt x="985" y="22"/>
                      </a:lnTo>
                      <a:lnTo>
                        <a:pt x="980" y="15"/>
                      </a:lnTo>
                      <a:lnTo>
                        <a:pt x="972" y="9"/>
                      </a:lnTo>
                      <a:lnTo>
                        <a:pt x="962" y="4"/>
                      </a:lnTo>
                      <a:lnTo>
                        <a:pt x="952" y="1"/>
                      </a:lnTo>
                      <a:lnTo>
                        <a:pt x="940" y="0"/>
                      </a:lnTo>
                      <a:lnTo>
                        <a:pt x="443" y="0"/>
                      </a:lnTo>
                      <a:lnTo>
                        <a:pt x="423" y="1"/>
                      </a:lnTo>
                      <a:lnTo>
                        <a:pt x="407" y="5"/>
                      </a:lnTo>
                      <a:lnTo>
                        <a:pt x="392" y="11"/>
                      </a:lnTo>
                      <a:lnTo>
                        <a:pt x="379" y="16"/>
                      </a:lnTo>
                      <a:lnTo>
                        <a:pt x="370" y="22"/>
                      </a:lnTo>
                      <a:lnTo>
                        <a:pt x="362" y="28"/>
                      </a:lnTo>
                      <a:lnTo>
                        <a:pt x="357" y="32"/>
                      </a:lnTo>
                      <a:lnTo>
                        <a:pt x="355" y="35"/>
                      </a:lnTo>
                      <a:lnTo>
                        <a:pt x="351" y="39"/>
                      </a:lnTo>
                      <a:lnTo>
                        <a:pt x="338" y="53"/>
                      </a:lnTo>
                      <a:lnTo>
                        <a:pt x="319" y="73"/>
                      </a:lnTo>
                      <a:lnTo>
                        <a:pt x="296" y="96"/>
                      </a:lnTo>
                      <a:lnTo>
                        <a:pt x="273" y="120"/>
                      </a:lnTo>
                      <a:lnTo>
                        <a:pt x="253" y="143"/>
                      </a:lnTo>
                      <a:lnTo>
                        <a:pt x="235" y="161"/>
                      </a:lnTo>
                      <a:lnTo>
                        <a:pt x="224" y="173"/>
                      </a:lnTo>
                      <a:lnTo>
                        <a:pt x="216" y="175"/>
                      </a:lnTo>
                      <a:lnTo>
                        <a:pt x="201" y="181"/>
                      </a:lnTo>
                      <a:lnTo>
                        <a:pt x="180" y="188"/>
                      </a:lnTo>
                      <a:lnTo>
                        <a:pt x="156" y="195"/>
                      </a:lnTo>
                      <a:lnTo>
                        <a:pt x="133" y="203"/>
                      </a:lnTo>
                      <a:lnTo>
                        <a:pt x="113" y="209"/>
                      </a:lnTo>
                      <a:lnTo>
                        <a:pt x="99" y="213"/>
                      </a:lnTo>
                      <a:lnTo>
                        <a:pt x="94" y="216"/>
                      </a:lnTo>
                      <a:lnTo>
                        <a:pt x="76" y="226"/>
                      </a:lnTo>
                      <a:lnTo>
                        <a:pt x="62" y="237"/>
                      </a:lnTo>
                      <a:lnTo>
                        <a:pt x="52" y="251"/>
                      </a:lnTo>
                      <a:lnTo>
                        <a:pt x="45" y="264"/>
                      </a:lnTo>
                      <a:lnTo>
                        <a:pt x="41" y="278"/>
                      </a:lnTo>
                      <a:lnTo>
                        <a:pt x="37" y="289"/>
                      </a:lnTo>
                      <a:lnTo>
                        <a:pt x="36" y="298"/>
                      </a:lnTo>
                      <a:lnTo>
                        <a:pt x="36" y="305"/>
                      </a:lnTo>
                      <a:lnTo>
                        <a:pt x="36" y="306"/>
                      </a:lnTo>
                      <a:lnTo>
                        <a:pt x="36" y="308"/>
                      </a:lnTo>
                      <a:lnTo>
                        <a:pt x="36" y="315"/>
                      </a:lnTo>
                      <a:lnTo>
                        <a:pt x="36" y="326"/>
                      </a:lnTo>
                      <a:lnTo>
                        <a:pt x="36" y="341"/>
                      </a:lnTo>
                      <a:lnTo>
                        <a:pt x="36" y="355"/>
                      </a:lnTo>
                      <a:lnTo>
                        <a:pt x="28" y="357"/>
                      </a:lnTo>
                      <a:lnTo>
                        <a:pt x="21" y="362"/>
                      </a:lnTo>
                      <a:lnTo>
                        <a:pt x="14" y="366"/>
                      </a:lnTo>
                      <a:lnTo>
                        <a:pt x="9" y="371"/>
                      </a:lnTo>
                      <a:lnTo>
                        <a:pt x="6" y="377"/>
                      </a:lnTo>
                      <a:lnTo>
                        <a:pt x="4" y="381"/>
                      </a:lnTo>
                      <a:lnTo>
                        <a:pt x="1" y="386"/>
                      </a:lnTo>
                      <a:lnTo>
                        <a:pt x="0" y="391"/>
                      </a:lnTo>
                      <a:lnTo>
                        <a:pt x="0" y="392"/>
                      </a:lnTo>
                      <a:lnTo>
                        <a:pt x="0" y="453"/>
                      </a:lnTo>
                      <a:lnTo>
                        <a:pt x="1" y="464"/>
                      </a:lnTo>
                      <a:lnTo>
                        <a:pt x="6" y="475"/>
                      </a:lnTo>
                      <a:lnTo>
                        <a:pt x="11" y="484"/>
                      </a:lnTo>
                      <a:lnTo>
                        <a:pt x="18" y="491"/>
                      </a:lnTo>
                      <a:lnTo>
                        <a:pt x="24" y="497"/>
                      </a:lnTo>
                      <a:lnTo>
                        <a:pt x="31" y="501"/>
                      </a:lnTo>
                      <a:lnTo>
                        <a:pt x="38" y="505"/>
                      </a:lnTo>
                      <a:lnTo>
                        <a:pt x="45" y="507"/>
                      </a:lnTo>
                      <a:lnTo>
                        <a:pt x="46" y="508"/>
                      </a:lnTo>
                      <a:lnTo>
                        <a:pt x="118" y="521"/>
                      </a:lnTo>
                      <a:lnTo>
                        <a:pt x="126" y="537"/>
                      </a:lnTo>
                      <a:lnTo>
                        <a:pt x="136" y="552"/>
                      </a:lnTo>
                      <a:lnTo>
                        <a:pt x="149" y="566"/>
                      </a:lnTo>
                      <a:lnTo>
                        <a:pt x="163" y="577"/>
                      </a:lnTo>
                      <a:lnTo>
                        <a:pt x="178" y="586"/>
                      </a:lnTo>
                      <a:lnTo>
                        <a:pt x="195" y="593"/>
                      </a:lnTo>
                      <a:lnTo>
                        <a:pt x="213" y="598"/>
                      </a:lnTo>
                      <a:lnTo>
                        <a:pt x="233" y="599"/>
                      </a:lnTo>
                      <a:lnTo>
                        <a:pt x="251" y="598"/>
                      </a:lnTo>
                      <a:lnTo>
                        <a:pt x="269" y="593"/>
                      </a:lnTo>
                      <a:lnTo>
                        <a:pt x="285" y="587"/>
                      </a:lnTo>
                      <a:lnTo>
                        <a:pt x="300" y="578"/>
                      </a:lnTo>
                      <a:lnTo>
                        <a:pt x="314" y="568"/>
                      </a:lnTo>
                      <a:lnTo>
                        <a:pt x="326" y="555"/>
                      </a:lnTo>
                      <a:lnTo>
                        <a:pt x="337" y="541"/>
                      </a:lnTo>
                      <a:lnTo>
                        <a:pt x="345" y="526"/>
                      </a:lnTo>
                      <a:lnTo>
                        <a:pt x="712" y="526"/>
                      </a:lnTo>
                      <a:lnTo>
                        <a:pt x="720" y="541"/>
                      </a:lnTo>
                      <a:lnTo>
                        <a:pt x="731" y="555"/>
                      </a:lnTo>
                      <a:lnTo>
                        <a:pt x="743" y="568"/>
                      </a:lnTo>
                      <a:lnTo>
                        <a:pt x="757" y="578"/>
                      </a:lnTo>
                      <a:lnTo>
                        <a:pt x="772" y="587"/>
                      </a:lnTo>
                      <a:lnTo>
                        <a:pt x="790" y="593"/>
                      </a:lnTo>
                      <a:lnTo>
                        <a:pt x="807" y="598"/>
                      </a:lnTo>
                      <a:lnTo>
                        <a:pt x="825" y="599"/>
                      </a:lnTo>
                      <a:lnTo>
                        <a:pt x="845" y="598"/>
                      </a:lnTo>
                      <a:lnTo>
                        <a:pt x="863" y="593"/>
                      </a:lnTo>
                      <a:lnTo>
                        <a:pt x="879" y="586"/>
                      </a:lnTo>
                      <a:lnTo>
                        <a:pt x="896" y="576"/>
                      </a:lnTo>
                      <a:lnTo>
                        <a:pt x="911" y="564"/>
                      </a:lnTo>
                      <a:lnTo>
                        <a:pt x="922" y="551"/>
                      </a:lnTo>
                      <a:lnTo>
                        <a:pt x="932" y="536"/>
                      </a:lnTo>
                      <a:lnTo>
                        <a:pt x="940" y="518"/>
                      </a:lnTo>
                      <a:lnTo>
                        <a:pt x="1041" y="505"/>
                      </a:lnTo>
                      <a:lnTo>
                        <a:pt x="1045" y="503"/>
                      </a:lnTo>
                      <a:lnTo>
                        <a:pt x="1051" y="501"/>
                      </a:lnTo>
                      <a:lnTo>
                        <a:pt x="1058" y="498"/>
                      </a:lnTo>
                      <a:lnTo>
                        <a:pt x="1064" y="493"/>
                      </a:lnTo>
                      <a:lnTo>
                        <a:pt x="1068" y="487"/>
                      </a:lnTo>
                      <a:lnTo>
                        <a:pt x="1073" y="479"/>
                      </a:lnTo>
                      <a:lnTo>
                        <a:pt x="1075" y="470"/>
                      </a:lnTo>
                      <a:lnTo>
                        <a:pt x="1076" y="460"/>
                      </a:lnTo>
                      <a:lnTo>
                        <a:pt x="1076" y="402"/>
                      </a:lnTo>
                      <a:lnTo>
                        <a:pt x="1076" y="401"/>
                      </a:lnTo>
                      <a:close/>
                      <a:moveTo>
                        <a:pt x="68" y="306"/>
                      </a:moveTo>
                      <a:lnTo>
                        <a:pt x="68" y="306"/>
                      </a:lnTo>
                      <a:lnTo>
                        <a:pt x="68" y="305"/>
                      </a:lnTo>
                      <a:lnTo>
                        <a:pt x="68" y="304"/>
                      </a:lnTo>
                      <a:lnTo>
                        <a:pt x="68" y="300"/>
                      </a:lnTo>
                      <a:lnTo>
                        <a:pt x="69" y="294"/>
                      </a:lnTo>
                      <a:lnTo>
                        <a:pt x="71" y="286"/>
                      </a:lnTo>
                      <a:lnTo>
                        <a:pt x="74" y="278"/>
                      </a:lnTo>
                      <a:lnTo>
                        <a:pt x="79" y="268"/>
                      </a:lnTo>
                      <a:lnTo>
                        <a:pt x="86" y="259"/>
                      </a:lnTo>
                      <a:lnTo>
                        <a:pt x="95" y="251"/>
                      </a:lnTo>
                      <a:lnTo>
                        <a:pt x="106" y="244"/>
                      </a:lnTo>
                      <a:lnTo>
                        <a:pt x="113" y="242"/>
                      </a:lnTo>
                      <a:lnTo>
                        <a:pt x="128" y="237"/>
                      </a:lnTo>
                      <a:lnTo>
                        <a:pt x="150" y="230"/>
                      </a:lnTo>
                      <a:lnTo>
                        <a:pt x="174" y="222"/>
                      </a:lnTo>
                      <a:lnTo>
                        <a:pt x="200" y="214"/>
                      </a:lnTo>
                      <a:lnTo>
                        <a:pt x="220" y="207"/>
                      </a:lnTo>
                      <a:lnTo>
                        <a:pt x="235" y="203"/>
                      </a:lnTo>
                      <a:lnTo>
                        <a:pt x="241" y="201"/>
                      </a:lnTo>
                      <a:lnTo>
                        <a:pt x="379" y="57"/>
                      </a:lnTo>
                      <a:lnTo>
                        <a:pt x="381" y="55"/>
                      </a:lnTo>
                      <a:lnTo>
                        <a:pt x="384" y="52"/>
                      </a:lnTo>
                      <a:lnTo>
                        <a:pt x="390" y="49"/>
                      </a:lnTo>
                      <a:lnTo>
                        <a:pt x="397" y="44"/>
                      </a:lnTo>
                      <a:lnTo>
                        <a:pt x="406" y="39"/>
                      </a:lnTo>
                      <a:lnTo>
                        <a:pt x="416" y="36"/>
                      </a:lnTo>
                      <a:lnTo>
                        <a:pt x="429" y="34"/>
                      </a:lnTo>
                      <a:lnTo>
                        <a:pt x="443" y="32"/>
                      </a:lnTo>
                      <a:lnTo>
                        <a:pt x="942" y="32"/>
                      </a:lnTo>
                      <a:lnTo>
                        <a:pt x="953" y="35"/>
                      </a:lnTo>
                      <a:lnTo>
                        <a:pt x="960" y="43"/>
                      </a:lnTo>
                      <a:lnTo>
                        <a:pt x="965" y="50"/>
                      </a:lnTo>
                      <a:lnTo>
                        <a:pt x="966" y="53"/>
                      </a:lnTo>
                      <a:lnTo>
                        <a:pt x="967" y="59"/>
                      </a:lnTo>
                      <a:lnTo>
                        <a:pt x="972" y="74"/>
                      </a:lnTo>
                      <a:lnTo>
                        <a:pt x="979" y="96"/>
                      </a:lnTo>
                      <a:lnTo>
                        <a:pt x="985" y="121"/>
                      </a:lnTo>
                      <a:lnTo>
                        <a:pt x="993" y="149"/>
                      </a:lnTo>
                      <a:lnTo>
                        <a:pt x="1000" y="173"/>
                      </a:lnTo>
                      <a:lnTo>
                        <a:pt x="1005" y="192"/>
                      </a:lnTo>
                      <a:lnTo>
                        <a:pt x="1008" y="204"/>
                      </a:lnTo>
                      <a:lnTo>
                        <a:pt x="1008" y="225"/>
                      </a:lnTo>
                      <a:lnTo>
                        <a:pt x="1008" y="272"/>
                      </a:lnTo>
                      <a:lnTo>
                        <a:pt x="1008" y="325"/>
                      </a:lnTo>
                      <a:lnTo>
                        <a:pt x="1008" y="368"/>
                      </a:lnTo>
                      <a:lnTo>
                        <a:pt x="886" y="368"/>
                      </a:lnTo>
                      <a:lnTo>
                        <a:pt x="879" y="364"/>
                      </a:lnTo>
                      <a:lnTo>
                        <a:pt x="873" y="361"/>
                      </a:lnTo>
                      <a:lnTo>
                        <a:pt x="866" y="358"/>
                      </a:lnTo>
                      <a:lnTo>
                        <a:pt x="858" y="356"/>
                      </a:lnTo>
                      <a:lnTo>
                        <a:pt x="849" y="354"/>
                      </a:lnTo>
                      <a:lnTo>
                        <a:pt x="841" y="353"/>
                      </a:lnTo>
                      <a:lnTo>
                        <a:pt x="833" y="351"/>
                      </a:lnTo>
                      <a:lnTo>
                        <a:pt x="825" y="351"/>
                      </a:lnTo>
                      <a:lnTo>
                        <a:pt x="817" y="351"/>
                      </a:lnTo>
                      <a:lnTo>
                        <a:pt x="808" y="353"/>
                      </a:lnTo>
                      <a:lnTo>
                        <a:pt x="800" y="354"/>
                      </a:lnTo>
                      <a:lnTo>
                        <a:pt x="792" y="356"/>
                      </a:lnTo>
                      <a:lnTo>
                        <a:pt x="784" y="358"/>
                      </a:lnTo>
                      <a:lnTo>
                        <a:pt x="777" y="361"/>
                      </a:lnTo>
                      <a:lnTo>
                        <a:pt x="770" y="364"/>
                      </a:lnTo>
                      <a:lnTo>
                        <a:pt x="763" y="368"/>
                      </a:lnTo>
                      <a:lnTo>
                        <a:pt x="294" y="368"/>
                      </a:lnTo>
                      <a:lnTo>
                        <a:pt x="287" y="364"/>
                      </a:lnTo>
                      <a:lnTo>
                        <a:pt x="280" y="361"/>
                      </a:lnTo>
                      <a:lnTo>
                        <a:pt x="273" y="358"/>
                      </a:lnTo>
                      <a:lnTo>
                        <a:pt x="265" y="356"/>
                      </a:lnTo>
                      <a:lnTo>
                        <a:pt x="257" y="354"/>
                      </a:lnTo>
                      <a:lnTo>
                        <a:pt x="249" y="353"/>
                      </a:lnTo>
                      <a:lnTo>
                        <a:pt x="241" y="351"/>
                      </a:lnTo>
                      <a:lnTo>
                        <a:pt x="233" y="351"/>
                      </a:lnTo>
                      <a:lnTo>
                        <a:pt x="225" y="351"/>
                      </a:lnTo>
                      <a:lnTo>
                        <a:pt x="216" y="353"/>
                      </a:lnTo>
                      <a:lnTo>
                        <a:pt x="208" y="354"/>
                      </a:lnTo>
                      <a:lnTo>
                        <a:pt x="200" y="356"/>
                      </a:lnTo>
                      <a:lnTo>
                        <a:pt x="192" y="358"/>
                      </a:lnTo>
                      <a:lnTo>
                        <a:pt x="185" y="361"/>
                      </a:lnTo>
                      <a:lnTo>
                        <a:pt x="178" y="364"/>
                      </a:lnTo>
                      <a:lnTo>
                        <a:pt x="171" y="368"/>
                      </a:lnTo>
                      <a:lnTo>
                        <a:pt x="68" y="368"/>
                      </a:lnTo>
                      <a:lnTo>
                        <a:pt x="68" y="306"/>
                      </a:lnTo>
                      <a:close/>
                      <a:moveTo>
                        <a:pt x="109" y="487"/>
                      </a:moveTo>
                      <a:lnTo>
                        <a:pt x="101" y="485"/>
                      </a:lnTo>
                      <a:lnTo>
                        <a:pt x="91" y="484"/>
                      </a:lnTo>
                      <a:lnTo>
                        <a:pt x="82" y="482"/>
                      </a:lnTo>
                      <a:lnTo>
                        <a:pt x="74" y="480"/>
                      </a:lnTo>
                      <a:lnTo>
                        <a:pt x="66" y="479"/>
                      </a:lnTo>
                      <a:lnTo>
                        <a:pt x="59" y="477"/>
                      </a:lnTo>
                      <a:lnTo>
                        <a:pt x="56" y="477"/>
                      </a:lnTo>
                      <a:lnTo>
                        <a:pt x="53" y="476"/>
                      </a:lnTo>
                      <a:lnTo>
                        <a:pt x="49" y="475"/>
                      </a:lnTo>
                      <a:lnTo>
                        <a:pt x="42" y="470"/>
                      </a:lnTo>
                      <a:lnTo>
                        <a:pt x="36" y="463"/>
                      </a:lnTo>
                      <a:lnTo>
                        <a:pt x="33" y="452"/>
                      </a:lnTo>
                      <a:lnTo>
                        <a:pt x="33" y="444"/>
                      </a:lnTo>
                      <a:lnTo>
                        <a:pt x="33" y="425"/>
                      </a:lnTo>
                      <a:lnTo>
                        <a:pt x="33" y="406"/>
                      </a:lnTo>
                      <a:lnTo>
                        <a:pt x="33" y="395"/>
                      </a:lnTo>
                      <a:lnTo>
                        <a:pt x="34" y="392"/>
                      </a:lnTo>
                      <a:lnTo>
                        <a:pt x="37" y="388"/>
                      </a:lnTo>
                      <a:lnTo>
                        <a:pt x="43" y="386"/>
                      </a:lnTo>
                      <a:lnTo>
                        <a:pt x="53" y="384"/>
                      </a:lnTo>
                      <a:lnTo>
                        <a:pt x="58" y="384"/>
                      </a:lnTo>
                      <a:lnTo>
                        <a:pt x="149" y="384"/>
                      </a:lnTo>
                      <a:lnTo>
                        <a:pt x="140" y="393"/>
                      </a:lnTo>
                      <a:lnTo>
                        <a:pt x="132" y="402"/>
                      </a:lnTo>
                      <a:lnTo>
                        <a:pt x="125" y="414"/>
                      </a:lnTo>
                      <a:lnTo>
                        <a:pt x="119" y="424"/>
                      </a:lnTo>
                      <a:lnTo>
                        <a:pt x="114" y="437"/>
                      </a:lnTo>
                      <a:lnTo>
                        <a:pt x="111" y="448"/>
                      </a:lnTo>
                      <a:lnTo>
                        <a:pt x="110" y="462"/>
                      </a:lnTo>
                      <a:lnTo>
                        <a:pt x="109" y="475"/>
                      </a:lnTo>
                      <a:lnTo>
                        <a:pt x="109" y="478"/>
                      </a:lnTo>
                      <a:lnTo>
                        <a:pt x="109" y="480"/>
                      </a:lnTo>
                      <a:lnTo>
                        <a:pt x="109" y="484"/>
                      </a:lnTo>
                      <a:lnTo>
                        <a:pt x="109" y="487"/>
                      </a:lnTo>
                      <a:close/>
                      <a:moveTo>
                        <a:pt x="233" y="567"/>
                      </a:moveTo>
                      <a:lnTo>
                        <a:pt x="215" y="564"/>
                      </a:lnTo>
                      <a:lnTo>
                        <a:pt x="197" y="560"/>
                      </a:lnTo>
                      <a:lnTo>
                        <a:pt x="181" y="551"/>
                      </a:lnTo>
                      <a:lnTo>
                        <a:pt x="167" y="539"/>
                      </a:lnTo>
                      <a:lnTo>
                        <a:pt x="156" y="526"/>
                      </a:lnTo>
                      <a:lnTo>
                        <a:pt x="148" y="510"/>
                      </a:lnTo>
                      <a:lnTo>
                        <a:pt x="143" y="493"/>
                      </a:lnTo>
                      <a:lnTo>
                        <a:pt x="141" y="475"/>
                      </a:lnTo>
                      <a:lnTo>
                        <a:pt x="142" y="457"/>
                      </a:lnTo>
                      <a:lnTo>
                        <a:pt x="147" y="441"/>
                      </a:lnTo>
                      <a:lnTo>
                        <a:pt x="155" y="427"/>
                      </a:lnTo>
                      <a:lnTo>
                        <a:pt x="164" y="414"/>
                      </a:lnTo>
                      <a:lnTo>
                        <a:pt x="175" y="403"/>
                      </a:lnTo>
                      <a:lnTo>
                        <a:pt x="189" y="394"/>
                      </a:lnTo>
                      <a:lnTo>
                        <a:pt x="204" y="387"/>
                      </a:lnTo>
                      <a:lnTo>
                        <a:pt x="220" y="384"/>
                      </a:lnTo>
                      <a:lnTo>
                        <a:pt x="245" y="384"/>
                      </a:lnTo>
                      <a:lnTo>
                        <a:pt x="261" y="387"/>
                      </a:lnTo>
                      <a:lnTo>
                        <a:pt x="276" y="394"/>
                      </a:lnTo>
                      <a:lnTo>
                        <a:pt x="289" y="403"/>
                      </a:lnTo>
                      <a:lnTo>
                        <a:pt x="301" y="414"/>
                      </a:lnTo>
                      <a:lnTo>
                        <a:pt x="310" y="427"/>
                      </a:lnTo>
                      <a:lnTo>
                        <a:pt x="318" y="441"/>
                      </a:lnTo>
                      <a:lnTo>
                        <a:pt x="323" y="457"/>
                      </a:lnTo>
                      <a:lnTo>
                        <a:pt x="324" y="475"/>
                      </a:lnTo>
                      <a:lnTo>
                        <a:pt x="322" y="493"/>
                      </a:lnTo>
                      <a:lnTo>
                        <a:pt x="317" y="510"/>
                      </a:lnTo>
                      <a:lnTo>
                        <a:pt x="309" y="526"/>
                      </a:lnTo>
                      <a:lnTo>
                        <a:pt x="298" y="539"/>
                      </a:lnTo>
                      <a:lnTo>
                        <a:pt x="284" y="551"/>
                      </a:lnTo>
                      <a:lnTo>
                        <a:pt x="269" y="560"/>
                      </a:lnTo>
                      <a:lnTo>
                        <a:pt x="251" y="564"/>
                      </a:lnTo>
                      <a:lnTo>
                        <a:pt x="233" y="567"/>
                      </a:lnTo>
                      <a:close/>
                      <a:moveTo>
                        <a:pt x="702" y="495"/>
                      </a:moveTo>
                      <a:lnTo>
                        <a:pt x="355" y="495"/>
                      </a:lnTo>
                      <a:lnTo>
                        <a:pt x="356" y="490"/>
                      </a:lnTo>
                      <a:lnTo>
                        <a:pt x="356" y="485"/>
                      </a:lnTo>
                      <a:lnTo>
                        <a:pt x="356" y="479"/>
                      </a:lnTo>
                      <a:lnTo>
                        <a:pt x="356" y="475"/>
                      </a:lnTo>
                      <a:lnTo>
                        <a:pt x="355" y="462"/>
                      </a:lnTo>
                      <a:lnTo>
                        <a:pt x="354" y="448"/>
                      </a:lnTo>
                      <a:lnTo>
                        <a:pt x="351" y="437"/>
                      </a:lnTo>
                      <a:lnTo>
                        <a:pt x="346" y="424"/>
                      </a:lnTo>
                      <a:lnTo>
                        <a:pt x="340" y="414"/>
                      </a:lnTo>
                      <a:lnTo>
                        <a:pt x="333" y="402"/>
                      </a:lnTo>
                      <a:lnTo>
                        <a:pt x="325" y="393"/>
                      </a:lnTo>
                      <a:lnTo>
                        <a:pt x="316" y="384"/>
                      </a:lnTo>
                      <a:lnTo>
                        <a:pt x="741" y="384"/>
                      </a:lnTo>
                      <a:lnTo>
                        <a:pt x="732" y="393"/>
                      </a:lnTo>
                      <a:lnTo>
                        <a:pt x="724" y="402"/>
                      </a:lnTo>
                      <a:lnTo>
                        <a:pt x="717" y="414"/>
                      </a:lnTo>
                      <a:lnTo>
                        <a:pt x="711" y="424"/>
                      </a:lnTo>
                      <a:lnTo>
                        <a:pt x="707" y="437"/>
                      </a:lnTo>
                      <a:lnTo>
                        <a:pt x="703" y="448"/>
                      </a:lnTo>
                      <a:lnTo>
                        <a:pt x="702" y="462"/>
                      </a:lnTo>
                      <a:lnTo>
                        <a:pt x="701" y="475"/>
                      </a:lnTo>
                      <a:lnTo>
                        <a:pt x="701" y="479"/>
                      </a:lnTo>
                      <a:lnTo>
                        <a:pt x="701" y="485"/>
                      </a:lnTo>
                      <a:lnTo>
                        <a:pt x="701" y="490"/>
                      </a:lnTo>
                      <a:lnTo>
                        <a:pt x="702" y="495"/>
                      </a:lnTo>
                      <a:close/>
                      <a:moveTo>
                        <a:pt x="825" y="567"/>
                      </a:moveTo>
                      <a:lnTo>
                        <a:pt x="807" y="564"/>
                      </a:lnTo>
                      <a:lnTo>
                        <a:pt x="790" y="560"/>
                      </a:lnTo>
                      <a:lnTo>
                        <a:pt x="773" y="551"/>
                      </a:lnTo>
                      <a:lnTo>
                        <a:pt x="760" y="539"/>
                      </a:lnTo>
                      <a:lnTo>
                        <a:pt x="748" y="526"/>
                      </a:lnTo>
                      <a:lnTo>
                        <a:pt x="740" y="510"/>
                      </a:lnTo>
                      <a:lnTo>
                        <a:pt x="735" y="493"/>
                      </a:lnTo>
                      <a:lnTo>
                        <a:pt x="733" y="475"/>
                      </a:lnTo>
                      <a:lnTo>
                        <a:pt x="734" y="457"/>
                      </a:lnTo>
                      <a:lnTo>
                        <a:pt x="739" y="441"/>
                      </a:lnTo>
                      <a:lnTo>
                        <a:pt x="747" y="427"/>
                      </a:lnTo>
                      <a:lnTo>
                        <a:pt x="756" y="414"/>
                      </a:lnTo>
                      <a:lnTo>
                        <a:pt x="768" y="403"/>
                      </a:lnTo>
                      <a:lnTo>
                        <a:pt x="781" y="394"/>
                      </a:lnTo>
                      <a:lnTo>
                        <a:pt x="796" y="387"/>
                      </a:lnTo>
                      <a:lnTo>
                        <a:pt x="813" y="384"/>
                      </a:lnTo>
                      <a:lnTo>
                        <a:pt x="837" y="384"/>
                      </a:lnTo>
                      <a:lnTo>
                        <a:pt x="853" y="387"/>
                      </a:lnTo>
                      <a:lnTo>
                        <a:pt x="868" y="394"/>
                      </a:lnTo>
                      <a:lnTo>
                        <a:pt x="882" y="403"/>
                      </a:lnTo>
                      <a:lnTo>
                        <a:pt x="893" y="414"/>
                      </a:lnTo>
                      <a:lnTo>
                        <a:pt x="902" y="427"/>
                      </a:lnTo>
                      <a:lnTo>
                        <a:pt x="911" y="441"/>
                      </a:lnTo>
                      <a:lnTo>
                        <a:pt x="915" y="457"/>
                      </a:lnTo>
                      <a:lnTo>
                        <a:pt x="916" y="475"/>
                      </a:lnTo>
                      <a:lnTo>
                        <a:pt x="914" y="493"/>
                      </a:lnTo>
                      <a:lnTo>
                        <a:pt x="909" y="510"/>
                      </a:lnTo>
                      <a:lnTo>
                        <a:pt x="901" y="526"/>
                      </a:lnTo>
                      <a:lnTo>
                        <a:pt x="890" y="539"/>
                      </a:lnTo>
                      <a:lnTo>
                        <a:pt x="876" y="551"/>
                      </a:lnTo>
                      <a:lnTo>
                        <a:pt x="861" y="560"/>
                      </a:lnTo>
                      <a:lnTo>
                        <a:pt x="844" y="564"/>
                      </a:lnTo>
                      <a:lnTo>
                        <a:pt x="825" y="567"/>
                      </a:lnTo>
                      <a:close/>
                      <a:moveTo>
                        <a:pt x="1044" y="460"/>
                      </a:moveTo>
                      <a:lnTo>
                        <a:pt x="1043" y="465"/>
                      </a:lnTo>
                      <a:lnTo>
                        <a:pt x="1042" y="469"/>
                      </a:lnTo>
                      <a:lnTo>
                        <a:pt x="1038" y="471"/>
                      </a:lnTo>
                      <a:lnTo>
                        <a:pt x="1036" y="472"/>
                      </a:lnTo>
                      <a:lnTo>
                        <a:pt x="1034" y="472"/>
                      </a:lnTo>
                      <a:lnTo>
                        <a:pt x="1027" y="473"/>
                      </a:lnTo>
                      <a:lnTo>
                        <a:pt x="1017" y="475"/>
                      </a:lnTo>
                      <a:lnTo>
                        <a:pt x="1004" y="477"/>
                      </a:lnTo>
                      <a:lnTo>
                        <a:pt x="990" y="479"/>
                      </a:lnTo>
                      <a:lnTo>
                        <a:pt x="975" y="482"/>
                      </a:lnTo>
                      <a:lnTo>
                        <a:pt x="961" y="483"/>
                      </a:lnTo>
                      <a:lnTo>
                        <a:pt x="949" y="485"/>
                      </a:lnTo>
                      <a:lnTo>
                        <a:pt x="949" y="483"/>
                      </a:lnTo>
                      <a:lnTo>
                        <a:pt x="949" y="479"/>
                      </a:lnTo>
                      <a:lnTo>
                        <a:pt x="949" y="477"/>
                      </a:lnTo>
                      <a:lnTo>
                        <a:pt x="949" y="475"/>
                      </a:lnTo>
                      <a:lnTo>
                        <a:pt x="947" y="462"/>
                      </a:lnTo>
                      <a:lnTo>
                        <a:pt x="946" y="448"/>
                      </a:lnTo>
                      <a:lnTo>
                        <a:pt x="943" y="437"/>
                      </a:lnTo>
                      <a:lnTo>
                        <a:pt x="938" y="424"/>
                      </a:lnTo>
                      <a:lnTo>
                        <a:pt x="932" y="414"/>
                      </a:lnTo>
                      <a:lnTo>
                        <a:pt x="926" y="402"/>
                      </a:lnTo>
                      <a:lnTo>
                        <a:pt x="917" y="393"/>
                      </a:lnTo>
                      <a:lnTo>
                        <a:pt x="908" y="384"/>
                      </a:lnTo>
                      <a:lnTo>
                        <a:pt x="1013" y="384"/>
                      </a:lnTo>
                      <a:lnTo>
                        <a:pt x="1021" y="386"/>
                      </a:lnTo>
                      <a:lnTo>
                        <a:pt x="1033" y="391"/>
                      </a:lnTo>
                      <a:lnTo>
                        <a:pt x="1040" y="396"/>
                      </a:lnTo>
                      <a:lnTo>
                        <a:pt x="1043" y="402"/>
                      </a:lnTo>
                      <a:lnTo>
                        <a:pt x="1044" y="407"/>
                      </a:lnTo>
                      <a:lnTo>
                        <a:pt x="1044" y="416"/>
                      </a:lnTo>
                      <a:lnTo>
                        <a:pt x="1044" y="434"/>
                      </a:lnTo>
                      <a:lnTo>
                        <a:pt x="1044" y="452"/>
                      </a:lnTo>
                      <a:lnTo>
                        <a:pt x="1044" y="4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04" name="Freeform 191"/>
                <p:cNvSpPr>
                  <a:spLocks/>
                </p:cNvSpPr>
                <p:nvPr/>
              </p:nvSpPr>
              <p:spPr bwMode="auto">
                <a:xfrm>
                  <a:off x="4542" y="2014"/>
                  <a:ext cx="84" cy="83"/>
                </a:xfrm>
                <a:custGeom>
                  <a:avLst/>
                  <a:gdLst>
                    <a:gd name="T0" fmla="*/ 0 w 183"/>
                    <a:gd name="T1" fmla="*/ 0 h 183"/>
                    <a:gd name="T2" fmla="*/ 0 w 183"/>
                    <a:gd name="T3" fmla="*/ 0 h 183"/>
                    <a:gd name="T4" fmla="*/ 0 w 183"/>
                    <a:gd name="T5" fmla="*/ 0 h 183"/>
                    <a:gd name="T6" fmla="*/ 0 w 183"/>
                    <a:gd name="T7" fmla="*/ 0 h 183"/>
                    <a:gd name="T8" fmla="*/ 0 w 183"/>
                    <a:gd name="T9" fmla="*/ 0 h 183"/>
                    <a:gd name="T10" fmla="*/ 0 w 183"/>
                    <a:gd name="T11" fmla="*/ 0 h 183"/>
                    <a:gd name="T12" fmla="*/ 0 w 183"/>
                    <a:gd name="T13" fmla="*/ 0 h 183"/>
                    <a:gd name="T14" fmla="*/ 0 w 183"/>
                    <a:gd name="T15" fmla="*/ 0 h 183"/>
                    <a:gd name="T16" fmla="*/ 0 w 183"/>
                    <a:gd name="T17" fmla="*/ 0 h 183"/>
                    <a:gd name="T18" fmla="*/ 0 w 183"/>
                    <a:gd name="T19" fmla="*/ 0 h 183"/>
                    <a:gd name="T20" fmla="*/ 0 w 183"/>
                    <a:gd name="T21" fmla="*/ 0 h 183"/>
                    <a:gd name="T22" fmla="*/ 0 w 183"/>
                    <a:gd name="T23" fmla="*/ 0 h 183"/>
                    <a:gd name="T24" fmla="*/ 0 w 183"/>
                    <a:gd name="T25" fmla="*/ 0 h 183"/>
                    <a:gd name="T26" fmla="*/ 0 w 183"/>
                    <a:gd name="T27" fmla="*/ 0 h 183"/>
                    <a:gd name="T28" fmla="*/ 0 w 183"/>
                    <a:gd name="T29" fmla="*/ 0 h 183"/>
                    <a:gd name="T30" fmla="*/ 0 w 183"/>
                    <a:gd name="T31" fmla="*/ 0 h 183"/>
                    <a:gd name="T32" fmla="*/ 0 w 183"/>
                    <a:gd name="T33" fmla="*/ 0 h 183"/>
                    <a:gd name="T34" fmla="*/ 0 w 183"/>
                    <a:gd name="T35" fmla="*/ 0 h 183"/>
                    <a:gd name="T36" fmla="*/ 0 w 183"/>
                    <a:gd name="T37" fmla="*/ 0 h 183"/>
                    <a:gd name="T38" fmla="*/ 0 w 183"/>
                    <a:gd name="T39" fmla="*/ 0 h 183"/>
                    <a:gd name="T40" fmla="*/ 0 w 183"/>
                    <a:gd name="T41" fmla="*/ 0 h 183"/>
                    <a:gd name="T42" fmla="*/ 0 w 183"/>
                    <a:gd name="T43" fmla="*/ 0 h 183"/>
                    <a:gd name="T44" fmla="*/ 0 w 183"/>
                    <a:gd name="T45" fmla="*/ 0 h 183"/>
                    <a:gd name="T46" fmla="*/ 0 w 183"/>
                    <a:gd name="T47" fmla="*/ 0 h 183"/>
                    <a:gd name="T48" fmla="*/ 0 w 183"/>
                    <a:gd name="T49" fmla="*/ 0 h 183"/>
                    <a:gd name="T50" fmla="*/ 0 w 183"/>
                    <a:gd name="T51" fmla="*/ 0 h 183"/>
                    <a:gd name="T52" fmla="*/ 0 w 183"/>
                    <a:gd name="T53" fmla="*/ 0 h 183"/>
                    <a:gd name="T54" fmla="*/ 0 w 183"/>
                    <a:gd name="T55" fmla="*/ 0 h 183"/>
                    <a:gd name="T56" fmla="*/ 0 w 183"/>
                    <a:gd name="T57" fmla="*/ 0 h 183"/>
                    <a:gd name="T58" fmla="*/ 0 w 183"/>
                    <a:gd name="T59" fmla="*/ 0 h 183"/>
                    <a:gd name="T60" fmla="*/ 0 w 183"/>
                    <a:gd name="T61" fmla="*/ 0 h 183"/>
                    <a:gd name="T62" fmla="*/ 0 w 183"/>
                    <a:gd name="T63" fmla="*/ 0 h 183"/>
                    <a:gd name="T64" fmla="*/ 0 w 183"/>
                    <a:gd name="T65" fmla="*/ 0 h 183"/>
                    <a:gd name="T66" fmla="*/ 0 w 183"/>
                    <a:gd name="T67" fmla="*/ 0 h 183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183"/>
                    <a:gd name="T103" fmla="*/ 0 h 183"/>
                    <a:gd name="T104" fmla="*/ 183 w 183"/>
                    <a:gd name="T105" fmla="*/ 183 h 183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183" h="183">
                      <a:moveTo>
                        <a:pt x="104" y="0"/>
                      </a:moveTo>
                      <a:lnTo>
                        <a:pt x="79" y="0"/>
                      </a:lnTo>
                      <a:lnTo>
                        <a:pt x="63" y="3"/>
                      </a:lnTo>
                      <a:lnTo>
                        <a:pt x="48" y="10"/>
                      </a:lnTo>
                      <a:lnTo>
                        <a:pt x="34" y="19"/>
                      </a:lnTo>
                      <a:lnTo>
                        <a:pt x="23" y="30"/>
                      </a:lnTo>
                      <a:lnTo>
                        <a:pt x="14" y="43"/>
                      </a:lnTo>
                      <a:lnTo>
                        <a:pt x="6" y="57"/>
                      </a:lnTo>
                      <a:lnTo>
                        <a:pt x="1" y="73"/>
                      </a:lnTo>
                      <a:lnTo>
                        <a:pt x="0" y="91"/>
                      </a:lnTo>
                      <a:lnTo>
                        <a:pt x="2" y="109"/>
                      </a:lnTo>
                      <a:lnTo>
                        <a:pt x="7" y="126"/>
                      </a:lnTo>
                      <a:lnTo>
                        <a:pt x="15" y="142"/>
                      </a:lnTo>
                      <a:lnTo>
                        <a:pt x="26" y="155"/>
                      </a:lnTo>
                      <a:lnTo>
                        <a:pt x="40" y="167"/>
                      </a:lnTo>
                      <a:lnTo>
                        <a:pt x="56" y="176"/>
                      </a:lnTo>
                      <a:lnTo>
                        <a:pt x="74" y="180"/>
                      </a:lnTo>
                      <a:lnTo>
                        <a:pt x="92" y="183"/>
                      </a:lnTo>
                      <a:lnTo>
                        <a:pt x="110" y="180"/>
                      </a:lnTo>
                      <a:lnTo>
                        <a:pt x="128" y="176"/>
                      </a:lnTo>
                      <a:lnTo>
                        <a:pt x="143" y="167"/>
                      </a:lnTo>
                      <a:lnTo>
                        <a:pt x="157" y="155"/>
                      </a:lnTo>
                      <a:lnTo>
                        <a:pt x="168" y="142"/>
                      </a:lnTo>
                      <a:lnTo>
                        <a:pt x="176" y="126"/>
                      </a:lnTo>
                      <a:lnTo>
                        <a:pt x="181" y="109"/>
                      </a:lnTo>
                      <a:lnTo>
                        <a:pt x="183" y="91"/>
                      </a:lnTo>
                      <a:lnTo>
                        <a:pt x="182" y="73"/>
                      </a:lnTo>
                      <a:lnTo>
                        <a:pt x="177" y="57"/>
                      </a:lnTo>
                      <a:lnTo>
                        <a:pt x="169" y="43"/>
                      </a:lnTo>
                      <a:lnTo>
                        <a:pt x="160" y="30"/>
                      </a:lnTo>
                      <a:lnTo>
                        <a:pt x="148" y="19"/>
                      </a:lnTo>
                      <a:lnTo>
                        <a:pt x="135" y="10"/>
                      </a:lnTo>
                      <a:lnTo>
                        <a:pt x="120" y="3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rgbClr val="3F9E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05" name="Freeform 192"/>
                <p:cNvSpPr>
                  <a:spLocks/>
                </p:cNvSpPr>
                <p:nvPr/>
              </p:nvSpPr>
              <p:spPr bwMode="auto">
                <a:xfrm>
                  <a:off x="4493" y="2014"/>
                  <a:ext cx="53" cy="48"/>
                </a:xfrm>
                <a:custGeom>
                  <a:avLst/>
                  <a:gdLst>
                    <a:gd name="T0" fmla="*/ 0 w 116"/>
                    <a:gd name="T1" fmla="*/ 0 h 103"/>
                    <a:gd name="T2" fmla="*/ 0 w 116"/>
                    <a:gd name="T3" fmla="*/ 0 h 103"/>
                    <a:gd name="T4" fmla="*/ 0 w 116"/>
                    <a:gd name="T5" fmla="*/ 0 h 103"/>
                    <a:gd name="T6" fmla="*/ 0 w 116"/>
                    <a:gd name="T7" fmla="*/ 0 h 103"/>
                    <a:gd name="T8" fmla="*/ 0 w 116"/>
                    <a:gd name="T9" fmla="*/ 0 h 103"/>
                    <a:gd name="T10" fmla="*/ 0 w 116"/>
                    <a:gd name="T11" fmla="*/ 0 h 103"/>
                    <a:gd name="T12" fmla="*/ 0 w 116"/>
                    <a:gd name="T13" fmla="*/ 0 h 103"/>
                    <a:gd name="T14" fmla="*/ 0 w 116"/>
                    <a:gd name="T15" fmla="*/ 0 h 103"/>
                    <a:gd name="T16" fmla="*/ 0 w 116"/>
                    <a:gd name="T17" fmla="*/ 0 h 103"/>
                    <a:gd name="T18" fmla="*/ 0 w 116"/>
                    <a:gd name="T19" fmla="*/ 0 h 103"/>
                    <a:gd name="T20" fmla="*/ 0 w 116"/>
                    <a:gd name="T21" fmla="*/ 0 h 103"/>
                    <a:gd name="T22" fmla="*/ 0 w 116"/>
                    <a:gd name="T23" fmla="*/ 0 h 103"/>
                    <a:gd name="T24" fmla="*/ 0 w 116"/>
                    <a:gd name="T25" fmla="*/ 0 h 103"/>
                    <a:gd name="T26" fmla="*/ 0 w 116"/>
                    <a:gd name="T27" fmla="*/ 0 h 103"/>
                    <a:gd name="T28" fmla="*/ 0 w 116"/>
                    <a:gd name="T29" fmla="*/ 0 h 103"/>
                    <a:gd name="T30" fmla="*/ 0 w 116"/>
                    <a:gd name="T31" fmla="*/ 0 h 103"/>
                    <a:gd name="T32" fmla="*/ 0 w 116"/>
                    <a:gd name="T33" fmla="*/ 0 h 103"/>
                    <a:gd name="T34" fmla="*/ 0 w 116"/>
                    <a:gd name="T35" fmla="*/ 0 h 103"/>
                    <a:gd name="T36" fmla="*/ 0 w 116"/>
                    <a:gd name="T37" fmla="*/ 0 h 103"/>
                    <a:gd name="T38" fmla="*/ 0 w 116"/>
                    <a:gd name="T39" fmla="*/ 0 h 103"/>
                    <a:gd name="T40" fmla="*/ 0 w 116"/>
                    <a:gd name="T41" fmla="*/ 0 h 103"/>
                    <a:gd name="T42" fmla="*/ 0 w 116"/>
                    <a:gd name="T43" fmla="*/ 0 h 103"/>
                    <a:gd name="T44" fmla="*/ 0 w 116"/>
                    <a:gd name="T45" fmla="*/ 0 h 103"/>
                    <a:gd name="T46" fmla="*/ 0 w 116"/>
                    <a:gd name="T47" fmla="*/ 0 h 103"/>
                    <a:gd name="T48" fmla="*/ 0 w 116"/>
                    <a:gd name="T49" fmla="*/ 0 h 103"/>
                    <a:gd name="T50" fmla="*/ 0 w 116"/>
                    <a:gd name="T51" fmla="*/ 0 h 103"/>
                    <a:gd name="T52" fmla="*/ 0 w 116"/>
                    <a:gd name="T53" fmla="*/ 0 h 103"/>
                    <a:gd name="T54" fmla="*/ 0 w 116"/>
                    <a:gd name="T55" fmla="*/ 0 h 103"/>
                    <a:gd name="T56" fmla="*/ 0 w 116"/>
                    <a:gd name="T57" fmla="*/ 0 h 103"/>
                    <a:gd name="T58" fmla="*/ 0 w 116"/>
                    <a:gd name="T59" fmla="*/ 0 h 103"/>
                    <a:gd name="T60" fmla="*/ 0 w 116"/>
                    <a:gd name="T61" fmla="*/ 0 h 103"/>
                    <a:gd name="T62" fmla="*/ 0 w 116"/>
                    <a:gd name="T63" fmla="*/ 0 h 103"/>
                    <a:gd name="T64" fmla="*/ 0 w 116"/>
                    <a:gd name="T65" fmla="*/ 0 h 103"/>
                    <a:gd name="T66" fmla="*/ 0 w 116"/>
                    <a:gd name="T67" fmla="*/ 0 h 103"/>
                    <a:gd name="T68" fmla="*/ 0 w 116"/>
                    <a:gd name="T69" fmla="*/ 0 h 103"/>
                    <a:gd name="T70" fmla="*/ 0 w 116"/>
                    <a:gd name="T71" fmla="*/ 0 h 10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16"/>
                    <a:gd name="T109" fmla="*/ 0 h 103"/>
                    <a:gd name="T110" fmla="*/ 116 w 116"/>
                    <a:gd name="T111" fmla="*/ 103 h 103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16" h="103">
                      <a:moveTo>
                        <a:pt x="25" y="0"/>
                      </a:moveTo>
                      <a:lnTo>
                        <a:pt x="25" y="0"/>
                      </a:lnTo>
                      <a:lnTo>
                        <a:pt x="20" y="0"/>
                      </a:lnTo>
                      <a:lnTo>
                        <a:pt x="10" y="2"/>
                      </a:lnTo>
                      <a:lnTo>
                        <a:pt x="4" y="4"/>
                      </a:lnTo>
                      <a:lnTo>
                        <a:pt x="1" y="8"/>
                      </a:lnTo>
                      <a:lnTo>
                        <a:pt x="0" y="11"/>
                      </a:lnTo>
                      <a:lnTo>
                        <a:pt x="0" y="22"/>
                      </a:lnTo>
                      <a:lnTo>
                        <a:pt x="0" y="41"/>
                      </a:lnTo>
                      <a:lnTo>
                        <a:pt x="0" y="60"/>
                      </a:lnTo>
                      <a:lnTo>
                        <a:pt x="0" y="68"/>
                      </a:lnTo>
                      <a:lnTo>
                        <a:pt x="3" y="79"/>
                      </a:lnTo>
                      <a:lnTo>
                        <a:pt x="9" y="86"/>
                      </a:lnTo>
                      <a:lnTo>
                        <a:pt x="16" y="91"/>
                      </a:lnTo>
                      <a:lnTo>
                        <a:pt x="20" y="92"/>
                      </a:lnTo>
                      <a:lnTo>
                        <a:pt x="23" y="93"/>
                      </a:lnTo>
                      <a:lnTo>
                        <a:pt x="26" y="93"/>
                      </a:lnTo>
                      <a:lnTo>
                        <a:pt x="33" y="95"/>
                      </a:lnTo>
                      <a:lnTo>
                        <a:pt x="41" y="96"/>
                      </a:lnTo>
                      <a:lnTo>
                        <a:pt x="49" y="98"/>
                      </a:lnTo>
                      <a:lnTo>
                        <a:pt x="58" y="100"/>
                      </a:lnTo>
                      <a:lnTo>
                        <a:pt x="68" y="101"/>
                      </a:lnTo>
                      <a:lnTo>
                        <a:pt x="76" y="103"/>
                      </a:lnTo>
                      <a:lnTo>
                        <a:pt x="76" y="100"/>
                      </a:lnTo>
                      <a:lnTo>
                        <a:pt x="76" y="96"/>
                      </a:lnTo>
                      <a:lnTo>
                        <a:pt x="76" y="94"/>
                      </a:lnTo>
                      <a:lnTo>
                        <a:pt x="76" y="91"/>
                      </a:lnTo>
                      <a:lnTo>
                        <a:pt x="77" y="78"/>
                      </a:lnTo>
                      <a:lnTo>
                        <a:pt x="78" y="64"/>
                      </a:lnTo>
                      <a:lnTo>
                        <a:pt x="81" y="53"/>
                      </a:lnTo>
                      <a:lnTo>
                        <a:pt x="86" y="40"/>
                      </a:lnTo>
                      <a:lnTo>
                        <a:pt x="92" y="30"/>
                      </a:lnTo>
                      <a:lnTo>
                        <a:pt x="99" y="18"/>
                      </a:lnTo>
                      <a:lnTo>
                        <a:pt x="107" y="9"/>
                      </a:lnTo>
                      <a:lnTo>
                        <a:pt x="116" y="0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BFDD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06" name="Freeform 193"/>
                <p:cNvSpPr>
                  <a:spLocks/>
                </p:cNvSpPr>
                <p:nvPr/>
              </p:nvSpPr>
              <p:spPr bwMode="auto">
                <a:xfrm>
                  <a:off x="4510" y="1854"/>
                  <a:ext cx="428" cy="153"/>
                </a:xfrm>
                <a:custGeom>
                  <a:avLst/>
                  <a:gdLst>
                    <a:gd name="T0" fmla="*/ 0 w 940"/>
                    <a:gd name="T1" fmla="*/ 0 h 336"/>
                    <a:gd name="T2" fmla="*/ 0 w 940"/>
                    <a:gd name="T3" fmla="*/ 0 h 336"/>
                    <a:gd name="T4" fmla="*/ 0 w 940"/>
                    <a:gd name="T5" fmla="*/ 0 h 336"/>
                    <a:gd name="T6" fmla="*/ 0 w 940"/>
                    <a:gd name="T7" fmla="*/ 0 h 336"/>
                    <a:gd name="T8" fmla="*/ 0 w 940"/>
                    <a:gd name="T9" fmla="*/ 0 h 336"/>
                    <a:gd name="T10" fmla="*/ 0 w 940"/>
                    <a:gd name="T11" fmla="*/ 0 h 336"/>
                    <a:gd name="T12" fmla="*/ 0 w 940"/>
                    <a:gd name="T13" fmla="*/ 0 h 336"/>
                    <a:gd name="T14" fmla="*/ 0 w 940"/>
                    <a:gd name="T15" fmla="*/ 0 h 336"/>
                    <a:gd name="T16" fmla="*/ 0 w 940"/>
                    <a:gd name="T17" fmla="*/ 0 h 336"/>
                    <a:gd name="T18" fmla="*/ 0 w 940"/>
                    <a:gd name="T19" fmla="*/ 0 h 336"/>
                    <a:gd name="T20" fmla="*/ 0 w 940"/>
                    <a:gd name="T21" fmla="*/ 0 h 336"/>
                    <a:gd name="T22" fmla="*/ 0 w 940"/>
                    <a:gd name="T23" fmla="*/ 0 h 336"/>
                    <a:gd name="T24" fmla="*/ 0 w 940"/>
                    <a:gd name="T25" fmla="*/ 0 h 336"/>
                    <a:gd name="T26" fmla="*/ 0 w 940"/>
                    <a:gd name="T27" fmla="*/ 0 h 336"/>
                    <a:gd name="T28" fmla="*/ 0 w 940"/>
                    <a:gd name="T29" fmla="*/ 0 h 336"/>
                    <a:gd name="T30" fmla="*/ 0 w 940"/>
                    <a:gd name="T31" fmla="*/ 0 h 336"/>
                    <a:gd name="T32" fmla="*/ 0 w 940"/>
                    <a:gd name="T33" fmla="*/ 0 h 336"/>
                    <a:gd name="T34" fmla="*/ 0 w 940"/>
                    <a:gd name="T35" fmla="*/ 0 h 336"/>
                    <a:gd name="T36" fmla="*/ 0 w 940"/>
                    <a:gd name="T37" fmla="*/ 0 h 336"/>
                    <a:gd name="T38" fmla="*/ 0 w 940"/>
                    <a:gd name="T39" fmla="*/ 0 h 336"/>
                    <a:gd name="T40" fmla="*/ 0 w 940"/>
                    <a:gd name="T41" fmla="*/ 0 h 336"/>
                    <a:gd name="T42" fmla="*/ 0 w 940"/>
                    <a:gd name="T43" fmla="*/ 0 h 336"/>
                    <a:gd name="T44" fmla="*/ 0 w 940"/>
                    <a:gd name="T45" fmla="*/ 0 h 336"/>
                    <a:gd name="T46" fmla="*/ 0 w 940"/>
                    <a:gd name="T47" fmla="*/ 0 h 336"/>
                    <a:gd name="T48" fmla="*/ 0 w 940"/>
                    <a:gd name="T49" fmla="*/ 0 h 336"/>
                    <a:gd name="T50" fmla="*/ 0 w 940"/>
                    <a:gd name="T51" fmla="*/ 0 h 336"/>
                    <a:gd name="T52" fmla="*/ 0 w 940"/>
                    <a:gd name="T53" fmla="*/ 0 h 336"/>
                    <a:gd name="T54" fmla="*/ 0 w 940"/>
                    <a:gd name="T55" fmla="*/ 0 h 336"/>
                    <a:gd name="T56" fmla="*/ 0 w 940"/>
                    <a:gd name="T57" fmla="*/ 0 h 336"/>
                    <a:gd name="T58" fmla="*/ 0 w 940"/>
                    <a:gd name="T59" fmla="*/ 0 h 336"/>
                    <a:gd name="T60" fmla="*/ 0 w 940"/>
                    <a:gd name="T61" fmla="*/ 0 h 336"/>
                    <a:gd name="T62" fmla="*/ 0 w 940"/>
                    <a:gd name="T63" fmla="*/ 0 h 336"/>
                    <a:gd name="T64" fmla="*/ 0 w 940"/>
                    <a:gd name="T65" fmla="*/ 0 h 336"/>
                    <a:gd name="T66" fmla="*/ 0 w 940"/>
                    <a:gd name="T67" fmla="*/ 0 h 336"/>
                    <a:gd name="T68" fmla="*/ 0 w 940"/>
                    <a:gd name="T69" fmla="*/ 0 h 336"/>
                    <a:gd name="T70" fmla="*/ 0 w 940"/>
                    <a:gd name="T71" fmla="*/ 0 h 336"/>
                    <a:gd name="T72" fmla="*/ 0 w 940"/>
                    <a:gd name="T73" fmla="*/ 0 h 336"/>
                    <a:gd name="T74" fmla="*/ 0 w 940"/>
                    <a:gd name="T75" fmla="*/ 0 h 336"/>
                    <a:gd name="T76" fmla="*/ 0 w 940"/>
                    <a:gd name="T77" fmla="*/ 0 h 336"/>
                    <a:gd name="T78" fmla="*/ 0 w 940"/>
                    <a:gd name="T79" fmla="*/ 0 h 336"/>
                    <a:gd name="T80" fmla="*/ 0 w 940"/>
                    <a:gd name="T81" fmla="*/ 0 h 336"/>
                    <a:gd name="T82" fmla="*/ 0 w 940"/>
                    <a:gd name="T83" fmla="*/ 0 h 3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940"/>
                    <a:gd name="T127" fmla="*/ 0 h 336"/>
                    <a:gd name="T128" fmla="*/ 940 w 940"/>
                    <a:gd name="T129" fmla="*/ 336 h 3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940" h="336">
                      <a:moveTo>
                        <a:pt x="103" y="336"/>
                      </a:moveTo>
                      <a:lnTo>
                        <a:pt x="110" y="332"/>
                      </a:lnTo>
                      <a:lnTo>
                        <a:pt x="117" y="329"/>
                      </a:lnTo>
                      <a:lnTo>
                        <a:pt x="124" y="326"/>
                      </a:lnTo>
                      <a:lnTo>
                        <a:pt x="132" y="324"/>
                      </a:lnTo>
                      <a:lnTo>
                        <a:pt x="140" y="322"/>
                      </a:lnTo>
                      <a:lnTo>
                        <a:pt x="148" y="321"/>
                      </a:lnTo>
                      <a:lnTo>
                        <a:pt x="157" y="319"/>
                      </a:lnTo>
                      <a:lnTo>
                        <a:pt x="165" y="319"/>
                      </a:lnTo>
                      <a:lnTo>
                        <a:pt x="173" y="319"/>
                      </a:lnTo>
                      <a:lnTo>
                        <a:pt x="181" y="321"/>
                      </a:lnTo>
                      <a:lnTo>
                        <a:pt x="189" y="322"/>
                      </a:lnTo>
                      <a:lnTo>
                        <a:pt x="197" y="324"/>
                      </a:lnTo>
                      <a:lnTo>
                        <a:pt x="205" y="326"/>
                      </a:lnTo>
                      <a:lnTo>
                        <a:pt x="212" y="329"/>
                      </a:lnTo>
                      <a:lnTo>
                        <a:pt x="219" y="332"/>
                      </a:lnTo>
                      <a:lnTo>
                        <a:pt x="226" y="336"/>
                      </a:lnTo>
                      <a:lnTo>
                        <a:pt x="695" y="336"/>
                      </a:lnTo>
                      <a:lnTo>
                        <a:pt x="702" y="332"/>
                      </a:lnTo>
                      <a:lnTo>
                        <a:pt x="709" y="329"/>
                      </a:lnTo>
                      <a:lnTo>
                        <a:pt x="716" y="326"/>
                      </a:lnTo>
                      <a:lnTo>
                        <a:pt x="724" y="324"/>
                      </a:lnTo>
                      <a:lnTo>
                        <a:pt x="732" y="322"/>
                      </a:lnTo>
                      <a:lnTo>
                        <a:pt x="740" y="321"/>
                      </a:lnTo>
                      <a:lnTo>
                        <a:pt x="749" y="319"/>
                      </a:lnTo>
                      <a:lnTo>
                        <a:pt x="757" y="319"/>
                      </a:lnTo>
                      <a:lnTo>
                        <a:pt x="765" y="319"/>
                      </a:lnTo>
                      <a:lnTo>
                        <a:pt x="773" y="321"/>
                      </a:lnTo>
                      <a:lnTo>
                        <a:pt x="781" y="322"/>
                      </a:lnTo>
                      <a:lnTo>
                        <a:pt x="790" y="324"/>
                      </a:lnTo>
                      <a:lnTo>
                        <a:pt x="798" y="326"/>
                      </a:lnTo>
                      <a:lnTo>
                        <a:pt x="805" y="329"/>
                      </a:lnTo>
                      <a:lnTo>
                        <a:pt x="811" y="332"/>
                      </a:lnTo>
                      <a:lnTo>
                        <a:pt x="818" y="336"/>
                      </a:lnTo>
                      <a:lnTo>
                        <a:pt x="940" y="336"/>
                      </a:lnTo>
                      <a:lnTo>
                        <a:pt x="940" y="293"/>
                      </a:lnTo>
                      <a:lnTo>
                        <a:pt x="940" y="240"/>
                      </a:lnTo>
                      <a:lnTo>
                        <a:pt x="940" y="193"/>
                      </a:lnTo>
                      <a:lnTo>
                        <a:pt x="940" y="172"/>
                      </a:lnTo>
                      <a:lnTo>
                        <a:pt x="937" y="160"/>
                      </a:lnTo>
                      <a:lnTo>
                        <a:pt x="932" y="141"/>
                      </a:lnTo>
                      <a:lnTo>
                        <a:pt x="925" y="117"/>
                      </a:lnTo>
                      <a:lnTo>
                        <a:pt x="917" y="89"/>
                      </a:lnTo>
                      <a:lnTo>
                        <a:pt x="911" y="64"/>
                      </a:lnTo>
                      <a:lnTo>
                        <a:pt x="904" y="42"/>
                      </a:lnTo>
                      <a:lnTo>
                        <a:pt x="899" y="27"/>
                      </a:lnTo>
                      <a:lnTo>
                        <a:pt x="898" y="21"/>
                      </a:lnTo>
                      <a:lnTo>
                        <a:pt x="897" y="18"/>
                      </a:lnTo>
                      <a:lnTo>
                        <a:pt x="892" y="11"/>
                      </a:lnTo>
                      <a:lnTo>
                        <a:pt x="885" y="3"/>
                      </a:lnTo>
                      <a:lnTo>
                        <a:pt x="874" y="0"/>
                      </a:lnTo>
                      <a:lnTo>
                        <a:pt x="375" y="0"/>
                      </a:lnTo>
                      <a:lnTo>
                        <a:pt x="361" y="2"/>
                      </a:lnTo>
                      <a:lnTo>
                        <a:pt x="348" y="4"/>
                      </a:lnTo>
                      <a:lnTo>
                        <a:pt x="338" y="7"/>
                      </a:lnTo>
                      <a:lnTo>
                        <a:pt x="329" y="12"/>
                      </a:lnTo>
                      <a:lnTo>
                        <a:pt x="322" y="17"/>
                      </a:lnTo>
                      <a:lnTo>
                        <a:pt x="316" y="20"/>
                      </a:lnTo>
                      <a:lnTo>
                        <a:pt x="313" y="23"/>
                      </a:lnTo>
                      <a:lnTo>
                        <a:pt x="311" y="25"/>
                      </a:lnTo>
                      <a:lnTo>
                        <a:pt x="173" y="169"/>
                      </a:lnTo>
                      <a:lnTo>
                        <a:pt x="167" y="171"/>
                      </a:lnTo>
                      <a:lnTo>
                        <a:pt x="152" y="175"/>
                      </a:lnTo>
                      <a:lnTo>
                        <a:pt x="132" y="182"/>
                      </a:lnTo>
                      <a:lnTo>
                        <a:pt x="106" y="190"/>
                      </a:lnTo>
                      <a:lnTo>
                        <a:pt x="82" y="198"/>
                      </a:lnTo>
                      <a:lnTo>
                        <a:pt x="60" y="205"/>
                      </a:lnTo>
                      <a:lnTo>
                        <a:pt x="45" y="210"/>
                      </a:lnTo>
                      <a:lnTo>
                        <a:pt x="38" y="212"/>
                      </a:lnTo>
                      <a:lnTo>
                        <a:pt x="27" y="219"/>
                      </a:lnTo>
                      <a:lnTo>
                        <a:pt x="18" y="227"/>
                      </a:lnTo>
                      <a:lnTo>
                        <a:pt x="11" y="236"/>
                      </a:lnTo>
                      <a:lnTo>
                        <a:pt x="6" y="246"/>
                      </a:lnTo>
                      <a:lnTo>
                        <a:pt x="3" y="254"/>
                      </a:lnTo>
                      <a:lnTo>
                        <a:pt x="1" y="262"/>
                      </a:lnTo>
                      <a:lnTo>
                        <a:pt x="0" y="268"/>
                      </a:lnTo>
                      <a:lnTo>
                        <a:pt x="0" y="272"/>
                      </a:lnTo>
                      <a:lnTo>
                        <a:pt x="0" y="273"/>
                      </a:lnTo>
                      <a:lnTo>
                        <a:pt x="0" y="274"/>
                      </a:lnTo>
                      <a:lnTo>
                        <a:pt x="0" y="336"/>
                      </a:lnTo>
                      <a:lnTo>
                        <a:pt x="103" y="336"/>
                      </a:lnTo>
                      <a:close/>
                    </a:path>
                  </a:pathLst>
                </a:custGeom>
                <a:solidFill>
                  <a:srgbClr val="3F9E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07" name="Freeform 194"/>
                <p:cNvSpPr>
                  <a:spLocks/>
                </p:cNvSpPr>
                <p:nvPr/>
              </p:nvSpPr>
              <p:spPr bwMode="auto">
                <a:xfrm>
                  <a:off x="4623" y="2014"/>
                  <a:ext cx="194" cy="52"/>
                </a:xfrm>
                <a:custGeom>
                  <a:avLst/>
                  <a:gdLst>
                    <a:gd name="T0" fmla="*/ 0 w 425"/>
                    <a:gd name="T1" fmla="*/ 0 h 111"/>
                    <a:gd name="T2" fmla="*/ 0 w 425"/>
                    <a:gd name="T3" fmla="*/ 0 h 111"/>
                    <a:gd name="T4" fmla="*/ 0 w 425"/>
                    <a:gd name="T5" fmla="*/ 0 h 111"/>
                    <a:gd name="T6" fmla="*/ 0 w 425"/>
                    <a:gd name="T7" fmla="*/ 0 h 111"/>
                    <a:gd name="T8" fmla="*/ 0 w 425"/>
                    <a:gd name="T9" fmla="*/ 0 h 111"/>
                    <a:gd name="T10" fmla="*/ 0 w 425"/>
                    <a:gd name="T11" fmla="*/ 0 h 111"/>
                    <a:gd name="T12" fmla="*/ 0 w 425"/>
                    <a:gd name="T13" fmla="*/ 0 h 111"/>
                    <a:gd name="T14" fmla="*/ 0 w 425"/>
                    <a:gd name="T15" fmla="*/ 0 h 111"/>
                    <a:gd name="T16" fmla="*/ 0 w 425"/>
                    <a:gd name="T17" fmla="*/ 0 h 111"/>
                    <a:gd name="T18" fmla="*/ 0 w 425"/>
                    <a:gd name="T19" fmla="*/ 0 h 111"/>
                    <a:gd name="T20" fmla="*/ 0 w 425"/>
                    <a:gd name="T21" fmla="*/ 0 h 111"/>
                    <a:gd name="T22" fmla="*/ 0 w 425"/>
                    <a:gd name="T23" fmla="*/ 0 h 111"/>
                    <a:gd name="T24" fmla="*/ 0 w 425"/>
                    <a:gd name="T25" fmla="*/ 0 h 111"/>
                    <a:gd name="T26" fmla="*/ 0 w 425"/>
                    <a:gd name="T27" fmla="*/ 0 h 111"/>
                    <a:gd name="T28" fmla="*/ 0 w 425"/>
                    <a:gd name="T29" fmla="*/ 0 h 111"/>
                    <a:gd name="T30" fmla="*/ 0 w 425"/>
                    <a:gd name="T31" fmla="*/ 0 h 111"/>
                    <a:gd name="T32" fmla="*/ 0 w 425"/>
                    <a:gd name="T33" fmla="*/ 0 h 111"/>
                    <a:gd name="T34" fmla="*/ 0 w 425"/>
                    <a:gd name="T35" fmla="*/ 0 h 111"/>
                    <a:gd name="T36" fmla="*/ 0 w 425"/>
                    <a:gd name="T37" fmla="*/ 0 h 111"/>
                    <a:gd name="T38" fmla="*/ 0 w 425"/>
                    <a:gd name="T39" fmla="*/ 0 h 111"/>
                    <a:gd name="T40" fmla="*/ 0 w 425"/>
                    <a:gd name="T41" fmla="*/ 0 h 111"/>
                    <a:gd name="T42" fmla="*/ 0 w 425"/>
                    <a:gd name="T43" fmla="*/ 0 h 111"/>
                    <a:gd name="T44" fmla="*/ 0 w 425"/>
                    <a:gd name="T45" fmla="*/ 0 h 111"/>
                    <a:gd name="T46" fmla="*/ 0 w 425"/>
                    <a:gd name="T47" fmla="*/ 0 h 111"/>
                    <a:gd name="T48" fmla="*/ 0 w 425"/>
                    <a:gd name="T49" fmla="*/ 0 h 111"/>
                    <a:gd name="T50" fmla="*/ 0 w 425"/>
                    <a:gd name="T51" fmla="*/ 0 h 111"/>
                    <a:gd name="T52" fmla="*/ 0 w 425"/>
                    <a:gd name="T53" fmla="*/ 0 h 11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425"/>
                    <a:gd name="T82" fmla="*/ 0 h 111"/>
                    <a:gd name="T83" fmla="*/ 425 w 425"/>
                    <a:gd name="T84" fmla="*/ 111 h 111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T81" t="T82" r="T83" b="T84"/>
                  <a:pathLst>
                    <a:path w="425" h="111">
                      <a:moveTo>
                        <a:pt x="0" y="0"/>
                      </a:moveTo>
                      <a:lnTo>
                        <a:pt x="9" y="9"/>
                      </a:lnTo>
                      <a:lnTo>
                        <a:pt x="17" y="18"/>
                      </a:lnTo>
                      <a:lnTo>
                        <a:pt x="24" y="30"/>
                      </a:lnTo>
                      <a:lnTo>
                        <a:pt x="30" y="40"/>
                      </a:lnTo>
                      <a:lnTo>
                        <a:pt x="35" y="53"/>
                      </a:lnTo>
                      <a:lnTo>
                        <a:pt x="38" y="64"/>
                      </a:lnTo>
                      <a:lnTo>
                        <a:pt x="39" y="78"/>
                      </a:lnTo>
                      <a:lnTo>
                        <a:pt x="40" y="91"/>
                      </a:lnTo>
                      <a:lnTo>
                        <a:pt x="40" y="95"/>
                      </a:lnTo>
                      <a:lnTo>
                        <a:pt x="40" y="101"/>
                      </a:lnTo>
                      <a:lnTo>
                        <a:pt x="40" y="106"/>
                      </a:lnTo>
                      <a:lnTo>
                        <a:pt x="39" y="111"/>
                      </a:lnTo>
                      <a:lnTo>
                        <a:pt x="386" y="111"/>
                      </a:lnTo>
                      <a:lnTo>
                        <a:pt x="385" y="106"/>
                      </a:lnTo>
                      <a:lnTo>
                        <a:pt x="385" y="101"/>
                      </a:lnTo>
                      <a:lnTo>
                        <a:pt x="385" y="95"/>
                      </a:lnTo>
                      <a:lnTo>
                        <a:pt x="385" y="91"/>
                      </a:lnTo>
                      <a:lnTo>
                        <a:pt x="386" y="78"/>
                      </a:lnTo>
                      <a:lnTo>
                        <a:pt x="387" y="64"/>
                      </a:lnTo>
                      <a:lnTo>
                        <a:pt x="391" y="53"/>
                      </a:lnTo>
                      <a:lnTo>
                        <a:pt x="395" y="40"/>
                      </a:lnTo>
                      <a:lnTo>
                        <a:pt x="401" y="30"/>
                      </a:lnTo>
                      <a:lnTo>
                        <a:pt x="408" y="18"/>
                      </a:lnTo>
                      <a:lnTo>
                        <a:pt x="416" y="9"/>
                      </a:lnTo>
                      <a:lnTo>
                        <a:pt x="4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DD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08" name="Freeform 195"/>
                <p:cNvSpPr>
                  <a:spLocks/>
                </p:cNvSpPr>
                <p:nvPr/>
              </p:nvSpPr>
              <p:spPr bwMode="auto">
                <a:xfrm>
                  <a:off x="4893" y="2014"/>
                  <a:ext cx="62" cy="46"/>
                </a:xfrm>
                <a:custGeom>
                  <a:avLst/>
                  <a:gdLst>
                    <a:gd name="T0" fmla="*/ 0 w 136"/>
                    <a:gd name="T1" fmla="*/ 0 h 101"/>
                    <a:gd name="T2" fmla="*/ 0 w 136"/>
                    <a:gd name="T3" fmla="*/ 0 h 101"/>
                    <a:gd name="T4" fmla="*/ 0 w 136"/>
                    <a:gd name="T5" fmla="*/ 0 h 101"/>
                    <a:gd name="T6" fmla="*/ 0 w 136"/>
                    <a:gd name="T7" fmla="*/ 0 h 101"/>
                    <a:gd name="T8" fmla="*/ 0 w 136"/>
                    <a:gd name="T9" fmla="*/ 0 h 101"/>
                    <a:gd name="T10" fmla="*/ 0 w 136"/>
                    <a:gd name="T11" fmla="*/ 0 h 101"/>
                    <a:gd name="T12" fmla="*/ 0 w 136"/>
                    <a:gd name="T13" fmla="*/ 0 h 101"/>
                    <a:gd name="T14" fmla="*/ 0 w 136"/>
                    <a:gd name="T15" fmla="*/ 0 h 101"/>
                    <a:gd name="T16" fmla="*/ 0 w 136"/>
                    <a:gd name="T17" fmla="*/ 0 h 101"/>
                    <a:gd name="T18" fmla="*/ 0 w 136"/>
                    <a:gd name="T19" fmla="*/ 0 h 101"/>
                    <a:gd name="T20" fmla="*/ 0 w 136"/>
                    <a:gd name="T21" fmla="*/ 0 h 101"/>
                    <a:gd name="T22" fmla="*/ 0 w 136"/>
                    <a:gd name="T23" fmla="*/ 0 h 101"/>
                    <a:gd name="T24" fmla="*/ 0 w 136"/>
                    <a:gd name="T25" fmla="*/ 0 h 101"/>
                    <a:gd name="T26" fmla="*/ 0 w 136"/>
                    <a:gd name="T27" fmla="*/ 0 h 101"/>
                    <a:gd name="T28" fmla="*/ 0 w 136"/>
                    <a:gd name="T29" fmla="*/ 0 h 101"/>
                    <a:gd name="T30" fmla="*/ 0 w 136"/>
                    <a:gd name="T31" fmla="*/ 0 h 101"/>
                    <a:gd name="T32" fmla="*/ 0 w 136"/>
                    <a:gd name="T33" fmla="*/ 0 h 101"/>
                    <a:gd name="T34" fmla="*/ 0 w 136"/>
                    <a:gd name="T35" fmla="*/ 0 h 101"/>
                    <a:gd name="T36" fmla="*/ 0 w 136"/>
                    <a:gd name="T37" fmla="*/ 0 h 101"/>
                    <a:gd name="T38" fmla="*/ 0 w 136"/>
                    <a:gd name="T39" fmla="*/ 0 h 101"/>
                    <a:gd name="T40" fmla="*/ 0 w 136"/>
                    <a:gd name="T41" fmla="*/ 0 h 101"/>
                    <a:gd name="T42" fmla="*/ 0 w 136"/>
                    <a:gd name="T43" fmla="*/ 0 h 101"/>
                    <a:gd name="T44" fmla="*/ 0 w 136"/>
                    <a:gd name="T45" fmla="*/ 0 h 101"/>
                    <a:gd name="T46" fmla="*/ 0 w 136"/>
                    <a:gd name="T47" fmla="*/ 0 h 101"/>
                    <a:gd name="T48" fmla="*/ 0 w 136"/>
                    <a:gd name="T49" fmla="*/ 0 h 101"/>
                    <a:gd name="T50" fmla="*/ 0 w 136"/>
                    <a:gd name="T51" fmla="*/ 0 h 101"/>
                    <a:gd name="T52" fmla="*/ 0 w 136"/>
                    <a:gd name="T53" fmla="*/ 0 h 101"/>
                    <a:gd name="T54" fmla="*/ 0 w 136"/>
                    <a:gd name="T55" fmla="*/ 0 h 101"/>
                    <a:gd name="T56" fmla="*/ 0 w 136"/>
                    <a:gd name="T57" fmla="*/ 0 h 101"/>
                    <a:gd name="T58" fmla="*/ 0 w 136"/>
                    <a:gd name="T59" fmla="*/ 0 h 101"/>
                    <a:gd name="T60" fmla="*/ 0 w 136"/>
                    <a:gd name="T61" fmla="*/ 0 h 101"/>
                    <a:gd name="T62" fmla="*/ 0 w 136"/>
                    <a:gd name="T63" fmla="*/ 0 h 101"/>
                    <a:gd name="T64" fmla="*/ 0 w 136"/>
                    <a:gd name="T65" fmla="*/ 0 h 101"/>
                    <a:gd name="T66" fmla="*/ 0 w 136"/>
                    <a:gd name="T67" fmla="*/ 0 h 101"/>
                    <a:gd name="T68" fmla="*/ 0 w 136"/>
                    <a:gd name="T69" fmla="*/ 0 h 101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w 136"/>
                    <a:gd name="T106" fmla="*/ 0 h 101"/>
                    <a:gd name="T107" fmla="*/ 136 w 136"/>
                    <a:gd name="T108" fmla="*/ 101 h 101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T105" t="T106" r="T107" b="T108"/>
                  <a:pathLst>
                    <a:path w="136" h="101">
                      <a:moveTo>
                        <a:pt x="113" y="2"/>
                      </a:moveTo>
                      <a:lnTo>
                        <a:pt x="105" y="0"/>
                      </a:lnTo>
                      <a:lnTo>
                        <a:pt x="0" y="0"/>
                      </a:lnTo>
                      <a:lnTo>
                        <a:pt x="9" y="9"/>
                      </a:lnTo>
                      <a:lnTo>
                        <a:pt x="18" y="18"/>
                      </a:lnTo>
                      <a:lnTo>
                        <a:pt x="24" y="30"/>
                      </a:lnTo>
                      <a:lnTo>
                        <a:pt x="30" y="40"/>
                      </a:lnTo>
                      <a:lnTo>
                        <a:pt x="35" y="53"/>
                      </a:lnTo>
                      <a:lnTo>
                        <a:pt x="38" y="64"/>
                      </a:lnTo>
                      <a:lnTo>
                        <a:pt x="39" y="78"/>
                      </a:lnTo>
                      <a:lnTo>
                        <a:pt x="41" y="91"/>
                      </a:lnTo>
                      <a:lnTo>
                        <a:pt x="41" y="93"/>
                      </a:lnTo>
                      <a:lnTo>
                        <a:pt x="41" y="95"/>
                      </a:lnTo>
                      <a:lnTo>
                        <a:pt x="41" y="99"/>
                      </a:lnTo>
                      <a:lnTo>
                        <a:pt x="41" y="101"/>
                      </a:lnTo>
                      <a:lnTo>
                        <a:pt x="53" y="99"/>
                      </a:lnTo>
                      <a:lnTo>
                        <a:pt x="67" y="98"/>
                      </a:lnTo>
                      <a:lnTo>
                        <a:pt x="82" y="95"/>
                      </a:lnTo>
                      <a:lnTo>
                        <a:pt x="96" y="93"/>
                      </a:lnTo>
                      <a:lnTo>
                        <a:pt x="109" y="91"/>
                      </a:lnTo>
                      <a:lnTo>
                        <a:pt x="119" y="89"/>
                      </a:lnTo>
                      <a:lnTo>
                        <a:pt x="126" y="88"/>
                      </a:lnTo>
                      <a:lnTo>
                        <a:pt x="128" y="88"/>
                      </a:lnTo>
                      <a:lnTo>
                        <a:pt x="130" y="87"/>
                      </a:lnTo>
                      <a:lnTo>
                        <a:pt x="134" y="85"/>
                      </a:lnTo>
                      <a:lnTo>
                        <a:pt x="135" y="81"/>
                      </a:lnTo>
                      <a:lnTo>
                        <a:pt x="136" y="76"/>
                      </a:lnTo>
                      <a:lnTo>
                        <a:pt x="136" y="68"/>
                      </a:lnTo>
                      <a:lnTo>
                        <a:pt x="136" y="50"/>
                      </a:lnTo>
                      <a:lnTo>
                        <a:pt x="136" y="32"/>
                      </a:lnTo>
                      <a:lnTo>
                        <a:pt x="136" y="23"/>
                      </a:lnTo>
                      <a:lnTo>
                        <a:pt x="135" y="18"/>
                      </a:lnTo>
                      <a:lnTo>
                        <a:pt x="132" y="12"/>
                      </a:lnTo>
                      <a:lnTo>
                        <a:pt x="125" y="7"/>
                      </a:lnTo>
                      <a:lnTo>
                        <a:pt x="113" y="2"/>
                      </a:lnTo>
                      <a:close/>
                    </a:path>
                  </a:pathLst>
                </a:custGeom>
                <a:solidFill>
                  <a:srgbClr val="BFDD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09" name="Freeform 196"/>
                <p:cNvSpPr>
                  <a:spLocks/>
                </p:cNvSpPr>
                <p:nvPr/>
              </p:nvSpPr>
              <p:spPr bwMode="auto">
                <a:xfrm>
                  <a:off x="4813" y="2014"/>
                  <a:ext cx="83" cy="83"/>
                </a:xfrm>
                <a:custGeom>
                  <a:avLst/>
                  <a:gdLst>
                    <a:gd name="T0" fmla="*/ 0 w 183"/>
                    <a:gd name="T1" fmla="*/ 0 h 183"/>
                    <a:gd name="T2" fmla="*/ 0 w 183"/>
                    <a:gd name="T3" fmla="*/ 0 h 183"/>
                    <a:gd name="T4" fmla="*/ 0 w 183"/>
                    <a:gd name="T5" fmla="*/ 0 h 183"/>
                    <a:gd name="T6" fmla="*/ 0 w 183"/>
                    <a:gd name="T7" fmla="*/ 0 h 183"/>
                    <a:gd name="T8" fmla="*/ 0 w 183"/>
                    <a:gd name="T9" fmla="*/ 0 h 183"/>
                    <a:gd name="T10" fmla="*/ 0 w 183"/>
                    <a:gd name="T11" fmla="*/ 0 h 183"/>
                    <a:gd name="T12" fmla="*/ 0 w 183"/>
                    <a:gd name="T13" fmla="*/ 0 h 183"/>
                    <a:gd name="T14" fmla="*/ 0 w 183"/>
                    <a:gd name="T15" fmla="*/ 0 h 183"/>
                    <a:gd name="T16" fmla="*/ 0 w 183"/>
                    <a:gd name="T17" fmla="*/ 0 h 183"/>
                    <a:gd name="T18" fmla="*/ 0 w 183"/>
                    <a:gd name="T19" fmla="*/ 0 h 183"/>
                    <a:gd name="T20" fmla="*/ 0 w 183"/>
                    <a:gd name="T21" fmla="*/ 0 h 183"/>
                    <a:gd name="T22" fmla="*/ 0 w 183"/>
                    <a:gd name="T23" fmla="*/ 0 h 183"/>
                    <a:gd name="T24" fmla="*/ 0 w 183"/>
                    <a:gd name="T25" fmla="*/ 0 h 183"/>
                    <a:gd name="T26" fmla="*/ 0 w 183"/>
                    <a:gd name="T27" fmla="*/ 0 h 183"/>
                    <a:gd name="T28" fmla="*/ 0 w 183"/>
                    <a:gd name="T29" fmla="*/ 0 h 183"/>
                    <a:gd name="T30" fmla="*/ 0 w 183"/>
                    <a:gd name="T31" fmla="*/ 0 h 183"/>
                    <a:gd name="T32" fmla="*/ 0 w 183"/>
                    <a:gd name="T33" fmla="*/ 0 h 183"/>
                    <a:gd name="T34" fmla="*/ 0 w 183"/>
                    <a:gd name="T35" fmla="*/ 0 h 183"/>
                    <a:gd name="T36" fmla="*/ 0 w 183"/>
                    <a:gd name="T37" fmla="*/ 0 h 183"/>
                    <a:gd name="T38" fmla="*/ 0 w 183"/>
                    <a:gd name="T39" fmla="*/ 0 h 183"/>
                    <a:gd name="T40" fmla="*/ 0 w 183"/>
                    <a:gd name="T41" fmla="*/ 0 h 183"/>
                    <a:gd name="T42" fmla="*/ 0 w 183"/>
                    <a:gd name="T43" fmla="*/ 0 h 183"/>
                    <a:gd name="T44" fmla="*/ 0 w 183"/>
                    <a:gd name="T45" fmla="*/ 0 h 183"/>
                    <a:gd name="T46" fmla="*/ 0 w 183"/>
                    <a:gd name="T47" fmla="*/ 0 h 183"/>
                    <a:gd name="T48" fmla="*/ 0 w 183"/>
                    <a:gd name="T49" fmla="*/ 0 h 183"/>
                    <a:gd name="T50" fmla="*/ 0 w 183"/>
                    <a:gd name="T51" fmla="*/ 0 h 183"/>
                    <a:gd name="T52" fmla="*/ 0 w 183"/>
                    <a:gd name="T53" fmla="*/ 0 h 183"/>
                    <a:gd name="T54" fmla="*/ 0 w 183"/>
                    <a:gd name="T55" fmla="*/ 0 h 183"/>
                    <a:gd name="T56" fmla="*/ 0 w 183"/>
                    <a:gd name="T57" fmla="*/ 0 h 183"/>
                    <a:gd name="T58" fmla="*/ 0 w 183"/>
                    <a:gd name="T59" fmla="*/ 0 h 183"/>
                    <a:gd name="T60" fmla="*/ 0 w 183"/>
                    <a:gd name="T61" fmla="*/ 0 h 183"/>
                    <a:gd name="T62" fmla="*/ 0 w 183"/>
                    <a:gd name="T63" fmla="*/ 0 h 183"/>
                    <a:gd name="T64" fmla="*/ 0 w 183"/>
                    <a:gd name="T65" fmla="*/ 0 h 183"/>
                    <a:gd name="T66" fmla="*/ 0 w 183"/>
                    <a:gd name="T67" fmla="*/ 0 h 183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183"/>
                    <a:gd name="T103" fmla="*/ 0 h 183"/>
                    <a:gd name="T104" fmla="*/ 183 w 183"/>
                    <a:gd name="T105" fmla="*/ 183 h 183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183" h="183">
                      <a:moveTo>
                        <a:pt x="104" y="0"/>
                      </a:moveTo>
                      <a:lnTo>
                        <a:pt x="80" y="0"/>
                      </a:lnTo>
                      <a:lnTo>
                        <a:pt x="63" y="3"/>
                      </a:lnTo>
                      <a:lnTo>
                        <a:pt x="48" y="10"/>
                      </a:lnTo>
                      <a:lnTo>
                        <a:pt x="35" y="19"/>
                      </a:lnTo>
                      <a:lnTo>
                        <a:pt x="23" y="30"/>
                      </a:lnTo>
                      <a:lnTo>
                        <a:pt x="14" y="43"/>
                      </a:lnTo>
                      <a:lnTo>
                        <a:pt x="6" y="57"/>
                      </a:lnTo>
                      <a:lnTo>
                        <a:pt x="1" y="73"/>
                      </a:lnTo>
                      <a:lnTo>
                        <a:pt x="0" y="91"/>
                      </a:lnTo>
                      <a:lnTo>
                        <a:pt x="2" y="109"/>
                      </a:lnTo>
                      <a:lnTo>
                        <a:pt x="7" y="126"/>
                      </a:lnTo>
                      <a:lnTo>
                        <a:pt x="15" y="142"/>
                      </a:lnTo>
                      <a:lnTo>
                        <a:pt x="27" y="155"/>
                      </a:lnTo>
                      <a:lnTo>
                        <a:pt x="40" y="167"/>
                      </a:lnTo>
                      <a:lnTo>
                        <a:pt x="57" y="176"/>
                      </a:lnTo>
                      <a:lnTo>
                        <a:pt x="74" y="180"/>
                      </a:lnTo>
                      <a:lnTo>
                        <a:pt x="92" y="183"/>
                      </a:lnTo>
                      <a:lnTo>
                        <a:pt x="111" y="180"/>
                      </a:lnTo>
                      <a:lnTo>
                        <a:pt x="128" y="176"/>
                      </a:lnTo>
                      <a:lnTo>
                        <a:pt x="143" y="167"/>
                      </a:lnTo>
                      <a:lnTo>
                        <a:pt x="157" y="155"/>
                      </a:lnTo>
                      <a:lnTo>
                        <a:pt x="168" y="142"/>
                      </a:lnTo>
                      <a:lnTo>
                        <a:pt x="176" y="126"/>
                      </a:lnTo>
                      <a:lnTo>
                        <a:pt x="181" y="109"/>
                      </a:lnTo>
                      <a:lnTo>
                        <a:pt x="183" y="91"/>
                      </a:lnTo>
                      <a:lnTo>
                        <a:pt x="182" y="73"/>
                      </a:lnTo>
                      <a:lnTo>
                        <a:pt x="178" y="57"/>
                      </a:lnTo>
                      <a:lnTo>
                        <a:pt x="169" y="43"/>
                      </a:lnTo>
                      <a:lnTo>
                        <a:pt x="160" y="30"/>
                      </a:lnTo>
                      <a:lnTo>
                        <a:pt x="149" y="19"/>
                      </a:lnTo>
                      <a:lnTo>
                        <a:pt x="135" y="10"/>
                      </a:lnTo>
                      <a:lnTo>
                        <a:pt x="120" y="3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rgbClr val="3F9E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10" name="Freeform 197"/>
                <p:cNvSpPr>
                  <a:spLocks noEditPoints="1"/>
                </p:cNvSpPr>
                <p:nvPr/>
              </p:nvSpPr>
              <p:spPr bwMode="auto">
                <a:xfrm>
                  <a:off x="4548" y="2020"/>
                  <a:ext cx="73" cy="73"/>
                </a:xfrm>
                <a:custGeom>
                  <a:avLst/>
                  <a:gdLst>
                    <a:gd name="T0" fmla="*/ 0 w 161"/>
                    <a:gd name="T1" fmla="*/ 0 h 160"/>
                    <a:gd name="T2" fmla="*/ 0 w 161"/>
                    <a:gd name="T3" fmla="*/ 0 h 160"/>
                    <a:gd name="T4" fmla="*/ 0 w 161"/>
                    <a:gd name="T5" fmla="*/ 0 h 160"/>
                    <a:gd name="T6" fmla="*/ 0 w 161"/>
                    <a:gd name="T7" fmla="*/ 0 h 160"/>
                    <a:gd name="T8" fmla="*/ 0 w 161"/>
                    <a:gd name="T9" fmla="*/ 0 h 160"/>
                    <a:gd name="T10" fmla="*/ 0 w 161"/>
                    <a:gd name="T11" fmla="*/ 0 h 160"/>
                    <a:gd name="T12" fmla="*/ 0 w 161"/>
                    <a:gd name="T13" fmla="*/ 0 h 160"/>
                    <a:gd name="T14" fmla="*/ 0 w 161"/>
                    <a:gd name="T15" fmla="*/ 0 h 160"/>
                    <a:gd name="T16" fmla="*/ 0 w 161"/>
                    <a:gd name="T17" fmla="*/ 0 h 160"/>
                    <a:gd name="T18" fmla="*/ 0 w 161"/>
                    <a:gd name="T19" fmla="*/ 0 h 160"/>
                    <a:gd name="T20" fmla="*/ 0 w 161"/>
                    <a:gd name="T21" fmla="*/ 0 h 160"/>
                    <a:gd name="T22" fmla="*/ 0 w 161"/>
                    <a:gd name="T23" fmla="*/ 0 h 160"/>
                    <a:gd name="T24" fmla="*/ 0 w 161"/>
                    <a:gd name="T25" fmla="*/ 0 h 160"/>
                    <a:gd name="T26" fmla="*/ 0 w 161"/>
                    <a:gd name="T27" fmla="*/ 0 h 160"/>
                    <a:gd name="T28" fmla="*/ 0 w 161"/>
                    <a:gd name="T29" fmla="*/ 0 h 160"/>
                    <a:gd name="T30" fmla="*/ 0 w 161"/>
                    <a:gd name="T31" fmla="*/ 0 h 160"/>
                    <a:gd name="T32" fmla="*/ 0 w 161"/>
                    <a:gd name="T33" fmla="*/ 0 h 160"/>
                    <a:gd name="T34" fmla="*/ 0 w 161"/>
                    <a:gd name="T35" fmla="*/ 0 h 160"/>
                    <a:gd name="T36" fmla="*/ 0 w 161"/>
                    <a:gd name="T37" fmla="*/ 0 h 160"/>
                    <a:gd name="T38" fmla="*/ 0 w 161"/>
                    <a:gd name="T39" fmla="*/ 0 h 160"/>
                    <a:gd name="T40" fmla="*/ 0 w 161"/>
                    <a:gd name="T41" fmla="*/ 0 h 160"/>
                    <a:gd name="T42" fmla="*/ 0 w 161"/>
                    <a:gd name="T43" fmla="*/ 0 h 160"/>
                    <a:gd name="T44" fmla="*/ 0 w 161"/>
                    <a:gd name="T45" fmla="*/ 0 h 160"/>
                    <a:gd name="T46" fmla="*/ 0 w 161"/>
                    <a:gd name="T47" fmla="*/ 0 h 160"/>
                    <a:gd name="T48" fmla="*/ 0 w 161"/>
                    <a:gd name="T49" fmla="*/ 0 h 160"/>
                    <a:gd name="T50" fmla="*/ 0 w 161"/>
                    <a:gd name="T51" fmla="*/ 0 h 160"/>
                    <a:gd name="T52" fmla="*/ 0 w 161"/>
                    <a:gd name="T53" fmla="*/ 0 h 160"/>
                    <a:gd name="T54" fmla="*/ 0 w 161"/>
                    <a:gd name="T55" fmla="*/ 0 h 160"/>
                    <a:gd name="T56" fmla="*/ 0 w 161"/>
                    <a:gd name="T57" fmla="*/ 0 h 160"/>
                    <a:gd name="T58" fmla="*/ 0 w 161"/>
                    <a:gd name="T59" fmla="*/ 0 h 160"/>
                    <a:gd name="T60" fmla="*/ 0 w 161"/>
                    <a:gd name="T61" fmla="*/ 0 h 160"/>
                    <a:gd name="T62" fmla="*/ 0 w 161"/>
                    <a:gd name="T63" fmla="*/ 0 h 160"/>
                    <a:gd name="T64" fmla="*/ 0 w 161"/>
                    <a:gd name="T65" fmla="*/ 0 h 160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161"/>
                    <a:gd name="T100" fmla="*/ 0 h 160"/>
                    <a:gd name="T101" fmla="*/ 161 w 161"/>
                    <a:gd name="T102" fmla="*/ 160 h 160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161" h="160">
                      <a:moveTo>
                        <a:pt x="0" y="80"/>
                      </a:moveTo>
                      <a:lnTo>
                        <a:pt x="2" y="96"/>
                      </a:lnTo>
                      <a:lnTo>
                        <a:pt x="6" y="111"/>
                      </a:lnTo>
                      <a:lnTo>
                        <a:pt x="14" y="125"/>
                      </a:lnTo>
                      <a:lnTo>
                        <a:pt x="23" y="137"/>
                      </a:lnTo>
                      <a:lnTo>
                        <a:pt x="36" y="146"/>
                      </a:lnTo>
                      <a:lnTo>
                        <a:pt x="50" y="154"/>
                      </a:lnTo>
                      <a:lnTo>
                        <a:pt x="65" y="159"/>
                      </a:lnTo>
                      <a:lnTo>
                        <a:pt x="81" y="160"/>
                      </a:lnTo>
                      <a:lnTo>
                        <a:pt x="97" y="159"/>
                      </a:lnTo>
                      <a:lnTo>
                        <a:pt x="112" y="154"/>
                      </a:lnTo>
                      <a:lnTo>
                        <a:pt x="126" y="146"/>
                      </a:lnTo>
                      <a:lnTo>
                        <a:pt x="137" y="137"/>
                      </a:lnTo>
                      <a:lnTo>
                        <a:pt x="147" y="125"/>
                      </a:lnTo>
                      <a:lnTo>
                        <a:pt x="155" y="111"/>
                      </a:lnTo>
                      <a:lnTo>
                        <a:pt x="159" y="96"/>
                      </a:lnTo>
                      <a:lnTo>
                        <a:pt x="161" y="80"/>
                      </a:lnTo>
                      <a:lnTo>
                        <a:pt x="159" y="64"/>
                      </a:lnTo>
                      <a:lnTo>
                        <a:pt x="155" y="49"/>
                      </a:lnTo>
                      <a:lnTo>
                        <a:pt x="147" y="35"/>
                      </a:lnTo>
                      <a:lnTo>
                        <a:pt x="137" y="23"/>
                      </a:lnTo>
                      <a:lnTo>
                        <a:pt x="126" y="14"/>
                      </a:lnTo>
                      <a:lnTo>
                        <a:pt x="112" y="6"/>
                      </a:lnTo>
                      <a:lnTo>
                        <a:pt x="97" y="1"/>
                      </a:lnTo>
                      <a:lnTo>
                        <a:pt x="81" y="0"/>
                      </a:lnTo>
                      <a:lnTo>
                        <a:pt x="65" y="1"/>
                      </a:lnTo>
                      <a:lnTo>
                        <a:pt x="50" y="6"/>
                      </a:lnTo>
                      <a:lnTo>
                        <a:pt x="36" y="14"/>
                      </a:lnTo>
                      <a:lnTo>
                        <a:pt x="23" y="23"/>
                      </a:lnTo>
                      <a:lnTo>
                        <a:pt x="14" y="35"/>
                      </a:lnTo>
                      <a:lnTo>
                        <a:pt x="6" y="49"/>
                      </a:lnTo>
                      <a:lnTo>
                        <a:pt x="2" y="64"/>
                      </a:lnTo>
                      <a:lnTo>
                        <a:pt x="0" y="80"/>
                      </a:lnTo>
                      <a:close/>
                      <a:moveTo>
                        <a:pt x="16" y="80"/>
                      </a:moveTo>
                      <a:lnTo>
                        <a:pt x="18" y="67"/>
                      </a:lnTo>
                      <a:lnTo>
                        <a:pt x="21" y="55"/>
                      </a:lnTo>
                      <a:lnTo>
                        <a:pt x="28" y="44"/>
                      </a:lnTo>
                      <a:lnTo>
                        <a:pt x="35" y="35"/>
                      </a:lnTo>
                      <a:lnTo>
                        <a:pt x="45" y="27"/>
                      </a:lnTo>
                      <a:lnTo>
                        <a:pt x="56" y="21"/>
                      </a:lnTo>
                      <a:lnTo>
                        <a:pt x="68" y="17"/>
                      </a:lnTo>
                      <a:lnTo>
                        <a:pt x="81" y="16"/>
                      </a:lnTo>
                      <a:lnTo>
                        <a:pt x="94" y="17"/>
                      </a:lnTo>
                      <a:lnTo>
                        <a:pt x="105" y="21"/>
                      </a:lnTo>
                      <a:lnTo>
                        <a:pt x="117" y="27"/>
                      </a:lnTo>
                      <a:lnTo>
                        <a:pt x="126" y="35"/>
                      </a:lnTo>
                      <a:lnTo>
                        <a:pt x="134" y="44"/>
                      </a:lnTo>
                      <a:lnTo>
                        <a:pt x="140" y="55"/>
                      </a:lnTo>
                      <a:lnTo>
                        <a:pt x="143" y="67"/>
                      </a:lnTo>
                      <a:lnTo>
                        <a:pt x="144" y="80"/>
                      </a:lnTo>
                      <a:lnTo>
                        <a:pt x="143" y="92"/>
                      </a:lnTo>
                      <a:lnTo>
                        <a:pt x="140" y="105"/>
                      </a:lnTo>
                      <a:lnTo>
                        <a:pt x="134" y="115"/>
                      </a:lnTo>
                      <a:lnTo>
                        <a:pt x="126" y="126"/>
                      </a:lnTo>
                      <a:lnTo>
                        <a:pt x="117" y="133"/>
                      </a:lnTo>
                      <a:lnTo>
                        <a:pt x="105" y="140"/>
                      </a:lnTo>
                      <a:lnTo>
                        <a:pt x="94" y="143"/>
                      </a:lnTo>
                      <a:lnTo>
                        <a:pt x="81" y="144"/>
                      </a:lnTo>
                      <a:lnTo>
                        <a:pt x="68" y="143"/>
                      </a:lnTo>
                      <a:lnTo>
                        <a:pt x="56" y="140"/>
                      </a:lnTo>
                      <a:lnTo>
                        <a:pt x="45" y="133"/>
                      </a:lnTo>
                      <a:lnTo>
                        <a:pt x="35" y="126"/>
                      </a:lnTo>
                      <a:lnTo>
                        <a:pt x="28" y="115"/>
                      </a:lnTo>
                      <a:lnTo>
                        <a:pt x="21" y="105"/>
                      </a:lnTo>
                      <a:lnTo>
                        <a:pt x="18" y="92"/>
                      </a:lnTo>
                      <a:lnTo>
                        <a:pt x="16" y="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11" name="Freeform 198"/>
                <p:cNvSpPr>
                  <a:spLocks noEditPoints="1"/>
                </p:cNvSpPr>
                <p:nvPr/>
              </p:nvSpPr>
              <p:spPr bwMode="auto">
                <a:xfrm>
                  <a:off x="4818" y="2020"/>
                  <a:ext cx="73" cy="73"/>
                </a:xfrm>
                <a:custGeom>
                  <a:avLst/>
                  <a:gdLst>
                    <a:gd name="T0" fmla="*/ 0 w 160"/>
                    <a:gd name="T1" fmla="*/ 0 h 160"/>
                    <a:gd name="T2" fmla="*/ 0 w 160"/>
                    <a:gd name="T3" fmla="*/ 0 h 160"/>
                    <a:gd name="T4" fmla="*/ 0 w 160"/>
                    <a:gd name="T5" fmla="*/ 0 h 160"/>
                    <a:gd name="T6" fmla="*/ 0 w 160"/>
                    <a:gd name="T7" fmla="*/ 0 h 160"/>
                    <a:gd name="T8" fmla="*/ 0 w 160"/>
                    <a:gd name="T9" fmla="*/ 0 h 160"/>
                    <a:gd name="T10" fmla="*/ 0 w 160"/>
                    <a:gd name="T11" fmla="*/ 0 h 160"/>
                    <a:gd name="T12" fmla="*/ 0 w 160"/>
                    <a:gd name="T13" fmla="*/ 0 h 160"/>
                    <a:gd name="T14" fmla="*/ 0 w 160"/>
                    <a:gd name="T15" fmla="*/ 0 h 160"/>
                    <a:gd name="T16" fmla="*/ 0 w 160"/>
                    <a:gd name="T17" fmla="*/ 0 h 160"/>
                    <a:gd name="T18" fmla="*/ 0 w 160"/>
                    <a:gd name="T19" fmla="*/ 0 h 160"/>
                    <a:gd name="T20" fmla="*/ 0 w 160"/>
                    <a:gd name="T21" fmla="*/ 0 h 160"/>
                    <a:gd name="T22" fmla="*/ 0 w 160"/>
                    <a:gd name="T23" fmla="*/ 0 h 160"/>
                    <a:gd name="T24" fmla="*/ 0 w 160"/>
                    <a:gd name="T25" fmla="*/ 0 h 160"/>
                    <a:gd name="T26" fmla="*/ 0 w 160"/>
                    <a:gd name="T27" fmla="*/ 0 h 160"/>
                    <a:gd name="T28" fmla="*/ 0 w 160"/>
                    <a:gd name="T29" fmla="*/ 0 h 160"/>
                    <a:gd name="T30" fmla="*/ 0 w 160"/>
                    <a:gd name="T31" fmla="*/ 0 h 160"/>
                    <a:gd name="T32" fmla="*/ 0 w 160"/>
                    <a:gd name="T33" fmla="*/ 0 h 160"/>
                    <a:gd name="T34" fmla="*/ 0 w 160"/>
                    <a:gd name="T35" fmla="*/ 0 h 160"/>
                    <a:gd name="T36" fmla="*/ 0 w 160"/>
                    <a:gd name="T37" fmla="*/ 0 h 160"/>
                    <a:gd name="T38" fmla="*/ 0 w 160"/>
                    <a:gd name="T39" fmla="*/ 0 h 160"/>
                    <a:gd name="T40" fmla="*/ 0 w 160"/>
                    <a:gd name="T41" fmla="*/ 0 h 160"/>
                    <a:gd name="T42" fmla="*/ 0 w 160"/>
                    <a:gd name="T43" fmla="*/ 0 h 160"/>
                    <a:gd name="T44" fmla="*/ 0 w 160"/>
                    <a:gd name="T45" fmla="*/ 0 h 160"/>
                    <a:gd name="T46" fmla="*/ 0 w 160"/>
                    <a:gd name="T47" fmla="*/ 0 h 160"/>
                    <a:gd name="T48" fmla="*/ 0 w 160"/>
                    <a:gd name="T49" fmla="*/ 0 h 160"/>
                    <a:gd name="T50" fmla="*/ 0 w 160"/>
                    <a:gd name="T51" fmla="*/ 0 h 160"/>
                    <a:gd name="T52" fmla="*/ 0 w 160"/>
                    <a:gd name="T53" fmla="*/ 0 h 160"/>
                    <a:gd name="T54" fmla="*/ 0 w 160"/>
                    <a:gd name="T55" fmla="*/ 0 h 160"/>
                    <a:gd name="T56" fmla="*/ 0 w 160"/>
                    <a:gd name="T57" fmla="*/ 0 h 160"/>
                    <a:gd name="T58" fmla="*/ 0 w 160"/>
                    <a:gd name="T59" fmla="*/ 0 h 160"/>
                    <a:gd name="T60" fmla="*/ 0 w 160"/>
                    <a:gd name="T61" fmla="*/ 0 h 160"/>
                    <a:gd name="T62" fmla="*/ 0 w 160"/>
                    <a:gd name="T63" fmla="*/ 0 h 160"/>
                    <a:gd name="T64" fmla="*/ 0 w 160"/>
                    <a:gd name="T65" fmla="*/ 0 h 160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160"/>
                    <a:gd name="T100" fmla="*/ 0 h 160"/>
                    <a:gd name="T101" fmla="*/ 160 w 160"/>
                    <a:gd name="T102" fmla="*/ 160 h 160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160" h="160">
                      <a:moveTo>
                        <a:pt x="0" y="80"/>
                      </a:moveTo>
                      <a:lnTo>
                        <a:pt x="1" y="96"/>
                      </a:lnTo>
                      <a:lnTo>
                        <a:pt x="5" y="111"/>
                      </a:lnTo>
                      <a:lnTo>
                        <a:pt x="13" y="125"/>
                      </a:lnTo>
                      <a:lnTo>
                        <a:pt x="23" y="137"/>
                      </a:lnTo>
                      <a:lnTo>
                        <a:pt x="35" y="146"/>
                      </a:lnTo>
                      <a:lnTo>
                        <a:pt x="49" y="154"/>
                      </a:lnTo>
                      <a:lnTo>
                        <a:pt x="64" y="159"/>
                      </a:lnTo>
                      <a:lnTo>
                        <a:pt x="80" y="160"/>
                      </a:lnTo>
                      <a:lnTo>
                        <a:pt x="96" y="159"/>
                      </a:lnTo>
                      <a:lnTo>
                        <a:pt x="111" y="154"/>
                      </a:lnTo>
                      <a:lnTo>
                        <a:pt x="125" y="146"/>
                      </a:lnTo>
                      <a:lnTo>
                        <a:pt x="137" y="137"/>
                      </a:lnTo>
                      <a:lnTo>
                        <a:pt x="146" y="125"/>
                      </a:lnTo>
                      <a:lnTo>
                        <a:pt x="154" y="111"/>
                      </a:lnTo>
                      <a:lnTo>
                        <a:pt x="159" y="96"/>
                      </a:lnTo>
                      <a:lnTo>
                        <a:pt x="160" y="80"/>
                      </a:lnTo>
                      <a:lnTo>
                        <a:pt x="159" y="64"/>
                      </a:lnTo>
                      <a:lnTo>
                        <a:pt x="154" y="49"/>
                      </a:lnTo>
                      <a:lnTo>
                        <a:pt x="146" y="35"/>
                      </a:lnTo>
                      <a:lnTo>
                        <a:pt x="137" y="23"/>
                      </a:lnTo>
                      <a:lnTo>
                        <a:pt x="125" y="14"/>
                      </a:lnTo>
                      <a:lnTo>
                        <a:pt x="111" y="6"/>
                      </a:lnTo>
                      <a:lnTo>
                        <a:pt x="96" y="1"/>
                      </a:lnTo>
                      <a:lnTo>
                        <a:pt x="80" y="0"/>
                      </a:lnTo>
                      <a:lnTo>
                        <a:pt x="64" y="1"/>
                      </a:lnTo>
                      <a:lnTo>
                        <a:pt x="49" y="6"/>
                      </a:lnTo>
                      <a:lnTo>
                        <a:pt x="35" y="14"/>
                      </a:lnTo>
                      <a:lnTo>
                        <a:pt x="23" y="23"/>
                      </a:lnTo>
                      <a:lnTo>
                        <a:pt x="13" y="35"/>
                      </a:lnTo>
                      <a:lnTo>
                        <a:pt x="5" y="49"/>
                      </a:lnTo>
                      <a:lnTo>
                        <a:pt x="1" y="64"/>
                      </a:lnTo>
                      <a:lnTo>
                        <a:pt x="0" y="80"/>
                      </a:lnTo>
                      <a:close/>
                      <a:moveTo>
                        <a:pt x="16" y="80"/>
                      </a:moveTo>
                      <a:lnTo>
                        <a:pt x="17" y="67"/>
                      </a:lnTo>
                      <a:lnTo>
                        <a:pt x="20" y="55"/>
                      </a:lnTo>
                      <a:lnTo>
                        <a:pt x="27" y="44"/>
                      </a:lnTo>
                      <a:lnTo>
                        <a:pt x="34" y="35"/>
                      </a:lnTo>
                      <a:lnTo>
                        <a:pt x="45" y="27"/>
                      </a:lnTo>
                      <a:lnTo>
                        <a:pt x="55" y="21"/>
                      </a:lnTo>
                      <a:lnTo>
                        <a:pt x="68" y="17"/>
                      </a:lnTo>
                      <a:lnTo>
                        <a:pt x="80" y="16"/>
                      </a:lnTo>
                      <a:lnTo>
                        <a:pt x="93" y="17"/>
                      </a:lnTo>
                      <a:lnTo>
                        <a:pt x="104" y="21"/>
                      </a:lnTo>
                      <a:lnTo>
                        <a:pt x="116" y="27"/>
                      </a:lnTo>
                      <a:lnTo>
                        <a:pt x="125" y="35"/>
                      </a:lnTo>
                      <a:lnTo>
                        <a:pt x="133" y="44"/>
                      </a:lnTo>
                      <a:lnTo>
                        <a:pt x="139" y="55"/>
                      </a:lnTo>
                      <a:lnTo>
                        <a:pt x="142" y="67"/>
                      </a:lnTo>
                      <a:lnTo>
                        <a:pt x="144" y="80"/>
                      </a:lnTo>
                      <a:lnTo>
                        <a:pt x="142" y="92"/>
                      </a:lnTo>
                      <a:lnTo>
                        <a:pt x="139" y="105"/>
                      </a:lnTo>
                      <a:lnTo>
                        <a:pt x="133" y="115"/>
                      </a:lnTo>
                      <a:lnTo>
                        <a:pt x="125" y="126"/>
                      </a:lnTo>
                      <a:lnTo>
                        <a:pt x="116" y="133"/>
                      </a:lnTo>
                      <a:lnTo>
                        <a:pt x="104" y="140"/>
                      </a:lnTo>
                      <a:lnTo>
                        <a:pt x="93" y="143"/>
                      </a:lnTo>
                      <a:lnTo>
                        <a:pt x="80" y="144"/>
                      </a:lnTo>
                      <a:lnTo>
                        <a:pt x="68" y="143"/>
                      </a:lnTo>
                      <a:lnTo>
                        <a:pt x="55" y="140"/>
                      </a:lnTo>
                      <a:lnTo>
                        <a:pt x="45" y="133"/>
                      </a:lnTo>
                      <a:lnTo>
                        <a:pt x="34" y="126"/>
                      </a:lnTo>
                      <a:lnTo>
                        <a:pt x="27" y="115"/>
                      </a:lnTo>
                      <a:lnTo>
                        <a:pt x="20" y="105"/>
                      </a:lnTo>
                      <a:lnTo>
                        <a:pt x="17" y="92"/>
                      </a:lnTo>
                      <a:lnTo>
                        <a:pt x="16" y="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12" name="Freeform 199"/>
                <p:cNvSpPr>
                  <a:spLocks/>
                </p:cNvSpPr>
                <p:nvPr/>
              </p:nvSpPr>
              <p:spPr bwMode="auto">
                <a:xfrm>
                  <a:off x="4555" y="2027"/>
                  <a:ext cx="59" cy="59"/>
                </a:xfrm>
                <a:custGeom>
                  <a:avLst/>
                  <a:gdLst>
                    <a:gd name="T0" fmla="*/ 0 w 128"/>
                    <a:gd name="T1" fmla="*/ 0 h 128"/>
                    <a:gd name="T2" fmla="*/ 0 w 128"/>
                    <a:gd name="T3" fmla="*/ 0 h 128"/>
                    <a:gd name="T4" fmla="*/ 0 w 128"/>
                    <a:gd name="T5" fmla="*/ 0 h 128"/>
                    <a:gd name="T6" fmla="*/ 0 w 128"/>
                    <a:gd name="T7" fmla="*/ 0 h 128"/>
                    <a:gd name="T8" fmla="*/ 0 w 128"/>
                    <a:gd name="T9" fmla="*/ 0 h 128"/>
                    <a:gd name="T10" fmla="*/ 0 w 128"/>
                    <a:gd name="T11" fmla="*/ 0 h 128"/>
                    <a:gd name="T12" fmla="*/ 0 w 128"/>
                    <a:gd name="T13" fmla="*/ 0 h 128"/>
                    <a:gd name="T14" fmla="*/ 0 w 128"/>
                    <a:gd name="T15" fmla="*/ 0 h 128"/>
                    <a:gd name="T16" fmla="*/ 0 w 128"/>
                    <a:gd name="T17" fmla="*/ 0 h 128"/>
                    <a:gd name="T18" fmla="*/ 0 w 128"/>
                    <a:gd name="T19" fmla="*/ 0 h 128"/>
                    <a:gd name="T20" fmla="*/ 0 w 128"/>
                    <a:gd name="T21" fmla="*/ 0 h 128"/>
                    <a:gd name="T22" fmla="*/ 0 w 128"/>
                    <a:gd name="T23" fmla="*/ 0 h 128"/>
                    <a:gd name="T24" fmla="*/ 0 w 128"/>
                    <a:gd name="T25" fmla="*/ 0 h 128"/>
                    <a:gd name="T26" fmla="*/ 0 w 128"/>
                    <a:gd name="T27" fmla="*/ 0 h 128"/>
                    <a:gd name="T28" fmla="*/ 0 w 128"/>
                    <a:gd name="T29" fmla="*/ 0 h 128"/>
                    <a:gd name="T30" fmla="*/ 0 w 128"/>
                    <a:gd name="T31" fmla="*/ 0 h 128"/>
                    <a:gd name="T32" fmla="*/ 0 w 128"/>
                    <a:gd name="T33" fmla="*/ 0 h 128"/>
                    <a:gd name="T34" fmla="*/ 0 w 128"/>
                    <a:gd name="T35" fmla="*/ 0 h 128"/>
                    <a:gd name="T36" fmla="*/ 0 w 128"/>
                    <a:gd name="T37" fmla="*/ 0 h 128"/>
                    <a:gd name="T38" fmla="*/ 0 w 128"/>
                    <a:gd name="T39" fmla="*/ 0 h 128"/>
                    <a:gd name="T40" fmla="*/ 0 w 128"/>
                    <a:gd name="T41" fmla="*/ 0 h 128"/>
                    <a:gd name="T42" fmla="*/ 0 w 128"/>
                    <a:gd name="T43" fmla="*/ 0 h 128"/>
                    <a:gd name="T44" fmla="*/ 0 w 128"/>
                    <a:gd name="T45" fmla="*/ 0 h 128"/>
                    <a:gd name="T46" fmla="*/ 0 w 128"/>
                    <a:gd name="T47" fmla="*/ 0 h 128"/>
                    <a:gd name="T48" fmla="*/ 0 w 128"/>
                    <a:gd name="T49" fmla="*/ 0 h 128"/>
                    <a:gd name="T50" fmla="*/ 0 w 128"/>
                    <a:gd name="T51" fmla="*/ 0 h 128"/>
                    <a:gd name="T52" fmla="*/ 0 w 128"/>
                    <a:gd name="T53" fmla="*/ 0 h 128"/>
                    <a:gd name="T54" fmla="*/ 0 w 128"/>
                    <a:gd name="T55" fmla="*/ 0 h 128"/>
                    <a:gd name="T56" fmla="*/ 0 w 128"/>
                    <a:gd name="T57" fmla="*/ 0 h 128"/>
                    <a:gd name="T58" fmla="*/ 0 w 128"/>
                    <a:gd name="T59" fmla="*/ 0 h 128"/>
                    <a:gd name="T60" fmla="*/ 0 w 128"/>
                    <a:gd name="T61" fmla="*/ 0 h 128"/>
                    <a:gd name="T62" fmla="*/ 0 w 128"/>
                    <a:gd name="T63" fmla="*/ 0 h 128"/>
                    <a:gd name="T64" fmla="*/ 0 w 128"/>
                    <a:gd name="T65" fmla="*/ 0 h 128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128"/>
                    <a:gd name="T100" fmla="*/ 0 h 128"/>
                    <a:gd name="T101" fmla="*/ 128 w 128"/>
                    <a:gd name="T102" fmla="*/ 128 h 128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128" h="128">
                      <a:moveTo>
                        <a:pt x="0" y="64"/>
                      </a:moveTo>
                      <a:lnTo>
                        <a:pt x="2" y="51"/>
                      </a:lnTo>
                      <a:lnTo>
                        <a:pt x="5" y="39"/>
                      </a:lnTo>
                      <a:lnTo>
                        <a:pt x="12" y="28"/>
                      </a:lnTo>
                      <a:lnTo>
                        <a:pt x="19" y="19"/>
                      </a:lnTo>
                      <a:lnTo>
                        <a:pt x="29" y="11"/>
                      </a:lnTo>
                      <a:lnTo>
                        <a:pt x="40" y="5"/>
                      </a:lnTo>
                      <a:lnTo>
                        <a:pt x="52" y="1"/>
                      </a:lnTo>
                      <a:lnTo>
                        <a:pt x="65" y="0"/>
                      </a:lnTo>
                      <a:lnTo>
                        <a:pt x="78" y="1"/>
                      </a:lnTo>
                      <a:lnTo>
                        <a:pt x="89" y="5"/>
                      </a:lnTo>
                      <a:lnTo>
                        <a:pt x="101" y="11"/>
                      </a:lnTo>
                      <a:lnTo>
                        <a:pt x="110" y="19"/>
                      </a:lnTo>
                      <a:lnTo>
                        <a:pt x="118" y="28"/>
                      </a:lnTo>
                      <a:lnTo>
                        <a:pt x="124" y="39"/>
                      </a:lnTo>
                      <a:lnTo>
                        <a:pt x="127" y="51"/>
                      </a:lnTo>
                      <a:lnTo>
                        <a:pt x="128" y="64"/>
                      </a:lnTo>
                      <a:lnTo>
                        <a:pt x="127" y="76"/>
                      </a:lnTo>
                      <a:lnTo>
                        <a:pt x="124" y="89"/>
                      </a:lnTo>
                      <a:lnTo>
                        <a:pt x="118" y="99"/>
                      </a:lnTo>
                      <a:lnTo>
                        <a:pt x="110" y="110"/>
                      </a:lnTo>
                      <a:lnTo>
                        <a:pt x="101" y="117"/>
                      </a:lnTo>
                      <a:lnTo>
                        <a:pt x="89" y="124"/>
                      </a:lnTo>
                      <a:lnTo>
                        <a:pt x="78" y="127"/>
                      </a:lnTo>
                      <a:lnTo>
                        <a:pt x="65" y="128"/>
                      </a:lnTo>
                      <a:lnTo>
                        <a:pt x="52" y="127"/>
                      </a:lnTo>
                      <a:lnTo>
                        <a:pt x="40" y="124"/>
                      </a:lnTo>
                      <a:lnTo>
                        <a:pt x="29" y="117"/>
                      </a:lnTo>
                      <a:lnTo>
                        <a:pt x="19" y="110"/>
                      </a:lnTo>
                      <a:lnTo>
                        <a:pt x="12" y="99"/>
                      </a:lnTo>
                      <a:lnTo>
                        <a:pt x="5" y="89"/>
                      </a:lnTo>
                      <a:lnTo>
                        <a:pt x="2" y="76"/>
                      </a:lnTo>
                      <a:lnTo>
                        <a:pt x="0" y="64"/>
                      </a:lnTo>
                      <a:close/>
                    </a:path>
                  </a:pathLst>
                </a:custGeom>
                <a:solidFill>
                  <a:srgbClr val="BFDD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13" name="Freeform 200"/>
                <p:cNvSpPr>
                  <a:spLocks/>
                </p:cNvSpPr>
                <p:nvPr/>
              </p:nvSpPr>
              <p:spPr bwMode="auto">
                <a:xfrm>
                  <a:off x="4573" y="2034"/>
                  <a:ext cx="34" cy="43"/>
                </a:xfrm>
                <a:custGeom>
                  <a:avLst/>
                  <a:gdLst>
                    <a:gd name="T0" fmla="*/ 0 w 76"/>
                    <a:gd name="T1" fmla="*/ 0 h 96"/>
                    <a:gd name="T2" fmla="*/ 0 w 76"/>
                    <a:gd name="T3" fmla="*/ 0 h 96"/>
                    <a:gd name="T4" fmla="*/ 0 w 76"/>
                    <a:gd name="T5" fmla="*/ 0 h 96"/>
                    <a:gd name="T6" fmla="*/ 0 w 76"/>
                    <a:gd name="T7" fmla="*/ 0 h 96"/>
                    <a:gd name="T8" fmla="*/ 0 w 76"/>
                    <a:gd name="T9" fmla="*/ 0 h 96"/>
                    <a:gd name="T10" fmla="*/ 0 w 76"/>
                    <a:gd name="T11" fmla="*/ 0 h 96"/>
                    <a:gd name="T12" fmla="*/ 0 w 76"/>
                    <a:gd name="T13" fmla="*/ 0 h 96"/>
                    <a:gd name="T14" fmla="*/ 0 w 76"/>
                    <a:gd name="T15" fmla="*/ 0 h 96"/>
                    <a:gd name="T16" fmla="*/ 0 w 76"/>
                    <a:gd name="T17" fmla="*/ 0 h 96"/>
                    <a:gd name="T18" fmla="*/ 0 w 76"/>
                    <a:gd name="T19" fmla="*/ 0 h 96"/>
                    <a:gd name="T20" fmla="*/ 0 w 76"/>
                    <a:gd name="T21" fmla="*/ 0 h 96"/>
                    <a:gd name="T22" fmla="*/ 0 w 76"/>
                    <a:gd name="T23" fmla="*/ 0 h 96"/>
                    <a:gd name="T24" fmla="*/ 0 w 76"/>
                    <a:gd name="T25" fmla="*/ 0 h 96"/>
                    <a:gd name="T26" fmla="*/ 0 w 76"/>
                    <a:gd name="T27" fmla="*/ 0 h 96"/>
                    <a:gd name="T28" fmla="*/ 0 w 76"/>
                    <a:gd name="T29" fmla="*/ 0 h 96"/>
                    <a:gd name="T30" fmla="*/ 0 w 76"/>
                    <a:gd name="T31" fmla="*/ 0 h 96"/>
                    <a:gd name="T32" fmla="*/ 0 w 76"/>
                    <a:gd name="T33" fmla="*/ 0 h 96"/>
                    <a:gd name="T34" fmla="*/ 0 w 76"/>
                    <a:gd name="T35" fmla="*/ 0 h 96"/>
                    <a:gd name="T36" fmla="*/ 0 w 76"/>
                    <a:gd name="T37" fmla="*/ 0 h 96"/>
                    <a:gd name="T38" fmla="*/ 0 w 76"/>
                    <a:gd name="T39" fmla="*/ 0 h 96"/>
                    <a:gd name="T40" fmla="*/ 0 w 76"/>
                    <a:gd name="T41" fmla="*/ 0 h 96"/>
                    <a:gd name="T42" fmla="*/ 0 w 76"/>
                    <a:gd name="T43" fmla="*/ 0 h 96"/>
                    <a:gd name="T44" fmla="*/ 0 w 76"/>
                    <a:gd name="T45" fmla="*/ 0 h 96"/>
                    <a:gd name="T46" fmla="*/ 0 w 76"/>
                    <a:gd name="T47" fmla="*/ 0 h 96"/>
                    <a:gd name="T48" fmla="*/ 0 w 76"/>
                    <a:gd name="T49" fmla="*/ 0 h 96"/>
                    <a:gd name="T50" fmla="*/ 0 w 76"/>
                    <a:gd name="T51" fmla="*/ 0 h 96"/>
                    <a:gd name="T52" fmla="*/ 0 w 76"/>
                    <a:gd name="T53" fmla="*/ 0 h 96"/>
                    <a:gd name="T54" fmla="*/ 0 w 76"/>
                    <a:gd name="T55" fmla="*/ 0 h 96"/>
                    <a:gd name="T56" fmla="*/ 0 w 76"/>
                    <a:gd name="T57" fmla="*/ 0 h 96"/>
                    <a:gd name="T58" fmla="*/ 0 w 76"/>
                    <a:gd name="T59" fmla="*/ 0 h 96"/>
                    <a:gd name="T60" fmla="*/ 0 w 76"/>
                    <a:gd name="T61" fmla="*/ 0 h 96"/>
                    <a:gd name="T62" fmla="*/ 0 w 76"/>
                    <a:gd name="T63" fmla="*/ 0 h 96"/>
                    <a:gd name="T64" fmla="*/ 0 w 76"/>
                    <a:gd name="T65" fmla="*/ 0 h 96"/>
                    <a:gd name="T66" fmla="*/ 0 w 76"/>
                    <a:gd name="T67" fmla="*/ 0 h 96"/>
                    <a:gd name="T68" fmla="*/ 0 w 76"/>
                    <a:gd name="T69" fmla="*/ 0 h 96"/>
                    <a:gd name="T70" fmla="*/ 0 w 76"/>
                    <a:gd name="T71" fmla="*/ 0 h 96"/>
                    <a:gd name="T72" fmla="*/ 0 w 76"/>
                    <a:gd name="T73" fmla="*/ 0 h 9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76"/>
                    <a:gd name="T112" fmla="*/ 0 h 96"/>
                    <a:gd name="T113" fmla="*/ 76 w 76"/>
                    <a:gd name="T114" fmla="*/ 96 h 9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76" h="96">
                      <a:moveTo>
                        <a:pt x="5" y="6"/>
                      </a:move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2" y="7"/>
                      </a:lnTo>
                      <a:lnTo>
                        <a:pt x="0" y="8"/>
                      </a:lnTo>
                      <a:lnTo>
                        <a:pt x="10" y="6"/>
                      </a:lnTo>
                      <a:lnTo>
                        <a:pt x="18" y="6"/>
                      </a:lnTo>
                      <a:lnTo>
                        <a:pt x="27" y="7"/>
                      </a:lnTo>
                      <a:lnTo>
                        <a:pt x="35" y="9"/>
                      </a:lnTo>
                      <a:lnTo>
                        <a:pt x="42" y="13"/>
                      </a:lnTo>
                      <a:lnTo>
                        <a:pt x="49" y="19"/>
                      </a:lnTo>
                      <a:lnTo>
                        <a:pt x="56" y="26"/>
                      </a:lnTo>
                      <a:lnTo>
                        <a:pt x="60" y="34"/>
                      </a:lnTo>
                      <a:lnTo>
                        <a:pt x="65" y="51"/>
                      </a:lnTo>
                      <a:lnTo>
                        <a:pt x="64" y="68"/>
                      </a:lnTo>
                      <a:lnTo>
                        <a:pt x="56" y="84"/>
                      </a:lnTo>
                      <a:lnTo>
                        <a:pt x="43" y="96"/>
                      </a:lnTo>
                      <a:lnTo>
                        <a:pt x="44" y="96"/>
                      </a:lnTo>
                      <a:lnTo>
                        <a:pt x="46" y="95"/>
                      </a:lnTo>
                      <a:lnTo>
                        <a:pt x="48" y="95"/>
                      </a:lnTo>
                      <a:lnTo>
                        <a:pt x="49" y="94"/>
                      </a:lnTo>
                      <a:lnTo>
                        <a:pt x="57" y="89"/>
                      </a:lnTo>
                      <a:lnTo>
                        <a:pt x="64" y="82"/>
                      </a:lnTo>
                      <a:lnTo>
                        <a:pt x="69" y="74"/>
                      </a:lnTo>
                      <a:lnTo>
                        <a:pt x="74" y="66"/>
                      </a:lnTo>
                      <a:lnTo>
                        <a:pt x="76" y="57"/>
                      </a:lnTo>
                      <a:lnTo>
                        <a:pt x="76" y="46"/>
                      </a:lnTo>
                      <a:lnTo>
                        <a:pt x="75" y="37"/>
                      </a:lnTo>
                      <a:lnTo>
                        <a:pt x="72" y="28"/>
                      </a:lnTo>
                      <a:lnTo>
                        <a:pt x="66" y="20"/>
                      </a:lnTo>
                      <a:lnTo>
                        <a:pt x="59" y="13"/>
                      </a:lnTo>
                      <a:lnTo>
                        <a:pt x="52" y="7"/>
                      </a:lnTo>
                      <a:lnTo>
                        <a:pt x="43" y="3"/>
                      </a:lnTo>
                      <a:lnTo>
                        <a:pt x="34" y="1"/>
                      </a:lnTo>
                      <a:lnTo>
                        <a:pt x="25" y="0"/>
                      </a:lnTo>
                      <a:lnTo>
                        <a:pt x="14" y="3"/>
                      </a:lnTo>
                      <a:lnTo>
                        <a:pt x="5" y="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14" name="Freeform 201"/>
                <p:cNvSpPr>
                  <a:spLocks/>
                </p:cNvSpPr>
                <p:nvPr/>
              </p:nvSpPr>
              <p:spPr bwMode="auto">
                <a:xfrm>
                  <a:off x="4825" y="2027"/>
                  <a:ext cx="58" cy="59"/>
                </a:xfrm>
                <a:custGeom>
                  <a:avLst/>
                  <a:gdLst>
                    <a:gd name="T0" fmla="*/ 0 w 128"/>
                    <a:gd name="T1" fmla="*/ 0 h 128"/>
                    <a:gd name="T2" fmla="*/ 0 w 128"/>
                    <a:gd name="T3" fmla="*/ 0 h 128"/>
                    <a:gd name="T4" fmla="*/ 0 w 128"/>
                    <a:gd name="T5" fmla="*/ 0 h 128"/>
                    <a:gd name="T6" fmla="*/ 0 w 128"/>
                    <a:gd name="T7" fmla="*/ 0 h 128"/>
                    <a:gd name="T8" fmla="*/ 0 w 128"/>
                    <a:gd name="T9" fmla="*/ 0 h 128"/>
                    <a:gd name="T10" fmla="*/ 0 w 128"/>
                    <a:gd name="T11" fmla="*/ 0 h 128"/>
                    <a:gd name="T12" fmla="*/ 0 w 128"/>
                    <a:gd name="T13" fmla="*/ 0 h 128"/>
                    <a:gd name="T14" fmla="*/ 0 w 128"/>
                    <a:gd name="T15" fmla="*/ 0 h 128"/>
                    <a:gd name="T16" fmla="*/ 0 w 128"/>
                    <a:gd name="T17" fmla="*/ 0 h 128"/>
                    <a:gd name="T18" fmla="*/ 0 w 128"/>
                    <a:gd name="T19" fmla="*/ 0 h 128"/>
                    <a:gd name="T20" fmla="*/ 0 w 128"/>
                    <a:gd name="T21" fmla="*/ 0 h 128"/>
                    <a:gd name="T22" fmla="*/ 0 w 128"/>
                    <a:gd name="T23" fmla="*/ 0 h 128"/>
                    <a:gd name="T24" fmla="*/ 0 w 128"/>
                    <a:gd name="T25" fmla="*/ 0 h 128"/>
                    <a:gd name="T26" fmla="*/ 0 w 128"/>
                    <a:gd name="T27" fmla="*/ 0 h 128"/>
                    <a:gd name="T28" fmla="*/ 0 w 128"/>
                    <a:gd name="T29" fmla="*/ 0 h 128"/>
                    <a:gd name="T30" fmla="*/ 0 w 128"/>
                    <a:gd name="T31" fmla="*/ 0 h 128"/>
                    <a:gd name="T32" fmla="*/ 0 w 128"/>
                    <a:gd name="T33" fmla="*/ 0 h 128"/>
                    <a:gd name="T34" fmla="*/ 0 w 128"/>
                    <a:gd name="T35" fmla="*/ 0 h 128"/>
                    <a:gd name="T36" fmla="*/ 0 w 128"/>
                    <a:gd name="T37" fmla="*/ 0 h 128"/>
                    <a:gd name="T38" fmla="*/ 0 w 128"/>
                    <a:gd name="T39" fmla="*/ 0 h 128"/>
                    <a:gd name="T40" fmla="*/ 0 w 128"/>
                    <a:gd name="T41" fmla="*/ 0 h 128"/>
                    <a:gd name="T42" fmla="*/ 0 w 128"/>
                    <a:gd name="T43" fmla="*/ 0 h 128"/>
                    <a:gd name="T44" fmla="*/ 0 w 128"/>
                    <a:gd name="T45" fmla="*/ 0 h 128"/>
                    <a:gd name="T46" fmla="*/ 0 w 128"/>
                    <a:gd name="T47" fmla="*/ 0 h 128"/>
                    <a:gd name="T48" fmla="*/ 0 w 128"/>
                    <a:gd name="T49" fmla="*/ 0 h 128"/>
                    <a:gd name="T50" fmla="*/ 0 w 128"/>
                    <a:gd name="T51" fmla="*/ 0 h 128"/>
                    <a:gd name="T52" fmla="*/ 0 w 128"/>
                    <a:gd name="T53" fmla="*/ 0 h 128"/>
                    <a:gd name="T54" fmla="*/ 0 w 128"/>
                    <a:gd name="T55" fmla="*/ 0 h 128"/>
                    <a:gd name="T56" fmla="*/ 0 w 128"/>
                    <a:gd name="T57" fmla="*/ 0 h 128"/>
                    <a:gd name="T58" fmla="*/ 0 w 128"/>
                    <a:gd name="T59" fmla="*/ 0 h 128"/>
                    <a:gd name="T60" fmla="*/ 0 w 128"/>
                    <a:gd name="T61" fmla="*/ 0 h 128"/>
                    <a:gd name="T62" fmla="*/ 0 w 128"/>
                    <a:gd name="T63" fmla="*/ 0 h 128"/>
                    <a:gd name="T64" fmla="*/ 0 w 128"/>
                    <a:gd name="T65" fmla="*/ 0 h 128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128"/>
                    <a:gd name="T100" fmla="*/ 0 h 128"/>
                    <a:gd name="T101" fmla="*/ 128 w 128"/>
                    <a:gd name="T102" fmla="*/ 128 h 128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128" h="128">
                      <a:moveTo>
                        <a:pt x="0" y="64"/>
                      </a:moveTo>
                      <a:lnTo>
                        <a:pt x="1" y="51"/>
                      </a:lnTo>
                      <a:lnTo>
                        <a:pt x="4" y="39"/>
                      </a:lnTo>
                      <a:lnTo>
                        <a:pt x="11" y="28"/>
                      </a:lnTo>
                      <a:lnTo>
                        <a:pt x="18" y="19"/>
                      </a:lnTo>
                      <a:lnTo>
                        <a:pt x="29" y="11"/>
                      </a:lnTo>
                      <a:lnTo>
                        <a:pt x="39" y="5"/>
                      </a:lnTo>
                      <a:lnTo>
                        <a:pt x="52" y="1"/>
                      </a:lnTo>
                      <a:lnTo>
                        <a:pt x="64" y="0"/>
                      </a:lnTo>
                      <a:lnTo>
                        <a:pt x="77" y="1"/>
                      </a:lnTo>
                      <a:lnTo>
                        <a:pt x="88" y="5"/>
                      </a:lnTo>
                      <a:lnTo>
                        <a:pt x="100" y="11"/>
                      </a:lnTo>
                      <a:lnTo>
                        <a:pt x="109" y="19"/>
                      </a:lnTo>
                      <a:lnTo>
                        <a:pt x="117" y="28"/>
                      </a:lnTo>
                      <a:lnTo>
                        <a:pt x="123" y="39"/>
                      </a:lnTo>
                      <a:lnTo>
                        <a:pt x="126" y="51"/>
                      </a:lnTo>
                      <a:lnTo>
                        <a:pt x="128" y="64"/>
                      </a:lnTo>
                      <a:lnTo>
                        <a:pt x="126" y="76"/>
                      </a:lnTo>
                      <a:lnTo>
                        <a:pt x="123" y="89"/>
                      </a:lnTo>
                      <a:lnTo>
                        <a:pt x="117" y="99"/>
                      </a:lnTo>
                      <a:lnTo>
                        <a:pt x="109" y="110"/>
                      </a:lnTo>
                      <a:lnTo>
                        <a:pt x="100" y="117"/>
                      </a:lnTo>
                      <a:lnTo>
                        <a:pt x="88" y="124"/>
                      </a:lnTo>
                      <a:lnTo>
                        <a:pt x="77" y="127"/>
                      </a:lnTo>
                      <a:lnTo>
                        <a:pt x="64" y="128"/>
                      </a:lnTo>
                      <a:lnTo>
                        <a:pt x="52" y="127"/>
                      </a:lnTo>
                      <a:lnTo>
                        <a:pt x="39" y="124"/>
                      </a:lnTo>
                      <a:lnTo>
                        <a:pt x="29" y="117"/>
                      </a:lnTo>
                      <a:lnTo>
                        <a:pt x="18" y="110"/>
                      </a:lnTo>
                      <a:lnTo>
                        <a:pt x="11" y="99"/>
                      </a:lnTo>
                      <a:lnTo>
                        <a:pt x="4" y="89"/>
                      </a:lnTo>
                      <a:lnTo>
                        <a:pt x="1" y="76"/>
                      </a:lnTo>
                      <a:lnTo>
                        <a:pt x="0" y="64"/>
                      </a:lnTo>
                      <a:close/>
                    </a:path>
                  </a:pathLst>
                </a:custGeom>
                <a:solidFill>
                  <a:srgbClr val="BFDD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15" name="Freeform 202"/>
                <p:cNvSpPr>
                  <a:spLocks noEditPoints="1"/>
                </p:cNvSpPr>
                <p:nvPr/>
              </p:nvSpPr>
              <p:spPr bwMode="auto">
                <a:xfrm>
                  <a:off x="4604" y="1864"/>
                  <a:ext cx="115" cy="68"/>
                </a:xfrm>
                <a:custGeom>
                  <a:avLst/>
                  <a:gdLst>
                    <a:gd name="T0" fmla="*/ 0 w 252"/>
                    <a:gd name="T1" fmla="*/ 0 h 151"/>
                    <a:gd name="T2" fmla="*/ 0 w 252"/>
                    <a:gd name="T3" fmla="*/ 0 h 151"/>
                    <a:gd name="T4" fmla="*/ 0 w 252"/>
                    <a:gd name="T5" fmla="*/ 0 h 151"/>
                    <a:gd name="T6" fmla="*/ 0 w 252"/>
                    <a:gd name="T7" fmla="*/ 0 h 151"/>
                    <a:gd name="T8" fmla="*/ 0 w 252"/>
                    <a:gd name="T9" fmla="*/ 0 h 151"/>
                    <a:gd name="T10" fmla="*/ 0 w 252"/>
                    <a:gd name="T11" fmla="*/ 0 h 151"/>
                    <a:gd name="T12" fmla="*/ 0 w 252"/>
                    <a:gd name="T13" fmla="*/ 0 h 151"/>
                    <a:gd name="T14" fmla="*/ 0 w 252"/>
                    <a:gd name="T15" fmla="*/ 0 h 151"/>
                    <a:gd name="T16" fmla="*/ 0 w 252"/>
                    <a:gd name="T17" fmla="*/ 0 h 151"/>
                    <a:gd name="T18" fmla="*/ 0 w 252"/>
                    <a:gd name="T19" fmla="*/ 0 h 151"/>
                    <a:gd name="T20" fmla="*/ 0 w 252"/>
                    <a:gd name="T21" fmla="*/ 0 h 151"/>
                    <a:gd name="T22" fmla="*/ 0 w 252"/>
                    <a:gd name="T23" fmla="*/ 0 h 151"/>
                    <a:gd name="T24" fmla="*/ 0 w 252"/>
                    <a:gd name="T25" fmla="*/ 0 h 151"/>
                    <a:gd name="T26" fmla="*/ 0 w 252"/>
                    <a:gd name="T27" fmla="*/ 0 h 151"/>
                    <a:gd name="T28" fmla="*/ 0 w 252"/>
                    <a:gd name="T29" fmla="*/ 0 h 151"/>
                    <a:gd name="T30" fmla="*/ 0 w 252"/>
                    <a:gd name="T31" fmla="*/ 0 h 151"/>
                    <a:gd name="T32" fmla="*/ 0 w 252"/>
                    <a:gd name="T33" fmla="*/ 0 h 151"/>
                    <a:gd name="T34" fmla="*/ 0 w 252"/>
                    <a:gd name="T35" fmla="*/ 0 h 151"/>
                    <a:gd name="T36" fmla="*/ 0 w 252"/>
                    <a:gd name="T37" fmla="*/ 0 h 151"/>
                    <a:gd name="T38" fmla="*/ 0 w 252"/>
                    <a:gd name="T39" fmla="*/ 0 h 151"/>
                    <a:gd name="T40" fmla="*/ 0 w 252"/>
                    <a:gd name="T41" fmla="*/ 0 h 151"/>
                    <a:gd name="T42" fmla="*/ 0 w 252"/>
                    <a:gd name="T43" fmla="*/ 0 h 151"/>
                    <a:gd name="T44" fmla="*/ 0 w 252"/>
                    <a:gd name="T45" fmla="*/ 0 h 151"/>
                    <a:gd name="T46" fmla="*/ 0 w 252"/>
                    <a:gd name="T47" fmla="*/ 0 h 151"/>
                    <a:gd name="T48" fmla="*/ 0 w 252"/>
                    <a:gd name="T49" fmla="*/ 0 h 151"/>
                    <a:gd name="T50" fmla="*/ 0 w 252"/>
                    <a:gd name="T51" fmla="*/ 0 h 151"/>
                    <a:gd name="T52" fmla="*/ 0 w 252"/>
                    <a:gd name="T53" fmla="*/ 0 h 151"/>
                    <a:gd name="T54" fmla="*/ 0 w 252"/>
                    <a:gd name="T55" fmla="*/ 0 h 151"/>
                    <a:gd name="T56" fmla="*/ 0 w 252"/>
                    <a:gd name="T57" fmla="*/ 0 h 151"/>
                    <a:gd name="T58" fmla="*/ 0 w 252"/>
                    <a:gd name="T59" fmla="*/ 0 h 151"/>
                    <a:gd name="T60" fmla="*/ 0 w 252"/>
                    <a:gd name="T61" fmla="*/ 0 h 151"/>
                    <a:gd name="T62" fmla="*/ 0 w 252"/>
                    <a:gd name="T63" fmla="*/ 0 h 151"/>
                    <a:gd name="T64" fmla="*/ 0 w 252"/>
                    <a:gd name="T65" fmla="*/ 0 h 15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252"/>
                    <a:gd name="T100" fmla="*/ 0 h 151"/>
                    <a:gd name="T101" fmla="*/ 252 w 252"/>
                    <a:gd name="T102" fmla="*/ 151 h 151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252" h="151">
                      <a:moveTo>
                        <a:pt x="121" y="21"/>
                      </a:moveTo>
                      <a:lnTo>
                        <a:pt x="116" y="27"/>
                      </a:lnTo>
                      <a:lnTo>
                        <a:pt x="103" y="39"/>
                      </a:lnTo>
                      <a:lnTo>
                        <a:pt x="86" y="58"/>
                      </a:lnTo>
                      <a:lnTo>
                        <a:pt x="66" y="80"/>
                      </a:lnTo>
                      <a:lnTo>
                        <a:pt x="46" y="100"/>
                      </a:lnTo>
                      <a:lnTo>
                        <a:pt x="30" y="119"/>
                      </a:lnTo>
                      <a:lnTo>
                        <a:pt x="17" y="133"/>
                      </a:lnTo>
                      <a:lnTo>
                        <a:pt x="12" y="137"/>
                      </a:lnTo>
                      <a:lnTo>
                        <a:pt x="0" y="151"/>
                      </a:lnTo>
                      <a:lnTo>
                        <a:pt x="252" y="151"/>
                      </a:lnTo>
                      <a:lnTo>
                        <a:pt x="252" y="0"/>
                      </a:lnTo>
                      <a:lnTo>
                        <a:pt x="171" y="0"/>
                      </a:lnTo>
                      <a:lnTo>
                        <a:pt x="170" y="0"/>
                      </a:lnTo>
                      <a:lnTo>
                        <a:pt x="167" y="0"/>
                      </a:lnTo>
                      <a:lnTo>
                        <a:pt x="162" y="1"/>
                      </a:lnTo>
                      <a:lnTo>
                        <a:pt x="155" y="2"/>
                      </a:lnTo>
                      <a:lnTo>
                        <a:pt x="148" y="5"/>
                      </a:lnTo>
                      <a:lnTo>
                        <a:pt x="139" y="8"/>
                      </a:lnTo>
                      <a:lnTo>
                        <a:pt x="130" y="14"/>
                      </a:lnTo>
                      <a:lnTo>
                        <a:pt x="121" y="21"/>
                      </a:lnTo>
                      <a:close/>
                      <a:moveTo>
                        <a:pt x="131" y="32"/>
                      </a:moveTo>
                      <a:lnTo>
                        <a:pt x="139" y="27"/>
                      </a:lnTo>
                      <a:lnTo>
                        <a:pt x="146" y="22"/>
                      </a:lnTo>
                      <a:lnTo>
                        <a:pt x="153" y="20"/>
                      </a:lnTo>
                      <a:lnTo>
                        <a:pt x="159" y="17"/>
                      </a:lnTo>
                      <a:lnTo>
                        <a:pt x="163" y="16"/>
                      </a:lnTo>
                      <a:lnTo>
                        <a:pt x="168" y="16"/>
                      </a:lnTo>
                      <a:lnTo>
                        <a:pt x="170" y="16"/>
                      </a:lnTo>
                      <a:lnTo>
                        <a:pt x="171" y="16"/>
                      </a:lnTo>
                      <a:lnTo>
                        <a:pt x="174" y="16"/>
                      </a:lnTo>
                      <a:lnTo>
                        <a:pt x="179" y="16"/>
                      </a:lnTo>
                      <a:lnTo>
                        <a:pt x="189" y="16"/>
                      </a:lnTo>
                      <a:lnTo>
                        <a:pt x="199" y="16"/>
                      </a:lnTo>
                      <a:lnTo>
                        <a:pt x="209" y="16"/>
                      </a:lnTo>
                      <a:lnTo>
                        <a:pt x="221" y="16"/>
                      </a:lnTo>
                      <a:lnTo>
                        <a:pt x="229" y="16"/>
                      </a:lnTo>
                      <a:lnTo>
                        <a:pt x="236" y="16"/>
                      </a:lnTo>
                      <a:lnTo>
                        <a:pt x="236" y="38"/>
                      </a:lnTo>
                      <a:lnTo>
                        <a:pt x="236" y="75"/>
                      </a:lnTo>
                      <a:lnTo>
                        <a:pt x="236" y="113"/>
                      </a:lnTo>
                      <a:lnTo>
                        <a:pt x="236" y="135"/>
                      </a:lnTo>
                      <a:lnTo>
                        <a:pt x="231" y="135"/>
                      </a:lnTo>
                      <a:lnTo>
                        <a:pt x="224" y="135"/>
                      </a:lnTo>
                      <a:lnTo>
                        <a:pt x="215" y="135"/>
                      </a:lnTo>
                      <a:lnTo>
                        <a:pt x="204" y="135"/>
                      </a:lnTo>
                      <a:lnTo>
                        <a:pt x="190" y="135"/>
                      </a:lnTo>
                      <a:lnTo>
                        <a:pt x="175" y="135"/>
                      </a:lnTo>
                      <a:lnTo>
                        <a:pt x="159" y="135"/>
                      </a:lnTo>
                      <a:lnTo>
                        <a:pt x="143" y="135"/>
                      </a:lnTo>
                      <a:lnTo>
                        <a:pt x="125" y="135"/>
                      </a:lnTo>
                      <a:lnTo>
                        <a:pt x="109" y="135"/>
                      </a:lnTo>
                      <a:lnTo>
                        <a:pt x="93" y="135"/>
                      </a:lnTo>
                      <a:lnTo>
                        <a:pt x="78" y="135"/>
                      </a:lnTo>
                      <a:lnTo>
                        <a:pt x="65" y="135"/>
                      </a:lnTo>
                      <a:lnTo>
                        <a:pt x="53" y="135"/>
                      </a:lnTo>
                      <a:lnTo>
                        <a:pt x="43" y="135"/>
                      </a:lnTo>
                      <a:lnTo>
                        <a:pt x="37" y="135"/>
                      </a:lnTo>
                      <a:lnTo>
                        <a:pt x="46" y="125"/>
                      </a:lnTo>
                      <a:lnTo>
                        <a:pt x="60" y="110"/>
                      </a:lnTo>
                      <a:lnTo>
                        <a:pt x="75" y="93"/>
                      </a:lnTo>
                      <a:lnTo>
                        <a:pt x="91" y="76"/>
                      </a:lnTo>
                      <a:lnTo>
                        <a:pt x="107" y="59"/>
                      </a:lnTo>
                      <a:lnTo>
                        <a:pt x="119" y="45"/>
                      </a:lnTo>
                      <a:lnTo>
                        <a:pt x="128" y="36"/>
                      </a:lnTo>
                      <a:lnTo>
                        <a:pt x="131" y="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16" name="Freeform 203"/>
                <p:cNvSpPr>
                  <a:spLocks noEditPoints="1"/>
                </p:cNvSpPr>
                <p:nvPr/>
              </p:nvSpPr>
              <p:spPr bwMode="auto">
                <a:xfrm>
                  <a:off x="4728" y="1864"/>
                  <a:ext cx="197" cy="68"/>
                </a:xfrm>
                <a:custGeom>
                  <a:avLst/>
                  <a:gdLst>
                    <a:gd name="T0" fmla="*/ 0 w 432"/>
                    <a:gd name="T1" fmla="*/ 0 h 151"/>
                    <a:gd name="T2" fmla="*/ 0 w 432"/>
                    <a:gd name="T3" fmla="*/ 0 h 151"/>
                    <a:gd name="T4" fmla="*/ 0 w 432"/>
                    <a:gd name="T5" fmla="*/ 0 h 151"/>
                    <a:gd name="T6" fmla="*/ 0 w 432"/>
                    <a:gd name="T7" fmla="*/ 0 h 151"/>
                    <a:gd name="T8" fmla="*/ 0 w 432"/>
                    <a:gd name="T9" fmla="*/ 0 h 151"/>
                    <a:gd name="T10" fmla="*/ 0 w 432"/>
                    <a:gd name="T11" fmla="*/ 0 h 151"/>
                    <a:gd name="T12" fmla="*/ 0 w 432"/>
                    <a:gd name="T13" fmla="*/ 0 h 151"/>
                    <a:gd name="T14" fmla="*/ 0 w 432"/>
                    <a:gd name="T15" fmla="*/ 0 h 151"/>
                    <a:gd name="T16" fmla="*/ 0 w 432"/>
                    <a:gd name="T17" fmla="*/ 0 h 151"/>
                    <a:gd name="T18" fmla="*/ 0 w 432"/>
                    <a:gd name="T19" fmla="*/ 0 h 151"/>
                    <a:gd name="T20" fmla="*/ 0 w 432"/>
                    <a:gd name="T21" fmla="*/ 0 h 151"/>
                    <a:gd name="T22" fmla="*/ 0 w 432"/>
                    <a:gd name="T23" fmla="*/ 0 h 151"/>
                    <a:gd name="T24" fmla="*/ 0 w 432"/>
                    <a:gd name="T25" fmla="*/ 0 h 151"/>
                    <a:gd name="T26" fmla="*/ 0 w 432"/>
                    <a:gd name="T27" fmla="*/ 0 h 151"/>
                    <a:gd name="T28" fmla="*/ 0 w 432"/>
                    <a:gd name="T29" fmla="*/ 0 h 151"/>
                    <a:gd name="T30" fmla="*/ 0 w 432"/>
                    <a:gd name="T31" fmla="*/ 0 h 151"/>
                    <a:gd name="T32" fmla="*/ 0 w 432"/>
                    <a:gd name="T33" fmla="*/ 0 h 151"/>
                    <a:gd name="T34" fmla="*/ 0 w 432"/>
                    <a:gd name="T35" fmla="*/ 0 h 151"/>
                    <a:gd name="T36" fmla="*/ 0 w 432"/>
                    <a:gd name="T37" fmla="*/ 0 h 151"/>
                    <a:gd name="T38" fmla="*/ 0 w 432"/>
                    <a:gd name="T39" fmla="*/ 0 h 151"/>
                    <a:gd name="T40" fmla="*/ 0 w 432"/>
                    <a:gd name="T41" fmla="*/ 0 h 151"/>
                    <a:gd name="T42" fmla="*/ 0 w 432"/>
                    <a:gd name="T43" fmla="*/ 0 h 151"/>
                    <a:gd name="T44" fmla="*/ 0 w 432"/>
                    <a:gd name="T45" fmla="*/ 0 h 151"/>
                    <a:gd name="T46" fmla="*/ 0 w 432"/>
                    <a:gd name="T47" fmla="*/ 0 h 151"/>
                    <a:gd name="T48" fmla="*/ 0 w 432"/>
                    <a:gd name="T49" fmla="*/ 0 h 151"/>
                    <a:gd name="T50" fmla="*/ 0 w 432"/>
                    <a:gd name="T51" fmla="*/ 0 h 151"/>
                    <a:gd name="T52" fmla="*/ 0 w 432"/>
                    <a:gd name="T53" fmla="*/ 0 h 151"/>
                    <a:gd name="T54" fmla="*/ 0 w 432"/>
                    <a:gd name="T55" fmla="*/ 0 h 151"/>
                    <a:gd name="T56" fmla="*/ 0 w 432"/>
                    <a:gd name="T57" fmla="*/ 0 h 151"/>
                    <a:gd name="T58" fmla="*/ 0 w 432"/>
                    <a:gd name="T59" fmla="*/ 0 h 151"/>
                    <a:gd name="T60" fmla="*/ 0 w 432"/>
                    <a:gd name="T61" fmla="*/ 0 h 151"/>
                    <a:gd name="T62" fmla="*/ 0 w 432"/>
                    <a:gd name="T63" fmla="*/ 0 h 151"/>
                    <a:gd name="T64" fmla="*/ 0 w 432"/>
                    <a:gd name="T65" fmla="*/ 0 h 151"/>
                    <a:gd name="T66" fmla="*/ 0 w 432"/>
                    <a:gd name="T67" fmla="*/ 0 h 151"/>
                    <a:gd name="T68" fmla="*/ 0 w 432"/>
                    <a:gd name="T69" fmla="*/ 0 h 151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w 432"/>
                    <a:gd name="T106" fmla="*/ 0 h 151"/>
                    <a:gd name="T107" fmla="*/ 432 w 432"/>
                    <a:gd name="T108" fmla="*/ 151 h 151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T105" t="T106" r="T107" b="T108"/>
                  <a:pathLst>
                    <a:path w="432" h="151">
                      <a:moveTo>
                        <a:pt x="400" y="25"/>
                      </a:moveTo>
                      <a:lnTo>
                        <a:pt x="395" y="17"/>
                      </a:lnTo>
                      <a:lnTo>
                        <a:pt x="390" y="10"/>
                      </a:lnTo>
                      <a:lnTo>
                        <a:pt x="385" y="6"/>
                      </a:lnTo>
                      <a:lnTo>
                        <a:pt x="378" y="4"/>
                      </a:lnTo>
                      <a:lnTo>
                        <a:pt x="372" y="1"/>
                      </a:lnTo>
                      <a:lnTo>
                        <a:pt x="367" y="0"/>
                      </a:lnTo>
                      <a:lnTo>
                        <a:pt x="364" y="0"/>
                      </a:lnTo>
                      <a:lnTo>
                        <a:pt x="363" y="0"/>
                      </a:lnTo>
                      <a:lnTo>
                        <a:pt x="8" y="0"/>
                      </a:lnTo>
                      <a:lnTo>
                        <a:pt x="0" y="0"/>
                      </a:lnTo>
                      <a:lnTo>
                        <a:pt x="0" y="151"/>
                      </a:lnTo>
                      <a:lnTo>
                        <a:pt x="432" y="151"/>
                      </a:lnTo>
                      <a:lnTo>
                        <a:pt x="400" y="25"/>
                      </a:lnTo>
                      <a:close/>
                      <a:moveTo>
                        <a:pt x="15" y="135"/>
                      </a:moveTo>
                      <a:lnTo>
                        <a:pt x="15" y="113"/>
                      </a:lnTo>
                      <a:lnTo>
                        <a:pt x="15" y="75"/>
                      </a:lnTo>
                      <a:lnTo>
                        <a:pt x="15" y="38"/>
                      </a:lnTo>
                      <a:lnTo>
                        <a:pt x="15" y="16"/>
                      </a:lnTo>
                      <a:lnTo>
                        <a:pt x="22" y="16"/>
                      </a:lnTo>
                      <a:lnTo>
                        <a:pt x="33" y="16"/>
                      </a:lnTo>
                      <a:lnTo>
                        <a:pt x="52" y="16"/>
                      </a:lnTo>
                      <a:lnTo>
                        <a:pt x="73" y="16"/>
                      </a:lnTo>
                      <a:lnTo>
                        <a:pt x="99" y="16"/>
                      </a:lnTo>
                      <a:lnTo>
                        <a:pt x="126" y="16"/>
                      </a:lnTo>
                      <a:lnTo>
                        <a:pt x="156" y="16"/>
                      </a:lnTo>
                      <a:lnTo>
                        <a:pt x="186" y="16"/>
                      </a:lnTo>
                      <a:lnTo>
                        <a:pt x="206" y="135"/>
                      </a:lnTo>
                      <a:lnTo>
                        <a:pt x="189" y="135"/>
                      </a:lnTo>
                      <a:lnTo>
                        <a:pt x="171" y="135"/>
                      </a:lnTo>
                      <a:lnTo>
                        <a:pt x="155" y="135"/>
                      </a:lnTo>
                      <a:lnTo>
                        <a:pt x="138" y="135"/>
                      </a:lnTo>
                      <a:lnTo>
                        <a:pt x="122" y="135"/>
                      </a:lnTo>
                      <a:lnTo>
                        <a:pt x="107" y="135"/>
                      </a:lnTo>
                      <a:lnTo>
                        <a:pt x="93" y="135"/>
                      </a:lnTo>
                      <a:lnTo>
                        <a:pt x="79" y="135"/>
                      </a:lnTo>
                      <a:lnTo>
                        <a:pt x="67" y="135"/>
                      </a:lnTo>
                      <a:lnTo>
                        <a:pt x="55" y="135"/>
                      </a:lnTo>
                      <a:lnTo>
                        <a:pt x="44" y="135"/>
                      </a:lnTo>
                      <a:lnTo>
                        <a:pt x="35" y="135"/>
                      </a:lnTo>
                      <a:lnTo>
                        <a:pt x="27" y="135"/>
                      </a:lnTo>
                      <a:lnTo>
                        <a:pt x="22" y="135"/>
                      </a:lnTo>
                      <a:lnTo>
                        <a:pt x="17" y="135"/>
                      </a:lnTo>
                      <a:lnTo>
                        <a:pt x="15" y="135"/>
                      </a:lnTo>
                      <a:close/>
                      <a:moveTo>
                        <a:pt x="211" y="16"/>
                      </a:moveTo>
                      <a:lnTo>
                        <a:pt x="239" y="16"/>
                      </a:lnTo>
                      <a:lnTo>
                        <a:pt x="268" y="16"/>
                      </a:lnTo>
                      <a:lnTo>
                        <a:pt x="294" y="16"/>
                      </a:lnTo>
                      <a:lnTo>
                        <a:pt x="315" y="16"/>
                      </a:lnTo>
                      <a:lnTo>
                        <a:pt x="335" y="16"/>
                      </a:lnTo>
                      <a:lnTo>
                        <a:pt x="349" y="16"/>
                      </a:lnTo>
                      <a:lnTo>
                        <a:pt x="358" y="16"/>
                      </a:lnTo>
                      <a:lnTo>
                        <a:pt x="362" y="16"/>
                      </a:lnTo>
                      <a:lnTo>
                        <a:pt x="365" y="16"/>
                      </a:lnTo>
                      <a:lnTo>
                        <a:pt x="372" y="17"/>
                      </a:lnTo>
                      <a:lnTo>
                        <a:pt x="379" y="22"/>
                      </a:lnTo>
                      <a:lnTo>
                        <a:pt x="385" y="30"/>
                      </a:lnTo>
                      <a:lnTo>
                        <a:pt x="388" y="43"/>
                      </a:lnTo>
                      <a:lnTo>
                        <a:pt x="395" y="72"/>
                      </a:lnTo>
                      <a:lnTo>
                        <a:pt x="404" y="107"/>
                      </a:lnTo>
                      <a:lnTo>
                        <a:pt x="411" y="135"/>
                      </a:lnTo>
                      <a:lnTo>
                        <a:pt x="404" y="135"/>
                      </a:lnTo>
                      <a:lnTo>
                        <a:pt x="391" y="135"/>
                      </a:lnTo>
                      <a:lnTo>
                        <a:pt x="374" y="135"/>
                      </a:lnTo>
                      <a:lnTo>
                        <a:pt x="351" y="135"/>
                      </a:lnTo>
                      <a:lnTo>
                        <a:pt x="325" y="135"/>
                      </a:lnTo>
                      <a:lnTo>
                        <a:pt x="295" y="135"/>
                      </a:lnTo>
                      <a:lnTo>
                        <a:pt x="264" y="135"/>
                      </a:lnTo>
                      <a:lnTo>
                        <a:pt x="230" y="135"/>
                      </a:lnTo>
                      <a:lnTo>
                        <a:pt x="211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17" name="Freeform 204"/>
                <p:cNvSpPr>
                  <a:spLocks/>
                </p:cNvSpPr>
                <p:nvPr/>
              </p:nvSpPr>
              <p:spPr bwMode="auto">
                <a:xfrm>
                  <a:off x="4835" y="2039"/>
                  <a:ext cx="42" cy="38"/>
                </a:xfrm>
                <a:custGeom>
                  <a:avLst/>
                  <a:gdLst>
                    <a:gd name="T0" fmla="*/ 0 w 91"/>
                    <a:gd name="T1" fmla="*/ 0 h 84"/>
                    <a:gd name="T2" fmla="*/ 0 w 91"/>
                    <a:gd name="T3" fmla="*/ 0 h 84"/>
                    <a:gd name="T4" fmla="*/ 0 w 91"/>
                    <a:gd name="T5" fmla="*/ 0 h 84"/>
                    <a:gd name="T6" fmla="*/ 0 w 91"/>
                    <a:gd name="T7" fmla="*/ 0 h 84"/>
                    <a:gd name="T8" fmla="*/ 0 w 91"/>
                    <a:gd name="T9" fmla="*/ 0 h 84"/>
                    <a:gd name="T10" fmla="*/ 0 w 91"/>
                    <a:gd name="T11" fmla="*/ 0 h 84"/>
                    <a:gd name="T12" fmla="*/ 0 w 91"/>
                    <a:gd name="T13" fmla="*/ 0 h 84"/>
                    <a:gd name="T14" fmla="*/ 0 w 91"/>
                    <a:gd name="T15" fmla="*/ 0 h 84"/>
                    <a:gd name="T16" fmla="*/ 0 w 91"/>
                    <a:gd name="T17" fmla="*/ 0 h 84"/>
                    <a:gd name="T18" fmla="*/ 0 w 91"/>
                    <a:gd name="T19" fmla="*/ 0 h 84"/>
                    <a:gd name="T20" fmla="*/ 0 w 91"/>
                    <a:gd name="T21" fmla="*/ 0 h 84"/>
                    <a:gd name="T22" fmla="*/ 0 w 91"/>
                    <a:gd name="T23" fmla="*/ 0 h 84"/>
                    <a:gd name="T24" fmla="*/ 0 w 91"/>
                    <a:gd name="T25" fmla="*/ 0 h 84"/>
                    <a:gd name="T26" fmla="*/ 0 w 91"/>
                    <a:gd name="T27" fmla="*/ 0 h 84"/>
                    <a:gd name="T28" fmla="*/ 0 w 91"/>
                    <a:gd name="T29" fmla="*/ 0 h 84"/>
                    <a:gd name="T30" fmla="*/ 0 w 91"/>
                    <a:gd name="T31" fmla="*/ 0 h 84"/>
                    <a:gd name="T32" fmla="*/ 0 w 91"/>
                    <a:gd name="T33" fmla="*/ 0 h 84"/>
                    <a:gd name="T34" fmla="*/ 0 w 91"/>
                    <a:gd name="T35" fmla="*/ 0 h 84"/>
                    <a:gd name="T36" fmla="*/ 0 w 91"/>
                    <a:gd name="T37" fmla="*/ 0 h 84"/>
                    <a:gd name="T38" fmla="*/ 0 w 91"/>
                    <a:gd name="T39" fmla="*/ 0 h 84"/>
                    <a:gd name="T40" fmla="*/ 0 w 91"/>
                    <a:gd name="T41" fmla="*/ 0 h 84"/>
                    <a:gd name="T42" fmla="*/ 0 w 91"/>
                    <a:gd name="T43" fmla="*/ 0 h 84"/>
                    <a:gd name="T44" fmla="*/ 0 w 91"/>
                    <a:gd name="T45" fmla="*/ 0 h 84"/>
                    <a:gd name="T46" fmla="*/ 0 w 91"/>
                    <a:gd name="T47" fmla="*/ 0 h 84"/>
                    <a:gd name="T48" fmla="*/ 0 w 91"/>
                    <a:gd name="T49" fmla="*/ 0 h 84"/>
                    <a:gd name="T50" fmla="*/ 0 w 91"/>
                    <a:gd name="T51" fmla="*/ 0 h 84"/>
                    <a:gd name="T52" fmla="*/ 0 w 91"/>
                    <a:gd name="T53" fmla="*/ 0 h 84"/>
                    <a:gd name="T54" fmla="*/ 0 w 91"/>
                    <a:gd name="T55" fmla="*/ 0 h 84"/>
                    <a:gd name="T56" fmla="*/ 0 w 91"/>
                    <a:gd name="T57" fmla="*/ 0 h 84"/>
                    <a:gd name="T58" fmla="*/ 0 w 91"/>
                    <a:gd name="T59" fmla="*/ 0 h 84"/>
                    <a:gd name="T60" fmla="*/ 0 w 91"/>
                    <a:gd name="T61" fmla="*/ 0 h 84"/>
                    <a:gd name="T62" fmla="*/ 0 w 91"/>
                    <a:gd name="T63" fmla="*/ 0 h 84"/>
                    <a:gd name="T64" fmla="*/ 0 w 91"/>
                    <a:gd name="T65" fmla="*/ 0 h 84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91"/>
                    <a:gd name="T100" fmla="*/ 0 h 84"/>
                    <a:gd name="T101" fmla="*/ 91 w 91"/>
                    <a:gd name="T102" fmla="*/ 84 h 84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91" h="84">
                      <a:moveTo>
                        <a:pt x="81" y="5"/>
                      </a:moveTo>
                      <a:lnTo>
                        <a:pt x="80" y="3"/>
                      </a:lnTo>
                      <a:lnTo>
                        <a:pt x="79" y="2"/>
                      </a:lnTo>
                      <a:lnTo>
                        <a:pt x="78" y="1"/>
                      </a:lnTo>
                      <a:lnTo>
                        <a:pt x="77" y="0"/>
                      </a:lnTo>
                      <a:lnTo>
                        <a:pt x="83" y="16"/>
                      </a:lnTo>
                      <a:lnTo>
                        <a:pt x="84" y="33"/>
                      </a:lnTo>
                      <a:lnTo>
                        <a:pt x="77" y="51"/>
                      </a:lnTo>
                      <a:lnTo>
                        <a:pt x="65" y="64"/>
                      </a:lnTo>
                      <a:lnTo>
                        <a:pt x="57" y="69"/>
                      </a:lnTo>
                      <a:lnTo>
                        <a:pt x="49" y="72"/>
                      </a:lnTo>
                      <a:lnTo>
                        <a:pt x="40" y="74"/>
                      </a:lnTo>
                      <a:lnTo>
                        <a:pt x="32" y="74"/>
                      </a:lnTo>
                      <a:lnTo>
                        <a:pt x="23" y="72"/>
                      </a:lnTo>
                      <a:lnTo>
                        <a:pt x="15" y="70"/>
                      </a:lnTo>
                      <a:lnTo>
                        <a:pt x="7" y="66"/>
                      </a:lnTo>
                      <a:lnTo>
                        <a:pt x="0" y="60"/>
                      </a:lnTo>
                      <a:lnTo>
                        <a:pt x="1" y="61"/>
                      </a:lnTo>
                      <a:lnTo>
                        <a:pt x="2" y="62"/>
                      </a:lnTo>
                      <a:lnTo>
                        <a:pt x="2" y="64"/>
                      </a:lnTo>
                      <a:lnTo>
                        <a:pt x="3" y="66"/>
                      </a:lnTo>
                      <a:lnTo>
                        <a:pt x="10" y="72"/>
                      </a:lnTo>
                      <a:lnTo>
                        <a:pt x="18" y="78"/>
                      </a:lnTo>
                      <a:lnTo>
                        <a:pt x="27" y="82"/>
                      </a:lnTo>
                      <a:lnTo>
                        <a:pt x="37" y="84"/>
                      </a:lnTo>
                      <a:lnTo>
                        <a:pt x="46" y="84"/>
                      </a:lnTo>
                      <a:lnTo>
                        <a:pt x="55" y="83"/>
                      </a:lnTo>
                      <a:lnTo>
                        <a:pt x="64" y="79"/>
                      </a:lnTo>
                      <a:lnTo>
                        <a:pt x="72" y="74"/>
                      </a:lnTo>
                      <a:lnTo>
                        <a:pt x="85" y="59"/>
                      </a:lnTo>
                      <a:lnTo>
                        <a:pt x="91" y="41"/>
                      </a:lnTo>
                      <a:lnTo>
                        <a:pt x="90" y="22"/>
                      </a:lnTo>
                      <a:lnTo>
                        <a:pt x="81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18" name="Freeform 205"/>
                <p:cNvSpPr>
                  <a:spLocks/>
                </p:cNvSpPr>
                <p:nvPr/>
              </p:nvSpPr>
              <p:spPr bwMode="auto">
                <a:xfrm>
                  <a:off x="4490" y="2066"/>
                  <a:ext cx="3" cy="2"/>
                </a:xfrm>
                <a:custGeom>
                  <a:avLst/>
                  <a:gdLst>
                    <a:gd name="T0" fmla="*/ 0 w 9"/>
                    <a:gd name="T1" fmla="*/ 1 h 4"/>
                    <a:gd name="T2" fmla="*/ 0 w 9"/>
                    <a:gd name="T3" fmla="*/ 1 h 4"/>
                    <a:gd name="T4" fmla="*/ 0 w 9"/>
                    <a:gd name="T5" fmla="*/ 1 h 4"/>
                    <a:gd name="T6" fmla="*/ 0 w 9"/>
                    <a:gd name="T7" fmla="*/ 1 h 4"/>
                    <a:gd name="T8" fmla="*/ 0 w 9"/>
                    <a:gd name="T9" fmla="*/ 1 h 4"/>
                    <a:gd name="T10" fmla="*/ 0 w 9"/>
                    <a:gd name="T11" fmla="*/ 0 h 4"/>
                    <a:gd name="T12" fmla="*/ 0 w 9"/>
                    <a:gd name="T13" fmla="*/ 1 h 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"/>
                    <a:gd name="T22" fmla="*/ 0 h 4"/>
                    <a:gd name="T23" fmla="*/ 9 w 9"/>
                    <a:gd name="T24" fmla="*/ 4 h 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" h="4">
                      <a:moveTo>
                        <a:pt x="0" y="4"/>
                      </a:moveTo>
                      <a:lnTo>
                        <a:pt x="9" y="4"/>
                      </a:lnTo>
                      <a:lnTo>
                        <a:pt x="6" y="3"/>
                      </a:lnTo>
                      <a:lnTo>
                        <a:pt x="5" y="2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19" name="Freeform 206"/>
                <p:cNvSpPr>
                  <a:spLocks/>
                </p:cNvSpPr>
                <p:nvPr/>
              </p:nvSpPr>
              <p:spPr bwMode="auto">
                <a:xfrm>
                  <a:off x="4956" y="2068"/>
                  <a:ext cx="2" cy="1"/>
                </a:xfrm>
                <a:custGeom>
                  <a:avLst/>
                  <a:gdLst>
                    <a:gd name="T0" fmla="*/ 2 w 2"/>
                    <a:gd name="T1" fmla="*/ 1 h 1"/>
                    <a:gd name="T2" fmla="*/ 2 w 2"/>
                    <a:gd name="T3" fmla="*/ 0 h 1"/>
                    <a:gd name="T4" fmla="*/ 1 w 2"/>
                    <a:gd name="T5" fmla="*/ 0 h 1"/>
                    <a:gd name="T6" fmla="*/ 1 w 2"/>
                    <a:gd name="T7" fmla="*/ 0 h 1"/>
                    <a:gd name="T8" fmla="*/ 1 w 2"/>
                    <a:gd name="T9" fmla="*/ 0 h 1"/>
                    <a:gd name="T10" fmla="*/ 0 w 2"/>
                    <a:gd name="T11" fmla="*/ 1 h 1"/>
                    <a:gd name="T12" fmla="*/ 2 w 2"/>
                    <a:gd name="T13" fmla="*/ 1 h 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"/>
                    <a:gd name="T22" fmla="*/ 0 h 1"/>
                    <a:gd name="T23" fmla="*/ 2 w 2"/>
                    <a:gd name="T24" fmla="*/ 1 h 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" h="1">
                      <a:moveTo>
                        <a:pt x="2" y="1"/>
                      </a:move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20" name="Freeform 207"/>
                <p:cNvSpPr>
                  <a:spLocks/>
                </p:cNvSpPr>
                <p:nvPr/>
              </p:nvSpPr>
              <p:spPr bwMode="auto">
                <a:xfrm>
                  <a:off x="4493" y="2046"/>
                  <a:ext cx="36" cy="16"/>
                </a:xfrm>
                <a:custGeom>
                  <a:avLst/>
                  <a:gdLst>
                    <a:gd name="T0" fmla="*/ 0 w 78"/>
                    <a:gd name="T1" fmla="*/ 0 h 33"/>
                    <a:gd name="T2" fmla="*/ 0 w 78"/>
                    <a:gd name="T3" fmla="*/ 0 h 33"/>
                    <a:gd name="T4" fmla="*/ 0 w 78"/>
                    <a:gd name="T5" fmla="*/ 0 h 33"/>
                    <a:gd name="T6" fmla="*/ 0 w 78"/>
                    <a:gd name="T7" fmla="*/ 0 h 33"/>
                    <a:gd name="T8" fmla="*/ 0 w 78"/>
                    <a:gd name="T9" fmla="*/ 0 h 33"/>
                    <a:gd name="T10" fmla="*/ 0 w 78"/>
                    <a:gd name="T11" fmla="*/ 0 h 33"/>
                    <a:gd name="T12" fmla="*/ 0 w 78"/>
                    <a:gd name="T13" fmla="*/ 0 h 33"/>
                    <a:gd name="T14" fmla="*/ 0 w 78"/>
                    <a:gd name="T15" fmla="*/ 0 h 33"/>
                    <a:gd name="T16" fmla="*/ 0 w 78"/>
                    <a:gd name="T17" fmla="*/ 0 h 33"/>
                    <a:gd name="T18" fmla="*/ 0 w 78"/>
                    <a:gd name="T19" fmla="*/ 0 h 33"/>
                    <a:gd name="T20" fmla="*/ 0 w 78"/>
                    <a:gd name="T21" fmla="*/ 0 h 33"/>
                    <a:gd name="T22" fmla="*/ 0 w 78"/>
                    <a:gd name="T23" fmla="*/ 0 h 33"/>
                    <a:gd name="T24" fmla="*/ 0 w 78"/>
                    <a:gd name="T25" fmla="*/ 0 h 33"/>
                    <a:gd name="T26" fmla="*/ 0 w 78"/>
                    <a:gd name="T27" fmla="*/ 0 h 33"/>
                    <a:gd name="T28" fmla="*/ 0 w 78"/>
                    <a:gd name="T29" fmla="*/ 0 h 33"/>
                    <a:gd name="T30" fmla="*/ 0 w 78"/>
                    <a:gd name="T31" fmla="*/ 0 h 33"/>
                    <a:gd name="T32" fmla="*/ 0 w 78"/>
                    <a:gd name="T33" fmla="*/ 0 h 33"/>
                    <a:gd name="T34" fmla="*/ 0 w 78"/>
                    <a:gd name="T35" fmla="*/ 0 h 33"/>
                    <a:gd name="T36" fmla="*/ 0 w 78"/>
                    <a:gd name="T37" fmla="*/ 0 h 33"/>
                    <a:gd name="T38" fmla="*/ 0 w 78"/>
                    <a:gd name="T39" fmla="*/ 0 h 33"/>
                    <a:gd name="T40" fmla="*/ 0 w 78"/>
                    <a:gd name="T41" fmla="*/ 0 h 33"/>
                    <a:gd name="T42" fmla="*/ 0 w 78"/>
                    <a:gd name="T43" fmla="*/ 0 h 33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78"/>
                    <a:gd name="T67" fmla="*/ 0 h 33"/>
                    <a:gd name="T68" fmla="*/ 78 w 78"/>
                    <a:gd name="T69" fmla="*/ 33 h 33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78" h="33">
                      <a:moveTo>
                        <a:pt x="20" y="22"/>
                      </a:moveTo>
                      <a:lnTo>
                        <a:pt x="23" y="23"/>
                      </a:lnTo>
                      <a:lnTo>
                        <a:pt x="26" y="23"/>
                      </a:lnTo>
                      <a:lnTo>
                        <a:pt x="33" y="25"/>
                      </a:lnTo>
                      <a:lnTo>
                        <a:pt x="41" y="26"/>
                      </a:lnTo>
                      <a:lnTo>
                        <a:pt x="49" y="28"/>
                      </a:lnTo>
                      <a:lnTo>
                        <a:pt x="58" y="30"/>
                      </a:lnTo>
                      <a:lnTo>
                        <a:pt x="68" y="31"/>
                      </a:lnTo>
                      <a:lnTo>
                        <a:pt x="76" y="33"/>
                      </a:lnTo>
                      <a:lnTo>
                        <a:pt x="76" y="30"/>
                      </a:lnTo>
                      <a:lnTo>
                        <a:pt x="76" y="26"/>
                      </a:lnTo>
                      <a:lnTo>
                        <a:pt x="76" y="24"/>
                      </a:lnTo>
                      <a:lnTo>
                        <a:pt x="76" y="21"/>
                      </a:lnTo>
                      <a:lnTo>
                        <a:pt x="76" y="15"/>
                      </a:lnTo>
                      <a:lnTo>
                        <a:pt x="77" y="10"/>
                      </a:lnTo>
                      <a:lnTo>
                        <a:pt x="77" y="5"/>
                      </a:lnTo>
                      <a:lnTo>
                        <a:pt x="78" y="0"/>
                      </a:lnTo>
                      <a:lnTo>
                        <a:pt x="0" y="0"/>
                      </a:lnTo>
                      <a:lnTo>
                        <a:pt x="3" y="10"/>
                      </a:lnTo>
                      <a:lnTo>
                        <a:pt x="10" y="17"/>
                      </a:lnTo>
                      <a:lnTo>
                        <a:pt x="17" y="21"/>
                      </a:lnTo>
                      <a:lnTo>
                        <a:pt x="20" y="2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21" name="Freeform 208"/>
                <p:cNvSpPr>
                  <a:spLocks/>
                </p:cNvSpPr>
                <p:nvPr/>
              </p:nvSpPr>
              <p:spPr bwMode="auto">
                <a:xfrm>
                  <a:off x="4640" y="2046"/>
                  <a:ext cx="160" cy="20"/>
                </a:xfrm>
                <a:custGeom>
                  <a:avLst/>
                  <a:gdLst>
                    <a:gd name="T0" fmla="*/ 0 w 349"/>
                    <a:gd name="T1" fmla="*/ 0 h 41"/>
                    <a:gd name="T2" fmla="*/ 0 w 349"/>
                    <a:gd name="T3" fmla="*/ 0 h 41"/>
                    <a:gd name="T4" fmla="*/ 0 w 349"/>
                    <a:gd name="T5" fmla="*/ 0 h 41"/>
                    <a:gd name="T6" fmla="*/ 0 w 349"/>
                    <a:gd name="T7" fmla="*/ 0 h 41"/>
                    <a:gd name="T8" fmla="*/ 0 w 349"/>
                    <a:gd name="T9" fmla="*/ 0 h 41"/>
                    <a:gd name="T10" fmla="*/ 0 w 349"/>
                    <a:gd name="T11" fmla="*/ 0 h 41"/>
                    <a:gd name="T12" fmla="*/ 0 w 349"/>
                    <a:gd name="T13" fmla="*/ 0 h 41"/>
                    <a:gd name="T14" fmla="*/ 0 w 349"/>
                    <a:gd name="T15" fmla="*/ 0 h 41"/>
                    <a:gd name="T16" fmla="*/ 0 w 349"/>
                    <a:gd name="T17" fmla="*/ 0 h 41"/>
                    <a:gd name="T18" fmla="*/ 0 w 349"/>
                    <a:gd name="T19" fmla="*/ 0 h 41"/>
                    <a:gd name="T20" fmla="*/ 0 w 349"/>
                    <a:gd name="T21" fmla="*/ 0 h 41"/>
                    <a:gd name="T22" fmla="*/ 0 w 349"/>
                    <a:gd name="T23" fmla="*/ 0 h 41"/>
                    <a:gd name="T24" fmla="*/ 0 w 349"/>
                    <a:gd name="T25" fmla="*/ 0 h 41"/>
                    <a:gd name="T26" fmla="*/ 0 w 349"/>
                    <a:gd name="T27" fmla="*/ 0 h 41"/>
                    <a:gd name="T28" fmla="*/ 0 w 349"/>
                    <a:gd name="T29" fmla="*/ 0 h 41"/>
                    <a:gd name="T30" fmla="*/ 0 w 349"/>
                    <a:gd name="T31" fmla="*/ 0 h 41"/>
                    <a:gd name="T32" fmla="*/ 0 w 349"/>
                    <a:gd name="T33" fmla="*/ 0 h 41"/>
                    <a:gd name="T34" fmla="*/ 0 w 349"/>
                    <a:gd name="T35" fmla="*/ 0 h 41"/>
                    <a:gd name="T36" fmla="*/ 0 w 349"/>
                    <a:gd name="T37" fmla="*/ 0 h 4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349"/>
                    <a:gd name="T58" fmla="*/ 0 h 41"/>
                    <a:gd name="T59" fmla="*/ 349 w 349"/>
                    <a:gd name="T60" fmla="*/ 41 h 41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349" h="41">
                      <a:moveTo>
                        <a:pt x="1" y="41"/>
                      </a:moveTo>
                      <a:lnTo>
                        <a:pt x="348" y="41"/>
                      </a:lnTo>
                      <a:lnTo>
                        <a:pt x="347" y="36"/>
                      </a:lnTo>
                      <a:lnTo>
                        <a:pt x="347" y="31"/>
                      </a:lnTo>
                      <a:lnTo>
                        <a:pt x="347" y="25"/>
                      </a:lnTo>
                      <a:lnTo>
                        <a:pt x="347" y="21"/>
                      </a:lnTo>
                      <a:lnTo>
                        <a:pt x="347" y="15"/>
                      </a:lnTo>
                      <a:lnTo>
                        <a:pt x="348" y="10"/>
                      </a:lnTo>
                      <a:lnTo>
                        <a:pt x="348" y="5"/>
                      </a:lnTo>
                      <a:lnTo>
                        <a:pt x="349" y="0"/>
                      </a:lnTo>
                      <a:lnTo>
                        <a:pt x="0" y="0"/>
                      </a:lnTo>
                      <a:lnTo>
                        <a:pt x="1" y="5"/>
                      </a:lnTo>
                      <a:lnTo>
                        <a:pt x="1" y="10"/>
                      </a:lnTo>
                      <a:lnTo>
                        <a:pt x="2" y="15"/>
                      </a:lnTo>
                      <a:lnTo>
                        <a:pt x="2" y="21"/>
                      </a:lnTo>
                      <a:lnTo>
                        <a:pt x="2" y="25"/>
                      </a:lnTo>
                      <a:lnTo>
                        <a:pt x="2" y="31"/>
                      </a:lnTo>
                      <a:lnTo>
                        <a:pt x="2" y="36"/>
                      </a:lnTo>
                      <a:lnTo>
                        <a:pt x="1" y="4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22" name="Freeform 209"/>
                <p:cNvSpPr>
                  <a:spLocks/>
                </p:cNvSpPr>
                <p:nvPr/>
              </p:nvSpPr>
              <p:spPr bwMode="auto">
                <a:xfrm>
                  <a:off x="4910" y="2046"/>
                  <a:ext cx="45" cy="14"/>
                </a:xfrm>
                <a:custGeom>
                  <a:avLst/>
                  <a:gdLst>
                    <a:gd name="T0" fmla="*/ 0 w 98"/>
                    <a:gd name="T1" fmla="*/ 0 h 31"/>
                    <a:gd name="T2" fmla="*/ 0 w 98"/>
                    <a:gd name="T3" fmla="*/ 0 h 31"/>
                    <a:gd name="T4" fmla="*/ 0 w 98"/>
                    <a:gd name="T5" fmla="*/ 0 h 31"/>
                    <a:gd name="T6" fmla="*/ 0 w 98"/>
                    <a:gd name="T7" fmla="*/ 0 h 31"/>
                    <a:gd name="T8" fmla="*/ 0 w 98"/>
                    <a:gd name="T9" fmla="*/ 0 h 31"/>
                    <a:gd name="T10" fmla="*/ 0 w 98"/>
                    <a:gd name="T11" fmla="*/ 0 h 31"/>
                    <a:gd name="T12" fmla="*/ 0 w 98"/>
                    <a:gd name="T13" fmla="*/ 0 h 31"/>
                    <a:gd name="T14" fmla="*/ 0 w 98"/>
                    <a:gd name="T15" fmla="*/ 0 h 31"/>
                    <a:gd name="T16" fmla="*/ 0 w 98"/>
                    <a:gd name="T17" fmla="*/ 0 h 31"/>
                    <a:gd name="T18" fmla="*/ 0 w 98"/>
                    <a:gd name="T19" fmla="*/ 0 h 31"/>
                    <a:gd name="T20" fmla="*/ 0 w 98"/>
                    <a:gd name="T21" fmla="*/ 0 h 31"/>
                    <a:gd name="T22" fmla="*/ 0 w 98"/>
                    <a:gd name="T23" fmla="*/ 0 h 31"/>
                    <a:gd name="T24" fmla="*/ 0 w 98"/>
                    <a:gd name="T25" fmla="*/ 0 h 31"/>
                    <a:gd name="T26" fmla="*/ 0 w 98"/>
                    <a:gd name="T27" fmla="*/ 0 h 31"/>
                    <a:gd name="T28" fmla="*/ 0 w 98"/>
                    <a:gd name="T29" fmla="*/ 0 h 31"/>
                    <a:gd name="T30" fmla="*/ 0 w 98"/>
                    <a:gd name="T31" fmla="*/ 0 h 31"/>
                    <a:gd name="T32" fmla="*/ 0 w 98"/>
                    <a:gd name="T33" fmla="*/ 0 h 31"/>
                    <a:gd name="T34" fmla="*/ 0 w 98"/>
                    <a:gd name="T35" fmla="*/ 0 h 31"/>
                    <a:gd name="T36" fmla="*/ 0 w 98"/>
                    <a:gd name="T37" fmla="*/ 0 h 31"/>
                    <a:gd name="T38" fmla="*/ 0 w 98"/>
                    <a:gd name="T39" fmla="*/ 0 h 31"/>
                    <a:gd name="T40" fmla="*/ 0 w 98"/>
                    <a:gd name="T41" fmla="*/ 0 h 31"/>
                    <a:gd name="T42" fmla="*/ 0 w 98"/>
                    <a:gd name="T43" fmla="*/ 0 h 31"/>
                    <a:gd name="T44" fmla="*/ 0 w 98"/>
                    <a:gd name="T45" fmla="*/ 0 h 31"/>
                    <a:gd name="T46" fmla="*/ 0 w 98"/>
                    <a:gd name="T47" fmla="*/ 0 h 31"/>
                    <a:gd name="T48" fmla="*/ 0 w 98"/>
                    <a:gd name="T49" fmla="*/ 0 h 31"/>
                    <a:gd name="T50" fmla="*/ 0 w 98"/>
                    <a:gd name="T51" fmla="*/ 0 h 31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98"/>
                    <a:gd name="T79" fmla="*/ 0 h 31"/>
                    <a:gd name="T80" fmla="*/ 98 w 98"/>
                    <a:gd name="T81" fmla="*/ 31 h 31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98" h="31">
                      <a:moveTo>
                        <a:pt x="3" y="31"/>
                      </a:moveTo>
                      <a:lnTo>
                        <a:pt x="15" y="29"/>
                      </a:lnTo>
                      <a:lnTo>
                        <a:pt x="29" y="28"/>
                      </a:lnTo>
                      <a:lnTo>
                        <a:pt x="44" y="25"/>
                      </a:lnTo>
                      <a:lnTo>
                        <a:pt x="58" y="23"/>
                      </a:lnTo>
                      <a:lnTo>
                        <a:pt x="71" y="21"/>
                      </a:lnTo>
                      <a:lnTo>
                        <a:pt x="81" y="19"/>
                      </a:lnTo>
                      <a:lnTo>
                        <a:pt x="88" y="18"/>
                      </a:lnTo>
                      <a:lnTo>
                        <a:pt x="90" y="18"/>
                      </a:lnTo>
                      <a:lnTo>
                        <a:pt x="92" y="17"/>
                      </a:lnTo>
                      <a:lnTo>
                        <a:pt x="96" y="15"/>
                      </a:lnTo>
                      <a:lnTo>
                        <a:pt x="97" y="11"/>
                      </a:lnTo>
                      <a:lnTo>
                        <a:pt x="98" y="6"/>
                      </a:lnTo>
                      <a:lnTo>
                        <a:pt x="98" y="5"/>
                      </a:lnTo>
                      <a:lnTo>
                        <a:pt x="98" y="2"/>
                      </a:lnTo>
                      <a:lnTo>
                        <a:pt x="98" y="0"/>
                      </a:lnTo>
                      <a:lnTo>
                        <a:pt x="0" y="0"/>
                      </a:lnTo>
                      <a:lnTo>
                        <a:pt x="1" y="5"/>
                      </a:lnTo>
                      <a:lnTo>
                        <a:pt x="1" y="10"/>
                      </a:lnTo>
                      <a:lnTo>
                        <a:pt x="3" y="15"/>
                      </a:lnTo>
                      <a:lnTo>
                        <a:pt x="3" y="21"/>
                      </a:lnTo>
                      <a:lnTo>
                        <a:pt x="3" y="23"/>
                      </a:lnTo>
                      <a:lnTo>
                        <a:pt x="3" y="25"/>
                      </a:lnTo>
                      <a:lnTo>
                        <a:pt x="3" y="29"/>
                      </a:lnTo>
                      <a:lnTo>
                        <a:pt x="3" y="3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23" name="Freeform 210"/>
                <p:cNvSpPr>
                  <a:spLocks/>
                </p:cNvSpPr>
                <p:nvPr/>
              </p:nvSpPr>
              <p:spPr bwMode="auto">
                <a:xfrm>
                  <a:off x="4807" y="1871"/>
                  <a:ext cx="15" cy="54"/>
                </a:xfrm>
                <a:custGeom>
                  <a:avLst/>
                  <a:gdLst>
                    <a:gd name="T0" fmla="*/ 0 w 36"/>
                    <a:gd name="T1" fmla="*/ 0 h 119"/>
                    <a:gd name="T2" fmla="*/ 0 w 36"/>
                    <a:gd name="T3" fmla="*/ 0 h 119"/>
                    <a:gd name="T4" fmla="*/ 0 w 36"/>
                    <a:gd name="T5" fmla="*/ 0 h 119"/>
                    <a:gd name="T6" fmla="*/ 0 w 36"/>
                    <a:gd name="T7" fmla="*/ 0 h 119"/>
                    <a:gd name="T8" fmla="*/ 0 w 36"/>
                    <a:gd name="T9" fmla="*/ 0 h 119"/>
                    <a:gd name="T10" fmla="*/ 0 w 36"/>
                    <a:gd name="T11" fmla="*/ 0 h 119"/>
                    <a:gd name="T12" fmla="*/ 0 w 36"/>
                    <a:gd name="T13" fmla="*/ 0 h 119"/>
                    <a:gd name="T14" fmla="*/ 0 w 36"/>
                    <a:gd name="T15" fmla="*/ 0 h 119"/>
                    <a:gd name="T16" fmla="*/ 0 w 36"/>
                    <a:gd name="T17" fmla="*/ 0 h 119"/>
                    <a:gd name="T18" fmla="*/ 0 w 36"/>
                    <a:gd name="T19" fmla="*/ 0 h 119"/>
                    <a:gd name="T20" fmla="*/ 0 w 36"/>
                    <a:gd name="T21" fmla="*/ 0 h 11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6"/>
                    <a:gd name="T34" fmla="*/ 0 h 119"/>
                    <a:gd name="T35" fmla="*/ 36 w 36"/>
                    <a:gd name="T36" fmla="*/ 119 h 11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6" h="119">
                      <a:moveTo>
                        <a:pt x="16" y="0"/>
                      </a:moveTo>
                      <a:lnTo>
                        <a:pt x="12" y="0"/>
                      </a:lnTo>
                      <a:lnTo>
                        <a:pt x="8" y="0"/>
                      </a:lnTo>
                      <a:lnTo>
                        <a:pt x="5" y="0"/>
                      </a:lnTo>
                      <a:lnTo>
                        <a:pt x="0" y="0"/>
                      </a:lnTo>
                      <a:lnTo>
                        <a:pt x="22" y="119"/>
                      </a:lnTo>
                      <a:lnTo>
                        <a:pt x="26" y="119"/>
                      </a:lnTo>
                      <a:lnTo>
                        <a:pt x="29" y="119"/>
                      </a:lnTo>
                      <a:lnTo>
                        <a:pt x="33" y="119"/>
                      </a:lnTo>
                      <a:lnTo>
                        <a:pt x="36" y="119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BFDD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24" name="Freeform 211"/>
                <p:cNvSpPr>
                  <a:spLocks/>
                </p:cNvSpPr>
                <p:nvPr/>
              </p:nvSpPr>
              <p:spPr bwMode="auto">
                <a:xfrm>
                  <a:off x="4736" y="1871"/>
                  <a:ext cx="60" cy="54"/>
                </a:xfrm>
                <a:custGeom>
                  <a:avLst/>
                  <a:gdLst>
                    <a:gd name="T0" fmla="*/ 0 w 132"/>
                    <a:gd name="T1" fmla="*/ 0 h 119"/>
                    <a:gd name="T2" fmla="*/ 0 w 132"/>
                    <a:gd name="T3" fmla="*/ 0 h 119"/>
                    <a:gd name="T4" fmla="*/ 0 w 132"/>
                    <a:gd name="T5" fmla="*/ 0 h 119"/>
                    <a:gd name="T6" fmla="*/ 0 w 132"/>
                    <a:gd name="T7" fmla="*/ 0 h 119"/>
                    <a:gd name="T8" fmla="*/ 0 w 132"/>
                    <a:gd name="T9" fmla="*/ 0 h 119"/>
                    <a:gd name="T10" fmla="*/ 0 w 132"/>
                    <a:gd name="T11" fmla="*/ 0 h 119"/>
                    <a:gd name="T12" fmla="*/ 0 w 132"/>
                    <a:gd name="T13" fmla="*/ 0 h 119"/>
                    <a:gd name="T14" fmla="*/ 0 w 132"/>
                    <a:gd name="T15" fmla="*/ 0 h 119"/>
                    <a:gd name="T16" fmla="*/ 0 w 132"/>
                    <a:gd name="T17" fmla="*/ 0 h 119"/>
                    <a:gd name="T18" fmla="*/ 0 w 132"/>
                    <a:gd name="T19" fmla="*/ 0 h 119"/>
                    <a:gd name="T20" fmla="*/ 0 w 132"/>
                    <a:gd name="T21" fmla="*/ 0 h 119"/>
                    <a:gd name="T22" fmla="*/ 0 w 132"/>
                    <a:gd name="T23" fmla="*/ 0 h 119"/>
                    <a:gd name="T24" fmla="*/ 0 w 132"/>
                    <a:gd name="T25" fmla="*/ 0 h 119"/>
                    <a:gd name="T26" fmla="*/ 0 w 132"/>
                    <a:gd name="T27" fmla="*/ 0 h 119"/>
                    <a:gd name="T28" fmla="*/ 0 w 132"/>
                    <a:gd name="T29" fmla="*/ 0 h 119"/>
                    <a:gd name="T30" fmla="*/ 0 w 132"/>
                    <a:gd name="T31" fmla="*/ 0 h 119"/>
                    <a:gd name="T32" fmla="*/ 0 w 132"/>
                    <a:gd name="T33" fmla="*/ 0 h 119"/>
                    <a:gd name="T34" fmla="*/ 0 w 132"/>
                    <a:gd name="T35" fmla="*/ 0 h 119"/>
                    <a:gd name="T36" fmla="*/ 0 w 132"/>
                    <a:gd name="T37" fmla="*/ 0 h 119"/>
                    <a:gd name="T38" fmla="*/ 0 w 132"/>
                    <a:gd name="T39" fmla="*/ 0 h 119"/>
                    <a:gd name="T40" fmla="*/ 0 w 132"/>
                    <a:gd name="T41" fmla="*/ 0 h 119"/>
                    <a:gd name="T42" fmla="*/ 0 w 132"/>
                    <a:gd name="T43" fmla="*/ 0 h 119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132"/>
                    <a:gd name="T67" fmla="*/ 0 h 119"/>
                    <a:gd name="T68" fmla="*/ 132 w 132"/>
                    <a:gd name="T69" fmla="*/ 119 h 119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132" h="119">
                      <a:moveTo>
                        <a:pt x="0" y="0"/>
                      </a:moveTo>
                      <a:lnTo>
                        <a:pt x="0" y="22"/>
                      </a:lnTo>
                      <a:lnTo>
                        <a:pt x="0" y="59"/>
                      </a:lnTo>
                      <a:lnTo>
                        <a:pt x="0" y="97"/>
                      </a:lnTo>
                      <a:lnTo>
                        <a:pt x="0" y="119"/>
                      </a:lnTo>
                      <a:lnTo>
                        <a:pt x="4" y="119"/>
                      </a:lnTo>
                      <a:lnTo>
                        <a:pt x="14" y="119"/>
                      </a:lnTo>
                      <a:lnTo>
                        <a:pt x="26" y="119"/>
                      </a:lnTo>
                      <a:lnTo>
                        <a:pt x="42" y="119"/>
                      </a:lnTo>
                      <a:lnTo>
                        <a:pt x="62" y="119"/>
                      </a:lnTo>
                      <a:lnTo>
                        <a:pt x="83" y="119"/>
                      </a:lnTo>
                      <a:lnTo>
                        <a:pt x="107" y="119"/>
                      </a:lnTo>
                      <a:lnTo>
                        <a:pt x="132" y="119"/>
                      </a:lnTo>
                      <a:lnTo>
                        <a:pt x="110" y="0"/>
                      </a:lnTo>
                      <a:lnTo>
                        <a:pt x="90" y="0"/>
                      </a:lnTo>
                      <a:lnTo>
                        <a:pt x="70" y="0"/>
                      </a:lnTo>
                      <a:lnTo>
                        <a:pt x="52" y="0"/>
                      </a:lnTo>
                      <a:lnTo>
                        <a:pt x="35" y="0"/>
                      </a:lnTo>
                      <a:lnTo>
                        <a:pt x="22" y="0"/>
                      </a:lnTo>
                      <a:lnTo>
                        <a:pt x="11" y="0"/>
                      </a:lnTo>
                      <a:lnTo>
                        <a:pt x="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DD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25" name="Freeform 212"/>
                <p:cNvSpPr>
                  <a:spLocks/>
                </p:cNvSpPr>
                <p:nvPr/>
              </p:nvSpPr>
              <p:spPr bwMode="auto">
                <a:xfrm>
                  <a:off x="4840" y="1871"/>
                  <a:ext cx="16" cy="54"/>
                </a:xfrm>
                <a:custGeom>
                  <a:avLst/>
                  <a:gdLst>
                    <a:gd name="T0" fmla="*/ 0 w 36"/>
                    <a:gd name="T1" fmla="*/ 0 h 119"/>
                    <a:gd name="T2" fmla="*/ 0 w 36"/>
                    <a:gd name="T3" fmla="*/ 0 h 119"/>
                    <a:gd name="T4" fmla="*/ 0 w 36"/>
                    <a:gd name="T5" fmla="*/ 0 h 119"/>
                    <a:gd name="T6" fmla="*/ 0 w 36"/>
                    <a:gd name="T7" fmla="*/ 0 h 119"/>
                    <a:gd name="T8" fmla="*/ 0 w 36"/>
                    <a:gd name="T9" fmla="*/ 0 h 119"/>
                    <a:gd name="T10" fmla="*/ 0 w 36"/>
                    <a:gd name="T11" fmla="*/ 0 h 119"/>
                    <a:gd name="T12" fmla="*/ 0 w 36"/>
                    <a:gd name="T13" fmla="*/ 0 h 119"/>
                    <a:gd name="T14" fmla="*/ 0 w 36"/>
                    <a:gd name="T15" fmla="*/ 0 h 119"/>
                    <a:gd name="T16" fmla="*/ 0 w 36"/>
                    <a:gd name="T17" fmla="*/ 0 h 119"/>
                    <a:gd name="T18" fmla="*/ 0 w 36"/>
                    <a:gd name="T19" fmla="*/ 0 h 119"/>
                    <a:gd name="T20" fmla="*/ 0 w 36"/>
                    <a:gd name="T21" fmla="*/ 0 h 11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6"/>
                    <a:gd name="T34" fmla="*/ 0 h 119"/>
                    <a:gd name="T35" fmla="*/ 36 w 36"/>
                    <a:gd name="T36" fmla="*/ 119 h 11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6" h="119">
                      <a:moveTo>
                        <a:pt x="0" y="0"/>
                      </a:moveTo>
                      <a:lnTo>
                        <a:pt x="21" y="119"/>
                      </a:lnTo>
                      <a:lnTo>
                        <a:pt x="24" y="119"/>
                      </a:lnTo>
                      <a:lnTo>
                        <a:pt x="29" y="119"/>
                      </a:lnTo>
                      <a:lnTo>
                        <a:pt x="32" y="119"/>
                      </a:lnTo>
                      <a:lnTo>
                        <a:pt x="36" y="119"/>
                      </a:lnTo>
                      <a:lnTo>
                        <a:pt x="15" y="0"/>
                      </a:lnTo>
                      <a:lnTo>
                        <a:pt x="10" y="0"/>
                      </a:lnTo>
                      <a:lnTo>
                        <a:pt x="7" y="0"/>
                      </a:ln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DD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26" name="Freeform 213"/>
                <p:cNvSpPr>
                  <a:spLocks/>
                </p:cNvSpPr>
                <p:nvPr/>
              </p:nvSpPr>
              <p:spPr bwMode="auto">
                <a:xfrm>
                  <a:off x="4855" y="1871"/>
                  <a:ext cx="61" cy="54"/>
                </a:xfrm>
                <a:custGeom>
                  <a:avLst/>
                  <a:gdLst>
                    <a:gd name="T0" fmla="*/ 0 w 134"/>
                    <a:gd name="T1" fmla="*/ 0 h 119"/>
                    <a:gd name="T2" fmla="*/ 0 w 134"/>
                    <a:gd name="T3" fmla="*/ 0 h 119"/>
                    <a:gd name="T4" fmla="*/ 0 w 134"/>
                    <a:gd name="T5" fmla="*/ 0 h 119"/>
                    <a:gd name="T6" fmla="*/ 0 w 134"/>
                    <a:gd name="T7" fmla="*/ 0 h 119"/>
                    <a:gd name="T8" fmla="*/ 0 w 134"/>
                    <a:gd name="T9" fmla="*/ 0 h 119"/>
                    <a:gd name="T10" fmla="*/ 0 w 134"/>
                    <a:gd name="T11" fmla="*/ 0 h 119"/>
                    <a:gd name="T12" fmla="*/ 0 w 134"/>
                    <a:gd name="T13" fmla="*/ 0 h 119"/>
                    <a:gd name="T14" fmla="*/ 0 w 134"/>
                    <a:gd name="T15" fmla="*/ 0 h 119"/>
                    <a:gd name="T16" fmla="*/ 0 w 134"/>
                    <a:gd name="T17" fmla="*/ 0 h 119"/>
                    <a:gd name="T18" fmla="*/ 0 w 134"/>
                    <a:gd name="T19" fmla="*/ 0 h 119"/>
                    <a:gd name="T20" fmla="*/ 0 w 134"/>
                    <a:gd name="T21" fmla="*/ 0 h 119"/>
                    <a:gd name="T22" fmla="*/ 0 w 134"/>
                    <a:gd name="T23" fmla="*/ 0 h 119"/>
                    <a:gd name="T24" fmla="*/ 0 w 134"/>
                    <a:gd name="T25" fmla="*/ 0 h 119"/>
                    <a:gd name="T26" fmla="*/ 0 w 134"/>
                    <a:gd name="T27" fmla="*/ 0 h 119"/>
                    <a:gd name="T28" fmla="*/ 0 w 134"/>
                    <a:gd name="T29" fmla="*/ 0 h 119"/>
                    <a:gd name="T30" fmla="*/ 0 w 134"/>
                    <a:gd name="T31" fmla="*/ 0 h 119"/>
                    <a:gd name="T32" fmla="*/ 0 w 134"/>
                    <a:gd name="T33" fmla="*/ 0 h 119"/>
                    <a:gd name="T34" fmla="*/ 0 w 134"/>
                    <a:gd name="T35" fmla="*/ 0 h 119"/>
                    <a:gd name="T36" fmla="*/ 0 w 134"/>
                    <a:gd name="T37" fmla="*/ 0 h 119"/>
                    <a:gd name="T38" fmla="*/ 0 w 134"/>
                    <a:gd name="T39" fmla="*/ 0 h 119"/>
                    <a:gd name="T40" fmla="*/ 0 w 134"/>
                    <a:gd name="T41" fmla="*/ 0 h 119"/>
                    <a:gd name="T42" fmla="*/ 0 w 134"/>
                    <a:gd name="T43" fmla="*/ 0 h 119"/>
                    <a:gd name="T44" fmla="*/ 0 w 134"/>
                    <a:gd name="T45" fmla="*/ 0 h 119"/>
                    <a:gd name="T46" fmla="*/ 0 w 134"/>
                    <a:gd name="T47" fmla="*/ 0 h 119"/>
                    <a:gd name="T48" fmla="*/ 0 w 134"/>
                    <a:gd name="T49" fmla="*/ 0 h 119"/>
                    <a:gd name="T50" fmla="*/ 0 w 134"/>
                    <a:gd name="T51" fmla="*/ 0 h 119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134"/>
                    <a:gd name="T79" fmla="*/ 0 h 119"/>
                    <a:gd name="T80" fmla="*/ 134 w 134"/>
                    <a:gd name="T81" fmla="*/ 119 h 119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134" h="119">
                      <a:moveTo>
                        <a:pt x="134" y="119"/>
                      </a:moveTo>
                      <a:lnTo>
                        <a:pt x="127" y="91"/>
                      </a:lnTo>
                      <a:lnTo>
                        <a:pt x="118" y="56"/>
                      </a:lnTo>
                      <a:lnTo>
                        <a:pt x="111" y="27"/>
                      </a:lnTo>
                      <a:lnTo>
                        <a:pt x="108" y="14"/>
                      </a:lnTo>
                      <a:lnTo>
                        <a:pt x="102" y="6"/>
                      </a:lnTo>
                      <a:lnTo>
                        <a:pt x="95" y="1"/>
                      </a:lnTo>
                      <a:lnTo>
                        <a:pt x="88" y="0"/>
                      </a:lnTo>
                      <a:lnTo>
                        <a:pt x="85" y="0"/>
                      </a:lnTo>
                      <a:lnTo>
                        <a:pt x="83" y="0"/>
                      </a:lnTo>
                      <a:lnTo>
                        <a:pt x="79" y="0"/>
                      </a:lnTo>
                      <a:lnTo>
                        <a:pt x="71" y="0"/>
                      </a:lnTo>
                      <a:lnTo>
                        <a:pt x="60" y="0"/>
                      </a:lnTo>
                      <a:lnTo>
                        <a:pt x="49" y="0"/>
                      </a:lnTo>
                      <a:lnTo>
                        <a:pt x="34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22" y="119"/>
                      </a:lnTo>
                      <a:lnTo>
                        <a:pt x="44" y="119"/>
                      </a:lnTo>
                      <a:lnTo>
                        <a:pt x="64" y="119"/>
                      </a:lnTo>
                      <a:lnTo>
                        <a:pt x="82" y="119"/>
                      </a:lnTo>
                      <a:lnTo>
                        <a:pt x="98" y="119"/>
                      </a:lnTo>
                      <a:lnTo>
                        <a:pt x="112" y="119"/>
                      </a:lnTo>
                      <a:lnTo>
                        <a:pt x="123" y="119"/>
                      </a:lnTo>
                      <a:lnTo>
                        <a:pt x="129" y="119"/>
                      </a:lnTo>
                      <a:lnTo>
                        <a:pt x="134" y="119"/>
                      </a:lnTo>
                      <a:close/>
                    </a:path>
                  </a:pathLst>
                </a:custGeom>
                <a:solidFill>
                  <a:srgbClr val="BFDD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27" name="Freeform 214"/>
                <p:cNvSpPr>
                  <a:spLocks/>
                </p:cNvSpPr>
                <p:nvPr/>
              </p:nvSpPr>
              <p:spPr bwMode="auto">
                <a:xfrm>
                  <a:off x="4825" y="1871"/>
                  <a:ext cx="24" cy="54"/>
                </a:xfrm>
                <a:custGeom>
                  <a:avLst/>
                  <a:gdLst>
                    <a:gd name="T0" fmla="*/ 0 w 53"/>
                    <a:gd name="T1" fmla="*/ 0 h 119"/>
                    <a:gd name="T2" fmla="*/ 0 w 53"/>
                    <a:gd name="T3" fmla="*/ 0 h 119"/>
                    <a:gd name="T4" fmla="*/ 0 w 53"/>
                    <a:gd name="T5" fmla="*/ 0 h 119"/>
                    <a:gd name="T6" fmla="*/ 0 w 53"/>
                    <a:gd name="T7" fmla="*/ 0 h 119"/>
                    <a:gd name="T8" fmla="*/ 0 w 53"/>
                    <a:gd name="T9" fmla="*/ 0 h 119"/>
                    <a:gd name="T10" fmla="*/ 0 w 53"/>
                    <a:gd name="T11" fmla="*/ 0 h 119"/>
                    <a:gd name="T12" fmla="*/ 0 w 53"/>
                    <a:gd name="T13" fmla="*/ 0 h 119"/>
                    <a:gd name="T14" fmla="*/ 0 w 53"/>
                    <a:gd name="T15" fmla="*/ 0 h 119"/>
                    <a:gd name="T16" fmla="*/ 0 w 53"/>
                    <a:gd name="T17" fmla="*/ 0 h 119"/>
                    <a:gd name="T18" fmla="*/ 0 w 53"/>
                    <a:gd name="T19" fmla="*/ 0 h 119"/>
                    <a:gd name="T20" fmla="*/ 0 w 53"/>
                    <a:gd name="T21" fmla="*/ 0 h 11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53"/>
                    <a:gd name="T34" fmla="*/ 0 h 119"/>
                    <a:gd name="T35" fmla="*/ 53 w 53"/>
                    <a:gd name="T36" fmla="*/ 119 h 11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53" h="119">
                      <a:moveTo>
                        <a:pt x="0" y="0"/>
                      </a:moveTo>
                      <a:lnTo>
                        <a:pt x="19" y="119"/>
                      </a:lnTo>
                      <a:lnTo>
                        <a:pt x="27" y="119"/>
                      </a:lnTo>
                      <a:lnTo>
                        <a:pt x="36" y="119"/>
                      </a:lnTo>
                      <a:lnTo>
                        <a:pt x="45" y="119"/>
                      </a:lnTo>
                      <a:lnTo>
                        <a:pt x="53" y="119"/>
                      </a:lnTo>
                      <a:lnTo>
                        <a:pt x="32" y="0"/>
                      </a:lnTo>
                      <a:lnTo>
                        <a:pt x="24" y="0"/>
                      </a:lnTo>
                      <a:lnTo>
                        <a:pt x="16" y="0"/>
                      </a:lnTo>
                      <a:lnTo>
                        <a:pt x="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28" name="Freeform 215"/>
                <p:cNvSpPr>
                  <a:spLocks/>
                </p:cNvSpPr>
                <p:nvPr/>
              </p:nvSpPr>
              <p:spPr bwMode="auto">
                <a:xfrm>
                  <a:off x="4846" y="1871"/>
                  <a:ext cx="19" cy="54"/>
                </a:xfrm>
                <a:custGeom>
                  <a:avLst/>
                  <a:gdLst>
                    <a:gd name="T0" fmla="*/ 0 w 41"/>
                    <a:gd name="T1" fmla="*/ 0 h 119"/>
                    <a:gd name="T2" fmla="*/ 0 w 41"/>
                    <a:gd name="T3" fmla="*/ 0 h 119"/>
                    <a:gd name="T4" fmla="*/ 0 w 41"/>
                    <a:gd name="T5" fmla="*/ 0 h 119"/>
                    <a:gd name="T6" fmla="*/ 0 w 41"/>
                    <a:gd name="T7" fmla="*/ 0 h 119"/>
                    <a:gd name="T8" fmla="*/ 0 w 41"/>
                    <a:gd name="T9" fmla="*/ 0 h 119"/>
                    <a:gd name="T10" fmla="*/ 0 w 41"/>
                    <a:gd name="T11" fmla="*/ 0 h 119"/>
                    <a:gd name="T12" fmla="*/ 0 w 41"/>
                    <a:gd name="T13" fmla="*/ 0 h 119"/>
                    <a:gd name="T14" fmla="*/ 0 w 41"/>
                    <a:gd name="T15" fmla="*/ 0 h 119"/>
                    <a:gd name="T16" fmla="*/ 0 w 41"/>
                    <a:gd name="T17" fmla="*/ 0 h 119"/>
                    <a:gd name="T18" fmla="*/ 0 w 41"/>
                    <a:gd name="T19" fmla="*/ 0 h 119"/>
                    <a:gd name="T20" fmla="*/ 0 w 41"/>
                    <a:gd name="T21" fmla="*/ 0 h 11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1"/>
                    <a:gd name="T34" fmla="*/ 0 h 119"/>
                    <a:gd name="T35" fmla="*/ 41 w 41"/>
                    <a:gd name="T36" fmla="*/ 119 h 11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1" h="119">
                      <a:moveTo>
                        <a:pt x="19" y="0"/>
                      </a:moveTo>
                      <a:lnTo>
                        <a:pt x="15" y="0"/>
                      </a:lnTo>
                      <a:lnTo>
                        <a:pt x="10" y="0"/>
                      </a:ln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21" y="119"/>
                      </a:lnTo>
                      <a:lnTo>
                        <a:pt x="26" y="119"/>
                      </a:lnTo>
                      <a:lnTo>
                        <a:pt x="31" y="119"/>
                      </a:lnTo>
                      <a:lnTo>
                        <a:pt x="37" y="119"/>
                      </a:lnTo>
                      <a:lnTo>
                        <a:pt x="41" y="119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29" name="Freeform 216"/>
                <p:cNvSpPr>
                  <a:spLocks/>
                </p:cNvSpPr>
                <p:nvPr/>
              </p:nvSpPr>
              <p:spPr bwMode="auto">
                <a:xfrm>
                  <a:off x="4786" y="1871"/>
                  <a:ext cx="31" cy="54"/>
                </a:xfrm>
                <a:custGeom>
                  <a:avLst/>
                  <a:gdLst>
                    <a:gd name="T0" fmla="*/ 0 w 67"/>
                    <a:gd name="T1" fmla="*/ 0 h 119"/>
                    <a:gd name="T2" fmla="*/ 0 w 67"/>
                    <a:gd name="T3" fmla="*/ 0 h 119"/>
                    <a:gd name="T4" fmla="*/ 0 w 67"/>
                    <a:gd name="T5" fmla="*/ 0 h 119"/>
                    <a:gd name="T6" fmla="*/ 0 w 67"/>
                    <a:gd name="T7" fmla="*/ 0 h 119"/>
                    <a:gd name="T8" fmla="*/ 0 w 67"/>
                    <a:gd name="T9" fmla="*/ 0 h 119"/>
                    <a:gd name="T10" fmla="*/ 0 w 67"/>
                    <a:gd name="T11" fmla="*/ 0 h 119"/>
                    <a:gd name="T12" fmla="*/ 0 w 67"/>
                    <a:gd name="T13" fmla="*/ 0 h 119"/>
                    <a:gd name="T14" fmla="*/ 0 w 67"/>
                    <a:gd name="T15" fmla="*/ 0 h 119"/>
                    <a:gd name="T16" fmla="*/ 0 w 67"/>
                    <a:gd name="T17" fmla="*/ 0 h 119"/>
                    <a:gd name="T18" fmla="*/ 0 w 67"/>
                    <a:gd name="T19" fmla="*/ 0 h 119"/>
                    <a:gd name="T20" fmla="*/ 0 w 67"/>
                    <a:gd name="T21" fmla="*/ 0 h 119"/>
                    <a:gd name="T22" fmla="*/ 0 w 67"/>
                    <a:gd name="T23" fmla="*/ 0 h 119"/>
                    <a:gd name="T24" fmla="*/ 0 w 67"/>
                    <a:gd name="T25" fmla="*/ 0 h 119"/>
                    <a:gd name="T26" fmla="*/ 0 w 67"/>
                    <a:gd name="T27" fmla="*/ 0 h 119"/>
                    <a:gd name="T28" fmla="*/ 0 w 67"/>
                    <a:gd name="T29" fmla="*/ 0 h 119"/>
                    <a:gd name="T30" fmla="*/ 0 w 67"/>
                    <a:gd name="T31" fmla="*/ 0 h 119"/>
                    <a:gd name="T32" fmla="*/ 0 w 67"/>
                    <a:gd name="T33" fmla="*/ 0 h 119"/>
                    <a:gd name="T34" fmla="*/ 0 w 67"/>
                    <a:gd name="T35" fmla="*/ 0 h 119"/>
                    <a:gd name="T36" fmla="*/ 0 w 67"/>
                    <a:gd name="T37" fmla="*/ 0 h 119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67"/>
                    <a:gd name="T58" fmla="*/ 0 h 119"/>
                    <a:gd name="T59" fmla="*/ 67 w 67"/>
                    <a:gd name="T60" fmla="*/ 119 h 119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67" h="119">
                      <a:moveTo>
                        <a:pt x="0" y="0"/>
                      </a:moveTo>
                      <a:lnTo>
                        <a:pt x="22" y="119"/>
                      </a:lnTo>
                      <a:lnTo>
                        <a:pt x="28" y="119"/>
                      </a:lnTo>
                      <a:lnTo>
                        <a:pt x="34" y="119"/>
                      </a:lnTo>
                      <a:lnTo>
                        <a:pt x="39" y="119"/>
                      </a:lnTo>
                      <a:lnTo>
                        <a:pt x="45" y="119"/>
                      </a:lnTo>
                      <a:lnTo>
                        <a:pt x="50" y="119"/>
                      </a:lnTo>
                      <a:lnTo>
                        <a:pt x="56" y="119"/>
                      </a:lnTo>
                      <a:lnTo>
                        <a:pt x="61" y="119"/>
                      </a:lnTo>
                      <a:lnTo>
                        <a:pt x="67" y="119"/>
                      </a:lnTo>
                      <a:lnTo>
                        <a:pt x="45" y="0"/>
                      </a:lnTo>
                      <a:lnTo>
                        <a:pt x="39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lnTo>
                        <a:pt x="23" y="0"/>
                      </a:lnTo>
                      <a:lnTo>
                        <a:pt x="18" y="0"/>
                      </a:lnTo>
                      <a:lnTo>
                        <a:pt x="12" y="0"/>
                      </a:lnTo>
                      <a:lnTo>
                        <a:pt x="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30" name="Freeform 217"/>
                <p:cNvSpPr>
                  <a:spLocks/>
                </p:cNvSpPr>
                <p:nvPr/>
              </p:nvSpPr>
              <p:spPr bwMode="auto">
                <a:xfrm>
                  <a:off x="4621" y="1871"/>
                  <a:ext cx="78" cy="54"/>
                </a:xfrm>
                <a:custGeom>
                  <a:avLst/>
                  <a:gdLst>
                    <a:gd name="T0" fmla="*/ 0 w 171"/>
                    <a:gd name="T1" fmla="*/ 0 h 119"/>
                    <a:gd name="T2" fmla="*/ 0 w 171"/>
                    <a:gd name="T3" fmla="*/ 0 h 119"/>
                    <a:gd name="T4" fmla="*/ 0 w 171"/>
                    <a:gd name="T5" fmla="*/ 0 h 119"/>
                    <a:gd name="T6" fmla="*/ 0 w 171"/>
                    <a:gd name="T7" fmla="*/ 0 h 119"/>
                    <a:gd name="T8" fmla="*/ 0 w 171"/>
                    <a:gd name="T9" fmla="*/ 0 h 119"/>
                    <a:gd name="T10" fmla="*/ 0 w 171"/>
                    <a:gd name="T11" fmla="*/ 0 h 119"/>
                    <a:gd name="T12" fmla="*/ 0 w 171"/>
                    <a:gd name="T13" fmla="*/ 0 h 119"/>
                    <a:gd name="T14" fmla="*/ 0 w 171"/>
                    <a:gd name="T15" fmla="*/ 0 h 119"/>
                    <a:gd name="T16" fmla="*/ 0 w 171"/>
                    <a:gd name="T17" fmla="*/ 0 h 119"/>
                    <a:gd name="T18" fmla="*/ 0 w 171"/>
                    <a:gd name="T19" fmla="*/ 0 h 119"/>
                    <a:gd name="T20" fmla="*/ 0 w 171"/>
                    <a:gd name="T21" fmla="*/ 0 h 119"/>
                    <a:gd name="T22" fmla="*/ 0 w 171"/>
                    <a:gd name="T23" fmla="*/ 0 h 119"/>
                    <a:gd name="T24" fmla="*/ 0 w 171"/>
                    <a:gd name="T25" fmla="*/ 0 h 119"/>
                    <a:gd name="T26" fmla="*/ 0 w 171"/>
                    <a:gd name="T27" fmla="*/ 0 h 119"/>
                    <a:gd name="T28" fmla="*/ 0 w 171"/>
                    <a:gd name="T29" fmla="*/ 0 h 119"/>
                    <a:gd name="T30" fmla="*/ 0 w 171"/>
                    <a:gd name="T31" fmla="*/ 0 h 119"/>
                    <a:gd name="T32" fmla="*/ 0 w 171"/>
                    <a:gd name="T33" fmla="*/ 0 h 119"/>
                    <a:gd name="T34" fmla="*/ 0 w 171"/>
                    <a:gd name="T35" fmla="*/ 0 h 119"/>
                    <a:gd name="T36" fmla="*/ 0 w 171"/>
                    <a:gd name="T37" fmla="*/ 0 h 119"/>
                    <a:gd name="T38" fmla="*/ 0 w 171"/>
                    <a:gd name="T39" fmla="*/ 0 h 119"/>
                    <a:gd name="T40" fmla="*/ 0 w 171"/>
                    <a:gd name="T41" fmla="*/ 0 h 119"/>
                    <a:gd name="T42" fmla="*/ 0 w 171"/>
                    <a:gd name="T43" fmla="*/ 0 h 119"/>
                    <a:gd name="T44" fmla="*/ 0 w 171"/>
                    <a:gd name="T45" fmla="*/ 0 h 119"/>
                    <a:gd name="T46" fmla="*/ 0 w 171"/>
                    <a:gd name="T47" fmla="*/ 0 h 119"/>
                    <a:gd name="T48" fmla="*/ 0 w 171"/>
                    <a:gd name="T49" fmla="*/ 0 h 119"/>
                    <a:gd name="T50" fmla="*/ 0 w 171"/>
                    <a:gd name="T51" fmla="*/ 0 h 119"/>
                    <a:gd name="T52" fmla="*/ 0 w 171"/>
                    <a:gd name="T53" fmla="*/ 0 h 119"/>
                    <a:gd name="T54" fmla="*/ 0 w 171"/>
                    <a:gd name="T55" fmla="*/ 0 h 119"/>
                    <a:gd name="T56" fmla="*/ 0 w 171"/>
                    <a:gd name="T57" fmla="*/ 0 h 119"/>
                    <a:gd name="T58" fmla="*/ 0 w 171"/>
                    <a:gd name="T59" fmla="*/ 0 h 119"/>
                    <a:gd name="T60" fmla="*/ 0 w 171"/>
                    <a:gd name="T61" fmla="*/ 0 h 119"/>
                    <a:gd name="T62" fmla="*/ 0 w 171"/>
                    <a:gd name="T63" fmla="*/ 0 h 119"/>
                    <a:gd name="T64" fmla="*/ 0 w 171"/>
                    <a:gd name="T65" fmla="*/ 0 h 119"/>
                    <a:gd name="T66" fmla="*/ 0 w 171"/>
                    <a:gd name="T67" fmla="*/ 0 h 119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171"/>
                    <a:gd name="T103" fmla="*/ 0 h 119"/>
                    <a:gd name="T104" fmla="*/ 171 w 171"/>
                    <a:gd name="T105" fmla="*/ 119 h 119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171" h="119">
                      <a:moveTo>
                        <a:pt x="134" y="0"/>
                      </a:moveTo>
                      <a:lnTo>
                        <a:pt x="133" y="0"/>
                      </a:lnTo>
                      <a:lnTo>
                        <a:pt x="131" y="0"/>
                      </a:lnTo>
                      <a:lnTo>
                        <a:pt x="126" y="0"/>
                      </a:lnTo>
                      <a:lnTo>
                        <a:pt x="122" y="1"/>
                      </a:lnTo>
                      <a:lnTo>
                        <a:pt x="116" y="4"/>
                      </a:lnTo>
                      <a:lnTo>
                        <a:pt x="109" y="6"/>
                      </a:lnTo>
                      <a:lnTo>
                        <a:pt x="102" y="11"/>
                      </a:lnTo>
                      <a:lnTo>
                        <a:pt x="94" y="16"/>
                      </a:lnTo>
                      <a:lnTo>
                        <a:pt x="91" y="20"/>
                      </a:lnTo>
                      <a:lnTo>
                        <a:pt x="82" y="29"/>
                      </a:lnTo>
                      <a:lnTo>
                        <a:pt x="70" y="43"/>
                      </a:lnTo>
                      <a:lnTo>
                        <a:pt x="54" y="60"/>
                      </a:lnTo>
                      <a:lnTo>
                        <a:pt x="38" y="77"/>
                      </a:lnTo>
                      <a:lnTo>
                        <a:pt x="23" y="94"/>
                      </a:lnTo>
                      <a:lnTo>
                        <a:pt x="9" y="109"/>
                      </a:lnTo>
                      <a:lnTo>
                        <a:pt x="0" y="119"/>
                      </a:lnTo>
                      <a:lnTo>
                        <a:pt x="11" y="119"/>
                      </a:lnTo>
                      <a:lnTo>
                        <a:pt x="29" y="119"/>
                      </a:lnTo>
                      <a:lnTo>
                        <a:pt x="51" y="119"/>
                      </a:lnTo>
                      <a:lnTo>
                        <a:pt x="76" y="119"/>
                      </a:lnTo>
                      <a:lnTo>
                        <a:pt x="101" y="119"/>
                      </a:lnTo>
                      <a:lnTo>
                        <a:pt x="126" y="119"/>
                      </a:lnTo>
                      <a:lnTo>
                        <a:pt x="150" y="119"/>
                      </a:lnTo>
                      <a:lnTo>
                        <a:pt x="171" y="119"/>
                      </a:lnTo>
                      <a:lnTo>
                        <a:pt x="171" y="0"/>
                      </a:lnTo>
                      <a:lnTo>
                        <a:pt x="164" y="0"/>
                      </a:lnTo>
                      <a:lnTo>
                        <a:pt x="157" y="0"/>
                      </a:lnTo>
                      <a:lnTo>
                        <a:pt x="152" y="0"/>
                      </a:lnTo>
                      <a:lnTo>
                        <a:pt x="146" y="0"/>
                      </a:lnTo>
                      <a:lnTo>
                        <a:pt x="141" y="0"/>
                      </a:lnTo>
                      <a:lnTo>
                        <a:pt x="138" y="0"/>
                      </a:lnTo>
                      <a:lnTo>
                        <a:pt x="135" y="0"/>
                      </a:lnTo>
                      <a:lnTo>
                        <a:pt x="134" y="0"/>
                      </a:lnTo>
                      <a:close/>
                    </a:path>
                  </a:pathLst>
                </a:custGeom>
                <a:solidFill>
                  <a:srgbClr val="BFDD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31" name="Freeform 218"/>
                <p:cNvSpPr>
                  <a:spLocks/>
                </p:cNvSpPr>
                <p:nvPr/>
              </p:nvSpPr>
              <p:spPr bwMode="auto">
                <a:xfrm>
                  <a:off x="4699" y="1871"/>
                  <a:ext cx="13" cy="54"/>
                </a:xfrm>
                <a:custGeom>
                  <a:avLst/>
                  <a:gdLst>
                    <a:gd name="T0" fmla="*/ 0 w 28"/>
                    <a:gd name="T1" fmla="*/ 0 h 119"/>
                    <a:gd name="T2" fmla="*/ 0 w 28"/>
                    <a:gd name="T3" fmla="*/ 0 h 119"/>
                    <a:gd name="T4" fmla="*/ 0 w 28"/>
                    <a:gd name="T5" fmla="*/ 0 h 119"/>
                    <a:gd name="T6" fmla="*/ 0 w 28"/>
                    <a:gd name="T7" fmla="*/ 0 h 119"/>
                    <a:gd name="T8" fmla="*/ 0 w 28"/>
                    <a:gd name="T9" fmla="*/ 0 h 119"/>
                    <a:gd name="T10" fmla="*/ 0 w 28"/>
                    <a:gd name="T11" fmla="*/ 0 h 119"/>
                    <a:gd name="T12" fmla="*/ 0 w 28"/>
                    <a:gd name="T13" fmla="*/ 0 h 119"/>
                    <a:gd name="T14" fmla="*/ 0 w 28"/>
                    <a:gd name="T15" fmla="*/ 0 h 119"/>
                    <a:gd name="T16" fmla="*/ 0 w 28"/>
                    <a:gd name="T17" fmla="*/ 0 h 119"/>
                    <a:gd name="T18" fmla="*/ 0 w 28"/>
                    <a:gd name="T19" fmla="*/ 0 h 119"/>
                    <a:gd name="T20" fmla="*/ 0 w 28"/>
                    <a:gd name="T21" fmla="*/ 0 h 119"/>
                    <a:gd name="T22" fmla="*/ 0 w 28"/>
                    <a:gd name="T23" fmla="*/ 0 h 119"/>
                    <a:gd name="T24" fmla="*/ 0 w 28"/>
                    <a:gd name="T25" fmla="*/ 0 h 119"/>
                    <a:gd name="T26" fmla="*/ 0 w 28"/>
                    <a:gd name="T27" fmla="*/ 0 h 119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8"/>
                    <a:gd name="T43" fmla="*/ 0 h 119"/>
                    <a:gd name="T44" fmla="*/ 28 w 28"/>
                    <a:gd name="T45" fmla="*/ 119 h 119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8" h="119">
                      <a:moveTo>
                        <a:pt x="28" y="0"/>
                      </a:moveTo>
                      <a:lnTo>
                        <a:pt x="23" y="0"/>
                      </a:lnTo>
                      <a:lnTo>
                        <a:pt x="16" y="0"/>
                      </a:lnTo>
                      <a:lnTo>
                        <a:pt x="8" y="0"/>
                      </a:lnTo>
                      <a:lnTo>
                        <a:pt x="0" y="0"/>
                      </a:lnTo>
                      <a:lnTo>
                        <a:pt x="0" y="119"/>
                      </a:lnTo>
                      <a:lnTo>
                        <a:pt x="11" y="119"/>
                      </a:lnTo>
                      <a:lnTo>
                        <a:pt x="19" y="119"/>
                      </a:lnTo>
                      <a:lnTo>
                        <a:pt x="24" y="119"/>
                      </a:lnTo>
                      <a:lnTo>
                        <a:pt x="28" y="119"/>
                      </a:lnTo>
                      <a:lnTo>
                        <a:pt x="28" y="97"/>
                      </a:lnTo>
                      <a:lnTo>
                        <a:pt x="28" y="59"/>
                      </a:lnTo>
                      <a:lnTo>
                        <a:pt x="28" y="22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32" name="Freeform 219"/>
                <p:cNvSpPr>
                  <a:spLocks/>
                </p:cNvSpPr>
                <p:nvPr/>
              </p:nvSpPr>
              <p:spPr bwMode="auto">
                <a:xfrm>
                  <a:off x="4517" y="1939"/>
                  <a:ext cx="70" cy="35"/>
                </a:xfrm>
                <a:custGeom>
                  <a:avLst/>
                  <a:gdLst>
                    <a:gd name="T0" fmla="*/ 0 w 156"/>
                    <a:gd name="T1" fmla="*/ 0 h 78"/>
                    <a:gd name="T2" fmla="*/ 0 w 156"/>
                    <a:gd name="T3" fmla="*/ 0 h 78"/>
                    <a:gd name="T4" fmla="*/ 0 w 156"/>
                    <a:gd name="T5" fmla="*/ 0 h 78"/>
                    <a:gd name="T6" fmla="*/ 0 w 156"/>
                    <a:gd name="T7" fmla="*/ 0 h 78"/>
                    <a:gd name="T8" fmla="*/ 0 w 156"/>
                    <a:gd name="T9" fmla="*/ 0 h 78"/>
                    <a:gd name="T10" fmla="*/ 0 w 156"/>
                    <a:gd name="T11" fmla="*/ 0 h 78"/>
                    <a:gd name="T12" fmla="*/ 0 w 156"/>
                    <a:gd name="T13" fmla="*/ 0 h 78"/>
                    <a:gd name="T14" fmla="*/ 0 w 156"/>
                    <a:gd name="T15" fmla="*/ 0 h 78"/>
                    <a:gd name="T16" fmla="*/ 0 w 156"/>
                    <a:gd name="T17" fmla="*/ 0 h 78"/>
                    <a:gd name="T18" fmla="*/ 0 w 156"/>
                    <a:gd name="T19" fmla="*/ 0 h 78"/>
                    <a:gd name="T20" fmla="*/ 0 w 156"/>
                    <a:gd name="T21" fmla="*/ 0 h 78"/>
                    <a:gd name="T22" fmla="*/ 0 w 156"/>
                    <a:gd name="T23" fmla="*/ 0 h 78"/>
                    <a:gd name="T24" fmla="*/ 0 w 156"/>
                    <a:gd name="T25" fmla="*/ 0 h 78"/>
                    <a:gd name="T26" fmla="*/ 0 w 156"/>
                    <a:gd name="T27" fmla="*/ 0 h 78"/>
                    <a:gd name="T28" fmla="*/ 0 w 156"/>
                    <a:gd name="T29" fmla="*/ 0 h 78"/>
                    <a:gd name="T30" fmla="*/ 0 w 156"/>
                    <a:gd name="T31" fmla="*/ 0 h 78"/>
                    <a:gd name="T32" fmla="*/ 0 w 156"/>
                    <a:gd name="T33" fmla="*/ 0 h 78"/>
                    <a:gd name="T34" fmla="*/ 0 w 156"/>
                    <a:gd name="T35" fmla="*/ 0 h 78"/>
                    <a:gd name="T36" fmla="*/ 0 w 156"/>
                    <a:gd name="T37" fmla="*/ 0 h 78"/>
                    <a:gd name="T38" fmla="*/ 0 w 156"/>
                    <a:gd name="T39" fmla="*/ 0 h 78"/>
                    <a:gd name="T40" fmla="*/ 0 w 156"/>
                    <a:gd name="T41" fmla="*/ 0 h 78"/>
                    <a:gd name="T42" fmla="*/ 0 w 156"/>
                    <a:gd name="T43" fmla="*/ 0 h 78"/>
                    <a:gd name="T44" fmla="*/ 0 w 156"/>
                    <a:gd name="T45" fmla="*/ 0 h 78"/>
                    <a:gd name="T46" fmla="*/ 0 w 156"/>
                    <a:gd name="T47" fmla="*/ 0 h 78"/>
                    <a:gd name="T48" fmla="*/ 0 w 156"/>
                    <a:gd name="T49" fmla="*/ 0 h 78"/>
                    <a:gd name="T50" fmla="*/ 0 w 156"/>
                    <a:gd name="T51" fmla="*/ 0 h 78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156"/>
                    <a:gd name="T79" fmla="*/ 0 h 78"/>
                    <a:gd name="T80" fmla="*/ 156 w 156"/>
                    <a:gd name="T81" fmla="*/ 78 h 78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156" h="78">
                      <a:moveTo>
                        <a:pt x="26" y="56"/>
                      </a:moveTo>
                      <a:lnTo>
                        <a:pt x="29" y="55"/>
                      </a:lnTo>
                      <a:lnTo>
                        <a:pt x="38" y="53"/>
                      </a:lnTo>
                      <a:lnTo>
                        <a:pt x="51" y="49"/>
                      </a:lnTo>
                      <a:lnTo>
                        <a:pt x="66" y="45"/>
                      </a:lnTo>
                      <a:lnTo>
                        <a:pt x="83" y="39"/>
                      </a:lnTo>
                      <a:lnTo>
                        <a:pt x="102" y="33"/>
                      </a:lnTo>
                      <a:lnTo>
                        <a:pt x="119" y="27"/>
                      </a:lnTo>
                      <a:lnTo>
                        <a:pt x="135" y="23"/>
                      </a:lnTo>
                      <a:lnTo>
                        <a:pt x="156" y="0"/>
                      </a:lnTo>
                      <a:lnTo>
                        <a:pt x="151" y="1"/>
                      </a:lnTo>
                      <a:lnTo>
                        <a:pt x="137" y="6"/>
                      </a:lnTo>
                      <a:lnTo>
                        <a:pt x="118" y="11"/>
                      </a:lnTo>
                      <a:lnTo>
                        <a:pt x="96" y="18"/>
                      </a:lnTo>
                      <a:lnTo>
                        <a:pt x="73" y="26"/>
                      </a:lnTo>
                      <a:lnTo>
                        <a:pt x="53" y="32"/>
                      </a:lnTo>
                      <a:lnTo>
                        <a:pt x="39" y="37"/>
                      </a:lnTo>
                      <a:lnTo>
                        <a:pt x="34" y="38"/>
                      </a:lnTo>
                      <a:lnTo>
                        <a:pt x="20" y="47"/>
                      </a:lnTo>
                      <a:lnTo>
                        <a:pt x="11" y="57"/>
                      </a:lnTo>
                      <a:lnTo>
                        <a:pt x="4" y="68"/>
                      </a:lnTo>
                      <a:lnTo>
                        <a:pt x="0" y="78"/>
                      </a:lnTo>
                      <a:lnTo>
                        <a:pt x="5" y="72"/>
                      </a:lnTo>
                      <a:lnTo>
                        <a:pt x="11" y="67"/>
                      </a:lnTo>
                      <a:lnTo>
                        <a:pt x="18" y="61"/>
                      </a:lnTo>
                      <a:lnTo>
                        <a:pt x="26" y="5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33" name="Freeform 220"/>
                <p:cNvSpPr>
                  <a:spLocks/>
                </p:cNvSpPr>
                <p:nvPr/>
              </p:nvSpPr>
              <p:spPr bwMode="auto">
                <a:xfrm>
                  <a:off x="4493" y="2034"/>
                  <a:ext cx="39" cy="4"/>
                </a:xfrm>
                <a:custGeom>
                  <a:avLst/>
                  <a:gdLst>
                    <a:gd name="T0" fmla="*/ 0 w 86"/>
                    <a:gd name="T1" fmla="*/ 0 h 12"/>
                    <a:gd name="T2" fmla="*/ 0 w 86"/>
                    <a:gd name="T3" fmla="*/ 0 h 12"/>
                    <a:gd name="T4" fmla="*/ 0 w 86"/>
                    <a:gd name="T5" fmla="*/ 0 h 12"/>
                    <a:gd name="T6" fmla="*/ 0 w 86"/>
                    <a:gd name="T7" fmla="*/ 0 h 12"/>
                    <a:gd name="T8" fmla="*/ 0 w 86"/>
                    <a:gd name="T9" fmla="*/ 0 h 12"/>
                    <a:gd name="T10" fmla="*/ 0 w 86"/>
                    <a:gd name="T11" fmla="*/ 0 h 12"/>
                    <a:gd name="T12" fmla="*/ 0 w 86"/>
                    <a:gd name="T13" fmla="*/ 0 h 12"/>
                    <a:gd name="T14" fmla="*/ 0 w 86"/>
                    <a:gd name="T15" fmla="*/ 0 h 12"/>
                    <a:gd name="T16" fmla="*/ 0 w 86"/>
                    <a:gd name="T17" fmla="*/ 0 h 12"/>
                    <a:gd name="T18" fmla="*/ 0 w 86"/>
                    <a:gd name="T19" fmla="*/ 0 h 12"/>
                    <a:gd name="T20" fmla="*/ 0 w 86"/>
                    <a:gd name="T21" fmla="*/ 0 h 1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86"/>
                    <a:gd name="T34" fmla="*/ 0 h 12"/>
                    <a:gd name="T35" fmla="*/ 86 w 86"/>
                    <a:gd name="T36" fmla="*/ 12 h 1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86" h="12">
                      <a:moveTo>
                        <a:pt x="0" y="0"/>
                      </a:move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9"/>
                      </a:lnTo>
                      <a:lnTo>
                        <a:pt x="0" y="12"/>
                      </a:lnTo>
                      <a:lnTo>
                        <a:pt x="81" y="12"/>
                      </a:lnTo>
                      <a:lnTo>
                        <a:pt x="82" y="9"/>
                      </a:lnTo>
                      <a:lnTo>
                        <a:pt x="84" y="6"/>
                      </a:lnTo>
                      <a:lnTo>
                        <a:pt x="85" y="2"/>
                      </a:lnTo>
                      <a:lnTo>
                        <a:pt x="8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34" name="Freeform 221"/>
                <p:cNvSpPr>
                  <a:spLocks/>
                </p:cNvSpPr>
                <p:nvPr/>
              </p:nvSpPr>
              <p:spPr bwMode="auto">
                <a:xfrm>
                  <a:off x="4636" y="2034"/>
                  <a:ext cx="167" cy="4"/>
                </a:xfrm>
                <a:custGeom>
                  <a:avLst/>
                  <a:gdLst>
                    <a:gd name="T0" fmla="*/ 0 w 365"/>
                    <a:gd name="T1" fmla="*/ 0 h 12"/>
                    <a:gd name="T2" fmla="*/ 0 w 365"/>
                    <a:gd name="T3" fmla="*/ 0 h 12"/>
                    <a:gd name="T4" fmla="*/ 0 w 365"/>
                    <a:gd name="T5" fmla="*/ 0 h 12"/>
                    <a:gd name="T6" fmla="*/ 0 w 365"/>
                    <a:gd name="T7" fmla="*/ 0 h 12"/>
                    <a:gd name="T8" fmla="*/ 0 w 365"/>
                    <a:gd name="T9" fmla="*/ 0 h 12"/>
                    <a:gd name="T10" fmla="*/ 0 w 365"/>
                    <a:gd name="T11" fmla="*/ 0 h 12"/>
                    <a:gd name="T12" fmla="*/ 0 w 365"/>
                    <a:gd name="T13" fmla="*/ 0 h 12"/>
                    <a:gd name="T14" fmla="*/ 0 w 365"/>
                    <a:gd name="T15" fmla="*/ 0 h 12"/>
                    <a:gd name="T16" fmla="*/ 0 w 365"/>
                    <a:gd name="T17" fmla="*/ 0 h 12"/>
                    <a:gd name="T18" fmla="*/ 0 w 365"/>
                    <a:gd name="T19" fmla="*/ 0 h 12"/>
                    <a:gd name="T20" fmla="*/ 0 w 365"/>
                    <a:gd name="T21" fmla="*/ 0 h 1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65"/>
                    <a:gd name="T34" fmla="*/ 0 h 12"/>
                    <a:gd name="T35" fmla="*/ 365 w 365"/>
                    <a:gd name="T36" fmla="*/ 12 h 1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65" h="12">
                      <a:moveTo>
                        <a:pt x="0" y="0"/>
                      </a:moveTo>
                      <a:lnTo>
                        <a:pt x="1" y="2"/>
                      </a:lnTo>
                      <a:lnTo>
                        <a:pt x="2" y="6"/>
                      </a:lnTo>
                      <a:lnTo>
                        <a:pt x="3" y="9"/>
                      </a:lnTo>
                      <a:lnTo>
                        <a:pt x="5" y="12"/>
                      </a:lnTo>
                      <a:lnTo>
                        <a:pt x="361" y="12"/>
                      </a:lnTo>
                      <a:lnTo>
                        <a:pt x="362" y="9"/>
                      </a:lnTo>
                      <a:lnTo>
                        <a:pt x="363" y="6"/>
                      </a:lnTo>
                      <a:lnTo>
                        <a:pt x="364" y="2"/>
                      </a:lnTo>
                      <a:lnTo>
                        <a:pt x="36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35" name="Freeform 222"/>
                <p:cNvSpPr>
                  <a:spLocks/>
                </p:cNvSpPr>
                <p:nvPr/>
              </p:nvSpPr>
              <p:spPr bwMode="auto">
                <a:xfrm>
                  <a:off x="4906" y="2034"/>
                  <a:ext cx="49" cy="4"/>
                </a:xfrm>
                <a:custGeom>
                  <a:avLst/>
                  <a:gdLst>
                    <a:gd name="T0" fmla="*/ 0 w 106"/>
                    <a:gd name="T1" fmla="*/ 0 h 12"/>
                    <a:gd name="T2" fmla="*/ 0 w 106"/>
                    <a:gd name="T3" fmla="*/ 0 h 12"/>
                    <a:gd name="T4" fmla="*/ 0 w 106"/>
                    <a:gd name="T5" fmla="*/ 0 h 12"/>
                    <a:gd name="T6" fmla="*/ 0 w 106"/>
                    <a:gd name="T7" fmla="*/ 0 h 12"/>
                    <a:gd name="T8" fmla="*/ 0 w 106"/>
                    <a:gd name="T9" fmla="*/ 0 h 12"/>
                    <a:gd name="T10" fmla="*/ 0 w 106"/>
                    <a:gd name="T11" fmla="*/ 0 h 12"/>
                    <a:gd name="T12" fmla="*/ 0 w 106"/>
                    <a:gd name="T13" fmla="*/ 0 h 12"/>
                    <a:gd name="T14" fmla="*/ 0 w 106"/>
                    <a:gd name="T15" fmla="*/ 0 h 12"/>
                    <a:gd name="T16" fmla="*/ 0 w 106"/>
                    <a:gd name="T17" fmla="*/ 0 h 12"/>
                    <a:gd name="T18" fmla="*/ 0 w 106"/>
                    <a:gd name="T19" fmla="*/ 0 h 12"/>
                    <a:gd name="T20" fmla="*/ 0 w 106"/>
                    <a:gd name="T21" fmla="*/ 0 h 1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06"/>
                    <a:gd name="T34" fmla="*/ 0 h 12"/>
                    <a:gd name="T35" fmla="*/ 106 w 106"/>
                    <a:gd name="T36" fmla="*/ 12 h 1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06" h="12">
                      <a:moveTo>
                        <a:pt x="0" y="0"/>
                      </a:moveTo>
                      <a:lnTo>
                        <a:pt x="1" y="2"/>
                      </a:lnTo>
                      <a:lnTo>
                        <a:pt x="2" y="6"/>
                      </a:lnTo>
                      <a:lnTo>
                        <a:pt x="4" y="9"/>
                      </a:lnTo>
                      <a:lnTo>
                        <a:pt x="5" y="12"/>
                      </a:lnTo>
                      <a:lnTo>
                        <a:pt x="106" y="12"/>
                      </a:lnTo>
                      <a:lnTo>
                        <a:pt x="106" y="9"/>
                      </a:lnTo>
                      <a:lnTo>
                        <a:pt x="106" y="6"/>
                      </a:lnTo>
                      <a:lnTo>
                        <a:pt x="106" y="2"/>
                      </a:lnTo>
                      <a:lnTo>
                        <a:pt x="10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8695" name="Group 452"/>
              <p:cNvGrpSpPr>
                <a:grpSpLocks/>
              </p:cNvGrpSpPr>
              <p:nvPr/>
            </p:nvGrpSpPr>
            <p:grpSpPr bwMode="auto">
              <a:xfrm>
                <a:off x="1344" y="960"/>
                <a:ext cx="653" cy="263"/>
                <a:chOff x="4080" y="1165"/>
                <a:chExt cx="1278" cy="514"/>
              </a:xfrm>
            </p:grpSpPr>
            <p:sp>
              <p:nvSpPr>
                <p:cNvPr id="28697" name="Freeform 234"/>
                <p:cNvSpPr>
                  <a:spLocks/>
                </p:cNvSpPr>
                <p:nvPr/>
              </p:nvSpPr>
              <p:spPr bwMode="auto">
                <a:xfrm>
                  <a:off x="4177" y="1490"/>
                  <a:ext cx="213" cy="90"/>
                </a:xfrm>
                <a:custGeom>
                  <a:avLst/>
                  <a:gdLst>
                    <a:gd name="T0" fmla="*/ 0 w 853"/>
                    <a:gd name="T1" fmla="*/ 0 h 362"/>
                    <a:gd name="T2" fmla="*/ 0 w 853"/>
                    <a:gd name="T3" fmla="*/ 0 h 362"/>
                    <a:gd name="T4" fmla="*/ 0 w 853"/>
                    <a:gd name="T5" fmla="*/ 0 h 362"/>
                    <a:gd name="T6" fmla="*/ 0 w 853"/>
                    <a:gd name="T7" fmla="*/ 0 h 362"/>
                    <a:gd name="T8" fmla="*/ 0 w 853"/>
                    <a:gd name="T9" fmla="*/ 0 h 362"/>
                    <a:gd name="T10" fmla="*/ 0 w 853"/>
                    <a:gd name="T11" fmla="*/ 0 h 362"/>
                    <a:gd name="T12" fmla="*/ 0 w 853"/>
                    <a:gd name="T13" fmla="*/ 0 h 362"/>
                    <a:gd name="T14" fmla="*/ 0 w 853"/>
                    <a:gd name="T15" fmla="*/ 0 h 362"/>
                    <a:gd name="T16" fmla="*/ 0 w 853"/>
                    <a:gd name="T17" fmla="*/ 0 h 362"/>
                    <a:gd name="T18" fmla="*/ 0 w 853"/>
                    <a:gd name="T19" fmla="*/ 0 h 362"/>
                    <a:gd name="T20" fmla="*/ 0 w 853"/>
                    <a:gd name="T21" fmla="*/ 0 h 362"/>
                    <a:gd name="T22" fmla="*/ 0 w 853"/>
                    <a:gd name="T23" fmla="*/ 0 h 362"/>
                    <a:gd name="T24" fmla="*/ 0 w 853"/>
                    <a:gd name="T25" fmla="*/ 0 h 362"/>
                    <a:gd name="T26" fmla="*/ 0 w 853"/>
                    <a:gd name="T27" fmla="*/ 0 h 362"/>
                    <a:gd name="T28" fmla="*/ 0 w 853"/>
                    <a:gd name="T29" fmla="*/ 0 h 362"/>
                    <a:gd name="T30" fmla="*/ 0 w 853"/>
                    <a:gd name="T31" fmla="*/ 0 h 362"/>
                    <a:gd name="T32" fmla="*/ 0 w 853"/>
                    <a:gd name="T33" fmla="*/ 0 h 362"/>
                    <a:gd name="T34" fmla="*/ 0 w 853"/>
                    <a:gd name="T35" fmla="*/ 0 h 362"/>
                    <a:gd name="T36" fmla="*/ 0 w 853"/>
                    <a:gd name="T37" fmla="*/ 0 h 362"/>
                    <a:gd name="T38" fmla="*/ 0 w 853"/>
                    <a:gd name="T39" fmla="*/ 0 h 362"/>
                    <a:gd name="T40" fmla="*/ 0 w 853"/>
                    <a:gd name="T41" fmla="*/ 0 h 362"/>
                    <a:gd name="T42" fmla="*/ 0 w 853"/>
                    <a:gd name="T43" fmla="*/ 0 h 362"/>
                    <a:gd name="T44" fmla="*/ 0 w 853"/>
                    <a:gd name="T45" fmla="*/ 0 h 362"/>
                    <a:gd name="T46" fmla="*/ 0 w 853"/>
                    <a:gd name="T47" fmla="*/ 0 h 362"/>
                    <a:gd name="T48" fmla="*/ 0 w 853"/>
                    <a:gd name="T49" fmla="*/ 0 h 362"/>
                    <a:gd name="T50" fmla="*/ 0 w 853"/>
                    <a:gd name="T51" fmla="*/ 0 h 362"/>
                    <a:gd name="T52" fmla="*/ 0 w 853"/>
                    <a:gd name="T53" fmla="*/ 0 h 362"/>
                    <a:gd name="T54" fmla="*/ 0 w 853"/>
                    <a:gd name="T55" fmla="*/ 0 h 362"/>
                    <a:gd name="T56" fmla="*/ 0 w 853"/>
                    <a:gd name="T57" fmla="*/ 0 h 362"/>
                    <a:gd name="T58" fmla="*/ 0 w 853"/>
                    <a:gd name="T59" fmla="*/ 0 h 362"/>
                    <a:gd name="T60" fmla="*/ 0 w 853"/>
                    <a:gd name="T61" fmla="*/ 0 h 362"/>
                    <a:gd name="T62" fmla="*/ 0 w 853"/>
                    <a:gd name="T63" fmla="*/ 0 h 362"/>
                    <a:gd name="T64" fmla="*/ 0 w 853"/>
                    <a:gd name="T65" fmla="*/ 0 h 362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853"/>
                    <a:gd name="T100" fmla="*/ 0 h 362"/>
                    <a:gd name="T101" fmla="*/ 853 w 853"/>
                    <a:gd name="T102" fmla="*/ 362 h 362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853" h="362">
                      <a:moveTo>
                        <a:pt x="853" y="362"/>
                      </a:moveTo>
                      <a:lnTo>
                        <a:pt x="828" y="312"/>
                      </a:lnTo>
                      <a:lnTo>
                        <a:pt x="798" y="269"/>
                      </a:lnTo>
                      <a:lnTo>
                        <a:pt x="763" y="228"/>
                      </a:lnTo>
                      <a:lnTo>
                        <a:pt x="725" y="190"/>
                      </a:lnTo>
                      <a:lnTo>
                        <a:pt x="685" y="155"/>
                      </a:lnTo>
                      <a:lnTo>
                        <a:pt x="639" y="125"/>
                      </a:lnTo>
                      <a:lnTo>
                        <a:pt x="586" y="97"/>
                      </a:lnTo>
                      <a:lnTo>
                        <a:pt x="533" y="74"/>
                      </a:lnTo>
                      <a:lnTo>
                        <a:pt x="475" y="51"/>
                      </a:lnTo>
                      <a:lnTo>
                        <a:pt x="415" y="35"/>
                      </a:lnTo>
                      <a:lnTo>
                        <a:pt x="353" y="21"/>
                      </a:lnTo>
                      <a:lnTo>
                        <a:pt x="288" y="11"/>
                      </a:lnTo>
                      <a:lnTo>
                        <a:pt x="219" y="3"/>
                      </a:lnTo>
                      <a:lnTo>
                        <a:pt x="147" y="0"/>
                      </a:lnTo>
                      <a:lnTo>
                        <a:pt x="76" y="0"/>
                      </a:lnTo>
                      <a:lnTo>
                        <a:pt x="0" y="3"/>
                      </a:lnTo>
                      <a:lnTo>
                        <a:pt x="62" y="16"/>
                      </a:lnTo>
                      <a:lnTo>
                        <a:pt x="122" y="30"/>
                      </a:lnTo>
                      <a:lnTo>
                        <a:pt x="182" y="44"/>
                      </a:lnTo>
                      <a:lnTo>
                        <a:pt x="236" y="57"/>
                      </a:lnTo>
                      <a:lnTo>
                        <a:pt x="290" y="74"/>
                      </a:lnTo>
                      <a:lnTo>
                        <a:pt x="342" y="92"/>
                      </a:lnTo>
                      <a:lnTo>
                        <a:pt x="394" y="111"/>
                      </a:lnTo>
                      <a:lnTo>
                        <a:pt x="445" y="131"/>
                      </a:lnTo>
                      <a:lnTo>
                        <a:pt x="494" y="152"/>
                      </a:lnTo>
                      <a:lnTo>
                        <a:pt x="543" y="177"/>
                      </a:lnTo>
                      <a:lnTo>
                        <a:pt x="595" y="201"/>
                      </a:lnTo>
                      <a:lnTo>
                        <a:pt x="644" y="231"/>
                      </a:lnTo>
                      <a:lnTo>
                        <a:pt x="695" y="258"/>
                      </a:lnTo>
                      <a:lnTo>
                        <a:pt x="747" y="291"/>
                      </a:lnTo>
                      <a:lnTo>
                        <a:pt x="798" y="326"/>
                      </a:lnTo>
                      <a:lnTo>
                        <a:pt x="853" y="362"/>
                      </a:lnTo>
                      <a:close/>
                    </a:path>
                  </a:pathLst>
                </a:custGeom>
                <a:solidFill>
                  <a:srgbClr val="9993A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98" name="Freeform 247"/>
                <p:cNvSpPr>
                  <a:spLocks/>
                </p:cNvSpPr>
                <p:nvPr/>
              </p:nvSpPr>
              <p:spPr bwMode="auto">
                <a:xfrm>
                  <a:off x="4080" y="1165"/>
                  <a:ext cx="1278" cy="440"/>
                </a:xfrm>
                <a:custGeom>
                  <a:avLst/>
                  <a:gdLst>
                    <a:gd name="T0" fmla="*/ 0 w 5110"/>
                    <a:gd name="T1" fmla="*/ 0 h 1758"/>
                    <a:gd name="T2" fmla="*/ 0 w 5110"/>
                    <a:gd name="T3" fmla="*/ 0 h 1758"/>
                    <a:gd name="T4" fmla="*/ 0 w 5110"/>
                    <a:gd name="T5" fmla="*/ 0 h 1758"/>
                    <a:gd name="T6" fmla="*/ 0 w 5110"/>
                    <a:gd name="T7" fmla="*/ 0 h 1758"/>
                    <a:gd name="T8" fmla="*/ 0 w 5110"/>
                    <a:gd name="T9" fmla="*/ 0 h 1758"/>
                    <a:gd name="T10" fmla="*/ 0 w 5110"/>
                    <a:gd name="T11" fmla="*/ 0 h 1758"/>
                    <a:gd name="T12" fmla="*/ 0 w 5110"/>
                    <a:gd name="T13" fmla="*/ 0 h 1758"/>
                    <a:gd name="T14" fmla="*/ 0 w 5110"/>
                    <a:gd name="T15" fmla="*/ 0 h 1758"/>
                    <a:gd name="T16" fmla="*/ 0 w 5110"/>
                    <a:gd name="T17" fmla="*/ 0 h 1758"/>
                    <a:gd name="T18" fmla="*/ 0 w 5110"/>
                    <a:gd name="T19" fmla="*/ 0 h 1758"/>
                    <a:gd name="T20" fmla="*/ 0 w 5110"/>
                    <a:gd name="T21" fmla="*/ 0 h 1758"/>
                    <a:gd name="T22" fmla="*/ 0 w 5110"/>
                    <a:gd name="T23" fmla="*/ 0 h 1758"/>
                    <a:gd name="T24" fmla="*/ 0 w 5110"/>
                    <a:gd name="T25" fmla="*/ 0 h 1758"/>
                    <a:gd name="T26" fmla="*/ 0 w 5110"/>
                    <a:gd name="T27" fmla="*/ 0 h 1758"/>
                    <a:gd name="T28" fmla="*/ 0 w 5110"/>
                    <a:gd name="T29" fmla="*/ 0 h 1758"/>
                    <a:gd name="T30" fmla="*/ 0 w 5110"/>
                    <a:gd name="T31" fmla="*/ 0 h 1758"/>
                    <a:gd name="T32" fmla="*/ 0 w 5110"/>
                    <a:gd name="T33" fmla="*/ 0 h 1758"/>
                    <a:gd name="T34" fmla="*/ 0 w 5110"/>
                    <a:gd name="T35" fmla="*/ 0 h 1758"/>
                    <a:gd name="T36" fmla="*/ 0 w 5110"/>
                    <a:gd name="T37" fmla="*/ 0 h 1758"/>
                    <a:gd name="T38" fmla="*/ 0 w 5110"/>
                    <a:gd name="T39" fmla="*/ 0 h 1758"/>
                    <a:gd name="T40" fmla="*/ 0 w 5110"/>
                    <a:gd name="T41" fmla="*/ 0 h 1758"/>
                    <a:gd name="T42" fmla="*/ 0 w 5110"/>
                    <a:gd name="T43" fmla="*/ 0 h 1758"/>
                    <a:gd name="T44" fmla="*/ 0 w 5110"/>
                    <a:gd name="T45" fmla="*/ 0 h 1758"/>
                    <a:gd name="T46" fmla="*/ 0 w 5110"/>
                    <a:gd name="T47" fmla="*/ 0 h 1758"/>
                    <a:gd name="T48" fmla="*/ 0 w 5110"/>
                    <a:gd name="T49" fmla="*/ 0 h 1758"/>
                    <a:gd name="T50" fmla="*/ 0 w 5110"/>
                    <a:gd name="T51" fmla="*/ 0 h 1758"/>
                    <a:gd name="T52" fmla="*/ 0 w 5110"/>
                    <a:gd name="T53" fmla="*/ 0 h 1758"/>
                    <a:gd name="T54" fmla="*/ 0 w 5110"/>
                    <a:gd name="T55" fmla="*/ 0 h 1758"/>
                    <a:gd name="T56" fmla="*/ 0 w 5110"/>
                    <a:gd name="T57" fmla="*/ 0 h 1758"/>
                    <a:gd name="T58" fmla="*/ 0 w 5110"/>
                    <a:gd name="T59" fmla="*/ 0 h 1758"/>
                    <a:gd name="T60" fmla="*/ 0 w 5110"/>
                    <a:gd name="T61" fmla="*/ 0 h 1758"/>
                    <a:gd name="T62" fmla="*/ 0 w 5110"/>
                    <a:gd name="T63" fmla="*/ 0 h 1758"/>
                    <a:gd name="T64" fmla="*/ 0 w 5110"/>
                    <a:gd name="T65" fmla="*/ 0 h 1758"/>
                    <a:gd name="T66" fmla="*/ 0 w 5110"/>
                    <a:gd name="T67" fmla="*/ 0 h 1758"/>
                    <a:gd name="T68" fmla="*/ 0 w 5110"/>
                    <a:gd name="T69" fmla="*/ 0 h 1758"/>
                    <a:gd name="T70" fmla="*/ 0 w 5110"/>
                    <a:gd name="T71" fmla="*/ 0 h 1758"/>
                    <a:gd name="T72" fmla="*/ 0 w 5110"/>
                    <a:gd name="T73" fmla="*/ 0 h 1758"/>
                    <a:gd name="T74" fmla="*/ 0 w 5110"/>
                    <a:gd name="T75" fmla="*/ 0 h 1758"/>
                    <a:gd name="T76" fmla="*/ 0 w 5110"/>
                    <a:gd name="T77" fmla="*/ 0 h 1758"/>
                    <a:gd name="T78" fmla="*/ 0 w 5110"/>
                    <a:gd name="T79" fmla="*/ 0 h 1758"/>
                    <a:gd name="T80" fmla="*/ 0 w 5110"/>
                    <a:gd name="T81" fmla="*/ 0 h 1758"/>
                    <a:gd name="T82" fmla="*/ 0 w 5110"/>
                    <a:gd name="T83" fmla="*/ 0 h 1758"/>
                    <a:gd name="T84" fmla="*/ 0 w 5110"/>
                    <a:gd name="T85" fmla="*/ 0 h 1758"/>
                    <a:gd name="T86" fmla="*/ 0 w 5110"/>
                    <a:gd name="T87" fmla="*/ 0 h 1758"/>
                    <a:gd name="T88" fmla="*/ 0 w 5110"/>
                    <a:gd name="T89" fmla="*/ 0 h 1758"/>
                    <a:gd name="T90" fmla="*/ 0 w 5110"/>
                    <a:gd name="T91" fmla="*/ 0 h 1758"/>
                    <a:gd name="T92" fmla="*/ 0 w 5110"/>
                    <a:gd name="T93" fmla="*/ 0 h 1758"/>
                    <a:gd name="T94" fmla="*/ 0 w 5110"/>
                    <a:gd name="T95" fmla="*/ 0 h 1758"/>
                    <a:gd name="T96" fmla="*/ 0 w 5110"/>
                    <a:gd name="T97" fmla="*/ 0 h 1758"/>
                    <a:gd name="T98" fmla="*/ 0 w 5110"/>
                    <a:gd name="T99" fmla="*/ 0 h 1758"/>
                    <a:gd name="T100" fmla="*/ 0 w 5110"/>
                    <a:gd name="T101" fmla="*/ 0 h 1758"/>
                    <a:gd name="T102" fmla="*/ 0 w 5110"/>
                    <a:gd name="T103" fmla="*/ 0 h 1758"/>
                    <a:gd name="T104" fmla="*/ 0 w 5110"/>
                    <a:gd name="T105" fmla="*/ 0 h 1758"/>
                    <a:gd name="T106" fmla="*/ 0 w 5110"/>
                    <a:gd name="T107" fmla="*/ 0 h 1758"/>
                    <a:gd name="T108" fmla="*/ 0 w 5110"/>
                    <a:gd name="T109" fmla="*/ 0 h 1758"/>
                    <a:gd name="T110" fmla="*/ 0 w 5110"/>
                    <a:gd name="T111" fmla="*/ 0 h 1758"/>
                    <a:gd name="T112" fmla="*/ 0 w 5110"/>
                    <a:gd name="T113" fmla="*/ 0 h 1758"/>
                    <a:gd name="T114" fmla="*/ 0 w 5110"/>
                    <a:gd name="T115" fmla="*/ 0 h 1758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w 5110"/>
                    <a:gd name="T175" fmla="*/ 0 h 1758"/>
                    <a:gd name="T176" fmla="*/ 5110 w 5110"/>
                    <a:gd name="T177" fmla="*/ 1758 h 1758"/>
                  </a:gdLst>
                  <a:ahLst/>
                  <a:cxnLst>
                    <a:cxn ang="T116">
                      <a:pos x="T0" y="T1"/>
                    </a:cxn>
                    <a:cxn ang="T117">
                      <a:pos x="T2" y="T3"/>
                    </a:cxn>
                    <a:cxn ang="T118">
                      <a:pos x="T4" y="T5"/>
                    </a:cxn>
                    <a:cxn ang="T119">
                      <a:pos x="T6" y="T7"/>
                    </a:cxn>
                    <a:cxn ang="T120">
                      <a:pos x="T8" y="T9"/>
                    </a:cxn>
                    <a:cxn ang="T121">
                      <a:pos x="T10" y="T11"/>
                    </a:cxn>
                    <a:cxn ang="T122">
                      <a:pos x="T12" y="T13"/>
                    </a:cxn>
                    <a:cxn ang="T123">
                      <a:pos x="T14" y="T15"/>
                    </a:cxn>
                    <a:cxn ang="T124">
                      <a:pos x="T16" y="T17"/>
                    </a:cxn>
                    <a:cxn ang="T125">
                      <a:pos x="T18" y="T19"/>
                    </a:cxn>
                    <a:cxn ang="T126">
                      <a:pos x="T20" y="T21"/>
                    </a:cxn>
                    <a:cxn ang="T127">
                      <a:pos x="T22" y="T23"/>
                    </a:cxn>
                    <a:cxn ang="T128">
                      <a:pos x="T24" y="T25"/>
                    </a:cxn>
                    <a:cxn ang="T129">
                      <a:pos x="T26" y="T27"/>
                    </a:cxn>
                    <a:cxn ang="T130">
                      <a:pos x="T28" y="T29"/>
                    </a:cxn>
                    <a:cxn ang="T131">
                      <a:pos x="T30" y="T31"/>
                    </a:cxn>
                    <a:cxn ang="T132">
                      <a:pos x="T32" y="T33"/>
                    </a:cxn>
                    <a:cxn ang="T133">
                      <a:pos x="T34" y="T35"/>
                    </a:cxn>
                    <a:cxn ang="T134">
                      <a:pos x="T36" y="T37"/>
                    </a:cxn>
                    <a:cxn ang="T135">
                      <a:pos x="T38" y="T39"/>
                    </a:cxn>
                    <a:cxn ang="T136">
                      <a:pos x="T40" y="T41"/>
                    </a:cxn>
                    <a:cxn ang="T137">
                      <a:pos x="T42" y="T43"/>
                    </a:cxn>
                    <a:cxn ang="T138">
                      <a:pos x="T44" y="T45"/>
                    </a:cxn>
                    <a:cxn ang="T139">
                      <a:pos x="T46" y="T47"/>
                    </a:cxn>
                    <a:cxn ang="T140">
                      <a:pos x="T48" y="T49"/>
                    </a:cxn>
                    <a:cxn ang="T141">
                      <a:pos x="T50" y="T51"/>
                    </a:cxn>
                    <a:cxn ang="T142">
                      <a:pos x="T52" y="T53"/>
                    </a:cxn>
                    <a:cxn ang="T143">
                      <a:pos x="T54" y="T55"/>
                    </a:cxn>
                    <a:cxn ang="T144">
                      <a:pos x="T56" y="T57"/>
                    </a:cxn>
                    <a:cxn ang="T145">
                      <a:pos x="T58" y="T59"/>
                    </a:cxn>
                    <a:cxn ang="T146">
                      <a:pos x="T60" y="T61"/>
                    </a:cxn>
                    <a:cxn ang="T147">
                      <a:pos x="T62" y="T63"/>
                    </a:cxn>
                    <a:cxn ang="T148">
                      <a:pos x="T64" y="T65"/>
                    </a:cxn>
                    <a:cxn ang="T149">
                      <a:pos x="T66" y="T67"/>
                    </a:cxn>
                    <a:cxn ang="T150">
                      <a:pos x="T68" y="T69"/>
                    </a:cxn>
                    <a:cxn ang="T151">
                      <a:pos x="T70" y="T71"/>
                    </a:cxn>
                    <a:cxn ang="T152">
                      <a:pos x="T72" y="T73"/>
                    </a:cxn>
                    <a:cxn ang="T153">
                      <a:pos x="T74" y="T75"/>
                    </a:cxn>
                    <a:cxn ang="T154">
                      <a:pos x="T76" y="T77"/>
                    </a:cxn>
                    <a:cxn ang="T155">
                      <a:pos x="T78" y="T79"/>
                    </a:cxn>
                    <a:cxn ang="T156">
                      <a:pos x="T80" y="T81"/>
                    </a:cxn>
                    <a:cxn ang="T157">
                      <a:pos x="T82" y="T83"/>
                    </a:cxn>
                    <a:cxn ang="T158">
                      <a:pos x="T84" y="T85"/>
                    </a:cxn>
                    <a:cxn ang="T159">
                      <a:pos x="T86" y="T87"/>
                    </a:cxn>
                    <a:cxn ang="T160">
                      <a:pos x="T88" y="T89"/>
                    </a:cxn>
                    <a:cxn ang="T161">
                      <a:pos x="T90" y="T91"/>
                    </a:cxn>
                    <a:cxn ang="T162">
                      <a:pos x="T92" y="T93"/>
                    </a:cxn>
                    <a:cxn ang="T163">
                      <a:pos x="T94" y="T95"/>
                    </a:cxn>
                    <a:cxn ang="T164">
                      <a:pos x="T96" y="T97"/>
                    </a:cxn>
                    <a:cxn ang="T165">
                      <a:pos x="T98" y="T99"/>
                    </a:cxn>
                    <a:cxn ang="T166">
                      <a:pos x="T100" y="T101"/>
                    </a:cxn>
                    <a:cxn ang="T167">
                      <a:pos x="T102" y="T103"/>
                    </a:cxn>
                    <a:cxn ang="T168">
                      <a:pos x="T104" y="T105"/>
                    </a:cxn>
                    <a:cxn ang="T169">
                      <a:pos x="T106" y="T107"/>
                    </a:cxn>
                    <a:cxn ang="T170">
                      <a:pos x="T108" y="T109"/>
                    </a:cxn>
                    <a:cxn ang="T171">
                      <a:pos x="T110" y="T111"/>
                    </a:cxn>
                    <a:cxn ang="T172">
                      <a:pos x="T112" y="T113"/>
                    </a:cxn>
                    <a:cxn ang="T173">
                      <a:pos x="T114" y="T115"/>
                    </a:cxn>
                  </a:cxnLst>
                  <a:rect l="T174" t="T175" r="T176" b="T177"/>
                  <a:pathLst>
                    <a:path w="5110" h="1758">
                      <a:moveTo>
                        <a:pt x="0" y="1636"/>
                      </a:moveTo>
                      <a:lnTo>
                        <a:pt x="9" y="1535"/>
                      </a:lnTo>
                      <a:lnTo>
                        <a:pt x="30" y="1443"/>
                      </a:lnTo>
                      <a:lnTo>
                        <a:pt x="65" y="1359"/>
                      </a:lnTo>
                      <a:lnTo>
                        <a:pt x="114" y="1280"/>
                      </a:lnTo>
                      <a:lnTo>
                        <a:pt x="174" y="1209"/>
                      </a:lnTo>
                      <a:lnTo>
                        <a:pt x="245" y="1144"/>
                      </a:lnTo>
                      <a:lnTo>
                        <a:pt x="326" y="1084"/>
                      </a:lnTo>
                      <a:lnTo>
                        <a:pt x="416" y="1033"/>
                      </a:lnTo>
                      <a:lnTo>
                        <a:pt x="481" y="1008"/>
                      </a:lnTo>
                      <a:lnTo>
                        <a:pt x="540" y="987"/>
                      </a:lnTo>
                      <a:lnTo>
                        <a:pt x="598" y="962"/>
                      </a:lnTo>
                      <a:lnTo>
                        <a:pt x="644" y="935"/>
                      </a:lnTo>
                      <a:lnTo>
                        <a:pt x="676" y="900"/>
                      </a:lnTo>
                      <a:lnTo>
                        <a:pt x="693" y="856"/>
                      </a:lnTo>
                      <a:lnTo>
                        <a:pt x="688" y="801"/>
                      </a:lnTo>
                      <a:lnTo>
                        <a:pt x="660" y="731"/>
                      </a:lnTo>
                      <a:lnTo>
                        <a:pt x="706" y="709"/>
                      </a:lnTo>
                      <a:lnTo>
                        <a:pt x="744" y="682"/>
                      </a:lnTo>
                      <a:lnTo>
                        <a:pt x="769" y="646"/>
                      </a:lnTo>
                      <a:lnTo>
                        <a:pt x="785" y="609"/>
                      </a:lnTo>
                      <a:lnTo>
                        <a:pt x="788" y="570"/>
                      </a:lnTo>
                      <a:lnTo>
                        <a:pt x="776" y="533"/>
                      </a:lnTo>
                      <a:lnTo>
                        <a:pt x="755" y="498"/>
                      </a:lnTo>
                      <a:lnTo>
                        <a:pt x="718" y="464"/>
                      </a:lnTo>
                      <a:lnTo>
                        <a:pt x="760" y="457"/>
                      </a:lnTo>
                      <a:lnTo>
                        <a:pt x="806" y="446"/>
                      </a:lnTo>
                      <a:lnTo>
                        <a:pt x="850" y="429"/>
                      </a:lnTo>
                      <a:lnTo>
                        <a:pt x="891" y="411"/>
                      </a:lnTo>
                      <a:lnTo>
                        <a:pt x="924" y="381"/>
                      </a:lnTo>
                      <a:lnTo>
                        <a:pt x="945" y="342"/>
                      </a:lnTo>
                      <a:lnTo>
                        <a:pt x="954" y="291"/>
                      </a:lnTo>
                      <a:lnTo>
                        <a:pt x="942" y="223"/>
                      </a:lnTo>
                      <a:lnTo>
                        <a:pt x="1027" y="228"/>
                      </a:lnTo>
                      <a:lnTo>
                        <a:pt x="1095" y="226"/>
                      </a:lnTo>
                      <a:lnTo>
                        <a:pt x="1147" y="212"/>
                      </a:lnTo>
                      <a:lnTo>
                        <a:pt x="1184" y="187"/>
                      </a:lnTo>
                      <a:lnTo>
                        <a:pt x="1212" y="152"/>
                      </a:lnTo>
                      <a:lnTo>
                        <a:pt x="1231" y="111"/>
                      </a:lnTo>
                      <a:lnTo>
                        <a:pt x="1242" y="60"/>
                      </a:lnTo>
                      <a:lnTo>
                        <a:pt x="1249" y="0"/>
                      </a:lnTo>
                      <a:lnTo>
                        <a:pt x="2263" y="951"/>
                      </a:lnTo>
                      <a:lnTo>
                        <a:pt x="2530" y="951"/>
                      </a:lnTo>
                      <a:lnTo>
                        <a:pt x="2429" y="734"/>
                      </a:lnTo>
                      <a:lnTo>
                        <a:pt x="2434" y="676"/>
                      </a:lnTo>
                      <a:lnTo>
                        <a:pt x="2456" y="641"/>
                      </a:lnTo>
                      <a:lnTo>
                        <a:pt x="2491" y="623"/>
                      </a:lnTo>
                      <a:lnTo>
                        <a:pt x="2530" y="614"/>
                      </a:lnTo>
                      <a:lnTo>
                        <a:pt x="2572" y="623"/>
                      </a:lnTo>
                      <a:lnTo>
                        <a:pt x="2611" y="636"/>
                      </a:lnTo>
                      <a:lnTo>
                        <a:pt x="2641" y="658"/>
                      </a:lnTo>
                      <a:lnTo>
                        <a:pt x="2660" y="685"/>
                      </a:lnTo>
                      <a:lnTo>
                        <a:pt x="2826" y="965"/>
                      </a:lnTo>
                      <a:lnTo>
                        <a:pt x="3629" y="973"/>
                      </a:lnTo>
                      <a:lnTo>
                        <a:pt x="3697" y="718"/>
                      </a:lnTo>
                      <a:lnTo>
                        <a:pt x="3711" y="699"/>
                      </a:lnTo>
                      <a:lnTo>
                        <a:pt x="3722" y="682"/>
                      </a:lnTo>
                      <a:lnTo>
                        <a:pt x="3736" y="674"/>
                      </a:lnTo>
                      <a:lnTo>
                        <a:pt x="3747" y="671"/>
                      </a:lnTo>
                      <a:lnTo>
                        <a:pt x="3757" y="674"/>
                      </a:lnTo>
                      <a:lnTo>
                        <a:pt x="3768" y="685"/>
                      </a:lnTo>
                      <a:lnTo>
                        <a:pt x="3779" y="704"/>
                      </a:lnTo>
                      <a:lnTo>
                        <a:pt x="3789" y="731"/>
                      </a:lnTo>
                      <a:lnTo>
                        <a:pt x="3733" y="973"/>
                      </a:lnTo>
                      <a:lnTo>
                        <a:pt x="4056" y="987"/>
                      </a:lnTo>
                      <a:lnTo>
                        <a:pt x="4031" y="943"/>
                      </a:lnTo>
                      <a:lnTo>
                        <a:pt x="3999" y="900"/>
                      </a:lnTo>
                      <a:lnTo>
                        <a:pt x="3966" y="856"/>
                      </a:lnTo>
                      <a:lnTo>
                        <a:pt x="3931" y="810"/>
                      </a:lnTo>
                      <a:lnTo>
                        <a:pt x="3895" y="764"/>
                      </a:lnTo>
                      <a:lnTo>
                        <a:pt x="3860" y="720"/>
                      </a:lnTo>
                      <a:lnTo>
                        <a:pt x="3825" y="674"/>
                      </a:lnTo>
                      <a:lnTo>
                        <a:pt x="3795" y="630"/>
                      </a:lnTo>
                      <a:lnTo>
                        <a:pt x="3771" y="590"/>
                      </a:lnTo>
                      <a:lnTo>
                        <a:pt x="3752" y="549"/>
                      </a:lnTo>
                      <a:lnTo>
                        <a:pt x="3738" y="510"/>
                      </a:lnTo>
                      <a:lnTo>
                        <a:pt x="3736" y="475"/>
                      </a:lnTo>
                      <a:lnTo>
                        <a:pt x="3741" y="443"/>
                      </a:lnTo>
                      <a:lnTo>
                        <a:pt x="3759" y="413"/>
                      </a:lnTo>
                      <a:lnTo>
                        <a:pt x="3789" y="386"/>
                      </a:lnTo>
                      <a:lnTo>
                        <a:pt x="3833" y="364"/>
                      </a:lnTo>
                      <a:lnTo>
                        <a:pt x="4301" y="997"/>
                      </a:lnTo>
                      <a:lnTo>
                        <a:pt x="4357" y="1006"/>
                      </a:lnTo>
                      <a:lnTo>
                        <a:pt x="4409" y="1017"/>
                      </a:lnTo>
                      <a:lnTo>
                        <a:pt x="4458" y="1025"/>
                      </a:lnTo>
                      <a:lnTo>
                        <a:pt x="4504" y="1038"/>
                      </a:lnTo>
                      <a:lnTo>
                        <a:pt x="4545" y="1049"/>
                      </a:lnTo>
                      <a:lnTo>
                        <a:pt x="4586" y="1066"/>
                      </a:lnTo>
                      <a:lnTo>
                        <a:pt x="4622" y="1082"/>
                      </a:lnTo>
                      <a:lnTo>
                        <a:pt x="4654" y="1101"/>
                      </a:lnTo>
                      <a:lnTo>
                        <a:pt x="4687" y="1122"/>
                      </a:lnTo>
                      <a:lnTo>
                        <a:pt x="4714" y="1147"/>
                      </a:lnTo>
                      <a:lnTo>
                        <a:pt x="4740" y="1177"/>
                      </a:lnTo>
                      <a:lnTo>
                        <a:pt x="4768" y="1207"/>
                      </a:lnTo>
                      <a:lnTo>
                        <a:pt x="4793" y="1244"/>
                      </a:lnTo>
                      <a:lnTo>
                        <a:pt x="4816" y="1285"/>
                      </a:lnTo>
                      <a:lnTo>
                        <a:pt x="4841" y="1329"/>
                      </a:lnTo>
                      <a:lnTo>
                        <a:pt x="4863" y="1380"/>
                      </a:lnTo>
                      <a:lnTo>
                        <a:pt x="4964" y="1386"/>
                      </a:lnTo>
                      <a:lnTo>
                        <a:pt x="5040" y="1416"/>
                      </a:lnTo>
                      <a:lnTo>
                        <a:pt x="5088" y="1465"/>
                      </a:lnTo>
                      <a:lnTo>
                        <a:pt x="5110" y="1525"/>
                      </a:lnTo>
                      <a:lnTo>
                        <a:pt x="5102" y="1587"/>
                      </a:lnTo>
                      <a:lnTo>
                        <a:pt x="5066" y="1652"/>
                      </a:lnTo>
                      <a:lnTo>
                        <a:pt x="5001" y="1707"/>
                      </a:lnTo>
                      <a:lnTo>
                        <a:pt x="4906" y="1745"/>
                      </a:lnTo>
                      <a:lnTo>
                        <a:pt x="4881" y="1698"/>
                      </a:lnTo>
                      <a:lnTo>
                        <a:pt x="4539" y="1682"/>
                      </a:lnTo>
                      <a:lnTo>
                        <a:pt x="4542" y="1758"/>
                      </a:lnTo>
                      <a:lnTo>
                        <a:pt x="2953" y="1758"/>
                      </a:lnTo>
                      <a:lnTo>
                        <a:pt x="2962" y="1661"/>
                      </a:lnTo>
                      <a:lnTo>
                        <a:pt x="1992" y="1657"/>
                      </a:lnTo>
                      <a:lnTo>
                        <a:pt x="1992" y="1721"/>
                      </a:lnTo>
                      <a:lnTo>
                        <a:pt x="310" y="1712"/>
                      </a:lnTo>
                      <a:lnTo>
                        <a:pt x="312" y="1631"/>
                      </a:lnTo>
                      <a:lnTo>
                        <a:pt x="0" y="1636"/>
                      </a:lnTo>
                      <a:close/>
                    </a:path>
                  </a:pathLst>
                </a:custGeom>
                <a:solidFill>
                  <a:srgbClr val="1E191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99" name="Freeform 248"/>
                <p:cNvSpPr>
                  <a:spLocks/>
                </p:cNvSpPr>
                <p:nvPr/>
              </p:nvSpPr>
              <p:spPr bwMode="auto">
                <a:xfrm>
                  <a:off x="4360" y="1200"/>
                  <a:ext cx="270" cy="203"/>
                </a:xfrm>
                <a:custGeom>
                  <a:avLst/>
                  <a:gdLst>
                    <a:gd name="T0" fmla="*/ 0 w 1081"/>
                    <a:gd name="T1" fmla="*/ 0 h 812"/>
                    <a:gd name="T2" fmla="*/ 0 w 1081"/>
                    <a:gd name="T3" fmla="*/ 0 h 812"/>
                    <a:gd name="T4" fmla="*/ 0 w 1081"/>
                    <a:gd name="T5" fmla="*/ 0 h 812"/>
                    <a:gd name="T6" fmla="*/ 0 w 1081"/>
                    <a:gd name="T7" fmla="*/ 0 h 812"/>
                    <a:gd name="T8" fmla="*/ 0 w 1081"/>
                    <a:gd name="T9" fmla="*/ 0 h 812"/>
                    <a:gd name="T10" fmla="*/ 0 w 1081"/>
                    <a:gd name="T11" fmla="*/ 0 h 812"/>
                    <a:gd name="T12" fmla="*/ 0 w 1081"/>
                    <a:gd name="T13" fmla="*/ 0 h 812"/>
                    <a:gd name="T14" fmla="*/ 0 w 1081"/>
                    <a:gd name="T15" fmla="*/ 0 h 812"/>
                    <a:gd name="T16" fmla="*/ 0 w 1081"/>
                    <a:gd name="T17" fmla="*/ 0 h 812"/>
                    <a:gd name="T18" fmla="*/ 0 w 1081"/>
                    <a:gd name="T19" fmla="*/ 0 h 812"/>
                    <a:gd name="T20" fmla="*/ 0 w 1081"/>
                    <a:gd name="T21" fmla="*/ 0 h 812"/>
                    <a:gd name="T22" fmla="*/ 0 w 1081"/>
                    <a:gd name="T23" fmla="*/ 0 h 812"/>
                    <a:gd name="T24" fmla="*/ 0 w 1081"/>
                    <a:gd name="T25" fmla="*/ 0 h 812"/>
                    <a:gd name="T26" fmla="*/ 0 w 1081"/>
                    <a:gd name="T27" fmla="*/ 0 h 812"/>
                    <a:gd name="T28" fmla="*/ 0 w 1081"/>
                    <a:gd name="T29" fmla="*/ 0 h 812"/>
                    <a:gd name="T30" fmla="*/ 0 w 1081"/>
                    <a:gd name="T31" fmla="*/ 0 h 812"/>
                    <a:gd name="T32" fmla="*/ 0 w 1081"/>
                    <a:gd name="T33" fmla="*/ 0 h 812"/>
                    <a:gd name="T34" fmla="*/ 0 w 1081"/>
                    <a:gd name="T35" fmla="*/ 0 h 812"/>
                    <a:gd name="T36" fmla="*/ 0 w 1081"/>
                    <a:gd name="T37" fmla="*/ 0 h 812"/>
                    <a:gd name="T38" fmla="*/ 0 w 1081"/>
                    <a:gd name="T39" fmla="*/ 0 h 812"/>
                    <a:gd name="T40" fmla="*/ 0 w 1081"/>
                    <a:gd name="T41" fmla="*/ 0 h 812"/>
                    <a:gd name="T42" fmla="*/ 0 w 1081"/>
                    <a:gd name="T43" fmla="*/ 0 h 812"/>
                    <a:gd name="T44" fmla="*/ 0 w 1081"/>
                    <a:gd name="T45" fmla="*/ 0 h 812"/>
                    <a:gd name="T46" fmla="*/ 0 w 1081"/>
                    <a:gd name="T47" fmla="*/ 0 h 812"/>
                    <a:gd name="T48" fmla="*/ 0 w 1081"/>
                    <a:gd name="T49" fmla="*/ 0 h 812"/>
                    <a:gd name="T50" fmla="*/ 0 w 1081"/>
                    <a:gd name="T51" fmla="*/ 0 h 812"/>
                    <a:gd name="T52" fmla="*/ 0 w 1081"/>
                    <a:gd name="T53" fmla="*/ 0 h 812"/>
                    <a:gd name="T54" fmla="*/ 0 w 1081"/>
                    <a:gd name="T55" fmla="*/ 0 h 812"/>
                    <a:gd name="T56" fmla="*/ 0 w 1081"/>
                    <a:gd name="T57" fmla="*/ 0 h 812"/>
                    <a:gd name="T58" fmla="*/ 0 w 1081"/>
                    <a:gd name="T59" fmla="*/ 0 h 812"/>
                    <a:gd name="T60" fmla="*/ 0 w 1081"/>
                    <a:gd name="T61" fmla="*/ 0 h 812"/>
                    <a:gd name="T62" fmla="*/ 0 w 1081"/>
                    <a:gd name="T63" fmla="*/ 0 h 812"/>
                    <a:gd name="T64" fmla="*/ 0 w 1081"/>
                    <a:gd name="T65" fmla="*/ 0 h 812"/>
                    <a:gd name="T66" fmla="*/ 0 w 1081"/>
                    <a:gd name="T67" fmla="*/ 0 h 812"/>
                    <a:gd name="T68" fmla="*/ 0 w 1081"/>
                    <a:gd name="T69" fmla="*/ 0 h 812"/>
                    <a:gd name="T70" fmla="*/ 0 w 1081"/>
                    <a:gd name="T71" fmla="*/ 0 h 812"/>
                    <a:gd name="T72" fmla="*/ 0 w 1081"/>
                    <a:gd name="T73" fmla="*/ 0 h 812"/>
                    <a:gd name="T74" fmla="*/ 0 w 1081"/>
                    <a:gd name="T75" fmla="*/ 0 h 812"/>
                    <a:gd name="T76" fmla="*/ 0 w 1081"/>
                    <a:gd name="T77" fmla="*/ 0 h 812"/>
                    <a:gd name="T78" fmla="*/ 0 w 1081"/>
                    <a:gd name="T79" fmla="*/ 0 h 812"/>
                    <a:gd name="T80" fmla="*/ 0 w 1081"/>
                    <a:gd name="T81" fmla="*/ 0 h 812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081"/>
                    <a:gd name="T124" fmla="*/ 0 h 812"/>
                    <a:gd name="T125" fmla="*/ 1081 w 1081"/>
                    <a:gd name="T126" fmla="*/ 812 h 812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081" h="812">
                      <a:moveTo>
                        <a:pt x="1081" y="812"/>
                      </a:moveTo>
                      <a:lnTo>
                        <a:pt x="1028" y="779"/>
                      </a:lnTo>
                      <a:lnTo>
                        <a:pt x="968" y="744"/>
                      </a:lnTo>
                      <a:lnTo>
                        <a:pt x="902" y="706"/>
                      </a:lnTo>
                      <a:lnTo>
                        <a:pt x="834" y="666"/>
                      </a:lnTo>
                      <a:lnTo>
                        <a:pt x="763" y="622"/>
                      </a:lnTo>
                      <a:lnTo>
                        <a:pt x="691" y="576"/>
                      </a:lnTo>
                      <a:lnTo>
                        <a:pt x="615" y="530"/>
                      </a:lnTo>
                      <a:lnTo>
                        <a:pt x="538" y="484"/>
                      </a:lnTo>
                      <a:lnTo>
                        <a:pt x="462" y="435"/>
                      </a:lnTo>
                      <a:lnTo>
                        <a:pt x="389" y="389"/>
                      </a:lnTo>
                      <a:lnTo>
                        <a:pt x="315" y="343"/>
                      </a:lnTo>
                      <a:lnTo>
                        <a:pt x="245" y="299"/>
                      </a:lnTo>
                      <a:lnTo>
                        <a:pt x="177" y="255"/>
                      </a:lnTo>
                      <a:lnTo>
                        <a:pt x="112" y="214"/>
                      </a:lnTo>
                      <a:lnTo>
                        <a:pt x="54" y="179"/>
                      </a:lnTo>
                      <a:lnTo>
                        <a:pt x="0" y="144"/>
                      </a:lnTo>
                      <a:lnTo>
                        <a:pt x="41" y="136"/>
                      </a:lnTo>
                      <a:lnTo>
                        <a:pt x="74" y="122"/>
                      </a:lnTo>
                      <a:lnTo>
                        <a:pt x="98" y="106"/>
                      </a:lnTo>
                      <a:lnTo>
                        <a:pt x="120" y="87"/>
                      </a:lnTo>
                      <a:lnTo>
                        <a:pt x="139" y="64"/>
                      </a:lnTo>
                      <a:lnTo>
                        <a:pt x="153" y="43"/>
                      </a:lnTo>
                      <a:lnTo>
                        <a:pt x="169" y="22"/>
                      </a:lnTo>
                      <a:lnTo>
                        <a:pt x="185" y="0"/>
                      </a:lnTo>
                      <a:lnTo>
                        <a:pt x="236" y="48"/>
                      </a:lnTo>
                      <a:lnTo>
                        <a:pt x="291" y="101"/>
                      </a:lnTo>
                      <a:lnTo>
                        <a:pt x="345" y="152"/>
                      </a:lnTo>
                      <a:lnTo>
                        <a:pt x="400" y="203"/>
                      </a:lnTo>
                      <a:lnTo>
                        <a:pt x="456" y="255"/>
                      </a:lnTo>
                      <a:lnTo>
                        <a:pt x="514" y="309"/>
                      </a:lnTo>
                      <a:lnTo>
                        <a:pt x="571" y="361"/>
                      </a:lnTo>
                      <a:lnTo>
                        <a:pt x="631" y="413"/>
                      </a:lnTo>
                      <a:lnTo>
                        <a:pt x="687" y="467"/>
                      </a:lnTo>
                      <a:lnTo>
                        <a:pt x="747" y="519"/>
                      </a:lnTo>
                      <a:lnTo>
                        <a:pt x="804" y="570"/>
                      </a:lnTo>
                      <a:lnTo>
                        <a:pt x="862" y="622"/>
                      </a:lnTo>
                      <a:lnTo>
                        <a:pt x="919" y="671"/>
                      </a:lnTo>
                      <a:lnTo>
                        <a:pt x="973" y="720"/>
                      </a:lnTo>
                      <a:lnTo>
                        <a:pt x="1028" y="766"/>
                      </a:lnTo>
                      <a:lnTo>
                        <a:pt x="1081" y="812"/>
                      </a:lnTo>
                      <a:close/>
                    </a:path>
                  </a:pathLst>
                </a:custGeom>
                <a:solidFill>
                  <a:srgbClr val="AD44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0" name="Freeform 249"/>
                <p:cNvSpPr>
                  <a:spLocks/>
                </p:cNvSpPr>
                <p:nvPr/>
              </p:nvSpPr>
              <p:spPr bwMode="auto">
                <a:xfrm>
                  <a:off x="4296" y="1240"/>
                  <a:ext cx="312" cy="162"/>
                </a:xfrm>
                <a:custGeom>
                  <a:avLst/>
                  <a:gdLst>
                    <a:gd name="T0" fmla="*/ 0 w 1247"/>
                    <a:gd name="T1" fmla="*/ 0 h 646"/>
                    <a:gd name="T2" fmla="*/ 0 w 1247"/>
                    <a:gd name="T3" fmla="*/ 0 h 646"/>
                    <a:gd name="T4" fmla="*/ 0 w 1247"/>
                    <a:gd name="T5" fmla="*/ 0 h 646"/>
                    <a:gd name="T6" fmla="*/ 0 w 1247"/>
                    <a:gd name="T7" fmla="*/ 0 h 646"/>
                    <a:gd name="T8" fmla="*/ 0 w 1247"/>
                    <a:gd name="T9" fmla="*/ 0 h 646"/>
                    <a:gd name="T10" fmla="*/ 0 w 1247"/>
                    <a:gd name="T11" fmla="*/ 0 h 646"/>
                    <a:gd name="T12" fmla="*/ 0 w 1247"/>
                    <a:gd name="T13" fmla="*/ 0 h 646"/>
                    <a:gd name="T14" fmla="*/ 0 w 1247"/>
                    <a:gd name="T15" fmla="*/ 0 h 646"/>
                    <a:gd name="T16" fmla="*/ 0 w 1247"/>
                    <a:gd name="T17" fmla="*/ 0 h 646"/>
                    <a:gd name="T18" fmla="*/ 0 w 1247"/>
                    <a:gd name="T19" fmla="*/ 0 h 646"/>
                    <a:gd name="T20" fmla="*/ 0 w 1247"/>
                    <a:gd name="T21" fmla="*/ 0 h 646"/>
                    <a:gd name="T22" fmla="*/ 0 w 1247"/>
                    <a:gd name="T23" fmla="*/ 0 h 646"/>
                    <a:gd name="T24" fmla="*/ 0 w 1247"/>
                    <a:gd name="T25" fmla="*/ 0 h 646"/>
                    <a:gd name="T26" fmla="*/ 0 w 1247"/>
                    <a:gd name="T27" fmla="*/ 0 h 646"/>
                    <a:gd name="T28" fmla="*/ 0 w 1247"/>
                    <a:gd name="T29" fmla="*/ 0 h 646"/>
                    <a:gd name="T30" fmla="*/ 0 w 1247"/>
                    <a:gd name="T31" fmla="*/ 0 h 646"/>
                    <a:gd name="T32" fmla="*/ 0 w 1247"/>
                    <a:gd name="T33" fmla="*/ 0 h 646"/>
                    <a:gd name="T34" fmla="*/ 0 w 1247"/>
                    <a:gd name="T35" fmla="*/ 0 h 646"/>
                    <a:gd name="T36" fmla="*/ 0 w 1247"/>
                    <a:gd name="T37" fmla="*/ 0 h 646"/>
                    <a:gd name="T38" fmla="*/ 0 w 1247"/>
                    <a:gd name="T39" fmla="*/ 0 h 646"/>
                    <a:gd name="T40" fmla="*/ 0 w 1247"/>
                    <a:gd name="T41" fmla="*/ 0 h 646"/>
                    <a:gd name="T42" fmla="*/ 0 w 1247"/>
                    <a:gd name="T43" fmla="*/ 0 h 646"/>
                    <a:gd name="T44" fmla="*/ 0 w 1247"/>
                    <a:gd name="T45" fmla="*/ 0 h 646"/>
                    <a:gd name="T46" fmla="*/ 0 w 1247"/>
                    <a:gd name="T47" fmla="*/ 0 h 646"/>
                    <a:gd name="T48" fmla="*/ 0 w 1247"/>
                    <a:gd name="T49" fmla="*/ 0 h 646"/>
                    <a:gd name="T50" fmla="*/ 0 w 1247"/>
                    <a:gd name="T51" fmla="*/ 0 h 646"/>
                    <a:gd name="T52" fmla="*/ 0 w 1247"/>
                    <a:gd name="T53" fmla="*/ 0 h 646"/>
                    <a:gd name="T54" fmla="*/ 0 w 1247"/>
                    <a:gd name="T55" fmla="*/ 0 h 646"/>
                    <a:gd name="T56" fmla="*/ 0 w 1247"/>
                    <a:gd name="T57" fmla="*/ 0 h 646"/>
                    <a:gd name="T58" fmla="*/ 0 w 1247"/>
                    <a:gd name="T59" fmla="*/ 0 h 646"/>
                    <a:gd name="T60" fmla="*/ 0 w 1247"/>
                    <a:gd name="T61" fmla="*/ 0 h 646"/>
                    <a:gd name="T62" fmla="*/ 0 w 1247"/>
                    <a:gd name="T63" fmla="*/ 0 h 646"/>
                    <a:gd name="T64" fmla="*/ 0 w 1247"/>
                    <a:gd name="T65" fmla="*/ 0 h 646"/>
                    <a:gd name="T66" fmla="*/ 0 w 1247"/>
                    <a:gd name="T67" fmla="*/ 0 h 646"/>
                    <a:gd name="T68" fmla="*/ 0 w 1247"/>
                    <a:gd name="T69" fmla="*/ 0 h 646"/>
                    <a:gd name="T70" fmla="*/ 0 w 1247"/>
                    <a:gd name="T71" fmla="*/ 0 h 646"/>
                    <a:gd name="T72" fmla="*/ 0 w 1247"/>
                    <a:gd name="T73" fmla="*/ 0 h 646"/>
                    <a:gd name="T74" fmla="*/ 0 w 1247"/>
                    <a:gd name="T75" fmla="*/ 0 h 646"/>
                    <a:gd name="T76" fmla="*/ 0 w 1247"/>
                    <a:gd name="T77" fmla="*/ 0 h 646"/>
                    <a:gd name="T78" fmla="*/ 0 w 1247"/>
                    <a:gd name="T79" fmla="*/ 0 h 646"/>
                    <a:gd name="T80" fmla="*/ 0 w 1247"/>
                    <a:gd name="T81" fmla="*/ 0 h 64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47"/>
                    <a:gd name="T124" fmla="*/ 0 h 646"/>
                    <a:gd name="T125" fmla="*/ 1247 w 1247"/>
                    <a:gd name="T126" fmla="*/ 646 h 64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47" h="646">
                      <a:moveTo>
                        <a:pt x="1247" y="646"/>
                      </a:moveTo>
                      <a:lnTo>
                        <a:pt x="1179" y="628"/>
                      </a:lnTo>
                      <a:lnTo>
                        <a:pt x="1106" y="603"/>
                      </a:lnTo>
                      <a:lnTo>
                        <a:pt x="1032" y="579"/>
                      </a:lnTo>
                      <a:lnTo>
                        <a:pt x="953" y="552"/>
                      </a:lnTo>
                      <a:lnTo>
                        <a:pt x="872" y="524"/>
                      </a:lnTo>
                      <a:lnTo>
                        <a:pt x="791" y="494"/>
                      </a:lnTo>
                      <a:lnTo>
                        <a:pt x="706" y="464"/>
                      </a:lnTo>
                      <a:lnTo>
                        <a:pt x="622" y="434"/>
                      </a:lnTo>
                      <a:lnTo>
                        <a:pt x="538" y="402"/>
                      </a:lnTo>
                      <a:lnTo>
                        <a:pt x="454" y="372"/>
                      </a:lnTo>
                      <a:lnTo>
                        <a:pt x="372" y="339"/>
                      </a:lnTo>
                      <a:lnTo>
                        <a:pt x="293" y="309"/>
                      </a:lnTo>
                      <a:lnTo>
                        <a:pt x="214" y="280"/>
                      </a:lnTo>
                      <a:lnTo>
                        <a:pt x="138" y="252"/>
                      </a:lnTo>
                      <a:lnTo>
                        <a:pt x="68" y="226"/>
                      </a:lnTo>
                      <a:lnTo>
                        <a:pt x="0" y="201"/>
                      </a:lnTo>
                      <a:lnTo>
                        <a:pt x="35" y="182"/>
                      </a:lnTo>
                      <a:lnTo>
                        <a:pt x="65" y="162"/>
                      </a:lnTo>
                      <a:lnTo>
                        <a:pt x="92" y="141"/>
                      </a:lnTo>
                      <a:lnTo>
                        <a:pt x="117" y="116"/>
                      </a:lnTo>
                      <a:lnTo>
                        <a:pt x="136" y="90"/>
                      </a:lnTo>
                      <a:lnTo>
                        <a:pt x="149" y="62"/>
                      </a:lnTo>
                      <a:lnTo>
                        <a:pt x="163" y="32"/>
                      </a:lnTo>
                      <a:lnTo>
                        <a:pt x="171" y="0"/>
                      </a:lnTo>
                      <a:lnTo>
                        <a:pt x="209" y="24"/>
                      </a:lnTo>
                      <a:lnTo>
                        <a:pt x="258" y="54"/>
                      </a:lnTo>
                      <a:lnTo>
                        <a:pt x="318" y="90"/>
                      </a:lnTo>
                      <a:lnTo>
                        <a:pt x="383" y="130"/>
                      </a:lnTo>
                      <a:lnTo>
                        <a:pt x="456" y="176"/>
                      </a:lnTo>
                      <a:lnTo>
                        <a:pt x="533" y="222"/>
                      </a:lnTo>
                      <a:lnTo>
                        <a:pt x="614" y="272"/>
                      </a:lnTo>
                      <a:lnTo>
                        <a:pt x="695" y="323"/>
                      </a:lnTo>
                      <a:lnTo>
                        <a:pt x="780" y="374"/>
                      </a:lnTo>
                      <a:lnTo>
                        <a:pt x="861" y="423"/>
                      </a:lnTo>
                      <a:lnTo>
                        <a:pt x="940" y="470"/>
                      </a:lnTo>
                      <a:lnTo>
                        <a:pt x="1013" y="516"/>
                      </a:lnTo>
                      <a:lnTo>
                        <a:pt x="1084" y="557"/>
                      </a:lnTo>
                      <a:lnTo>
                        <a:pt x="1147" y="593"/>
                      </a:lnTo>
                      <a:lnTo>
                        <a:pt x="1200" y="623"/>
                      </a:lnTo>
                      <a:lnTo>
                        <a:pt x="1247" y="646"/>
                      </a:lnTo>
                      <a:close/>
                    </a:path>
                  </a:pathLst>
                </a:custGeom>
                <a:solidFill>
                  <a:srgbClr val="CC5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1" name="Freeform 250"/>
                <p:cNvSpPr>
                  <a:spLocks/>
                </p:cNvSpPr>
                <p:nvPr/>
              </p:nvSpPr>
              <p:spPr bwMode="auto">
                <a:xfrm>
                  <a:off x="4275" y="1306"/>
                  <a:ext cx="294" cy="96"/>
                </a:xfrm>
                <a:custGeom>
                  <a:avLst/>
                  <a:gdLst>
                    <a:gd name="T0" fmla="*/ 0 w 1176"/>
                    <a:gd name="T1" fmla="*/ 0 h 383"/>
                    <a:gd name="T2" fmla="*/ 0 w 1176"/>
                    <a:gd name="T3" fmla="*/ 0 h 383"/>
                    <a:gd name="T4" fmla="*/ 0 w 1176"/>
                    <a:gd name="T5" fmla="*/ 0 h 383"/>
                    <a:gd name="T6" fmla="*/ 0 w 1176"/>
                    <a:gd name="T7" fmla="*/ 0 h 383"/>
                    <a:gd name="T8" fmla="*/ 0 w 1176"/>
                    <a:gd name="T9" fmla="*/ 0 h 383"/>
                    <a:gd name="T10" fmla="*/ 0 w 1176"/>
                    <a:gd name="T11" fmla="*/ 0 h 383"/>
                    <a:gd name="T12" fmla="*/ 0 w 1176"/>
                    <a:gd name="T13" fmla="*/ 0 h 383"/>
                    <a:gd name="T14" fmla="*/ 0 w 1176"/>
                    <a:gd name="T15" fmla="*/ 0 h 383"/>
                    <a:gd name="T16" fmla="*/ 0 w 1176"/>
                    <a:gd name="T17" fmla="*/ 0 h 383"/>
                    <a:gd name="T18" fmla="*/ 0 w 1176"/>
                    <a:gd name="T19" fmla="*/ 0 h 383"/>
                    <a:gd name="T20" fmla="*/ 0 w 1176"/>
                    <a:gd name="T21" fmla="*/ 0 h 383"/>
                    <a:gd name="T22" fmla="*/ 0 w 1176"/>
                    <a:gd name="T23" fmla="*/ 0 h 383"/>
                    <a:gd name="T24" fmla="*/ 0 w 1176"/>
                    <a:gd name="T25" fmla="*/ 0 h 383"/>
                    <a:gd name="T26" fmla="*/ 0 w 1176"/>
                    <a:gd name="T27" fmla="*/ 0 h 383"/>
                    <a:gd name="T28" fmla="*/ 0 w 1176"/>
                    <a:gd name="T29" fmla="*/ 0 h 383"/>
                    <a:gd name="T30" fmla="*/ 0 w 1176"/>
                    <a:gd name="T31" fmla="*/ 0 h 383"/>
                    <a:gd name="T32" fmla="*/ 0 w 1176"/>
                    <a:gd name="T33" fmla="*/ 0 h 383"/>
                    <a:gd name="T34" fmla="*/ 0 w 1176"/>
                    <a:gd name="T35" fmla="*/ 0 h 383"/>
                    <a:gd name="T36" fmla="*/ 0 w 1176"/>
                    <a:gd name="T37" fmla="*/ 0 h 383"/>
                    <a:gd name="T38" fmla="*/ 0 w 1176"/>
                    <a:gd name="T39" fmla="*/ 0 h 383"/>
                    <a:gd name="T40" fmla="*/ 0 w 1176"/>
                    <a:gd name="T41" fmla="*/ 0 h 383"/>
                    <a:gd name="T42" fmla="*/ 0 w 1176"/>
                    <a:gd name="T43" fmla="*/ 0 h 383"/>
                    <a:gd name="T44" fmla="*/ 0 w 1176"/>
                    <a:gd name="T45" fmla="*/ 0 h 383"/>
                    <a:gd name="T46" fmla="*/ 0 w 1176"/>
                    <a:gd name="T47" fmla="*/ 0 h 383"/>
                    <a:gd name="T48" fmla="*/ 0 w 1176"/>
                    <a:gd name="T49" fmla="*/ 0 h 383"/>
                    <a:gd name="T50" fmla="*/ 0 w 1176"/>
                    <a:gd name="T51" fmla="*/ 0 h 383"/>
                    <a:gd name="T52" fmla="*/ 0 w 1176"/>
                    <a:gd name="T53" fmla="*/ 0 h 383"/>
                    <a:gd name="T54" fmla="*/ 0 w 1176"/>
                    <a:gd name="T55" fmla="*/ 0 h 383"/>
                    <a:gd name="T56" fmla="*/ 0 w 1176"/>
                    <a:gd name="T57" fmla="*/ 0 h 383"/>
                    <a:gd name="T58" fmla="*/ 0 w 1176"/>
                    <a:gd name="T59" fmla="*/ 0 h 383"/>
                    <a:gd name="T60" fmla="*/ 0 w 1176"/>
                    <a:gd name="T61" fmla="*/ 0 h 383"/>
                    <a:gd name="T62" fmla="*/ 0 w 1176"/>
                    <a:gd name="T63" fmla="*/ 0 h 383"/>
                    <a:gd name="T64" fmla="*/ 0 w 1176"/>
                    <a:gd name="T65" fmla="*/ 0 h 383"/>
                    <a:gd name="T66" fmla="*/ 0 w 1176"/>
                    <a:gd name="T67" fmla="*/ 0 h 383"/>
                    <a:gd name="T68" fmla="*/ 0 w 1176"/>
                    <a:gd name="T69" fmla="*/ 0 h 383"/>
                    <a:gd name="T70" fmla="*/ 0 w 1176"/>
                    <a:gd name="T71" fmla="*/ 0 h 383"/>
                    <a:gd name="T72" fmla="*/ 0 w 1176"/>
                    <a:gd name="T73" fmla="*/ 0 h 383"/>
                    <a:gd name="T74" fmla="*/ 0 w 1176"/>
                    <a:gd name="T75" fmla="*/ 0 h 383"/>
                    <a:gd name="T76" fmla="*/ 0 w 1176"/>
                    <a:gd name="T77" fmla="*/ 0 h 383"/>
                    <a:gd name="T78" fmla="*/ 0 w 1176"/>
                    <a:gd name="T79" fmla="*/ 0 h 383"/>
                    <a:gd name="T80" fmla="*/ 0 w 1176"/>
                    <a:gd name="T81" fmla="*/ 0 h 3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76"/>
                    <a:gd name="T124" fmla="*/ 0 h 383"/>
                    <a:gd name="T125" fmla="*/ 1176 w 1176"/>
                    <a:gd name="T126" fmla="*/ 383 h 3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76" h="383">
                      <a:moveTo>
                        <a:pt x="1176" y="383"/>
                      </a:moveTo>
                      <a:lnTo>
                        <a:pt x="1113" y="376"/>
                      </a:lnTo>
                      <a:lnTo>
                        <a:pt x="1046" y="365"/>
                      </a:lnTo>
                      <a:lnTo>
                        <a:pt x="975" y="351"/>
                      </a:lnTo>
                      <a:lnTo>
                        <a:pt x="901" y="337"/>
                      </a:lnTo>
                      <a:lnTo>
                        <a:pt x="823" y="324"/>
                      </a:lnTo>
                      <a:lnTo>
                        <a:pt x="744" y="310"/>
                      </a:lnTo>
                      <a:lnTo>
                        <a:pt x="665" y="294"/>
                      </a:lnTo>
                      <a:lnTo>
                        <a:pt x="584" y="277"/>
                      </a:lnTo>
                      <a:lnTo>
                        <a:pt x="502" y="261"/>
                      </a:lnTo>
                      <a:lnTo>
                        <a:pt x="423" y="247"/>
                      </a:lnTo>
                      <a:lnTo>
                        <a:pt x="345" y="231"/>
                      </a:lnTo>
                      <a:lnTo>
                        <a:pt x="268" y="215"/>
                      </a:lnTo>
                      <a:lnTo>
                        <a:pt x="195" y="201"/>
                      </a:lnTo>
                      <a:lnTo>
                        <a:pt x="125" y="185"/>
                      </a:lnTo>
                      <a:lnTo>
                        <a:pt x="60" y="174"/>
                      </a:lnTo>
                      <a:lnTo>
                        <a:pt x="0" y="160"/>
                      </a:lnTo>
                      <a:lnTo>
                        <a:pt x="26" y="141"/>
                      </a:lnTo>
                      <a:lnTo>
                        <a:pt x="46" y="123"/>
                      </a:lnTo>
                      <a:lnTo>
                        <a:pt x="60" y="104"/>
                      </a:lnTo>
                      <a:lnTo>
                        <a:pt x="67" y="85"/>
                      </a:lnTo>
                      <a:lnTo>
                        <a:pt x="70" y="65"/>
                      </a:lnTo>
                      <a:lnTo>
                        <a:pt x="70" y="46"/>
                      </a:lnTo>
                      <a:lnTo>
                        <a:pt x="67" y="25"/>
                      </a:lnTo>
                      <a:lnTo>
                        <a:pt x="65" y="0"/>
                      </a:lnTo>
                      <a:lnTo>
                        <a:pt x="125" y="22"/>
                      </a:lnTo>
                      <a:lnTo>
                        <a:pt x="190" y="44"/>
                      </a:lnTo>
                      <a:lnTo>
                        <a:pt x="255" y="65"/>
                      </a:lnTo>
                      <a:lnTo>
                        <a:pt x="326" y="90"/>
                      </a:lnTo>
                      <a:lnTo>
                        <a:pt x="397" y="117"/>
                      </a:lnTo>
                      <a:lnTo>
                        <a:pt x="469" y="141"/>
                      </a:lnTo>
                      <a:lnTo>
                        <a:pt x="543" y="169"/>
                      </a:lnTo>
                      <a:lnTo>
                        <a:pt x="617" y="196"/>
                      </a:lnTo>
                      <a:lnTo>
                        <a:pt x="690" y="220"/>
                      </a:lnTo>
                      <a:lnTo>
                        <a:pt x="766" y="247"/>
                      </a:lnTo>
                      <a:lnTo>
                        <a:pt x="839" y="272"/>
                      </a:lnTo>
                      <a:lnTo>
                        <a:pt x="910" y="296"/>
                      </a:lnTo>
                      <a:lnTo>
                        <a:pt x="980" y="321"/>
                      </a:lnTo>
                      <a:lnTo>
                        <a:pt x="1048" y="342"/>
                      </a:lnTo>
                      <a:lnTo>
                        <a:pt x="1113" y="365"/>
                      </a:lnTo>
                      <a:lnTo>
                        <a:pt x="1176" y="383"/>
                      </a:lnTo>
                      <a:close/>
                    </a:path>
                  </a:pathLst>
                </a:custGeom>
                <a:solidFill>
                  <a:srgbClr val="AD44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2" name="Freeform 251"/>
                <p:cNvSpPr>
                  <a:spLocks/>
                </p:cNvSpPr>
                <p:nvPr/>
              </p:nvSpPr>
              <p:spPr bwMode="auto">
                <a:xfrm>
                  <a:off x="4266" y="1362"/>
                  <a:ext cx="244" cy="42"/>
                </a:xfrm>
                <a:custGeom>
                  <a:avLst/>
                  <a:gdLst>
                    <a:gd name="T0" fmla="*/ 0 w 978"/>
                    <a:gd name="T1" fmla="*/ 0 h 168"/>
                    <a:gd name="T2" fmla="*/ 0 w 978"/>
                    <a:gd name="T3" fmla="*/ 0 h 168"/>
                    <a:gd name="T4" fmla="*/ 0 w 978"/>
                    <a:gd name="T5" fmla="*/ 0 h 168"/>
                    <a:gd name="T6" fmla="*/ 0 w 978"/>
                    <a:gd name="T7" fmla="*/ 0 h 168"/>
                    <a:gd name="T8" fmla="*/ 0 w 978"/>
                    <a:gd name="T9" fmla="*/ 0 h 168"/>
                    <a:gd name="T10" fmla="*/ 0 w 978"/>
                    <a:gd name="T11" fmla="*/ 0 h 168"/>
                    <a:gd name="T12" fmla="*/ 0 w 978"/>
                    <a:gd name="T13" fmla="*/ 0 h 168"/>
                    <a:gd name="T14" fmla="*/ 0 w 978"/>
                    <a:gd name="T15" fmla="*/ 0 h 168"/>
                    <a:gd name="T16" fmla="*/ 0 w 978"/>
                    <a:gd name="T17" fmla="*/ 0 h 168"/>
                    <a:gd name="T18" fmla="*/ 0 w 978"/>
                    <a:gd name="T19" fmla="*/ 0 h 168"/>
                    <a:gd name="T20" fmla="*/ 0 w 978"/>
                    <a:gd name="T21" fmla="*/ 0 h 168"/>
                    <a:gd name="T22" fmla="*/ 0 w 978"/>
                    <a:gd name="T23" fmla="*/ 0 h 168"/>
                    <a:gd name="T24" fmla="*/ 0 w 978"/>
                    <a:gd name="T25" fmla="*/ 0 h 168"/>
                    <a:gd name="T26" fmla="*/ 0 w 978"/>
                    <a:gd name="T27" fmla="*/ 0 h 168"/>
                    <a:gd name="T28" fmla="*/ 0 w 978"/>
                    <a:gd name="T29" fmla="*/ 0 h 168"/>
                    <a:gd name="T30" fmla="*/ 0 w 978"/>
                    <a:gd name="T31" fmla="*/ 0 h 168"/>
                    <a:gd name="T32" fmla="*/ 0 w 978"/>
                    <a:gd name="T33" fmla="*/ 0 h 168"/>
                    <a:gd name="T34" fmla="*/ 0 w 978"/>
                    <a:gd name="T35" fmla="*/ 0 h 168"/>
                    <a:gd name="T36" fmla="*/ 0 w 978"/>
                    <a:gd name="T37" fmla="*/ 0 h 168"/>
                    <a:gd name="T38" fmla="*/ 0 w 978"/>
                    <a:gd name="T39" fmla="*/ 0 h 168"/>
                    <a:gd name="T40" fmla="*/ 0 w 978"/>
                    <a:gd name="T41" fmla="*/ 0 h 168"/>
                    <a:gd name="T42" fmla="*/ 0 w 978"/>
                    <a:gd name="T43" fmla="*/ 0 h 168"/>
                    <a:gd name="T44" fmla="*/ 0 w 978"/>
                    <a:gd name="T45" fmla="*/ 0 h 168"/>
                    <a:gd name="T46" fmla="*/ 0 w 978"/>
                    <a:gd name="T47" fmla="*/ 0 h 168"/>
                    <a:gd name="T48" fmla="*/ 0 w 978"/>
                    <a:gd name="T49" fmla="*/ 0 h 168"/>
                    <a:gd name="T50" fmla="*/ 0 w 978"/>
                    <a:gd name="T51" fmla="*/ 0 h 168"/>
                    <a:gd name="T52" fmla="*/ 0 w 978"/>
                    <a:gd name="T53" fmla="*/ 0 h 168"/>
                    <a:gd name="T54" fmla="*/ 0 w 978"/>
                    <a:gd name="T55" fmla="*/ 0 h 168"/>
                    <a:gd name="T56" fmla="*/ 0 w 978"/>
                    <a:gd name="T57" fmla="*/ 0 h 168"/>
                    <a:gd name="T58" fmla="*/ 0 w 978"/>
                    <a:gd name="T59" fmla="*/ 0 h 168"/>
                    <a:gd name="T60" fmla="*/ 0 w 978"/>
                    <a:gd name="T61" fmla="*/ 0 h 168"/>
                    <a:gd name="T62" fmla="*/ 0 w 978"/>
                    <a:gd name="T63" fmla="*/ 0 h 168"/>
                    <a:gd name="T64" fmla="*/ 0 w 978"/>
                    <a:gd name="T65" fmla="*/ 0 h 168"/>
                    <a:gd name="T66" fmla="*/ 0 w 978"/>
                    <a:gd name="T67" fmla="*/ 0 h 168"/>
                    <a:gd name="T68" fmla="*/ 0 w 978"/>
                    <a:gd name="T69" fmla="*/ 0 h 168"/>
                    <a:gd name="T70" fmla="*/ 0 w 978"/>
                    <a:gd name="T71" fmla="*/ 0 h 168"/>
                    <a:gd name="T72" fmla="*/ 0 w 978"/>
                    <a:gd name="T73" fmla="*/ 0 h 168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978"/>
                    <a:gd name="T112" fmla="*/ 0 h 168"/>
                    <a:gd name="T113" fmla="*/ 978 w 978"/>
                    <a:gd name="T114" fmla="*/ 168 h 168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978" h="168">
                      <a:moveTo>
                        <a:pt x="978" y="168"/>
                      </a:moveTo>
                      <a:lnTo>
                        <a:pt x="916" y="164"/>
                      </a:lnTo>
                      <a:lnTo>
                        <a:pt x="856" y="162"/>
                      </a:lnTo>
                      <a:lnTo>
                        <a:pt x="794" y="159"/>
                      </a:lnTo>
                      <a:lnTo>
                        <a:pt x="734" y="157"/>
                      </a:lnTo>
                      <a:lnTo>
                        <a:pt x="671" y="157"/>
                      </a:lnTo>
                      <a:lnTo>
                        <a:pt x="611" y="154"/>
                      </a:lnTo>
                      <a:lnTo>
                        <a:pt x="549" y="154"/>
                      </a:lnTo>
                      <a:lnTo>
                        <a:pt x="489" y="154"/>
                      </a:lnTo>
                      <a:lnTo>
                        <a:pt x="429" y="154"/>
                      </a:lnTo>
                      <a:lnTo>
                        <a:pt x="367" y="154"/>
                      </a:lnTo>
                      <a:lnTo>
                        <a:pt x="307" y="154"/>
                      </a:lnTo>
                      <a:lnTo>
                        <a:pt x="245" y="154"/>
                      </a:lnTo>
                      <a:lnTo>
                        <a:pt x="185" y="154"/>
                      </a:lnTo>
                      <a:lnTo>
                        <a:pt x="122" y="154"/>
                      </a:lnTo>
                      <a:lnTo>
                        <a:pt x="62" y="152"/>
                      </a:lnTo>
                      <a:lnTo>
                        <a:pt x="0" y="152"/>
                      </a:lnTo>
                      <a:lnTo>
                        <a:pt x="11" y="118"/>
                      </a:lnTo>
                      <a:lnTo>
                        <a:pt x="22" y="78"/>
                      </a:lnTo>
                      <a:lnTo>
                        <a:pt x="27" y="37"/>
                      </a:lnTo>
                      <a:lnTo>
                        <a:pt x="27" y="0"/>
                      </a:lnTo>
                      <a:lnTo>
                        <a:pt x="85" y="10"/>
                      </a:lnTo>
                      <a:lnTo>
                        <a:pt x="142" y="21"/>
                      </a:lnTo>
                      <a:lnTo>
                        <a:pt x="198" y="35"/>
                      </a:lnTo>
                      <a:lnTo>
                        <a:pt x="258" y="46"/>
                      </a:lnTo>
                      <a:lnTo>
                        <a:pt x="318" y="56"/>
                      </a:lnTo>
                      <a:lnTo>
                        <a:pt x="378" y="67"/>
                      </a:lnTo>
                      <a:lnTo>
                        <a:pt x="438" y="81"/>
                      </a:lnTo>
                      <a:lnTo>
                        <a:pt x="500" y="92"/>
                      </a:lnTo>
                      <a:lnTo>
                        <a:pt x="560" y="102"/>
                      </a:lnTo>
                      <a:lnTo>
                        <a:pt x="620" y="113"/>
                      </a:lnTo>
                      <a:lnTo>
                        <a:pt x="683" y="122"/>
                      </a:lnTo>
                      <a:lnTo>
                        <a:pt x="742" y="132"/>
                      </a:lnTo>
                      <a:lnTo>
                        <a:pt x="802" y="143"/>
                      </a:lnTo>
                      <a:lnTo>
                        <a:pt x="861" y="152"/>
                      </a:lnTo>
                      <a:lnTo>
                        <a:pt x="921" y="159"/>
                      </a:lnTo>
                      <a:lnTo>
                        <a:pt x="978" y="168"/>
                      </a:lnTo>
                      <a:close/>
                    </a:path>
                  </a:pathLst>
                </a:custGeom>
                <a:solidFill>
                  <a:srgbClr val="CC5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3" name="Freeform 252"/>
                <p:cNvSpPr>
                  <a:spLocks/>
                </p:cNvSpPr>
                <p:nvPr/>
              </p:nvSpPr>
              <p:spPr bwMode="auto">
                <a:xfrm>
                  <a:off x="4097" y="1414"/>
                  <a:ext cx="588" cy="148"/>
                </a:xfrm>
                <a:custGeom>
                  <a:avLst/>
                  <a:gdLst>
                    <a:gd name="T0" fmla="*/ 0 w 2352"/>
                    <a:gd name="T1" fmla="*/ 0 h 590"/>
                    <a:gd name="T2" fmla="*/ 0 w 2352"/>
                    <a:gd name="T3" fmla="*/ 0 h 590"/>
                    <a:gd name="T4" fmla="*/ 0 w 2352"/>
                    <a:gd name="T5" fmla="*/ 0 h 590"/>
                    <a:gd name="T6" fmla="*/ 0 w 2352"/>
                    <a:gd name="T7" fmla="*/ 0 h 590"/>
                    <a:gd name="T8" fmla="*/ 0 w 2352"/>
                    <a:gd name="T9" fmla="*/ 0 h 590"/>
                    <a:gd name="T10" fmla="*/ 0 w 2352"/>
                    <a:gd name="T11" fmla="*/ 0 h 590"/>
                    <a:gd name="T12" fmla="*/ 0 w 2352"/>
                    <a:gd name="T13" fmla="*/ 0 h 590"/>
                    <a:gd name="T14" fmla="*/ 0 w 2352"/>
                    <a:gd name="T15" fmla="*/ 0 h 590"/>
                    <a:gd name="T16" fmla="*/ 0 w 2352"/>
                    <a:gd name="T17" fmla="*/ 0 h 590"/>
                    <a:gd name="T18" fmla="*/ 0 w 2352"/>
                    <a:gd name="T19" fmla="*/ 0 h 590"/>
                    <a:gd name="T20" fmla="*/ 0 w 2352"/>
                    <a:gd name="T21" fmla="*/ 0 h 590"/>
                    <a:gd name="T22" fmla="*/ 0 w 2352"/>
                    <a:gd name="T23" fmla="*/ 0 h 590"/>
                    <a:gd name="T24" fmla="*/ 0 w 2352"/>
                    <a:gd name="T25" fmla="*/ 0 h 590"/>
                    <a:gd name="T26" fmla="*/ 0 w 2352"/>
                    <a:gd name="T27" fmla="*/ 0 h 590"/>
                    <a:gd name="T28" fmla="*/ 0 w 2352"/>
                    <a:gd name="T29" fmla="*/ 0 h 590"/>
                    <a:gd name="T30" fmla="*/ 0 w 2352"/>
                    <a:gd name="T31" fmla="*/ 0 h 590"/>
                    <a:gd name="T32" fmla="*/ 0 w 2352"/>
                    <a:gd name="T33" fmla="*/ 0 h 590"/>
                    <a:gd name="T34" fmla="*/ 0 w 2352"/>
                    <a:gd name="T35" fmla="*/ 0 h 590"/>
                    <a:gd name="T36" fmla="*/ 0 w 2352"/>
                    <a:gd name="T37" fmla="*/ 0 h 590"/>
                    <a:gd name="T38" fmla="*/ 0 w 2352"/>
                    <a:gd name="T39" fmla="*/ 0 h 590"/>
                    <a:gd name="T40" fmla="*/ 0 w 2352"/>
                    <a:gd name="T41" fmla="*/ 0 h 590"/>
                    <a:gd name="T42" fmla="*/ 0 w 2352"/>
                    <a:gd name="T43" fmla="*/ 0 h 590"/>
                    <a:gd name="T44" fmla="*/ 0 w 2352"/>
                    <a:gd name="T45" fmla="*/ 0 h 590"/>
                    <a:gd name="T46" fmla="*/ 0 w 2352"/>
                    <a:gd name="T47" fmla="*/ 0 h 590"/>
                    <a:gd name="T48" fmla="*/ 0 w 2352"/>
                    <a:gd name="T49" fmla="*/ 0 h 590"/>
                    <a:gd name="T50" fmla="*/ 0 w 2352"/>
                    <a:gd name="T51" fmla="*/ 0 h 590"/>
                    <a:gd name="T52" fmla="*/ 0 w 2352"/>
                    <a:gd name="T53" fmla="*/ 0 h 590"/>
                    <a:gd name="T54" fmla="*/ 0 w 2352"/>
                    <a:gd name="T55" fmla="*/ 0 h 590"/>
                    <a:gd name="T56" fmla="*/ 0 w 2352"/>
                    <a:gd name="T57" fmla="*/ 0 h 590"/>
                    <a:gd name="T58" fmla="*/ 0 w 2352"/>
                    <a:gd name="T59" fmla="*/ 0 h 590"/>
                    <a:gd name="T60" fmla="*/ 0 w 2352"/>
                    <a:gd name="T61" fmla="*/ 0 h 590"/>
                    <a:gd name="T62" fmla="*/ 0 w 2352"/>
                    <a:gd name="T63" fmla="*/ 0 h 590"/>
                    <a:gd name="T64" fmla="*/ 0 w 2352"/>
                    <a:gd name="T65" fmla="*/ 0 h 590"/>
                    <a:gd name="T66" fmla="*/ 0 w 2352"/>
                    <a:gd name="T67" fmla="*/ 0 h 590"/>
                    <a:gd name="T68" fmla="*/ 0 w 2352"/>
                    <a:gd name="T69" fmla="*/ 0 h 590"/>
                    <a:gd name="T70" fmla="*/ 0 w 2352"/>
                    <a:gd name="T71" fmla="*/ 0 h 590"/>
                    <a:gd name="T72" fmla="*/ 0 w 2352"/>
                    <a:gd name="T73" fmla="*/ 0 h 590"/>
                    <a:gd name="T74" fmla="*/ 0 w 2352"/>
                    <a:gd name="T75" fmla="*/ 0 h 590"/>
                    <a:gd name="T76" fmla="*/ 0 w 2352"/>
                    <a:gd name="T77" fmla="*/ 0 h 590"/>
                    <a:gd name="T78" fmla="*/ 0 w 2352"/>
                    <a:gd name="T79" fmla="*/ 0 h 590"/>
                    <a:gd name="T80" fmla="*/ 0 w 2352"/>
                    <a:gd name="T81" fmla="*/ 0 h 590"/>
                    <a:gd name="T82" fmla="*/ 0 w 2352"/>
                    <a:gd name="T83" fmla="*/ 0 h 590"/>
                    <a:gd name="T84" fmla="*/ 0 w 2352"/>
                    <a:gd name="T85" fmla="*/ 0 h 590"/>
                    <a:gd name="T86" fmla="*/ 0 w 2352"/>
                    <a:gd name="T87" fmla="*/ 0 h 590"/>
                    <a:gd name="T88" fmla="*/ 0 w 2352"/>
                    <a:gd name="T89" fmla="*/ 0 h 590"/>
                    <a:gd name="T90" fmla="*/ 0 w 2352"/>
                    <a:gd name="T91" fmla="*/ 0 h 590"/>
                    <a:gd name="T92" fmla="*/ 0 w 2352"/>
                    <a:gd name="T93" fmla="*/ 0 h 590"/>
                    <a:gd name="T94" fmla="*/ 0 w 2352"/>
                    <a:gd name="T95" fmla="*/ 0 h 590"/>
                    <a:gd name="T96" fmla="*/ 0 w 2352"/>
                    <a:gd name="T97" fmla="*/ 0 h 590"/>
                    <a:gd name="T98" fmla="*/ 0 w 2352"/>
                    <a:gd name="T99" fmla="*/ 0 h 590"/>
                    <a:gd name="T100" fmla="*/ 0 w 2352"/>
                    <a:gd name="T101" fmla="*/ 0 h 590"/>
                    <a:gd name="T102" fmla="*/ 0 w 2352"/>
                    <a:gd name="T103" fmla="*/ 0 h 590"/>
                    <a:gd name="T104" fmla="*/ 0 w 2352"/>
                    <a:gd name="T105" fmla="*/ 0 h 590"/>
                    <a:gd name="T106" fmla="*/ 0 w 2352"/>
                    <a:gd name="T107" fmla="*/ 0 h 590"/>
                    <a:gd name="T108" fmla="*/ 0 w 2352"/>
                    <a:gd name="T109" fmla="*/ 0 h 590"/>
                    <a:gd name="T110" fmla="*/ 0 w 2352"/>
                    <a:gd name="T111" fmla="*/ 0 h 590"/>
                    <a:gd name="T112" fmla="*/ 0 w 2352"/>
                    <a:gd name="T113" fmla="*/ 0 h 590"/>
                    <a:gd name="T114" fmla="*/ 0 w 2352"/>
                    <a:gd name="T115" fmla="*/ 0 h 590"/>
                    <a:gd name="T116" fmla="*/ 0 w 2352"/>
                    <a:gd name="T117" fmla="*/ 0 h 590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w 2352"/>
                    <a:gd name="T178" fmla="*/ 0 h 590"/>
                    <a:gd name="T179" fmla="*/ 2352 w 2352"/>
                    <a:gd name="T180" fmla="*/ 590 h 590"/>
                  </a:gdLst>
                  <a:ahLst/>
                  <a:cxnLst>
                    <a:cxn ang="T118">
                      <a:pos x="T0" y="T1"/>
                    </a:cxn>
                    <a:cxn ang="T119">
                      <a:pos x="T2" y="T3"/>
                    </a:cxn>
                    <a:cxn ang="T120">
                      <a:pos x="T4" y="T5"/>
                    </a:cxn>
                    <a:cxn ang="T121">
                      <a:pos x="T6" y="T7"/>
                    </a:cxn>
                    <a:cxn ang="T122">
                      <a:pos x="T8" y="T9"/>
                    </a:cxn>
                    <a:cxn ang="T123">
                      <a:pos x="T10" y="T11"/>
                    </a:cxn>
                    <a:cxn ang="T124">
                      <a:pos x="T12" y="T13"/>
                    </a:cxn>
                    <a:cxn ang="T125">
                      <a:pos x="T14" y="T15"/>
                    </a:cxn>
                    <a:cxn ang="T126">
                      <a:pos x="T16" y="T17"/>
                    </a:cxn>
                    <a:cxn ang="T127">
                      <a:pos x="T18" y="T19"/>
                    </a:cxn>
                    <a:cxn ang="T128">
                      <a:pos x="T20" y="T21"/>
                    </a:cxn>
                    <a:cxn ang="T129">
                      <a:pos x="T22" y="T23"/>
                    </a:cxn>
                    <a:cxn ang="T130">
                      <a:pos x="T24" y="T25"/>
                    </a:cxn>
                    <a:cxn ang="T131">
                      <a:pos x="T26" y="T27"/>
                    </a:cxn>
                    <a:cxn ang="T132">
                      <a:pos x="T28" y="T29"/>
                    </a:cxn>
                    <a:cxn ang="T133">
                      <a:pos x="T30" y="T31"/>
                    </a:cxn>
                    <a:cxn ang="T134">
                      <a:pos x="T32" y="T33"/>
                    </a:cxn>
                    <a:cxn ang="T135">
                      <a:pos x="T34" y="T35"/>
                    </a:cxn>
                    <a:cxn ang="T136">
                      <a:pos x="T36" y="T37"/>
                    </a:cxn>
                    <a:cxn ang="T137">
                      <a:pos x="T38" y="T39"/>
                    </a:cxn>
                    <a:cxn ang="T138">
                      <a:pos x="T40" y="T41"/>
                    </a:cxn>
                    <a:cxn ang="T139">
                      <a:pos x="T42" y="T43"/>
                    </a:cxn>
                    <a:cxn ang="T140">
                      <a:pos x="T44" y="T45"/>
                    </a:cxn>
                    <a:cxn ang="T141">
                      <a:pos x="T46" y="T47"/>
                    </a:cxn>
                    <a:cxn ang="T142">
                      <a:pos x="T48" y="T49"/>
                    </a:cxn>
                    <a:cxn ang="T143">
                      <a:pos x="T50" y="T51"/>
                    </a:cxn>
                    <a:cxn ang="T144">
                      <a:pos x="T52" y="T53"/>
                    </a:cxn>
                    <a:cxn ang="T145">
                      <a:pos x="T54" y="T55"/>
                    </a:cxn>
                    <a:cxn ang="T146">
                      <a:pos x="T56" y="T57"/>
                    </a:cxn>
                    <a:cxn ang="T147">
                      <a:pos x="T58" y="T59"/>
                    </a:cxn>
                    <a:cxn ang="T148">
                      <a:pos x="T60" y="T61"/>
                    </a:cxn>
                    <a:cxn ang="T149">
                      <a:pos x="T62" y="T63"/>
                    </a:cxn>
                    <a:cxn ang="T150">
                      <a:pos x="T64" y="T65"/>
                    </a:cxn>
                    <a:cxn ang="T151">
                      <a:pos x="T66" y="T67"/>
                    </a:cxn>
                    <a:cxn ang="T152">
                      <a:pos x="T68" y="T69"/>
                    </a:cxn>
                    <a:cxn ang="T153">
                      <a:pos x="T70" y="T71"/>
                    </a:cxn>
                    <a:cxn ang="T154">
                      <a:pos x="T72" y="T73"/>
                    </a:cxn>
                    <a:cxn ang="T155">
                      <a:pos x="T74" y="T75"/>
                    </a:cxn>
                    <a:cxn ang="T156">
                      <a:pos x="T76" y="T77"/>
                    </a:cxn>
                    <a:cxn ang="T157">
                      <a:pos x="T78" y="T79"/>
                    </a:cxn>
                    <a:cxn ang="T158">
                      <a:pos x="T80" y="T81"/>
                    </a:cxn>
                    <a:cxn ang="T159">
                      <a:pos x="T82" y="T83"/>
                    </a:cxn>
                    <a:cxn ang="T160">
                      <a:pos x="T84" y="T85"/>
                    </a:cxn>
                    <a:cxn ang="T161">
                      <a:pos x="T86" y="T87"/>
                    </a:cxn>
                    <a:cxn ang="T162">
                      <a:pos x="T88" y="T89"/>
                    </a:cxn>
                    <a:cxn ang="T163">
                      <a:pos x="T90" y="T91"/>
                    </a:cxn>
                    <a:cxn ang="T164">
                      <a:pos x="T92" y="T93"/>
                    </a:cxn>
                    <a:cxn ang="T165">
                      <a:pos x="T94" y="T95"/>
                    </a:cxn>
                    <a:cxn ang="T166">
                      <a:pos x="T96" y="T97"/>
                    </a:cxn>
                    <a:cxn ang="T167">
                      <a:pos x="T98" y="T99"/>
                    </a:cxn>
                    <a:cxn ang="T168">
                      <a:pos x="T100" y="T101"/>
                    </a:cxn>
                    <a:cxn ang="T169">
                      <a:pos x="T102" y="T103"/>
                    </a:cxn>
                    <a:cxn ang="T170">
                      <a:pos x="T104" y="T105"/>
                    </a:cxn>
                    <a:cxn ang="T171">
                      <a:pos x="T106" y="T107"/>
                    </a:cxn>
                    <a:cxn ang="T172">
                      <a:pos x="T108" y="T109"/>
                    </a:cxn>
                    <a:cxn ang="T173">
                      <a:pos x="T110" y="T111"/>
                    </a:cxn>
                    <a:cxn ang="T174">
                      <a:pos x="T112" y="T113"/>
                    </a:cxn>
                    <a:cxn ang="T175">
                      <a:pos x="T114" y="T115"/>
                    </a:cxn>
                    <a:cxn ang="T176">
                      <a:pos x="T116" y="T117"/>
                    </a:cxn>
                  </a:cxnLst>
                  <a:rect l="T177" t="T178" r="T179" b="T180"/>
                  <a:pathLst>
                    <a:path w="2352" h="590">
                      <a:moveTo>
                        <a:pt x="2350" y="20"/>
                      </a:moveTo>
                      <a:lnTo>
                        <a:pt x="2352" y="588"/>
                      </a:lnTo>
                      <a:lnTo>
                        <a:pt x="2322" y="588"/>
                      </a:lnTo>
                      <a:lnTo>
                        <a:pt x="2296" y="590"/>
                      </a:lnTo>
                      <a:lnTo>
                        <a:pt x="2266" y="590"/>
                      </a:lnTo>
                      <a:lnTo>
                        <a:pt x="2238" y="590"/>
                      </a:lnTo>
                      <a:lnTo>
                        <a:pt x="2209" y="590"/>
                      </a:lnTo>
                      <a:lnTo>
                        <a:pt x="2181" y="590"/>
                      </a:lnTo>
                      <a:lnTo>
                        <a:pt x="2155" y="590"/>
                      </a:lnTo>
                      <a:lnTo>
                        <a:pt x="2125" y="590"/>
                      </a:lnTo>
                      <a:lnTo>
                        <a:pt x="2097" y="590"/>
                      </a:lnTo>
                      <a:lnTo>
                        <a:pt x="2070" y="590"/>
                      </a:lnTo>
                      <a:lnTo>
                        <a:pt x="2043" y="590"/>
                      </a:lnTo>
                      <a:lnTo>
                        <a:pt x="2015" y="590"/>
                      </a:lnTo>
                      <a:lnTo>
                        <a:pt x="1986" y="588"/>
                      </a:lnTo>
                      <a:lnTo>
                        <a:pt x="1959" y="588"/>
                      </a:lnTo>
                      <a:lnTo>
                        <a:pt x="1931" y="588"/>
                      </a:lnTo>
                      <a:lnTo>
                        <a:pt x="1904" y="584"/>
                      </a:lnTo>
                      <a:lnTo>
                        <a:pt x="1850" y="473"/>
                      </a:lnTo>
                      <a:lnTo>
                        <a:pt x="1777" y="378"/>
                      </a:lnTo>
                      <a:lnTo>
                        <a:pt x="1687" y="299"/>
                      </a:lnTo>
                      <a:lnTo>
                        <a:pt x="1583" y="235"/>
                      </a:lnTo>
                      <a:lnTo>
                        <a:pt x="1470" y="185"/>
                      </a:lnTo>
                      <a:lnTo>
                        <a:pt x="1347" y="150"/>
                      </a:lnTo>
                      <a:lnTo>
                        <a:pt x="1217" y="128"/>
                      </a:lnTo>
                      <a:lnTo>
                        <a:pt x="1087" y="122"/>
                      </a:lnTo>
                      <a:lnTo>
                        <a:pt x="953" y="131"/>
                      </a:lnTo>
                      <a:lnTo>
                        <a:pt x="826" y="152"/>
                      </a:lnTo>
                      <a:lnTo>
                        <a:pt x="703" y="188"/>
                      </a:lnTo>
                      <a:lnTo>
                        <a:pt x="590" y="237"/>
                      </a:lnTo>
                      <a:lnTo>
                        <a:pt x="486" y="299"/>
                      </a:lnTo>
                      <a:lnTo>
                        <a:pt x="396" y="373"/>
                      </a:lnTo>
                      <a:lnTo>
                        <a:pt x="323" y="462"/>
                      </a:lnTo>
                      <a:lnTo>
                        <a:pt x="272" y="563"/>
                      </a:lnTo>
                      <a:lnTo>
                        <a:pt x="234" y="563"/>
                      </a:lnTo>
                      <a:lnTo>
                        <a:pt x="200" y="563"/>
                      </a:lnTo>
                      <a:lnTo>
                        <a:pt x="165" y="563"/>
                      </a:lnTo>
                      <a:lnTo>
                        <a:pt x="133" y="563"/>
                      </a:lnTo>
                      <a:lnTo>
                        <a:pt x="100" y="563"/>
                      </a:lnTo>
                      <a:lnTo>
                        <a:pt x="68" y="565"/>
                      </a:lnTo>
                      <a:lnTo>
                        <a:pt x="36" y="565"/>
                      </a:lnTo>
                      <a:lnTo>
                        <a:pt x="0" y="568"/>
                      </a:lnTo>
                      <a:lnTo>
                        <a:pt x="24" y="487"/>
                      </a:lnTo>
                      <a:lnTo>
                        <a:pt x="54" y="413"/>
                      </a:lnTo>
                      <a:lnTo>
                        <a:pt x="92" y="346"/>
                      </a:lnTo>
                      <a:lnTo>
                        <a:pt x="133" y="288"/>
                      </a:lnTo>
                      <a:lnTo>
                        <a:pt x="182" y="237"/>
                      </a:lnTo>
                      <a:lnTo>
                        <a:pt x="230" y="191"/>
                      </a:lnTo>
                      <a:lnTo>
                        <a:pt x="285" y="152"/>
                      </a:lnTo>
                      <a:lnTo>
                        <a:pt x="343" y="120"/>
                      </a:lnTo>
                      <a:lnTo>
                        <a:pt x="399" y="90"/>
                      </a:lnTo>
                      <a:lnTo>
                        <a:pt x="459" y="69"/>
                      </a:lnTo>
                      <a:lnTo>
                        <a:pt x="519" y="49"/>
                      </a:lnTo>
                      <a:lnTo>
                        <a:pt x="579" y="33"/>
                      </a:lnTo>
                      <a:lnTo>
                        <a:pt x="638" y="22"/>
                      </a:lnTo>
                      <a:lnTo>
                        <a:pt x="698" y="11"/>
                      </a:lnTo>
                      <a:lnTo>
                        <a:pt x="752" y="6"/>
                      </a:lnTo>
                      <a:lnTo>
                        <a:pt x="807" y="0"/>
                      </a:lnTo>
                      <a:lnTo>
                        <a:pt x="2350" y="20"/>
                      </a:lnTo>
                      <a:close/>
                    </a:path>
                  </a:pathLst>
                </a:custGeom>
                <a:solidFill>
                  <a:srgbClr val="AD44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4" name="Freeform 253"/>
                <p:cNvSpPr>
                  <a:spLocks/>
                </p:cNvSpPr>
                <p:nvPr/>
              </p:nvSpPr>
              <p:spPr bwMode="auto">
                <a:xfrm>
                  <a:off x="5000" y="1422"/>
                  <a:ext cx="286" cy="109"/>
                </a:xfrm>
                <a:custGeom>
                  <a:avLst/>
                  <a:gdLst>
                    <a:gd name="T0" fmla="*/ 0 w 1147"/>
                    <a:gd name="T1" fmla="*/ 0 h 438"/>
                    <a:gd name="T2" fmla="*/ 0 w 1147"/>
                    <a:gd name="T3" fmla="*/ 0 h 438"/>
                    <a:gd name="T4" fmla="*/ 0 w 1147"/>
                    <a:gd name="T5" fmla="*/ 0 h 438"/>
                    <a:gd name="T6" fmla="*/ 0 w 1147"/>
                    <a:gd name="T7" fmla="*/ 0 h 438"/>
                    <a:gd name="T8" fmla="*/ 0 w 1147"/>
                    <a:gd name="T9" fmla="*/ 0 h 438"/>
                    <a:gd name="T10" fmla="*/ 0 w 1147"/>
                    <a:gd name="T11" fmla="*/ 0 h 438"/>
                    <a:gd name="T12" fmla="*/ 0 w 1147"/>
                    <a:gd name="T13" fmla="*/ 0 h 438"/>
                    <a:gd name="T14" fmla="*/ 0 w 1147"/>
                    <a:gd name="T15" fmla="*/ 0 h 438"/>
                    <a:gd name="T16" fmla="*/ 0 w 1147"/>
                    <a:gd name="T17" fmla="*/ 0 h 438"/>
                    <a:gd name="T18" fmla="*/ 0 w 1147"/>
                    <a:gd name="T19" fmla="*/ 0 h 438"/>
                    <a:gd name="T20" fmla="*/ 0 w 1147"/>
                    <a:gd name="T21" fmla="*/ 0 h 438"/>
                    <a:gd name="T22" fmla="*/ 0 w 1147"/>
                    <a:gd name="T23" fmla="*/ 0 h 438"/>
                    <a:gd name="T24" fmla="*/ 0 w 1147"/>
                    <a:gd name="T25" fmla="*/ 0 h 438"/>
                    <a:gd name="T26" fmla="*/ 0 w 1147"/>
                    <a:gd name="T27" fmla="*/ 0 h 438"/>
                    <a:gd name="T28" fmla="*/ 0 w 1147"/>
                    <a:gd name="T29" fmla="*/ 0 h 438"/>
                    <a:gd name="T30" fmla="*/ 0 w 1147"/>
                    <a:gd name="T31" fmla="*/ 0 h 438"/>
                    <a:gd name="T32" fmla="*/ 0 w 1147"/>
                    <a:gd name="T33" fmla="*/ 0 h 438"/>
                    <a:gd name="T34" fmla="*/ 0 w 1147"/>
                    <a:gd name="T35" fmla="*/ 0 h 438"/>
                    <a:gd name="T36" fmla="*/ 0 w 1147"/>
                    <a:gd name="T37" fmla="*/ 0 h 438"/>
                    <a:gd name="T38" fmla="*/ 0 w 1147"/>
                    <a:gd name="T39" fmla="*/ 0 h 438"/>
                    <a:gd name="T40" fmla="*/ 0 w 1147"/>
                    <a:gd name="T41" fmla="*/ 0 h 438"/>
                    <a:gd name="T42" fmla="*/ 0 w 1147"/>
                    <a:gd name="T43" fmla="*/ 0 h 438"/>
                    <a:gd name="T44" fmla="*/ 0 w 1147"/>
                    <a:gd name="T45" fmla="*/ 0 h 438"/>
                    <a:gd name="T46" fmla="*/ 0 w 1147"/>
                    <a:gd name="T47" fmla="*/ 0 h 438"/>
                    <a:gd name="T48" fmla="*/ 0 w 1147"/>
                    <a:gd name="T49" fmla="*/ 0 h 438"/>
                    <a:gd name="T50" fmla="*/ 0 w 1147"/>
                    <a:gd name="T51" fmla="*/ 0 h 438"/>
                    <a:gd name="T52" fmla="*/ 0 w 1147"/>
                    <a:gd name="T53" fmla="*/ 0 h 438"/>
                    <a:gd name="T54" fmla="*/ 0 w 1147"/>
                    <a:gd name="T55" fmla="*/ 0 h 438"/>
                    <a:gd name="T56" fmla="*/ 0 w 1147"/>
                    <a:gd name="T57" fmla="*/ 0 h 438"/>
                    <a:gd name="T58" fmla="*/ 0 w 1147"/>
                    <a:gd name="T59" fmla="*/ 0 h 438"/>
                    <a:gd name="T60" fmla="*/ 0 w 1147"/>
                    <a:gd name="T61" fmla="*/ 0 h 438"/>
                    <a:gd name="T62" fmla="*/ 0 w 1147"/>
                    <a:gd name="T63" fmla="*/ 0 h 438"/>
                    <a:gd name="T64" fmla="*/ 0 w 1147"/>
                    <a:gd name="T65" fmla="*/ 0 h 438"/>
                    <a:gd name="T66" fmla="*/ 0 w 1147"/>
                    <a:gd name="T67" fmla="*/ 0 h 438"/>
                    <a:gd name="T68" fmla="*/ 0 w 1147"/>
                    <a:gd name="T69" fmla="*/ 0 h 438"/>
                    <a:gd name="T70" fmla="*/ 0 w 1147"/>
                    <a:gd name="T71" fmla="*/ 0 h 438"/>
                    <a:gd name="T72" fmla="*/ 0 w 1147"/>
                    <a:gd name="T73" fmla="*/ 0 h 438"/>
                    <a:gd name="T74" fmla="*/ 0 w 1147"/>
                    <a:gd name="T75" fmla="*/ 0 h 438"/>
                    <a:gd name="T76" fmla="*/ 0 w 1147"/>
                    <a:gd name="T77" fmla="*/ 0 h 438"/>
                    <a:gd name="T78" fmla="*/ 0 w 1147"/>
                    <a:gd name="T79" fmla="*/ 0 h 438"/>
                    <a:gd name="T80" fmla="*/ 0 w 1147"/>
                    <a:gd name="T81" fmla="*/ 0 h 438"/>
                    <a:gd name="T82" fmla="*/ 0 w 1147"/>
                    <a:gd name="T83" fmla="*/ 0 h 438"/>
                    <a:gd name="T84" fmla="*/ 0 w 1147"/>
                    <a:gd name="T85" fmla="*/ 0 h 438"/>
                    <a:gd name="T86" fmla="*/ 0 w 1147"/>
                    <a:gd name="T87" fmla="*/ 0 h 438"/>
                    <a:gd name="T88" fmla="*/ 0 w 1147"/>
                    <a:gd name="T89" fmla="*/ 0 h 438"/>
                    <a:gd name="T90" fmla="*/ 0 w 1147"/>
                    <a:gd name="T91" fmla="*/ 0 h 438"/>
                    <a:gd name="T92" fmla="*/ 0 w 1147"/>
                    <a:gd name="T93" fmla="*/ 0 h 438"/>
                    <a:gd name="T94" fmla="*/ 0 w 1147"/>
                    <a:gd name="T95" fmla="*/ 0 h 438"/>
                    <a:gd name="T96" fmla="*/ 0 w 1147"/>
                    <a:gd name="T97" fmla="*/ 0 h 438"/>
                    <a:gd name="T98" fmla="*/ 0 w 1147"/>
                    <a:gd name="T99" fmla="*/ 0 h 43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47"/>
                    <a:gd name="T151" fmla="*/ 0 h 438"/>
                    <a:gd name="T152" fmla="*/ 1147 w 1147"/>
                    <a:gd name="T153" fmla="*/ 438 h 438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47" h="438">
                      <a:moveTo>
                        <a:pt x="36" y="117"/>
                      </a:moveTo>
                      <a:lnTo>
                        <a:pt x="0" y="0"/>
                      </a:lnTo>
                      <a:lnTo>
                        <a:pt x="69" y="0"/>
                      </a:lnTo>
                      <a:lnTo>
                        <a:pt x="136" y="3"/>
                      </a:lnTo>
                      <a:lnTo>
                        <a:pt x="201" y="6"/>
                      </a:lnTo>
                      <a:lnTo>
                        <a:pt x="267" y="6"/>
                      </a:lnTo>
                      <a:lnTo>
                        <a:pt x="330" y="11"/>
                      </a:lnTo>
                      <a:lnTo>
                        <a:pt x="392" y="14"/>
                      </a:lnTo>
                      <a:lnTo>
                        <a:pt x="454" y="16"/>
                      </a:lnTo>
                      <a:lnTo>
                        <a:pt x="514" y="22"/>
                      </a:lnTo>
                      <a:lnTo>
                        <a:pt x="571" y="27"/>
                      </a:lnTo>
                      <a:lnTo>
                        <a:pt x="628" y="33"/>
                      </a:lnTo>
                      <a:lnTo>
                        <a:pt x="683" y="41"/>
                      </a:lnTo>
                      <a:lnTo>
                        <a:pt x="734" y="49"/>
                      </a:lnTo>
                      <a:lnTo>
                        <a:pt x="783" y="57"/>
                      </a:lnTo>
                      <a:lnTo>
                        <a:pt x="831" y="69"/>
                      </a:lnTo>
                      <a:lnTo>
                        <a:pt x="875" y="79"/>
                      </a:lnTo>
                      <a:lnTo>
                        <a:pt x="919" y="92"/>
                      </a:lnTo>
                      <a:lnTo>
                        <a:pt x="960" y="125"/>
                      </a:lnTo>
                      <a:lnTo>
                        <a:pt x="997" y="163"/>
                      </a:lnTo>
                      <a:lnTo>
                        <a:pt x="1032" y="201"/>
                      </a:lnTo>
                      <a:lnTo>
                        <a:pt x="1062" y="245"/>
                      </a:lnTo>
                      <a:lnTo>
                        <a:pt x="1092" y="288"/>
                      </a:lnTo>
                      <a:lnTo>
                        <a:pt x="1115" y="334"/>
                      </a:lnTo>
                      <a:lnTo>
                        <a:pt x="1133" y="383"/>
                      </a:lnTo>
                      <a:lnTo>
                        <a:pt x="1147" y="432"/>
                      </a:lnTo>
                      <a:lnTo>
                        <a:pt x="1106" y="435"/>
                      </a:lnTo>
                      <a:lnTo>
                        <a:pt x="1060" y="435"/>
                      </a:lnTo>
                      <a:lnTo>
                        <a:pt x="1011" y="435"/>
                      </a:lnTo>
                      <a:lnTo>
                        <a:pt x="960" y="435"/>
                      </a:lnTo>
                      <a:lnTo>
                        <a:pt x="905" y="435"/>
                      </a:lnTo>
                      <a:lnTo>
                        <a:pt x="856" y="435"/>
                      </a:lnTo>
                      <a:lnTo>
                        <a:pt x="808" y="435"/>
                      </a:lnTo>
                      <a:lnTo>
                        <a:pt x="764" y="438"/>
                      </a:lnTo>
                      <a:lnTo>
                        <a:pt x="737" y="394"/>
                      </a:lnTo>
                      <a:lnTo>
                        <a:pt x="704" y="357"/>
                      </a:lnTo>
                      <a:lnTo>
                        <a:pt x="669" y="318"/>
                      </a:lnTo>
                      <a:lnTo>
                        <a:pt x="631" y="286"/>
                      </a:lnTo>
                      <a:lnTo>
                        <a:pt x="590" y="256"/>
                      </a:lnTo>
                      <a:lnTo>
                        <a:pt x="547" y="228"/>
                      </a:lnTo>
                      <a:lnTo>
                        <a:pt x="503" y="207"/>
                      </a:lnTo>
                      <a:lnTo>
                        <a:pt x="454" y="185"/>
                      </a:lnTo>
                      <a:lnTo>
                        <a:pt x="406" y="166"/>
                      </a:lnTo>
                      <a:lnTo>
                        <a:pt x="356" y="152"/>
                      </a:lnTo>
                      <a:lnTo>
                        <a:pt x="305" y="139"/>
                      </a:lnTo>
                      <a:lnTo>
                        <a:pt x="250" y="131"/>
                      </a:lnTo>
                      <a:lnTo>
                        <a:pt x="199" y="122"/>
                      </a:lnTo>
                      <a:lnTo>
                        <a:pt x="145" y="117"/>
                      </a:lnTo>
                      <a:lnTo>
                        <a:pt x="90" y="117"/>
                      </a:lnTo>
                      <a:lnTo>
                        <a:pt x="36" y="117"/>
                      </a:lnTo>
                      <a:close/>
                    </a:path>
                  </a:pathLst>
                </a:custGeom>
                <a:solidFill>
                  <a:srgbClr val="CC5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5" name="Freeform 254"/>
                <p:cNvSpPr>
                  <a:spLocks/>
                </p:cNvSpPr>
                <p:nvPr/>
              </p:nvSpPr>
              <p:spPr bwMode="auto">
                <a:xfrm>
                  <a:off x="4989" y="1422"/>
                  <a:ext cx="30" cy="30"/>
                </a:xfrm>
                <a:custGeom>
                  <a:avLst/>
                  <a:gdLst>
                    <a:gd name="T0" fmla="*/ 0 w 119"/>
                    <a:gd name="T1" fmla="*/ 0 h 122"/>
                    <a:gd name="T2" fmla="*/ 0 w 119"/>
                    <a:gd name="T3" fmla="*/ 0 h 122"/>
                    <a:gd name="T4" fmla="*/ 0 w 119"/>
                    <a:gd name="T5" fmla="*/ 0 h 122"/>
                    <a:gd name="T6" fmla="*/ 0 w 119"/>
                    <a:gd name="T7" fmla="*/ 0 h 122"/>
                    <a:gd name="T8" fmla="*/ 0 w 119"/>
                    <a:gd name="T9" fmla="*/ 0 h 122"/>
                    <a:gd name="T10" fmla="*/ 0 w 119"/>
                    <a:gd name="T11" fmla="*/ 0 h 122"/>
                    <a:gd name="T12" fmla="*/ 0 w 119"/>
                    <a:gd name="T13" fmla="*/ 0 h 122"/>
                    <a:gd name="T14" fmla="*/ 0 w 119"/>
                    <a:gd name="T15" fmla="*/ 0 h 122"/>
                    <a:gd name="T16" fmla="*/ 0 w 119"/>
                    <a:gd name="T17" fmla="*/ 0 h 122"/>
                    <a:gd name="T18" fmla="*/ 0 w 119"/>
                    <a:gd name="T19" fmla="*/ 0 h 122"/>
                    <a:gd name="T20" fmla="*/ 0 w 119"/>
                    <a:gd name="T21" fmla="*/ 0 h 122"/>
                    <a:gd name="T22" fmla="*/ 0 w 119"/>
                    <a:gd name="T23" fmla="*/ 0 h 122"/>
                    <a:gd name="T24" fmla="*/ 0 w 119"/>
                    <a:gd name="T25" fmla="*/ 0 h 122"/>
                    <a:gd name="T26" fmla="*/ 0 w 119"/>
                    <a:gd name="T27" fmla="*/ 0 h 122"/>
                    <a:gd name="T28" fmla="*/ 0 w 119"/>
                    <a:gd name="T29" fmla="*/ 0 h 122"/>
                    <a:gd name="T30" fmla="*/ 0 w 119"/>
                    <a:gd name="T31" fmla="*/ 0 h 122"/>
                    <a:gd name="T32" fmla="*/ 0 w 119"/>
                    <a:gd name="T33" fmla="*/ 0 h 122"/>
                    <a:gd name="T34" fmla="*/ 0 w 119"/>
                    <a:gd name="T35" fmla="*/ 0 h 122"/>
                    <a:gd name="T36" fmla="*/ 0 w 119"/>
                    <a:gd name="T37" fmla="*/ 0 h 122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19"/>
                    <a:gd name="T58" fmla="*/ 0 h 122"/>
                    <a:gd name="T59" fmla="*/ 119 w 119"/>
                    <a:gd name="T60" fmla="*/ 122 h 122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19" h="122">
                      <a:moveTo>
                        <a:pt x="86" y="0"/>
                      </a:moveTo>
                      <a:lnTo>
                        <a:pt x="119" y="117"/>
                      </a:lnTo>
                      <a:lnTo>
                        <a:pt x="109" y="117"/>
                      </a:lnTo>
                      <a:lnTo>
                        <a:pt x="95" y="117"/>
                      </a:lnTo>
                      <a:lnTo>
                        <a:pt x="84" y="120"/>
                      </a:lnTo>
                      <a:lnTo>
                        <a:pt x="73" y="120"/>
                      </a:lnTo>
                      <a:lnTo>
                        <a:pt x="63" y="120"/>
                      </a:lnTo>
                      <a:lnTo>
                        <a:pt x="51" y="122"/>
                      </a:lnTo>
                      <a:lnTo>
                        <a:pt x="40" y="122"/>
                      </a:lnTo>
                      <a:lnTo>
                        <a:pt x="30" y="122"/>
                      </a:lnTo>
                      <a:lnTo>
                        <a:pt x="0" y="0"/>
                      </a:lnTo>
                      <a:lnTo>
                        <a:pt x="10" y="0"/>
                      </a:lnTo>
                      <a:lnTo>
                        <a:pt x="21" y="0"/>
                      </a:lnTo>
                      <a:lnTo>
                        <a:pt x="33" y="0"/>
                      </a:lnTo>
                      <a:lnTo>
                        <a:pt x="43" y="0"/>
                      </a:lnTo>
                      <a:lnTo>
                        <a:pt x="54" y="0"/>
                      </a:lnTo>
                      <a:lnTo>
                        <a:pt x="65" y="0"/>
                      </a:lnTo>
                      <a:lnTo>
                        <a:pt x="76" y="0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rgbClr val="CC5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6" name="Freeform 255"/>
                <p:cNvSpPr>
                  <a:spLocks/>
                </p:cNvSpPr>
                <p:nvPr/>
              </p:nvSpPr>
              <p:spPr bwMode="auto">
                <a:xfrm>
                  <a:off x="4978" y="1422"/>
                  <a:ext cx="30" cy="32"/>
                </a:xfrm>
                <a:custGeom>
                  <a:avLst/>
                  <a:gdLst>
                    <a:gd name="T0" fmla="*/ 0 w 120"/>
                    <a:gd name="T1" fmla="*/ 0 h 128"/>
                    <a:gd name="T2" fmla="*/ 0 w 120"/>
                    <a:gd name="T3" fmla="*/ 0 h 128"/>
                    <a:gd name="T4" fmla="*/ 0 w 120"/>
                    <a:gd name="T5" fmla="*/ 0 h 128"/>
                    <a:gd name="T6" fmla="*/ 0 w 120"/>
                    <a:gd name="T7" fmla="*/ 0 h 128"/>
                    <a:gd name="T8" fmla="*/ 0 w 120"/>
                    <a:gd name="T9" fmla="*/ 0 h 128"/>
                    <a:gd name="T10" fmla="*/ 0 w 120"/>
                    <a:gd name="T11" fmla="*/ 0 h 128"/>
                    <a:gd name="T12" fmla="*/ 0 w 120"/>
                    <a:gd name="T13" fmla="*/ 0 h 128"/>
                    <a:gd name="T14" fmla="*/ 0 w 120"/>
                    <a:gd name="T15" fmla="*/ 0 h 128"/>
                    <a:gd name="T16" fmla="*/ 0 w 120"/>
                    <a:gd name="T17" fmla="*/ 0 h 128"/>
                    <a:gd name="T18" fmla="*/ 0 w 120"/>
                    <a:gd name="T19" fmla="*/ 0 h 128"/>
                    <a:gd name="T20" fmla="*/ 0 w 120"/>
                    <a:gd name="T21" fmla="*/ 0 h 128"/>
                    <a:gd name="T22" fmla="*/ 0 w 120"/>
                    <a:gd name="T23" fmla="*/ 0 h 128"/>
                    <a:gd name="T24" fmla="*/ 0 w 120"/>
                    <a:gd name="T25" fmla="*/ 0 h 128"/>
                    <a:gd name="T26" fmla="*/ 0 w 120"/>
                    <a:gd name="T27" fmla="*/ 0 h 128"/>
                    <a:gd name="T28" fmla="*/ 0 w 120"/>
                    <a:gd name="T29" fmla="*/ 0 h 128"/>
                    <a:gd name="T30" fmla="*/ 0 w 120"/>
                    <a:gd name="T31" fmla="*/ 0 h 128"/>
                    <a:gd name="T32" fmla="*/ 0 w 120"/>
                    <a:gd name="T33" fmla="*/ 0 h 128"/>
                    <a:gd name="T34" fmla="*/ 0 w 120"/>
                    <a:gd name="T35" fmla="*/ 0 h 128"/>
                    <a:gd name="T36" fmla="*/ 0 w 120"/>
                    <a:gd name="T37" fmla="*/ 0 h 12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20"/>
                    <a:gd name="T58" fmla="*/ 0 h 128"/>
                    <a:gd name="T59" fmla="*/ 120 w 120"/>
                    <a:gd name="T60" fmla="*/ 128 h 128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20" h="128">
                      <a:moveTo>
                        <a:pt x="84" y="0"/>
                      </a:moveTo>
                      <a:lnTo>
                        <a:pt x="120" y="117"/>
                      </a:lnTo>
                      <a:lnTo>
                        <a:pt x="109" y="120"/>
                      </a:lnTo>
                      <a:lnTo>
                        <a:pt x="98" y="120"/>
                      </a:lnTo>
                      <a:lnTo>
                        <a:pt x="87" y="122"/>
                      </a:lnTo>
                      <a:lnTo>
                        <a:pt x="77" y="122"/>
                      </a:lnTo>
                      <a:lnTo>
                        <a:pt x="65" y="122"/>
                      </a:lnTo>
                      <a:lnTo>
                        <a:pt x="54" y="125"/>
                      </a:lnTo>
                      <a:lnTo>
                        <a:pt x="41" y="125"/>
                      </a:lnTo>
                      <a:lnTo>
                        <a:pt x="30" y="128"/>
                      </a:ln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22" y="0"/>
                      </a:lnTo>
                      <a:lnTo>
                        <a:pt x="33" y="0"/>
                      </a:lnTo>
                      <a:lnTo>
                        <a:pt x="44" y="0"/>
                      </a:lnTo>
                      <a:lnTo>
                        <a:pt x="52" y="0"/>
                      </a:lnTo>
                      <a:lnTo>
                        <a:pt x="63" y="0"/>
                      </a:lnTo>
                      <a:lnTo>
                        <a:pt x="74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CC56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7" name="Freeform 256"/>
                <p:cNvSpPr>
                  <a:spLocks/>
                </p:cNvSpPr>
                <p:nvPr/>
              </p:nvSpPr>
              <p:spPr bwMode="auto">
                <a:xfrm>
                  <a:off x="4967" y="1422"/>
                  <a:ext cx="30" cy="32"/>
                </a:xfrm>
                <a:custGeom>
                  <a:avLst/>
                  <a:gdLst>
                    <a:gd name="T0" fmla="*/ 0 w 120"/>
                    <a:gd name="T1" fmla="*/ 0 h 131"/>
                    <a:gd name="T2" fmla="*/ 0 w 120"/>
                    <a:gd name="T3" fmla="*/ 0 h 131"/>
                    <a:gd name="T4" fmla="*/ 0 w 120"/>
                    <a:gd name="T5" fmla="*/ 0 h 131"/>
                    <a:gd name="T6" fmla="*/ 0 w 120"/>
                    <a:gd name="T7" fmla="*/ 0 h 131"/>
                    <a:gd name="T8" fmla="*/ 0 w 120"/>
                    <a:gd name="T9" fmla="*/ 0 h 131"/>
                    <a:gd name="T10" fmla="*/ 0 w 120"/>
                    <a:gd name="T11" fmla="*/ 0 h 131"/>
                    <a:gd name="T12" fmla="*/ 0 w 120"/>
                    <a:gd name="T13" fmla="*/ 0 h 131"/>
                    <a:gd name="T14" fmla="*/ 0 w 120"/>
                    <a:gd name="T15" fmla="*/ 0 h 131"/>
                    <a:gd name="T16" fmla="*/ 0 w 120"/>
                    <a:gd name="T17" fmla="*/ 0 h 131"/>
                    <a:gd name="T18" fmla="*/ 0 w 120"/>
                    <a:gd name="T19" fmla="*/ 0 h 131"/>
                    <a:gd name="T20" fmla="*/ 0 w 120"/>
                    <a:gd name="T21" fmla="*/ 0 h 131"/>
                    <a:gd name="T22" fmla="*/ 0 w 120"/>
                    <a:gd name="T23" fmla="*/ 0 h 131"/>
                    <a:gd name="T24" fmla="*/ 0 w 120"/>
                    <a:gd name="T25" fmla="*/ 0 h 131"/>
                    <a:gd name="T26" fmla="*/ 0 w 120"/>
                    <a:gd name="T27" fmla="*/ 0 h 131"/>
                    <a:gd name="T28" fmla="*/ 0 w 120"/>
                    <a:gd name="T29" fmla="*/ 0 h 131"/>
                    <a:gd name="T30" fmla="*/ 0 w 120"/>
                    <a:gd name="T31" fmla="*/ 0 h 131"/>
                    <a:gd name="T32" fmla="*/ 0 w 120"/>
                    <a:gd name="T33" fmla="*/ 0 h 131"/>
                    <a:gd name="T34" fmla="*/ 0 w 120"/>
                    <a:gd name="T35" fmla="*/ 0 h 131"/>
                    <a:gd name="T36" fmla="*/ 0 w 120"/>
                    <a:gd name="T37" fmla="*/ 0 h 13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20"/>
                    <a:gd name="T58" fmla="*/ 0 h 131"/>
                    <a:gd name="T59" fmla="*/ 120 w 120"/>
                    <a:gd name="T60" fmla="*/ 131 h 131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20" h="131">
                      <a:moveTo>
                        <a:pt x="90" y="0"/>
                      </a:moveTo>
                      <a:lnTo>
                        <a:pt x="120" y="122"/>
                      </a:lnTo>
                      <a:lnTo>
                        <a:pt x="109" y="122"/>
                      </a:lnTo>
                      <a:lnTo>
                        <a:pt x="98" y="122"/>
                      </a:lnTo>
                      <a:lnTo>
                        <a:pt x="90" y="125"/>
                      </a:lnTo>
                      <a:lnTo>
                        <a:pt x="79" y="125"/>
                      </a:lnTo>
                      <a:lnTo>
                        <a:pt x="68" y="128"/>
                      </a:lnTo>
                      <a:lnTo>
                        <a:pt x="57" y="131"/>
                      </a:lnTo>
                      <a:lnTo>
                        <a:pt x="46" y="131"/>
                      </a:lnTo>
                      <a:lnTo>
                        <a:pt x="35" y="131"/>
                      </a:lnTo>
                      <a:lnTo>
                        <a:pt x="0" y="0"/>
                      </a:lnTo>
                      <a:lnTo>
                        <a:pt x="10" y="0"/>
                      </a:lnTo>
                      <a:lnTo>
                        <a:pt x="22" y="0"/>
                      </a:lnTo>
                      <a:lnTo>
                        <a:pt x="33" y="0"/>
                      </a:lnTo>
                      <a:lnTo>
                        <a:pt x="44" y="0"/>
                      </a:lnTo>
                      <a:lnTo>
                        <a:pt x="54" y="0"/>
                      </a:lnTo>
                      <a:lnTo>
                        <a:pt x="65" y="0"/>
                      </a:lnTo>
                      <a:lnTo>
                        <a:pt x="79" y="0"/>
                      </a:lnTo>
                      <a:lnTo>
                        <a:pt x="90" y="0"/>
                      </a:lnTo>
                      <a:close/>
                    </a:path>
                  </a:pathLst>
                </a:custGeom>
                <a:solidFill>
                  <a:srgbClr val="CC59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8" name="Freeform 257"/>
                <p:cNvSpPr>
                  <a:spLocks/>
                </p:cNvSpPr>
                <p:nvPr/>
              </p:nvSpPr>
              <p:spPr bwMode="auto">
                <a:xfrm>
                  <a:off x="4956" y="1422"/>
                  <a:ext cx="30" cy="35"/>
                </a:xfrm>
                <a:custGeom>
                  <a:avLst/>
                  <a:gdLst>
                    <a:gd name="T0" fmla="*/ 0 w 119"/>
                    <a:gd name="T1" fmla="*/ 0 h 139"/>
                    <a:gd name="T2" fmla="*/ 0 w 119"/>
                    <a:gd name="T3" fmla="*/ 0 h 139"/>
                    <a:gd name="T4" fmla="*/ 0 w 119"/>
                    <a:gd name="T5" fmla="*/ 0 h 139"/>
                    <a:gd name="T6" fmla="*/ 0 w 119"/>
                    <a:gd name="T7" fmla="*/ 0 h 139"/>
                    <a:gd name="T8" fmla="*/ 0 w 119"/>
                    <a:gd name="T9" fmla="*/ 0 h 139"/>
                    <a:gd name="T10" fmla="*/ 0 w 119"/>
                    <a:gd name="T11" fmla="*/ 0 h 139"/>
                    <a:gd name="T12" fmla="*/ 0 w 119"/>
                    <a:gd name="T13" fmla="*/ 0 h 139"/>
                    <a:gd name="T14" fmla="*/ 0 w 119"/>
                    <a:gd name="T15" fmla="*/ 0 h 139"/>
                    <a:gd name="T16" fmla="*/ 0 w 119"/>
                    <a:gd name="T17" fmla="*/ 0 h 139"/>
                    <a:gd name="T18" fmla="*/ 0 w 119"/>
                    <a:gd name="T19" fmla="*/ 0 h 139"/>
                    <a:gd name="T20" fmla="*/ 0 w 119"/>
                    <a:gd name="T21" fmla="*/ 0 h 139"/>
                    <a:gd name="T22" fmla="*/ 0 w 119"/>
                    <a:gd name="T23" fmla="*/ 0 h 139"/>
                    <a:gd name="T24" fmla="*/ 0 w 119"/>
                    <a:gd name="T25" fmla="*/ 0 h 139"/>
                    <a:gd name="T26" fmla="*/ 0 w 119"/>
                    <a:gd name="T27" fmla="*/ 0 h 139"/>
                    <a:gd name="T28" fmla="*/ 0 w 119"/>
                    <a:gd name="T29" fmla="*/ 0 h 139"/>
                    <a:gd name="T30" fmla="*/ 0 w 119"/>
                    <a:gd name="T31" fmla="*/ 0 h 139"/>
                    <a:gd name="T32" fmla="*/ 0 w 119"/>
                    <a:gd name="T33" fmla="*/ 0 h 139"/>
                    <a:gd name="T34" fmla="*/ 0 w 119"/>
                    <a:gd name="T35" fmla="*/ 0 h 139"/>
                    <a:gd name="T36" fmla="*/ 0 w 119"/>
                    <a:gd name="T37" fmla="*/ 0 h 139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19"/>
                    <a:gd name="T58" fmla="*/ 0 h 139"/>
                    <a:gd name="T59" fmla="*/ 119 w 119"/>
                    <a:gd name="T60" fmla="*/ 139 h 139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19" h="139">
                      <a:moveTo>
                        <a:pt x="89" y="0"/>
                      </a:moveTo>
                      <a:lnTo>
                        <a:pt x="119" y="128"/>
                      </a:lnTo>
                      <a:lnTo>
                        <a:pt x="108" y="128"/>
                      </a:lnTo>
                      <a:lnTo>
                        <a:pt x="97" y="131"/>
                      </a:lnTo>
                      <a:lnTo>
                        <a:pt x="87" y="131"/>
                      </a:lnTo>
                      <a:lnTo>
                        <a:pt x="76" y="133"/>
                      </a:lnTo>
                      <a:lnTo>
                        <a:pt x="65" y="136"/>
                      </a:lnTo>
                      <a:lnTo>
                        <a:pt x="57" y="136"/>
                      </a:lnTo>
                      <a:lnTo>
                        <a:pt x="46" y="139"/>
                      </a:lnTo>
                      <a:lnTo>
                        <a:pt x="35" y="139"/>
                      </a:ln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21" y="0"/>
                      </a:lnTo>
                      <a:lnTo>
                        <a:pt x="32" y="0"/>
                      </a:lnTo>
                      <a:lnTo>
                        <a:pt x="43" y="0"/>
                      </a:lnTo>
                      <a:lnTo>
                        <a:pt x="53" y="0"/>
                      </a:lnTo>
                      <a:lnTo>
                        <a:pt x="67" y="0"/>
                      </a:lnTo>
                      <a:lnTo>
                        <a:pt x="78" y="0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rgbClr val="CC592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9" name="Freeform 258"/>
                <p:cNvSpPr>
                  <a:spLocks/>
                </p:cNvSpPr>
                <p:nvPr/>
              </p:nvSpPr>
              <p:spPr bwMode="auto">
                <a:xfrm>
                  <a:off x="4944" y="1422"/>
                  <a:ext cx="32" cy="36"/>
                </a:xfrm>
                <a:custGeom>
                  <a:avLst/>
                  <a:gdLst>
                    <a:gd name="T0" fmla="*/ 0 w 125"/>
                    <a:gd name="T1" fmla="*/ 0 h 147"/>
                    <a:gd name="T2" fmla="*/ 0 w 125"/>
                    <a:gd name="T3" fmla="*/ 0 h 147"/>
                    <a:gd name="T4" fmla="*/ 0 w 125"/>
                    <a:gd name="T5" fmla="*/ 0 h 147"/>
                    <a:gd name="T6" fmla="*/ 0 w 125"/>
                    <a:gd name="T7" fmla="*/ 0 h 147"/>
                    <a:gd name="T8" fmla="*/ 0 w 125"/>
                    <a:gd name="T9" fmla="*/ 0 h 147"/>
                    <a:gd name="T10" fmla="*/ 0 w 125"/>
                    <a:gd name="T11" fmla="*/ 0 h 147"/>
                    <a:gd name="T12" fmla="*/ 0 w 125"/>
                    <a:gd name="T13" fmla="*/ 0 h 147"/>
                    <a:gd name="T14" fmla="*/ 0 w 125"/>
                    <a:gd name="T15" fmla="*/ 0 h 147"/>
                    <a:gd name="T16" fmla="*/ 0 w 125"/>
                    <a:gd name="T17" fmla="*/ 0 h 147"/>
                    <a:gd name="T18" fmla="*/ 0 w 125"/>
                    <a:gd name="T19" fmla="*/ 0 h 147"/>
                    <a:gd name="T20" fmla="*/ 0 w 125"/>
                    <a:gd name="T21" fmla="*/ 0 h 147"/>
                    <a:gd name="T22" fmla="*/ 0 w 125"/>
                    <a:gd name="T23" fmla="*/ 0 h 147"/>
                    <a:gd name="T24" fmla="*/ 0 w 125"/>
                    <a:gd name="T25" fmla="*/ 0 h 147"/>
                    <a:gd name="T26" fmla="*/ 0 w 125"/>
                    <a:gd name="T27" fmla="*/ 0 h 147"/>
                    <a:gd name="T28" fmla="*/ 0 w 125"/>
                    <a:gd name="T29" fmla="*/ 0 h 147"/>
                    <a:gd name="T30" fmla="*/ 0 w 125"/>
                    <a:gd name="T31" fmla="*/ 0 h 147"/>
                    <a:gd name="T32" fmla="*/ 0 w 125"/>
                    <a:gd name="T33" fmla="*/ 0 h 147"/>
                    <a:gd name="T34" fmla="*/ 0 w 125"/>
                    <a:gd name="T35" fmla="*/ 0 h 147"/>
                    <a:gd name="T36" fmla="*/ 0 w 125"/>
                    <a:gd name="T37" fmla="*/ 0 h 147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25"/>
                    <a:gd name="T58" fmla="*/ 0 h 147"/>
                    <a:gd name="T59" fmla="*/ 125 w 125"/>
                    <a:gd name="T60" fmla="*/ 147 h 147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25" h="147">
                      <a:moveTo>
                        <a:pt x="90" y="0"/>
                      </a:moveTo>
                      <a:lnTo>
                        <a:pt x="125" y="131"/>
                      </a:lnTo>
                      <a:lnTo>
                        <a:pt x="114" y="133"/>
                      </a:lnTo>
                      <a:lnTo>
                        <a:pt x="104" y="136"/>
                      </a:lnTo>
                      <a:lnTo>
                        <a:pt x="93" y="139"/>
                      </a:lnTo>
                      <a:lnTo>
                        <a:pt x="82" y="141"/>
                      </a:lnTo>
                      <a:lnTo>
                        <a:pt x="72" y="141"/>
                      </a:lnTo>
                      <a:lnTo>
                        <a:pt x="60" y="145"/>
                      </a:lnTo>
                      <a:lnTo>
                        <a:pt x="49" y="147"/>
                      </a:lnTo>
                      <a:lnTo>
                        <a:pt x="38" y="147"/>
                      </a:ln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24" y="0"/>
                      </a:lnTo>
                      <a:lnTo>
                        <a:pt x="35" y="0"/>
                      </a:lnTo>
                      <a:lnTo>
                        <a:pt x="47" y="0"/>
                      </a:lnTo>
                      <a:lnTo>
                        <a:pt x="58" y="0"/>
                      </a:lnTo>
                      <a:lnTo>
                        <a:pt x="68" y="0"/>
                      </a:lnTo>
                      <a:lnTo>
                        <a:pt x="79" y="0"/>
                      </a:lnTo>
                      <a:lnTo>
                        <a:pt x="90" y="0"/>
                      </a:lnTo>
                      <a:close/>
                    </a:path>
                  </a:pathLst>
                </a:custGeom>
                <a:solidFill>
                  <a:srgbClr val="CC5B3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0" name="Freeform 259"/>
                <p:cNvSpPr>
                  <a:spLocks/>
                </p:cNvSpPr>
                <p:nvPr/>
              </p:nvSpPr>
              <p:spPr bwMode="auto">
                <a:xfrm>
                  <a:off x="4934" y="1422"/>
                  <a:ext cx="31" cy="40"/>
                </a:xfrm>
                <a:custGeom>
                  <a:avLst/>
                  <a:gdLst>
                    <a:gd name="T0" fmla="*/ 0 w 123"/>
                    <a:gd name="T1" fmla="*/ 0 h 161"/>
                    <a:gd name="T2" fmla="*/ 0 w 123"/>
                    <a:gd name="T3" fmla="*/ 0 h 161"/>
                    <a:gd name="T4" fmla="*/ 0 w 123"/>
                    <a:gd name="T5" fmla="*/ 0 h 161"/>
                    <a:gd name="T6" fmla="*/ 0 w 123"/>
                    <a:gd name="T7" fmla="*/ 0 h 161"/>
                    <a:gd name="T8" fmla="*/ 0 w 123"/>
                    <a:gd name="T9" fmla="*/ 0 h 161"/>
                    <a:gd name="T10" fmla="*/ 0 w 123"/>
                    <a:gd name="T11" fmla="*/ 0 h 161"/>
                    <a:gd name="T12" fmla="*/ 0 w 123"/>
                    <a:gd name="T13" fmla="*/ 0 h 161"/>
                    <a:gd name="T14" fmla="*/ 0 w 123"/>
                    <a:gd name="T15" fmla="*/ 0 h 161"/>
                    <a:gd name="T16" fmla="*/ 0 w 123"/>
                    <a:gd name="T17" fmla="*/ 0 h 161"/>
                    <a:gd name="T18" fmla="*/ 0 w 123"/>
                    <a:gd name="T19" fmla="*/ 0 h 161"/>
                    <a:gd name="T20" fmla="*/ 0 w 123"/>
                    <a:gd name="T21" fmla="*/ 0 h 161"/>
                    <a:gd name="T22" fmla="*/ 0 w 123"/>
                    <a:gd name="T23" fmla="*/ 0 h 161"/>
                    <a:gd name="T24" fmla="*/ 0 w 123"/>
                    <a:gd name="T25" fmla="*/ 0 h 161"/>
                    <a:gd name="T26" fmla="*/ 0 w 123"/>
                    <a:gd name="T27" fmla="*/ 0 h 161"/>
                    <a:gd name="T28" fmla="*/ 0 w 123"/>
                    <a:gd name="T29" fmla="*/ 0 h 161"/>
                    <a:gd name="T30" fmla="*/ 0 w 123"/>
                    <a:gd name="T31" fmla="*/ 0 h 161"/>
                    <a:gd name="T32" fmla="*/ 0 w 123"/>
                    <a:gd name="T33" fmla="*/ 0 h 161"/>
                    <a:gd name="T34" fmla="*/ 0 w 123"/>
                    <a:gd name="T35" fmla="*/ 0 h 161"/>
                    <a:gd name="T36" fmla="*/ 0 w 123"/>
                    <a:gd name="T37" fmla="*/ 0 h 16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23"/>
                    <a:gd name="T58" fmla="*/ 0 h 161"/>
                    <a:gd name="T59" fmla="*/ 123 w 123"/>
                    <a:gd name="T60" fmla="*/ 161 h 161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23" h="161">
                      <a:moveTo>
                        <a:pt x="88" y="0"/>
                      </a:moveTo>
                      <a:lnTo>
                        <a:pt x="123" y="139"/>
                      </a:lnTo>
                      <a:lnTo>
                        <a:pt x="113" y="141"/>
                      </a:lnTo>
                      <a:lnTo>
                        <a:pt x="104" y="145"/>
                      </a:lnTo>
                      <a:lnTo>
                        <a:pt x="93" y="147"/>
                      </a:lnTo>
                      <a:lnTo>
                        <a:pt x="83" y="150"/>
                      </a:lnTo>
                      <a:lnTo>
                        <a:pt x="71" y="152"/>
                      </a:lnTo>
                      <a:lnTo>
                        <a:pt x="63" y="155"/>
                      </a:lnTo>
                      <a:lnTo>
                        <a:pt x="53" y="158"/>
                      </a:lnTo>
                      <a:lnTo>
                        <a:pt x="41" y="161"/>
                      </a:ln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23" y="0"/>
                      </a:lnTo>
                      <a:lnTo>
                        <a:pt x="33" y="0"/>
                      </a:lnTo>
                      <a:lnTo>
                        <a:pt x="44" y="0"/>
                      </a:lnTo>
                      <a:lnTo>
                        <a:pt x="55" y="0"/>
                      </a:lnTo>
                      <a:lnTo>
                        <a:pt x="65" y="0"/>
                      </a:lnTo>
                      <a:lnTo>
                        <a:pt x="76" y="0"/>
                      </a:lnTo>
                      <a:lnTo>
                        <a:pt x="88" y="0"/>
                      </a:lnTo>
                      <a:close/>
                    </a:path>
                  </a:pathLst>
                </a:custGeom>
                <a:solidFill>
                  <a:srgbClr val="CE60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1" name="Freeform 260"/>
                <p:cNvSpPr>
                  <a:spLocks/>
                </p:cNvSpPr>
                <p:nvPr/>
              </p:nvSpPr>
              <p:spPr bwMode="auto">
                <a:xfrm>
                  <a:off x="4924" y="1422"/>
                  <a:ext cx="30" cy="42"/>
                </a:xfrm>
                <a:custGeom>
                  <a:avLst/>
                  <a:gdLst>
                    <a:gd name="T0" fmla="*/ 0 w 122"/>
                    <a:gd name="T1" fmla="*/ 0 h 169"/>
                    <a:gd name="T2" fmla="*/ 0 w 122"/>
                    <a:gd name="T3" fmla="*/ 0 h 169"/>
                    <a:gd name="T4" fmla="*/ 0 w 122"/>
                    <a:gd name="T5" fmla="*/ 0 h 169"/>
                    <a:gd name="T6" fmla="*/ 0 w 122"/>
                    <a:gd name="T7" fmla="*/ 0 h 169"/>
                    <a:gd name="T8" fmla="*/ 0 w 122"/>
                    <a:gd name="T9" fmla="*/ 0 h 169"/>
                    <a:gd name="T10" fmla="*/ 0 w 122"/>
                    <a:gd name="T11" fmla="*/ 0 h 169"/>
                    <a:gd name="T12" fmla="*/ 0 w 122"/>
                    <a:gd name="T13" fmla="*/ 0 h 169"/>
                    <a:gd name="T14" fmla="*/ 0 w 122"/>
                    <a:gd name="T15" fmla="*/ 0 h 169"/>
                    <a:gd name="T16" fmla="*/ 0 w 122"/>
                    <a:gd name="T17" fmla="*/ 0 h 169"/>
                    <a:gd name="T18" fmla="*/ 0 w 122"/>
                    <a:gd name="T19" fmla="*/ 0 h 169"/>
                    <a:gd name="T20" fmla="*/ 0 w 122"/>
                    <a:gd name="T21" fmla="*/ 0 h 169"/>
                    <a:gd name="T22" fmla="*/ 0 w 122"/>
                    <a:gd name="T23" fmla="*/ 0 h 169"/>
                    <a:gd name="T24" fmla="*/ 0 w 122"/>
                    <a:gd name="T25" fmla="*/ 0 h 169"/>
                    <a:gd name="T26" fmla="*/ 0 w 122"/>
                    <a:gd name="T27" fmla="*/ 0 h 169"/>
                    <a:gd name="T28" fmla="*/ 0 w 122"/>
                    <a:gd name="T29" fmla="*/ 0 h 16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22"/>
                    <a:gd name="T46" fmla="*/ 0 h 169"/>
                    <a:gd name="T47" fmla="*/ 122 w 122"/>
                    <a:gd name="T48" fmla="*/ 169 h 16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22" h="169">
                      <a:moveTo>
                        <a:pt x="84" y="0"/>
                      </a:moveTo>
                      <a:lnTo>
                        <a:pt x="122" y="147"/>
                      </a:lnTo>
                      <a:lnTo>
                        <a:pt x="103" y="152"/>
                      </a:lnTo>
                      <a:lnTo>
                        <a:pt x="82" y="158"/>
                      </a:lnTo>
                      <a:lnTo>
                        <a:pt x="62" y="163"/>
                      </a:lnTo>
                      <a:lnTo>
                        <a:pt x="43" y="169"/>
                      </a:ln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22" y="0"/>
                      </a:lnTo>
                      <a:lnTo>
                        <a:pt x="30" y="0"/>
                      </a:lnTo>
                      <a:lnTo>
                        <a:pt x="41" y="0"/>
                      </a:lnTo>
                      <a:lnTo>
                        <a:pt x="52" y="0"/>
                      </a:lnTo>
                      <a:lnTo>
                        <a:pt x="62" y="0"/>
                      </a:lnTo>
                      <a:lnTo>
                        <a:pt x="73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D1633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2" name="Freeform 261"/>
                <p:cNvSpPr>
                  <a:spLocks/>
                </p:cNvSpPr>
                <p:nvPr/>
              </p:nvSpPr>
              <p:spPr bwMode="auto">
                <a:xfrm>
                  <a:off x="4912" y="1422"/>
                  <a:ext cx="32" cy="46"/>
                </a:xfrm>
                <a:custGeom>
                  <a:avLst/>
                  <a:gdLst>
                    <a:gd name="T0" fmla="*/ 0 w 130"/>
                    <a:gd name="T1" fmla="*/ 0 h 185"/>
                    <a:gd name="T2" fmla="*/ 0 w 130"/>
                    <a:gd name="T3" fmla="*/ 0 h 185"/>
                    <a:gd name="T4" fmla="*/ 0 w 130"/>
                    <a:gd name="T5" fmla="*/ 0 h 185"/>
                    <a:gd name="T6" fmla="*/ 0 w 130"/>
                    <a:gd name="T7" fmla="*/ 0 h 185"/>
                    <a:gd name="T8" fmla="*/ 0 w 130"/>
                    <a:gd name="T9" fmla="*/ 0 h 185"/>
                    <a:gd name="T10" fmla="*/ 0 w 130"/>
                    <a:gd name="T11" fmla="*/ 0 h 185"/>
                    <a:gd name="T12" fmla="*/ 0 w 130"/>
                    <a:gd name="T13" fmla="*/ 0 h 185"/>
                    <a:gd name="T14" fmla="*/ 0 w 130"/>
                    <a:gd name="T15" fmla="*/ 0 h 185"/>
                    <a:gd name="T16" fmla="*/ 0 w 130"/>
                    <a:gd name="T17" fmla="*/ 0 h 185"/>
                    <a:gd name="T18" fmla="*/ 0 w 130"/>
                    <a:gd name="T19" fmla="*/ 0 h 185"/>
                    <a:gd name="T20" fmla="*/ 0 w 130"/>
                    <a:gd name="T21" fmla="*/ 0 h 185"/>
                    <a:gd name="T22" fmla="*/ 0 w 130"/>
                    <a:gd name="T23" fmla="*/ 0 h 185"/>
                    <a:gd name="T24" fmla="*/ 0 w 130"/>
                    <a:gd name="T25" fmla="*/ 0 h 185"/>
                    <a:gd name="T26" fmla="*/ 0 w 130"/>
                    <a:gd name="T27" fmla="*/ 0 h 185"/>
                    <a:gd name="T28" fmla="*/ 0 w 130"/>
                    <a:gd name="T29" fmla="*/ 0 h 185"/>
                    <a:gd name="T30" fmla="*/ 0 w 130"/>
                    <a:gd name="T31" fmla="*/ 0 h 185"/>
                    <a:gd name="T32" fmla="*/ 0 w 130"/>
                    <a:gd name="T33" fmla="*/ 0 h 185"/>
                    <a:gd name="T34" fmla="*/ 0 w 130"/>
                    <a:gd name="T35" fmla="*/ 0 h 185"/>
                    <a:gd name="T36" fmla="*/ 0 w 130"/>
                    <a:gd name="T37" fmla="*/ 0 h 185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30"/>
                    <a:gd name="T58" fmla="*/ 0 h 185"/>
                    <a:gd name="T59" fmla="*/ 130 w 130"/>
                    <a:gd name="T60" fmla="*/ 185 h 185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30" h="185">
                      <a:moveTo>
                        <a:pt x="89" y="0"/>
                      </a:moveTo>
                      <a:lnTo>
                        <a:pt x="130" y="161"/>
                      </a:lnTo>
                      <a:lnTo>
                        <a:pt x="119" y="163"/>
                      </a:lnTo>
                      <a:lnTo>
                        <a:pt x="108" y="166"/>
                      </a:lnTo>
                      <a:lnTo>
                        <a:pt x="98" y="169"/>
                      </a:lnTo>
                      <a:lnTo>
                        <a:pt x="87" y="171"/>
                      </a:lnTo>
                      <a:lnTo>
                        <a:pt x="76" y="177"/>
                      </a:lnTo>
                      <a:lnTo>
                        <a:pt x="68" y="180"/>
                      </a:lnTo>
                      <a:lnTo>
                        <a:pt x="57" y="182"/>
                      </a:lnTo>
                      <a:lnTo>
                        <a:pt x="46" y="185"/>
                      </a:ln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22" y="0"/>
                      </a:lnTo>
                      <a:lnTo>
                        <a:pt x="33" y="0"/>
                      </a:lnTo>
                      <a:lnTo>
                        <a:pt x="43" y="0"/>
                      </a:lnTo>
                      <a:lnTo>
                        <a:pt x="54" y="0"/>
                      </a:lnTo>
                      <a:lnTo>
                        <a:pt x="66" y="0"/>
                      </a:lnTo>
                      <a:lnTo>
                        <a:pt x="79" y="0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rgbClr val="D1663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3" name="Freeform 262"/>
                <p:cNvSpPr>
                  <a:spLocks/>
                </p:cNvSpPr>
                <p:nvPr/>
              </p:nvSpPr>
              <p:spPr bwMode="auto">
                <a:xfrm>
                  <a:off x="4900" y="1422"/>
                  <a:ext cx="34" cy="49"/>
                </a:xfrm>
                <a:custGeom>
                  <a:avLst/>
                  <a:gdLst>
                    <a:gd name="T0" fmla="*/ 0 w 136"/>
                    <a:gd name="T1" fmla="*/ 0 h 198"/>
                    <a:gd name="T2" fmla="*/ 0 w 136"/>
                    <a:gd name="T3" fmla="*/ 0 h 198"/>
                    <a:gd name="T4" fmla="*/ 0 w 136"/>
                    <a:gd name="T5" fmla="*/ 0 h 198"/>
                    <a:gd name="T6" fmla="*/ 0 w 136"/>
                    <a:gd name="T7" fmla="*/ 0 h 198"/>
                    <a:gd name="T8" fmla="*/ 0 w 136"/>
                    <a:gd name="T9" fmla="*/ 0 h 198"/>
                    <a:gd name="T10" fmla="*/ 0 w 136"/>
                    <a:gd name="T11" fmla="*/ 0 h 198"/>
                    <a:gd name="T12" fmla="*/ 0 w 136"/>
                    <a:gd name="T13" fmla="*/ 0 h 198"/>
                    <a:gd name="T14" fmla="*/ 0 w 136"/>
                    <a:gd name="T15" fmla="*/ 0 h 198"/>
                    <a:gd name="T16" fmla="*/ 0 w 136"/>
                    <a:gd name="T17" fmla="*/ 0 h 198"/>
                    <a:gd name="T18" fmla="*/ 0 w 136"/>
                    <a:gd name="T19" fmla="*/ 0 h 198"/>
                    <a:gd name="T20" fmla="*/ 0 w 136"/>
                    <a:gd name="T21" fmla="*/ 0 h 198"/>
                    <a:gd name="T22" fmla="*/ 0 w 136"/>
                    <a:gd name="T23" fmla="*/ 0 h 198"/>
                    <a:gd name="T24" fmla="*/ 0 w 136"/>
                    <a:gd name="T25" fmla="*/ 0 h 198"/>
                    <a:gd name="T26" fmla="*/ 0 w 136"/>
                    <a:gd name="T27" fmla="*/ 0 h 198"/>
                    <a:gd name="T28" fmla="*/ 0 w 136"/>
                    <a:gd name="T29" fmla="*/ 0 h 198"/>
                    <a:gd name="T30" fmla="*/ 0 w 136"/>
                    <a:gd name="T31" fmla="*/ 0 h 198"/>
                    <a:gd name="T32" fmla="*/ 0 w 136"/>
                    <a:gd name="T33" fmla="*/ 0 h 198"/>
                    <a:gd name="T34" fmla="*/ 0 w 136"/>
                    <a:gd name="T35" fmla="*/ 0 h 198"/>
                    <a:gd name="T36" fmla="*/ 0 w 136"/>
                    <a:gd name="T37" fmla="*/ 0 h 19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36"/>
                    <a:gd name="T58" fmla="*/ 0 h 198"/>
                    <a:gd name="T59" fmla="*/ 136 w 136"/>
                    <a:gd name="T60" fmla="*/ 198 h 198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36" h="198">
                      <a:moveTo>
                        <a:pt x="93" y="0"/>
                      </a:moveTo>
                      <a:lnTo>
                        <a:pt x="136" y="169"/>
                      </a:lnTo>
                      <a:lnTo>
                        <a:pt x="126" y="175"/>
                      </a:lnTo>
                      <a:lnTo>
                        <a:pt x="118" y="177"/>
                      </a:lnTo>
                      <a:lnTo>
                        <a:pt x="106" y="182"/>
                      </a:lnTo>
                      <a:lnTo>
                        <a:pt x="96" y="185"/>
                      </a:lnTo>
                      <a:lnTo>
                        <a:pt x="85" y="191"/>
                      </a:lnTo>
                      <a:lnTo>
                        <a:pt x="76" y="193"/>
                      </a:lnTo>
                      <a:lnTo>
                        <a:pt x="66" y="196"/>
                      </a:lnTo>
                      <a:lnTo>
                        <a:pt x="55" y="198"/>
                      </a:ln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23" y="0"/>
                      </a:lnTo>
                      <a:lnTo>
                        <a:pt x="36" y="0"/>
                      </a:lnTo>
                      <a:lnTo>
                        <a:pt x="47" y="0"/>
                      </a:lnTo>
                      <a:lnTo>
                        <a:pt x="58" y="0"/>
                      </a:lnTo>
                      <a:lnTo>
                        <a:pt x="71" y="0"/>
                      </a:lnTo>
                      <a:lnTo>
                        <a:pt x="83" y="0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solidFill>
                  <a:srgbClr val="D1683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4" name="Freeform 263"/>
                <p:cNvSpPr>
                  <a:spLocks/>
                </p:cNvSpPr>
                <p:nvPr/>
              </p:nvSpPr>
              <p:spPr bwMode="auto">
                <a:xfrm>
                  <a:off x="4890" y="1422"/>
                  <a:ext cx="34" cy="54"/>
                </a:xfrm>
                <a:custGeom>
                  <a:avLst/>
                  <a:gdLst>
                    <a:gd name="T0" fmla="*/ 0 w 135"/>
                    <a:gd name="T1" fmla="*/ 0 h 215"/>
                    <a:gd name="T2" fmla="*/ 0 w 135"/>
                    <a:gd name="T3" fmla="*/ 0 h 215"/>
                    <a:gd name="T4" fmla="*/ 0 w 135"/>
                    <a:gd name="T5" fmla="*/ 0 h 215"/>
                    <a:gd name="T6" fmla="*/ 0 w 135"/>
                    <a:gd name="T7" fmla="*/ 0 h 215"/>
                    <a:gd name="T8" fmla="*/ 0 w 135"/>
                    <a:gd name="T9" fmla="*/ 0 h 215"/>
                    <a:gd name="T10" fmla="*/ 0 w 135"/>
                    <a:gd name="T11" fmla="*/ 0 h 215"/>
                    <a:gd name="T12" fmla="*/ 0 w 135"/>
                    <a:gd name="T13" fmla="*/ 0 h 215"/>
                    <a:gd name="T14" fmla="*/ 0 w 135"/>
                    <a:gd name="T15" fmla="*/ 0 h 215"/>
                    <a:gd name="T16" fmla="*/ 0 w 135"/>
                    <a:gd name="T17" fmla="*/ 0 h 215"/>
                    <a:gd name="T18" fmla="*/ 0 w 135"/>
                    <a:gd name="T19" fmla="*/ 0 h 215"/>
                    <a:gd name="T20" fmla="*/ 0 w 135"/>
                    <a:gd name="T21" fmla="*/ 0 h 215"/>
                    <a:gd name="T22" fmla="*/ 0 w 135"/>
                    <a:gd name="T23" fmla="*/ 0 h 215"/>
                    <a:gd name="T24" fmla="*/ 0 w 135"/>
                    <a:gd name="T25" fmla="*/ 0 h 215"/>
                    <a:gd name="T26" fmla="*/ 0 w 135"/>
                    <a:gd name="T27" fmla="*/ 0 h 215"/>
                    <a:gd name="T28" fmla="*/ 0 w 135"/>
                    <a:gd name="T29" fmla="*/ 0 h 215"/>
                    <a:gd name="T30" fmla="*/ 0 w 135"/>
                    <a:gd name="T31" fmla="*/ 0 h 215"/>
                    <a:gd name="T32" fmla="*/ 0 w 135"/>
                    <a:gd name="T33" fmla="*/ 0 h 215"/>
                    <a:gd name="T34" fmla="*/ 0 w 135"/>
                    <a:gd name="T35" fmla="*/ 0 h 215"/>
                    <a:gd name="T36" fmla="*/ 0 w 135"/>
                    <a:gd name="T37" fmla="*/ 0 h 215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35"/>
                    <a:gd name="T58" fmla="*/ 0 h 215"/>
                    <a:gd name="T59" fmla="*/ 135 w 135"/>
                    <a:gd name="T60" fmla="*/ 215 h 215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35" h="215">
                      <a:moveTo>
                        <a:pt x="89" y="0"/>
                      </a:moveTo>
                      <a:lnTo>
                        <a:pt x="135" y="185"/>
                      </a:lnTo>
                      <a:lnTo>
                        <a:pt x="125" y="187"/>
                      </a:lnTo>
                      <a:lnTo>
                        <a:pt x="116" y="193"/>
                      </a:lnTo>
                      <a:lnTo>
                        <a:pt x="106" y="196"/>
                      </a:lnTo>
                      <a:lnTo>
                        <a:pt x="95" y="198"/>
                      </a:lnTo>
                      <a:lnTo>
                        <a:pt x="83" y="205"/>
                      </a:lnTo>
                      <a:lnTo>
                        <a:pt x="76" y="207"/>
                      </a:lnTo>
                      <a:lnTo>
                        <a:pt x="65" y="212"/>
                      </a:lnTo>
                      <a:lnTo>
                        <a:pt x="54" y="215"/>
                      </a:lnTo>
                      <a:lnTo>
                        <a:pt x="0" y="0"/>
                      </a:lnTo>
                      <a:lnTo>
                        <a:pt x="10" y="0"/>
                      </a:lnTo>
                      <a:lnTo>
                        <a:pt x="24" y="0"/>
                      </a:lnTo>
                      <a:lnTo>
                        <a:pt x="35" y="0"/>
                      </a:lnTo>
                      <a:lnTo>
                        <a:pt x="46" y="0"/>
                      </a:lnTo>
                      <a:lnTo>
                        <a:pt x="56" y="0"/>
                      </a:lnTo>
                      <a:lnTo>
                        <a:pt x="67" y="0"/>
                      </a:lnTo>
                      <a:lnTo>
                        <a:pt x="78" y="0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rgbClr val="D36D3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5" name="Freeform 264"/>
                <p:cNvSpPr>
                  <a:spLocks/>
                </p:cNvSpPr>
                <p:nvPr/>
              </p:nvSpPr>
              <p:spPr bwMode="auto">
                <a:xfrm>
                  <a:off x="4879" y="1422"/>
                  <a:ext cx="35" cy="60"/>
                </a:xfrm>
                <a:custGeom>
                  <a:avLst/>
                  <a:gdLst>
                    <a:gd name="T0" fmla="*/ 0 w 138"/>
                    <a:gd name="T1" fmla="*/ 0 h 240"/>
                    <a:gd name="T2" fmla="*/ 0 w 138"/>
                    <a:gd name="T3" fmla="*/ 0 h 240"/>
                    <a:gd name="T4" fmla="*/ 0 w 138"/>
                    <a:gd name="T5" fmla="*/ 0 h 240"/>
                    <a:gd name="T6" fmla="*/ 0 w 138"/>
                    <a:gd name="T7" fmla="*/ 0 h 240"/>
                    <a:gd name="T8" fmla="*/ 0 w 138"/>
                    <a:gd name="T9" fmla="*/ 0 h 240"/>
                    <a:gd name="T10" fmla="*/ 0 w 138"/>
                    <a:gd name="T11" fmla="*/ 0 h 240"/>
                    <a:gd name="T12" fmla="*/ 0 w 138"/>
                    <a:gd name="T13" fmla="*/ 0 h 240"/>
                    <a:gd name="T14" fmla="*/ 0 w 138"/>
                    <a:gd name="T15" fmla="*/ 0 h 240"/>
                    <a:gd name="T16" fmla="*/ 0 w 138"/>
                    <a:gd name="T17" fmla="*/ 0 h 240"/>
                    <a:gd name="T18" fmla="*/ 0 w 138"/>
                    <a:gd name="T19" fmla="*/ 0 h 240"/>
                    <a:gd name="T20" fmla="*/ 0 w 138"/>
                    <a:gd name="T21" fmla="*/ 0 h 240"/>
                    <a:gd name="T22" fmla="*/ 0 w 138"/>
                    <a:gd name="T23" fmla="*/ 0 h 240"/>
                    <a:gd name="T24" fmla="*/ 0 w 138"/>
                    <a:gd name="T25" fmla="*/ 0 h 240"/>
                    <a:gd name="T26" fmla="*/ 0 w 138"/>
                    <a:gd name="T27" fmla="*/ 0 h 240"/>
                    <a:gd name="T28" fmla="*/ 0 w 138"/>
                    <a:gd name="T29" fmla="*/ 0 h 240"/>
                    <a:gd name="T30" fmla="*/ 0 w 138"/>
                    <a:gd name="T31" fmla="*/ 0 h 240"/>
                    <a:gd name="T32" fmla="*/ 0 w 138"/>
                    <a:gd name="T33" fmla="*/ 0 h 240"/>
                    <a:gd name="T34" fmla="*/ 0 w 138"/>
                    <a:gd name="T35" fmla="*/ 0 h 240"/>
                    <a:gd name="T36" fmla="*/ 0 w 138"/>
                    <a:gd name="T37" fmla="*/ 0 h 240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38"/>
                    <a:gd name="T58" fmla="*/ 0 h 240"/>
                    <a:gd name="T59" fmla="*/ 138 w 138"/>
                    <a:gd name="T60" fmla="*/ 240 h 240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38" h="240">
                      <a:moveTo>
                        <a:pt x="83" y="0"/>
                      </a:moveTo>
                      <a:lnTo>
                        <a:pt x="138" y="198"/>
                      </a:lnTo>
                      <a:lnTo>
                        <a:pt x="127" y="205"/>
                      </a:lnTo>
                      <a:lnTo>
                        <a:pt x="119" y="207"/>
                      </a:lnTo>
                      <a:lnTo>
                        <a:pt x="108" y="212"/>
                      </a:lnTo>
                      <a:lnTo>
                        <a:pt x="97" y="217"/>
                      </a:lnTo>
                      <a:lnTo>
                        <a:pt x="87" y="223"/>
                      </a:lnTo>
                      <a:lnTo>
                        <a:pt x="78" y="228"/>
                      </a:lnTo>
                      <a:lnTo>
                        <a:pt x="67" y="233"/>
                      </a:lnTo>
                      <a:lnTo>
                        <a:pt x="57" y="240"/>
                      </a:ln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21" y="0"/>
                      </a:lnTo>
                      <a:lnTo>
                        <a:pt x="32" y="0"/>
                      </a:lnTo>
                      <a:lnTo>
                        <a:pt x="43" y="0"/>
                      </a:lnTo>
                      <a:lnTo>
                        <a:pt x="51" y="0"/>
                      </a:lnTo>
                      <a:lnTo>
                        <a:pt x="62" y="0"/>
                      </a:lnTo>
                      <a:lnTo>
                        <a:pt x="73" y="0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rgbClr val="D370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6" name="Freeform 265"/>
                <p:cNvSpPr>
                  <a:spLocks/>
                </p:cNvSpPr>
                <p:nvPr/>
              </p:nvSpPr>
              <p:spPr bwMode="auto">
                <a:xfrm>
                  <a:off x="4868" y="1422"/>
                  <a:ext cx="35" cy="65"/>
                </a:xfrm>
                <a:custGeom>
                  <a:avLst/>
                  <a:gdLst>
                    <a:gd name="T0" fmla="*/ 0 w 142"/>
                    <a:gd name="T1" fmla="*/ 0 h 261"/>
                    <a:gd name="T2" fmla="*/ 0 w 142"/>
                    <a:gd name="T3" fmla="*/ 0 h 261"/>
                    <a:gd name="T4" fmla="*/ 0 w 142"/>
                    <a:gd name="T5" fmla="*/ 0 h 261"/>
                    <a:gd name="T6" fmla="*/ 0 w 142"/>
                    <a:gd name="T7" fmla="*/ 0 h 261"/>
                    <a:gd name="T8" fmla="*/ 0 w 142"/>
                    <a:gd name="T9" fmla="*/ 0 h 261"/>
                    <a:gd name="T10" fmla="*/ 0 w 142"/>
                    <a:gd name="T11" fmla="*/ 0 h 261"/>
                    <a:gd name="T12" fmla="*/ 0 w 142"/>
                    <a:gd name="T13" fmla="*/ 0 h 261"/>
                    <a:gd name="T14" fmla="*/ 0 w 142"/>
                    <a:gd name="T15" fmla="*/ 0 h 261"/>
                    <a:gd name="T16" fmla="*/ 0 w 142"/>
                    <a:gd name="T17" fmla="*/ 0 h 261"/>
                    <a:gd name="T18" fmla="*/ 0 w 142"/>
                    <a:gd name="T19" fmla="*/ 0 h 261"/>
                    <a:gd name="T20" fmla="*/ 0 w 142"/>
                    <a:gd name="T21" fmla="*/ 0 h 261"/>
                    <a:gd name="T22" fmla="*/ 0 w 142"/>
                    <a:gd name="T23" fmla="*/ 0 h 261"/>
                    <a:gd name="T24" fmla="*/ 0 w 142"/>
                    <a:gd name="T25" fmla="*/ 0 h 261"/>
                    <a:gd name="T26" fmla="*/ 0 w 142"/>
                    <a:gd name="T27" fmla="*/ 0 h 261"/>
                    <a:gd name="T28" fmla="*/ 0 w 142"/>
                    <a:gd name="T29" fmla="*/ 0 h 26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42"/>
                    <a:gd name="T46" fmla="*/ 0 h 261"/>
                    <a:gd name="T47" fmla="*/ 142 w 142"/>
                    <a:gd name="T48" fmla="*/ 261 h 261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42" h="261">
                      <a:moveTo>
                        <a:pt x="88" y="0"/>
                      </a:moveTo>
                      <a:lnTo>
                        <a:pt x="142" y="215"/>
                      </a:lnTo>
                      <a:lnTo>
                        <a:pt x="123" y="226"/>
                      </a:lnTo>
                      <a:lnTo>
                        <a:pt x="104" y="237"/>
                      </a:lnTo>
                      <a:lnTo>
                        <a:pt x="88" y="251"/>
                      </a:lnTo>
                      <a:lnTo>
                        <a:pt x="68" y="261"/>
                      </a:ln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22" y="0"/>
                      </a:lnTo>
                      <a:lnTo>
                        <a:pt x="33" y="0"/>
                      </a:lnTo>
                      <a:lnTo>
                        <a:pt x="44" y="0"/>
                      </a:lnTo>
                      <a:lnTo>
                        <a:pt x="54" y="0"/>
                      </a:lnTo>
                      <a:lnTo>
                        <a:pt x="65" y="0"/>
                      </a:lnTo>
                      <a:lnTo>
                        <a:pt x="77" y="0"/>
                      </a:lnTo>
                      <a:lnTo>
                        <a:pt x="88" y="0"/>
                      </a:lnTo>
                      <a:close/>
                    </a:path>
                  </a:pathLst>
                </a:custGeom>
                <a:solidFill>
                  <a:srgbClr val="D6724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7" name="Freeform 266"/>
                <p:cNvSpPr>
                  <a:spLocks/>
                </p:cNvSpPr>
                <p:nvPr/>
              </p:nvSpPr>
              <p:spPr bwMode="auto">
                <a:xfrm>
                  <a:off x="4857" y="1422"/>
                  <a:ext cx="37" cy="71"/>
                </a:xfrm>
                <a:custGeom>
                  <a:avLst/>
                  <a:gdLst>
                    <a:gd name="T0" fmla="*/ 0 w 147"/>
                    <a:gd name="T1" fmla="*/ 0 h 286"/>
                    <a:gd name="T2" fmla="*/ 0 w 147"/>
                    <a:gd name="T3" fmla="*/ 0 h 286"/>
                    <a:gd name="T4" fmla="*/ 0 w 147"/>
                    <a:gd name="T5" fmla="*/ 0 h 286"/>
                    <a:gd name="T6" fmla="*/ 0 w 147"/>
                    <a:gd name="T7" fmla="*/ 0 h 286"/>
                    <a:gd name="T8" fmla="*/ 0 w 147"/>
                    <a:gd name="T9" fmla="*/ 0 h 286"/>
                    <a:gd name="T10" fmla="*/ 0 w 147"/>
                    <a:gd name="T11" fmla="*/ 0 h 286"/>
                    <a:gd name="T12" fmla="*/ 0 w 147"/>
                    <a:gd name="T13" fmla="*/ 0 h 286"/>
                    <a:gd name="T14" fmla="*/ 0 w 147"/>
                    <a:gd name="T15" fmla="*/ 0 h 286"/>
                    <a:gd name="T16" fmla="*/ 0 w 147"/>
                    <a:gd name="T17" fmla="*/ 0 h 286"/>
                    <a:gd name="T18" fmla="*/ 0 w 147"/>
                    <a:gd name="T19" fmla="*/ 0 h 286"/>
                    <a:gd name="T20" fmla="*/ 0 w 147"/>
                    <a:gd name="T21" fmla="*/ 0 h 286"/>
                    <a:gd name="T22" fmla="*/ 0 w 147"/>
                    <a:gd name="T23" fmla="*/ 0 h 286"/>
                    <a:gd name="T24" fmla="*/ 0 w 147"/>
                    <a:gd name="T25" fmla="*/ 0 h 286"/>
                    <a:gd name="T26" fmla="*/ 0 w 147"/>
                    <a:gd name="T27" fmla="*/ 0 h 286"/>
                    <a:gd name="T28" fmla="*/ 0 w 147"/>
                    <a:gd name="T29" fmla="*/ 0 h 28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47"/>
                    <a:gd name="T46" fmla="*/ 0 h 286"/>
                    <a:gd name="T47" fmla="*/ 147 w 147"/>
                    <a:gd name="T48" fmla="*/ 286 h 28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47" h="286">
                      <a:moveTo>
                        <a:pt x="90" y="0"/>
                      </a:moveTo>
                      <a:lnTo>
                        <a:pt x="147" y="240"/>
                      </a:lnTo>
                      <a:lnTo>
                        <a:pt x="127" y="251"/>
                      </a:lnTo>
                      <a:lnTo>
                        <a:pt x="108" y="258"/>
                      </a:lnTo>
                      <a:lnTo>
                        <a:pt x="90" y="272"/>
                      </a:lnTo>
                      <a:lnTo>
                        <a:pt x="73" y="286"/>
                      </a:ln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22" y="0"/>
                      </a:lnTo>
                      <a:lnTo>
                        <a:pt x="32" y="0"/>
                      </a:lnTo>
                      <a:lnTo>
                        <a:pt x="43" y="0"/>
                      </a:lnTo>
                      <a:lnTo>
                        <a:pt x="55" y="0"/>
                      </a:lnTo>
                      <a:lnTo>
                        <a:pt x="65" y="0"/>
                      </a:lnTo>
                      <a:lnTo>
                        <a:pt x="78" y="0"/>
                      </a:lnTo>
                      <a:lnTo>
                        <a:pt x="90" y="0"/>
                      </a:lnTo>
                      <a:close/>
                    </a:path>
                  </a:pathLst>
                </a:custGeom>
                <a:solidFill>
                  <a:srgbClr val="D6754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8" name="Freeform 267"/>
                <p:cNvSpPr>
                  <a:spLocks/>
                </p:cNvSpPr>
                <p:nvPr/>
              </p:nvSpPr>
              <p:spPr bwMode="auto">
                <a:xfrm>
                  <a:off x="4846" y="1422"/>
                  <a:ext cx="39" cy="77"/>
                </a:xfrm>
                <a:custGeom>
                  <a:avLst/>
                  <a:gdLst>
                    <a:gd name="T0" fmla="*/ 0 w 157"/>
                    <a:gd name="T1" fmla="*/ 0 h 311"/>
                    <a:gd name="T2" fmla="*/ 0 w 157"/>
                    <a:gd name="T3" fmla="*/ 0 h 311"/>
                    <a:gd name="T4" fmla="*/ 0 w 157"/>
                    <a:gd name="T5" fmla="*/ 0 h 311"/>
                    <a:gd name="T6" fmla="*/ 0 w 157"/>
                    <a:gd name="T7" fmla="*/ 0 h 311"/>
                    <a:gd name="T8" fmla="*/ 0 w 157"/>
                    <a:gd name="T9" fmla="*/ 0 h 311"/>
                    <a:gd name="T10" fmla="*/ 0 w 157"/>
                    <a:gd name="T11" fmla="*/ 0 h 311"/>
                    <a:gd name="T12" fmla="*/ 0 w 157"/>
                    <a:gd name="T13" fmla="*/ 0 h 311"/>
                    <a:gd name="T14" fmla="*/ 0 w 157"/>
                    <a:gd name="T15" fmla="*/ 0 h 311"/>
                    <a:gd name="T16" fmla="*/ 0 w 157"/>
                    <a:gd name="T17" fmla="*/ 0 h 311"/>
                    <a:gd name="T18" fmla="*/ 0 w 157"/>
                    <a:gd name="T19" fmla="*/ 0 h 311"/>
                    <a:gd name="T20" fmla="*/ 0 w 157"/>
                    <a:gd name="T21" fmla="*/ 0 h 311"/>
                    <a:gd name="T22" fmla="*/ 0 w 157"/>
                    <a:gd name="T23" fmla="*/ 0 h 311"/>
                    <a:gd name="T24" fmla="*/ 0 w 157"/>
                    <a:gd name="T25" fmla="*/ 0 h 311"/>
                    <a:gd name="T26" fmla="*/ 0 w 157"/>
                    <a:gd name="T27" fmla="*/ 0 h 311"/>
                    <a:gd name="T28" fmla="*/ 0 w 157"/>
                    <a:gd name="T29" fmla="*/ 0 h 31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57"/>
                    <a:gd name="T46" fmla="*/ 0 h 311"/>
                    <a:gd name="T47" fmla="*/ 157 w 157"/>
                    <a:gd name="T48" fmla="*/ 311 h 311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57" h="311">
                      <a:moveTo>
                        <a:pt x="89" y="0"/>
                      </a:moveTo>
                      <a:lnTo>
                        <a:pt x="157" y="261"/>
                      </a:lnTo>
                      <a:lnTo>
                        <a:pt x="138" y="272"/>
                      </a:lnTo>
                      <a:lnTo>
                        <a:pt x="117" y="286"/>
                      </a:lnTo>
                      <a:lnTo>
                        <a:pt x="97" y="297"/>
                      </a:lnTo>
                      <a:lnTo>
                        <a:pt x="81" y="311"/>
                      </a:ln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22" y="0"/>
                      </a:lnTo>
                      <a:lnTo>
                        <a:pt x="35" y="0"/>
                      </a:lnTo>
                      <a:lnTo>
                        <a:pt x="46" y="0"/>
                      </a:lnTo>
                      <a:lnTo>
                        <a:pt x="57" y="0"/>
                      </a:lnTo>
                      <a:lnTo>
                        <a:pt x="68" y="0"/>
                      </a:lnTo>
                      <a:lnTo>
                        <a:pt x="78" y="0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rgbClr val="D6754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9" name="Freeform 268"/>
                <p:cNvSpPr>
                  <a:spLocks/>
                </p:cNvSpPr>
                <p:nvPr/>
              </p:nvSpPr>
              <p:spPr bwMode="auto">
                <a:xfrm>
                  <a:off x="4835" y="1422"/>
                  <a:ext cx="40" cy="85"/>
                </a:xfrm>
                <a:custGeom>
                  <a:avLst/>
                  <a:gdLst>
                    <a:gd name="T0" fmla="*/ 0 w 163"/>
                    <a:gd name="T1" fmla="*/ 0 h 340"/>
                    <a:gd name="T2" fmla="*/ 0 w 163"/>
                    <a:gd name="T3" fmla="*/ 0 h 340"/>
                    <a:gd name="T4" fmla="*/ 0 w 163"/>
                    <a:gd name="T5" fmla="*/ 0 h 340"/>
                    <a:gd name="T6" fmla="*/ 0 w 163"/>
                    <a:gd name="T7" fmla="*/ 0 h 340"/>
                    <a:gd name="T8" fmla="*/ 0 w 163"/>
                    <a:gd name="T9" fmla="*/ 0 h 340"/>
                    <a:gd name="T10" fmla="*/ 0 w 163"/>
                    <a:gd name="T11" fmla="*/ 0 h 340"/>
                    <a:gd name="T12" fmla="*/ 0 w 163"/>
                    <a:gd name="T13" fmla="*/ 0 h 340"/>
                    <a:gd name="T14" fmla="*/ 0 w 163"/>
                    <a:gd name="T15" fmla="*/ 0 h 340"/>
                    <a:gd name="T16" fmla="*/ 0 w 163"/>
                    <a:gd name="T17" fmla="*/ 0 h 340"/>
                    <a:gd name="T18" fmla="*/ 0 w 163"/>
                    <a:gd name="T19" fmla="*/ 0 h 340"/>
                    <a:gd name="T20" fmla="*/ 0 w 163"/>
                    <a:gd name="T21" fmla="*/ 0 h 340"/>
                    <a:gd name="T22" fmla="*/ 0 w 163"/>
                    <a:gd name="T23" fmla="*/ 0 h 340"/>
                    <a:gd name="T24" fmla="*/ 0 w 163"/>
                    <a:gd name="T25" fmla="*/ 0 h 340"/>
                    <a:gd name="T26" fmla="*/ 0 w 163"/>
                    <a:gd name="T27" fmla="*/ 0 h 340"/>
                    <a:gd name="T28" fmla="*/ 0 w 163"/>
                    <a:gd name="T29" fmla="*/ 0 h 34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63"/>
                    <a:gd name="T46" fmla="*/ 0 h 340"/>
                    <a:gd name="T47" fmla="*/ 163 w 163"/>
                    <a:gd name="T48" fmla="*/ 340 h 34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63" h="340">
                      <a:moveTo>
                        <a:pt x="90" y="0"/>
                      </a:moveTo>
                      <a:lnTo>
                        <a:pt x="163" y="286"/>
                      </a:lnTo>
                      <a:lnTo>
                        <a:pt x="145" y="297"/>
                      </a:lnTo>
                      <a:lnTo>
                        <a:pt x="122" y="311"/>
                      </a:lnTo>
                      <a:lnTo>
                        <a:pt x="106" y="323"/>
                      </a:lnTo>
                      <a:lnTo>
                        <a:pt x="90" y="340"/>
                      </a:ln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22" y="0"/>
                      </a:lnTo>
                      <a:lnTo>
                        <a:pt x="32" y="0"/>
                      </a:lnTo>
                      <a:lnTo>
                        <a:pt x="44" y="0"/>
                      </a:lnTo>
                      <a:lnTo>
                        <a:pt x="55" y="0"/>
                      </a:lnTo>
                      <a:lnTo>
                        <a:pt x="68" y="0"/>
                      </a:lnTo>
                      <a:lnTo>
                        <a:pt x="79" y="0"/>
                      </a:lnTo>
                      <a:lnTo>
                        <a:pt x="90" y="0"/>
                      </a:lnTo>
                      <a:close/>
                    </a:path>
                  </a:pathLst>
                </a:custGeom>
                <a:solidFill>
                  <a:srgbClr val="D6774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0" name="Freeform 269"/>
                <p:cNvSpPr>
                  <a:spLocks/>
                </p:cNvSpPr>
                <p:nvPr/>
              </p:nvSpPr>
              <p:spPr bwMode="auto">
                <a:xfrm>
                  <a:off x="4823" y="1422"/>
                  <a:ext cx="43" cy="94"/>
                </a:xfrm>
                <a:custGeom>
                  <a:avLst/>
                  <a:gdLst>
                    <a:gd name="T0" fmla="*/ 0 w 171"/>
                    <a:gd name="T1" fmla="*/ 0 h 378"/>
                    <a:gd name="T2" fmla="*/ 0 w 171"/>
                    <a:gd name="T3" fmla="*/ 0 h 378"/>
                    <a:gd name="T4" fmla="*/ 0 w 171"/>
                    <a:gd name="T5" fmla="*/ 0 h 378"/>
                    <a:gd name="T6" fmla="*/ 0 w 171"/>
                    <a:gd name="T7" fmla="*/ 0 h 378"/>
                    <a:gd name="T8" fmla="*/ 0 w 171"/>
                    <a:gd name="T9" fmla="*/ 0 h 378"/>
                    <a:gd name="T10" fmla="*/ 0 w 171"/>
                    <a:gd name="T11" fmla="*/ 0 h 378"/>
                    <a:gd name="T12" fmla="*/ 0 w 171"/>
                    <a:gd name="T13" fmla="*/ 0 h 378"/>
                    <a:gd name="T14" fmla="*/ 0 w 171"/>
                    <a:gd name="T15" fmla="*/ 0 h 378"/>
                    <a:gd name="T16" fmla="*/ 0 w 171"/>
                    <a:gd name="T17" fmla="*/ 0 h 378"/>
                    <a:gd name="T18" fmla="*/ 0 w 171"/>
                    <a:gd name="T19" fmla="*/ 0 h 378"/>
                    <a:gd name="T20" fmla="*/ 0 w 171"/>
                    <a:gd name="T21" fmla="*/ 0 h 378"/>
                    <a:gd name="T22" fmla="*/ 0 w 171"/>
                    <a:gd name="T23" fmla="*/ 0 h 378"/>
                    <a:gd name="T24" fmla="*/ 0 w 171"/>
                    <a:gd name="T25" fmla="*/ 0 h 378"/>
                    <a:gd name="T26" fmla="*/ 0 w 171"/>
                    <a:gd name="T27" fmla="*/ 0 h 378"/>
                    <a:gd name="T28" fmla="*/ 0 w 171"/>
                    <a:gd name="T29" fmla="*/ 0 h 37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71"/>
                    <a:gd name="T46" fmla="*/ 0 h 378"/>
                    <a:gd name="T47" fmla="*/ 171 w 171"/>
                    <a:gd name="T48" fmla="*/ 378 h 378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71" h="378">
                      <a:moveTo>
                        <a:pt x="90" y="0"/>
                      </a:moveTo>
                      <a:lnTo>
                        <a:pt x="171" y="311"/>
                      </a:lnTo>
                      <a:lnTo>
                        <a:pt x="152" y="327"/>
                      </a:lnTo>
                      <a:lnTo>
                        <a:pt x="133" y="343"/>
                      </a:lnTo>
                      <a:lnTo>
                        <a:pt x="117" y="359"/>
                      </a:lnTo>
                      <a:lnTo>
                        <a:pt x="101" y="378"/>
                      </a:ln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25" y="0"/>
                      </a:lnTo>
                      <a:lnTo>
                        <a:pt x="36" y="0"/>
                      </a:lnTo>
                      <a:lnTo>
                        <a:pt x="46" y="0"/>
                      </a:lnTo>
                      <a:lnTo>
                        <a:pt x="57" y="0"/>
                      </a:lnTo>
                      <a:lnTo>
                        <a:pt x="68" y="0"/>
                      </a:lnTo>
                      <a:lnTo>
                        <a:pt x="78" y="0"/>
                      </a:lnTo>
                      <a:lnTo>
                        <a:pt x="90" y="0"/>
                      </a:lnTo>
                      <a:close/>
                    </a:path>
                  </a:pathLst>
                </a:custGeom>
                <a:solidFill>
                  <a:srgbClr val="D67A4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1" name="Freeform 270"/>
                <p:cNvSpPr>
                  <a:spLocks/>
                </p:cNvSpPr>
                <p:nvPr/>
              </p:nvSpPr>
              <p:spPr bwMode="auto">
                <a:xfrm>
                  <a:off x="4813" y="1422"/>
                  <a:ext cx="44" cy="105"/>
                </a:xfrm>
                <a:custGeom>
                  <a:avLst/>
                  <a:gdLst>
                    <a:gd name="T0" fmla="*/ 0 w 176"/>
                    <a:gd name="T1" fmla="*/ 0 h 422"/>
                    <a:gd name="T2" fmla="*/ 0 w 176"/>
                    <a:gd name="T3" fmla="*/ 0 h 422"/>
                    <a:gd name="T4" fmla="*/ 0 w 176"/>
                    <a:gd name="T5" fmla="*/ 0 h 422"/>
                    <a:gd name="T6" fmla="*/ 0 w 176"/>
                    <a:gd name="T7" fmla="*/ 0 h 422"/>
                    <a:gd name="T8" fmla="*/ 0 w 176"/>
                    <a:gd name="T9" fmla="*/ 0 h 422"/>
                    <a:gd name="T10" fmla="*/ 0 w 176"/>
                    <a:gd name="T11" fmla="*/ 0 h 422"/>
                    <a:gd name="T12" fmla="*/ 0 w 176"/>
                    <a:gd name="T13" fmla="*/ 0 h 422"/>
                    <a:gd name="T14" fmla="*/ 0 w 176"/>
                    <a:gd name="T15" fmla="*/ 0 h 422"/>
                    <a:gd name="T16" fmla="*/ 0 w 176"/>
                    <a:gd name="T17" fmla="*/ 0 h 422"/>
                    <a:gd name="T18" fmla="*/ 0 w 176"/>
                    <a:gd name="T19" fmla="*/ 0 h 422"/>
                    <a:gd name="T20" fmla="*/ 0 w 176"/>
                    <a:gd name="T21" fmla="*/ 0 h 422"/>
                    <a:gd name="T22" fmla="*/ 0 w 176"/>
                    <a:gd name="T23" fmla="*/ 0 h 422"/>
                    <a:gd name="T24" fmla="*/ 0 w 176"/>
                    <a:gd name="T25" fmla="*/ 0 h 422"/>
                    <a:gd name="T26" fmla="*/ 0 w 176"/>
                    <a:gd name="T27" fmla="*/ 0 h 422"/>
                    <a:gd name="T28" fmla="*/ 0 w 176"/>
                    <a:gd name="T29" fmla="*/ 0 h 422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76"/>
                    <a:gd name="T46" fmla="*/ 0 h 422"/>
                    <a:gd name="T47" fmla="*/ 176 w 176"/>
                    <a:gd name="T48" fmla="*/ 422 h 422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76" h="422">
                      <a:moveTo>
                        <a:pt x="86" y="0"/>
                      </a:moveTo>
                      <a:lnTo>
                        <a:pt x="176" y="340"/>
                      </a:lnTo>
                      <a:lnTo>
                        <a:pt x="157" y="359"/>
                      </a:lnTo>
                      <a:lnTo>
                        <a:pt x="138" y="378"/>
                      </a:lnTo>
                      <a:lnTo>
                        <a:pt x="122" y="399"/>
                      </a:lnTo>
                      <a:lnTo>
                        <a:pt x="106" y="422"/>
                      </a:lnTo>
                      <a:lnTo>
                        <a:pt x="0" y="0"/>
                      </a:lnTo>
                      <a:lnTo>
                        <a:pt x="10" y="0"/>
                      </a:lnTo>
                      <a:lnTo>
                        <a:pt x="21" y="0"/>
                      </a:lnTo>
                      <a:lnTo>
                        <a:pt x="32" y="0"/>
                      </a:lnTo>
                      <a:lnTo>
                        <a:pt x="42" y="0"/>
                      </a:lnTo>
                      <a:lnTo>
                        <a:pt x="54" y="0"/>
                      </a:lnTo>
                      <a:lnTo>
                        <a:pt x="65" y="0"/>
                      </a:lnTo>
                      <a:lnTo>
                        <a:pt x="76" y="0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rgbClr val="D87C4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2" name="Freeform 271"/>
                <p:cNvSpPr>
                  <a:spLocks/>
                </p:cNvSpPr>
                <p:nvPr/>
              </p:nvSpPr>
              <p:spPr bwMode="auto">
                <a:xfrm>
                  <a:off x="4802" y="1422"/>
                  <a:ext cx="46" cy="117"/>
                </a:xfrm>
                <a:custGeom>
                  <a:avLst/>
                  <a:gdLst>
                    <a:gd name="T0" fmla="*/ 0 w 185"/>
                    <a:gd name="T1" fmla="*/ 0 h 470"/>
                    <a:gd name="T2" fmla="*/ 0 w 185"/>
                    <a:gd name="T3" fmla="*/ 0 h 470"/>
                    <a:gd name="T4" fmla="*/ 0 w 185"/>
                    <a:gd name="T5" fmla="*/ 0 h 470"/>
                    <a:gd name="T6" fmla="*/ 0 w 185"/>
                    <a:gd name="T7" fmla="*/ 0 h 470"/>
                    <a:gd name="T8" fmla="*/ 0 w 185"/>
                    <a:gd name="T9" fmla="*/ 0 h 470"/>
                    <a:gd name="T10" fmla="*/ 0 w 185"/>
                    <a:gd name="T11" fmla="*/ 0 h 470"/>
                    <a:gd name="T12" fmla="*/ 0 w 185"/>
                    <a:gd name="T13" fmla="*/ 0 h 470"/>
                    <a:gd name="T14" fmla="*/ 0 w 185"/>
                    <a:gd name="T15" fmla="*/ 0 h 470"/>
                    <a:gd name="T16" fmla="*/ 0 w 185"/>
                    <a:gd name="T17" fmla="*/ 0 h 470"/>
                    <a:gd name="T18" fmla="*/ 0 w 185"/>
                    <a:gd name="T19" fmla="*/ 0 h 470"/>
                    <a:gd name="T20" fmla="*/ 0 w 185"/>
                    <a:gd name="T21" fmla="*/ 0 h 470"/>
                    <a:gd name="T22" fmla="*/ 0 w 185"/>
                    <a:gd name="T23" fmla="*/ 0 h 470"/>
                    <a:gd name="T24" fmla="*/ 0 w 185"/>
                    <a:gd name="T25" fmla="*/ 0 h 470"/>
                    <a:gd name="T26" fmla="*/ 0 w 185"/>
                    <a:gd name="T27" fmla="*/ 0 h 470"/>
                    <a:gd name="T28" fmla="*/ 0 w 185"/>
                    <a:gd name="T29" fmla="*/ 0 h 47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85"/>
                    <a:gd name="T46" fmla="*/ 0 h 470"/>
                    <a:gd name="T47" fmla="*/ 185 w 185"/>
                    <a:gd name="T48" fmla="*/ 470 h 47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85" h="470">
                      <a:moveTo>
                        <a:pt x="84" y="0"/>
                      </a:moveTo>
                      <a:lnTo>
                        <a:pt x="185" y="378"/>
                      </a:lnTo>
                      <a:lnTo>
                        <a:pt x="166" y="399"/>
                      </a:lnTo>
                      <a:lnTo>
                        <a:pt x="150" y="424"/>
                      </a:lnTo>
                      <a:lnTo>
                        <a:pt x="133" y="449"/>
                      </a:lnTo>
                      <a:lnTo>
                        <a:pt x="120" y="470"/>
                      </a:lnTo>
                      <a:lnTo>
                        <a:pt x="0" y="0"/>
                      </a:lnTo>
                      <a:lnTo>
                        <a:pt x="10" y="0"/>
                      </a:lnTo>
                      <a:lnTo>
                        <a:pt x="21" y="0"/>
                      </a:lnTo>
                      <a:lnTo>
                        <a:pt x="30" y="0"/>
                      </a:lnTo>
                      <a:lnTo>
                        <a:pt x="40" y="0"/>
                      </a:lnTo>
                      <a:lnTo>
                        <a:pt x="51" y="0"/>
                      </a:lnTo>
                      <a:lnTo>
                        <a:pt x="62" y="0"/>
                      </a:lnTo>
                      <a:lnTo>
                        <a:pt x="74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DB825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3" name="Freeform 272"/>
                <p:cNvSpPr>
                  <a:spLocks/>
                </p:cNvSpPr>
                <p:nvPr/>
              </p:nvSpPr>
              <p:spPr bwMode="auto">
                <a:xfrm>
                  <a:off x="4790" y="1422"/>
                  <a:ext cx="49" cy="134"/>
                </a:xfrm>
                <a:custGeom>
                  <a:avLst/>
                  <a:gdLst>
                    <a:gd name="T0" fmla="*/ 0 w 196"/>
                    <a:gd name="T1" fmla="*/ 0 h 538"/>
                    <a:gd name="T2" fmla="*/ 0 w 196"/>
                    <a:gd name="T3" fmla="*/ 0 h 538"/>
                    <a:gd name="T4" fmla="*/ 0 w 196"/>
                    <a:gd name="T5" fmla="*/ 0 h 538"/>
                    <a:gd name="T6" fmla="*/ 0 w 196"/>
                    <a:gd name="T7" fmla="*/ 0 h 538"/>
                    <a:gd name="T8" fmla="*/ 0 w 196"/>
                    <a:gd name="T9" fmla="*/ 0 h 538"/>
                    <a:gd name="T10" fmla="*/ 0 w 196"/>
                    <a:gd name="T11" fmla="*/ 0 h 538"/>
                    <a:gd name="T12" fmla="*/ 0 w 196"/>
                    <a:gd name="T13" fmla="*/ 0 h 538"/>
                    <a:gd name="T14" fmla="*/ 0 w 196"/>
                    <a:gd name="T15" fmla="*/ 0 h 538"/>
                    <a:gd name="T16" fmla="*/ 0 w 196"/>
                    <a:gd name="T17" fmla="*/ 0 h 538"/>
                    <a:gd name="T18" fmla="*/ 0 w 196"/>
                    <a:gd name="T19" fmla="*/ 0 h 538"/>
                    <a:gd name="T20" fmla="*/ 0 w 196"/>
                    <a:gd name="T21" fmla="*/ 0 h 538"/>
                    <a:gd name="T22" fmla="*/ 0 w 196"/>
                    <a:gd name="T23" fmla="*/ 0 h 538"/>
                    <a:gd name="T24" fmla="*/ 0 w 196"/>
                    <a:gd name="T25" fmla="*/ 0 h 538"/>
                    <a:gd name="T26" fmla="*/ 0 w 196"/>
                    <a:gd name="T27" fmla="*/ 0 h 538"/>
                    <a:gd name="T28" fmla="*/ 0 w 196"/>
                    <a:gd name="T29" fmla="*/ 0 h 53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96"/>
                    <a:gd name="T46" fmla="*/ 0 h 538"/>
                    <a:gd name="T47" fmla="*/ 196 w 196"/>
                    <a:gd name="T48" fmla="*/ 538 h 538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96" h="538">
                      <a:moveTo>
                        <a:pt x="90" y="0"/>
                      </a:moveTo>
                      <a:lnTo>
                        <a:pt x="196" y="422"/>
                      </a:lnTo>
                      <a:lnTo>
                        <a:pt x="176" y="449"/>
                      </a:lnTo>
                      <a:lnTo>
                        <a:pt x="160" y="476"/>
                      </a:lnTo>
                      <a:lnTo>
                        <a:pt x="150" y="505"/>
                      </a:lnTo>
                      <a:lnTo>
                        <a:pt x="138" y="538"/>
                      </a:ln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21" y="0"/>
                      </a:lnTo>
                      <a:lnTo>
                        <a:pt x="32" y="0"/>
                      </a:lnTo>
                      <a:lnTo>
                        <a:pt x="44" y="0"/>
                      </a:lnTo>
                      <a:lnTo>
                        <a:pt x="54" y="0"/>
                      </a:lnTo>
                      <a:lnTo>
                        <a:pt x="65" y="0"/>
                      </a:lnTo>
                      <a:lnTo>
                        <a:pt x="79" y="0"/>
                      </a:lnTo>
                      <a:lnTo>
                        <a:pt x="90" y="0"/>
                      </a:lnTo>
                      <a:close/>
                    </a:path>
                  </a:pathLst>
                </a:custGeom>
                <a:solidFill>
                  <a:srgbClr val="DB845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4" name="Freeform 273"/>
                <p:cNvSpPr>
                  <a:spLocks/>
                </p:cNvSpPr>
                <p:nvPr/>
              </p:nvSpPr>
              <p:spPr bwMode="auto">
                <a:xfrm>
                  <a:off x="4779" y="1422"/>
                  <a:ext cx="53" cy="138"/>
                </a:xfrm>
                <a:custGeom>
                  <a:avLst/>
                  <a:gdLst>
                    <a:gd name="T0" fmla="*/ 0 w 212"/>
                    <a:gd name="T1" fmla="*/ 0 h 554"/>
                    <a:gd name="T2" fmla="*/ 0 w 212"/>
                    <a:gd name="T3" fmla="*/ 0 h 554"/>
                    <a:gd name="T4" fmla="*/ 0 w 212"/>
                    <a:gd name="T5" fmla="*/ 0 h 554"/>
                    <a:gd name="T6" fmla="*/ 0 w 212"/>
                    <a:gd name="T7" fmla="*/ 0 h 554"/>
                    <a:gd name="T8" fmla="*/ 0 w 212"/>
                    <a:gd name="T9" fmla="*/ 0 h 554"/>
                    <a:gd name="T10" fmla="*/ 0 w 212"/>
                    <a:gd name="T11" fmla="*/ 0 h 554"/>
                    <a:gd name="T12" fmla="*/ 0 w 212"/>
                    <a:gd name="T13" fmla="*/ 0 h 554"/>
                    <a:gd name="T14" fmla="*/ 0 w 212"/>
                    <a:gd name="T15" fmla="*/ 0 h 554"/>
                    <a:gd name="T16" fmla="*/ 0 w 212"/>
                    <a:gd name="T17" fmla="*/ 0 h 554"/>
                    <a:gd name="T18" fmla="*/ 0 w 212"/>
                    <a:gd name="T19" fmla="*/ 0 h 554"/>
                    <a:gd name="T20" fmla="*/ 0 w 212"/>
                    <a:gd name="T21" fmla="*/ 0 h 554"/>
                    <a:gd name="T22" fmla="*/ 0 w 212"/>
                    <a:gd name="T23" fmla="*/ 0 h 554"/>
                    <a:gd name="T24" fmla="*/ 0 w 212"/>
                    <a:gd name="T25" fmla="*/ 0 h 554"/>
                    <a:gd name="T26" fmla="*/ 0 w 212"/>
                    <a:gd name="T27" fmla="*/ 0 h 554"/>
                    <a:gd name="T28" fmla="*/ 0 w 212"/>
                    <a:gd name="T29" fmla="*/ 0 h 554"/>
                    <a:gd name="T30" fmla="*/ 0 w 212"/>
                    <a:gd name="T31" fmla="*/ 0 h 554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212"/>
                    <a:gd name="T49" fmla="*/ 0 h 554"/>
                    <a:gd name="T50" fmla="*/ 212 w 212"/>
                    <a:gd name="T51" fmla="*/ 554 h 554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212" h="554">
                      <a:moveTo>
                        <a:pt x="92" y="0"/>
                      </a:moveTo>
                      <a:lnTo>
                        <a:pt x="212" y="470"/>
                      </a:lnTo>
                      <a:lnTo>
                        <a:pt x="201" y="492"/>
                      </a:lnTo>
                      <a:lnTo>
                        <a:pt x="192" y="512"/>
                      </a:lnTo>
                      <a:lnTo>
                        <a:pt x="187" y="533"/>
                      </a:lnTo>
                      <a:lnTo>
                        <a:pt x="182" y="554"/>
                      </a:lnTo>
                      <a:lnTo>
                        <a:pt x="146" y="554"/>
                      </a:ln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21" y="0"/>
                      </a:lnTo>
                      <a:lnTo>
                        <a:pt x="35" y="0"/>
                      </a:lnTo>
                      <a:lnTo>
                        <a:pt x="46" y="0"/>
                      </a:lnTo>
                      <a:lnTo>
                        <a:pt x="57" y="0"/>
                      </a:lnTo>
                      <a:lnTo>
                        <a:pt x="70" y="0"/>
                      </a:lnTo>
                      <a:lnTo>
                        <a:pt x="81" y="0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DB875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5" name="Freeform 274"/>
                <p:cNvSpPr>
                  <a:spLocks/>
                </p:cNvSpPr>
                <p:nvPr/>
              </p:nvSpPr>
              <p:spPr bwMode="auto">
                <a:xfrm>
                  <a:off x="4768" y="1422"/>
                  <a:ext cx="57" cy="138"/>
                </a:xfrm>
                <a:custGeom>
                  <a:avLst/>
                  <a:gdLst>
                    <a:gd name="T0" fmla="*/ 0 w 228"/>
                    <a:gd name="T1" fmla="*/ 0 h 554"/>
                    <a:gd name="T2" fmla="*/ 0 w 228"/>
                    <a:gd name="T3" fmla="*/ 0 h 554"/>
                    <a:gd name="T4" fmla="*/ 0 w 228"/>
                    <a:gd name="T5" fmla="*/ 0 h 554"/>
                    <a:gd name="T6" fmla="*/ 0 w 228"/>
                    <a:gd name="T7" fmla="*/ 0 h 554"/>
                    <a:gd name="T8" fmla="*/ 0 w 228"/>
                    <a:gd name="T9" fmla="*/ 0 h 554"/>
                    <a:gd name="T10" fmla="*/ 0 w 228"/>
                    <a:gd name="T11" fmla="*/ 0 h 554"/>
                    <a:gd name="T12" fmla="*/ 0 w 228"/>
                    <a:gd name="T13" fmla="*/ 0 h 554"/>
                    <a:gd name="T14" fmla="*/ 0 w 228"/>
                    <a:gd name="T15" fmla="*/ 0 h 554"/>
                    <a:gd name="T16" fmla="*/ 0 w 228"/>
                    <a:gd name="T17" fmla="*/ 0 h 554"/>
                    <a:gd name="T18" fmla="*/ 0 w 228"/>
                    <a:gd name="T19" fmla="*/ 0 h 554"/>
                    <a:gd name="T20" fmla="*/ 0 w 228"/>
                    <a:gd name="T21" fmla="*/ 0 h 554"/>
                    <a:gd name="T22" fmla="*/ 0 w 228"/>
                    <a:gd name="T23" fmla="*/ 0 h 554"/>
                    <a:gd name="T24" fmla="*/ 0 w 228"/>
                    <a:gd name="T25" fmla="*/ 0 h 554"/>
                    <a:gd name="T26" fmla="*/ 0 w 228"/>
                    <a:gd name="T27" fmla="*/ 0 h 554"/>
                    <a:gd name="T28" fmla="*/ 0 w 228"/>
                    <a:gd name="T29" fmla="*/ 0 h 554"/>
                    <a:gd name="T30" fmla="*/ 0 w 228"/>
                    <a:gd name="T31" fmla="*/ 0 h 554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228"/>
                    <a:gd name="T49" fmla="*/ 0 h 554"/>
                    <a:gd name="T50" fmla="*/ 228 w 228"/>
                    <a:gd name="T51" fmla="*/ 554 h 554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228" h="554">
                      <a:moveTo>
                        <a:pt x="90" y="0"/>
                      </a:moveTo>
                      <a:lnTo>
                        <a:pt x="228" y="538"/>
                      </a:lnTo>
                      <a:lnTo>
                        <a:pt x="228" y="544"/>
                      </a:lnTo>
                      <a:lnTo>
                        <a:pt x="228" y="547"/>
                      </a:lnTo>
                      <a:lnTo>
                        <a:pt x="228" y="552"/>
                      </a:lnTo>
                      <a:lnTo>
                        <a:pt x="226" y="554"/>
                      </a:lnTo>
                      <a:lnTo>
                        <a:pt x="144" y="554"/>
                      </a:ln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25" y="0"/>
                      </a:lnTo>
                      <a:lnTo>
                        <a:pt x="35" y="0"/>
                      </a:lnTo>
                      <a:lnTo>
                        <a:pt x="46" y="0"/>
                      </a:lnTo>
                      <a:lnTo>
                        <a:pt x="57" y="0"/>
                      </a:lnTo>
                      <a:lnTo>
                        <a:pt x="68" y="0"/>
                      </a:lnTo>
                      <a:lnTo>
                        <a:pt x="79" y="0"/>
                      </a:lnTo>
                      <a:lnTo>
                        <a:pt x="90" y="0"/>
                      </a:lnTo>
                      <a:close/>
                    </a:path>
                  </a:pathLst>
                </a:custGeom>
                <a:solidFill>
                  <a:srgbClr val="DD895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6" name="Freeform 275"/>
                <p:cNvSpPr>
                  <a:spLocks/>
                </p:cNvSpPr>
                <p:nvPr/>
              </p:nvSpPr>
              <p:spPr bwMode="auto">
                <a:xfrm>
                  <a:off x="4758" y="1422"/>
                  <a:ext cx="58" cy="138"/>
                </a:xfrm>
                <a:custGeom>
                  <a:avLst/>
                  <a:gdLst>
                    <a:gd name="T0" fmla="*/ 0 w 231"/>
                    <a:gd name="T1" fmla="*/ 0 h 554"/>
                    <a:gd name="T2" fmla="*/ 0 w 231"/>
                    <a:gd name="T3" fmla="*/ 0 h 554"/>
                    <a:gd name="T4" fmla="*/ 0 w 231"/>
                    <a:gd name="T5" fmla="*/ 0 h 554"/>
                    <a:gd name="T6" fmla="*/ 0 w 231"/>
                    <a:gd name="T7" fmla="*/ 0 h 554"/>
                    <a:gd name="T8" fmla="*/ 0 w 231"/>
                    <a:gd name="T9" fmla="*/ 0 h 554"/>
                    <a:gd name="T10" fmla="*/ 0 w 231"/>
                    <a:gd name="T11" fmla="*/ 0 h 554"/>
                    <a:gd name="T12" fmla="*/ 0 w 231"/>
                    <a:gd name="T13" fmla="*/ 0 h 554"/>
                    <a:gd name="T14" fmla="*/ 0 w 231"/>
                    <a:gd name="T15" fmla="*/ 0 h 554"/>
                    <a:gd name="T16" fmla="*/ 0 w 231"/>
                    <a:gd name="T17" fmla="*/ 0 h 554"/>
                    <a:gd name="T18" fmla="*/ 0 w 231"/>
                    <a:gd name="T19" fmla="*/ 0 h 554"/>
                    <a:gd name="T20" fmla="*/ 0 w 231"/>
                    <a:gd name="T21" fmla="*/ 0 h 554"/>
                    <a:gd name="T22" fmla="*/ 0 w 231"/>
                    <a:gd name="T23" fmla="*/ 0 h 554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31"/>
                    <a:gd name="T37" fmla="*/ 0 h 554"/>
                    <a:gd name="T38" fmla="*/ 231 w 231"/>
                    <a:gd name="T39" fmla="*/ 554 h 554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31" h="554">
                      <a:moveTo>
                        <a:pt x="85" y="0"/>
                      </a:moveTo>
                      <a:lnTo>
                        <a:pt x="231" y="554"/>
                      </a:lnTo>
                      <a:lnTo>
                        <a:pt x="142" y="554"/>
                      </a:ln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22" y="0"/>
                      </a:lnTo>
                      <a:lnTo>
                        <a:pt x="32" y="0"/>
                      </a:lnTo>
                      <a:lnTo>
                        <a:pt x="44" y="0"/>
                      </a:lnTo>
                      <a:lnTo>
                        <a:pt x="52" y="0"/>
                      </a:lnTo>
                      <a:lnTo>
                        <a:pt x="62" y="0"/>
                      </a:lnTo>
                      <a:lnTo>
                        <a:pt x="74" y="0"/>
                      </a:lnTo>
                      <a:lnTo>
                        <a:pt x="85" y="0"/>
                      </a:lnTo>
                      <a:close/>
                    </a:path>
                  </a:pathLst>
                </a:custGeom>
                <a:solidFill>
                  <a:srgbClr val="DD8C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7" name="Freeform 276"/>
                <p:cNvSpPr>
                  <a:spLocks/>
                </p:cNvSpPr>
                <p:nvPr/>
              </p:nvSpPr>
              <p:spPr bwMode="auto">
                <a:xfrm>
                  <a:off x="4746" y="1421"/>
                  <a:ext cx="58" cy="139"/>
                </a:xfrm>
                <a:custGeom>
                  <a:avLst/>
                  <a:gdLst>
                    <a:gd name="T0" fmla="*/ 0 w 231"/>
                    <a:gd name="T1" fmla="*/ 0 h 556"/>
                    <a:gd name="T2" fmla="*/ 0 w 231"/>
                    <a:gd name="T3" fmla="*/ 0 h 556"/>
                    <a:gd name="T4" fmla="*/ 0 w 231"/>
                    <a:gd name="T5" fmla="*/ 0 h 556"/>
                    <a:gd name="T6" fmla="*/ 0 w 231"/>
                    <a:gd name="T7" fmla="*/ 0 h 556"/>
                    <a:gd name="T8" fmla="*/ 0 w 231"/>
                    <a:gd name="T9" fmla="*/ 0 h 556"/>
                    <a:gd name="T10" fmla="*/ 0 w 231"/>
                    <a:gd name="T11" fmla="*/ 0 h 556"/>
                    <a:gd name="T12" fmla="*/ 0 w 231"/>
                    <a:gd name="T13" fmla="*/ 0 h 556"/>
                    <a:gd name="T14" fmla="*/ 0 w 231"/>
                    <a:gd name="T15" fmla="*/ 0 h 556"/>
                    <a:gd name="T16" fmla="*/ 0 w 231"/>
                    <a:gd name="T17" fmla="*/ 0 h 556"/>
                    <a:gd name="T18" fmla="*/ 0 w 231"/>
                    <a:gd name="T19" fmla="*/ 0 h 556"/>
                    <a:gd name="T20" fmla="*/ 0 w 231"/>
                    <a:gd name="T21" fmla="*/ 0 h 556"/>
                    <a:gd name="T22" fmla="*/ 0 w 231"/>
                    <a:gd name="T23" fmla="*/ 0 h 55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31"/>
                    <a:gd name="T37" fmla="*/ 0 h 556"/>
                    <a:gd name="T38" fmla="*/ 231 w 231"/>
                    <a:gd name="T39" fmla="*/ 556 h 55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31" h="556">
                      <a:moveTo>
                        <a:pt x="87" y="2"/>
                      </a:moveTo>
                      <a:lnTo>
                        <a:pt x="231" y="556"/>
                      </a:lnTo>
                      <a:lnTo>
                        <a:pt x="142" y="556"/>
                      </a:ln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22" y="2"/>
                      </a:lnTo>
                      <a:lnTo>
                        <a:pt x="32" y="2"/>
                      </a:lnTo>
                      <a:lnTo>
                        <a:pt x="43" y="2"/>
                      </a:lnTo>
                      <a:lnTo>
                        <a:pt x="55" y="2"/>
                      </a:lnTo>
                      <a:lnTo>
                        <a:pt x="66" y="2"/>
                      </a:lnTo>
                      <a:lnTo>
                        <a:pt x="76" y="2"/>
                      </a:lnTo>
                      <a:lnTo>
                        <a:pt x="87" y="2"/>
                      </a:lnTo>
                      <a:close/>
                    </a:path>
                  </a:pathLst>
                </a:custGeom>
                <a:solidFill>
                  <a:srgbClr val="DD8E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8" name="Freeform 277"/>
                <p:cNvSpPr>
                  <a:spLocks/>
                </p:cNvSpPr>
                <p:nvPr/>
              </p:nvSpPr>
              <p:spPr bwMode="auto">
                <a:xfrm>
                  <a:off x="4735" y="1421"/>
                  <a:ext cx="58" cy="139"/>
                </a:xfrm>
                <a:custGeom>
                  <a:avLst/>
                  <a:gdLst>
                    <a:gd name="T0" fmla="*/ 0 w 232"/>
                    <a:gd name="T1" fmla="*/ 0 h 556"/>
                    <a:gd name="T2" fmla="*/ 0 w 232"/>
                    <a:gd name="T3" fmla="*/ 0 h 556"/>
                    <a:gd name="T4" fmla="*/ 0 w 232"/>
                    <a:gd name="T5" fmla="*/ 0 h 556"/>
                    <a:gd name="T6" fmla="*/ 0 w 232"/>
                    <a:gd name="T7" fmla="*/ 0 h 556"/>
                    <a:gd name="T8" fmla="*/ 0 w 232"/>
                    <a:gd name="T9" fmla="*/ 0 h 556"/>
                    <a:gd name="T10" fmla="*/ 0 w 232"/>
                    <a:gd name="T11" fmla="*/ 0 h 556"/>
                    <a:gd name="T12" fmla="*/ 0 w 232"/>
                    <a:gd name="T13" fmla="*/ 0 h 556"/>
                    <a:gd name="T14" fmla="*/ 0 w 232"/>
                    <a:gd name="T15" fmla="*/ 0 h 556"/>
                    <a:gd name="T16" fmla="*/ 0 w 232"/>
                    <a:gd name="T17" fmla="*/ 0 h 556"/>
                    <a:gd name="T18" fmla="*/ 0 w 232"/>
                    <a:gd name="T19" fmla="*/ 0 h 556"/>
                    <a:gd name="T20" fmla="*/ 0 w 232"/>
                    <a:gd name="T21" fmla="*/ 0 h 556"/>
                    <a:gd name="T22" fmla="*/ 0 w 232"/>
                    <a:gd name="T23" fmla="*/ 0 h 55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32"/>
                    <a:gd name="T37" fmla="*/ 0 h 556"/>
                    <a:gd name="T38" fmla="*/ 232 w 232"/>
                    <a:gd name="T39" fmla="*/ 556 h 55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32" h="556">
                      <a:moveTo>
                        <a:pt x="90" y="2"/>
                      </a:moveTo>
                      <a:lnTo>
                        <a:pt x="232" y="556"/>
                      </a:lnTo>
                      <a:lnTo>
                        <a:pt x="142" y="556"/>
                      </a:ln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22" y="0"/>
                      </a:lnTo>
                      <a:lnTo>
                        <a:pt x="34" y="0"/>
                      </a:lnTo>
                      <a:lnTo>
                        <a:pt x="44" y="0"/>
                      </a:lnTo>
                      <a:lnTo>
                        <a:pt x="55" y="0"/>
                      </a:lnTo>
                      <a:lnTo>
                        <a:pt x="66" y="0"/>
                      </a:lnTo>
                      <a:lnTo>
                        <a:pt x="80" y="2"/>
                      </a:lnTo>
                      <a:lnTo>
                        <a:pt x="90" y="2"/>
                      </a:lnTo>
                      <a:close/>
                    </a:path>
                  </a:pathLst>
                </a:custGeom>
                <a:solidFill>
                  <a:srgbClr val="E091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9" name="Freeform 278"/>
                <p:cNvSpPr>
                  <a:spLocks/>
                </p:cNvSpPr>
                <p:nvPr/>
              </p:nvSpPr>
              <p:spPr bwMode="auto">
                <a:xfrm>
                  <a:off x="4724" y="1420"/>
                  <a:ext cx="58" cy="140"/>
                </a:xfrm>
                <a:custGeom>
                  <a:avLst/>
                  <a:gdLst>
                    <a:gd name="T0" fmla="*/ 0 w 232"/>
                    <a:gd name="T1" fmla="*/ 0 h 562"/>
                    <a:gd name="T2" fmla="*/ 0 w 232"/>
                    <a:gd name="T3" fmla="*/ 0 h 562"/>
                    <a:gd name="T4" fmla="*/ 0 w 232"/>
                    <a:gd name="T5" fmla="*/ 0 h 562"/>
                    <a:gd name="T6" fmla="*/ 0 w 232"/>
                    <a:gd name="T7" fmla="*/ 0 h 562"/>
                    <a:gd name="T8" fmla="*/ 0 w 232"/>
                    <a:gd name="T9" fmla="*/ 0 h 562"/>
                    <a:gd name="T10" fmla="*/ 0 w 232"/>
                    <a:gd name="T11" fmla="*/ 0 h 562"/>
                    <a:gd name="T12" fmla="*/ 0 w 232"/>
                    <a:gd name="T13" fmla="*/ 0 h 562"/>
                    <a:gd name="T14" fmla="*/ 0 w 232"/>
                    <a:gd name="T15" fmla="*/ 0 h 562"/>
                    <a:gd name="T16" fmla="*/ 0 w 232"/>
                    <a:gd name="T17" fmla="*/ 0 h 562"/>
                    <a:gd name="T18" fmla="*/ 0 w 232"/>
                    <a:gd name="T19" fmla="*/ 0 h 562"/>
                    <a:gd name="T20" fmla="*/ 0 w 232"/>
                    <a:gd name="T21" fmla="*/ 0 h 562"/>
                    <a:gd name="T22" fmla="*/ 0 w 232"/>
                    <a:gd name="T23" fmla="*/ 0 h 562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32"/>
                    <a:gd name="T37" fmla="*/ 0 h 562"/>
                    <a:gd name="T38" fmla="*/ 232 w 232"/>
                    <a:gd name="T39" fmla="*/ 562 h 562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32" h="562">
                      <a:moveTo>
                        <a:pt x="90" y="6"/>
                      </a:moveTo>
                      <a:lnTo>
                        <a:pt x="232" y="562"/>
                      </a:lnTo>
                      <a:lnTo>
                        <a:pt x="142" y="562"/>
                      </a:lnTo>
                      <a:lnTo>
                        <a:pt x="0" y="0"/>
                      </a:lnTo>
                      <a:lnTo>
                        <a:pt x="11" y="3"/>
                      </a:lnTo>
                      <a:lnTo>
                        <a:pt x="22" y="3"/>
                      </a:lnTo>
                      <a:lnTo>
                        <a:pt x="33" y="6"/>
                      </a:lnTo>
                      <a:lnTo>
                        <a:pt x="44" y="6"/>
                      </a:lnTo>
                      <a:lnTo>
                        <a:pt x="55" y="6"/>
                      </a:lnTo>
                      <a:lnTo>
                        <a:pt x="66" y="6"/>
                      </a:lnTo>
                      <a:lnTo>
                        <a:pt x="80" y="6"/>
                      </a:lnTo>
                      <a:lnTo>
                        <a:pt x="90" y="6"/>
                      </a:lnTo>
                      <a:close/>
                    </a:path>
                  </a:pathLst>
                </a:custGeom>
                <a:solidFill>
                  <a:srgbClr val="E093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0" name="Freeform 279"/>
                <p:cNvSpPr>
                  <a:spLocks/>
                </p:cNvSpPr>
                <p:nvPr/>
              </p:nvSpPr>
              <p:spPr bwMode="auto">
                <a:xfrm>
                  <a:off x="4712" y="1420"/>
                  <a:ext cx="59" cy="140"/>
                </a:xfrm>
                <a:custGeom>
                  <a:avLst/>
                  <a:gdLst>
                    <a:gd name="T0" fmla="*/ 0 w 233"/>
                    <a:gd name="T1" fmla="*/ 0 h 562"/>
                    <a:gd name="T2" fmla="*/ 0 w 233"/>
                    <a:gd name="T3" fmla="*/ 0 h 562"/>
                    <a:gd name="T4" fmla="*/ 0 w 233"/>
                    <a:gd name="T5" fmla="*/ 0 h 562"/>
                    <a:gd name="T6" fmla="*/ 0 w 233"/>
                    <a:gd name="T7" fmla="*/ 0 h 562"/>
                    <a:gd name="T8" fmla="*/ 0 w 233"/>
                    <a:gd name="T9" fmla="*/ 0 h 562"/>
                    <a:gd name="T10" fmla="*/ 0 w 233"/>
                    <a:gd name="T11" fmla="*/ 0 h 562"/>
                    <a:gd name="T12" fmla="*/ 0 w 233"/>
                    <a:gd name="T13" fmla="*/ 0 h 562"/>
                    <a:gd name="T14" fmla="*/ 0 w 233"/>
                    <a:gd name="T15" fmla="*/ 0 h 562"/>
                    <a:gd name="T16" fmla="*/ 0 w 233"/>
                    <a:gd name="T17" fmla="*/ 0 h 562"/>
                    <a:gd name="T18" fmla="*/ 0 w 233"/>
                    <a:gd name="T19" fmla="*/ 0 h 562"/>
                    <a:gd name="T20" fmla="*/ 0 w 233"/>
                    <a:gd name="T21" fmla="*/ 0 h 562"/>
                    <a:gd name="T22" fmla="*/ 0 w 233"/>
                    <a:gd name="T23" fmla="*/ 0 h 562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33"/>
                    <a:gd name="T37" fmla="*/ 0 h 562"/>
                    <a:gd name="T38" fmla="*/ 233 w 233"/>
                    <a:gd name="T39" fmla="*/ 562 h 562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33" h="562">
                      <a:moveTo>
                        <a:pt x="91" y="6"/>
                      </a:moveTo>
                      <a:lnTo>
                        <a:pt x="233" y="562"/>
                      </a:lnTo>
                      <a:lnTo>
                        <a:pt x="146" y="562"/>
                      </a:lnTo>
                      <a:lnTo>
                        <a:pt x="0" y="0"/>
                      </a:lnTo>
                      <a:lnTo>
                        <a:pt x="10" y="0"/>
                      </a:lnTo>
                      <a:lnTo>
                        <a:pt x="21" y="0"/>
                      </a:lnTo>
                      <a:lnTo>
                        <a:pt x="35" y="0"/>
                      </a:lnTo>
                      <a:lnTo>
                        <a:pt x="45" y="0"/>
                      </a:lnTo>
                      <a:lnTo>
                        <a:pt x="56" y="0"/>
                      </a:lnTo>
                      <a:lnTo>
                        <a:pt x="70" y="3"/>
                      </a:lnTo>
                      <a:lnTo>
                        <a:pt x="81" y="3"/>
                      </a:lnTo>
                      <a:lnTo>
                        <a:pt x="91" y="6"/>
                      </a:lnTo>
                      <a:close/>
                    </a:path>
                  </a:pathLst>
                </a:custGeom>
                <a:solidFill>
                  <a:srgbClr val="E096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1" name="Freeform 280"/>
                <p:cNvSpPr>
                  <a:spLocks/>
                </p:cNvSpPr>
                <p:nvPr/>
              </p:nvSpPr>
              <p:spPr bwMode="auto">
                <a:xfrm>
                  <a:off x="4701" y="1420"/>
                  <a:ext cx="58" cy="140"/>
                </a:xfrm>
                <a:custGeom>
                  <a:avLst/>
                  <a:gdLst>
                    <a:gd name="T0" fmla="*/ 0 w 231"/>
                    <a:gd name="T1" fmla="*/ 0 h 562"/>
                    <a:gd name="T2" fmla="*/ 0 w 231"/>
                    <a:gd name="T3" fmla="*/ 0 h 562"/>
                    <a:gd name="T4" fmla="*/ 0 w 231"/>
                    <a:gd name="T5" fmla="*/ 0 h 562"/>
                    <a:gd name="T6" fmla="*/ 0 w 231"/>
                    <a:gd name="T7" fmla="*/ 0 h 562"/>
                    <a:gd name="T8" fmla="*/ 0 w 231"/>
                    <a:gd name="T9" fmla="*/ 0 h 562"/>
                    <a:gd name="T10" fmla="*/ 0 w 231"/>
                    <a:gd name="T11" fmla="*/ 0 h 562"/>
                    <a:gd name="T12" fmla="*/ 0 w 231"/>
                    <a:gd name="T13" fmla="*/ 0 h 562"/>
                    <a:gd name="T14" fmla="*/ 0 w 231"/>
                    <a:gd name="T15" fmla="*/ 0 h 562"/>
                    <a:gd name="T16" fmla="*/ 0 w 231"/>
                    <a:gd name="T17" fmla="*/ 0 h 562"/>
                    <a:gd name="T18" fmla="*/ 0 w 231"/>
                    <a:gd name="T19" fmla="*/ 0 h 562"/>
                    <a:gd name="T20" fmla="*/ 0 w 231"/>
                    <a:gd name="T21" fmla="*/ 0 h 562"/>
                    <a:gd name="T22" fmla="*/ 0 w 231"/>
                    <a:gd name="T23" fmla="*/ 0 h 562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31"/>
                    <a:gd name="T37" fmla="*/ 0 h 562"/>
                    <a:gd name="T38" fmla="*/ 231 w 231"/>
                    <a:gd name="T39" fmla="*/ 562 h 562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31" h="562">
                      <a:moveTo>
                        <a:pt x="89" y="0"/>
                      </a:moveTo>
                      <a:lnTo>
                        <a:pt x="231" y="562"/>
                      </a:lnTo>
                      <a:lnTo>
                        <a:pt x="146" y="562"/>
                      </a:lnTo>
                      <a:lnTo>
                        <a:pt x="0" y="0"/>
                      </a:lnTo>
                      <a:lnTo>
                        <a:pt x="10" y="0"/>
                      </a:lnTo>
                      <a:lnTo>
                        <a:pt x="21" y="0"/>
                      </a:lnTo>
                      <a:lnTo>
                        <a:pt x="33" y="0"/>
                      </a:lnTo>
                      <a:lnTo>
                        <a:pt x="44" y="0"/>
                      </a:lnTo>
                      <a:lnTo>
                        <a:pt x="54" y="0"/>
                      </a:lnTo>
                      <a:lnTo>
                        <a:pt x="68" y="0"/>
                      </a:lnTo>
                      <a:lnTo>
                        <a:pt x="79" y="0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rgbClr val="E0996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2" name="Freeform 281"/>
                <p:cNvSpPr>
                  <a:spLocks/>
                </p:cNvSpPr>
                <p:nvPr/>
              </p:nvSpPr>
              <p:spPr bwMode="auto">
                <a:xfrm>
                  <a:off x="4700" y="1420"/>
                  <a:ext cx="49" cy="140"/>
                </a:xfrm>
                <a:custGeom>
                  <a:avLst/>
                  <a:gdLst>
                    <a:gd name="T0" fmla="*/ 0 w 198"/>
                    <a:gd name="T1" fmla="*/ 0 h 562"/>
                    <a:gd name="T2" fmla="*/ 0 w 198"/>
                    <a:gd name="T3" fmla="*/ 0 h 562"/>
                    <a:gd name="T4" fmla="*/ 0 w 198"/>
                    <a:gd name="T5" fmla="*/ 0 h 562"/>
                    <a:gd name="T6" fmla="*/ 0 w 198"/>
                    <a:gd name="T7" fmla="*/ 0 h 562"/>
                    <a:gd name="T8" fmla="*/ 0 w 198"/>
                    <a:gd name="T9" fmla="*/ 0 h 562"/>
                    <a:gd name="T10" fmla="*/ 0 w 198"/>
                    <a:gd name="T11" fmla="*/ 0 h 562"/>
                    <a:gd name="T12" fmla="*/ 0 w 198"/>
                    <a:gd name="T13" fmla="*/ 0 h 562"/>
                    <a:gd name="T14" fmla="*/ 0 w 198"/>
                    <a:gd name="T15" fmla="*/ 0 h 562"/>
                    <a:gd name="T16" fmla="*/ 0 w 198"/>
                    <a:gd name="T17" fmla="*/ 0 h 562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98"/>
                    <a:gd name="T28" fmla="*/ 0 h 562"/>
                    <a:gd name="T29" fmla="*/ 198 w 198"/>
                    <a:gd name="T30" fmla="*/ 562 h 562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98" h="562">
                      <a:moveTo>
                        <a:pt x="52" y="0"/>
                      </a:moveTo>
                      <a:lnTo>
                        <a:pt x="198" y="562"/>
                      </a:lnTo>
                      <a:lnTo>
                        <a:pt x="108" y="562"/>
                      </a:lnTo>
                      <a:lnTo>
                        <a:pt x="0" y="147"/>
                      </a:lnTo>
                      <a:lnTo>
                        <a:pt x="6" y="0"/>
                      </a:lnTo>
                      <a:lnTo>
                        <a:pt x="16" y="0"/>
                      </a:lnTo>
                      <a:lnTo>
                        <a:pt x="27" y="0"/>
                      </a:lnTo>
                      <a:lnTo>
                        <a:pt x="41" y="0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E29E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3" name="Freeform 282"/>
                <p:cNvSpPr>
                  <a:spLocks/>
                </p:cNvSpPr>
                <p:nvPr/>
              </p:nvSpPr>
              <p:spPr bwMode="auto">
                <a:xfrm>
                  <a:off x="4700" y="1420"/>
                  <a:ext cx="38" cy="140"/>
                </a:xfrm>
                <a:custGeom>
                  <a:avLst/>
                  <a:gdLst>
                    <a:gd name="T0" fmla="*/ 0 w 154"/>
                    <a:gd name="T1" fmla="*/ 0 h 562"/>
                    <a:gd name="T2" fmla="*/ 0 w 154"/>
                    <a:gd name="T3" fmla="*/ 0 h 562"/>
                    <a:gd name="T4" fmla="*/ 0 w 154"/>
                    <a:gd name="T5" fmla="*/ 0 h 562"/>
                    <a:gd name="T6" fmla="*/ 0 w 154"/>
                    <a:gd name="T7" fmla="*/ 0 h 562"/>
                    <a:gd name="T8" fmla="*/ 0 w 154"/>
                    <a:gd name="T9" fmla="*/ 0 h 562"/>
                    <a:gd name="T10" fmla="*/ 0 w 154"/>
                    <a:gd name="T11" fmla="*/ 0 h 56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54"/>
                    <a:gd name="T19" fmla="*/ 0 h 562"/>
                    <a:gd name="T20" fmla="*/ 154 w 154"/>
                    <a:gd name="T21" fmla="*/ 562 h 562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54" h="562">
                      <a:moveTo>
                        <a:pt x="8" y="0"/>
                      </a:moveTo>
                      <a:lnTo>
                        <a:pt x="154" y="562"/>
                      </a:lnTo>
                      <a:lnTo>
                        <a:pt x="62" y="562"/>
                      </a:lnTo>
                      <a:lnTo>
                        <a:pt x="0" y="319"/>
                      </a:lnTo>
                      <a:lnTo>
                        <a:pt x="6" y="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E5A3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4" name="Freeform 283"/>
                <p:cNvSpPr>
                  <a:spLocks/>
                </p:cNvSpPr>
                <p:nvPr/>
              </p:nvSpPr>
              <p:spPr bwMode="auto">
                <a:xfrm>
                  <a:off x="4700" y="1457"/>
                  <a:ext cx="27" cy="103"/>
                </a:xfrm>
                <a:custGeom>
                  <a:avLst/>
                  <a:gdLst>
                    <a:gd name="T0" fmla="*/ 0 w 108"/>
                    <a:gd name="T1" fmla="*/ 0 h 415"/>
                    <a:gd name="T2" fmla="*/ 0 w 108"/>
                    <a:gd name="T3" fmla="*/ 0 h 415"/>
                    <a:gd name="T4" fmla="*/ 0 w 108"/>
                    <a:gd name="T5" fmla="*/ 0 h 415"/>
                    <a:gd name="T6" fmla="*/ 0 w 108"/>
                    <a:gd name="T7" fmla="*/ 0 h 415"/>
                    <a:gd name="T8" fmla="*/ 0 w 108"/>
                    <a:gd name="T9" fmla="*/ 0 h 4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8"/>
                    <a:gd name="T16" fmla="*/ 0 h 415"/>
                    <a:gd name="T17" fmla="*/ 108 w 108"/>
                    <a:gd name="T18" fmla="*/ 415 h 4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8" h="415">
                      <a:moveTo>
                        <a:pt x="0" y="0"/>
                      </a:moveTo>
                      <a:lnTo>
                        <a:pt x="108" y="415"/>
                      </a:lnTo>
                      <a:lnTo>
                        <a:pt x="18" y="415"/>
                      </a:lnTo>
                      <a:lnTo>
                        <a:pt x="0" y="3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A57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5" name="Freeform 284"/>
                <p:cNvSpPr>
                  <a:spLocks/>
                </p:cNvSpPr>
                <p:nvPr/>
              </p:nvSpPr>
              <p:spPr bwMode="auto">
                <a:xfrm>
                  <a:off x="4700" y="1499"/>
                  <a:ext cx="15" cy="61"/>
                </a:xfrm>
                <a:custGeom>
                  <a:avLst/>
                  <a:gdLst>
                    <a:gd name="T0" fmla="*/ 0 w 62"/>
                    <a:gd name="T1" fmla="*/ 0 h 243"/>
                    <a:gd name="T2" fmla="*/ 0 w 62"/>
                    <a:gd name="T3" fmla="*/ 0 h 243"/>
                    <a:gd name="T4" fmla="*/ 0 w 62"/>
                    <a:gd name="T5" fmla="*/ 0 h 243"/>
                    <a:gd name="T6" fmla="*/ 0 w 62"/>
                    <a:gd name="T7" fmla="*/ 0 h 2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2"/>
                    <a:gd name="T13" fmla="*/ 0 h 243"/>
                    <a:gd name="T14" fmla="*/ 62 w 62"/>
                    <a:gd name="T15" fmla="*/ 243 h 2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2" h="243">
                      <a:moveTo>
                        <a:pt x="0" y="0"/>
                      </a:moveTo>
                      <a:lnTo>
                        <a:pt x="62" y="243"/>
                      </a:lnTo>
                      <a:lnTo>
                        <a:pt x="0" y="24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8A87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6" name="Freeform 285"/>
                <p:cNvSpPr>
                  <a:spLocks/>
                </p:cNvSpPr>
                <p:nvPr/>
              </p:nvSpPr>
              <p:spPr bwMode="auto">
                <a:xfrm>
                  <a:off x="4700" y="1543"/>
                  <a:ext cx="4" cy="17"/>
                </a:xfrm>
                <a:custGeom>
                  <a:avLst/>
                  <a:gdLst>
                    <a:gd name="T0" fmla="*/ 0 w 18"/>
                    <a:gd name="T1" fmla="*/ 0 h 70"/>
                    <a:gd name="T2" fmla="*/ 0 w 18"/>
                    <a:gd name="T3" fmla="*/ 0 h 70"/>
                    <a:gd name="T4" fmla="*/ 0 w 18"/>
                    <a:gd name="T5" fmla="*/ 0 h 70"/>
                    <a:gd name="T6" fmla="*/ 0 w 18"/>
                    <a:gd name="T7" fmla="*/ 0 h 7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"/>
                    <a:gd name="T13" fmla="*/ 0 h 70"/>
                    <a:gd name="T14" fmla="*/ 18 w 18"/>
                    <a:gd name="T15" fmla="*/ 70 h 7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" h="70">
                      <a:moveTo>
                        <a:pt x="0" y="0"/>
                      </a:moveTo>
                      <a:lnTo>
                        <a:pt x="18" y="70"/>
                      </a:lnTo>
                      <a:lnTo>
                        <a:pt x="0" y="7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8AA7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7" name="Freeform 286"/>
                <p:cNvSpPr>
                  <a:spLocks/>
                </p:cNvSpPr>
                <p:nvPr/>
              </p:nvSpPr>
              <p:spPr bwMode="auto">
                <a:xfrm>
                  <a:off x="4188" y="1470"/>
                  <a:ext cx="119" cy="100"/>
                </a:xfrm>
                <a:custGeom>
                  <a:avLst/>
                  <a:gdLst>
                    <a:gd name="T0" fmla="*/ 0 w 475"/>
                    <a:gd name="T1" fmla="*/ 0 h 400"/>
                    <a:gd name="T2" fmla="*/ 0 w 475"/>
                    <a:gd name="T3" fmla="*/ 0 h 400"/>
                    <a:gd name="T4" fmla="*/ 0 w 475"/>
                    <a:gd name="T5" fmla="*/ 0 h 400"/>
                    <a:gd name="T6" fmla="*/ 0 w 475"/>
                    <a:gd name="T7" fmla="*/ 0 h 400"/>
                    <a:gd name="T8" fmla="*/ 0 w 475"/>
                    <a:gd name="T9" fmla="*/ 0 h 400"/>
                    <a:gd name="T10" fmla="*/ 0 w 475"/>
                    <a:gd name="T11" fmla="*/ 0 h 400"/>
                    <a:gd name="T12" fmla="*/ 0 w 475"/>
                    <a:gd name="T13" fmla="*/ 0 h 400"/>
                    <a:gd name="T14" fmla="*/ 0 w 475"/>
                    <a:gd name="T15" fmla="*/ 0 h 400"/>
                    <a:gd name="T16" fmla="*/ 0 w 475"/>
                    <a:gd name="T17" fmla="*/ 0 h 400"/>
                    <a:gd name="T18" fmla="*/ 0 w 475"/>
                    <a:gd name="T19" fmla="*/ 0 h 400"/>
                    <a:gd name="T20" fmla="*/ 0 w 475"/>
                    <a:gd name="T21" fmla="*/ 0 h 400"/>
                    <a:gd name="T22" fmla="*/ 0 w 475"/>
                    <a:gd name="T23" fmla="*/ 0 h 400"/>
                    <a:gd name="T24" fmla="*/ 0 w 475"/>
                    <a:gd name="T25" fmla="*/ 0 h 400"/>
                    <a:gd name="T26" fmla="*/ 0 w 475"/>
                    <a:gd name="T27" fmla="*/ 0 h 400"/>
                    <a:gd name="T28" fmla="*/ 0 w 475"/>
                    <a:gd name="T29" fmla="*/ 0 h 400"/>
                    <a:gd name="T30" fmla="*/ 0 w 475"/>
                    <a:gd name="T31" fmla="*/ 0 h 400"/>
                    <a:gd name="T32" fmla="*/ 0 w 475"/>
                    <a:gd name="T33" fmla="*/ 0 h 400"/>
                    <a:gd name="T34" fmla="*/ 0 w 475"/>
                    <a:gd name="T35" fmla="*/ 0 h 400"/>
                    <a:gd name="T36" fmla="*/ 0 w 475"/>
                    <a:gd name="T37" fmla="*/ 0 h 400"/>
                    <a:gd name="T38" fmla="*/ 0 w 475"/>
                    <a:gd name="T39" fmla="*/ 0 h 400"/>
                    <a:gd name="T40" fmla="*/ 0 w 475"/>
                    <a:gd name="T41" fmla="*/ 0 h 400"/>
                    <a:gd name="T42" fmla="*/ 0 w 475"/>
                    <a:gd name="T43" fmla="*/ 0 h 400"/>
                    <a:gd name="T44" fmla="*/ 0 w 475"/>
                    <a:gd name="T45" fmla="*/ 0 h 400"/>
                    <a:gd name="T46" fmla="*/ 0 w 475"/>
                    <a:gd name="T47" fmla="*/ 0 h 400"/>
                    <a:gd name="T48" fmla="*/ 0 w 475"/>
                    <a:gd name="T49" fmla="*/ 0 h 400"/>
                    <a:gd name="T50" fmla="*/ 0 w 475"/>
                    <a:gd name="T51" fmla="*/ 0 h 400"/>
                    <a:gd name="T52" fmla="*/ 0 w 475"/>
                    <a:gd name="T53" fmla="*/ 0 h 400"/>
                    <a:gd name="T54" fmla="*/ 0 w 475"/>
                    <a:gd name="T55" fmla="*/ 0 h 400"/>
                    <a:gd name="T56" fmla="*/ 0 w 475"/>
                    <a:gd name="T57" fmla="*/ 0 h 400"/>
                    <a:gd name="T58" fmla="*/ 0 w 475"/>
                    <a:gd name="T59" fmla="*/ 0 h 400"/>
                    <a:gd name="T60" fmla="*/ 0 w 475"/>
                    <a:gd name="T61" fmla="*/ 0 h 400"/>
                    <a:gd name="T62" fmla="*/ 0 w 475"/>
                    <a:gd name="T63" fmla="*/ 0 h 400"/>
                    <a:gd name="T64" fmla="*/ 0 w 475"/>
                    <a:gd name="T65" fmla="*/ 0 h 400"/>
                    <a:gd name="T66" fmla="*/ 0 w 475"/>
                    <a:gd name="T67" fmla="*/ 0 h 400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475"/>
                    <a:gd name="T103" fmla="*/ 0 h 400"/>
                    <a:gd name="T104" fmla="*/ 475 w 475"/>
                    <a:gd name="T105" fmla="*/ 400 h 400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475" h="400">
                      <a:moveTo>
                        <a:pt x="443" y="0"/>
                      </a:moveTo>
                      <a:lnTo>
                        <a:pt x="475" y="100"/>
                      </a:lnTo>
                      <a:lnTo>
                        <a:pt x="427" y="123"/>
                      </a:lnTo>
                      <a:lnTo>
                        <a:pt x="380" y="150"/>
                      </a:lnTo>
                      <a:lnTo>
                        <a:pt x="337" y="180"/>
                      </a:lnTo>
                      <a:lnTo>
                        <a:pt x="299" y="212"/>
                      </a:lnTo>
                      <a:lnTo>
                        <a:pt x="261" y="253"/>
                      </a:lnTo>
                      <a:lnTo>
                        <a:pt x="231" y="294"/>
                      </a:lnTo>
                      <a:lnTo>
                        <a:pt x="203" y="342"/>
                      </a:lnTo>
                      <a:lnTo>
                        <a:pt x="182" y="391"/>
                      </a:lnTo>
                      <a:lnTo>
                        <a:pt x="161" y="395"/>
                      </a:lnTo>
                      <a:lnTo>
                        <a:pt x="138" y="397"/>
                      </a:lnTo>
                      <a:lnTo>
                        <a:pt x="117" y="397"/>
                      </a:lnTo>
                      <a:lnTo>
                        <a:pt x="92" y="400"/>
                      </a:lnTo>
                      <a:lnTo>
                        <a:pt x="67" y="400"/>
                      </a:lnTo>
                      <a:lnTo>
                        <a:pt x="44" y="400"/>
                      </a:lnTo>
                      <a:lnTo>
                        <a:pt x="21" y="400"/>
                      </a:lnTo>
                      <a:lnTo>
                        <a:pt x="0" y="400"/>
                      </a:lnTo>
                      <a:lnTo>
                        <a:pt x="8" y="361"/>
                      </a:lnTo>
                      <a:lnTo>
                        <a:pt x="16" y="326"/>
                      </a:lnTo>
                      <a:lnTo>
                        <a:pt x="30" y="294"/>
                      </a:lnTo>
                      <a:lnTo>
                        <a:pt x="49" y="261"/>
                      </a:lnTo>
                      <a:lnTo>
                        <a:pt x="67" y="231"/>
                      </a:lnTo>
                      <a:lnTo>
                        <a:pt x="92" y="201"/>
                      </a:lnTo>
                      <a:lnTo>
                        <a:pt x="117" y="174"/>
                      </a:lnTo>
                      <a:lnTo>
                        <a:pt x="143" y="147"/>
                      </a:lnTo>
                      <a:lnTo>
                        <a:pt x="177" y="123"/>
                      </a:lnTo>
                      <a:lnTo>
                        <a:pt x="209" y="100"/>
                      </a:lnTo>
                      <a:lnTo>
                        <a:pt x="244" y="79"/>
                      </a:lnTo>
                      <a:lnTo>
                        <a:pt x="279" y="60"/>
                      </a:lnTo>
                      <a:lnTo>
                        <a:pt x="318" y="40"/>
                      </a:lnTo>
                      <a:lnTo>
                        <a:pt x="358" y="28"/>
                      </a:lnTo>
                      <a:lnTo>
                        <a:pt x="399" y="12"/>
                      </a:lnTo>
                      <a:lnTo>
                        <a:pt x="443" y="0"/>
                      </a:lnTo>
                      <a:close/>
                    </a:path>
                  </a:pathLst>
                </a:custGeom>
                <a:solidFill>
                  <a:srgbClr val="CC5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8" name="Freeform 287"/>
                <p:cNvSpPr>
                  <a:spLocks/>
                </p:cNvSpPr>
                <p:nvPr/>
              </p:nvSpPr>
              <p:spPr bwMode="auto">
                <a:xfrm>
                  <a:off x="4293" y="1468"/>
                  <a:ext cx="21" cy="29"/>
                </a:xfrm>
                <a:custGeom>
                  <a:avLst/>
                  <a:gdLst>
                    <a:gd name="T0" fmla="*/ 0 w 81"/>
                    <a:gd name="T1" fmla="*/ 0 h 117"/>
                    <a:gd name="T2" fmla="*/ 0 w 81"/>
                    <a:gd name="T3" fmla="*/ 0 h 117"/>
                    <a:gd name="T4" fmla="*/ 0 w 81"/>
                    <a:gd name="T5" fmla="*/ 0 h 117"/>
                    <a:gd name="T6" fmla="*/ 0 w 81"/>
                    <a:gd name="T7" fmla="*/ 0 h 117"/>
                    <a:gd name="T8" fmla="*/ 0 w 81"/>
                    <a:gd name="T9" fmla="*/ 0 h 117"/>
                    <a:gd name="T10" fmla="*/ 0 w 81"/>
                    <a:gd name="T11" fmla="*/ 0 h 117"/>
                    <a:gd name="T12" fmla="*/ 0 w 81"/>
                    <a:gd name="T13" fmla="*/ 0 h 117"/>
                    <a:gd name="T14" fmla="*/ 0 w 81"/>
                    <a:gd name="T15" fmla="*/ 0 h 117"/>
                    <a:gd name="T16" fmla="*/ 0 w 81"/>
                    <a:gd name="T17" fmla="*/ 0 h 117"/>
                    <a:gd name="T18" fmla="*/ 0 w 81"/>
                    <a:gd name="T19" fmla="*/ 0 h 117"/>
                    <a:gd name="T20" fmla="*/ 0 w 81"/>
                    <a:gd name="T21" fmla="*/ 0 h 1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81"/>
                    <a:gd name="T34" fmla="*/ 0 h 117"/>
                    <a:gd name="T35" fmla="*/ 81 w 81"/>
                    <a:gd name="T36" fmla="*/ 117 h 1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81" h="117">
                      <a:moveTo>
                        <a:pt x="29" y="117"/>
                      </a:moveTo>
                      <a:lnTo>
                        <a:pt x="0" y="13"/>
                      </a:lnTo>
                      <a:lnTo>
                        <a:pt x="10" y="13"/>
                      </a:lnTo>
                      <a:lnTo>
                        <a:pt x="23" y="11"/>
                      </a:lnTo>
                      <a:lnTo>
                        <a:pt x="35" y="6"/>
                      </a:lnTo>
                      <a:lnTo>
                        <a:pt x="48" y="0"/>
                      </a:lnTo>
                      <a:lnTo>
                        <a:pt x="81" y="101"/>
                      </a:lnTo>
                      <a:lnTo>
                        <a:pt x="67" y="106"/>
                      </a:lnTo>
                      <a:lnTo>
                        <a:pt x="56" y="108"/>
                      </a:lnTo>
                      <a:lnTo>
                        <a:pt x="42" y="114"/>
                      </a:lnTo>
                      <a:lnTo>
                        <a:pt x="29" y="117"/>
                      </a:lnTo>
                      <a:close/>
                    </a:path>
                  </a:pathLst>
                </a:custGeom>
                <a:solidFill>
                  <a:srgbClr val="CC5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9" name="Freeform 288"/>
                <p:cNvSpPr>
                  <a:spLocks/>
                </p:cNvSpPr>
                <p:nvPr/>
              </p:nvSpPr>
              <p:spPr bwMode="auto">
                <a:xfrm>
                  <a:off x="4299" y="1467"/>
                  <a:ext cx="20" cy="28"/>
                </a:xfrm>
                <a:custGeom>
                  <a:avLst/>
                  <a:gdLst>
                    <a:gd name="T0" fmla="*/ 0 w 81"/>
                    <a:gd name="T1" fmla="*/ 0 h 111"/>
                    <a:gd name="T2" fmla="*/ 0 w 81"/>
                    <a:gd name="T3" fmla="*/ 0 h 111"/>
                    <a:gd name="T4" fmla="*/ 0 w 81"/>
                    <a:gd name="T5" fmla="*/ 0 h 111"/>
                    <a:gd name="T6" fmla="*/ 0 w 81"/>
                    <a:gd name="T7" fmla="*/ 0 h 111"/>
                    <a:gd name="T8" fmla="*/ 0 w 81"/>
                    <a:gd name="T9" fmla="*/ 0 h 111"/>
                    <a:gd name="T10" fmla="*/ 0 w 81"/>
                    <a:gd name="T11" fmla="*/ 0 h 111"/>
                    <a:gd name="T12" fmla="*/ 0 w 81"/>
                    <a:gd name="T13" fmla="*/ 0 h 111"/>
                    <a:gd name="T14" fmla="*/ 0 w 81"/>
                    <a:gd name="T15" fmla="*/ 0 h 111"/>
                    <a:gd name="T16" fmla="*/ 0 w 81"/>
                    <a:gd name="T17" fmla="*/ 0 h 111"/>
                    <a:gd name="T18" fmla="*/ 0 w 81"/>
                    <a:gd name="T19" fmla="*/ 0 h 111"/>
                    <a:gd name="T20" fmla="*/ 0 w 81"/>
                    <a:gd name="T21" fmla="*/ 0 h 11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81"/>
                    <a:gd name="T34" fmla="*/ 0 h 111"/>
                    <a:gd name="T35" fmla="*/ 81 w 81"/>
                    <a:gd name="T36" fmla="*/ 111 h 11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81" h="111">
                      <a:moveTo>
                        <a:pt x="32" y="111"/>
                      </a:moveTo>
                      <a:lnTo>
                        <a:pt x="0" y="11"/>
                      </a:lnTo>
                      <a:lnTo>
                        <a:pt x="14" y="9"/>
                      </a:lnTo>
                      <a:lnTo>
                        <a:pt x="27" y="5"/>
                      </a:lnTo>
                      <a:lnTo>
                        <a:pt x="37" y="3"/>
                      </a:lnTo>
                      <a:lnTo>
                        <a:pt x="51" y="0"/>
                      </a:lnTo>
                      <a:lnTo>
                        <a:pt x="81" y="95"/>
                      </a:lnTo>
                      <a:lnTo>
                        <a:pt x="70" y="99"/>
                      </a:lnTo>
                      <a:lnTo>
                        <a:pt x="60" y="104"/>
                      </a:lnTo>
                      <a:lnTo>
                        <a:pt x="46" y="106"/>
                      </a:lnTo>
                      <a:lnTo>
                        <a:pt x="32" y="111"/>
                      </a:lnTo>
                      <a:close/>
                    </a:path>
                  </a:pathLst>
                </a:custGeom>
                <a:solidFill>
                  <a:srgbClr val="CC56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40" name="Freeform 289"/>
                <p:cNvSpPr>
                  <a:spLocks/>
                </p:cNvSpPr>
                <p:nvPr/>
              </p:nvSpPr>
              <p:spPr bwMode="auto">
                <a:xfrm>
                  <a:off x="4305" y="1466"/>
                  <a:ext cx="21" cy="27"/>
                </a:xfrm>
                <a:custGeom>
                  <a:avLst/>
                  <a:gdLst>
                    <a:gd name="T0" fmla="*/ 0 w 81"/>
                    <a:gd name="T1" fmla="*/ 0 h 109"/>
                    <a:gd name="T2" fmla="*/ 0 w 81"/>
                    <a:gd name="T3" fmla="*/ 0 h 109"/>
                    <a:gd name="T4" fmla="*/ 0 w 81"/>
                    <a:gd name="T5" fmla="*/ 0 h 109"/>
                    <a:gd name="T6" fmla="*/ 0 w 81"/>
                    <a:gd name="T7" fmla="*/ 0 h 109"/>
                    <a:gd name="T8" fmla="*/ 0 w 81"/>
                    <a:gd name="T9" fmla="*/ 0 h 109"/>
                    <a:gd name="T10" fmla="*/ 0 w 81"/>
                    <a:gd name="T11" fmla="*/ 0 h 109"/>
                    <a:gd name="T12" fmla="*/ 0 w 81"/>
                    <a:gd name="T13" fmla="*/ 0 h 109"/>
                    <a:gd name="T14" fmla="*/ 0 w 81"/>
                    <a:gd name="T15" fmla="*/ 0 h 109"/>
                    <a:gd name="T16" fmla="*/ 0 w 81"/>
                    <a:gd name="T17" fmla="*/ 0 h 109"/>
                    <a:gd name="T18" fmla="*/ 0 w 81"/>
                    <a:gd name="T19" fmla="*/ 0 h 109"/>
                    <a:gd name="T20" fmla="*/ 0 w 81"/>
                    <a:gd name="T21" fmla="*/ 0 h 10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81"/>
                    <a:gd name="T34" fmla="*/ 0 h 109"/>
                    <a:gd name="T35" fmla="*/ 81 w 81"/>
                    <a:gd name="T36" fmla="*/ 109 h 10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81" h="109">
                      <a:moveTo>
                        <a:pt x="33" y="109"/>
                      </a:moveTo>
                      <a:lnTo>
                        <a:pt x="0" y="8"/>
                      </a:lnTo>
                      <a:lnTo>
                        <a:pt x="14" y="8"/>
                      </a:lnTo>
                      <a:lnTo>
                        <a:pt x="27" y="5"/>
                      </a:lnTo>
                      <a:lnTo>
                        <a:pt x="38" y="3"/>
                      </a:lnTo>
                      <a:lnTo>
                        <a:pt x="52" y="0"/>
                      </a:lnTo>
                      <a:lnTo>
                        <a:pt x="81" y="92"/>
                      </a:lnTo>
                      <a:lnTo>
                        <a:pt x="70" y="95"/>
                      </a:lnTo>
                      <a:lnTo>
                        <a:pt x="57" y="100"/>
                      </a:lnTo>
                      <a:lnTo>
                        <a:pt x="43" y="104"/>
                      </a:lnTo>
                      <a:lnTo>
                        <a:pt x="33" y="109"/>
                      </a:lnTo>
                      <a:close/>
                    </a:path>
                  </a:pathLst>
                </a:custGeom>
                <a:solidFill>
                  <a:srgbClr val="CC59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41" name="Freeform 290"/>
                <p:cNvSpPr>
                  <a:spLocks/>
                </p:cNvSpPr>
                <p:nvPr/>
              </p:nvSpPr>
              <p:spPr bwMode="auto">
                <a:xfrm>
                  <a:off x="4312" y="1465"/>
                  <a:ext cx="21" cy="26"/>
                </a:xfrm>
                <a:custGeom>
                  <a:avLst/>
                  <a:gdLst>
                    <a:gd name="T0" fmla="*/ 0 w 85"/>
                    <a:gd name="T1" fmla="*/ 0 h 106"/>
                    <a:gd name="T2" fmla="*/ 0 w 85"/>
                    <a:gd name="T3" fmla="*/ 0 h 106"/>
                    <a:gd name="T4" fmla="*/ 0 w 85"/>
                    <a:gd name="T5" fmla="*/ 0 h 106"/>
                    <a:gd name="T6" fmla="*/ 0 w 85"/>
                    <a:gd name="T7" fmla="*/ 0 h 106"/>
                    <a:gd name="T8" fmla="*/ 0 w 85"/>
                    <a:gd name="T9" fmla="*/ 0 h 106"/>
                    <a:gd name="T10" fmla="*/ 0 w 85"/>
                    <a:gd name="T11" fmla="*/ 0 h 106"/>
                    <a:gd name="T12" fmla="*/ 0 w 85"/>
                    <a:gd name="T13" fmla="*/ 0 h 106"/>
                    <a:gd name="T14" fmla="*/ 0 w 85"/>
                    <a:gd name="T15" fmla="*/ 0 h 106"/>
                    <a:gd name="T16" fmla="*/ 0 w 85"/>
                    <a:gd name="T17" fmla="*/ 0 h 106"/>
                    <a:gd name="T18" fmla="*/ 0 w 85"/>
                    <a:gd name="T19" fmla="*/ 0 h 106"/>
                    <a:gd name="T20" fmla="*/ 0 w 85"/>
                    <a:gd name="T21" fmla="*/ 0 h 10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85"/>
                    <a:gd name="T34" fmla="*/ 0 h 106"/>
                    <a:gd name="T35" fmla="*/ 85 w 85"/>
                    <a:gd name="T36" fmla="*/ 106 h 10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85" h="106">
                      <a:moveTo>
                        <a:pt x="30" y="106"/>
                      </a:moveTo>
                      <a:lnTo>
                        <a:pt x="0" y="11"/>
                      </a:lnTo>
                      <a:lnTo>
                        <a:pt x="14" y="9"/>
                      </a:lnTo>
                      <a:lnTo>
                        <a:pt x="28" y="6"/>
                      </a:lnTo>
                      <a:lnTo>
                        <a:pt x="41" y="4"/>
                      </a:lnTo>
                      <a:lnTo>
                        <a:pt x="55" y="0"/>
                      </a:lnTo>
                      <a:lnTo>
                        <a:pt x="85" y="92"/>
                      </a:lnTo>
                      <a:lnTo>
                        <a:pt x="71" y="96"/>
                      </a:lnTo>
                      <a:lnTo>
                        <a:pt x="57" y="101"/>
                      </a:lnTo>
                      <a:lnTo>
                        <a:pt x="44" y="104"/>
                      </a:lnTo>
                      <a:lnTo>
                        <a:pt x="30" y="106"/>
                      </a:lnTo>
                      <a:close/>
                    </a:path>
                  </a:pathLst>
                </a:custGeom>
                <a:solidFill>
                  <a:srgbClr val="CC592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42" name="Freeform 291"/>
                <p:cNvSpPr>
                  <a:spLocks/>
                </p:cNvSpPr>
                <p:nvPr/>
              </p:nvSpPr>
              <p:spPr bwMode="auto">
                <a:xfrm>
                  <a:off x="4319" y="1464"/>
                  <a:ext cx="20" cy="25"/>
                </a:xfrm>
                <a:custGeom>
                  <a:avLst/>
                  <a:gdLst>
                    <a:gd name="T0" fmla="*/ 0 w 83"/>
                    <a:gd name="T1" fmla="*/ 0 h 100"/>
                    <a:gd name="T2" fmla="*/ 0 w 83"/>
                    <a:gd name="T3" fmla="*/ 0 h 100"/>
                    <a:gd name="T4" fmla="*/ 0 w 83"/>
                    <a:gd name="T5" fmla="*/ 0 h 100"/>
                    <a:gd name="T6" fmla="*/ 0 w 83"/>
                    <a:gd name="T7" fmla="*/ 0 h 100"/>
                    <a:gd name="T8" fmla="*/ 0 w 83"/>
                    <a:gd name="T9" fmla="*/ 0 h 100"/>
                    <a:gd name="T10" fmla="*/ 0 w 83"/>
                    <a:gd name="T11" fmla="*/ 0 h 100"/>
                    <a:gd name="T12" fmla="*/ 0 w 83"/>
                    <a:gd name="T13" fmla="*/ 0 h 100"/>
                    <a:gd name="T14" fmla="*/ 0 w 83"/>
                    <a:gd name="T15" fmla="*/ 0 h 100"/>
                    <a:gd name="T16" fmla="*/ 0 w 83"/>
                    <a:gd name="T17" fmla="*/ 0 h 100"/>
                    <a:gd name="T18" fmla="*/ 0 w 83"/>
                    <a:gd name="T19" fmla="*/ 0 h 100"/>
                    <a:gd name="T20" fmla="*/ 0 w 83"/>
                    <a:gd name="T21" fmla="*/ 0 h 1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83"/>
                    <a:gd name="T34" fmla="*/ 0 h 100"/>
                    <a:gd name="T35" fmla="*/ 83 w 83"/>
                    <a:gd name="T36" fmla="*/ 100 h 100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83" h="100">
                      <a:moveTo>
                        <a:pt x="29" y="100"/>
                      </a:moveTo>
                      <a:lnTo>
                        <a:pt x="0" y="8"/>
                      </a:lnTo>
                      <a:lnTo>
                        <a:pt x="13" y="6"/>
                      </a:lnTo>
                      <a:lnTo>
                        <a:pt x="29" y="2"/>
                      </a:lnTo>
                      <a:lnTo>
                        <a:pt x="43" y="0"/>
                      </a:lnTo>
                      <a:lnTo>
                        <a:pt x="57" y="0"/>
                      </a:lnTo>
                      <a:lnTo>
                        <a:pt x="83" y="92"/>
                      </a:lnTo>
                      <a:lnTo>
                        <a:pt x="71" y="92"/>
                      </a:lnTo>
                      <a:lnTo>
                        <a:pt x="57" y="94"/>
                      </a:lnTo>
                      <a:lnTo>
                        <a:pt x="43" y="98"/>
                      </a:lnTo>
                      <a:lnTo>
                        <a:pt x="29" y="100"/>
                      </a:lnTo>
                      <a:close/>
                    </a:path>
                  </a:pathLst>
                </a:custGeom>
                <a:solidFill>
                  <a:srgbClr val="CC5B3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43" name="Freeform 292"/>
                <p:cNvSpPr>
                  <a:spLocks/>
                </p:cNvSpPr>
                <p:nvPr/>
              </p:nvSpPr>
              <p:spPr bwMode="auto">
                <a:xfrm>
                  <a:off x="4325" y="1462"/>
                  <a:ext cx="21" cy="26"/>
                </a:xfrm>
                <a:custGeom>
                  <a:avLst/>
                  <a:gdLst>
                    <a:gd name="T0" fmla="*/ 0 w 84"/>
                    <a:gd name="T1" fmla="*/ 0 h 100"/>
                    <a:gd name="T2" fmla="*/ 0 w 84"/>
                    <a:gd name="T3" fmla="*/ 0 h 100"/>
                    <a:gd name="T4" fmla="*/ 0 w 84"/>
                    <a:gd name="T5" fmla="*/ 0 h 100"/>
                    <a:gd name="T6" fmla="*/ 0 w 84"/>
                    <a:gd name="T7" fmla="*/ 0 h 100"/>
                    <a:gd name="T8" fmla="*/ 0 w 84"/>
                    <a:gd name="T9" fmla="*/ 0 h 100"/>
                    <a:gd name="T10" fmla="*/ 0 w 84"/>
                    <a:gd name="T11" fmla="*/ 0 h 100"/>
                    <a:gd name="T12" fmla="*/ 0 w 84"/>
                    <a:gd name="T13" fmla="*/ 0 h 100"/>
                    <a:gd name="T14" fmla="*/ 0 w 84"/>
                    <a:gd name="T15" fmla="*/ 0 h 100"/>
                    <a:gd name="T16" fmla="*/ 0 w 84"/>
                    <a:gd name="T17" fmla="*/ 0 h 100"/>
                    <a:gd name="T18" fmla="*/ 0 w 84"/>
                    <a:gd name="T19" fmla="*/ 0 h 100"/>
                    <a:gd name="T20" fmla="*/ 0 w 84"/>
                    <a:gd name="T21" fmla="*/ 0 h 1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84"/>
                    <a:gd name="T34" fmla="*/ 0 h 100"/>
                    <a:gd name="T35" fmla="*/ 84 w 84"/>
                    <a:gd name="T36" fmla="*/ 100 h 100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84" h="100">
                      <a:moveTo>
                        <a:pt x="30" y="100"/>
                      </a:moveTo>
                      <a:lnTo>
                        <a:pt x="0" y="8"/>
                      </a:lnTo>
                      <a:lnTo>
                        <a:pt x="14" y="6"/>
                      </a:lnTo>
                      <a:lnTo>
                        <a:pt x="30" y="6"/>
                      </a:lnTo>
                      <a:lnTo>
                        <a:pt x="44" y="3"/>
                      </a:lnTo>
                      <a:lnTo>
                        <a:pt x="56" y="0"/>
                      </a:lnTo>
                      <a:lnTo>
                        <a:pt x="84" y="93"/>
                      </a:lnTo>
                      <a:lnTo>
                        <a:pt x="70" y="93"/>
                      </a:lnTo>
                      <a:lnTo>
                        <a:pt x="56" y="95"/>
                      </a:lnTo>
                      <a:lnTo>
                        <a:pt x="44" y="98"/>
                      </a:lnTo>
                      <a:lnTo>
                        <a:pt x="30" y="100"/>
                      </a:lnTo>
                      <a:close/>
                    </a:path>
                  </a:pathLst>
                </a:custGeom>
                <a:solidFill>
                  <a:srgbClr val="CE60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44" name="Freeform 293"/>
                <p:cNvSpPr>
                  <a:spLocks/>
                </p:cNvSpPr>
                <p:nvPr/>
              </p:nvSpPr>
              <p:spPr bwMode="auto">
                <a:xfrm>
                  <a:off x="4333" y="1462"/>
                  <a:ext cx="20" cy="25"/>
                </a:xfrm>
                <a:custGeom>
                  <a:avLst/>
                  <a:gdLst>
                    <a:gd name="T0" fmla="*/ 0 w 81"/>
                    <a:gd name="T1" fmla="*/ 0 h 100"/>
                    <a:gd name="T2" fmla="*/ 0 w 81"/>
                    <a:gd name="T3" fmla="*/ 0 h 100"/>
                    <a:gd name="T4" fmla="*/ 0 w 81"/>
                    <a:gd name="T5" fmla="*/ 0 h 100"/>
                    <a:gd name="T6" fmla="*/ 0 w 81"/>
                    <a:gd name="T7" fmla="*/ 0 h 100"/>
                    <a:gd name="T8" fmla="*/ 0 w 81"/>
                    <a:gd name="T9" fmla="*/ 0 h 100"/>
                    <a:gd name="T10" fmla="*/ 0 w 81"/>
                    <a:gd name="T11" fmla="*/ 0 h 100"/>
                    <a:gd name="T12" fmla="*/ 0 w 81"/>
                    <a:gd name="T13" fmla="*/ 0 h 100"/>
                    <a:gd name="T14" fmla="*/ 0 w 81"/>
                    <a:gd name="T15" fmla="*/ 0 h 100"/>
                    <a:gd name="T16" fmla="*/ 0 w 81"/>
                    <a:gd name="T17" fmla="*/ 0 h 100"/>
                    <a:gd name="T18" fmla="*/ 0 w 81"/>
                    <a:gd name="T19" fmla="*/ 0 h 100"/>
                    <a:gd name="T20" fmla="*/ 0 w 81"/>
                    <a:gd name="T21" fmla="*/ 0 h 1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81"/>
                    <a:gd name="T34" fmla="*/ 0 h 100"/>
                    <a:gd name="T35" fmla="*/ 81 w 81"/>
                    <a:gd name="T36" fmla="*/ 100 h 100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81" h="100">
                      <a:moveTo>
                        <a:pt x="26" y="100"/>
                      </a:moveTo>
                      <a:lnTo>
                        <a:pt x="0" y="8"/>
                      </a:lnTo>
                      <a:lnTo>
                        <a:pt x="14" y="8"/>
                      </a:lnTo>
                      <a:lnTo>
                        <a:pt x="26" y="5"/>
                      </a:lnTo>
                      <a:lnTo>
                        <a:pt x="40" y="2"/>
                      </a:lnTo>
                      <a:lnTo>
                        <a:pt x="54" y="0"/>
                      </a:lnTo>
                      <a:lnTo>
                        <a:pt x="81" y="92"/>
                      </a:lnTo>
                      <a:lnTo>
                        <a:pt x="67" y="92"/>
                      </a:lnTo>
                      <a:lnTo>
                        <a:pt x="54" y="95"/>
                      </a:lnTo>
                      <a:lnTo>
                        <a:pt x="40" y="97"/>
                      </a:lnTo>
                      <a:lnTo>
                        <a:pt x="26" y="100"/>
                      </a:lnTo>
                      <a:close/>
                    </a:path>
                  </a:pathLst>
                </a:custGeom>
                <a:solidFill>
                  <a:srgbClr val="D1633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45" name="Freeform 294"/>
                <p:cNvSpPr>
                  <a:spLocks/>
                </p:cNvSpPr>
                <p:nvPr/>
              </p:nvSpPr>
              <p:spPr bwMode="auto">
                <a:xfrm>
                  <a:off x="4339" y="1462"/>
                  <a:ext cx="21" cy="24"/>
                </a:xfrm>
                <a:custGeom>
                  <a:avLst/>
                  <a:gdLst>
                    <a:gd name="T0" fmla="*/ 0 w 82"/>
                    <a:gd name="T1" fmla="*/ 0 h 95"/>
                    <a:gd name="T2" fmla="*/ 0 w 82"/>
                    <a:gd name="T3" fmla="*/ 0 h 95"/>
                    <a:gd name="T4" fmla="*/ 0 w 82"/>
                    <a:gd name="T5" fmla="*/ 0 h 95"/>
                    <a:gd name="T6" fmla="*/ 0 w 82"/>
                    <a:gd name="T7" fmla="*/ 0 h 95"/>
                    <a:gd name="T8" fmla="*/ 0 w 82"/>
                    <a:gd name="T9" fmla="*/ 0 h 95"/>
                    <a:gd name="T10" fmla="*/ 0 w 82"/>
                    <a:gd name="T11" fmla="*/ 0 h 95"/>
                    <a:gd name="T12" fmla="*/ 0 w 82"/>
                    <a:gd name="T13" fmla="*/ 0 h 95"/>
                    <a:gd name="T14" fmla="*/ 0 w 82"/>
                    <a:gd name="T15" fmla="*/ 0 h 95"/>
                    <a:gd name="T16" fmla="*/ 0 w 82"/>
                    <a:gd name="T17" fmla="*/ 0 h 95"/>
                    <a:gd name="T18" fmla="*/ 0 w 82"/>
                    <a:gd name="T19" fmla="*/ 0 h 95"/>
                    <a:gd name="T20" fmla="*/ 0 w 82"/>
                    <a:gd name="T21" fmla="*/ 0 h 9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82"/>
                    <a:gd name="T34" fmla="*/ 0 h 95"/>
                    <a:gd name="T35" fmla="*/ 82 w 82"/>
                    <a:gd name="T36" fmla="*/ 95 h 95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82" h="95">
                      <a:moveTo>
                        <a:pt x="28" y="95"/>
                      </a:moveTo>
                      <a:lnTo>
                        <a:pt x="0" y="2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41" y="0"/>
                      </a:lnTo>
                      <a:lnTo>
                        <a:pt x="55" y="0"/>
                      </a:lnTo>
                      <a:lnTo>
                        <a:pt x="82" y="92"/>
                      </a:lnTo>
                      <a:lnTo>
                        <a:pt x="69" y="92"/>
                      </a:lnTo>
                      <a:lnTo>
                        <a:pt x="55" y="92"/>
                      </a:lnTo>
                      <a:lnTo>
                        <a:pt x="41" y="92"/>
                      </a:lnTo>
                      <a:lnTo>
                        <a:pt x="28" y="95"/>
                      </a:lnTo>
                      <a:close/>
                    </a:path>
                  </a:pathLst>
                </a:custGeom>
                <a:solidFill>
                  <a:srgbClr val="D1663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46" name="Freeform 295"/>
                <p:cNvSpPr>
                  <a:spLocks/>
                </p:cNvSpPr>
                <p:nvPr/>
              </p:nvSpPr>
              <p:spPr bwMode="auto">
                <a:xfrm>
                  <a:off x="4346" y="1462"/>
                  <a:ext cx="21" cy="23"/>
                </a:xfrm>
                <a:custGeom>
                  <a:avLst/>
                  <a:gdLst>
                    <a:gd name="T0" fmla="*/ 0 w 82"/>
                    <a:gd name="T1" fmla="*/ 0 h 92"/>
                    <a:gd name="T2" fmla="*/ 0 w 82"/>
                    <a:gd name="T3" fmla="*/ 0 h 92"/>
                    <a:gd name="T4" fmla="*/ 0 w 82"/>
                    <a:gd name="T5" fmla="*/ 0 h 92"/>
                    <a:gd name="T6" fmla="*/ 0 w 82"/>
                    <a:gd name="T7" fmla="*/ 0 h 92"/>
                    <a:gd name="T8" fmla="*/ 0 w 82"/>
                    <a:gd name="T9" fmla="*/ 0 h 92"/>
                    <a:gd name="T10" fmla="*/ 0 w 82"/>
                    <a:gd name="T11" fmla="*/ 0 h 92"/>
                    <a:gd name="T12" fmla="*/ 0 w 82"/>
                    <a:gd name="T13" fmla="*/ 0 h 92"/>
                    <a:gd name="T14" fmla="*/ 0 w 82"/>
                    <a:gd name="T15" fmla="*/ 0 h 92"/>
                    <a:gd name="T16" fmla="*/ 0 w 82"/>
                    <a:gd name="T17" fmla="*/ 0 h 92"/>
                    <a:gd name="T18" fmla="*/ 0 w 82"/>
                    <a:gd name="T19" fmla="*/ 0 h 92"/>
                    <a:gd name="T20" fmla="*/ 0 w 82"/>
                    <a:gd name="T21" fmla="*/ 0 h 9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82"/>
                    <a:gd name="T34" fmla="*/ 0 h 92"/>
                    <a:gd name="T35" fmla="*/ 82 w 82"/>
                    <a:gd name="T36" fmla="*/ 92 h 9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82" h="92">
                      <a:moveTo>
                        <a:pt x="27" y="92"/>
                      </a:moveTo>
                      <a:lnTo>
                        <a:pt x="0" y="0"/>
                      </a:lnTo>
                      <a:lnTo>
                        <a:pt x="13" y="0"/>
                      </a:lnTo>
                      <a:lnTo>
                        <a:pt x="27" y="0"/>
                      </a:lnTo>
                      <a:lnTo>
                        <a:pt x="41" y="0"/>
                      </a:lnTo>
                      <a:lnTo>
                        <a:pt x="54" y="0"/>
                      </a:lnTo>
                      <a:lnTo>
                        <a:pt x="82" y="92"/>
                      </a:lnTo>
                      <a:lnTo>
                        <a:pt x="68" y="92"/>
                      </a:lnTo>
                      <a:lnTo>
                        <a:pt x="54" y="92"/>
                      </a:lnTo>
                      <a:lnTo>
                        <a:pt x="41" y="92"/>
                      </a:lnTo>
                      <a:lnTo>
                        <a:pt x="27" y="92"/>
                      </a:lnTo>
                      <a:close/>
                    </a:path>
                  </a:pathLst>
                </a:custGeom>
                <a:solidFill>
                  <a:srgbClr val="D1683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47" name="Freeform 296"/>
                <p:cNvSpPr>
                  <a:spLocks/>
                </p:cNvSpPr>
                <p:nvPr/>
              </p:nvSpPr>
              <p:spPr bwMode="auto">
                <a:xfrm>
                  <a:off x="4353" y="1462"/>
                  <a:ext cx="21" cy="23"/>
                </a:xfrm>
                <a:custGeom>
                  <a:avLst/>
                  <a:gdLst>
                    <a:gd name="T0" fmla="*/ 0 w 85"/>
                    <a:gd name="T1" fmla="*/ 0 h 92"/>
                    <a:gd name="T2" fmla="*/ 0 w 85"/>
                    <a:gd name="T3" fmla="*/ 0 h 92"/>
                    <a:gd name="T4" fmla="*/ 0 w 85"/>
                    <a:gd name="T5" fmla="*/ 0 h 92"/>
                    <a:gd name="T6" fmla="*/ 0 w 85"/>
                    <a:gd name="T7" fmla="*/ 0 h 92"/>
                    <a:gd name="T8" fmla="*/ 0 w 85"/>
                    <a:gd name="T9" fmla="*/ 0 h 92"/>
                    <a:gd name="T10" fmla="*/ 0 w 85"/>
                    <a:gd name="T11" fmla="*/ 0 h 92"/>
                    <a:gd name="T12" fmla="*/ 0 w 85"/>
                    <a:gd name="T13" fmla="*/ 0 h 92"/>
                    <a:gd name="T14" fmla="*/ 0 w 85"/>
                    <a:gd name="T15" fmla="*/ 0 h 92"/>
                    <a:gd name="T16" fmla="*/ 0 w 85"/>
                    <a:gd name="T17" fmla="*/ 0 h 92"/>
                    <a:gd name="T18" fmla="*/ 0 w 85"/>
                    <a:gd name="T19" fmla="*/ 0 h 92"/>
                    <a:gd name="T20" fmla="*/ 0 w 85"/>
                    <a:gd name="T21" fmla="*/ 0 h 9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85"/>
                    <a:gd name="T34" fmla="*/ 0 h 92"/>
                    <a:gd name="T35" fmla="*/ 85 w 85"/>
                    <a:gd name="T36" fmla="*/ 92 h 9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85" h="92">
                      <a:moveTo>
                        <a:pt x="27" y="92"/>
                      </a:moveTo>
                      <a:lnTo>
                        <a:pt x="0" y="0"/>
                      </a:lnTo>
                      <a:lnTo>
                        <a:pt x="14" y="0"/>
                      </a:lnTo>
                      <a:lnTo>
                        <a:pt x="27" y="0"/>
                      </a:lnTo>
                      <a:lnTo>
                        <a:pt x="41" y="0"/>
                      </a:lnTo>
                      <a:lnTo>
                        <a:pt x="55" y="0"/>
                      </a:lnTo>
                      <a:lnTo>
                        <a:pt x="85" y="92"/>
                      </a:lnTo>
                      <a:lnTo>
                        <a:pt x="71" y="92"/>
                      </a:lnTo>
                      <a:lnTo>
                        <a:pt x="57" y="92"/>
                      </a:lnTo>
                      <a:lnTo>
                        <a:pt x="41" y="92"/>
                      </a:lnTo>
                      <a:lnTo>
                        <a:pt x="27" y="92"/>
                      </a:lnTo>
                      <a:close/>
                    </a:path>
                  </a:pathLst>
                </a:custGeom>
                <a:solidFill>
                  <a:srgbClr val="D36D3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48" name="Freeform 297"/>
                <p:cNvSpPr>
                  <a:spLocks/>
                </p:cNvSpPr>
                <p:nvPr/>
              </p:nvSpPr>
              <p:spPr bwMode="auto">
                <a:xfrm>
                  <a:off x="4360" y="1462"/>
                  <a:ext cx="21" cy="24"/>
                </a:xfrm>
                <a:custGeom>
                  <a:avLst/>
                  <a:gdLst>
                    <a:gd name="T0" fmla="*/ 0 w 84"/>
                    <a:gd name="T1" fmla="*/ 0 h 95"/>
                    <a:gd name="T2" fmla="*/ 0 w 84"/>
                    <a:gd name="T3" fmla="*/ 0 h 95"/>
                    <a:gd name="T4" fmla="*/ 0 w 84"/>
                    <a:gd name="T5" fmla="*/ 0 h 95"/>
                    <a:gd name="T6" fmla="*/ 0 w 84"/>
                    <a:gd name="T7" fmla="*/ 0 h 95"/>
                    <a:gd name="T8" fmla="*/ 0 w 84"/>
                    <a:gd name="T9" fmla="*/ 0 h 95"/>
                    <a:gd name="T10" fmla="*/ 0 w 84"/>
                    <a:gd name="T11" fmla="*/ 0 h 95"/>
                    <a:gd name="T12" fmla="*/ 0 w 84"/>
                    <a:gd name="T13" fmla="*/ 0 h 95"/>
                    <a:gd name="T14" fmla="*/ 0 w 84"/>
                    <a:gd name="T15" fmla="*/ 0 h 95"/>
                    <a:gd name="T16" fmla="*/ 0 w 84"/>
                    <a:gd name="T17" fmla="*/ 0 h 95"/>
                    <a:gd name="T18" fmla="*/ 0 w 84"/>
                    <a:gd name="T19" fmla="*/ 0 h 95"/>
                    <a:gd name="T20" fmla="*/ 0 w 84"/>
                    <a:gd name="T21" fmla="*/ 0 h 9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84"/>
                    <a:gd name="T34" fmla="*/ 0 h 95"/>
                    <a:gd name="T35" fmla="*/ 84 w 84"/>
                    <a:gd name="T36" fmla="*/ 95 h 95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84" h="95">
                      <a:moveTo>
                        <a:pt x="28" y="92"/>
                      </a:moveTo>
                      <a:lnTo>
                        <a:pt x="0" y="0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41" y="0"/>
                      </a:lnTo>
                      <a:lnTo>
                        <a:pt x="54" y="0"/>
                      </a:lnTo>
                      <a:lnTo>
                        <a:pt x="84" y="95"/>
                      </a:lnTo>
                      <a:lnTo>
                        <a:pt x="71" y="92"/>
                      </a:lnTo>
                      <a:lnTo>
                        <a:pt x="58" y="92"/>
                      </a:lnTo>
                      <a:lnTo>
                        <a:pt x="41" y="92"/>
                      </a:lnTo>
                      <a:lnTo>
                        <a:pt x="28" y="92"/>
                      </a:lnTo>
                      <a:close/>
                    </a:path>
                  </a:pathLst>
                </a:custGeom>
                <a:solidFill>
                  <a:srgbClr val="D370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49" name="Freeform 298"/>
                <p:cNvSpPr>
                  <a:spLocks/>
                </p:cNvSpPr>
                <p:nvPr/>
              </p:nvSpPr>
              <p:spPr bwMode="auto">
                <a:xfrm>
                  <a:off x="4367" y="1462"/>
                  <a:ext cx="22" cy="25"/>
                </a:xfrm>
                <a:custGeom>
                  <a:avLst/>
                  <a:gdLst>
                    <a:gd name="T0" fmla="*/ 0 w 89"/>
                    <a:gd name="T1" fmla="*/ 0 h 100"/>
                    <a:gd name="T2" fmla="*/ 0 w 89"/>
                    <a:gd name="T3" fmla="*/ 0 h 100"/>
                    <a:gd name="T4" fmla="*/ 0 w 89"/>
                    <a:gd name="T5" fmla="*/ 0 h 100"/>
                    <a:gd name="T6" fmla="*/ 0 w 89"/>
                    <a:gd name="T7" fmla="*/ 0 h 100"/>
                    <a:gd name="T8" fmla="*/ 0 w 89"/>
                    <a:gd name="T9" fmla="*/ 0 h 100"/>
                    <a:gd name="T10" fmla="*/ 0 w 89"/>
                    <a:gd name="T11" fmla="*/ 0 h 100"/>
                    <a:gd name="T12" fmla="*/ 0 w 89"/>
                    <a:gd name="T13" fmla="*/ 0 h 100"/>
                    <a:gd name="T14" fmla="*/ 0 w 89"/>
                    <a:gd name="T15" fmla="*/ 0 h 100"/>
                    <a:gd name="T16" fmla="*/ 0 w 89"/>
                    <a:gd name="T17" fmla="*/ 0 h 100"/>
                    <a:gd name="T18" fmla="*/ 0 w 89"/>
                    <a:gd name="T19" fmla="*/ 0 h 100"/>
                    <a:gd name="T20" fmla="*/ 0 w 89"/>
                    <a:gd name="T21" fmla="*/ 0 h 1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89"/>
                    <a:gd name="T34" fmla="*/ 0 h 100"/>
                    <a:gd name="T35" fmla="*/ 89 w 89"/>
                    <a:gd name="T36" fmla="*/ 100 h 100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89" h="100">
                      <a:moveTo>
                        <a:pt x="30" y="92"/>
                      </a:moveTo>
                      <a:lnTo>
                        <a:pt x="0" y="0"/>
                      </a:lnTo>
                      <a:lnTo>
                        <a:pt x="13" y="0"/>
                      </a:lnTo>
                      <a:lnTo>
                        <a:pt x="30" y="0"/>
                      </a:lnTo>
                      <a:lnTo>
                        <a:pt x="43" y="0"/>
                      </a:lnTo>
                      <a:lnTo>
                        <a:pt x="56" y="0"/>
                      </a:lnTo>
                      <a:lnTo>
                        <a:pt x="89" y="100"/>
                      </a:lnTo>
                      <a:lnTo>
                        <a:pt x="72" y="97"/>
                      </a:lnTo>
                      <a:lnTo>
                        <a:pt x="59" y="95"/>
                      </a:lnTo>
                      <a:lnTo>
                        <a:pt x="43" y="95"/>
                      </a:lnTo>
                      <a:lnTo>
                        <a:pt x="30" y="92"/>
                      </a:lnTo>
                      <a:close/>
                    </a:path>
                  </a:pathLst>
                </a:custGeom>
                <a:solidFill>
                  <a:srgbClr val="D6724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50" name="Freeform 299"/>
                <p:cNvSpPr>
                  <a:spLocks/>
                </p:cNvSpPr>
                <p:nvPr/>
              </p:nvSpPr>
              <p:spPr bwMode="auto">
                <a:xfrm>
                  <a:off x="4373" y="1462"/>
                  <a:ext cx="24" cy="27"/>
                </a:xfrm>
                <a:custGeom>
                  <a:avLst/>
                  <a:gdLst>
                    <a:gd name="T0" fmla="*/ 0 w 93"/>
                    <a:gd name="T1" fmla="*/ 0 h 108"/>
                    <a:gd name="T2" fmla="*/ 0 w 93"/>
                    <a:gd name="T3" fmla="*/ 0 h 108"/>
                    <a:gd name="T4" fmla="*/ 0 w 93"/>
                    <a:gd name="T5" fmla="*/ 0 h 108"/>
                    <a:gd name="T6" fmla="*/ 0 w 93"/>
                    <a:gd name="T7" fmla="*/ 0 h 108"/>
                    <a:gd name="T8" fmla="*/ 0 w 93"/>
                    <a:gd name="T9" fmla="*/ 0 h 108"/>
                    <a:gd name="T10" fmla="*/ 0 w 93"/>
                    <a:gd name="T11" fmla="*/ 0 h 108"/>
                    <a:gd name="T12" fmla="*/ 0 w 93"/>
                    <a:gd name="T13" fmla="*/ 0 h 108"/>
                    <a:gd name="T14" fmla="*/ 0 w 93"/>
                    <a:gd name="T15" fmla="*/ 0 h 108"/>
                    <a:gd name="T16" fmla="*/ 0 w 93"/>
                    <a:gd name="T17" fmla="*/ 0 h 108"/>
                    <a:gd name="T18" fmla="*/ 0 w 93"/>
                    <a:gd name="T19" fmla="*/ 0 h 108"/>
                    <a:gd name="T20" fmla="*/ 0 w 93"/>
                    <a:gd name="T21" fmla="*/ 0 h 10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93"/>
                    <a:gd name="T34" fmla="*/ 0 h 108"/>
                    <a:gd name="T35" fmla="*/ 93 w 93"/>
                    <a:gd name="T36" fmla="*/ 108 h 10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93" h="108">
                      <a:moveTo>
                        <a:pt x="30" y="95"/>
                      </a:moveTo>
                      <a:lnTo>
                        <a:pt x="0" y="0"/>
                      </a:lnTo>
                      <a:lnTo>
                        <a:pt x="14" y="0"/>
                      </a:lnTo>
                      <a:lnTo>
                        <a:pt x="30" y="0"/>
                      </a:lnTo>
                      <a:lnTo>
                        <a:pt x="44" y="0"/>
                      </a:lnTo>
                      <a:lnTo>
                        <a:pt x="58" y="0"/>
                      </a:lnTo>
                      <a:lnTo>
                        <a:pt x="93" y="108"/>
                      </a:lnTo>
                      <a:lnTo>
                        <a:pt x="79" y="102"/>
                      </a:lnTo>
                      <a:lnTo>
                        <a:pt x="63" y="100"/>
                      </a:lnTo>
                      <a:lnTo>
                        <a:pt x="46" y="97"/>
                      </a:lnTo>
                      <a:lnTo>
                        <a:pt x="30" y="95"/>
                      </a:lnTo>
                      <a:close/>
                    </a:path>
                  </a:pathLst>
                </a:custGeom>
                <a:solidFill>
                  <a:srgbClr val="D6754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51" name="Freeform 300"/>
                <p:cNvSpPr>
                  <a:spLocks/>
                </p:cNvSpPr>
                <p:nvPr/>
              </p:nvSpPr>
              <p:spPr bwMode="auto">
                <a:xfrm>
                  <a:off x="4381" y="1462"/>
                  <a:ext cx="22" cy="29"/>
                </a:xfrm>
                <a:custGeom>
                  <a:avLst/>
                  <a:gdLst>
                    <a:gd name="T0" fmla="*/ 0 w 90"/>
                    <a:gd name="T1" fmla="*/ 0 h 116"/>
                    <a:gd name="T2" fmla="*/ 0 w 90"/>
                    <a:gd name="T3" fmla="*/ 0 h 116"/>
                    <a:gd name="T4" fmla="*/ 0 w 90"/>
                    <a:gd name="T5" fmla="*/ 0 h 116"/>
                    <a:gd name="T6" fmla="*/ 0 w 90"/>
                    <a:gd name="T7" fmla="*/ 0 h 116"/>
                    <a:gd name="T8" fmla="*/ 0 w 90"/>
                    <a:gd name="T9" fmla="*/ 0 h 116"/>
                    <a:gd name="T10" fmla="*/ 0 w 90"/>
                    <a:gd name="T11" fmla="*/ 0 h 116"/>
                    <a:gd name="T12" fmla="*/ 0 w 90"/>
                    <a:gd name="T13" fmla="*/ 0 h 116"/>
                    <a:gd name="T14" fmla="*/ 0 w 90"/>
                    <a:gd name="T15" fmla="*/ 0 h 116"/>
                    <a:gd name="T16" fmla="*/ 0 w 90"/>
                    <a:gd name="T17" fmla="*/ 0 h 116"/>
                    <a:gd name="T18" fmla="*/ 0 w 90"/>
                    <a:gd name="T19" fmla="*/ 0 h 116"/>
                    <a:gd name="T20" fmla="*/ 0 w 90"/>
                    <a:gd name="T21" fmla="*/ 0 h 11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90"/>
                    <a:gd name="T34" fmla="*/ 0 h 116"/>
                    <a:gd name="T35" fmla="*/ 90 w 90"/>
                    <a:gd name="T36" fmla="*/ 116 h 11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90" h="116">
                      <a:moveTo>
                        <a:pt x="33" y="100"/>
                      </a:moveTo>
                      <a:lnTo>
                        <a:pt x="0" y="0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41" y="0"/>
                      </a:lnTo>
                      <a:lnTo>
                        <a:pt x="55" y="0"/>
                      </a:lnTo>
                      <a:lnTo>
                        <a:pt x="90" y="116"/>
                      </a:lnTo>
                      <a:lnTo>
                        <a:pt x="76" y="111"/>
                      </a:lnTo>
                      <a:lnTo>
                        <a:pt x="63" y="106"/>
                      </a:lnTo>
                      <a:lnTo>
                        <a:pt x="49" y="102"/>
                      </a:lnTo>
                      <a:lnTo>
                        <a:pt x="33" y="100"/>
                      </a:lnTo>
                      <a:close/>
                    </a:path>
                  </a:pathLst>
                </a:custGeom>
                <a:solidFill>
                  <a:srgbClr val="D6754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52" name="Freeform 301"/>
                <p:cNvSpPr>
                  <a:spLocks/>
                </p:cNvSpPr>
                <p:nvPr/>
              </p:nvSpPr>
              <p:spPr bwMode="auto">
                <a:xfrm>
                  <a:off x="4388" y="1462"/>
                  <a:ext cx="24" cy="31"/>
                </a:xfrm>
                <a:custGeom>
                  <a:avLst/>
                  <a:gdLst>
                    <a:gd name="T0" fmla="*/ 0 w 97"/>
                    <a:gd name="T1" fmla="*/ 0 h 125"/>
                    <a:gd name="T2" fmla="*/ 0 w 97"/>
                    <a:gd name="T3" fmla="*/ 0 h 125"/>
                    <a:gd name="T4" fmla="*/ 0 w 97"/>
                    <a:gd name="T5" fmla="*/ 0 h 125"/>
                    <a:gd name="T6" fmla="*/ 0 w 97"/>
                    <a:gd name="T7" fmla="*/ 0 h 125"/>
                    <a:gd name="T8" fmla="*/ 0 w 97"/>
                    <a:gd name="T9" fmla="*/ 0 h 125"/>
                    <a:gd name="T10" fmla="*/ 0 w 97"/>
                    <a:gd name="T11" fmla="*/ 0 h 125"/>
                    <a:gd name="T12" fmla="*/ 0 w 97"/>
                    <a:gd name="T13" fmla="*/ 0 h 125"/>
                    <a:gd name="T14" fmla="*/ 0 w 97"/>
                    <a:gd name="T15" fmla="*/ 0 h 125"/>
                    <a:gd name="T16" fmla="*/ 0 w 97"/>
                    <a:gd name="T17" fmla="*/ 0 h 125"/>
                    <a:gd name="T18" fmla="*/ 0 w 97"/>
                    <a:gd name="T19" fmla="*/ 0 h 125"/>
                    <a:gd name="T20" fmla="*/ 0 w 97"/>
                    <a:gd name="T21" fmla="*/ 0 h 12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97"/>
                    <a:gd name="T34" fmla="*/ 0 h 125"/>
                    <a:gd name="T35" fmla="*/ 97 w 97"/>
                    <a:gd name="T36" fmla="*/ 125 h 125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97" h="125">
                      <a:moveTo>
                        <a:pt x="35" y="108"/>
                      </a:moveTo>
                      <a:lnTo>
                        <a:pt x="0" y="0"/>
                      </a:lnTo>
                      <a:lnTo>
                        <a:pt x="13" y="0"/>
                      </a:lnTo>
                      <a:lnTo>
                        <a:pt x="30" y="0"/>
                      </a:lnTo>
                      <a:lnTo>
                        <a:pt x="43" y="0"/>
                      </a:lnTo>
                      <a:lnTo>
                        <a:pt x="57" y="2"/>
                      </a:lnTo>
                      <a:lnTo>
                        <a:pt x="97" y="125"/>
                      </a:lnTo>
                      <a:lnTo>
                        <a:pt x="81" y="120"/>
                      </a:lnTo>
                      <a:lnTo>
                        <a:pt x="65" y="116"/>
                      </a:lnTo>
                      <a:lnTo>
                        <a:pt x="48" y="111"/>
                      </a:lnTo>
                      <a:lnTo>
                        <a:pt x="35" y="108"/>
                      </a:lnTo>
                      <a:close/>
                    </a:path>
                  </a:pathLst>
                </a:custGeom>
                <a:solidFill>
                  <a:srgbClr val="D6774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53" name="Freeform 302"/>
                <p:cNvSpPr>
                  <a:spLocks/>
                </p:cNvSpPr>
                <p:nvPr/>
              </p:nvSpPr>
              <p:spPr bwMode="auto">
                <a:xfrm>
                  <a:off x="4394" y="1462"/>
                  <a:ext cx="26" cy="34"/>
                </a:xfrm>
                <a:custGeom>
                  <a:avLst/>
                  <a:gdLst>
                    <a:gd name="T0" fmla="*/ 0 w 100"/>
                    <a:gd name="T1" fmla="*/ 0 h 138"/>
                    <a:gd name="T2" fmla="*/ 0 w 100"/>
                    <a:gd name="T3" fmla="*/ 0 h 138"/>
                    <a:gd name="T4" fmla="*/ 0 w 100"/>
                    <a:gd name="T5" fmla="*/ 0 h 138"/>
                    <a:gd name="T6" fmla="*/ 0 w 100"/>
                    <a:gd name="T7" fmla="*/ 0 h 138"/>
                    <a:gd name="T8" fmla="*/ 0 w 100"/>
                    <a:gd name="T9" fmla="*/ 0 h 138"/>
                    <a:gd name="T10" fmla="*/ 0 w 100"/>
                    <a:gd name="T11" fmla="*/ 0 h 138"/>
                    <a:gd name="T12" fmla="*/ 0 w 100"/>
                    <a:gd name="T13" fmla="*/ 0 h 138"/>
                    <a:gd name="T14" fmla="*/ 0 w 100"/>
                    <a:gd name="T15" fmla="*/ 0 h 138"/>
                    <a:gd name="T16" fmla="*/ 0 w 100"/>
                    <a:gd name="T17" fmla="*/ 0 h 138"/>
                    <a:gd name="T18" fmla="*/ 0 w 100"/>
                    <a:gd name="T19" fmla="*/ 0 h 138"/>
                    <a:gd name="T20" fmla="*/ 0 w 100"/>
                    <a:gd name="T21" fmla="*/ 0 h 13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00"/>
                    <a:gd name="T34" fmla="*/ 0 h 138"/>
                    <a:gd name="T35" fmla="*/ 100 w 100"/>
                    <a:gd name="T36" fmla="*/ 138 h 13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00" h="138">
                      <a:moveTo>
                        <a:pt x="35" y="116"/>
                      </a:moveTo>
                      <a:lnTo>
                        <a:pt x="0" y="0"/>
                      </a:lnTo>
                      <a:lnTo>
                        <a:pt x="14" y="2"/>
                      </a:lnTo>
                      <a:lnTo>
                        <a:pt x="30" y="5"/>
                      </a:lnTo>
                      <a:lnTo>
                        <a:pt x="46" y="8"/>
                      </a:lnTo>
                      <a:lnTo>
                        <a:pt x="62" y="8"/>
                      </a:lnTo>
                      <a:lnTo>
                        <a:pt x="100" y="138"/>
                      </a:lnTo>
                      <a:lnTo>
                        <a:pt x="84" y="132"/>
                      </a:lnTo>
                      <a:lnTo>
                        <a:pt x="68" y="127"/>
                      </a:lnTo>
                      <a:lnTo>
                        <a:pt x="51" y="122"/>
                      </a:lnTo>
                      <a:lnTo>
                        <a:pt x="35" y="116"/>
                      </a:lnTo>
                      <a:close/>
                    </a:path>
                  </a:pathLst>
                </a:custGeom>
                <a:solidFill>
                  <a:srgbClr val="D67A4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54" name="Freeform 303"/>
                <p:cNvSpPr>
                  <a:spLocks/>
                </p:cNvSpPr>
                <p:nvPr/>
              </p:nvSpPr>
              <p:spPr bwMode="auto">
                <a:xfrm>
                  <a:off x="4402" y="1462"/>
                  <a:ext cx="26" cy="39"/>
                </a:xfrm>
                <a:custGeom>
                  <a:avLst/>
                  <a:gdLst>
                    <a:gd name="T0" fmla="*/ 0 w 106"/>
                    <a:gd name="T1" fmla="*/ 0 h 153"/>
                    <a:gd name="T2" fmla="*/ 0 w 106"/>
                    <a:gd name="T3" fmla="*/ 0 h 153"/>
                    <a:gd name="T4" fmla="*/ 0 w 106"/>
                    <a:gd name="T5" fmla="*/ 0 h 153"/>
                    <a:gd name="T6" fmla="*/ 0 w 106"/>
                    <a:gd name="T7" fmla="*/ 0 h 153"/>
                    <a:gd name="T8" fmla="*/ 0 w 106"/>
                    <a:gd name="T9" fmla="*/ 0 h 153"/>
                    <a:gd name="T10" fmla="*/ 0 w 106"/>
                    <a:gd name="T11" fmla="*/ 0 h 153"/>
                    <a:gd name="T12" fmla="*/ 0 w 106"/>
                    <a:gd name="T13" fmla="*/ 0 h 153"/>
                    <a:gd name="T14" fmla="*/ 0 w 106"/>
                    <a:gd name="T15" fmla="*/ 0 h 153"/>
                    <a:gd name="T16" fmla="*/ 0 w 106"/>
                    <a:gd name="T17" fmla="*/ 0 h 153"/>
                    <a:gd name="T18" fmla="*/ 0 w 106"/>
                    <a:gd name="T19" fmla="*/ 0 h 153"/>
                    <a:gd name="T20" fmla="*/ 0 w 106"/>
                    <a:gd name="T21" fmla="*/ 0 h 153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06"/>
                    <a:gd name="T34" fmla="*/ 0 h 153"/>
                    <a:gd name="T35" fmla="*/ 106 w 106"/>
                    <a:gd name="T36" fmla="*/ 153 h 153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06" h="153">
                      <a:moveTo>
                        <a:pt x="40" y="123"/>
                      </a:moveTo>
                      <a:lnTo>
                        <a:pt x="0" y="0"/>
                      </a:lnTo>
                      <a:lnTo>
                        <a:pt x="16" y="3"/>
                      </a:lnTo>
                      <a:lnTo>
                        <a:pt x="30" y="6"/>
                      </a:lnTo>
                      <a:lnTo>
                        <a:pt x="46" y="6"/>
                      </a:lnTo>
                      <a:lnTo>
                        <a:pt x="60" y="8"/>
                      </a:lnTo>
                      <a:lnTo>
                        <a:pt x="106" y="153"/>
                      </a:lnTo>
                      <a:lnTo>
                        <a:pt x="90" y="144"/>
                      </a:lnTo>
                      <a:lnTo>
                        <a:pt x="74" y="136"/>
                      </a:lnTo>
                      <a:lnTo>
                        <a:pt x="56" y="128"/>
                      </a:lnTo>
                      <a:lnTo>
                        <a:pt x="40" y="123"/>
                      </a:lnTo>
                      <a:close/>
                    </a:path>
                  </a:pathLst>
                </a:custGeom>
                <a:solidFill>
                  <a:srgbClr val="D87C4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55" name="Freeform 304"/>
                <p:cNvSpPr>
                  <a:spLocks/>
                </p:cNvSpPr>
                <p:nvPr/>
              </p:nvSpPr>
              <p:spPr bwMode="auto">
                <a:xfrm>
                  <a:off x="4410" y="1464"/>
                  <a:ext cx="26" cy="41"/>
                </a:xfrm>
                <a:custGeom>
                  <a:avLst/>
                  <a:gdLst>
                    <a:gd name="T0" fmla="*/ 0 w 104"/>
                    <a:gd name="T1" fmla="*/ 0 h 163"/>
                    <a:gd name="T2" fmla="*/ 0 w 104"/>
                    <a:gd name="T3" fmla="*/ 0 h 163"/>
                    <a:gd name="T4" fmla="*/ 0 w 104"/>
                    <a:gd name="T5" fmla="*/ 0 h 163"/>
                    <a:gd name="T6" fmla="*/ 0 w 104"/>
                    <a:gd name="T7" fmla="*/ 0 h 163"/>
                    <a:gd name="T8" fmla="*/ 0 w 104"/>
                    <a:gd name="T9" fmla="*/ 0 h 163"/>
                    <a:gd name="T10" fmla="*/ 0 w 104"/>
                    <a:gd name="T11" fmla="*/ 0 h 163"/>
                    <a:gd name="T12" fmla="*/ 0 w 104"/>
                    <a:gd name="T13" fmla="*/ 0 h 163"/>
                    <a:gd name="T14" fmla="*/ 0 w 104"/>
                    <a:gd name="T15" fmla="*/ 0 h 163"/>
                    <a:gd name="T16" fmla="*/ 0 w 104"/>
                    <a:gd name="T17" fmla="*/ 0 h 163"/>
                    <a:gd name="T18" fmla="*/ 0 w 104"/>
                    <a:gd name="T19" fmla="*/ 0 h 163"/>
                    <a:gd name="T20" fmla="*/ 0 w 104"/>
                    <a:gd name="T21" fmla="*/ 0 h 163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04"/>
                    <a:gd name="T34" fmla="*/ 0 h 163"/>
                    <a:gd name="T35" fmla="*/ 104 w 104"/>
                    <a:gd name="T36" fmla="*/ 163 h 163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04" h="163">
                      <a:moveTo>
                        <a:pt x="38" y="130"/>
                      </a:moveTo>
                      <a:lnTo>
                        <a:pt x="0" y="0"/>
                      </a:lnTo>
                      <a:lnTo>
                        <a:pt x="14" y="2"/>
                      </a:lnTo>
                      <a:lnTo>
                        <a:pt x="30" y="6"/>
                      </a:lnTo>
                      <a:lnTo>
                        <a:pt x="44" y="8"/>
                      </a:lnTo>
                      <a:lnTo>
                        <a:pt x="58" y="8"/>
                      </a:lnTo>
                      <a:lnTo>
                        <a:pt x="104" y="163"/>
                      </a:lnTo>
                      <a:lnTo>
                        <a:pt x="90" y="152"/>
                      </a:lnTo>
                      <a:lnTo>
                        <a:pt x="74" y="144"/>
                      </a:lnTo>
                      <a:lnTo>
                        <a:pt x="58" y="136"/>
                      </a:lnTo>
                      <a:lnTo>
                        <a:pt x="38" y="130"/>
                      </a:lnTo>
                      <a:close/>
                    </a:path>
                  </a:pathLst>
                </a:custGeom>
                <a:solidFill>
                  <a:srgbClr val="DB825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56" name="Freeform 305"/>
                <p:cNvSpPr>
                  <a:spLocks/>
                </p:cNvSpPr>
                <p:nvPr/>
              </p:nvSpPr>
              <p:spPr bwMode="auto">
                <a:xfrm>
                  <a:off x="4417" y="1465"/>
                  <a:ext cx="29" cy="46"/>
                </a:xfrm>
                <a:custGeom>
                  <a:avLst/>
                  <a:gdLst>
                    <a:gd name="T0" fmla="*/ 0 w 114"/>
                    <a:gd name="T1" fmla="*/ 0 h 186"/>
                    <a:gd name="T2" fmla="*/ 0 w 114"/>
                    <a:gd name="T3" fmla="*/ 0 h 186"/>
                    <a:gd name="T4" fmla="*/ 0 w 114"/>
                    <a:gd name="T5" fmla="*/ 0 h 186"/>
                    <a:gd name="T6" fmla="*/ 0 w 114"/>
                    <a:gd name="T7" fmla="*/ 0 h 186"/>
                    <a:gd name="T8" fmla="*/ 0 w 114"/>
                    <a:gd name="T9" fmla="*/ 0 h 186"/>
                    <a:gd name="T10" fmla="*/ 0 w 114"/>
                    <a:gd name="T11" fmla="*/ 0 h 186"/>
                    <a:gd name="T12" fmla="*/ 0 w 114"/>
                    <a:gd name="T13" fmla="*/ 0 h 186"/>
                    <a:gd name="T14" fmla="*/ 0 w 114"/>
                    <a:gd name="T15" fmla="*/ 0 h 186"/>
                    <a:gd name="T16" fmla="*/ 0 w 114"/>
                    <a:gd name="T17" fmla="*/ 0 h 186"/>
                    <a:gd name="T18" fmla="*/ 0 w 114"/>
                    <a:gd name="T19" fmla="*/ 0 h 186"/>
                    <a:gd name="T20" fmla="*/ 0 w 114"/>
                    <a:gd name="T21" fmla="*/ 0 h 18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14"/>
                    <a:gd name="T34" fmla="*/ 0 h 186"/>
                    <a:gd name="T35" fmla="*/ 114 w 114"/>
                    <a:gd name="T36" fmla="*/ 186 h 18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14" h="186">
                      <a:moveTo>
                        <a:pt x="46" y="145"/>
                      </a:moveTo>
                      <a:lnTo>
                        <a:pt x="0" y="0"/>
                      </a:lnTo>
                      <a:lnTo>
                        <a:pt x="14" y="4"/>
                      </a:lnTo>
                      <a:lnTo>
                        <a:pt x="30" y="9"/>
                      </a:lnTo>
                      <a:lnTo>
                        <a:pt x="43" y="11"/>
                      </a:lnTo>
                      <a:lnTo>
                        <a:pt x="56" y="14"/>
                      </a:lnTo>
                      <a:lnTo>
                        <a:pt x="114" y="186"/>
                      </a:lnTo>
                      <a:lnTo>
                        <a:pt x="97" y="175"/>
                      </a:lnTo>
                      <a:lnTo>
                        <a:pt x="81" y="163"/>
                      </a:lnTo>
                      <a:lnTo>
                        <a:pt x="62" y="156"/>
                      </a:lnTo>
                      <a:lnTo>
                        <a:pt x="46" y="145"/>
                      </a:lnTo>
                      <a:close/>
                    </a:path>
                  </a:pathLst>
                </a:custGeom>
                <a:solidFill>
                  <a:srgbClr val="DB845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57" name="Freeform 306"/>
                <p:cNvSpPr>
                  <a:spLocks/>
                </p:cNvSpPr>
                <p:nvPr/>
              </p:nvSpPr>
              <p:spPr bwMode="auto">
                <a:xfrm>
                  <a:off x="4424" y="1466"/>
                  <a:ext cx="32" cy="54"/>
                </a:xfrm>
                <a:custGeom>
                  <a:avLst/>
                  <a:gdLst>
                    <a:gd name="T0" fmla="*/ 0 w 125"/>
                    <a:gd name="T1" fmla="*/ 0 h 215"/>
                    <a:gd name="T2" fmla="*/ 0 w 125"/>
                    <a:gd name="T3" fmla="*/ 0 h 215"/>
                    <a:gd name="T4" fmla="*/ 0 w 125"/>
                    <a:gd name="T5" fmla="*/ 0 h 215"/>
                    <a:gd name="T6" fmla="*/ 0 w 125"/>
                    <a:gd name="T7" fmla="*/ 0 h 215"/>
                    <a:gd name="T8" fmla="*/ 0 w 125"/>
                    <a:gd name="T9" fmla="*/ 0 h 215"/>
                    <a:gd name="T10" fmla="*/ 0 w 125"/>
                    <a:gd name="T11" fmla="*/ 0 h 215"/>
                    <a:gd name="T12" fmla="*/ 0 w 125"/>
                    <a:gd name="T13" fmla="*/ 0 h 215"/>
                    <a:gd name="T14" fmla="*/ 0 w 125"/>
                    <a:gd name="T15" fmla="*/ 0 h 215"/>
                    <a:gd name="T16" fmla="*/ 0 w 125"/>
                    <a:gd name="T17" fmla="*/ 0 h 215"/>
                    <a:gd name="T18" fmla="*/ 0 w 125"/>
                    <a:gd name="T19" fmla="*/ 0 h 215"/>
                    <a:gd name="T20" fmla="*/ 0 w 125"/>
                    <a:gd name="T21" fmla="*/ 0 h 21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5"/>
                    <a:gd name="T34" fmla="*/ 0 h 215"/>
                    <a:gd name="T35" fmla="*/ 125 w 125"/>
                    <a:gd name="T36" fmla="*/ 215 h 215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5" h="215">
                      <a:moveTo>
                        <a:pt x="46" y="155"/>
                      </a:moveTo>
                      <a:lnTo>
                        <a:pt x="0" y="0"/>
                      </a:lnTo>
                      <a:lnTo>
                        <a:pt x="13" y="5"/>
                      </a:lnTo>
                      <a:lnTo>
                        <a:pt x="30" y="8"/>
                      </a:lnTo>
                      <a:lnTo>
                        <a:pt x="46" y="10"/>
                      </a:lnTo>
                      <a:lnTo>
                        <a:pt x="62" y="16"/>
                      </a:lnTo>
                      <a:lnTo>
                        <a:pt x="125" y="215"/>
                      </a:lnTo>
                      <a:lnTo>
                        <a:pt x="105" y="199"/>
                      </a:lnTo>
                      <a:lnTo>
                        <a:pt x="86" y="182"/>
                      </a:lnTo>
                      <a:lnTo>
                        <a:pt x="65" y="169"/>
                      </a:lnTo>
                      <a:lnTo>
                        <a:pt x="46" y="155"/>
                      </a:lnTo>
                      <a:close/>
                    </a:path>
                  </a:pathLst>
                </a:custGeom>
                <a:solidFill>
                  <a:srgbClr val="DB875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58" name="Freeform 307"/>
                <p:cNvSpPr>
                  <a:spLocks/>
                </p:cNvSpPr>
                <p:nvPr/>
              </p:nvSpPr>
              <p:spPr bwMode="auto">
                <a:xfrm>
                  <a:off x="4431" y="1468"/>
                  <a:ext cx="35" cy="63"/>
                </a:xfrm>
                <a:custGeom>
                  <a:avLst/>
                  <a:gdLst>
                    <a:gd name="T0" fmla="*/ 0 w 139"/>
                    <a:gd name="T1" fmla="*/ 0 h 253"/>
                    <a:gd name="T2" fmla="*/ 0 w 139"/>
                    <a:gd name="T3" fmla="*/ 0 h 253"/>
                    <a:gd name="T4" fmla="*/ 0 w 139"/>
                    <a:gd name="T5" fmla="*/ 0 h 253"/>
                    <a:gd name="T6" fmla="*/ 0 w 139"/>
                    <a:gd name="T7" fmla="*/ 0 h 253"/>
                    <a:gd name="T8" fmla="*/ 0 w 139"/>
                    <a:gd name="T9" fmla="*/ 0 h 253"/>
                    <a:gd name="T10" fmla="*/ 0 w 139"/>
                    <a:gd name="T11" fmla="*/ 0 h 253"/>
                    <a:gd name="T12" fmla="*/ 0 w 139"/>
                    <a:gd name="T13" fmla="*/ 0 h 253"/>
                    <a:gd name="T14" fmla="*/ 0 w 139"/>
                    <a:gd name="T15" fmla="*/ 0 h 253"/>
                    <a:gd name="T16" fmla="*/ 0 w 139"/>
                    <a:gd name="T17" fmla="*/ 0 h 253"/>
                    <a:gd name="T18" fmla="*/ 0 w 139"/>
                    <a:gd name="T19" fmla="*/ 0 h 253"/>
                    <a:gd name="T20" fmla="*/ 0 w 139"/>
                    <a:gd name="T21" fmla="*/ 0 h 253"/>
                    <a:gd name="T22" fmla="*/ 0 w 139"/>
                    <a:gd name="T23" fmla="*/ 0 h 253"/>
                    <a:gd name="T24" fmla="*/ 0 w 139"/>
                    <a:gd name="T25" fmla="*/ 0 h 253"/>
                    <a:gd name="T26" fmla="*/ 0 w 139"/>
                    <a:gd name="T27" fmla="*/ 0 h 253"/>
                    <a:gd name="T28" fmla="*/ 0 w 139"/>
                    <a:gd name="T29" fmla="*/ 0 h 2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39"/>
                    <a:gd name="T46" fmla="*/ 0 h 253"/>
                    <a:gd name="T47" fmla="*/ 139 w 139"/>
                    <a:gd name="T48" fmla="*/ 253 h 2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39" h="253">
                      <a:moveTo>
                        <a:pt x="58" y="172"/>
                      </a:moveTo>
                      <a:lnTo>
                        <a:pt x="0" y="0"/>
                      </a:lnTo>
                      <a:lnTo>
                        <a:pt x="20" y="2"/>
                      </a:lnTo>
                      <a:lnTo>
                        <a:pt x="36" y="6"/>
                      </a:lnTo>
                      <a:lnTo>
                        <a:pt x="50" y="11"/>
                      </a:lnTo>
                      <a:lnTo>
                        <a:pt x="63" y="13"/>
                      </a:lnTo>
                      <a:lnTo>
                        <a:pt x="139" y="253"/>
                      </a:lnTo>
                      <a:lnTo>
                        <a:pt x="131" y="242"/>
                      </a:lnTo>
                      <a:lnTo>
                        <a:pt x="123" y="231"/>
                      </a:lnTo>
                      <a:lnTo>
                        <a:pt x="112" y="220"/>
                      </a:lnTo>
                      <a:lnTo>
                        <a:pt x="104" y="209"/>
                      </a:lnTo>
                      <a:lnTo>
                        <a:pt x="93" y="198"/>
                      </a:lnTo>
                      <a:lnTo>
                        <a:pt x="82" y="191"/>
                      </a:lnTo>
                      <a:lnTo>
                        <a:pt x="69" y="179"/>
                      </a:lnTo>
                      <a:lnTo>
                        <a:pt x="58" y="172"/>
                      </a:lnTo>
                      <a:close/>
                    </a:path>
                  </a:pathLst>
                </a:custGeom>
                <a:solidFill>
                  <a:srgbClr val="DD895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59" name="Freeform 308"/>
                <p:cNvSpPr>
                  <a:spLocks/>
                </p:cNvSpPr>
                <p:nvPr/>
              </p:nvSpPr>
              <p:spPr bwMode="auto">
                <a:xfrm>
                  <a:off x="4440" y="1470"/>
                  <a:ext cx="39" cy="82"/>
                </a:xfrm>
                <a:custGeom>
                  <a:avLst/>
                  <a:gdLst>
                    <a:gd name="T0" fmla="*/ 0 w 158"/>
                    <a:gd name="T1" fmla="*/ 0 h 329"/>
                    <a:gd name="T2" fmla="*/ 0 w 158"/>
                    <a:gd name="T3" fmla="*/ 0 h 329"/>
                    <a:gd name="T4" fmla="*/ 0 w 158"/>
                    <a:gd name="T5" fmla="*/ 0 h 329"/>
                    <a:gd name="T6" fmla="*/ 0 w 158"/>
                    <a:gd name="T7" fmla="*/ 0 h 329"/>
                    <a:gd name="T8" fmla="*/ 0 w 158"/>
                    <a:gd name="T9" fmla="*/ 0 h 329"/>
                    <a:gd name="T10" fmla="*/ 0 w 158"/>
                    <a:gd name="T11" fmla="*/ 0 h 329"/>
                    <a:gd name="T12" fmla="*/ 0 w 158"/>
                    <a:gd name="T13" fmla="*/ 0 h 329"/>
                    <a:gd name="T14" fmla="*/ 0 w 158"/>
                    <a:gd name="T15" fmla="*/ 0 h 329"/>
                    <a:gd name="T16" fmla="*/ 0 w 158"/>
                    <a:gd name="T17" fmla="*/ 0 h 329"/>
                    <a:gd name="T18" fmla="*/ 0 w 158"/>
                    <a:gd name="T19" fmla="*/ 0 h 329"/>
                    <a:gd name="T20" fmla="*/ 0 w 158"/>
                    <a:gd name="T21" fmla="*/ 0 h 329"/>
                    <a:gd name="T22" fmla="*/ 0 w 158"/>
                    <a:gd name="T23" fmla="*/ 0 h 329"/>
                    <a:gd name="T24" fmla="*/ 0 w 158"/>
                    <a:gd name="T25" fmla="*/ 0 h 329"/>
                    <a:gd name="T26" fmla="*/ 0 w 158"/>
                    <a:gd name="T27" fmla="*/ 0 h 329"/>
                    <a:gd name="T28" fmla="*/ 0 w 158"/>
                    <a:gd name="T29" fmla="*/ 0 h 32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58"/>
                    <a:gd name="T46" fmla="*/ 0 h 329"/>
                    <a:gd name="T47" fmla="*/ 158 w 158"/>
                    <a:gd name="T48" fmla="*/ 329 h 32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58" h="329">
                      <a:moveTo>
                        <a:pt x="63" y="199"/>
                      </a:moveTo>
                      <a:lnTo>
                        <a:pt x="0" y="0"/>
                      </a:lnTo>
                      <a:lnTo>
                        <a:pt x="14" y="3"/>
                      </a:lnTo>
                      <a:lnTo>
                        <a:pt x="30" y="8"/>
                      </a:lnTo>
                      <a:lnTo>
                        <a:pt x="43" y="12"/>
                      </a:lnTo>
                      <a:lnTo>
                        <a:pt x="57" y="17"/>
                      </a:lnTo>
                      <a:lnTo>
                        <a:pt x="158" y="329"/>
                      </a:lnTo>
                      <a:lnTo>
                        <a:pt x="146" y="310"/>
                      </a:lnTo>
                      <a:lnTo>
                        <a:pt x="135" y="291"/>
                      </a:lnTo>
                      <a:lnTo>
                        <a:pt x="125" y="275"/>
                      </a:lnTo>
                      <a:lnTo>
                        <a:pt x="114" y="256"/>
                      </a:lnTo>
                      <a:lnTo>
                        <a:pt x="103" y="239"/>
                      </a:lnTo>
                      <a:lnTo>
                        <a:pt x="89" y="226"/>
                      </a:lnTo>
                      <a:lnTo>
                        <a:pt x="76" y="212"/>
                      </a:lnTo>
                      <a:lnTo>
                        <a:pt x="63" y="199"/>
                      </a:lnTo>
                      <a:close/>
                    </a:path>
                  </a:pathLst>
                </a:custGeom>
                <a:solidFill>
                  <a:srgbClr val="DD8C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60" name="Freeform 309"/>
                <p:cNvSpPr>
                  <a:spLocks/>
                </p:cNvSpPr>
                <p:nvPr/>
              </p:nvSpPr>
              <p:spPr bwMode="auto">
                <a:xfrm>
                  <a:off x="4447" y="1471"/>
                  <a:ext cx="46" cy="103"/>
                </a:xfrm>
                <a:custGeom>
                  <a:avLst/>
                  <a:gdLst>
                    <a:gd name="T0" fmla="*/ 0 w 184"/>
                    <a:gd name="T1" fmla="*/ 0 h 411"/>
                    <a:gd name="T2" fmla="*/ 0 w 184"/>
                    <a:gd name="T3" fmla="*/ 0 h 411"/>
                    <a:gd name="T4" fmla="*/ 0 w 184"/>
                    <a:gd name="T5" fmla="*/ 0 h 411"/>
                    <a:gd name="T6" fmla="*/ 0 w 184"/>
                    <a:gd name="T7" fmla="*/ 0 h 411"/>
                    <a:gd name="T8" fmla="*/ 0 w 184"/>
                    <a:gd name="T9" fmla="*/ 0 h 411"/>
                    <a:gd name="T10" fmla="*/ 0 w 184"/>
                    <a:gd name="T11" fmla="*/ 0 h 411"/>
                    <a:gd name="T12" fmla="*/ 0 w 184"/>
                    <a:gd name="T13" fmla="*/ 0 h 411"/>
                    <a:gd name="T14" fmla="*/ 0 w 184"/>
                    <a:gd name="T15" fmla="*/ 0 h 411"/>
                    <a:gd name="T16" fmla="*/ 0 w 184"/>
                    <a:gd name="T17" fmla="*/ 0 h 411"/>
                    <a:gd name="T18" fmla="*/ 0 w 184"/>
                    <a:gd name="T19" fmla="*/ 0 h 411"/>
                    <a:gd name="T20" fmla="*/ 0 w 184"/>
                    <a:gd name="T21" fmla="*/ 0 h 411"/>
                    <a:gd name="T22" fmla="*/ 0 w 184"/>
                    <a:gd name="T23" fmla="*/ 0 h 411"/>
                    <a:gd name="T24" fmla="*/ 0 w 184"/>
                    <a:gd name="T25" fmla="*/ 0 h 411"/>
                    <a:gd name="T26" fmla="*/ 0 w 184"/>
                    <a:gd name="T27" fmla="*/ 0 h 411"/>
                    <a:gd name="T28" fmla="*/ 0 w 184"/>
                    <a:gd name="T29" fmla="*/ 0 h 411"/>
                    <a:gd name="T30" fmla="*/ 0 w 184"/>
                    <a:gd name="T31" fmla="*/ 0 h 411"/>
                    <a:gd name="T32" fmla="*/ 0 w 184"/>
                    <a:gd name="T33" fmla="*/ 0 h 411"/>
                    <a:gd name="T34" fmla="*/ 0 w 184"/>
                    <a:gd name="T35" fmla="*/ 0 h 411"/>
                    <a:gd name="T36" fmla="*/ 0 w 184"/>
                    <a:gd name="T37" fmla="*/ 0 h 41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84"/>
                    <a:gd name="T58" fmla="*/ 0 h 411"/>
                    <a:gd name="T59" fmla="*/ 184 w 184"/>
                    <a:gd name="T60" fmla="*/ 411 h 411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84" h="411">
                      <a:moveTo>
                        <a:pt x="76" y="240"/>
                      </a:moveTo>
                      <a:lnTo>
                        <a:pt x="0" y="0"/>
                      </a:lnTo>
                      <a:lnTo>
                        <a:pt x="16" y="7"/>
                      </a:lnTo>
                      <a:lnTo>
                        <a:pt x="33" y="12"/>
                      </a:lnTo>
                      <a:lnTo>
                        <a:pt x="49" y="19"/>
                      </a:lnTo>
                      <a:lnTo>
                        <a:pt x="66" y="25"/>
                      </a:lnTo>
                      <a:lnTo>
                        <a:pt x="184" y="411"/>
                      </a:lnTo>
                      <a:lnTo>
                        <a:pt x="182" y="411"/>
                      </a:lnTo>
                      <a:lnTo>
                        <a:pt x="177" y="411"/>
                      </a:lnTo>
                      <a:lnTo>
                        <a:pt x="172" y="411"/>
                      </a:lnTo>
                      <a:lnTo>
                        <a:pt x="166" y="411"/>
                      </a:lnTo>
                      <a:lnTo>
                        <a:pt x="158" y="386"/>
                      </a:lnTo>
                      <a:lnTo>
                        <a:pt x="149" y="362"/>
                      </a:lnTo>
                      <a:lnTo>
                        <a:pt x="138" y="340"/>
                      </a:lnTo>
                      <a:lnTo>
                        <a:pt x="128" y="316"/>
                      </a:lnTo>
                      <a:lnTo>
                        <a:pt x="117" y="297"/>
                      </a:lnTo>
                      <a:lnTo>
                        <a:pt x="103" y="275"/>
                      </a:lnTo>
                      <a:lnTo>
                        <a:pt x="89" y="259"/>
                      </a:lnTo>
                      <a:lnTo>
                        <a:pt x="76" y="240"/>
                      </a:lnTo>
                      <a:close/>
                    </a:path>
                  </a:pathLst>
                </a:custGeom>
                <a:solidFill>
                  <a:srgbClr val="DD8E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61" name="Freeform 310"/>
                <p:cNvSpPr>
                  <a:spLocks/>
                </p:cNvSpPr>
                <p:nvPr/>
              </p:nvSpPr>
              <p:spPr bwMode="auto">
                <a:xfrm>
                  <a:off x="4454" y="1474"/>
                  <a:ext cx="46" cy="101"/>
                </a:xfrm>
                <a:custGeom>
                  <a:avLst/>
                  <a:gdLst>
                    <a:gd name="T0" fmla="*/ 0 w 184"/>
                    <a:gd name="T1" fmla="*/ 0 h 404"/>
                    <a:gd name="T2" fmla="*/ 0 w 184"/>
                    <a:gd name="T3" fmla="*/ 0 h 404"/>
                    <a:gd name="T4" fmla="*/ 0 w 184"/>
                    <a:gd name="T5" fmla="*/ 0 h 404"/>
                    <a:gd name="T6" fmla="*/ 0 w 184"/>
                    <a:gd name="T7" fmla="*/ 0 h 404"/>
                    <a:gd name="T8" fmla="*/ 0 w 184"/>
                    <a:gd name="T9" fmla="*/ 0 h 404"/>
                    <a:gd name="T10" fmla="*/ 0 w 184"/>
                    <a:gd name="T11" fmla="*/ 0 h 404"/>
                    <a:gd name="T12" fmla="*/ 0 w 184"/>
                    <a:gd name="T13" fmla="*/ 0 h 404"/>
                    <a:gd name="T14" fmla="*/ 0 w 184"/>
                    <a:gd name="T15" fmla="*/ 0 h 404"/>
                    <a:gd name="T16" fmla="*/ 0 w 184"/>
                    <a:gd name="T17" fmla="*/ 0 h 404"/>
                    <a:gd name="T18" fmla="*/ 0 w 184"/>
                    <a:gd name="T19" fmla="*/ 0 h 404"/>
                    <a:gd name="T20" fmla="*/ 0 w 184"/>
                    <a:gd name="T21" fmla="*/ 0 h 404"/>
                    <a:gd name="T22" fmla="*/ 0 w 184"/>
                    <a:gd name="T23" fmla="*/ 0 h 404"/>
                    <a:gd name="T24" fmla="*/ 0 w 184"/>
                    <a:gd name="T25" fmla="*/ 0 h 404"/>
                    <a:gd name="T26" fmla="*/ 0 w 184"/>
                    <a:gd name="T27" fmla="*/ 0 h 404"/>
                    <a:gd name="T28" fmla="*/ 0 w 184"/>
                    <a:gd name="T29" fmla="*/ 0 h 40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84"/>
                    <a:gd name="T46" fmla="*/ 0 h 404"/>
                    <a:gd name="T47" fmla="*/ 184 w 184"/>
                    <a:gd name="T48" fmla="*/ 404 h 40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84" h="404">
                      <a:moveTo>
                        <a:pt x="101" y="312"/>
                      </a:moveTo>
                      <a:lnTo>
                        <a:pt x="0" y="0"/>
                      </a:lnTo>
                      <a:lnTo>
                        <a:pt x="19" y="5"/>
                      </a:lnTo>
                      <a:lnTo>
                        <a:pt x="36" y="13"/>
                      </a:lnTo>
                      <a:lnTo>
                        <a:pt x="52" y="21"/>
                      </a:lnTo>
                      <a:lnTo>
                        <a:pt x="66" y="27"/>
                      </a:lnTo>
                      <a:lnTo>
                        <a:pt x="184" y="404"/>
                      </a:lnTo>
                      <a:lnTo>
                        <a:pt x="172" y="402"/>
                      </a:lnTo>
                      <a:lnTo>
                        <a:pt x="160" y="399"/>
                      </a:lnTo>
                      <a:lnTo>
                        <a:pt x="147" y="399"/>
                      </a:lnTo>
                      <a:lnTo>
                        <a:pt x="136" y="399"/>
                      </a:lnTo>
                      <a:lnTo>
                        <a:pt x="130" y="378"/>
                      </a:lnTo>
                      <a:lnTo>
                        <a:pt x="122" y="353"/>
                      </a:lnTo>
                      <a:lnTo>
                        <a:pt x="112" y="331"/>
                      </a:lnTo>
                      <a:lnTo>
                        <a:pt x="101" y="312"/>
                      </a:lnTo>
                      <a:close/>
                    </a:path>
                  </a:pathLst>
                </a:custGeom>
                <a:solidFill>
                  <a:srgbClr val="E091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62" name="Freeform 311"/>
                <p:cNvSpPr>
                  <a:spLocks/>
                </p:cNvSpPr>
                <p:nvPr/>
              </p:nvSpPr>
              <p:spPr bwMode="auto">
                <a:xfrm>
                  <a:off x="4463" y="1477"/>
                  <a:ext cx="44" cy="98"/>
                </a:xfrm>
                <a:custGeom>
                  <a:avLst/>
                  <a:gdLst>
                    <a:gd name="T0" fmla="*/ 0 w 176"/>
                    <a:gd name="T1" fmla="*/ 0 h 391"/>
                    <a:gd name="T2" fmla="*/ 0 w 176"/>
                    <a:gd name="T3" fmla="*/ 0 h 391"/>
                    <a:gd name="T4" fmla="*/ 0 w 176"/>
                    <a:gd name="T5" fmla="*/ 0 h 391"/>
                    <a:gd name="T6" fmla="*/ 0 w 176"/>
                    <a:gd name="T7" fmla="*/ 0 h 391"/>
                    <a:gd name="T8" fmla="*/ 0 w 176"/>
                    <a:gd name="T9" fmla="*/ 0 h 391"/>
                    <a:gd name="T10" fmla="*/ 0 w 176"/>
                    <a:gd name="T11" fmla="*/ 0 h 391"/>
                    <a:gd name="T12" fmla="*/ 0 w 176"/>
                    <a:gd name="T13" fmla="*/ 0 h 391"/>
                    <a:gd name="T14" fmla="*/ 0 w 176"/>
                    <a:gd name="T15" fmla="*/ 0 h 391"/>
                    <a:gd name="T16" fmla="*/ 0 w 176"/>
                    <a:gd name="T17" fmla="*/ 0 h 391"/>
                    <a:gd name="T18" fmla="*/ 0 w 176"/>
                    <a:gd name="T19" fmla="*/ 0 h 391"/>
                    <a:gd name="T20" fmla="*/ 0 w 176"/>
                    <a:gd name="T21" fmla="*/ 0 h 39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76"/>
                    <a:gd name="T34" fmla="*/ 0 h 391"/>
                    <a:gd name="T35" fmla="*/ 176 w 176"/>
                    <a:gd name="T36" fmla="*/ 391 h 39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76" h="391">
                      <a:moveTo>
                        <a:pt x="118" y="386"/>
                      </a:moveTo>
                      <a:lnTo>
                        <a:pt x="0" y="0"/>
                      </a:lnTo>
                      <a:lnTo>
                        <a:pt x="16" y="5"/>
                      </a:lnTo>
                      <a:lnTo>
                        <a:pt x="32" y="10"/>
                      </a:lnTo>
                      <a:lnTo>
                        <a:pt x="48" y="19"/>
                      </a:lnTo>
                      <a:lnTo>
                        <a:pt x="65" y="24"/>
                      </a:lnTo>
                      <a:lnTo>
                        <a:pt x="176" y="391"/>
                      </a:lnTo>
                      <a:lnTo>
                        <a:pt x="162" y="391"/>
                      </a:lnTo>
                      <a:lnTo>
                        <a:pt x="148" y="389"/>
                      </a:lnTo>
                      <a:lnTo>
                        <a:pt x="132" y="386"/>
                      </a:lnTo>
                      <a:lnTo>
                        <a:pt x="118" y="386"/>
                      </a:lnTo>
                      <a:close/>
                    </a:path>
                  </a:pathLst>
                </a:custGeom>
                <a:solidFill>
                  <a:srgbClr val="E093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63" name="Freeform 312"/>
                <p:cNvSpPr>
                  <a:spLocks/>
                </p:cNvSpPr>
                <p:nvPr/>
              </p:nvSpPr>
              <p:spPr bwMode="auto">
                <a:xfrm>
                  <a:off x="4471" y="1481"/>
                  <a:ext cx="44" cy="95"/>
                </a:xfrm>
                <a:custGeom>
                  <a:avLst/>
                  <a:gdLst>
                    <a:gd name="T0" fmla="*/ 0 w 178"/>
                    <a:gd name="T1" fmla="*/ 0 h 381"/>
                    <a:gd name="T2" fmla="*/ 0 w 178"/>
                    <a:gd name="T3" fmla="*/ 0 h 381"/>
                    <a:gd name="T4" fmla="*/ 0 w 178"/>
                    <a:gd name="T5" fmla="*/ 0 h 381"/>
                    <a:gd name="T6" fmla="*/ 0 w 178"/>
                    <a:gd name="T7" fmla="*/ 0 h 381"/>
                    <a:gd name="T8" fmla="*/ 0 w 178"/>
                    <a:gd name="T9" fmla="*/ 0 h 381"/>
                    <a:gd name="T10" fmla="*/ 0 w 178"/>
                    <a:gd name="T11" fmla="*/ 0 h 381"/>
                    <a:gd name="T12" fmla="*/ 0 w 178"/>
                    <a:gd name="T13" fmla="*/ 0 h 381"/>
                    <a:gd name="T14" fmla="*/ 0 w 178"/>
                    <a:gd name="T15" fmla="*/ 0 h 381"/>
                    <a:gd name="T16" fmla="*/ 0 w 178"/>
                    <a:gd name="T17" fmla="*/ 0 h 381"/>
                    <a:gd name="T18" fmla="*/ 0 w 178"/>
                    <a:gd name="T19" fmla="*/ 0 h 381"/>
                    <a:gd name="T20" fmla="*/ 0 w 178"/>
                    <a:gd name="T21" fmla="*/ 0 h 38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78"/>
                    <a:gd name="T34" fmla="*/ 0 h 381"/>
                    <a:gd name="T35" fmla="*/ 178 w 178"/>
                    <a:gd name="T36" fmla="*/ 381 h 38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78" h="381">
                      <a:moveTo>
                        <a:pt x="118" y="377"/>
                      </a:moveTo>
                      <a:lnTo>
                        <a:pt x="0" y="0"/>
                      </a:lnTo>
                      <a:lnTo>
                        <a:pt x="16" y="5"/>
                      </a:lnTo>
                      <a:lnTo>
                        <a:pt x="32" y="14"/>
                      </a:lnTo>
                      <a:lnTo>
                        <a:pt x="48" y="21"/>
                      </a:lnTo>
                      <a:lnTo>
                        <a:pt x="64" y="32"/>
                      </a:lnTo>
                      <a:lnTo>
                        <a:pt x="178" y="381"/>
                      </a:lnTo>
                      <a:lnTo>
                        <a:pt x="164" y="377"/>
                      </a:lnTo>
                      <a:lnTo>
                        <a:pt x="148" y="377"/>
                      </a:lnTo>
                      <a:lnTo>
                        <a:pt x="132" y="377"/>
                      </a:lnTo>
                      <a:lnTo>
                        <a:pt x="118" y="377"/>
                      </a:lnTo>
                      <a:close/>
                    </a:path>
                  </a:pathLst>
                </a:custGeom>
                <a:solidFill>
                  <a:srgbClr val="E096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64" name="Freeform 313"/>
                <p:cNvSpPr>
                  <a:spLocks/>
                </p:cNvSpPr>
                <p:nvPr/>
              </p:nvSpPr>
              <p:spPr bwMode="auto">
                <a:xfrm>
                  <a:off x="4479" y="1484"/>
                  <a:ext cx="44" cy="92"/>
                </a:xfrm>
                <a:custGeom>
                  <a:avLst/>
                  <a:gdLst>
                    <a:gd name="T0" fmla="*/ 0 w 173"/>
                    <a:gd name="T1" fmla="*/ 0 h 371"/>
                    <a:gd name="T2" fmla="*/ 0 w 173"/>
                    <a:gd name="T3" fmla="*/ 0 h 371"/>
                    <a:gd name="T4" fmla="*/ 0 w 173"/>
                    <a:gd name="T5" fmla="*/ 0 h 371"/>
                    <a:gd name="T6" fmla="*/ 0 w 173"/>
                    <a:gd name="T7" fmla="*/ 0 h 371"/>
                    <a:gd name="T8" fmla="*/ 0 w 173"/>
                    <a:gd name="T9" fmla="*/ 0 h 371"/>
                    <a:gd name="T10" fmla="*/ 0 w 173"/>
                    <a:gd name="T11" fmla="*/ 0 h 371"/>
                    <a:gd name="T12" fmla="*/ 0 w 173"/>
                    <a:gd name="T13" fmla="*/ 0 h 371"/>
                    <a:gd name="T14" fmla="*/ 0 w 173"/>
                    <a:gd name="T15" fmla="*/ 0 h 371"/>
                    <a:gd name="T16" fmla="*/ 0 w 173"/>
                    <a:gd name="T17" fmla="*/ 0 h 371"/>
                    <a:gd name="T18" fmla="*/ 0 w 173"/>
                    <a:gd name="T19" fmla="*/ 0 h 371"/>
                    <a:gd name="T20" fmla="*/ 0 w 173"/>
                    <a:gd name="T21" fmla="*/ 0 h 37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73"/>
                    <a:gd name="T34" fmla="*/ 0 h 371"/>
                    <a:gd name="T35" fmla="*/ 173 w 173"/>
                    <a:gd name="T36" fmla="*/ 371 h 37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73" h="371">
                      <a:moveTo>
                        <a:pt x="111" y="367"/>
                      </a:moveTo>
                      <a:lnTo>
                        <a:pt x="0" y="0"/>
                      </a:lnTo>
                      <a:lnTo>
                        <a:pt x="18" y="11"/>
                      </a:lnTo>
                      <a:lnTo>
                        <a:pt x="35" y="20"/>
                      </a:lnTo>
                      <a:lnTo>
                        <a:pt x="51" y="30"/>
                      </a:lnTo>
                      <a:lnTo>
                        <a:pt x="65" y="39"/>
                      </a:lnTo>
                      <a:lnTo>
                        <a:pt x="173" y="371"/>
                      </a:lnTo>
                      <a:lnTo>
                        <a:pt x="157" y="371"/>
                      </a:lnTo>
                      <a:lnTo>
                        <a:pt x="141" y="371"/>
                      </a:lnTo>
                      <a:lnTo>
                        <a:pt x="124" y="371"/>
                      </a:lnTo>
                      <a:lnTo>
                        <a:pt x="111" y="367"/>
                      </a:lnTo>
                      <a:close/>
                    </a:path>
                  </a:pathLst>
                </a:custGeom>
                <a:solidFill>
                  <a:srgbClr val="E0996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65" name="Freeform 314"/>
                <p:cNvSpPr>
                  <a:spLocks/>
                </p:cNvSpPr>
                <p:nvPr/>
              </p:nvSpPr>
              <p:spPr bwMode="auto">
                <a:xfrm>
                  <a:off x="4487" y="1489"/>
                  <a:ext cx="43" cy="87"/>
                </a:xfrm>
                <a:custGeom>
                  <a:avLst/>
                  <a:gdLst>
                    <a:gd name="T0" fmla="*/ 0 w 172"/>
                    <a:gd name="T1" fmla="*/ 0 h 349"/>
                    <a:gd name="T2" fmla="*/ 0 w 172"/>
                    <a:gd name="T3" fmla="*/ 0 h 349"/>
                    <a:gd name="T4" fmla="*/ 0 w 172"/>
                    <a:gd name="T5" fmla="*/ 0 h 349"/>
                    <a:gd name="T6" fmla="*/ 0 w 172"/>
                    <a:gd name="T7" fmla="*/ 0 h 349"/>
                    <a:gd name="T8" fmla="*/ 0 w 172"/>
                    <a:gd name="T9" fmla="*/ 0 h 349"/>
                    <a:gd name="T10" fmla="*/ 0 w 172"/>
                    <a:gd name="T11" fmla="*/ 0 h 349"/>
                    <a:gd name="T12" fmla="*/ 0 w 172"/>
                    <a:gd name="T13" fmla="*/ 0 h 349"/>
                    <a:gd name="T14" fmla="*/ 0 w 172"/>
                    <a:gd name="T15" fmla="*/ 0 h 349"/>
                    <a:gd name="T16" fmla="*/ 0 w 172"/>
                    <a:gd name="T17" fmla="*/ 0 h 349"/>
                    <a:gd name="T18" fmla="*/ 0 w 172"/>
                    <a:gd name="T19" fmla="*/ 0 h 349"/>
                    <a:gd name="T20" fmla="*/ 0 w 172"/>
                    <a:gd name="T21" fmla="*/ 0 h 34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72"/>
                    <a:gd name="T34" fmla="*/ 0 h 349"/>
                    <a:gd name="T35" fmla="*/ 172 w 172"/>
                    <a:gd name="T36" fmla="*/ 349 h 34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72" h="349">
                      <a:moveTo>
                        <a:pt x="114" y="349"/>
                      </a:moveTo>
                      <a:lnTo>
                        <a:pt x="0" y="0"/>
                      </a:lnTo>
                      <a:lnTo>
                        <a:pt x="19" y="8"/>
                      </a:lnTo>
                      <a:lnTo>
                        <a:pt x="38" y="17"/>
                      </a:lnTo>
                      <a:lnTo>
                        <a:pt x="54" y="30"/>
                      </a:lnTo>
                      <a:lnTo>
                        <a:pt x="71" y="42"/>
                      </a:lnTo>
                      <a:lnTo>
                        <a:pt x="172" y="349"/>
                      </a:lnTo>
                      <a:lnTo>
                        <a:pt x="158" y="349"/>
                      </a:lnTo>
                      <a:lnTo>
                        <a:pt x="144" y="349"/>
                      </a:lnTo>
                      <a:lnTo>
                        <a:pt x="128" y="349"/>
                      </a:lnTo>
                      <a:lnTo>
                        <a:pt x="114" y="349"/>
                      </a:lnTo>
                      <a:close/>
                    </a:path>
                  </a:pathLst>
                </a:custGeom>
                <a:solidFill>
                  <a:srgbClr val="E29E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66" name="Freeform 315"/>
                <p:cNvSpPr>
                  <a:spLocks/>
                </p:cNvSpPr>
                <p:nvPr/>
              </p:nvSpPr>
              <p:spPr bwMode="auto">
                <a:xfrm>
                  <a:off x="4496" y="1493"/>
                  <a:ext cx="40" cy="83"/>
                </a:xfrm>
                <a:custGeom>
                  <a:avLst/>
                  <a:gdLst>
                    <a:gd name="T0" fmla="*/ 0 w 163"/>
                    <a:gd name="T1" fmla="*/ 0 h 332"/>
                    <a:gd name="T2" fmla="*/ 0 w 163"/>
                    <a:gd name="T3" fmla="*/ 0 h 332"/>
                    <a:gd name="T4" fmla="*/ 0 w 163"/>
                    <a:gd name="T5" fmla="*/ 0 h 332"/>
                    <a:gd name="T6" fmla="*/ 0 w 163"/>
                    <a:gd name="T7" fmla="*/ 0 h 332"/>
                    <a:gd name="T8" fmla="*/ 0 w 163"/>
                    <a:gd name="T9" fmla="*/ 0 h 332"/>
                    <a:gd name="T10" fmla="*/ 0 w 163"/>
                    <a:gd name="T11" fmla="*/ 0 h 332"/>
                    <a:gd name="T12" fmla="*/ 0 w 163"/>
                    <a:gd name="T13" fmla="*/ 0 h 332"/>
                    <a:gd name="T14" fmla="*/ 0 w 163"/>
                    <a:gd name="T15" fmla="*/ 0 h 332"/>
                    <a:gd name="T16" fmla="*/ 0 w 163"/>
                    <a:gd name="T17" fmla="*/ 0 h 332"/>
                    <a:gd name="T18" fmla="*/ 0 w 163"/>
                    <a:gd name="T19" fmla="*/ 0 h 332"/>
                    <a:gd name="T20" fmla="*/ 0 w 163"/>
                    <a:gd name="T21" fmla="*/ 0 h 33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63"/>
                    <a:gd name="T34" fmla="*/ 0 h 332"/>
                    <a:gd name="T35" fmla="*/ 163 w 163"/>
                    <a:gd name="T36" fmla="*/ 332 h 33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63" h="332">
                      <a:moveTo>
                        <a:pt x="108" y="332"/>
                      </a:moveTo>
                      <a:lnTo>
                        <a:pt x="0" y="0"/>
                      </a:lnTo>
                      <a:lnTo>
                        <a:pt x="18" y="13"/>
                      </a:lnTo>
                      <a:lnTo>
                        <a:pt x="38" y="25"/>
                      </a:lnTo>
                      <a:lnTo>
                        <a:pt x="57" y="37"/>
                      </a:lnTo>
                      <a:lnTo>
                        <a:pt x="73" y="54"/>
                      </a:lnTo>
                      <a:lnTo>
                        <a:pt x="163" y="332"/>
                      </a:lnTo>
                      <a:lnTo>
                        <a:pt x="149" y="332"/>
                      </a:lnTo>
                      <a:lnTo>
                        <a:pt x="136" y="332"/>
                      </a:lnTo>
                      <a:lnTo>
                        <a:pt x="122" y="332"/>
                      </a:lnTo>
                      <a:lnTo>
                        <a:pt x="108" y="332"/>
                      </a:lnTo>
                      <a:close/>
                    </a:path>
                  </a:pathLst>
                </a:custGeom>
                <a:solidFill>
                  <a:srgbClr val="E5A3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67" name="Freeform 316"/>
                <p:cNvSpPr>
                  <a:spLocks/>
                </p:cNvSpPr>
                <p:nvPr/>
              </p:nvSpPr>
              <p:spPr bwMode="auto">
                <a:xfrm>
                  <a:off x="4505" y="1499"/>
                  <a:ext cx="38" cy="77"/>
                </a:xfrm>
                <a:custGeom>
                  <a:avLst/>
                  <a:gdLst>
                    <a:gd name="T0" fmla="*/ 0 w 154"/>
                    <a:gd name="T1" fmla="*/ 0 h 307"/>
                    <a:gd name="T2" fmla="*/ 0 w 154"/>
                    <a:gd name="T3" fmla="*/ 0 h 307"/>
                    <a:gd name="T4" fmla="*/ 0 w 154"/>
                    <a:gd name="T5" fmla="*/ 0 h 307"/>
                    <a:gd name="T6" fmla="*/ 0 w 154"/>
                    <a:gd name="T7" fmla="*/ 0 h 307"/>
                    <a:gd name="T8" fmla="*/ 0 w 154"/>
                    <a:gd name="T9" fmla="*/ 0 h 307"/>
                    <a:gd name="T10" fmla="*/ 0 w 154"/>
                    <a:gd name="T11" fmla="*/ 0 h 307"/>
                    <a:gd name="T12" fmla="*/ 0 w 154"/>
                    <a:gd name="T13" fmla="*/ 0 h 307"/>
                    <a:gd name="T14" fmla="*/ 0 w 154"/>
                    <a:gd name="T15" fmla="*/ 0 h 307"/>
                    <a:gd name="T16" fmla="*/ 0 w 154"/>
                    <a:gd name="T17" fmla="*/ 0 h 307"/>
                    <a:gd name="T18" fmla="*/ 0 w 154"/>
                    <a:gd name="T19" fmla="*/ 0 h 307"/>
                    <a:gd name="T20" fmla="*/ 0 w 154"/>
                    <a:gd name="T21" fmla="*/ 0 h 30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54"/>
                    <a:gd name="T34" fmla="*/ 0 h 307"/>
                    <a:gd name="T35" fmla="*/ 154 w 154"/>
                    <a:gd name="T36" fmla="*/ 307 h 30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54" h="307">
                      <a:moveTo>
                        <a:pt x="101" y="307"/>
                      </a:moveTo>
                      <a:lnTo>
                        <a:pt x="0" y="0"/>
                      </a:lnTo>
                      <a:lnTo>
                        <a:pt x="19" y="16"/>
                      </a:lnTo>
                      <a:lnTo>
                        <a:pt x="41" y="32"/>
                      </a:lnTo>
                      <a:lnTo>
                        <a:pt x="59" y="48"/>
                      </a:lnTo>
                      <a:lnTo>
                        <a:pt x="76" y="67"/>
                      </a:lnTo>
                      <a:lnTo>
                        <a:pt x="154" y="307"/>
                      </a:lnTo>
                      <a:lnTo>
                        <a:pt x="142" y="307"/>
                      </a:lnTo>
                      <a:lnTo>
                        <a:pt x="128" y="307"/>
                      </a:lnTo>
                      <a:lnTo>
                        <a:pt x="114" y="307"/>
                      </a:lnTo>
                      <a:lnTo>
                        <a:pt x="101" y="307"/>
                      </a:lnTo>
                      <a:close/>
                    </a:path>
                  </a:pathLst>
                </a:custGeom>
                <a:solidFill>
                  <a:srgbClr val="E5A57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68" name="Freeform 317"/>
                <p:cNvSpPr>
                  <a:spLocks/>
                </p:cNvSpPr>
                <p:nvPr/>
              </p:nvSpPr>
              <p:spPr bwMode="auto">
                <a:xfrm>
                  <a:off x="4514" y="1507"/>
                  <a:ext cx="37" cy="70"/>
                </a:xfrm>
                <a:custGeom>
                  <a:avLst/>
                  <a:gdLst>
                    <a:gd name="T0" fmla="*/ 0 w 146"/>
                    <a:gd name="T1" fmla="*/ 0 h 283"/>
                    <a:gd name="T2" fmla="*/ 0 w 146"/>
                    <a:gd name="T3" fmla="*/ 0 h 283"/>
                    <a:gd name="T4" fmla="*/ 0 w 146"/>
                    <a:gd name="T5" fmla="*/ 0 h 283"/>
                    <a:gd name="T6" fmla="*/ 0 w 146"/>
                    <a:gd name="T7" fmla="*/ 0 h 283"/>
                    <a:gd name="T8" fmla="*/ 0 w 146"/>
                    <a:gd name="T9" fmla="*/ 0 h 283"/>
                    <a:gd name="T10" fmla="*/ 0 w 146"/>
                    <a:gd name="T11" fmla="*/ 0 h 283"/>
                    <a:gd name="T12" fmla="*/ 0 w 146"/>
                    <a:gd name="T13" fmla="*/ 0 h 283"/>
                    <a:gd name="T14" fmla="*/ 0 w 146"/>
                    <a:gd name="T15" fmla="*/ 0 h 283"/>
                    <a:gd name="T16" fmla="*/ 0 w 146"/>
                    <a:gd name="T17" fmla="*/ 0 h 283"/>
                    <a:gd name="T18" fmla="*/ 0 w 146"/>
                    <a:gd name="T19" fmla="*/ 0 h 283"/>
                    <a:gd name="T20" fmla="*/ 0 w 146"/>
                    <a:gd name="T21" fmla="*/ 0 h 283"/>
                    <a:gd name="T22" fmla="*/ 0 w 146"/>
                    <a:gd name="T23" fmla="*/ 0 h 283"/>
                    <a:gd name="T24" fmla="*/ 0 w 146"/>
                    <a:gd name="T25" fmla="*/ 0 h 283"/>
                    <a:gd name="T26" fmla="*/ 0 w 146"/>
                    <a:gd name="T27" fmla="*/ 0 h 283"/>
                    <a:gd name="T28" fmla="*/ 0 w 146"/>
                    <a:gd name="T29" fmla="*/ 0 h 28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46"/>
                    <a:gd name="T46" fmla="*/ 0 h 283"/>
                    <a:gd name="T47" fmla="*/ 146 w 146"/>
                    <a:gd name="T48" fmla="*/ 283 h 28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46" h="283">
                      <a:moveTo>
                        <a:pt x="90" y="278"/>
                      </a:moveTo>
                      <a:lnTo>
                        <a:pt x="0" y="0"/>
                      </a:lnTo>
                      <a:lnTo>
                        <a:pt x="11" y="8"/>
                      </a:lnTo>
                      <a:lnTo>
                        <a:pt x="24" y="19"/>
                      </a:lnTo>
                      <a:lnTo>
                        <a:pt x="35" y="29"/>
                      </a:lnTo>
                      <a:lnTo>
                        <a:pt x="46" y="41"/>
                      </a:lnTo>
                      <a:lnTo>
                        <a:pt x="57" y="52"/>
                      </a:lnTo>
                      <a:lnTo>
                        <a:pt x="65" y="65"/>
                      </a:lnTo>
                      <a:lnTo>
                        <a:pt x="76" y="76"/>
                      </a:lnTo>
                      <a:lnTo>
                        <a:pt x="84" y="89"/>
                      </a:lnTo>
                      <a:lnTo>
                        <a:pt x="146" y="283"/>
                      </a:lnTo>
                      <a:lnTo>
                        <a:pt x="134" y="283"/>
                      </a:lnTo>
                      <a:lnTo>
                        <a:pt x="120" y="280"/>
                      </a:lnTo>
                      <a:lnTo>
                        <a:pt x="104" y="278"/>
                      </a:lnTo>
                      <a:lnTo>
                        <a:pt x="90" y="278"/>
                      </a:lnTo>
                      <a:close/>
                    </a:path>
                  </a:pathLst>
                </a:custGeom>
                <a:solidFill>
                  <a:srgbClr val="E8A87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69" name="Freeform 318"/>
                <p:cNvSpPr>
                  <a:spLocks/>
                </p:cNvSpPr>
                <p:nvPr/>
              </p:nvSpPr>
              <p:spPr bwMode="auto">
                <a:xfrm>
                  <a:off x="4524" y="1516"/>
                  <a:ext cx="31" cy="61"/>
                </a:xfrm>
                <a:custGeom>
                  <a:avLst/>
                  <a:gdLst>
                    <a:gd name="T0" fmla="*/ 0 w 128"/>
                    <a:gd name="T1" fmla="*/ 0 h 245"/>
                    <a:gd name="T2" fmla="*/ 0 w 128"/>
                    <a:gd name="T3" fmla="*/ 0 h 245"/>
                    <a:gd name="T4" fmla="*/ 0 w 128"/>
                    <a:gd name="T5" fmla="*/ 0 h 245"/>
                    <a:gd name="T6" fmla="*/ 0 w 128"/>
                    <a:gd name="T7" fmla="*/ 0 h 245"/>
                    <a:gd name="T8" fmla="*/ 0 w 128"/>
                    <a:gd name="T9" fmla="*/ 0 h 245"/>
                    <a:gd name="T10" fmla="*/ 0 w 128"/>
                    <a:gd name="T11" fmla="*/ 0 h 245"/>
                    <a:gd name="T12" fmla="*/ 0 w 128"/>
                    <a:gd name="T13" fmla="*/ 0 h 245"/>
                    <a:gd name="T14" fmla="*/ 0 w 128"/>
                    <a:gd name="T15" fmla="*/ 0 h 245"/>
                    <a:gd name="T16" fmla="*/ 0 w 128"/>
                    <a:gd name="T17" fmla="*/ 0 h 245"/>
                    <a:gd name="T18" fmla="*/ 0 w 128"/>
                    <a:gd name="T19" fmla="*/ 0 h 245"/>
                    <a:gd name="T20" fmla="*/ 0 w 128"/>
                    <a:gd name="T21" fmla="*/ 0 h 245"/>
                    <a:gd name="T22" fmla="*/ 0 w 128"/>
                    <a:gd name="T23" fmla="*/ 0 h 245"/>
                    <a:gd name="T24" fmla="*/ 0 w 128"/>
                    <a:gd name="T25" fmla="*/ 0 h 245"/>
                    <a:gd name="T26" fmla="*/ 0 w 128"/>
                    <a:gd name="T27" fmla="*/ 0 h 245"/>
                    <a:gd name="T28" fmla="*/ 0 w 128"/>
                    <a:gd name="T29" fmla="*/ 0 h 245"/>
                    <a:gd name="T30" fmla="*/ 0 w 128"/>
                    <a:gd name="T31" fmla="*/ 0 h 245"/>
                    <a:gd name="T32" fmla="*/ 0 w 128"/>
                    <a:gd name="T33" fmla="*/ 0 h 245"/>
                    <a:gd name="T34" fmla="*/ 0 w 128"/>
                    <a:gd name="T35" fmla="*/ 0 h 245"/>
                    <a:gd name="T36" fmla="*/ 0 w 128"/>
                    <a:gd name="T37" fmla="*/ 0 h 245"/>
                    <a:gd name="T38" fmla="*/ 0 w 128"/>
                    <a:gd name="T39" fmla="*/ 0 h 245"/>
                    <a:gd name="T40" fmla="*/ 0 w 128"/>
                    <a:gd name="T41" fmla="*/ 0 h 245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128"/>
                    <a:gd name="T64" fmla="*/ 0 h 245"/>
                    <a:gd name="T65" fmla="*/ 128 w 128"/>
                    <a:gd name="T66" fmla="*/ 245 h 245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128" h="245">
                      <a:moveTo>
                        <a:pt x="78" y="240"/>
                      </a:moveTo>
                      <a:lnTo>
                        <a:pt x="0" y="0"/>
                      </a:lnTo>
                      <a:lnTo>
                        <a:pt x="19" y="19"/>
                      </a:lnTo>
                      <a:lnTo>
                        <a:pt x="36" y="38"/>
                      </a:lnTo>
                      <a:lnTo>
                        <a:pt x="52" y="57"/>
                      </a:lnTo>
                      <a:lnTo>
                        <a:pt x="68" y="79"/>
                      </a:lnTo>
                      <a:lnTo>
                        <a:pt x="82" y="100"/>
                      </a:lnTo>
                      <a:lnTo>
                        <a:pt x="92" y="122"/>
                      </a:lnTo>
                      <a:lnTo>
                        <a:pt x="103" y="147"/>
                      </a:lnTo>
                      <a:lnTo>
                        <a:pt x="114" y="171"/>
                      </a:lnTo>
                      <a:lnTo>
                        <a:pt x="117" y="174"/>
                      </a:lnTo>
                      <a:lnTo>
                        <a:pt x="117" y="176"/>
                      </a:lnTo>
                      <a:lnTo>
                        <a:pt x="124" y="206"/>
                      </a:lnTo>
                      <a:lnTo>
                        <a:pt x="124" y="215"/>
                      </a:lnTo>
                      <a:lnTo>
                        <a:pt x="128" y="222"/>
                      </a:lnTo>
                      <a:lnTo>
                        <a:pt x="128" y="234"/>
                      </a:lnTo>
                      <a:lnTo>
                        <a:pt x="128" y="245"/>
                      </a:lnTo>
                      <a:lnTo>
                        <a:pt x="117" y="245"/>
                      </a:lnTo>
                      <a:lnTo>
                        <a:pt x="106" y="245"/>
                      </a:lnTo>
                      <a:lnTo>
                        <a:pt x="92" y="242"/>
                      </a:lnTo>
                      <a:lnTo>
                        <a:pt x="78" y="240"/>
                      </a:lnTo>
                      <a:close/>
                    </a:path>
                  </a:pathLst>
                </a:custGeom>
                <a:solidFill>
                  <a:srgbClr val="E8AA7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70" name="Freeform 319"/>
                <p:cNvSpPr>
                  <a:spLocks/>
                </p:cNvSpPr>
                <p:nvPr/>
              </p:nvSpPr>
              <p:spPr bwMode="auto">
                <a:xfrm>
                  <a:off x="4535" y="1529"/>
                  <a:ext cx="20" cy="48"/>
                </a:xfrm>
                <a:custGeom>
                  <a:avLst/>
                  <a:gdLst>
                    <a:gd name="T0" fmla="*/ 0 w 82"/>
                    <a:gd name="T1" fmla="*/ 0 h 194"/>
                    <a:gd name="T2" fmla="*/ 0 w 82"/>
                    <a:gd name="T3" fmla="*/ 0 h 194"/>
                    <a:gd name="T4" fmla="*/ 0 w 82"/>
                    <a:gd name="T5" fmla="*/ 0 h 194"/>
                    <a:gd name="T6" fmla="*/ 0 w 82"/>
                    <a:gd name="T7" fmla="*/ 0 h 194"/>
                    <a:gd name="T8" fmla="*/ 0 w 82"/>
                    <a:gd name="T9" fmla="*/ 0 h 194"/>
                    <a:gd name="T10" fmla="*/ 0 w 82"/>
                    <a:gd name="T11" fmla="*/ 0 h 194"/>
                    <a:gd name="T12" fmla="*/ 0 w 82"/>
                    <a:gd name="T13" fmla="*/ 0 h 194"/>
                    <a:gd name="T14" fmla="*/ 0 w 82"/>
                    <a:gd name="T15" fmla="*/ 0 h 194"/>
                    <a:gd name="T16" fmla="*/ 0 w 82"/>
                    <a:gd name="T17" fmla="*/ 0 h 194"/>
                    <a:gd name="T18" fmla="*/ 0 w 82"/>
                    <a:gd name="T19" fmla="*/ 0 h 194"/>
                    <a:gd name="T20" fmla="*/ 0 w 82"/>
                    <a:gd name="T21" fmla="*/ 0 h 194"/>
                    <a:gd name="T22" fmla="*/ 0 w 82"/>
                    <a:gd name="T23" fmla="*/ 0 h 194"/>
                    <a:gd name="T24" fmla="*/ 0 w 82"/>
                    <a:gd name="T25" fmla="*/ 0 h 194"/>
                    <a:gd name="T26" fmla="*/ 0 w 82"/>
                    <a:gd name="T27" fmla="*/ 0 h 194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82"/>
                    <a:gd name="T43" fmla="*/ 0 h 194"/>
                    <a:gd name="T44" fmla="*/ 82 w 82"/>
                    <a:gd name="T45" fmla="*/ 194 h 194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82" h="194">
                      <a:moveTo>
                        <a:pt x="62" y="194"/>
                      </a:moveTo>
                      <a:lnTo>
                        <a:pt x="0" y="0"/>
                      </a:lnTo>
                      <a:lnTo>
                        <a:pt x="20" y="30"/>
                      </a:lnTo>
                      <a:lnTo>
                        <a:pt x="38" y="60"/>
                      </a:lnTo>
                      <a:lnTo>
                        <a:pt x="55" y="90"/>
                      </a:lnTo>
                      <a:lnTo>
                        <a:pt x="68" y="120"/>
                      </a:lnTo>
                      <a:lnTo>
                        <a:pt x="73" y="136"/>
                      </a:lnTo>
                      <a:lnTo>
                        <a:pt x="78" y="155"/>
                      </a:lnTo>
                      <a:lnTo>
                        <a:pt x="82" y="175"/>
                      </a:lnTo>
                      <a:lnTo>
                        <a:pt x="82" y="194"/>
                      </a:lnTo>
                      <a:lnTo>
                        <a:pt x="78" y="194"/>
                      </a:lnTo>
                      <a:lnTo>
                        <a:pt x="73" y="194"/>
                      </a:lnTo>
                      <a:lnTo>
                        <a:pt x="68" y="194"/>
                      </a:lnTo>
                      <a:lnTo>
                        <a:pt x="62" y="194"/>
                      </a:lnTo>
                      <a:close/>
                    </a:path>
                  </a:pathLst>
                </a:custGeom>
                <a:solidFill>
                  <a:srgbClr val="E8AF7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71" name="Freeform 320"/>
                <p:cNvSpPr>
                  <a:spLocks/>
                </p:cNvSpPr>
                <p:nvPr/>
              </p:nvSpPr>
              <p:spPr bwMode="auto">
                <a:xfrm>
                  <a:off x="4553" y="1560"/>
                  <a:ext cx="2" cy="8"/>
                </a:xfrm>
                <a:custGeom>
                  <a:avLst/>
                  <a:gdLst>
                    <a:gd name="T0" fmla="*/ 0 w 7"/>
                    <a:gd name="T1" fmla="*/ 0 h 30"/>
                    <a:gd name="T2" fmla="*/ 0 w 7"/>
                    <a:gd name="T3" fmla="*/ 0 h 30"/>
                    <a:gd name="T4" fmla="*/ 0 w 7"/>
                    <a:gd name="T5" fmla="*/ 0 h 30"/>
                    <a:gd name="T6" fmla="*/ 0 w 7"/>
                    <a:gd name="T7" fmla="*/ 0 h 30"/>
                    <a:gd name="T8" fmla="*/ 0 w 7"/>
                    <a:gd name="T9" fmla="*/ 0 h 30"/>
                    <a:gd name="T10" fmla="*/ 0 w 7"/>
                    <a:gd name="T11" fmla="*/ 0 h 3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"/>
                    <a:gd name="T19" fmla="*/ 0 h 30"/>
                    <a:gd name="T20" fmla="*/ 7 w 7"/>
                    <a:gd name="T21" fmla="*/ 30 h 3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" h="30">
                      <a:moveTo>
                        <a:pt x="7" y="30"/>
                      </a:move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" y="14"/>
                      </a:lnTo>
                      <a:lnTo>
                        <a:pt x="5" y="22"/>
                      </a:lnTo>
                      <a:lnTo>
                        <a:pt x="7" y="30"/>
                      </a:lnTo>
                      <a:close/>
                    </a:path>
                  </a:pathLst>
                </a:custGeom>
                <a:solidFill>
                  <a:srgbClr val="EAB2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72" name="Freeform 321"/>
                <p:cNvSpPr>
                  <a:spLocks/>
                </p:cNvSpPr>
                <p:nvPr/>
              </p:nvSpPr>
              <p:spPr bwMode="auto">
                <a:xfrm>
                  <a:off x="4843" y="1572"/>
                  <a:ext cx="9" cy="12"/>
                </a:xfrm>
                <a:custGeom>
                  <a:avLst/>
                  <a:gdLst>
                    <a:gd name="T0" fmla="*/ 0 w 35"/>
                    <a:gd name="T1" fmla="*/ 0 h 48"/>
                    <a:gd name="T2" fmla="*/ 0 w 35"/>
                    <a:gd name="T3" fmla="*/ 0 h 48"/>
                    <a:gd name="T4" fmla="*/ 0 w 35"/>
                    <a:gd name="T5" fmla="*/ 0 h 48"/>
                    <a:gd name="T6" fmla="*/ 0 w 35"/>
                    <a:gd name="T7" fmla="*/ 0 h 48"/>
                    <a:gd name="T8" fmla="*/ 0 w 35"/>
                    <a:gd name="T9" fmla="*/ 0 h 48"/>
                    <a:gd name="T10" fmla="*/ 0 w 35"/>
                    <a:gd name="T11" fmla="*/ 0 h 48"/>
                    <a:gd name="T12" fmla="*/ 0 w 35"/>
                    <a:gd name="T13" fmla="*/ 0 h 4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5"/>
                    <a:gd name="T22" fmla="*/ 0 h 48"/>
                    <a:gd name="T23" fmla="*/ 35 w 35"/>
                    <a:gd name="T24" fmla="*/ 48 h 4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5" h="48">
                      <a:moveTo>
                        <a:pt x="10" y="0"/>
                      </a:moveTo>
                      <a:lnTo>
                        <a:pt x="35" y="48"/>
                      </a:lnTo>
                      <a:lnTo>
                        <a:pt x="0" y="48"/>
                      </a:lnTo>
                      <a:lnTo>
                        <a:pt x="3" y="36"/>
                      </a:lnTo>
                      <a:lnTo>
                        <a:pt x="5" y="23"/>
                      </a:lnTo>
                      <a:lnTo>
                        <a:pt x="8" y="12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B554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73" name="Freeform 322"/>
                <p:cNvSpPr>
                  <a:spLocks/>
                </p:cNvSpPr>
                <p:nvPr/>
              </p:nvSpPr>
              <p:spPr bwMode="auto">
                <a:xfrm>
                  <a:off x="4843" y="1563"/>
                  <a:ext cx="18" cy="21"/>
                </a:xfrm>
                <a:custGeom>
                  <a:avLst/>
                  <a:gdLst>
                    <a:gd name="T0" fmla="*/ 0 w 70"/>
                    <a:gd name="T1" fmla="*/ 0 h 85"/>
                    <a:gd name="T2" fmla="*/ 0 w 70"/>
                    <a:gd name="T3" fmla="*/ 0 h 85"/>
                    <a:gd name="T4" fmla="*/ 0 w 70"/>
                    <a:gd name="T5" fmla="*/ 0 h 85"/>
                    <a:gd name="T6" fmla="*/ 0 w 70"/>
                    <a:gd name="T7" fmla="*/ 0 h 85"/>
                    <a:gd name="T8" fmla="*/ 0 w 70"/>
                    <a:gd name="T9" fmla="*/ 0 h 85"/>
                    <a:gd name="T10" fmla="*/ 0 w 70"/>
                    <a:gd name="T11" fmla="*/ 0 h 85"/>
                    <a:gd name="T12" fmla="*/ 0 w 70"/>
                    <a:gd name="T13" fmla="*/ 0 h 85"/>
                    <a:gd name="T14" fmla="*/ 0 w 70"/>
                    <a:gd name="T15" fmla="*/ 0 h 8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70"/>
                    <a:gd name="T25" fmla="*/ 0 h 85"/>
                    <a:gd name="T26" fmla="*/ 70 w 70"/>
                    <a:gd name="T27" fmla="*/ 85 h 8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70" h="85">
                      <a:moveTo>
                        <a:pt x="3" y="85"/>
                      </a:moveTo>
                      <a:lnTo>
                        <a:pt x="0" y="78"/>
                      </a:lnTo>
                      <a:lnTo>
                        <a:pt x="5" y="60"/>
                      </a:lnTo>
                      <a:lnTo>
                        <a:pt x="13" y="37"/>
                      </a:lnTo>
                      <a:lnTo>
                        <a:pt x="19" y="19"/>
                      </a:lnTo>
                      <a:lnTo>
                        <a:pt x="24" y="0"/>
                      </a:lnTo>
                      <a:lnTo>
                        <a:pt x="70" y="85"/>
                      </a:lnTo>
                      <a:lnTo>
                        <a:pt x="3" y="85"/>
                      </a:lnTo>
                      <a:close/>
                    </a:path>
                  </a:pathLst>
                </a:custGeom>
                <a:solidFill>
                  <a:srgbClr val="B5543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74" name="Freeform 323"/>
                <p:cNvSpPr>
                  <a:spLocks/>
                </p:cNvSpPr>
                <p:nvPr/>
              </p:nvSpPr>
              <p:spPr bwMode="auto">
                <a:xfrm>
                  <a:off x="4846" y="1555"/>
                  <a:ext cx="23" cy="29"/>
                </a:xfrm>
                <a:custGeom>
                  <a:avLst/>
                  <a:gdLst>
                    <a:gd name="T0" fmla="*/ 0 w 90"/>
                    <a:gd name="T1" fmla="*/ 0 h 115"/>
                    <a:gd name="T2" fmla="*/ 0 w 90"/>
                    <a:gd name="T3" fmla="*/ 0 h 115"/>
                    <a:gd name="T4" fmla="*/ 0 w 90"/>
                    <a:gd name="T5" fmla="*/ 0 h 115"/>
                    <a:gd name="T6" fmla="*/ 0 w 90"/>
                    <a:gd name="T7" fmla="*/ 0 h 115"/>
                    <a:gd name="T8" fmla="*/ 0 w 90"/>
                    <a:gd name="T9" fmla="*/ 0 h 115"/>
                    <a:gd name="T10" fmla="*/ 0 w 90"/>
                    <a:gd name="T11" fmla="*/ 0 h 115"/>
                    <a:gd name="T12" fmla="*/ 0 w 90"/>
                    <a:gd name="T13" fmla="*/ 0 h 115"/>
                    <a:gd name="T14" fmla="*/ 0 w 90"/>
                    <a:gd name="T15" fmla="*/ 0 h 11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0"/>
                    <a:gd name="T25" fmla="*/ 0 h 115"/>
                    <a:gd name="T26" fmla="*/ 90 w 90"/>
                    <a:gd name="T27" fmla="*/ 115 h 11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0" h="115">
                      <a:moveTo>
                        <a:pt x="25" y="115"/>
                      </a:moveTo>
                      <a:lnTo>
                        <a:pt x="0" y="67"/>
                      </a:lnTo>
                      <a:lnTo>
                        <a:pt x="6" y="51"/>
                      </a:lnTo>
                      <a:lnTo>
                        <a:pt x="14" y="32"/>
                      </a:lnTo>
                      <a:lnTo>
                        <a:pt x="20" y="16"/>
                      </a:lnTo>
                      <a:lnTo>
                        <a:pt x="25" y="0"/>
                      </a:lnTo>
                      <a:lnTo>
                        <a:pt x="90" y="115"/>
                      </a:lnTo>
                      <a:lnTo>
                        <a:pt x="25" y="115"/>
                      </a:lnTo>
                      <a:close/>
                    </a:path>
                  </a:pathLst>
                </a:custGeom>
                <a:solidFill>
                  <a:srgbClr val="B5563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75" name="Freeform 324"/>
                <p:cNvSpPr>
                  <a:spLocks/>
                </p:cNvSpPr>
                <p:nvPr/>
              </p:nvSpPr>
              <p:spPr bwMode="auto">
                <a:xfrm>
                  <a:off x="4850" y="1547"/>
                  <a:ext cx="28" cy="37"/>
                </a:xfrm>
                <a:custGeom>
                  <a:avLst/>
                  <a:gdLst>
                    <a:gd name="T0" fmla="*/ 0 w 115"/>
                    <a:gd name="T1" fmla="*/ 0 h 148"/>
                    <a:gd name="T2" fmla="*/ 0 w 115"/>
                    <a:gd name="T3" fmla="*/ 0 h 148"/>
                    <a:gd name="T4" fmla="*/ 0 w 115"/>
                    <a:gd name="T5" fmla="*/ 0 h 148"/>
                    <a:gd name="T6" fmla="*/ 0 w 115"/>
                    <a:gd name="T7" fmla="*/ 0 h 148"/>
                    <a:gd name="T8" fmla="*/ 0 w 115"/>
                    <a:gd name="T9" fmla="*/ 0 h 148"/>
                    <a:gd name="T10" fmla="*/ 0 w 115"/>
                    <a:gd name="T11" fmla="*/ 0 h 148"/>
                    <a:gd name="T12" fmla="*/ 0 w 115"/>
                    <a:gd name="T13" fmla="*/ 0 h 148"/>
                    <a:gd name="T14" fmla="*/ 0 w 115"/>
                    <a:gd name="T15" fmla="*/ 0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15"/>
                    <a:gd name="T25" fmla="*/ 0 h 148"/>
                    <a:gd name="T26" fmla="*/ 115 w 115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15" h="148">
                      <a:moveTo>
                        <a:pt x="46" y="148"/>
                      </a:moveTo>
                      <a:lnTo>
                        <a:pt x="0" y="63"/>
                      </a:lnTo>
                      <a:lnTo>
                        <a:pt x="6" y="47"/>
                      </a:lnTo>
                      <a:lnTo>
                        <a:pt x="11" y="30"/>
                      </a:lnTo>
                      <a:lnTo>
                        <a:pt x="16" y="17"/>
                      </a:lnTo>
                      <a:lnTo>
                        <a:pt x="25" y="0"/>
                      </a:lnTo>
                      <a:lnTo>
                        <a:pt x="115" y="148"/>
                      </a:lnTo>
                      <a:lnTo>
                        <a:pt x="46" y="148"/>
                      </a:lnTo>
                      <a:close/>
                    </a:path>
                  </a:pathLst>
                </a:custGeom>
                <a:solidFill>
                  <a:srgbClr val="B7593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76" name="Freeform 325"/>
                <p:cNvSpPr>
                  <a:spLocks/>
                </p:cNvSpPr>
                <p:nvPr/>
              </p:nvSpPr>
              <p:spPr bwMode="auto">
                <a:xfrm>
                  <a:off x="4852" y="1539"/>
                  <a:ext cx="34" cy="45"/>
                </a:xfrm>
                <a:custGeom>
                  <a:avLst/>
                  <a:gdLst>
                    <a:gd name="T0" fmla="*/ 0 w 136"/>
                    <a:gd name="T1" fmla="*/ 0 h 178"/>
                    <a:gd name="T2" fmla="*/ 0 w 136"/>
                    <a:gd name="T3" fmla="*/ 0 h 178"/>
                    <a:gd name="T4" fmla="*/ 0 w 136"/>
                    <a:gd name="T5" fmla="*/ 0 h 178"/>
                    <a:gd name="T6" fmla="*/ 0 w 136"/>
                    <a:gd name="T7" fmla="*/ 0 h 178"/>
                    <a:gd name="T8" fmla="*/ 0 w 136"/>
                    <a:gd name="T9" fmla="*/ 0 h 178"/>
                    <a:gd name="T10" fmla="*/ 0 w 136"/>
                    <a:gd name="T11" fmla="*/ 0 h 178"/>
                    <a:gd name="T12" fmla="*/ 0 w 136"/>
                    <a:gd name="T13" fmla="*/ 0 h 178"/>
                    <a:gd name="T14" fmla="*/ 0 w 136"/>
                    <a:gd name="T15" fmla="*/ 0 h 17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36"/>
                    <a:gd name="T25" fmla="*/ 0 h 178"/>
                    <a:gd name="T26" fmla="*/ 136 w 136"/>
                    <a:gd name="T27" fmla="*/ 178 h 17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36" h="178">
                      <a:moveTo>
                        <a:pt x="65" y="178"/>
                      </a:moveTo>
                      <a:lnTo>
                        <a:pt x="0" y="63"/>
                      </a:lnTo>
                      <a:lnTo>
                        <a:pt x="8" y="44"/>
                      </a:lnTo>
                      <a:lnTo>
                        <a:pt x="16" y="28"/>
                      </a:lnTo>
                      <a:lnTo>
                        <a:pt x="21" y="14"/>
                      </a:lnTo>
                      <a:lnTo>
                        <a:pt x="30" y="0"/>
                      </a:lnTo>
                      <a:lnTo>
                        <a:pt x="136" y="178"/>
                      </a:lnTo>
                      <a:lnTo>
                        <a:pt x="65" y="178"/>
                      </a:lnTo>
                      <a:close/>
                    </a:path>
                  </a:pathLst>
                </a:custGeom>
                <a:solidFill>
                  <a:srgbClr val="B75B3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77" name="Freeform 326"/>
                <p:cNvSpPr>
                  <a:spLocks/>
                </p:cNvSpPr>
                <p:nvPr/>
              </p:nvSpPr>
              <p:spPr bwMode="auto">
                <a:xfrm>
                  <a:off x="4856" y="1532"/>
                  <a:ext cx="36" cy="52"/>
                </a:xfrm>
                <a:custGeom>
                  <a:avLst/>
                  <a:gdLst>
                    <a:gd name="T0" fmla="*/ 0 w 143"/>
                    <a:gd name="T1" fmla="*/ 0 h 208"/>
                    <a:gd name="T2" fmla="*/ 0 w 143"/>
                    <a:gd name="T3" fmla="*/ 0 h 208"/>
                    <a:gd name="T4" fmla="*/ 0 w 143"/>
                    <a:gd name="T5" fmla="*/ 0 h 208"/>
                    <a:gd name="T6" fmla="*/ 0 w 143"/>
                    <a:gd name="T7" fmla="*/ 0 h 208"/>
                    <a:gd name="T8" fmla="*/ 0 w 143"/>
                    <a:gd name="T9" fmla="*/ 0 h 208"/>
                    <a:gd name="T10" fmla="*/ 0 w 143"/>
                    <a:gd name="T11" fmla="*/ 0 h 208"/>
                    <a:gd name="T12" fmla="*/ 0 w 143"/>
                    <a:gd name="T13" fmla="*/ 0 h 208"/>
                    <a:gd name="T14" fmla="*/ 0 w 143"/>
                    <a:gd name="T15" fmla="*/ 0 h 208"/>
                    <a:gd name="T16" fmla="*/ 0 w 143"/>
                    <a:gd name="T17" fmla="*/ 0 h 208"/>
                    <a:gd name="T18" fmla="*/ 0 w 143"/>
                    <a:gd name="T19" fmla="*/ 0 h 208"/>
                    <a:gd name="T20" fmla="*/ 0 w 143"/>
                    <a:gd name="T21" fmla="*/ 0 h 208"/>
                    <a:gd name="T22" fmla="*/ 0 w 143"/>
                    <a:gd name="T23" fmla="*/ 0 h 20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143"/>
                    <a:gd name="T37" fmla="*/ 0 h 208"/>
                    <a:gd name="T38" fmla="*/ 143 w 143"/>
                    <a:gd name="T39" fmla="*/ 208 h 208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143" h="208">
                      <a:moveTo>
                        <a:pt x="90" y="208"/>
                      </a:moveTo>
                      <a:lnTo>
                        <a:pt x="0" y="60"/>
                      </a:lnTo>
                      <a:lnTo>
                        <a:pt x="10" y="44"/>
                      </a:lnTo>
                      <a:lnTo>
                        <a:pt x="19" y="30"/>
                      </a:lnTo>
                      <a:lnTo>
                        <a:pt x="27" y="17"/>
                      </a:lnTo>
                      <a:lnTo>
                        <a:pt x="32" y="0"/>
                      </a:lnTo>
                      <a:lnTo>
                        <a:pt x="143" y="185"/>
                      </a:lnTo>
                      <a:lnTo>
                        <a:pt x="141" y="190"/>
                      </a:lnTo>
                      <a:lnTo>
                        <a:pt x="138" y="196"/>
                      </a:lnTo>
                      <a:lnTo>
                        <a:pt x="136" y="201"/>
                      </a:lnTo>
                      <a:lnTo>
                        <a:pt x="136" y="208"/>
                      </a:lnTo>
                      <a:lnTo>
                        <a:pt x="90" y="208"/>
                      </a:lnTo>
                      <a:close/>
                    </a:path>
                  </a:pathLst>
                </a:custGeom>
                <a:solidFill>
                  <a:srgbClr val="BA5E3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78" name="Freeform 327"/>
                <p:cNvSpPr>
                  <a:spLocks/>
                </p:cNvSpPr>
                <p:nvPr/>
              </p:nvSpPr>
              <p:spPr bwMode="auto">
                <a:xfrm>
                  <a:off x="4860" y="1526"/>
                  <a:ext cx="34" cy="58"/>
                </a:xfrm>
                <a:custGeom>
                  <a:avLst/>
                  <a:gdLst>
                    <a:gd name="T0" fmla="*/ 0 w 139"/>
                    <a:gd name="T1" fmla="*/ 0 h 232"/>
                    <a:gd name="T2" fmla="*/ 0 w 139"/>
                    <a:gd name="T3" fmla="*/ 0 h 232"/>
                    <a:gd name="T4" fmla="*/ 0 w 139"/>
                    <a:gd name="T5" fmla="*/ 0 h 232"/>
                    <a:gd name="T6" fmla="*/ 0 w 139"/>
                    <a:gd name="T7" fmla="*/ 0 h 232"/>
                    <a:gd name="T8" fmla="*/ 0 w 139"/>
                    <a:gd name="T9" fmla="*/ 0 h 232"/>
                    <a:gd name="T10" fmla="*/ 0 w 139"/>
                    <a:gd name="T11" fmla="*/ 0 h 232"/>
                    <a:gd name="T12" fmla="*/ 0 w 139"/>
                    <a:gd name="T13" fmla="*/ 0 h 232"/>
                    <a:gd name="T14" fmla="*/ 0 w 139"/>
                    <a:gd name="T15" fmla="*/ 0 h 232"/>
                    <a:gd name="T16" fmla="*/ 0 w 139"/>
                    <a:gd name="T17" fmla="*/ 0 h 232"/>
                    <a:gd name="T18" fmla="*/ 0 w 139"/>
                    <a:gd name="T19" fmla="*/ 0 h 232"/>
                    <a:gd name="T20" fmla="*/ 0 w 139"/>
                    <a:gd name="T21" fmla="*/ 0 h 232"/>
                    <a:gd name="T22" fmla="*/ 0 w 139"/>
                    <a:gd name="T23" fmla="*/ 0 h 232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139"/>
                    <a:gd name="T37" fmla="*/ 0 h 232"/>
                    <a:gd name="T38" fmla="*/ 139 w 139"/>
                    <a:gd name="T39" fmla="*/ 232 h 232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139" h="232">
                      <a:moveTo>
                        <a:pt x="106" y="232"/>
                      </a:moveTo>
                      <a:lnTo>
                        <a:pt x="0" y="54"/>
                      </a:lnTo>
                      <a:lnTo>
                        <a:pt x="8" y="41"/>
                      </a:lnTo>
                      <a:lnTo>
                        <a:pt x="19" y="27"/>
                      </a:lnTo>
                      <a:lnTo>
                        <a:pt x="27" y="13"/>
                      </a:lnTo>
                      <a:lnTo>
                        <a:pt x="35" y="0"/>
                      </a:lnTo>
                      <a:lnTo>
                        <a:pt x="139" y="177"/>
                      </a:lnTo>
                      <a:lnTo>
                        <a:pt x="132" y="190"/>
                      </a:lnTo>
                      <a:lnTo>
                        <a:pt x="130" y="202"/>
                      </a:lnTo>
                      <a:lnTo>
                        <a:pt x="125" y="214"/>
                      </a:lnTo>
                      <a:lnTo>
                        <a:pt x="120" y="232"/>
                      </a:lnTo>
                      <a:lnTo>
                        <a:pt x="106" y="232"/>
                      </a:lnTo>
                      <a:close/>
                    </a:path>
                  </a:pathLst>
                </a:custGeom>
                <a:solidFill>
                  <a:srgbClr val="BA603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79" name="Freeform 328"/>
                <p:cNvSpPr>
                  <a:spLocks/>
                </p:cNvSpPr>
                <p:nvPr/>
              </p:nvSpPr>
              <p:spPr bwMode="auto">
                <a:xfrm>
                  <a:off x="4864" y="1520"/>
                  <a:ext cx="34" cy="58"/>
                </a:xfrm>
                <a:custGeom>
                  <a:avLst/>
                  <a:gdLst>
                    <a:gd name="T0" fmla="*/ 0 w 139"/>
                    <a:gd name="T1" fmla="*/ 0 h 231"/>
                    <a:gd name="T2" fmla="*/ 0 w 139"/>
                    <a:gd name="T3" fmla="*/ 0 h 231"/>
                    <a:gd name="T4" fmla="*/ 0 w 139"/>
                    <a:gd name="T5" fmla="*/ 0 h 231"/>
                    <a:gd name="T6" fmla="*/ 0 w 139"/>
                    <a:gd name="T7" fmla="*/ 0 h 231"/>
                    <a:gd name="T8" fmla="*/ 0 w 139"/>
                    <a:gd name="T9" fmla="*/ 0 h 231"/>
                    <a:gd name="T10" fmla="*/ 0 w 139"/>
                    <a:gd name="T11" fmla="*/ 0 h 231"/>
                    <a:gd name="T12" fmla="*/ 0 w 139"/>
                    <a:gd name="T13" fmla="*/ 0 h 231"/>
                    <a:gd name="T14" fmla="*/ 0 w 139"/>
                    <a:gd name="T15" fmla="*/ 0 h 231"/>
                    <a:gd name="T16" fmla="*/ 0 w 139"/>
                    <a:gd name="T17" fmla="*/ 0 h 231"/>
                    <a:gd name="T18" fmla="*/ 0 w 139"/>
                    <a:gd name="T19" fmla="*/ 0 h 231"/>
                    <a:gd name="T20" fmla="*/ 0 w 139"/>
                    <a:gd name="T21" fmla="*/ 0 h 23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39"/>
                    <a:gd name="T34" fmla="*/ 0 h 231"/>
                    <a:gd name="T35" fmla="*/ 139 w 139"/>
                    <a:gd name="T36" fmla="*/ 231 h 23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39" h="231">
                      <a:moveTo>
                        <a:pt x="111" y="231"/>
                      </a:moveTo>
                      <a:lnTo>
                        <a:pt x="0" y="46"/>
                      </a:lnTo>
                      <a:lnTo>
                        <a:pt x="8" y="35"/>
                      </a:lnTo>
                      <a:lnTo>
                        <a:pt x="19" y="22"/>
                      </a:lnTo>
                      <a:lnTo>
                        <a:pt x="30" y="11"/>
                      </a:lnTo>
                      <a:lnTo>
                        <a:pt x="38" y="0"/>
                      </a:lnTo>
                      <a:lnTo>
                        <a:pt x="139" y="169"/>
                      </a:lnTo>
                      <a:lnTo>
                        <a:pt x="134" y="185"/>
                      </a:lnTo>
                      <a:lnTo>
                        <a:pt x="125" y="201"/>
                      </a:lnTo>
                      <a:lnTo>
                        <a:pt x="116" y="215"/>
                      </a:lnTo>
                      <a:lnTo>
                        <a:pt x="111" y="231"/>
                      </a:lnTo>
                      <a:close/>
                    </a:path>
                  </a:pathLst>
                </a:custGeom>
                <a:solidFill>
                  <a:srgbClr val="BA60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80" name="Freeform 329"/>
                <p:cNvSpPr>
                  <a:spLocks/>
                </p:cNvSpPr>
                <p:nvPr/>
              </p:nvSpPr>
              <p:spPr bwMode="auto">
                <a:xfrm>
                  <a:off x="4869" y="1516"/>
                  <a:ext cx="34" cy="54"/>
                </a:xfrm>
                <a:custGeom>
                  <a:avLst/>
                  <a:gdLst>
                    <a:gd name="T0" fmla="*/ 0 w 139"/>
                    <a:gd name="T1" fmla="*/ 0 h 217"/>
                    <a:gd name="T2" fmla="*/ 0 w 139"/>
                    <a:gd name="T3" fmla="*/ 0 h 217"/>
                    <a:gd name="T4" fmla="*/ 0 w 139"/>
                    <a:gd name="T5" fmla="*/ 0 h 217"/>
                    <a:gd name="T6" fmla="*/ 0 w 139"/>
                    <a:gd name="T7" fmla="*/ 0 h 217"/>
                    <a:gd name="T8" fmla="*/ 0 w 139"/>
                    <a:gd name="T9" fmla="*/ 0 h 217"/>
                    <a:gd name="T10" fmla="*/ 0 w 139"/>
                    <a:gd name="T11" fmla="*/ 0 h 217"/>
                    <a:gd name="T12" fmla="*/ 0 w 139"/>
                    <a:gd name="T13" fmla="*/ 0 h 217"/>
                    <a:gd name="T14" fmla="*/ 0 w 139"/>
                    <a:gd name="T15" fmla="*/ 0 h 217"/>
                    <a:gd name="T16" fmla="*/ 0 w 139"/>
                    <a:gd name="T17" fmla="*/ 0 h 217"/>
                    <a:gd name="T18" fmla="*/ 0 w 139"/>
                    <a:gd name="T19" fmla="*/ 0 h 217"/>
                    <a:gd name="T20" fmla="*/ 0 w 139"/>
                    <a:gd name="T21" fmla="*/ 0 h 2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39"/>
                    <a:gd name="T34" fmla="*/ 0 h 217"/>
                    <a:gd name="T35" fmla="*/ 139 w 139"/>
                    <a:gd name="T36" fmla="*/ 217 h 2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39" h="217">
                      <a:moveTo>
                        <a:pt x="104" y="217"/>
                      </a:moveTo>
                      <a:lnTo>
                        <a:pt x="0" y="40"/>
                      </a:lnTo>
                      <a:lnTo>
                        <a:pt x="11" y="29"/>
                      </a:lnTo>
                      <a:lnTo>
                        <a:pt x="22" y="18"/>
                      </a:lnTo>
                      <a:lnTo>
                        <a:pt x="32" y="7"/>
                      </a:lnTo>
                      <a:lnTo>
                        <a:pt x="44" y="0"/>
                      </a:lnTo>
                      <a:lnTo>
                        <a:pt x="139" y="162"/>
                      </a:lnTo>
                      <a:lnTo>
                        <a:pt x="131" y="176"/>
                      </a:lnTo>
                      <a:lnTo>
                        <a:pt x="122" y="189"/>
                      </a:lnTo>
                      <a:lnTo>
                        <a:pt x="115" y="203"/>
                      </a:lnTo>
                      <a:lnTo>
                        <a:pt x="104" y="217"/>
                      </a:lnTo>
                      <a:close/>
                    </a:path>
                  </a:pathLst>
                </a:custGeom>
                <a:solidFill>
                  <a:srgbClr val="BC63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81" name="Freeform 330"/>
                <p:cNvSpPr>
                  <a:spLocks/>
                </p:cNvSpPr>
                <p:nvPr/>
              </p:nvSpPr>
              <p:spPr bwMode="auto">
                <a:xfrm>
                  <a:off x="4873" y="1510"/>
                  <a:ext cx="35" cy="53"/>
                </a:xfrm>
                <a:custGeom>
                  <a:avLst/>
                  <a:gdLst>
                    <a:gd name="T0" fmla="*/ 0 w 138"/>
                    <a:gd name="T1" fmla="*/ 0 h 210"/>
                    <a:gd name="T2" fmla="*/ 0 w 138"/>
                    <a:gd name="T3" fmla="*/ 0 h 210"/>
                    <a:gd name="T4" fmla="*/ 0 w 138"/>
                    <a:gd name="T5" fmla="*/ 0 h 210"/>
                    <a:gd name="T6" fmla="*/ 0 w 138"/>
                    <a:gd name="T7" fmla="*/ 0 h 210"/>
                    <a:gd name="T8" fmla="*/ 0 w 138"/>
                    <a:gd name="T9" fmla="*/ 0 h 210"/>
                    <a:gd name="T10" fmla="*/ 0 w 138"/>
                    <a:gd name="T11" fmla="*/ 0 h 210"/>
                    <a:gd name="T12" fmla="*/ 0 w 138"/>
                    <a:gd name="T13" fmla="*/ 0 h 210"/>
                    <a:gd name="T14" fmla="*/ 0 w 138"/>
                    <a:gd name="T15" fmla="*/ 0 h 210"/>
                    <a:gd name="T16" fmla="*/ 0 w 138"/>
                    <a:gd name="T17" fmla="*/ 0 h 210"/>
                    <a:gd name="T18" fmla="*/ 0 w 138"/>
                    <a:gd name="T19" fmla="*/ 0 h 210"/>
                    <a:gd name="T20" fmla="*/ 0 w 138"/>
                    <a:gd name="T21" fmla="*/ 0 h 21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38"/>
                    <a:gd name="T34" fmla="*/ 0 h 210"/>
                    <a:gd name="T35" fmla="*/ 138 w 138"/>
                    <a:gd name="T36" fmla="*/ 210 h 210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38" h="210">
                      <a:moveTo>
                        <a:pt x="101" y="210"/>
                      </a:moveTo>
                      <a:lnTo>
                        <a:pt x="0" y="41"/>
                      </a:lnTo>
                      <a:lnTo>
                        <a:pt x="11" y="30"/>
                      </a:lnTo>
                      <a:lnTo>
                        <a:pt x="22" y="20"/>
                      </a:lnTo>
                      <a:lnTo>
                        <a:pt x="32" y="9"/>
                      </a:lnTo>
                      <a:lnTo>
                        <a:pt x="43" y="0"/>
                      </a:lnTo>
                      <a:lnTo>
                        <a:pt x="138" y="159"/>
                      </a:lnTo>
                      <a:lnTo>
                        <a:pt x="128" y="172"/>
                      </a:lnTo>
                      <a:lnTo>
                        <a:pt x="120" y="185"/>
                      </a:lnTo>
                      <a:lnTo>
                        <a:pt x="108" y="196"/>
                      </a:lnTo>
                      <a:lnTo>
                        <a:pt x="101" y="210"/>
                      </a:lnTo>
                      <a:close/>
                    </a:path>
                  </a:pathLst>
                </a:custGeom>
                <a:solidFill>
                  <a:srgbClr val="BC664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82" name="Freeform 331"/>
                <p:cNvSpPr>
                  <a:spLocks/>
                </p:cNvSpPr>
                <p:nvPr/>
              </p:nvSpPr>
              <p:spPr bwMode="auto">
                <a:xfrm>
                  <a:off x="4879" y="1506"/>
                  <a:ext cx="33" cy="50"/>
                </a:xfrm>
                <a:custGeom>
                  <a:avLst/>
                  <a:gdLst>
                    <a:gd name="T0" fmla="*/ 0 w 130"/>
                    <a:gd name="T1" fmla="*/ 0 h 201"/>
                    <a:gd name="T2" fmla="*/ 0 w 130"/>
                    <a:gd name="T3" fmla="*/ 0 h 201"/>
                    <a:gd name="T4" fmla="*/ 0 w 130"/>
                    <a:gd name="T5" fmla="*/ 0 h 201"/>
                    <a:gd name="T6" fmla="*/ 0 w 130"/>
                    <a:gd name="T7" fmla="*/ 0 h 201"/>
                    <a:gd name="T8" fmla="*/ 0 w 130"/>
                    <a:gd name="T9" fmla="*/ 0 h 201"/>
                    <a:gd name="T10" fmla="*/ 0 w 130"/>
                    <a:gd name="T11" fmla="*/ 0 h 201"/>
                    <a:gd name="T12" fmla="*/ 0 w 130"/>
                    <a:gd name="T13" fmla="*/ 0 h 201"/>
                    <a:gd name="T14" fmla="*/ 0 w 130"/>
                    <a:gd name="T15" fmla="*/ 0 h 201"/>
                    <a:gd name="T16" fmla="*/ 0 w 130"/>
                    <a:gd name="T17" fmla="*/ 0 h 201"/>
                    <a:gd name="T18" fmla="*/ 0 w 130"/>
                    <a:gd name="T19" fmla="*/ 0 h 201"/>
                    <a:gd name="T20" fmla="*/ 0 w 130"/>
                    <a:gd name="T21" fmla="*/ 0 h 20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30"/>
                    <a:gd name="T34" fmla="*/ 0 h 201"/>
                    <a:gd name="T35" fmla="*/ 130 w 130"/>
                    <a:gd name="T36" fmla="*/ 201 h 20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30" h="201">
                      <a:moveTo>
                        <a:pt x="95" y="201"/>
                      </a:moveTo>
                      <a:lnTo>
                        <a:pt x="0" y="39"/>
                      </a:lnTo>
                      <a:lnTo>
                        <a:pt x="7" y="27"/>
                      </a:lnTo>
                      <a:lnTo>
                        <a:pt x="18" y="16"/>
                      </a:lnTo>
                      <a:lnTo>
                        <a:pt x="30" y="9"/>
                      </a:lnTo>
                      <a:lnTo>
                        <a:pt x="41" y="0"/>
                      </a:lnTo>
                      <a:lnTo>
                        <a:pt x="130" y="150"/>
                      </a:lnTo>
                      <a:lnTo>
                        <a:pt x="122" y="163"/>
                      </a:lnTo>
                      <a:lnTo>
                        <a:pt x="113" y="175"/>
                      </a:lnTo>
                      <a:lnTo>
                        <a:pt x="103" y="188"/>
                      </a:lnTo>
                      <a:lnTo>
                        <a:pt x="95" y="201"/>
                      </a:lnTo>
                      <a:close/>
                    </a:path>
                  </a:pathLst>
                </a:custGeom>
                <a:solidFill>
                  <a:srgbClr val="BC684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83" name="Freeform 332"/>
                <p:cNvSpPr>
                  <a:spLocks/>
                </p:cNvSpPr>
                <p:nvPr/>
              </p:nvSpPr>
              <p:spPr bwMode="auto">
                <a:xfrm>
                  <a:off x="4884" y="1501"/>
                  <a:ext cx="33" cy="49"/>
                </a:xfrm>
                <a:custGeom>
                  <a:avLst/>
                  <a:gdLst>
                    <a:gd name="T0" fmla="*/ 0 w 131"/>
                    <a:gd name="T1" fmla="*/ 0 h 196"/>
                    <a:gd name="T2" fmla="*/ 0 w 131"/>
                    <a:gd name="T3" fmla="*/ 0 h 196"/>
                    <a:gd name="T4" fmla="*/ 0 w 131"/>
                    <a:gd name="T5" fmla="*/ 0 h 196"/>
                    <a:gd name="T6" fmla="*/ 0 w 131"/>
                    <a:gd name="T7" fmla="*/ 0 h 196"/>
                    <a:gd name="T8" fmla="*/ 0 w 131"/>
                    <a:gd name="T9" fmla="*/ 0 h 196"/>
                    <a:gd name="T10" fmla="*/ 0 w 131"/>
                    <a:gd name="T11" fmla="*/ 0 h 196"/>
                    <a:gd name="T12" fmla="*/ 0 w 131"/>
                    <a:gd name="T13" fmla="*/ 0 h 196"/>
                    <a:gd name="T14" fmla="*/ 0 w 131"/>
                    <a:gd name="T15" fmla="*/ 0 h 196"/>
                    <a:gd name="T16" fmla="*/ 0 w 131"/>
                    <a:gd name="T17" fmla="*/ 0 h 196"/>
                    <a:gd name="T18" fmla="*/ 0 w 131"/>
                    <a:gd name="T19" fmla="*/ 0 h 196"/>
                    <a:gd name="T20" fmla="*/ 0 w 131"/>
                    <a:gd name="T21" fmla="*/ 0 h 1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31"/>
                    <a:gd name="T34" fmla="*/ 0 h 196"/>
                    <a:gd name="T35" fmla="*/ 131 w 131"/>
                    <a:gd name="T36" fmla="*/ 196 h 1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31" h="196">
                      <a:moveTo>
                        <a:pt x="95" y="196"/>
                      </a:moveTo>
                      <a:lnTo>
                        <a:pt x="0" y="37"/>
                      </a:lnTo>
                      <a:lnTo>
                        <a:pt x="12" y="27"/>
                      </a:lnTo>
                      <a:lnTo>
                        <a:pt x="23" y="18"/>
                      </a:lnTo>
                      <a:lnTo>
                        <a:pt x="35" y="11"/>
                      </a:lnTo>
                      <a:lnTo>
                        <a:pt x="47" y="0"/>
                      </a:lnTo>
                      <a:lnTo>
                        <a:pt x="131" y="146"/>
                      </a:lnTo>
                      <a:lnTo>
                        <a:pt x="123" y="157"/>
                      </a:lnTo>
                      <a:lnTo>
                        <a:pt x="112" y="171"/>
                      </a:lnTo>
                      <a:lnTo>
                        <a:pt x="104" y="182"/>
                      </a:lnTo>
                      <a:lnTo>
                        <a:pt x="95" y="196"/>
                      </a:lnTo>
                      <a:close/>
                    </a:path>
                  </a:pathLst>
                </a:custGeom>
                <a:solidFill>
                  <a:srgbClr val="BF6B4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84" name="Freeform 333"/>
                <p:cNvSpPr>
                  <a:spLocks/>
                </p:cNvSpPr>
                <p:nvPr/>
              </p:nvSpPr>
              <p:spPr bwMode="auto">
                <a:xfrm>
                  <a:off x="4890" y="1496"/>
                  <a:ext cx="31" cy="48"/>
                </a:xfrm>
                <a:custGeom>
                  <a:avLst/>
                  <a:gdLst>
                    <a:gd name="T0" fmla="*/ 0 w 127"/>
                    <a:gd name="T1" fmla="*/ 0 h 188"/>
                    <a:gd name="T2" fmla="*/ 0 w 127"/>
                    <a:gd name="T3" fmla="*/ 0 h 188"/>
                    <a:gd name="T4" fmla="*/ 0 w 127"/>
                    <a:gd name="T5" fmla="*/ 0 h 188"/>
                    <a:gd name="T6" fmla="*/ 0 w 127"/>
                    <a:gd name="T7" fmla="*/ 0 h 188"/>
                    <a:gd name="T8" fmla="*/ 0 w 127"/>
                    <a:gd name="T9" fmla="*/ 0 h 188"/>
                    <a:gd name="T10" fmla="*/ 0 w 127"/>
                    <a:gd name="T11" fmla="*/ 0 h 188"/>
                    <a:gd name="T12" fmla="*/ 0 w 127"/>
                    <a:gd name="T13" fmla="*/ 0 h 188"/>
                    <a:gd name="T14" fmla="*/ 0 w 127"/>
                    <a:gd name="T15" fmla="*/ 0 h 188"/>
                    <a:gd name="T16" fmla="*/ 0 w 127"/>
                    <a:gd name="T17" fmla="*/ 0 h 188"/>
                    <a:gd name="T18" fmla="*/ 0 w 127"/>
                    <a:gd name="T19" fmla="*/ 0 h 188"/>
                    <a:gd name="T20" fmla="*/ 0 w 127"/>
                    <a:gd name="T21" fmla="*/ 0 h 18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7"/>
                    <a:gd name="T34" fmla="*/ 0 h 188"/>
                    <a:gd name="T35" fmla="*/ 127 w 127"/>
                    <a:gd name="T36" fmla="*/ 188 h 18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7" h="188">
                      <a:moveTo>
                        <a:pt x="89" y="188"/>
                      </a:moveTo>
                      <a:lnTo>
                        <a:pt x="0" y="38"/>
                      </a:lnTo>
                      <a:lnTo>
                        <a:pt x="10" y="28"/>
                      </a:lnTo>
                      <a:lnTo>
                        <a:pt x="24" y="19"/>
                      </a:lnTo>
                      <a:lnTo>
                        <a:pt x="35" y="8"/>
                      </a:lnTo>
                      <a:lnTo>
                        <a:pt x="46" y="0"/>
                      </a:lnTo>
                      <a:lnTo>
                        <a:pt x="127" y="147"/>
                      </a:lnTo>
                      <a:lnTo>
                        <a:pt x="118" y="155"/>
                      </a:lnTo>
                      <a:lnTo>
                        <a:pt x="108" y="166"/>
                      </a:lnTo>
                      <a:lnTo>
                        <a:pt x="97" y="177"/>
                      </a:lnTo>
                      <a:lnTo>
                        <a:pt x="89" y="188"/>
                      </a:lnTo>
                      <a:close/>
                    </a:path>
                  </a:pathLst>
                </a:custGeom>
                <a:solidFill>
                  <a:srgbClr val="BF6D4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85" name="Freeform 334"/>
                <p:cNvSpPr>
                  <a:spLocks/>
                </p:cNvSpPr>
                <p:nvPr/>
              </p:nvSpPr>
              <p:spPr bwMode="auto">
                <a:xfrm>
                  <a:off x="4896" y="1493"/>
                  <a:ext cx="32" cy="44"/>
                </a:xfrm>
                <a:custGeom>
                  <a:avLst/>
                  <a:gdLst>
                    <a:gd name="T0" fmla="*/ 0 w 127"/>
                    <a:gd name="T1" fmla="*/ 0 h 176"/>
                    <a:gd name="T2" fmla="*/ 0 w 127"/>
                    <a:gd name="T3" fmla="*/ 0 h 176"/>
                    <a:gd name="T4" fmla="*/ 0 w 127"/>
                    <a:gd name="T5" fmla="*/ 0 h 176"/>
                    <a:gd name="T6" fmla="*/ 0 w 127"/>
                    <a:gd name="T7" fmla="*/ 0 h 176"/>
                    <a:gd name="T8" fmla="*/ 0 w 127"/>
                    <a:gd name="T9" fmla="*/ 0 h 176"/>
                    <a:gd name="T10" fmla="*/ 0 w 127"/>
                    <a:gd name="T11" fmla="*/ 0 h 176"/>
                    <a:gd name="T12" fmla="*/ 0 w 127"/>
                    <a:gd name="T13" fmla="*/ 0 h 176"/>
                    <a:gd name="T14" fmla="*/ 0 w 127"/>
                    <a:gd name="T15" fmla="*/ 0 h 176"/>
                    <a:gd name="T16" fmla="*/ 0 w 127"/>
                    <a:gd name="T17" fmla="*/ 0 h 176"/>
                    <a:gd name="T18" fmla="*/ 0 w 127"/>
                    <a:gd name="T19" fmla="*/ 0 h 176"/>
                    <a:gd name="T20" fmla="*/ 0 w 127"/>
                    <a:gd name="T21" fmla="*/ 0 h 17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7"/>
                    <a:gd name="T34" fmla="*/ 0 h 176"/>
                    <a:gd name="T35" fmla="*/ 127 w 127"/>
                    <a:gd name="T36" fmla="*/ 176 h 17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7" h="176">
                      <a:moveTo>
                        <a:pt x="84" y="176"/>
                      </a:moveTo>
                      <a:lnTo>
                        <a:pt x="0" y="30"/>
                      </a:lnTo>
                      <a:lnTo>
                        <a:pt x="11" y="21"/>
                      </a:lnTo>
                      <a:lnTo>
                        <a:pt x="22" y="13"/>
                      </a:lnTo>
                      <a:lnTo>
                        <a:pt x="36" y="7"/>
                      </a:lnTo>
                      <a:lnTo>
                        <a:pt x="48" y="0"/>
                      </a:lnTo>
                      <a:lnTo>
                        <a:pt x="127" y="138"/>
                      </a:lnTo>
                      <a:lnTo>
                        <a:pt x="117" y="149"/>
                      </a:lnTo>
                      <a:lnTo>
                        <a:pt x="106" y="157"/>
                      </a:lnTo>
                      <a:lnTo>
                        <a:pt x="94" y="166"/>
                      </a:lnTo>
                      <a:lnTo>
                        <a:pt x="84" y="176"/>
                      </a:lnTo>
                      <a:close/>
                    </a:path>
                  </a:pathLst>
                </a:custGeom>
                <a:solidFill>
                  <a:srgbClr val="C1704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86" name="Freeform 335"/>
                <p:cNvSpPr>
                  <a:spLocks/>
                </p:cNvSpPr>
                <p:nvPr/>
              </p:nvSpPr>
              <p:spPr bwMode="auto">
                <a:xfrm>
                  <a:off x="4901" y="1491"/>
                  <a:ext cx="32" cy="42"/>
                </a:xfrm>
                <a:custGeom>
                  <a:avLst/>
                  <a:gdLst>
                    <a:gd name="T0" fmla="*/ 0 w 127"/>
                    <a:gd name="T1" fmla="*/ 0 h 171"/>
                    <a:gd name="T2" fmla="*/ 0 w 127"/>
                    <a:gd name="T3" fmla="*/ 0 h 171"/>
                    <a:gd name="T4" fmla="*/ 0 w 127"/>
                    <a:gd name="T5" fmla="*/ 0 h 171"/>
                    <a:gd name="T6" fmla="*/ 0 w 127"/>
                    <a:gd name="T7" fmla="*/ 0 h 171"/>
                    <a:gd name="T8" fmla="*/ 0 w 127"/>
                    <a:gd name="T9" fmla="*/ 0 h 171"/>
                    <a:gd name="T10" fmla="*/ 0 w 127"/>
                    <a:gd name="T11" fmla="*/ 0 h 171"/>
                    <a:gd name="T12" fmla="*/ 0 w 127"/>
                    <a:gd name="T13" fmla="*/ 0 h 171"/>
                    <a:gd name="T14" fmla="*/ 0 w 127"/>
                    <a:gd name="T15" fmla="*/ 0 h 171"/>
                    <a:gd name="T16" fmla="*/ 0 w 127"/>
                    <a:gd name="T17" fmla="*/ 0 h 171"/>
                    <a:gd name="T18" fmla="*/ 0 w 127"/>
                    <a:gd name="T19" fmla="*/ 0 h 171"/>
                    <a:gd name="T20" fmla="*/ 0 w 127"/>
                    <a:gd name="T21" fmla="*/ 0 h 17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7"/>
                    <a:gd name="T34" fmla="*/ 0 h 171"/>
                    <a:gd name="T35" fmla="*/ 127 w 127"/>
                    <a:gd name="T36" fmla="*/ 171 h 17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7" h="171">
                      <a:moveTo>
                        <a:pt x="81" y="171"/>
                      </a:moveTo>
                      <a:lnTo>
                        <a:pt x="0" y="24"/>
                      </a:lnTo>
                      <a:lnTo>
                        <a:pt x="14" y="18"/>
                      </a:lnTo>
                      <a:lnTo>
                        <a:pt x="24" y="11"/>
                      </a:lnTo>
                      <a:lnTo>
                        <a:pt x="37" y="6"/>
                      </a:lnTo>
                      <a:lnTo>
                        <a:pt x="51" y="0"/>
                      </a:lnTo>
                      <a:lnTo>
                        <a:pt x="127" y="128"/>
                      </a:lnTo>
                      <a:lnTo>
                        <a:pt x="116" y="138"/>
                      </a:lnTo>
                      <a:lnTo>
                        <a:pt x="105" y="149"/>
                      </a:lnTo>
                      <a:lnTo>
                        <a:pt x="95" y="160"/>
                      </a:lnTo>
                      <a:lnTo>
                        <a:pt x="81" y="171"/>
                      </a:lnTo>
                      <a:close/>
                    </a:path>
                  </a:pathLst>
                </a:custGeom>
                <a:solidFill>
                  <a:srgbClr val="C1704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87" name="Freeform 336"/>
                <p:cNvSpPr>
                  <a:spLocks/>
                </p:cNvSpPr>
                <p:nvPr/>
              </p:nvSpPr>
              <p:spPr bwMode="auto">
                <a:xfrm>
                  <a:off x="4908" y="1487"/>
                  <a:ext cx="31" cy="41"/>
                </a:xfrm>
                <a:custGeom>
                  <a:avLst/>
                  <a:gdLst>
                    <a:gd name="T0" fmla="*/ 0 w 125"/>
                    <a:gd name="T1" fmla="*/ 0 h 163"/>
                    <a:gd name="T2" fmla="*/ 0 w 125"/>
                    <a:gd name="T3" fmla="*/ 0 h 163"/>
                    <a:gd name="T4" fmla="*/ 0 w 125"/>
                    <a:gd name="T5" fmla="*/ 0 h 163"/>
                    <a:gd name="T6" fmla="*/ 0 w 125"/>
                    <a:gd name="T7" fmla="*/ 0 h 163"/>
                    <a:gd name="T8" fmla="*/ 0 w 125"/>
                    <a:gd name="T9" fmla="*/ 0 h 163"/>
                    <a:gd name="T10" fmla="*/ 0 w 125"/>
                    <a:gd name="T11" fmla="*/ 0 h 163"/>
                    <a:gd name="T12" fmla="*/ 0 w 125"/>
                    <a:gd name="T13" fmla="*/ 0 h 163"/>
                    <a:gd name="T14" fmla="*/ 0 w 125"/>
                    <a:gd name="T15" fmla="*/ 0 h 163"/>
                    <a:gd name="T16" fmla="*/ 0 w 125"/>
                    <a:gd name="T17" fmla="*/ 0 h 163"/>
                    <a:gd name="T18" fmla="*/ 0 w 125"/>
                    <a:gd name="T19" fmla="*/ 0 h 163"/>
                    <a:gd name="T20" fmla="*/ 0 w 125"/>
                    <a:gd name="T21" fmla="*/ 0 h 163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5"/>
                    <a:gd name="T34" fmla="*/ 0 h 163"/>
                    <a:gd name="T35" fmla="*/ 125 w 125"/>
                    <a:gd name="T36" fmla="*/ 163 h 163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5" h="163">
                      <a:moveTo>
                        <a:pt x="79" y="163"/>
                      </a:moveTo>
                      <a:lnTo>
                        <a:pt x="0" y="25"/>
                      </a:lnTo>
                      <a:lnTo>
                        <a:pt x="11" y="20"/>
                      </a:lnTo>
                      <a:lnTo>
                        <a:pt x="25" y="11"/>
                      </a:lnTo>
                      <a:lnTo>
                        <a:pt x="36" y="6"/>
                      </a:lnTo>
                      <a:lnTo>
                        <a:pt x="46" y="0"/>
                      </a:lnTo>
                      <a:lnTo>
                        <a:pt x="125" y="125"/>
                      </a:lnTo>
                      <a:lnTo>
                        <a:pt x="115" y="133"/>
                      </a:lnTo>
                      <a:lnTo>
                        <a:pt x="101" y="144"/>
                      </a:lnTo>
                      <a:lnTo>
                        <a:pt x="90" y="152"/>
                      </a:lnTo>
                      <a:lnTo>
                        <a:pt x="79" y="163"/>
                      </a:lnTo>
                      <a:close/>
                    </a:path>
                  </a:pathLst>
                </a:custGeom>
                <a:solidFill>
                  <a:srgbClr val="C1724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88" name="Freeform 337"/>
                <p:cNvSpPr>
                  <a:spLocks/>
                </p:cNvSpPr>
                <p:nvPr/>
              </p:nvSpPr>
              <p:spPr bwMode="auto">
                <a:xfrm>
                  <a:off x="4914" y="1484"/>
                  <a:ext cx="30" cy="38"/>
                </a:xfrm>
                <a:custGeom>
                  <a:avLst/>
                  <a:gdLst>
                    <a:gd name="T0" fmla="*/ 0 w 122"/>
                    <a:gd name="T1" fmla="*/ 0 h 156"/>
                    <a:gd name="T2" fmla="*/ 0 w 122"/>
                    <a:gd name="T3" fmla="*/ 0 h 156"/>
                    <a:gd name="T4" fmla="*/ 0 w 122"/>
                    <a:gd name="T5" fmla="*/ 0 h 156"/>
                    <a:gd name="T6" fmla="*/ 0 w 122"/>
                    <a:gd name="T7" fmla="*/ 0 h 156"/>
                    <a:gd name="T8" fmla="*/ 0 w 122"/>
                    <a:gd name="T9" fmla="*/ 0 h 156"/>
                    <a:gd name="T10" fmla="*/ 0 w 122"/>
                    <a:gd name="T11" fmla="*/ 0 h 156"/>
                    <a:gd name="T12" fmla="*/ 0 w 122"/>
                    <a:gd name="T13" fmla="*/ 0 h 156"/>
                    <a:gd name="T14" fmla="*/ 0 w 122"/>
                    <a:gd name="T15" fmla="*/ 0 h 156"/>
                    <a:gd name="T16" fmla="*/ 0 w 122"/>
                    <a:gd name="T17" fmla="*/ 0 h 156"/>
                    <a:gd name="T18" fmla="*/ 0 w 122"/>
                    <a:gd name="T19" fmla="*/ 0 h 156"/>
                    <a:gd name="T20" fmla="*/ 0 w 122"/>
                    <a:gd name="T21" fmla="*/ 0 h 15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2"/>
                    <a:gd name="T34" fmla="*/ 0 h 156"/>
                    <a:gd name="T35" fmla="*/ 122 w 122"/>
                    <a:gd name="T36" fmla="*/ 156 h 15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2" h="156">
                      <a:moveTo>
                        <a:pt x="76" y="156"/>
                      </a:moveTo>
                      <a:lnTo>
                        <a:pt x="0" y="28"/>
                      </a:lnTo>
                      <a:lnTo>
                        <a:pt x="11" y="20"/>
                      </a:lnTo>
                      <a:lnTo>
                        <a:pt x="21" y="11"/>
                      </a:lnTo>
                      <a:lnTo>
                        <a:pt x="35" y="6"/>
                      </a:lnTo>
                      <a:lnTo>
                        <a:pt x="49" y="0"/>
                      </a:lnTo>
                      <a:lnTo>
                        <a:pt x="122" y="122"/>
                      </a:lnTo>
                      <a:lnTo>
                        <a:pt x="111" y="131"/>
                      </a:lnTo>
                      <a:lnTo>
                        <a:pt x="100" y="139"/>
                      </a:lnTo>
                      <a:lnTo>
                        <a:pt x="87" y="147"/>
                      </a:lnTo>
                      <a:lnTo>
                        <a:pt x="76" y="156"/>
                      </a:lnTo>
                      <a:close/>
                    </a:path>
                  </a:pathLst>
                </a:custGeom>
                <a:solidFill>
                  <a:srgbClr val="C4774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89" name="Freeform 338"/>
                <p:cNvSpPr>
                  <a:spLocks/>
                </p:cNvSpPr>
                <p:nvPr/>
              </p:nvSpPr>
              <p:spPr bwMode="auto">
                <a:xfrm>
                  <a:off x="4919" y="1482"/>
                  <a:ext cx="32" cy="36"/>
                </a:xfrm>
                <a:custGeom>
                  <a:avLst/>
                  <a:gdLst>
                    <a:gd name="T0" fmla="*/ 0 w 129"/>
                    <a:gd name="T1" fmla="*/ 0 h 146"/>
                    <a:gd name="T2" fmla="*/ 0 w 129"/>
                    <a:gd name="T3" fmla="*/ 0 h 146"/>
                    <a:gd name="T4" fmla="*/ 0 w 129"/>
                    <a:gd name="T5" fmla="*/ 0 h 146"/>
                    <a:gd name="T6" fmla="*/ 0 w 129"/>
                    <a:gd name="T7" fmla="*/ 0 h 146"/>
                    <a:gd name="T8" fmla="*/ 0 w 129"/>
                    <a:gd name="T9" fmla="*/ 0 h 146"/>
                    <a:gd name="T10" fmla="*/ 0 w 129"/>
                    <a:gd name="T11" fmla="*/ 0 h 146"/>
                    <a:gd name="T12" fmla="*/ 0 w 129"/>
                    <a:gd name="T13" fmla="*/ 0 h 146"/>
                    <a:gd name="T14" fmla="*/ 0 w 129"/>
                    <a:gd name="T15" fmla="*/ 0 h 146"/>
                    <a:gd name="T16" fmla="*/ 0 w 129"/>
                    <a:gd name="T17" fmla="*/ 0 h 146"/>
                    <a:gd name="T18" fmla="*/ 0 w 129"/>
                    <a:gd name="T19" fmla="*/ 0 h 146"/>
                    <a:gd name="T20" fmla="*/ 0 w 129"/>
                    <a:gd name="T21" fmla="*/ 0 h 14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9"/>
                    <a:gd name="T34" fmla="*/ 0 h 146"/>
                    <a:gd name="T35" fmla="*/ 129 w 129"/>
                    <a:gd name="T36" fmla="*/ 146 h 14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9" h="146">
                      <a:moveTo>
                        <a:pt x="79" y="146"/>
                      </a:moveTo>
                      <a:lnTo>
                        <a:pt x="0" y="21"/>
                      </a:lnTo>
                      <a:lnTo>
                        <a:pt x="14" y="16"/>
                      </a:lnTo>
                      <a:lnTo>
                        <a:pt x="28" y="11"/>
                      </a:lnTo>
                      <a:lnTo>
                        <a:pt x="42" y="5"/>
                      </a:lnTo>
                      <a:lnTo>
                        <a:pt x="55" y="0"/>
                      </a:lnTo>
                      <a:lnTo>
                        <a:pt x="129" y="117"/>
                      </a:lnTo>
                      <a:lnTo>
                        <a:pt x="115" y="124"/>
                      </a:lnTo>
                      <a:lnTo>
                        <a:pt x="101" y="129"/>
                      </a:lnTo>
                      <a:lnTo>
                        <a:pt x="90" y="138"/>
                      </a:lnTo>
                      <a:lnTo>
                        <a:pt x="79" y="146"/>
                      </a:lnTo>
                      <a:close/>
                    </a:path>
                  </a:pathLst>
                </a:custGeom>
                <a:solidFill>
                  <a:srgbClr val="C4775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90" name="Freeform 339"/>
                <p:cNvSpPr>
                  <a:spLocks/>
                </p:cNvSpPr>
                <p:nvPr/>
              </p:nvSpPr>
              <p:spPr bwMode="auto">
                <a:xfrm>
                  <a:off x="4926" y="1479"/>
                  <a:ext cx="32" cy="35"/>
                </a:xfrm>
                <a:custGeom>
                  <a:avLst/>
                  <a:gdLst>
                    <a:gd name="T0" fmla="*/ 0 w 125"/>
                    <a:gd name="T1" fmla="*/ 0 h 141"/>
                    <a:gd name="T2" fmla="*/ 0 w 125"/>
                    <a:gd name="T3" fmla="*/ 0 h 141"/>
                    <a:gd name="T4" fmla="*/ 0 w 125"/>
                    <a:gd name="T5" fmla="*/ 0 h 141"/>
                    <a:gd name="T6" fmla="*/ 0 w 125"/>
                    <a:gd name="T7" fmla="*/ 0 h 141"/>
                    <a:gd name="T8" fmla="*/ 0 w 125"/>
                    <a:gd name="T9" fmla="*/ 0 h 141"/>
                    <a:gd name="T10" fmla="*/ 0 w 125"/>
                    <a:gd name="T11" fmla="*/ 0 h 141"/>
                    <a:gd name="T12" fmla="*/ 0 w 125"/>
                    <a:gd name="T13" fmla="*/ 0 h 141"/>
                    <a:gd name="T14" fmla="*/ 0 w 125"/>
                    <a:gd name="T15" fmla="*/ 0 h 141"/>
                    <a:gd name="T16" fmla="*/ 0 w 125"/>
                    <a:gd name="T17" fmla="*/ 0 h 141"/>
                    <a:gd name="T18" fmla="*/ 0 w 125"/>
                    <a:gd name="T19" fmla="*/ 0 h 141"/>
                    <a:gd name="T20" fmla="*/ 0 w 125"/>
                    <a:gd name="T21" fmla="*/ 0 h 14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5"/>
                    <a:gd name="T34" fmla="*/ 0 h 141"/>
                    <a:gd name="T35" fmla="*/ 125 w 125"/>
                    <a:gd name="T36" fmla="*/ 141 h 14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5" h="141">
                      <a:moveTo>
                        <a:pt x="73" y="141"/>
                      </a:moveTo>
                      <a:lnTo>
                        <a:pt x="0" y="19"/>
                      </a:lnTo>
                      <a:lnTo>
                        <a:pt x="14" y="14"/>
                      </a:lnTo>
                      <a:lnTo>
                        <a:pt x="27" y="9"/>
                      </a:lnTo>
                      <a:lnTo>
                        <a:pt x="41" y="3"/>
                      </a:lnTo>
                      <a:lnTo>
                        <a:pt x="55" y="0"/>
                      </a:lnTo>
                      <a:lnTo>
                        <a:pt x="125" y="118"/>
                      </a:lnTo>
                      <a:lnTo>
                        <a:pt x="111" y="123"/>
                      </a:lnTo>
                      <a:lnTo>
                        <a:pt x="101" y="129"/>
                      </a:lnTo>
                      <a:lnTo>
                        <a:pt x="87" y="136"/>
                      </a:lnTo>
                      <a:lnTo>
                        <a:pt x="73" y="141"/>
                      </a:lnTo>
                      <a:close/>
                    </a:path>
                  </a:pathLst>
                </a:custGeom>
                <a:solidFill>
                  <a:srgbClr val="C67C5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91" name="Freeform 340"/>
                <p:cNvSpPr>
                  <a:spLocks/>
                </p:cNvSpPr>
                <p:nvPr/>
              </p:nvSpPr>
              <p:spPr bwMode="auto">
                <a:xfrm>
                  <a:off x="4933" y="1476"/>
                  <a:ext cx="31" cy="35"/>
                </a:xfrm>
                <a:custGeom>
                  <a:avLst/>
                  <a:gdLst>
                    <a:gd name="T0" fmla="*/ 0 w 125"/>
                    <a:gd name="T1" fmla="*/ 0 h 140"/>
                    <a:gd name="T2" fmla="*/ 0 w 125"/>
                    <a:gd name="T3" fmla="*/ 0 h 140"/>
                    <a:gd name="T4" fmla="*/ 0 w 125"/>
                    <a:gd name="T5" fmla="*/ 0 h 140"/>
                    <a:gd name="T6" fmla="*/ 0 w 125"/>
                    <a:gd name="T7" fmla="*/ 0 h 140"/>
                    <a:gd name="T8" fmla="*/ 0 w 125"/>
                    <a:gd name="T9" fmla="*/ 0 h 140"/>
                    <a:gd name="T10" fmla="*/ 0 w 125"/>
                    <a:gd name="T11" fmla="*/ 0 h 140"/>
                    <a:gd name="T12" fmla="*/ 0 w 125"/>
                    <a:gd name="T13" fmla="*/ 0 h 140"/>
                    <a:gd name="T14" fmla="*/ 0 w 125"/>
                    <a:gd name="T15" fmla="*/ 0 h 140"/>
                    <a:gd name="T16" fmla="*/ 0 w 125"/>
                    <a:gd name="T17" fmla="*/ 0 h 140"/>
                    <a:gd name="T18" fmla="*/ 0 w 125"/>
                    <a:gd name="T19" fmla="*/ 0 h 140"/>
                    <a:gd name="T20" fmla="*/ 0 w 125"/>
                    <a:gd name="T21" fmla="*/ 0 h 14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5"/>
                    <a:gd name="T34" fmla="*/ 0 h 140"/>
                    <a:gd name="T35" fmla="*/ 125 w 125"/>
                    <a:gd name="T36" fmla="*/ 140 h 140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5" h="140">
                      <a:moveTo>
                        <a:pt x="74" y="140"/>
                      </a:moveTo>
                      <a:lnTo>
                        <a:pt x="0" y="23"/>
                      </a:lnTo>
                      <a:lnTo>
                        <a:pt x="14" y="16"/>
                      </a:lnTo>
                      <a:lnTo>
                        <a:pt x="28" y="11"/>
                      </a:lnTo>
                      <a:lnTo>
                        <a:pt x="41" y="6"/>
                      </a:lnTo>
                      <a:lnTo>
                        <a:pt x="54" y="0"/>
                      </a:lnTo>
                      <a:lnTo>
                        <a:pt x="125" y="115"/>
                      </a:lnTo>
                      <a:lnTo>
                        <a:pt x="111" y="120"/>
                      </a:lnTo>
                      <a:lnTo>
                        <a:pt x="98" y="126"/>
                      </a:lnTo>
                      <a:lnTo>
                        <a:pt x="84" y="134"/>
                      </a:lnTo>
                      <a:lnTo>
                        <a:pt x="74" y="140"/>
                      </a:lnTo>
                      <a:close/>
                    </a:path>
                  </a:pathLst>
                </a:custGeom>
                <a:solidFill>
                  <a:srgbClr val="C97F5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92" name="Freeform 341"/>
                <p:cNvSpPr>
                  <a:spLocks/>
                </p:cNvSpPr>
                <p:nvPr/>
              </p:nvSpPr>
              <p:spPr bwMode="auto">
                <a:xfrm>
                  <a:off x="4940" y="1474"/>
                  <a:ext cx="31" cy="34"/>
                </a:xfrm>
                <a:custGeom>
                  <a:avLst/>
                  <a:gdLst>
                    <a:gd name="T0" fmla="*/ 0 w 125"/>
                    <a:gd name="T1" fmla="*/ 0 h 136"/>
                    <a:gd name="T2" fmla="*/ 0 w 125"/>
                    <a:gd name="T3" fmla="*/ 0 h 136"/>
                    <a:gd name="T4" fmla="*/ 0 w 125"/>
                    <a:gd name="T5" fmla="*/ 0 h 136"/>
                    <a:gd name="T6" fmla="*/ 0 w 125"/>
                    <a:gd name="T7" fmla="*/ 0 h 136"/>
                    <a:gd name="T8" fmla="*/ 0 w 125"/>
                    <a:gd name="T9" fmla="*/ 0 h 136"/>
                    <a:gd name="T10" fmla="*/ 0 w 125"/>
                    <a:gd name="T11" fmla="*/ 0 h 136"/>
                    <a:gd name="T12" fmla="*/ 0 w 125"/>
                    <a:gd name="T13" fmla="*/ 0 h 136"/>
                    <a:gd name="T14" fmla="*/ 0 w 125"/>
                    <a:gd name="T15" fmla="*/ 0 h 136"/>
                    <a:gd name="T16" fmla="*/ 0 w 125"/>
                    <a:gd name="T17" fmla="*/ 0 h 136"/>
                    <a:gd name="T18" fmla="*/ 0 w 125"/>
                    <a:gd name="T19" fmla="*/ 0 h 136"/>
                    <a:gd name="T20" fmla="*/ 0 w 125"/>
                    <a:gd name="T21" fmla="*/ 0 h 1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5"/>
                    <a:gd name="T34" fmla="*/ 0 h 136"/>
                    <a:gd name="T35" fmla="*/ 125 w 125"/>
                    <a:gd name="T36" fmla="*/ 136 h 1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5" h="136">
                      <a:moveTo>
                        <a:pt x="70" y="136"/>
                      </a:moveTo>
                      <a:lnTo>
                        <a:pt x="0" y="18"/>
                      </a:lnTo>
                      <a:lnTo>
                        <a:pt x="13" y="13"/>
                      </a:lnTo>
                      <a:lnTo>
                        <a:pt x="26" y="7"/>
                      </a:lnTo>
                      <a:lnTo>
                        <a:pt x="40" y="5"/>
                      </a:lnTo>
                      <a:lnTo>
                        <a:pt x="53" y="0"/>
                      </a:lnTo>
                      <a:lnTo>
                        <a:pt x="125" y="113"/>
                      </a:lnTo>
                      <a:lnTo>
                        <a:pt x="108" y="119"/>
                      </a:lnTo>
                      <a:lnTo>
                        <a:pt x="95" y="124"/>
                      </a:lnTo>
                      <a:lnTo>
                        <a:pt x="81" y="130"/>
                      </a:lnTo>
                      <a:lnTo>
                        <a:pt x="70" y="136"/>
                      </a:lnTo>
                      <a:close/>
                    </a:path>
                  </a:pathLst>
                </a:custGeom>
                <a:solidFill>
                  <a:srgbClr val="C97F5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93" name="Freeform 342"/>
                <p:cNvSpPr>
                  <a:spLocks/>
                </p:cNvSpPr>
                <p:nvPr/>
              </p:nvSpPr>
              <p:spPr bwMode="auto">
                <a:xfrm>
                  <a:off x="4947" y="1472"/>
                  <a:ext cx="30" cy="33"/>
                </a:xfrm>
                <a:custGeom>
                  <a:avLst/>
                  <a:gdLst>
                    <a:gd name="T0" fmla="*/ 0 w 122"/>
                    <a:gd name="T1" fmla="*/ 0 h 131"/>
                    <a:gd name="T2" fmla="*/ 0 w 122"/>
                    <a:gd name="T3" fmla="*/ 0 h 131"/>
                    <a:gd name="T4" fmla="*/ 0 w 122"/>
                    <a:gd name="T5" fmla="*/ 0 h 131"/>
                    <a:gd name="T6" fmla="*/ 0 w 122"/>
                    <a:gd name="T7" fmla="*/ 0 h 131"/>
                    <a:gd name="T8" fmla="*/ 0 w 122"/>
                    <a:gd name="T9" fmla="*/ 0 h 131"/>
                    <a:gd name="T10" fmla="*/ 0 w 122"/>
                    <a:gd name="T11" fmla="*/ 0 h 131"/>
                    <a:gd name="T12" fmla="*/ 0 w 122"/>
                    <a:gd name="T13" fmla="*/ 0 h 131"/>
                    <a:gd name="T14" fmla="*/ 0 w 122"/>
                    <a:gd name="T15" fmla="*/ 0 h 131"/>
                    <a:gd name="T16" fmla="*/ 0 w 122"/>
                    <a:gd name="T17" fmla="*/ 0 h 131"/>
                    <a:gd name="T18" fmla="*/ 0 w 122"/>
                    <a:gd name="T19" fmla="*/ 0 h 131"/>
                    <a:gd name="T20" fmla="*/ 0 w 122"/>
                    <a:gd name="T21" fmla="*/ 0 h 13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2"/>
                    <a:gd name="T34" fmla="*/ 0 h 131"/>
                    <a:gd name="T35" fmla="*/ 122 w 122"/>
                    <a:gd name="T36" fmla="*/ 131 h 13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2" h="131">
                      <a:moveTo>
                        <a:pt x="71" y="131"/>
                      </a:moveTo>
                      <a:lnTo>
                        <a:pt x="0" y="16"/>
                      </a:lnTo>
                      <a:lnTo>
                        <a:pt x="14" y="14"/>
                      </a:lnTo>
                      <a:lnTo>
                        <a:pt x="30" y="9"/>
                      </a:lnTo>
                      <a:lnTo>
                        <a:pt x="44" y="6"/>
                      </a:lnTo>
                      <a:lnTo>
                        <a:pt x="57" y="0"/>
                      </a:lnTo>
                      <a:lnTo>
                        <a:pt x="122" y="115"/>
                      </a:lnTo>
                      <a:lnTo>
                        <a:pt x="110" y="117"/>
                      </a:lnTo>
                      <a:lnTo>
                        <a:pt x="96" y="120"/>
                      </a:lnTo>
                      <a:lnTo>
                        <a:pt x="82" y="126"/>
                      </a:lnTo>
                      <a:lnTo>
                        <a:pt x="71" y="131"/>
                      </a:lnTo>
                      <a:close/>
                    </a:path>
                  </a:pathLst>
                </a:custGeom>
                <a:solidFill>
                  <a:srgbClr val="CC84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94" name="Freeform 343"/>
                <p:cNvSpPr>
                  <a:spLocks/>
                </p:cNvSpPr>
                <p:nvPr/>
              </p:nvSpPr>
              <p:spPr bwMode="auto">
                <a:xfrm>
                  <a:off x="4953" y="1471"/>
                  <a:ext cx="31" cy="32"/>
                </a:xfrm>
                <a:custGeom>
                  <a:avLst/>
                  <a:gdLst>
                    <a:gd name="T0" fmla="*/ 0 w 123"/>
                    <a:gd name="T1" fmla="*/ 0 h 125"/>
                    <a:gd name="T2" fmla="*/ 0 w 123"/>
                    <a:gd name="T3" fmla="*/ 0 h 125"/>
                    <a:gd name="T4" fmla="*/ 0 w 123"/>
                    <a:gd name="T5" fmla="*/ 0 h 125"/>
                    <a:gd name="T6" fmla="*/ 0 w 123"/>
                    <a:gd name="T7" fmla="*/ 0 h 125"/>
                    <a:gd name="T8" fmla="*/ 0 w 123"/>
                    <a:gd name="T9" fmla="*/ 0 h 125"/>
                    <a:gd name="T10" fmla="*/ 0 w 123"/>
                    <a:gd name="T11" fmla="*/ 0 h 125"/>
                    <a:gd name="T12" fmla="*/ 0 w 123"/>
                    <a:gd name="T13" fmla="*/ 0 h 125"/>
                    <a:gd name="T14" fmla="*/ 0 w 123"/>
                    <a:gd name="T15" fmla="*/ 0 h 125"/>
                    <a:gd name="T16" fmla="*/ 0 w 123"/>
                    <a:gd name="T17" fmla="*/ 0 h 125"/>
                    <a:gd name="T18" fmla="*/ 0 w 123"/>
                    <a:gd name="T19" fmla="*/ 0 h 125"/>
                    <a:gd name="T20" fmla="*/ 0 w 123"/>
                    <a:gd name="T21" fmla="*/ 0 h 12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3"/>
                    <a:gd name="T34" fmla="*/ 0 h 125"/>
                    <a:gd name="T35" fmla="*/ 123 w 123"/>
                    <a:gd name="T36" fmla="*/ 125 h 125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3" h="125">
                      <a:moveTo>
                        <a:pt x="72" y="125"/>
                      </a:moveTo>
                      <a:lnTo>
                        <a:pt x="0" y="12"/>
                      </a:lnTo>
                      <a:lnTo>
                        <a:pt x="17" y="9"/>
                      </a:lnTo>
                      <a:lnTo>
                        <a:pt x="33" y="7"/>
                      </a:lnTo>
                      <a:lnTo>
                        <a:pt x="47" y="3"/>
                      </a:lnTo>
                      <a:lnTo>
                        <a:pt x="63" y="0"/>
                      </a:lnTo>
                      <a:lnTo>
                        <a:pt x="123" y="109"/>
                      </a:lnTo>
                      <a:lnTo>
                        <a:pt x="109" y="113"/>
                      </a:lnTo>
                      <a:lnTo>
                        <a:pt x="95" y="115"/>
                      </a:lnTo>
                      <a:lnTo>
                        <a:pt x="83" y="120"/>
                      </a:lnTo>
                      <a:lnTo>
                        <a:pt x="72" y="125"/>
                      </a:lnTo>
                      <a:close/>
                    </a:path>
                  </a:pathLst>
                </a:custGeom>
                <a:solidFill>
                  <a:srgbClr val="CC845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95" name="Freeform 344"/>
                <p:cNvSpPr>
                  <a:spLocks/>
                </p:cNvSpPr>
                <p:nvPr/>
              </p:nvSpPr>
              <p:spPr bwMode="auto">
                <a:xfrm>
                  <a:off x="4961" y="1470"/>
                  <a:ext cx="31" cy="31"/>
                </a:xfrm>
                <a:custGeom>
                  <a:avLst/>
                  <a:gdLst>
                    <a:gd name="T0" fmla="*/ 0 w 125"/>
                    <a:gd name="T1" fmla="*/ 0 h 123"/>
                    <a:gd name="T2" fmla="*/ 0 w 125"/>
                    <a:gd name="T3" fmla="*/ 0 h 123"/>
                    <a:gd name="T4" fmla="*/ 0 w 125"/>
                    <a:gd name="T5" fmla="*/ 0 h 123"/>
                    <a:gd name="T6" fmla="*/ 0 w 125"/>
                    <a:gd name="T7" fmla="*/ 0 h 123"/>
                    <a:gd name="T8" fmla="*/ 0 w 125"/>
                    <a:gd name="T9" fmla="*/ 0 h 123"/>
                    <a:gd name="T10" fmla="*/ 0 w 125"/>
                    <a:gd name="T11" fmla="*/ 0 h 123"/>
                    <a:gd name="T12" fmla="*/ 0 w 125"/>
                    <a:gd name="T13" fmla="*/ 0 h 123"/>
                    <a:gd name="T14" fmla="*/ 0 w 125"/>
                    <a:gd name="T15" fmla="*/ 0 h 123"/>
                    <a:gd name="T16" fmla="*/ 0 w 125"/>
                    <a:gd name="T17" fmla="*/ 0 h 123"/>
                    <a:gd name="T18" fmla="*/ 0 w 125"/>
                    <a:gd name="T19" fmla="*/ 0 h 123"/>
                    <a:gd name="T20" fmla="*/ 0 w 125"/>
                    <a:gd name="T21" fmla="*/ 0 h 123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5"/>
                    <a:gd name="T34" fmla="*/ 0 h 123"/>
                    <a:gd name="T35" fmla="*/ 125 w 125"/>
                    <a:gd name="T36" fmla="*/ 123 h 123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5" h="123">
                      <a:moveTo>
                        <a:pt x="65" y="123"/>
                      </a:moveTo>
                      <a:lnTo>
                        <a:pt x="0" y="8"/>
                      </a:lnTo>
                      <a:lnTo>
                        <a:pt x="17" y="5"/>
                      </a:lnTo>
                      <a:lnTo>
                        <a:pt x="33" y="3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125" y="106"/>
                      </a:lnTo>
                      <a:lnTo>
                        <a:pt x="112" y="109"/>
                      </a:lnTo>
                      <a:lnTo>
                        <a:pt x="95" y="112"/>
                      </a:lnTo>
                      <a:lnTo>
                        <a:pt x="82" y="118"/>
                      </a:lnTo>
                      <a:lnTo>
                        <a:pt x="65" y="123"/>
                      </a:lnTo>
                      <a:close/>
                    </a:path>
                  </a:pathLst>
                </a:custGeom>
                <a:solidFill>
                  <a:srgbClr val="CC875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96" name="Freeform 345"/>
                <p:cNvSpPr>
                  <a:spLocks/>
                </p:cNvSpPr>
                <p:nvPr/>
              </p:nvSpPr>
              <p:spPr bwMode="auto">
                <a:xfrm>
                  <a:off x="4969" y="1469"/>
                  <a:ext cx="31" cy="30"/>
                </a:xfrm>
                <a:custGeom>
                  <a:avLst/>
                  <a:gdLst>
                    <a:gd name="T0" fmla="*/ 0 w 122"/>
                    <a:gd name="T1" fmla="*/ 0 h 116"/>
                    <a:gd name="T2" fmla="*/ 0 w 122"/>
                    <a:gd name="T3" fmla="*/ 0 h 116"/>
                    <a:gd name="T4" fmla="*/ 0 w 122"/>
                    <a:gd name="T5" fmla="*/ 0 h 116"/>
                    <a:gd name="T6" fmla="*/ 0 w 122"/>
                    <a:gd name="T7" fmla="*/ 0 h 116"/>
                    <a:gd name="T8" fmla="*/ 0 w 122"/>
                    <a:gd name="T9" fmla="*/ 0 h 116"/>
                    <a:gd name="T10" fmla="*/ 0 w 122"/>
                    <a:gd name="T11" fmla="*/ 0 h 116"/>
                    <a:gd name="T12" fmla="*/ 0 w 122"/>
                    <a:gd name="T13" fmla="*/ 0 h 116"/>
                    <a:gd name="T14" fmla="*/ 0 w 122"/>
                    <a:gd name="T15" fmla="*/ 0 h 116"/>
                    <a:gd name="T16" fmla="*/ 0 w 122"/>
                    <a:gd name="T17" fmla="*/ 0 h 116"/>
                    <a:gd name="T18" fmla="*/ 0 w 122"/>
                    <a:gd name="T19" fmla="*/ 0 h 116"/>
                    <a:gd name="T20" fmla="*/ 0 w 122"/>
                    <a:gd name="T21" fmla="*/ 0 h 11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2"/>
                    <a:gd name="T34" fmla="*/ 0 h 116"/>
                    <a:gd name="T35" fmla="*/ 122 w 122"/>
                    <a:gd name="T36" fmla="*/ 116 h 11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2" h="116">
                      <a:moveTo>
                        <a:pt x="60" y="116"/>
                      </a:moveTo>
                      <a:lnTo>
                        <a:pt x="0" y="7"/>
                      </a:lnTo>
                      <a:lnTo>
                        <a:pt x="14" y="5"/>
                      </a:lnTo>
                      <a:lnTo>
                        <a:pt x="30" y="2"/>
                      </a:lnTo>
                      <a:lnTo>
                        <a:pt x="44" y="2"/>
                      </a:lnTo>
                      <a:lnTo>
                        <a:pt x="57" y="0"/>
                      </a:lnTo>
                      <a:lnTo>
                        <a:pt x="122" y="102"/>
                      </a:lnTo>
                      <a:lnTo>
                        <a:pt x="109" y="102"/>
                      </a:lnTo>
                      <a:lnTo>
                        <a:pt x="92" y="106"/>
                      </a:lnTo>
                      <a:lnTo>
                        <a:pt x="76" y="111"/>
                      </a:lnTo>
                      <a:lnTo>
                        <a:pt x="60" y="116"/>
                      </a:lnTo>
                      <a:close/>
                    </a:path>
                  </a:pathLst>
                </a:custGeom>
                <a:solidFill>
                  <a:srgbClr val="D18C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97" name="Freeform 346"/>
                <p:cNvSpPr>
                  <a:spLocks/>
                </p:cNvSpPr>
                <p:nvPr/>
              </p:nvSpPr>
              <p:spPr bwMode="auto">
                <a:xfrm>
                  <a:off x="4977" y="1468"/>
                  <a:ext cx="30" cy="28"/>
                </a:xfrm>
                <a:custGeom>
                  <a:avLst/>
                  <a:gdLst>
                    <a:gd name="T0" fmla="*/ 0 w 122"/>
                    <a:gd name="T1" fmla="*/ 0 h 114"/>
                    <a:gd name="T2" fmla="*/ 0 w 122"/>
                    <a:gd name="T3" fmla="*/ 0 h 114"/>
                    <a:gd name="T4" fmla="*/ 0 w 122"/>
                    <a:gd name="T5" fmla="*/ 0 h 114"/>
                    <a:gd name="T6" fmla="*/ 0 w 122"/>
                    <a:gd name="T7" fmla="*/ 0 h 114"/>
                    <a:gd name="T8" fmla="*/ 0 w 122"/>
                    <a:gd name="T9" fmla="*/ 0 h 114"/>
                    <a:gd name="T10" fmla="*/ 0 w 122"/>
                    <a:gd name="T11" fmla="*/ 0 h 114"/>
                    <a:gd name="T12" fmla="*/ 0 w 122"/>
                    <a:gd name="T13" fmla="*/ 0 h 114"/>
                    <a:gd name="T14" fmla="*/ 0 w 122"/>
                    <a:gd name="T15" fmla="*/ 0 h 114"/>
                    <a:gd name="T16" fmla="*/ 0 w 122"/>
                    <a:gd name="T17" fmla="*/ 0 h 114"/>
                    <a:gd name="T18" fmla="*/ 0 w 122"/>
                    <a:gd name="T19" fmla="*/ 0 h 114"/>
                    <a:gd name="T20" fmla="*/ 0 w 122"/>
                    <a:gd name="T21" fmla="*/ 0 h 11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2"/>
                    <a:gd name="T34" fmla="*/ 0 h 114"/>
                    <a:gd name="T35" fmla="*/ 122 w 122"/>
                    <a:gd name="T36" fmla="*/ 114 h 114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2" h="114">
                      <a:moveTo>
                        <a:pt x="62" y="114"/>
                      </a:moveTo>
                      <a:lnTo>
                        <a:pt x="0" y="8"/>
                      </a:lnTo>
                      <a:lnTo>
                        <a:pt x="14" y="6"/>
                      </a:lnTo>
                      <a:lnTo>
                        <a:pt x="30" y="2"/>
                      </a:lnTo>
                      <a:lnTo>
                        <a:pt x="46" y="0"/>
                      </a:lnTo>
                      <a:lnTo>
                        <a:pt x="62" y="0"/>
                      </a:lnTo>
                      <a:lnTo>
                        <a:pt x="122" y="106"/>
                      </a:lnTo>
                      <a:lnTo>
                        <a:pt x="106" y="108"/>
                      </a:lnTo>
                      <a:lnTo>
                        <a:pt x="92" y="108"/>
                      </a:lnTo>
                      <a:lnTo>
                        <a:pt x="76" y="112"/>
                      </a:lnTo>
                      <a:lnTo>
                        <a:pt x="62" y="114"/>
                      </a:lnTo>
                      <a:close/>
                    </a:path>
                  </a:pathLst>
                </a:custGeom>
                <a:solidFill>
                  <a:srgbClr val="D18E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98" name="Freeform 347"/>
                <p:cNvSpPr>
                  <a:spLocks/>
                </p:cNvSpPr>
                <p:nvPr/>
              </p:nvSpPr>
              <p:spPr bwMode="auto">
                <a:xfrm>
                  <a:off x="4983" y="1468"/>
                  <a:ext cx="32" cy="27"/>
                </a:xfrm>
                <a:custGeom>
                  <a:avLst/>
                  <a:gdLst>
                    <a:gd name="T0" fmla="*/ 0 w 128"/>
                    <a:gd name="T1" fmla="*/ 0 h 108"/>
                    <a:gd name="T2" fmla="*/ 0 w 128"/>
                    <a:gd name="T3" fmla="*/ 0 h 108"/>
                    <a:gd name="T4" fmla="*/ 0 w 128"/>
                    <a:gd name="T5" fmla="*/ 0 h 108"/>
                    <a:gd name="T6" fmla="*/ 0 w 128"/>
                    <a:gd name="T7" fmla="*/ 0 h 108"/>
                    <a:gd name="T8" fmla="*/ 0 w 128"/>
                    <a:gd name="T9" fmla="*/ 0 h 108"/>
                    <a:gd name="T10" fmla="*/ 0 w 128"/>
                    <a:gd name="T11" fmla="*/ 0 h 108"/>
                    <a:gd name="T12" fmla="*/ 0 w 128"/>
                    <a:gd name="T13" fmla="*/ 0 h 108"/>
                    <a:gd name="T14" fmla="*/ 0 w 128"/>
                    <a:gd name="T15" fmla="*/ 0 h 108"/>
                    <a:gd name="T16" fmla="*/ 0 w 128"/>
                    <a:gd name="T17" fmla="*/ 0 h 108"/>
                    <a:gd name="T18" fmla="*/ 0 w 128"/>
                    <a:gd name="T19" fmla="*/ 0 h 108"/>
                    <a:gd name="T20" fmla="*/ 0 w 128"/>
                    <a:gd name="T21" fmla="*/ 0 h 10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8"/>
                    <a:gd name="T34" fmla="*/ 0 h 108"/>
                    <a:gd name="T35" fmla="*/ 128 w 128"/>
                    <a:gd name="T36" fmla="*/ 108 h 10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8" h="108">
                      <a:moveTo>
                        <a:pt x="65" y="108"/>
                      </a:moveTo>
                      <a:lnTo>
                        <a:pt x="0" y="6"/>
                      </a:lnTo>
                      <a:lnTo>
                        <a:pt x="19" y="2"/>
                      </a:lnTo>
                      <a:lnTo>
                        <a:pt x="35" y="0"/>
                      </a:lnTo>
                      <a:lnTo>
                        <a:pt x="52" y="0"/>
                      </a:lnTo>
                      <a:lnTo>
                        <a:pt x="65" y="0"/>
                      </a:lnTo>
                      <a:lnTo>
                        <a:pt x="128" y="106"/>
                      </a:lnTo>
                      <a:lnTo>
                        <a:pt x="111" y="106"/>
                      </a:lnTo>
                      <a:lnTo>
                        <a:pt x="98" y="106"/>
                      </a:lnTo>
                      <a:lnTo>
                        <a:pt x="81" y="106"/>
                      </a:lnTo>
                      <a:lnTo>
                        <a:pt x="65" y="108"/>
                      </a:lnTo>
                      <a:close/>
                    </a:path>
                  </a:pathLst>
                </a:custGeom>
                <a:solidFill>
                  <a:srgbClr val="D191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99" name="Freeform 348"/>
                <p:cNvSpPr>
                  <a:spLocks/>
                </p:cNvSpPr>
                <p:nvPr/>
              </p:nvSpPr>
              <p:spPr bwMode="auto">
                <a:xfrm>
                  <a:off x="4992" y="1467"/>
                  <a:ext cx="31" cy="28"/>
                </a:xfrm>
                <a:custGeom>
                  <a:avLst/>
                  <a:gdLst>
                    <a:gd name="T0" fmla="*/ 0 w 123"/>
                    <a:gd name="T1" fmla="*/ 0 h 109"/>
                    <a:gd name="T2" fmla="*/ 0 w 123"/>
                    <a:gd name="T3" fmla="*/ 0 h 109"/>
                    <a:gd name="T4" fmla="*/ 0 w 123"/>
                    <a:gd name="T5" fmla="*/ 0 h 109"/>
                    <a:gd name="T6" fmla="*/ 0 w 123"/>
                    <a:gd name="T7" fmla="*/ 0 h 109"/>
                    <a:gd name="T8" fmla="*/ 0 w 123"/>
                    <a:gd name="T9" fmla="*/ 0 h 109"/>
                    <a:gd name="T10" fmla="*/ 0 w 123"/>
                    <a:gd name="T11" fmla="*/ 0 h 109"/>
                    <a:gd name="T12" fmla="*/ 0 w 123"/>
                    <a:gd name="T13" fmla="*/ 0 h 109"/>
                    <a:gd name="T14" fmla="*/ 0 w 123"/>
                    <a:gd name="T15" fmla="*/ 0 h 109"/>
                    <a:gd name="T16" fmla="*/ 0 w 123"/>
                    <a:gd name="T17" fmla="*/ 0 h 109"/>
                    <a:gd name="T18" fmla="*/ 0 w 123"/>
                    <a:gd name="T19" fmla="*/ 0 h 109"/>
                    <a:gd name="T20" fmla="*/ 0 w 123"/>
                    <a:gd name="T21" fmla="*/ 0 h 10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3"/>
                    <a:gd name="T34" fmla="*/ 0 h 109"/>
                    <a:gd name="T35" fmla="*/ 123 w 123"/>
                    <a:gd name="T36" fmla="*/ 109 h 10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3" h="109">
                      <a:moveTo>
                        <a:pt x="60" y="109"/>
                      </a:moveTo>
                      <a:lnTo>
                        <a:pt x="0" y="3"/>
                      </a:lnTo>
                      <a:lnTo>
                        <a:pt x="14" y="3"/>
                      </a:lnTo>
                      <a:lnTo>
                        <a:pt x="30" y="0"/>
                      </a:lnTo>
                      <a:lnTo>
                        <a:pt x="44" y="0"/>
                      </a:lnTo>
                      <a:lnTo>
                        <a:pt x="60" y="0"/>
                      </a:lnTo>
                      <a:lnTo>
                        <a:pt x="123" y="109"/>
                      </a:lnTo>
                      <a:lnTo>
                        <a:pt x="109" y="106"/>
                      </a:lnTo>
                      <a:lnTo>
                        <a:pt x="93" y="106"/>
                      </a:lnTo>
                      <a:lnTo>
                        <a:pt x="76" y="109"/>
                      </a:lnTo>
                      <a:lnTo>
                        <a:pt x="60" y="109"/>
                      </a:lnTo>
                      <a:close/>
                    </a:path>
                  </a:pathLst>
                </a:custGeom>
                <a:solidFill>
                  <a:srgbClr val="D393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00" name="Freeform 349"/>
                <p:cNvSpPr>
                  <a:spLocks/>
                </p:cNvSpPr>
                <p:nvPr/>
              </p:nvSpPr>
              <p:spPr bwMode="auto">
                <a:xfrm>
                  <a:off x="5000" y="1467"/>
                  <a:ext cx="32" cy="28"/>
                </a:xfrm>
                <a:custGeom>
                  <a:avLst/>
                  <a:gdLst>
                    <a:gd name="T0" fmla="*/ 0 w 129"/>
                    <a:gd name="T1" fmla="*/ 0 h 109"/>
                    <a:gd name="T2" fmla="*/ 0 w 129"/>
                    <a:gd name="T3" fmla="*/ 0 h 109"/>
                    <a:gd name="T4" fmla="*/ 0 w 129"/>
                    <a:gd name="T5" fmla="*/ 0 h 109"/>
                    <a:gd name="T6" fmla="*/ 0 w 129"/>
                    <a:gd name="T7" fmla="*/ 0 h 109"/>
                    <a:gd name="T8" fmla="*/ 0 w 129"/>
                    <a:gd name="T9" fmla="*/ 0 h 109"/>
                    <a:gd name="T10" fmla="*/ 0 w 129"/>
                    <a:gd name="T11" fmla="*/ 0 h 109"/>
                    <a:gd name="T12" fmla="*/ 0 w 129"/>
                    <a:gd name="T13" fmla="*/ 0 h 109"/>
                    <a:gd name="T14" fmla="*/ 0 w 129"/>
                    <a:gd name="T15" fmla="*/ 0 h 109"/>
                    <a:gd name="T16" fmla="*/ 0 w 129"/>
                    <a:gd name="T17" fmla="*/ 0 h 109"/>
                    <a:gd name="T18" fmla="*/ 0 w 129"/>
                    <a:gd name="T19" fmla="*/ 0 h 109"/>
                    <a:gd name="T20" fmla="*/ 0 w 129"/>
                    <a:gd name="T21" fmla="*/ 0 h 10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9"/>
                    <a:gd name="T34" fmla="*/ 0 h 109"/>
                    <a:gd name="T35" fmla="*/ 129 w 129"/>
                    <a:gd name="T36" fmla="*/ 109 h 10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9" h="109">
                      <a:moveTo>
                        <a:pt x="63" y="109"/>
                      </a:moveTo>
                      <a:lnTo>
                        <a:pt x="0" y="3"/>
                      </a:lnTo>
                      <a:lnTo>
                        <a:pt x="16" y="0"/>
                      </a:lnTo>
                      <a:lnTo>
                        <a:pt x="33" y="0"/>
                      </a:lnTo>
                      <a:lnTo>
                        <a:pt x="46" y="0"/>
                      </a:lnTo>
                      <a:lnTo>
                        <a:pt x="63" y="0"/>
                      </a:lnTo>
                      <a:lnTo>
                        <a:pt x="129" y="109"/>
                      </a:lnTo>
                      <a:lnTo>
                        <a:pt x="111" y="109"/>
                      </a:lnTo>
                      <a:lnTo>
                        <a:pt x="95" y="106"/>
                      </a:lnTo>
                      <a:lnTo>
                        <a:pt x="79" y="106"/>
                      </a:lnTo>
                      <a:lnTo>
                        <a:pt x="63" y="109"/>
                      </a:lnTo>
                      <a:close/>
                    </a:path>
                  </a:pathLst>
                </a:custGeom>
                <a:solidFill>
                  <a:srgbClr val="D3966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01" name="Freeform 350"/>
                <p:cNvSpPr>
                  <a:spLocks/>
                </p:cNvSpPr>
                <p:nvPr/>
              </p:nvSpPr>
              <p:spPr bwMode="auto">
                <a:xfrm>
                  <a:off x="5007" y="1467"/>
                  <a:ext cx="34" cy="28"/>
                </a:xfrm>
                <a:custGeom>
                  <a:avLst/>
                  <a:gdLst>
                    <a:gd name="T0" fmla="*/ 0 w 136"/>
                    <a:gd name="T1" fmla="*/ 0 h 111"/>
                    <a:gd name="T2" fmla="*/ 0 w 136"/>
                    <a:gd name="T3" fmla="*/ 0 h 111"/>
                    <a:gd name="T4" fmla="*/ 0 w 136"/>
                    <a:gd name="T5" fmla="*/ 0 h 111"/>
                    <a:gd name="T6" fmla="*/ 0 w 136"/>
                    <a:gd name="T7" fmla="*/ 0 h 111"/>
                    <a:gd name="T8" fmla="*/ 0 w 136"/>
                    <a:gd name="T9" fmla="*/ 0 h 111"/>
                    <a:gd name="T10" fmla="*/ 0 w 136"/>
                    <a:gd name="T11" fmla="*/ 0 h 111"/>
                    <a:gd name="T12" fmla="*/ 0 w 136"/>
                    <a:gd name="T13" fmla="*/ 0 h 111"/>
                    <a:gd name="T14" fmla="*/ 0 w 136"/>
                    <a:gd name="T15" fmla="*/ 0 h 111"/>
                    <a:gd name="T16" fmla="*/ 0 w 136"/>
                    <a:gd name="T17" fmla="*/ 0 h 111"/>
                    <a:gd name="T18" fmla="*/ 0 w 136"/>
                    <a:gd name="T19" fmla="*/ 0 h 111"/>
                    <a:gd name="T20" fmla="*/ 0 w 136"/>
                    <a:gd name="T21" fmla="*/ 0 h 11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36"/>
                    <a:gd name="T34" fmla="*/ 0 h 111"/>
                    <a:gd name="T35" fmla="*/ 136 w 136"/>
                    <a:gd name="T36" fmla="*/ 111 h 11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36" h="111">
                      <a:moveTo>
                        <a:pt x="63" y="109"/>
                      </a:moveTo>
                      <a:lnTo>
                        <a:pt x="0" y="0"/>
                      </a:lnTo>
                      <a:lnTo>
                        <a:pt x="19" y="0"/>
                      </a:lnTo>
                      <a:lnTo>
                        <a:pt x="35" y="0"/>
                      </a:lnTo>
                      <a:lnTo>
                        <a:pt x="55" y="0"/>
                      </a:lnTo>
                      <a:lnTo>
                        <a:pt x="71" y="0"/>
                      </a:lnTo>
                      <a:lnTo>
                        <a:pt x="136" y="111"/>
                      </a:lnTo>
                      <a:lnTo>
                        <a:pt x="120" y="111"/>
                      </a:lnTo>
                      <a:lnTo>
                        <a:pt x="101" y="109"/>
                      </a:lnTo>
                      <a:lnTo>
                        <a:pt x="81" y="109"/>
                      </a:lnTo>
                      <a:lnTo>
                        <a:pt x="63" y="109"/>
                      </a:lnTo>
                      <a:close/>
                    </a:path>
                  </a:pathLst>
                </a:custGeom>
                <a:solidFill>
                  <a:srgbClr val="D89B6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02" name="Freeform 351"/>
                <p:cNvSpPr>
                  <a:spLocks/>
                </p:cNvSpPr>
                <p:nvPr/>
              </p:nvSpPr>
              <p:spPr bwMode="auto">
                <a:xfrm>
                  <a:off x="5015" y="1467"/>
                  <a:ext cx="35" cy="29"/>
                </a:xfrm>
                <a:custGeom>
                  <a:avLst/>
                  <a:gdLst>
                    <a:gd name="T0" fmla="*/ 0 w 138"/>
                    <a:gd name="T1" fmla="*/ 0 h 117"/>
                    <a:gd name="T2" fmla="*/ 0 w 138"/>
                    <a:gd name="T3" fmla="*/ 0 h 117"/>
                    <a:gd name="T4" fmla="*/ 0 w 138"/>
                    <a:gd name="T5" fmla="*/ 0 h 117"/>
                    <a:gd name="T6" fmla="*/ 0 w 138"/>
                    <a:gd name="T7" fmla="*/ 0 h 117"/>
                    <a:gd name="T8" fmla="*/ 0 w 138"/>
                    <a:gd name="T9" fmla="*/ 0 h 117"/>
                    <a:gd name="T10" fmla="*/ 0 w 138"/>
                    <a:gd name="T11" fmla="*/ 0 h 117"/>
                    <a:gd name="T12" fmla="*/ 0 w 138"/>
                    <a:gd name="T13" fmla="*/ 0 h 117"/>
                    <a:gd name="T14" fmla="*/ 0 w 138"/>
                    <a:gd name="T15" fmla="*/ 0 h 117"/>
                    <a:gd name="T16" fmla="*/ 0 w 138"/>
                    <a:gd name="T17" fmla="*/ 0 h 117"/>
                    <a:gd name="T18" fmla="*/ 0 w 138"/>
                    <a:gd name="T19" fmla="*/ 0 h 117"/>
                    <a:gd name="T20" fmla="*/ 0 w 138"/>
                    <a:gd name="T21" fmla="*/ 0 h 1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38"/>
                    <a:gd name="T34" fmla="*/ 0 h 117"/>
                    <a:gd name="T35" fmla="*/ 138 w 138"/>
                    <a:gd name="T36" fmla="*/ 117 h 1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38" h="117">
                      <a:moveTo>
                        <a:pt x="66" y="109"/>
                      </a:moveTo>
                      <a:lnTo>
                        <a:pt x="0" y="0"/>
                      </a:lnTo>
                      <a:lnTo>
                        <a:pt x="18" y="0"/>
                      </a:lnTo>
                      <a:lnTo>
                        <a:pt x="36" y="0"/>
                      </a:lnTo>
                      <a:lnTo>
                        <a:pt x="52" y="3"/>
                      </a:lnTo>
                      <a:lnTo>
                        <a:pt x="68" y="3"/>
                      </a:lnTo>
                      <a:lnTo>
                        <a:pt x="138" y="117"/>
                      </a:lnTo>
                      <a:lnTo>
                        <a:pt x="119" y="115"/>
                      </a:lnTo>
                      <a:lnTo>
                        <a:pt x="103" y="111"/>
                      </a:lnTo>
                      <a:lnTo>
                        <a:pt x="84" y="111"/>
                      </a:lnTo>
                      <a:lnTo>
                        <a:pt x="66" y="109"/>
                      </a:lnTo>
                      <a:close/>
                    </a:path>
                  </a:pathLst>
                </a:custGeom>
                <a:solidFill>
                  <a:srgbClr val="D89E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03" name="Freeform 352"/>
                <p:cNvSpPr>
                  <a:spLocks/>
                </p:cNvSpPr>
                <p:nvPr/>
              </p:nvSpPr>
              <p:spPr bwMode="auto">
                <a:xfrm>
                  <a:off x="5025" y="1467"/>
                  <a:ext cx="34" cy="32"/>
                </a:xfrm>
                <a:custGeom>
                  <a:avLst/>
                  <a:gdLst>
                    <a:gd name="T0" fmla="*/ 0 w 139"/>
                    <a:gd name="T1" fmla="*/ 0 h 129"/>
                    <a:gd name="T2" fmla="*/ 0 w 139"/>
                    <a:gd name="T3" fmla="*/ 0 h 129"/>
                    <a:gd name="T4" fmla="*/ 0 w 139"/>
                    <a:gd name="T5" fmla="*/ 0 h 129"/>
                    <a:gd name="T6" fmla="*/ 0 w 139"/>
                    <a:gd name="T7" fmla="*/ 0 h 129"/>
                    <a:gd name="T8" fmla="*/ 0 w 139"/>
                    <a:gd name="T9" fmla="*/ 0 h 129"/>
                    <a:gd name="T10" fmla="*/ 0 w 139"/>
                    <a:gd name="T11" fmla="*/ 0 h 129"/>
                    <a:gd name="T12" fmla="*/ 0 w 139"/>
                    <a:gd name="T13" fmla="*/ 0 h 129"/>
                    <a:gd name="T14" fmla="*/ 0 w 139"/>
                    <a:gd name="T15" fmla="*/ 0 h 129"/>
                    <a:gd name="T16" fmla="*/ 0 w 139"/>
                    <a:gd name="T17" fmla="*/ 0 h 129"/>
                    <a:gd name="T18" fmla="*/ 0 w 139"/>
                    <a:gd name="T19" fmla="*/ 0 h 129"/>
                    <a:gd name="T20" fmla="*/ 0 w 139"/>
                    <a:gd name="T21" fmla="*/ 0 h 12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39"/>
                    <a:gd name="T34" fmla="*/ 0 h 129"/>
                    <a:gd name="T35" fmla="*/ 139 w 139"/>
                    <a:gd name="T36" fmla="*/ 129 h 12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39" h="129">
                      <a:moveTo>
                        <a:pt x="65" y="111"/>
                      </a:moveTo>
                      <a:lnTo>
                        <a:pt x="0" y="0"/>
                      </a:lnTo>
                      <a:lnTo>
                        <a:pt x="16" y="3"/>
                      </a:lnTo>
                      <a:lnTo>
                        <a:pt x="33" y="3"/>
                      </a:lnTo>
                      <a:lnTo>
                        <a:pt x="49" y="3"/>
                      </a:lnTo>
                      <a:lnTo>
                        <a:pt x="65" y="3"/>
                      </a:lnTo>
                      <a:lnTo>
                        <a:pt x="139" y="129"/>
                      </a:lnTo>
                      <a:lnTo>
                        <a:pt x="122" y="123"/>
                      </a:lnTo>
                      <a:lnTo>
                        <a:pt x="103" y="120"/>
                      </a:lnTo>
                      <a:lnTo>
                        <a:pt x="84" y="115"/>
                      </a:lnTo>
                      <a:lnTo>
                        <a:pt x="65" y="111"/>
                      </a:lnTo>
                      <a:close/>
                    </a:path>
                  </a:pathLst>
                </a:custGeom>
                <a:solidFill>
                  <a:srgbClr val="D89E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04" name="Freeform 353"/>
                <p:cNvSpPr>
                  <a:spLocks/>
                </p:cNvSpPr>
                <p:nvPr/>
              </p:nvSpPr>
              <p:spPr bwMode="auto">
                <a:xfrm>
                  <a:off x="5032" y="1468"/>
                  <a:ext cx="38" cy="35"/>
                </a:xfrm>
                <a:custGeom>
                  <a:avLst/>
                  <a:gdLst>
                    <a:gd name="T0" fmla="*/ 0 w 152"/>
                    <a:gd name="T1" fmla="*/ 0 h 138"/>
                    <a:gd name="T2" fmla="*/ 0 w 152"/>
                    <a:gd name="T3" fmla="*/ 0 h 138"/>
                    <a:gd name="T4" fmla="*/ 0 w 152"/>
                    <a:gd name="T5" fmla="*/ 0 h 138"/>
                    <a:gd name="T6" fmla="*/ 0 w 152"/>
                    <a:gd name="T7" fmla="*/ 0 h 138"/>
                    <a:gd name="T8" fmla="*/ 0 w 152"/>
                    <a:gd name="T9" fmla="*/ 0 h 138"/>
                    <a:gd name="T10" fmla="*/ 0 w 152"/>
                    <a:gd name="T11" fmla="*/ 0 h 138"/>
                    <a:gd name="T12" fmla="*/ 0 w 152"/>
                    <a:gd name="T13" fmla="*/ 0 h 138"/>
                    <a:gd name="T14" fmla="*/ 0 w 152"/>
                    <a:gd name="T15" fmla="*/ 0 h 138"/>
                    <a:gd name="T16" fmla="*/ 0 w 152"/>
                    <a:gd name="T17" fmla="*/ 0 h 138"/>
                    <a:gd name="T18" fmla="*/ 0 w 152"/>
                    <a:gd name="T19" fmla="*/ 0 h 138"/>
                    <a:gd name="T20" fmla="*/ 0 w 152"/>
                    <a:gd name="T21" fmla="*/ 0 h 138"/>
                    <a:gd name="T22" fmla="*/ 0 w 152"/>
                    <a:gd name="T23" fmla="*/ 0 h 138"/>
                    <a:gd name="T24" fmla="*/ 0 w 152"/>
                    <a:gd name="T25" fmla="*/ 0 h 138"/>
                    <a:gd name="T26" fmla="*/ 0 w 152"/>
                    <a:gd name="T27" fmla="*/ 0 h 138"/>
                    <a:gd name="T28" fmla="*/ 0 w 152"/>
                    <a:gd name="T29" fmla="*/ 0 h 13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52"/>
                    <a:gd name="T46" fmla="*/ 0 h 138"/>
                    <a:gd name="T47" fmla="*/ 152 w 152"/>
                    <a:gd name="T48" fmla="*/ 138 h 138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52" h="138">
                      <a:moveTo>
                        <a:pt x="70" y="114"/>
                      </a:moveTo>
                      <a:lnTo>
                        <a:pt x="0" y="0"/>
                      </a:lnTo>
                      <a:lnTo>
                        <a:pt x="19" y="0"/>
                      </a:lnTo>
                      <a:lnTo>
                        <a:pt x="38" y="2"/>
                      </a:lnTo>
                      <a:lnTo>
                        <a:pt x="54" y="6"/>
                      </a:lnTo>
                      <a:lnTo>
                        <a:pt x="70" y="8"/>
                      </a:lnTo>
                      <a:lnTo>
                        <a:pt x="152" y="138"/>
                      </a:lnTo>
                      <a:lnTo>
                        <a:pt x="141" y="136"/>
                      </a:lnTo>
                      <a:lnTo>
                        <a:pt x="133" y="133"/>
                      </a:lnTo>
                      <a:lnTo>
                        <a:pt x="122" y="131"/>
                      </a:lnTo>
                      <a:lnTo>
                        <a:pt x="111" y="126"/>
                      </a:lnTo>
                      <a:lnTo>
                        <a:pt x="100" y="122"/>
                      </a:lnTo>
                      <a:lnTo>
                        <a:pt x="92" y="120"/>
                      </a:lnTo>
                      <a:lnTo>
                        <a:pt x="81" y="117"/>
                      </a:lnTo>
                      <a:lnTo>
                        <a:pt x="70" y="114"/>
                      </a:lnTo>
                      <a:close/>
                    </a:path>
                  </a:pathLst>
                </a:custGeom>
                <a:solidFill>
                  <a:srgbClr val="DBA3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05" name="Freeform 354"/>
                <p:cNvSpPr>
                  <a:spLocks/>
                </p:cNvSpPr>
                <p:nvPr/>
              </p:nvSpPr>
              <p:spPr bwMode="auto">
                <a:xfrm>
                  <a:off x="5041" y="1468"/>
                  <a:ext cx="39" cy="40"/>
                </a:xfrm>
                <a:custGeom>
                  <a:avLst/>
                  <a:gdLst>
                    <a:gd name="T0" fmla="*/ 0 w 157"/>
                    <a:gd name="T1" fmla="*/ 0 h 161"/>
                    <a:gd name="T2" fmla="*/ 0 w 157"/>
                    <a:gd name="T3" fmla="*/ 0 h 161"/>
                    <a:gd name="T4" fmla="*/ 0 w 157"/>
                    <a:gd name="T5" fmla="*/ 0 h 161"/>
                    <a:gd name="T6" fmla="*/ 0 w 157"/>
                    <a:gd name="T7" fmla="*/ 0 h 161"/>
                    <a:gd name="T8" fmla="*/ 0 w 157"/>
                    <a:gd name="T9" fmla="*/ 0 h 161"/>
                    <a:gd name="T10" fmla="*/ 0 w 157"/>
                    <a:gd name="T11" fmla="*/ 0 h 161"/>
                    <a:gd name="T12" fmla="*/ 0 w 157"/>
                    <a:gd name="T13" fmla="*/ 0 h 161"/>
                    <a:gd name="T14" fmla="*/ 0 w 157"/>
                    <a:gd name="T15" fmla="*/ 0 h 161"/>
                    <a:gd name="T16" fmla="*/ 0 w 157"/>
                    <a:gd name="T17" fmla="*/ 0 h 161"/>
                    <a:gd name="T18" fmla="*/ 0 w 157"/>
                    <a:gd name="T19" fmla="*/ 0 h 161"/>
                    <a:gd name="T20" fmla="*/ 0 w 157"/>
                    <a:gd name="T21" fmla="*/ 0 h 161"/>
                    <a:gd name="T22" fmla="*/ 0 w 157"/>
                    <a:gd name="T23" fmla="*/ 0 h 161"/>
                    <a:gd name="T24" fmla="*/ 0 w 157"/>
                    <a:gd name="T25" fmla="*/ 0 h 161"/>
                    <a:gd name="T26" fmla="*/ 0 w 157"/>
                    <a:gd name="T27" fmla="*/ 0 h 161"/>
                    <a:gd name="T28" fmla="*/ 0 w 157"/>
                    <a:gd name="T29" fmla="*/ 0 h 16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57"/>
                    <a:gd name="T46" fmla="*/ 0 h 161"/>
                    <a:gd name="T47" fmla="*/ 157 w 157"/>
                    <a:gd name="T48" fmla="*/ 161 h 161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57" h="161">
                      <a:moveTo>
                        <a:pt x="74" y="126"/>
                      </a:moveTo>
                      <a:lnTo>
                        <a:pt x="0" y="0"/>
                      </a:lnTo>
                      <a:lnTo>
                        <a:pt x="19" y="2"/>
                      </a:lnTo>
                      <a:lnTo>
                        <a:pt x="38" y="6"/>
                      </a:lnTo>
                      <a:lnTo>
                        <a:pt x="57" y="11"/>
                      </a:lnTo>
                      <a:lnTo>
                        <a:pt x="74" y="13"/>
                      </a:lnTo>
                      <a:lnTo>
                        <a:pt x="157" y="161"/>
                      </a:lnTo>
                      <a:lnTo>
                        <a:pt x="150" y="155"/>
                      </a:lnTo>
                      <a:lnTo>
                        <a:pt x="139" y="149"/>
                      </a:lnTo>
                      <a:lnTo>
                        <a:pt x="128" y="144"/>
                      </a:lnTo>
                      <a:lnTo>
                        <a:pt x="120" y="142"/>
                      </a:lnTo>
                      <a:lnTo>
                        <a:pt x="109" y="136"/>
                      </a:lnTo>
                      <a:lnTo>
                        <a:pt x="98" y="133"/>
                      </a:lnTo>
                      <a:lnTo>
                        <a:pt x="84" y="128"/>
                      </a:lnTo>
                      <a:lnTo>
                        <a:pt x="74" y="126"/>
                      </a:lnTo>
                      <a:close/>
                    </a:path>
                  </a:pathLst>
                </a:custGeom>
                <a:solidFill>
                  <a:srgbClr val="DBA37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06" name="Freeform 355"/>
                <p:cNvSpPr>
                  <a:spLocks/>
                </p:cNvSpPr>
                <p:nvPr/>
              </p:nvSpPr>
              <p:spPr bwMode="auto">
                <a:xfrm>
                  <a:off x="5050" y="1470"/>
                  <a:ext cx="43" cy="44"/>
                </a:xfrm>
                <a:custGeom>
                  <a:avLst/>
                  <a:gdLst>
                    <a:gd name="T0" fmla="*/ 0 w 175"/>
                    <a:gd name="T1" fmla="*/ 0 h 176"/>
                    <a:gd name="T2" fmla="*/ 0 w 175"/>
                    <a:gd name="T3" fmla="*/ 0 h 176"/>
                    <a:gd name="T4" fmla="*/ 0 w 175"/>
                    <a:gd name="T5" fmla="*/ 0 h 176"/>
                    <a:gd name="T6" fmla="*/ 0 w 175"/>
                    <a:gd name="T7" fmla="*/ 0 h 176"/>
                    <a:gd name="T8" fmla="*/ 0 w 175"/>
                    <a:gd name="T9" fmla="*/ 0 h 176"/>
                    <a:gd name="T10" fmla="*/ 0 w 175"/>
                    <a:gd name="T11" fmla="*/ 0 h 176"/>
                    <a:gd name="T12" fmla="*/ 0 w 175"/>
                    <a:gd name="T13" fmla="*/ 0 h 176"/>
                    <a:gd name="T14" fmla="*/ 0 w 175"/>
                    <a:gd name="T15" fmla="*/ 0 h 176"/>
                    <a:gd name="T16" fmla="*/ 0 w 175"/>
                    <a:gd name="T17" fmla="*/ 0 h 176"/>
                    <a:gd name="T18" fmla="*/ 0 w 175"/>
                    <a:gd name="T19" fmla="*/ 0 h 176"/>
                    <a:gd name="T20" fmla="*/ 0 w 175"/>
                    <a:gd name="T21" fmla="*/ 0 h 176"/>
                    <a:gd name="T22" fmla="*/ 0 w 175"/>
                    <a:gd name="T23" fmla="*/ 0 h 176"/>
                    <a:gd name="T24" fmla="*/ 0 w 175"/>
                    <a:gd name="T25" fmla="*/ 0 h 176"/>
                    <a:gd name="T26" fmla="*/ 0 w 175"/>
                    <a:gd name="T27" fmla="*/ 0 h 176"/>
                    <a:gd name="T28" fmla="*/ 0 w 175"/>
                    <a:gd name="T29" fmla="*/ 0 h 17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75"/>
                    <a:gd name="T46" fmla="*/ 0 h 176"/>
                    <a:gd name="T47" fmla="*/ 175 w 175"/>
                    <a:gd name="T48" fmla="*/ 176 h 17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75" h="176">
                      <a:moveTo>
                        <a:pt x="82" y="130"/>
                      </a:moveTo>
                      <a:lnTo>
                        <a:pt x="0" y="0"/>
                      </a:lnTo>
                      <a:lnTo>
                        <a:pt x="20" y="0"/>
                      </a:lnTo>
                      <a:lnTo>
                        <a:pt x="39" y="3"/>
                      </a:lnTo>
                      <a:lnTo>
                        <a:pt x="55" y="5"/>
                      </a:lnTo>
                      <a:lnTo>
                        <a:pt x="74" y="8"/>
                      </a:lnTo>
                      <a:lnTo>
                        <a:pt x="175" y="176"/>
                      </a:lnTo>
                      <a:lnTo>
                        <a:pt x="164" y="171"/>
                      </a:lnTo>
                      <a:lnTo>
                        <a:pt x="152" y="166"/>
                      </a:lnTo>
                      <a:lnTo>
                        <a:pt x="141" y="158"/>
                      </a:lnTo>
                      <a:lnTo>
                        <a:pt x="129" y="153"/>
                      </a:lnTo>
                      <a:lnTo>
                        <a:pt x="117" y="147"/>
                      </a:lnTo>
                      <a:lnTo>
                        <a:pt x="106" y="141"/>
                      </a:lnTo>
                      <a:lnTo>
                        <a:pt x="93" y="136"/>
                      </a:lnTo>
                      <a:lnTo>
                        <a:pt x="82" y="130"/>
                      </a:lnTo>
                      <a:close/>
                    </a:path>
                  </a:pathLst>
                </a:custGeom>
                <a:solidFill>
                  <a:srgbClr val="DBA57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07" name="Freeform 356"/>
                <p:cNvSpPr>
                  <a:spLocks noEditPoints="1"/>
                </p:cNvSpPr>
                <p:nvPr/>
              </p:nvSpPr>
              <p:spPr bwMode="auto">
                <a:xfrm>
                  <a:off x="5059" y="1471"/>
                  <a:ext cx="85" cy="117"/>
                </a:xfrm>
                <a:custGeom>
                  <a:avLst/>
                  <a:gdLst>
                    <a:gd name="T0" fmla="*/ 0 w 339"/>
                    <a:gd name="T1" fmla="*/ 0 h 466"/>
                    <a:gd name="T2" fmla="*/ 0 w 339"/>
                    <a:gd name="T3" fmla="*/ 0 h 466"/>
                    <a:gd name="T4" fmla="*/ 0 w 339"/>
                    <a:gd name="T5" fmla="*/ 0 h 466"/>
                    <a:gd name="T6" fmla="*/ 0 w 339"/>
                    <a:gd name="T7" fmla="*/ 0 h 466"/>
                    <a:gd name="T8" fmla="*/ 0 w 339"/>
                    <a:gd name="T9" fmla="*/ 0 h 466"/>
                    <a:gd name="T10" fmla="*/ 0 w 339"/>
                    <a:gd name="T11" fmla="*/ 0 h 466"/>
                    <a:gd name="T12" fmla="*/ 0 w 339"/>
                    <a:gd name="T13" fmla="*/ 0 h 466"/>
                    <a:gd name="T14" fmla="*/ 0 w 339"/>
                    <a:gd name="T15" fmla="*/ 0 h 466"/>
                    <a:gd name="T16" fmla="*/ 0 w 339"/>
                    <a:gd name="T17" fmla="*/ 0 h 466"/>
                    <a:gd name="T18" fmla="*/ 0 w 339"/>
                    <a:gd name="T19" fmla="*/ 0 h 466"/>
                    <a:gd name="T20" fmla="*/ 0 w 339"/>
                    <a:gd name="T21" fmla="*/ 0 h 466"/>
                    <a:gd name="T22" fmla="*/ 0 w 339"/>
                    <a:gd name="T23" fmla="*/ 0 h 466"/>
                    <a:gd name="T24" fmla="*/ 0 w 339"/>
                    <a:gd name="T25" fmla="*/ 0 h 466"/>
                    <a:gd name="T26" fmla="*/ 0 w 339"/>
                    <a:gd name="T27" fmla="*/ 0 h 466"/>
                    <a:gd name="T28" fmla="*/ 0 w 339"/>
                    <a:gd name="T29" fmla="*/ 0 h 466"/>
                    <a:gd name="T30" fmla="*/ 0 w 339"/>
                    <a:gd name="T31" fmla="*/ 0 h 466"/>
                    <a:gd name="T32" fmla="*/ 0 w 339"/>
                    <a:gd name="T33" fmla="*/ 0 h 466"/>
                    <a:gd name="T34" fmla="*/ 0 w 339"/>
                    <a:gd name="T35" fmla="*/ 0 h 466"/>
                    <a:gd name="T36" fmla="*/ 0 w 339"/>
                    <a:gd name="T37" fmla="*/ 0 h 466"/>
                    <a:gd name="T38" fmla="*/ 0 w 339"/>
                    <a:gd name="T39" fmla="*/ 0 h 466"/>
                    <a:gd name="T40" fmla="*/ 0 w 339"/>
                    <a:gd name="T41" fmla="*/ 0 h 466"/>
                    <a:gd name="T42" fmla="*/ 0 w 339"/>
                    <a:gd name="T43" fmla="*/ 0 h 466"/>
                    <a:gd name="T44" fmla="*/ 0 w 339"/>
                    <a:gd name="T45" fmla="*/ 0 h 466"/>
                    <a:gd name="T46" fmla="*/ 0 w 339"/>
                    <a:gd name="T47" fmla="*/ 0 h 466"/>
                    <a:gd name="T48" fmla="*/ 0 w 339"/>
                    <a:gd name="T49" fmla="*/ 0 h 46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339"/>
                    <a:gd name="T76" fmla="*/ 0 h 466"/>
                    <a:gd name="T77" fmla="*/ 339 w 339"/>
                    <a:gd name="T78" fmla="*/ 466 h 46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339" h="466">
                      <a:moveTo>
                        <a:pt x="83" y="148"/>
                      </a:moveTo>
                      <a:lnTo>
                        <a:pt x="0" y="0"/>
                      </a:lnTo>
                      <a:lnTo>
                        <a:pt x="19" y="3"/>
                      </a:lnTo>
                      <a:lnTo>
                        <a:pt x="37" y="7"/>
                      </a:lnTo>
                      <a:lnTo>
                        <a:pt x="56" y="12"/>
                      </a:lnTo>
                      <a:lnTo>
                        <a:pt x="73" y="17"/>
                      </a:lnTo>
                      <a:lnTo>
                        <a:pt x="190" y="213"/>
                      </a:lnTo>
                      <a:lnTo>
                        <a:pt x="178" y="205"/>
                      </a:lnTo>
                      <a:lnTo>
                        <a:pt x="168" y="194"/>
                      </a:lnTo>
                      <a:lnTo>
                        <a:pt x="155" y="185"/>
                      </a:lnTo>
                      <a:lnTo>
                        <a:pt x="143" y="178"/>
                      </a:lnTo>
                      <a:lnTo>
                        <a:pt x="130" y="169"/>
                      </a:lnTo>
                      <a:lnTo>
                        <a:pt x="113" y="161"/>
                      </a:lnTo>
                      <a:lnTo>
                        <a:pt x="100" y="153"/>
                      </a:lnTo>
                      <a:lnTo>
                        <a:pt x="83" y="148"/>
                      </a:lnTo>
                      <a:close/>
                      <a:moveTo>
                        <a:pt x="326" y="436"/>
                      </a:moveTo>
                      <a:lnTo>
                        <a:pt x="339" y="466"/>
                      </a:lnTo>
                      <a:lnTo>
                        <a:pt x="337" y="466"/>
                      </a:lnTo>
                      <a:lnTo>
                        <a:pt x="333" y="466"/>
                      </a:lnTo>
                      <a:lnTo>
                        <a:pt x="331" y="466"/>
                      </a:lnTo>
                      <a:lnTo>
                        <a:pt x="328" y="466"/>
                      </a:lnTo>
                      <a:lnTo>
                        <a:pt x="328" y="457"/>
                      </a:lnTo>
                      <a:lnTo>
                        <a:pt x="328" y="450"/>
                      </a:lnTo>
                      <a:lnTo>
                        <a:pt x="328" y="441"/>
                      </a:lnTo>
                      <a:lnTo>
                        <a:pt x="326" y="436"/>
                      </a:lnTo>
                      <a:close/>
                    </a:path>
                  </a:pathLst>
                </a:custGeom>
                <a:solidFill>
                  <a:srgbClr val="DDAA7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08" name="Freeform 357"/>
                <p:cNvSpPr>
                  <a:spLocks/>
                </p:cNvSpPr>
                <p:nvPr/>
              </p:nvSpPr>
              <p:spPr bwMode="auto">
                <a:xfrm>
                  <a:off x="5068" y="1472"/>
                  <a:ext cx="85" cy="116"/>
                </a:xfrm>
                <a:custGeom>
                  <a:avLst/>
                  <a:gdLst>
                    <a:gd name="T0" fmla="*/ 0 w 339"/>
                    <a:gd name="T1" fmla="*/ 0 h 463"/>
                    <a:gd name="T2" fmla="*/ 0 w 339"/>
                    <a:gd name="T3" fmla="*/ 0 h 463"/>
                    <a:gd name="T4" fmla="*/ 0 w 339"/>
                    <a:gd name="T5" fmla="*/ 0 h 463"/>
                    <a:gd name="T6" fmla="*/ 0 w 339"/>
                    <a:gd name="T7" fmla="*/ 0 h 463"/>
                    <a:gd name="T8" fmla="*/ 0 w 339"/>
                    <a:gd name="T9" fmla="*/ 0 h 463"/>
                    <a:gd name="T10" fmla="*/ 0 w 339"/>
                    <a:gd name="T11" fmla="*/ 0 h 463"/>
                    <a:gd name="T12" fmla="*/ 0 w 339"/>
                    <a:gd name="T13" fmla="*/ 0 h 463"/>
                    <a:gd name="T14" fmla="*/ 0 w 339"/>
                    <a:gd name="T15" fmla="*/ 0 h 463"/>
                    <a:gd name="T16" fmla="*/ 0 w 339"/>
                    <a:gd name="T17" fmla="*/ 0 h 463"/>
                    <a:gd name="T18" fmla="*/ 0 w 339"/>
                    <a:gd name="T19" fmla="*/ 0 h 463"/>
                    <a:gd name="T20" fmla="*/ 0 w 339"/>
                    <a:gd name="T21" fmla="*/ 0 h 463"/>
                    <a:gd name="T22" fmla="*/ 0 w 339"/>
                    <a:gd name="T23" fmla="*/ 0 h 463"/>
                    <a:gd name="T24" fmla="*/ 0 w 339"/>
                    <a:gd name="T25" fmla="*/ 0 h 463"/>
                    <a:gd name="T26" fmla="*/ 0 w 339"/>
                    <a:gd name="T27" fmla="*/ 0 h 463"/>
                    <a:gd name="T28" fmla="*/ 0 w 339"/>
                    <a:gd name="T29" fmla="*/ 0 h 463"/>
                    <a:gd name="T30" fmla="*/ 0 w 339"/>
                    <a:gd name="T31" fmla="*/ 0 h 463"/>
                    <a:gd name="T32" fmla="*/ 0 w 339"/>
                    <a:gd name="T33" fmla="*/ 0 h 463"/>
                    <a:gd name="T34" fmla="*/ 0 w 339"/>
                    <a:gd name="T35" fmla="*/ 0 h 463"/>
                    <a:gd name="T36" fmla="*/ 0 w 339"/>
                    <a:gd name="T37" fmla="*/ 0 h 463"/>
                    <a:gd name="T38" fmla="*/ 0 w 339"/>
                    <a:gd name="T39" fmla="*/ 0 h 463"/>
                    <a:gd name="T40" fmla="*/ 0 w 339"/>
                    <a:gd name="T41" fmla="*/ 0 h 463"/>
                    <a:gd name="T42" fmla="*/ 0 w 339"/>
                    <a:gd name="T43" fmla="*/ 0 h 463"/>
                    <a:gd name="T44" fmla="*/ 0 w 339"/>
                    <a:gd name="T45" fmla="*/ 0 h 463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339"/>
                    <a:gd name="T70" fmla="*/ 0 h 463"/>
                    <a:gd name="T71" fmla="*/ 339 w 339"/>
                    <a:gd name="T72" fmla="*/ 463 h 463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339" h="463">
                      <a:moveTo>
                        <a:pt x="101" y="168"/>
                      </a:moveTo>
                      <a:lnTo>
                        <a:pt x="0" y="0"/>
                      </a:lnTo>
                      <a:lnTo>
                        <a:pt x="11" y="4"/>
                      </a:lnTo>
                      <a:lnTo>
                        <a:pt x="21" y="6"/>
                      </a:lnTo>
                      <a:lnTo>
                        <a:pt x="30" y="9"/>
                      </a:lnTo>
                      <a:lnTo>
                        <a:pt x="41" y="11"/>
                      </a:lnTo>
                      <a:lnTo>
                        <a:pt x="51" y="14"/>
                      </a:lnTo>
                      <a:lnTo>
                        <a:pt x="62" y="16"/>
                      </a:lnTo>
                      <a:lnTo>
                        <a:pt x="71" y="20"/>
                      </a:lnTo>
                      <a:lnTo>
                        <a:pt x="81" y="22"/>
                      </a:lnTo>
                      <a:lnTo>
                        <a:pt x="339" y="463"/>
                      </a:lnTo>
                      <a:lnTo>
                        <a:pt x="328" y="463"/>
                      </a:lnTo>
                      <a:lnTo>
                        <a:pt x="318" y="459"/>
                      </a:lnTo>
                      <a:lnTo>
                        <a:pt x="307" y="459"/>
                      </a:lnTo>
                      <a:lnTo>
                        <a:pt x="293" y="463"/>
                      </a:lnTo>
                      <a:lnTo>
                        <a:pt x="285" y="417"/>
                      </a:lnTo>
                      <a:lnTo>
                        <a:pt x="274" y="370"/>
                      </a:lnTo>
                      <a:lnTo>
                        <a:pt x="256" y="329"/>
                      </a:lnTo>
                      <a:lnTo>
                        <a:pt x="231" y="291"/>
                      </a:lnTo>
                      <a:lnTo>
                        <a:pt x="203" y="256"/>
                      </a:lnTo>
                      <a:lnTo>
                        <a:pt x="173" y="223"/>
                      </a:lnTo>
                      <a:lnTo>
                        <a:pt x="138" y="193"/>
                      </a:lnTo>
                      <a:lnTo>
                        <a:pt x="101" y="168"/>
                      </a:lnTo>
                      <a:close/>
                    </a:path>
                  </a:pathLst>
                </a:custGeom>
                <a:solidFill>
                  <a:srgbClr val="E0AF7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09" name="Freeform 358"/>
                <p:cNvSpPr>
                  <a:spLocks/>
                </p:cNvSpPr>
                <p:nvPr/>
              </p:nvSpPr>
              <p:spPr bwMode="auto">
                <a:xfrm>
                  <a:off x="5078" y="1476"/>
                  <a:ext cx="84" cy="112"/>
                </a:xfrm>
                <a:custGeom>
                  <a:avLst/>
                  <a:gdLst>
                    <a:gd name="T0" fmla="*/ 0 w 336"/>
                    <a:gd name="T1" fmla="*/ 0 h 449"/>
                    <a:gd name="T2" fmla="*/ 0 w 336"/>
                    <a:gd name="T3" fmla="*/ 0 h 449"/>
                    <a:gd name="T4" fmla="*/ 0 w 336"/>
                    <a:gd name="T5" fmla="*/ 0 h 449"/>
                    <a:gd name="T6" fmla="*/ 0 w 336"/>
                    <a:gd name="T7" fmla="*/ 0 h 449"/>
                    <a:gd name="T8" fmla="*/ 0 w 336"/>
                    <a:gd name="T9" fmla="*/ 0 h 449"/>
                    <a:gd name="T10" fmla="*/ 0 w 336"/>
                    <a:gd name="T11" fmla="*/ 0 h 449"/>
                    <a:gd name="T12" fmla="*/ 0 w 336"/>
                    <a:gd name="T13" fmla="*/ 0 h 449"/>
                    <a:gd name="T14" fmla="*/ 0 w 336"/>
                    <a:gd name="T15" fmla="*/ 0 h 449"/>
                    <a:gd name="T16" fmla="*/ 0 w 336"/>
                    <a:gd name="T17" fmla="*/ 0 h 449"/>
                    <a:gd name="T18" fmla="*/ 0 w 336"/>
                    <a:gd name="T19" fmla="*/ 0 h 449"/>
                    <a:gd name="T20" fmla="*/ 0 w 336"/>
                    <a:gd name="T21" fmla="*/ 0 h 449"/>
                    <a:gd name="T22" fmla="*/ 0 w 336"/>
                    <a:gd name="T23" fmla="*/ 0 h 449"/>
                    <a:gd name="T24" fmla="*/ 0 w 336"/>
                    <a:gd name="T25" fmla="*/ 0 h 449"/>
                    <a:gd name="T26" fmla="*/ 0 w 336"/>
                    <a:gd name="T27" fmla="*/ 0 h 449"/>
                    <a:gd name="T28" fmla="*/ 0 w 336"/>
                    <a:gd name="T29" fmla="*/ 0 h 449"/>
                    <a:gd name="T30" fmla="*/ 0 w 336"/>
                    <a:gd name="T31" fmla="*/ 0 h 449"/>
                    <a:gd name="T32" fmla="*/ 0 w 336"/>
                    <a:gd name="T33" fmla="*/ 0 h 449"/>
                    <a:gd name="T34" fmla="*/ 0 w 336"/>
                    <a:gd name="T35" fmla="*/ 0 h 449"/>
                    <a:gd name="T36" fmla="*/ 0 w 336"/>
                    <a:gd name="T37" fmla="*/ 0 h 449"/>
                    <a:gd name="T38" fmla="*/ 0 w 336"/>
                    <a:gd name="T39" fmla="*/ 0 h 449"/>
                    <a:gd name="T40" fmla="*/ 0 w 336"/>
                    <a:gd name="T41" fmla="*/ 0 h 449"/>
                    <a:gd name="T42" fmla="*/ 0 w 336"/>
                    <a:gd name="T43" fmla="*/ 0 h 449"/>
                    <a:gd name="T44" fmla="*/ 0 w 336"/>
                    <a:gd name="T45" fmla="*/ 0 h 449"/>
                    <a:gd name="T46" fmla="*/ 0 w 336"/>
                    <a:gd name="T47" fmla="*/ 0 h 449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336"/>
                    <a:gd name="T73" fmla="*/ 0 h 449"/>
                    <a:gd name="T74" fmla="*/ 336 w 336"/>
                    <a:gd name="T75" fmla="*/ 449 h 449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336" h="449">
                      <a:moveTo>
                        <a:pt x="266" y="449"/>
                      </a:moveTo>
                      <a:lnTo>
                        <a:pt x="253" y="419"/>
                      </a:lnTo>
                      <a:lnTo>
                        <a:pt x="244" y="385"/>
                      </a:lnTo>
                      <a:lnTo>
                        <a:pt x="234" y="356"/>
                      </a:lnTo>
                      <a:lnTo>
                        <a:pt x="220" y="326"/>
                      </a:lnTo>
                      <a:lnTo>
                        <a:pt x="204" y="297"/>
                      </a:lnTo>
                      <a:lnTo>
                        <a:pt x="185" y="269"/>
                      </a:lnTo>
                      <a:lnTo>
                        <a:pt x="165" y="244"/>
                      </a:lnTo>
                      <a:lnTo>
                        <a:pt x="141" y="220"/>
                      </a:lnTo>
                      <a:lnTo>
                        <a:pt x="117" y="196"/>
                      </a:lnTo>
                      <a:lnTo>
                        <a:pt x="0" y="0"/>
                      </a:lnTo>
                      <a:lnTo>
                        <a:pt x="10" y="2"/>
                      </a:lnTo>
                      <a:lnTo>
                        <a:pt x="22" y="2"/>
                      </a:lnTo>
                      <a:lnTo>
                        <a:pt x="29" y="6"/>
                      </a:lnTo>
                      <a:lnTo>
                        <a:pt x="40" y="8"/>
                      </a:lnTo>
                      <a:lnTo>
                        <a:pt x="52" y="11"/>
                      </a:lnTo>
                      <a:lnTo>
                        <a:pt x="63" y="16"/>
                      </a:lnTo>
                      <a:lnTo>
                        <a:pt x="70" y="18"/>
                      </a:lnTo>
                      <a:lnTo>
                        <a:pt x="82" y="22"/>
                      </a:lnTo>
                      <a:lnTo>
                        <a:pt x="336" y="449"/>
                      </a:lnTo>
                      <a:lnTo>
                        <a:pt x="320" y="449"/>
                      </a:lnTo>
                      <a:lnTo>
                        <a:pt x="301" y="445"/>
                      </a:lnTo>
                      <a:lnTo>
                        <a:pt x="285" y="445"/>
                      </a:lnTo>
                      <a:lnTo>
                        <a:pt x="266" y="449"/>
                      </a:lnTo>
                      <a:close/>
                    </a:path>
                  </a:pathLst>
                </a:custGeom>
                <a:solidFill>
                  <a:srgbClr val="E2B57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10" name="Freeform 359"/>
                <p:cNvSpPr>
                  <a:spLocks/>
                </p:cNvSpPr>
                <p:nvPr/>
              </p:nvSpPr>
              <p:spPr bwMode="auto">
                <a:xfrm>
                  <a:off x="5089" y="1477"/>
                  <a:ext cx="82" cy="112"/>
                </a:xfrm>
                <a:custGeom>
                  <a:avLst/>
                  <a:gdLst>
                    <a:gd name="T0" fmla="*/ 0 w 329"/>
                    <a:gd name="T1" fmla="*/ 0 h 446"/>
                    <a:gd name="T2" fmla="*/ 0 w 329"/>
                    <a:gd name="T3" fmla="*/ 0 h 446"/>
                    <a:gd name="T4" fmla="*/ 0 w 329"/>
                    <a:gd name="T5" fmla="*/ 0 h 446"/>
                    <a:gd name="T6" fmla="*/ 0 w 329"/>
                    <a:gd name="T7" fmla="*/ 0 h 446"/>
                    <a:gd name="T8" fmla="*/ 0 w 329"/>
                    <a:gd name="T9" fmla="*/ 0 h 446"/>
                    <a:gd name="T10" fmla="*/ 0 w 329"/>
                    <a:gd name="T11" fmla="*/ 0 h 446"/>
                    <a:gd name="T12" fmla="*/ 0 w 329"/>
                    <a:gd name="T13" fmla="*/ 0 h 446"/>
                    <a:gd name="T14" fmla="*/ 0 w 329"/>
                    <a:gd name="T15" fmla="*/ 0 h 446"/>
                    <a:gd name="T16" fmla="*/ 0 w 329"/>
                    <a:gd name="T17" fmla="*/ 0 h 446"/>
                    <a:gd name="T18" fmla="*/ 0 w 329"/>
                    <a:gd name="T19" fmla="*/ 0 h 446"/>
                    <a:gd name="T20" fmla="*/ 0 w 329"/>
                    <a:gd name="T21" fmla="*/ 0 h 446"/>
                    <a:gd name="T22" fmla="*/ 0 w 329"/>
                    <a:gd name="T23" fmla="*/ 0 h 446"/>
                    <a:gd name="T24" fmla="*/ 0 w 329"/>
                    <a:gd name="T25" fmla="*/ 0 h 446"/>
                    <a:gd name="T26" fmla="*/ 0 w 329"/>
                    <a:gd name="T27" fmla="*/ 0 h 446"/>
                    <a:gd name="T28" fmla="*/ 0 w 329"/>
                    <a:gd name="T29" fmla="*/ 0 h 44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329"/>
                    <a:gd name="T46" fmla="*/ 0 h 446"/>
                    <a:gd name="T47" fmla="*/ 329 w 329"/>
                    <a:gd name="T48" fmla="*/ 446 h 44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329" h="446">
                      <a:moveTo>
                        <a:pt x="258" y="441"/>
                      </a:moveTo>
                      <a:lnTo>
                        <a:pt x="0" y="0"/>
                      </a:lnTo>
                      <a:lnTo>
                        <a:pt x="11" y="3"/>
                      </a:lnTo>
                      <a:lnTo>
                        <a:pt x="22" y="5"/>
                      </a:lnTo>
                      <a:lnTo>
                        <a:pt x="32" y="8"/>
                      </a:lnTo>
                      <a:lnTo>
                        <a:pt x="41" y="14"/>
                      </a:lnTo>
                      <a:lnTo>
                        <a:pt x="52" y="17"/>
                      </a:lnTo>
                      <a:lnTo>
                        <a:pt x="62" y="22"/>
                      </a:lnTo>
                      <a:lnTo>
                        <a:pt x="74" y="24"/>
                      </a:lnTo>
                      <a:lnTo>
                        <a:pt x="82" y="30"/>
                      </a:lnTo>
                      <a:lnTo>
                        <a:pt x="329" y="446"/>
                      </a:lnTo>
                      <a:lnTo>
                        <a:pt x="311" y="443"/>
                      </a:lnTo>
                      <a:lnTo>
                        <a:pt x="293" y="441"/>
                      </a:lnTo>
                      <a:lnTo>
                        <a:pt x="277" y="441"/>
                      </a:lnTo>
                      <a:lnTo>
                        <a:pt x="258" y="441"/>
                      </a:lnTo>
                      <a:close/>
                    </a:path>
                  </a:pathLst>
                </a:custGeom>
                <a:solidFill>
                  <a:srgbClr val="E2B7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11" name="Freeform 360"/>
                <p:cNvSpPr>
                  <a:spLocks/>
                </p:cNvSpPr>
                <p:nvPr/>
              </p:nvSpPr>
              <p:spPr bwMode="auto">
                <a:xfrm>
                  <a:off x="5098" y="1481"/>
                  <a:ext cx="80" cy="109"/>
                </a:xfrm>
                <a:custGeom>
                  <a:avLst/>
                  <a:gdLst>
                    <a:gd name="T0" fmla="*/ 0 w 320"/>
                    <a:gd name="T1" fmla="*/ 0 h 434"/>
                    <a:gd name="T2" fmla="*/ 0 w 320"/>
                    <a:gd name="T3" fmla="*/ 0 h 434"/>
                    <a:gd name="T4" fmla="*/ 0 w 320"/>
                    <a:gd name="T5" fmla="*/ 0 h 434"/>
                    <a:gd name="T6" fmla="*/ 0 w 320"/>
                    <a:gd name="T7" fmla="*/ 0 h 434"/>
                    <a:gd name="T8" fmla="*/ 0 w 320"/>
                    <a:gd name="T9" fmla="*/ 0 h 434"/>
                    <a:gd name="T10" fmla="*/ 0 w 320"/>
                    <a:gd name="T11" fmla="*/ 0 h 434"/>
                    <a:gd name="T12" fmla="*/ 0 w 320"/>
                    <a:gd name="T13" fmla="*/ 0 h 434"/>
                    <a:gd name="T14" fmla="*/ 0 w 320"/>
                    <a:gd name="T15" fmla="*/ 0 h 434"/>
                    <a:gd name="T16" fmla="*/ 0 w 320"/>
                    <a:gd name="T17" fmla="*/ 0 h 434"/>
                    <a:gd name="T18" fmla="*/ 0 w 320"/>
                    <a:gd name="T19" fmla="*/ 0 h 434"/>
                    <a:gd name="T20" fmla="*/ 0 w 320"/>
                    <a:gd name="T21" fmla="*/ 0 h 434"/>
                    <a:gd name="T22" fmla="*/ 0 w 320"/>
                    <a:gd name="T23" fmla="*/ 0 h 434"/>
                    <a:gd name="T24" fmla="*/ 0 w 320"/>
                    <a:gd name="T25" fmla="*/ 0 h 434"/>
                    <a:gd name="T26" fmla="*/ 0 w 320"/>
                    <a:gd name="T27" fmla="*/ 0 h 434"/>
                    <a:gd name="T28" fmla="*/ 0 w 320"/>
                    <a:gd name="T29" fmla="*/ 0 h 43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320"/>
                    <a:gd name="T46" fmla="*/ 0 h 434"/>
                    <a:gd name="T47" fmla="*/ 320 w 320"/>
                    <a:gd name="T48" fmla="*/ 434 h 43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320" h="434">
                      <a:moveTo>
                        <a:pt x="254" y="427"/>
                      </a:moveTo>
                      <a:lnTo>
                        <a:pt x="0" y="0"/>
                      </a:lnTo>
                      <a:lnTo>
                        <a:pt x="11" y="3"/>
                      </a:lnTo>
                      <a:lnTo>
                        <a:pt x="21" y="8"/>
                      </a:lnTo>
                      <a:lnTo>
                        <a:pt x="35" y="10"/>
                      </a:lnTo>
                      <a:lnTo>
                        <a:pt x="46" y="16"/>
                      </a:lnTo>
                      <a:lnTo>
                        <a:pt x="57" y="19"/>
                      </a:lnTo>
                      <a:lnTo>
                        <a:pt x="67" y="24"/>
                      </a:lnTo>
                      <a:lnTo>
                        <a:pt x="78" y="26"/>
                      </a:lnTo>
                      <a:lnTo>
                        <a:pt x="89" y="32"/>
                      </a:lnTo>
                      <a:lnTo>
                        <a:pt x="320" y="434"/>
                      </a:lnTo>
                      <a:lnTo>
                        <a:pt x="300" y="432"/>
                      </a:lnTo>
                      <a:lnTo>
                        <a:pt x="284" y="429"/>
                      </a:lnTo>
                      <a:lnTo>
                        <a:pt x="268" y="427"/>
                      </a:lnTo>
                      <a:lnTo>
                        <a:pt x="254" y="427"/>
                      </a:lnTo>
                      <a:close/>
                    </a:path>
                  </a:pathLst>
                </a:custGeom>
                <a:solidFill>
                  <a:srgbClr val="E5BC8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12" name="Freeform 361"/>
                <p:cNvSpPr>
                  <a:spLocks/>
                </p:cNvSpPr>
                <p:nvPr/>
              </p:nvSpPr>
              <p:spPr bwMode="auto">
                <a:xfrm>
                  <a:off x="5109" y="1485"/>
                  <a:ext cx="78" cy="104"/>
                </a:xfrm>
                <a:custGeom>
                  <a:avLst/>
                  <a:gdLst>
                    <a:gd name="T0" fmla="*/ 0 w 312"/>
                    <a:gd name="T1" fmla="*/ 0 h 416"/>
                    <a:gd name="T2" fmla="*/ 0 w 312"/>
                    <a:gd name="T3" fmla="*/ 0 h 416"/>
                    <a:gd name="T4" fmla="*/ 0 w 312"/>
                    <a:gd name="T5" fmla="*/ 0 h 416"/>
                    <a:gd name="T6" fmla="*/ 0 w 312"/>
                    <a:gd name="T7" fmla="*/ 0 h 416"/>
                    <a:gd name="T8" fmla="*/ 0 w 312"/>
                    <a:gd name="T9" fmla="*/ 0 h 416"/>
                    <a:gd name="T10" fmla="*/ 0 w 312"/>
                    <a:gd name="T11" fmla="*/ 0 h 416"/>
                    <a:gd name="T12" fmla="*/ 0 w 312"/>
                    <a:gd name="T13" fmla="*/ 0 h 416"/>
                    <a:gd name="T14" fmla="*/ 0 w 312"/>
                    <a:gd name="T15" fmla="*/ 0 h 416"/>
                    <a:gd name="T16" fmla="*/ 0 w 312"/>
                    <a:gd name="T17" fmla="*/ 0 h 416"/>
                    <a:gd name="T18" fmla="*/ 0 w 312"/>
                    <a:gd name="T19" fmla="*/ 0 h 416"/>
                    <a:gd name="T20" fmla="*/ 0 w 312"/>
                    <a:gd name="T21" fmla="*/ 0 h 416"/>
                    <a:gd name="T22" fmla="*/ 0 w 312"/>
                    <a:gd name="T23" fmla="*/ 0 h 416"/>
                    <a:gd name="T24" fmla="*/ 0 w 312"/>
                    <a:gd name="T25" fmla="*/ 0 h 416"/>
                    <a:gd name="T26" fmla="*/ 0 w 312"/>
                    <a:gd name="T27" fmla="*/ 0 h 416"/>
                    <a:gd name="T28" fmla="*/ 0 w 312"/>
                    <a:gd name="T29" fmla="*/ 0 h 41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312"/>
                    <a:gd name="T46" fmla="*/ 0 h 416"/>
                    <a:gd name="T47" fmla="*/ 312 w 312"/>
                    <a:gd name="T48" fmla="*/ 416 h 41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312" h="416">
                      <a:moveTo>
                        <a:pt x="247" y="416"/>
                      </a:moveTo>
                      <a:lnTo>
                        <a:pt x="0" y="0"/>
                      </a:lnTo>
                      <a:lnTo>
                        <a:pt x="10" y="5"/>
                      </a:lnTo>
                      <a:lnTo>
                        <a:pt x="24" y="8"/>
                      </a:lnTo>
                      <a:lnTo>
                        <a:pt x="35" y="14"/>
                      </a:lnTo>
                      <a:lnTo>
                        <a:pt x="46" y="19"/>
                      </a:lnTo>
                      <a:lnTo>
                        <a:pt x="60" y="24"/>
                      </a:lnTo>
                      <a:lnTo>
                        <a:pt x="70" y="30"/>
                      </a:lnTo>
                      <a:lnTo>
                        <a:pt x="81" y="35"/>
                      </a:lnTo>
                      <a:lnTo>
                        <a:pt x="93" y="40"/>
                      </a:lnTo>
                      <a:lnTo>
                        <a:pt x="312" y="416"/>
                      </a:lnTo>
                      <a:lnTo>
                        <a:pt x="293" y="416"/>
                      </a:lnTo>
                      <a:lnTo>
                        <a:pt x="277" y="416"/>
                      </a:lnTo>
                      <a:lnTo>
                        <a:pt x="261" y="416"/>
                      </a:lnTo>
                      <a:lnTo>
                        <a:pt x="247" y="416"/>
                      </a:lnTo>
                      <a:close/>
                    </a:path>
                  </a:pathLst>
                </a:custGeom>
                <a:solidFill>
                  <a:srgbClr val="E8C18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13" name="Freeform 362"/>
                <p:cNvSpPr>
                  <a:spLocks/>
                </p:cNvSpPr>
                <p:nvPr/>
              </p:nvSpPr>
              <p:spPr bwMode="auto">
                <a:xfrm>
                  <a:off x="5120" y="1489"/>
                  <a:ext cx="72" cy="101"/>
                </a:xfrm>
                <a:custGeom>
                  <a:avLst/>
                  <a:gdLst>
                    <a:gd name="T0" fmla="*/ 0 w 285"/>
                    <a:gd name="T1" fmla="*/ 0 h 402"/>
                    <a:gd name="T2" fmla="*/ 0 w 285"/>
                    <a:gd name="T3" fmla="*/ 0 h 402"/>
                    <a:gd name="T4" fmla="*/ 0 w 285"/>
                    <a:gd name="T5" fmla="*/ 0 h 402"/>
                    <a:gd name="T6" fmla="*/ 0 w 285"/>
                    <a:gd name="T7" fmla="*/ 0 h 402"/>
                    <a:gd name="T8" fmla="*/ 0 w 285"/>
                    <a:gd name="T9" fmla="*/ 0 h 402"/>
                    <a:gd name="T10" fmla="*/ 0 w 285"/>
                    <a:gd name="T11" fmla="*/ 0 h 402"/>
                    <a:gd name="T12" fmla="*/ 0 w 285"/>
                    <a:gd name="T13" fmla="*/ 0 h 402"/>
                    <a:gd name="T14" fmla="*/ 0 w 285"/>
                    <a:gd name="T15" fmla="*/ 0 h 402"/>
                    <a:gd name="T16" fmla="*/ 0 w 285"/>
                    <a:gd name="T17" fmla="*/ 0 h 402"/>
                    <a:gd name="T18" fmla="*/ 0 w 285"/>
                    <a:gd name="T19" fmla="*/ 0 h 402"/>
                    <a:gd name="T20" fmla="*/ 0 w 285"/>
                    <a:gd name="T21" fmla="*/ 0 h 402"/>
                    <a:gd name="T22" fmla="*/ 0 w 285"/>
                    <a:gd name="T23" fmla="*/ 0 h 402"/>
                    <a:gd name="T24" fmla="*/ 0 w 285"/>
                    <a:gd name="T25" fmla="*/ 0 h 402"/>
                    <a:gd name="T26" fmla="*/ 0 w 285"/>
                    <a:gd name="T27" fmla="*/ 0 h 402"/>
                    <a:gd name="T28" fmla="*/ 0 w 285"/>
                    <a:gd name="T29" fmla="*/ 0 h 402"/>
                    <a:gd name="T30" fmla="*/ 0 w 285"/>
                    <a:gd name="T31" fmla="*/ 0 h 402"/>
                    <a:gd name="T32" fmla="*/ 0 w 285"/>
                    <a:gd name="T33" fmla="*/ 0 h 402"/>
                    <a:gd name="T34" fmla="*/ 0 w 285"/>
                    <a:gd name="T35" fmla="*/ 0 h 402"/>
                    <a:gd name="T36" fmla="*/ 0 w 285"/>
                    <a:gd name="T37" fmla="*/ 0 h 402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285"/>
                    <a:gd name="T58" fmla="*/ 0 h 402"/>
                    <a:gd name="T59" fmla="*/ 285 w 285"/>
                    <a:gd name="T60" fmla="*/ 402 h 402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285" h="402">
                      <a:moveTo>
                        <a:pt x="231" y="402"/>
                      </a:moveTo>
                      <a:lnTo>
                        <a:pt x="0" y="0"/>
                      </a:lnTo>
                      <a:lnTo>
                        <a:pt x="14" y="8"/>
                      </a:lnTo>
                      <a:lnTo>
                        <a:pt x="24" y="17"/>
                      </a:lnTo>
                      <a:lnTo>
                        <a:pt x="38" y="22"/>
                      </a:lnTo>
                      <a:lnTo>
                        <a:pt x="49" y="30"/>
                      </a:lnTo>
                      <a:lnTo>
                        <a:pt x="63" y="38"/>
                      </a:lnTo>
                      <a:lnTo>
                        <a:pt x="73" y="44"/>
                      </a:lnTo>
                      <a:lnTo>
                        <a:pt x="87" y="52"/>
                      </a:lnTo>
                      <a:lnTo>
                        <a:pt x="100" y="60"/>
                      </a:lnTo>
                      <a:lnTo>
                        <a:pt x="285" y="370"/>
                      </a:lnTo>
                      <a:lnTo>
                        <a:pt x="285" y="379"/>
                      </a:lnTo>
                      <a:lnTo>
                        <a:pt x="283" y="384"/>
                      </a:lnTo>
                      <a:lnTo>
                        <a:pt x="280" y="391"/>
                      </a:lnTo>
                      <a:lnTo>
                        <a:pt x="280" y="400"/>
                      </a:lnTo>
                      <a:lnTo>
                        <a:pt x="269" y="402"/>
                      </a:lnTo>
                      <a:lnTo>
                        <a:pt x="258" y="402"/>
                      </a:lnTo>
                      <a:lnTo>
                        <a:pt x="245" y="402"/>
                      </a:lnTo>
                      <a:lnTo>
                        <a:pt x="231" y="402"/>
                      </a:lnTo>
                      <a:close/>
                    </a:path>
                  </a:pathLst>
                </a:custGeom>
                <a:solidFill>
                  <a:srgbClr val="E8C18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14" name="Freeform 363"/>
                <p:cNvSpPr>
                  <a:spLocks/>
                </p:cNvSpPr>
                <p:nvPr/>
              </p:nvSpPr>
              <p:spPr bwMode="auto">
                <a:xfrm>
                  <a:off x="5132" y="1495"/>
                  <a:ext cx="59" cy="94"/>
                </a:xfrm>
                <a:custGeom>
                  <a:avLst/>
                  <a:gdLst>
                    <a:gd name="T0" fmla="*/ 0 w 236"/>
                    <a:gd name="T1" fmla="*/ 0 h 376"/>
                    <a:gd name="T2" fmla="*/ 0 w 236"/>
                    <a:gd name="T3" fmla="*/ 0 h 376"/>
                    <a:gd name="T4" fmla="*/ 0 w 236"/>
                    <a:gd name="T5" fmla="*/ 0 h 376"/>
                    <a:gd name="T6" fmla="*/ 0 w 236"/>
                    <a:gd name="T7" fmla="*/ 0 h 376"/>
                    <a:gd name="T8" fmla="*/ 0 w 236"/>
                    <a:gd name="T9" fmla="*/ 0 h 376"/>
                    <a:gd name="T10" fmla="*/ 0 w 236"/>
                    <a:gd name="T11" fmla="*/ 0 h 376"/>
                    <a:gd name="T12" fmla="*/ 0 w 236"/>
                    <a:gd name="T13" fmla="*/ 0 h 376"/>
                    <a:gd name="T14" fmla="*/ 0 w 236"/>
                    <a:gd name="T15" fmla="*/ 0 h 376"/>
                    <a:gd name="T16" fmla="*/ 0 w 236"/>
                    <a:gd name="T17" fmla="*/ 0 h 376"/>
                    <a:gd name="T18" fmla="*/ 0 w 236"/>
                    <a:gd name="T19" fmla="*/ 0 h 376"/>
                    <a:gd name="T20" fmla="*/ 0 w 236"/>
                    <a:gd name="T21" fmla="*/ 0 h 376"/>
                    <a:gd name="T22" fmla="*/ 0 w 236"/>
                    <a:gd name="T23" fmla="*/ 0 h 376"/>
                    <a:gd name="T24" fmla="*/ 0 w 236"/>
                    <a:gd name="T25" fmla="*/ 0 h 376"/>
                    <a:gd name="T26" fmla="*/ 0 w 236"/>
                    <a:gd name="T27" fmla="*/ 0 h 376"/>
                    <a:gd name="T28" fmla="*/ 0 w 236"/>
                    <a:gd name="T29" fmla="*/ 0 h 376"/>
                    <a:gd name="T30" fmla="*/ 0 w 236"/>
                    <a:gd name="T31" fmla="*/ 0 h 376"/>
                    <a:gd name="T32" fmla="*/ 0 w 236"/>
                    <a:gd name="T33" fmla="*/ 0 h 376"/>
                    <a:gd name="T34" fmla="*/ 0 w 236"/>
                    <a:gd name="T35" fmla="*/ 0 h 376"/>
                    <a:gd name="T36" fmla="*/ 0 w 236"/>
                    <a:gd name="T37" fmla="*/ 0 h 37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236"/>
                    <a:gd name="T58" fmla="*/ 0 h 376"/>
                    <a:gd name="T59" fmla="*/ 236 w 236"/>
                    <a:gd name="T60" fmla="*/ 376 h 37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236" h="376">
                      <a:moveTo>
                        <a:pt x="219" y="376"/>
                      </a:moveTo>
                      <a:lnTo>
                        <a:pt x="0" y="0"/>
                      </a:lnTo>
                      <a:lnTo>
                        <a:pt x="16" y="9"/>
                      </a:lnTo>
                      <a:lnTo>
                        <a:pt x="29" y="20"/>
                      </a:lnTo>
                      <a:lnTo>
                        <a:pt x="46" y="30"/>
                      </a:lnTo>
                      <a:lnTo>
                        <a:pt x="62" y="41"/>
                      </a:lnTo>
                      <a:lnTo>
                        <a:pt x="76" y="53"/>
                      </a:lnTo>
                      <a:lnTo>
                        <a:pt x="88" y="64"/>
                      </a:lnTo>
                      <a:lnTo>
                        <a:pt x="102" y="74"/>
                      </a:lnTo>
                      <a:lnTo>
                        <a:pt x="113" y="85"/>
                      </a:lnTo>
                      <a:lnTo>
                        <a:pt x="230" y="278"/>
                      </a:lnTo>
                      <a:lnTo>
                        <a:pt x="233" y="300"/>
                      </a:lnTo>
                      <a:lnTo>
                        <a:pt x="236" y="325"/>
                      </a:lnTo>
                      <a:lnTo>
                        <a:pt x="236" y="348"/>
                      </a:lnTo>
                      <a:lnTo>
                        <a:pt x="233" y="376"/>
                      </a:lnTo>
                      <a:lnTo>
                        <a:pt x="230" y="376"/>
                      </a:lnTo>
                      <a:lnTo>
                        <a:pt x="228" y="376"/>
                      </a:lnTo>
                      <a:lnTo>
                        <a:pt x="222" y="376"/>
                      </a:lnTo>
                      <a:lnTo>
                        <a:pt x="219" y="376"/>
                      </a:lnTo>
                      <a:close/>
                    </a:path>
                  </a:pathLst>
                </a:custGeom>
                <a:solidFill>
                  <a:srgbClr val="E8C4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15" name="Freeform 364"/>
                <p:cNvSpPr>
                  <a:spLocks/>
                </p:cNvSpPr>
                <p:nvPr/>
              </p:nvSpPr>
              <p:spPr bwMode="auto">
                <a:xfrm>
                  <a:off x="5146" y="1504"/>
                  <a:ext cx="46" cy="77"/>
                </a:xfrm>
                <a:custGeom>
                  <a:avLst/>
                  <a:gdLst>
                    <a:gd name="T0" fmla="*/ 0 w 185"/>
                    <a:gd name="T1" fmla="*/ 0 h 310"/>
                    <a:gd name="T2" fmla="*/ 0 w 185"/>
                    <a:gd name="T3" fmla="*/ 0 h 310"/>
                    <a:gd name="T4" fmla="*/ 0 w 185"/>
                    <a:gd name="T5" fmla="*/ 0 h 310"/>
                    <a:gd name="T6" fmla="*/ 0 w 185"/>
                    <a:gd name="T7" fmla="*/ 0 h 310"/>
                    <a:gd name="T8" fmla="*/ 0 w 185"/>
                    <a:gd name="T9" fmla="*/ 0 h 310"/>
                    <a:gd name="T10" fmla="*/ 0 w 185"/>
                    <a:gd name="T11" fmla="*/ 0 h 310"/>
                    <a:gd name="T12" fmla="*/ 0 w 185"/>
                    <a:gd name="T13" fmla="*/ 0 h 310"/>
                    <a:gd name="T14" fmla="*/ 0 w 185"/>
                    <a:gd name="T15" fmla="*/ 0 h 310"/>
                    <a:gd name="T16" fmla="*/ 0 w 185"/>
                    <a:gd name="T17" fmla="*/ 0 h 310"/>
                    <a:gd name="T18" fmla="*/ 0 w 185"/>
                    <a:gd name="T19" fmla="*/ 0 h 31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85"/>
                    <a:gd name="T31" fmla="*/ 0 h 310"/>
                    <a:gd name="T32" fmla="*/ 185 w 185"/>
                    <a:gd name="T33" fmla="*/ 310 h 31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85" h="310">
                      <a:moveTo>
                        <a:pt x="185" y="310"/>
                      </a:moveTo>
                      <a:lnTo>
                        <a:pt x="0" y="0"/>
                      </a:lnTo>
                      <a:lnTo>
                        <a:pt x="41" y="30"/>
                      </a:lnTo>
                      <a:lnTo>
                        <a:pt x="76" y="63"/>
                      </a:lnTo>
                      <a:lnTo>
                        <a:pt x="109" y="98"/>
                      </a:lnTo>
                      <a:lnTo>
                        <a:pt x="134" y="136"/>
                      </a:lnTo>
                      <a:lnTo>
                        <a:pt x="155" y="176"/>
                      </a:lnTo>
                      <a:lnTo>
                        <a:pt x="171" y="218"/>
                      </a:lnTo>
                      <a:lnTo>
                        <a:pt x="183" y="264"/>
                      </a:lnTo>
                      <a:lnTo>
                        <a:pt x="185" y="310"/>
                      </a:lnTo>
                      <a:close/>
                    </a:path>
                  </a:pathLst>
                </a:custGeom>
                <a:solidFill>
                  <a:srgbClr val="EDC98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16" name="Freeform 365"/>
                <p:cNvSpPr>
                  <a:spLocks/>
                </p:cNvSpPr>
                <p:nvPr/>
              </p:nvSpPr>
              <p:spPr bwMode="auto">
                <a:xfrm>
                  <a:off x="5161" y="1516"/>
                  <a:ext cx="29" cy="48"/>
                </a:xfrm>
                <a:custGeom>
                  <a:avLst/>
                  <a:gdLst>
                    <a:gd name="T0" fmla="*/ 0 w 117"/>
                    <a:gd name="T1" fmla="*/ 0 h 193"/>
                    <a:gd name="T2" fmla="*/ 0 w 117"/>
                    <a:gd name="T3" fmla="*/ 0 h 193"/>
                    <a:gd name="T4" fmla="*/ 0 w 117"/>
                    <a:gd name="T5" fmla="*/ 0 h 193"/>
                    <a:gd name="T6" fmla="*/ 0 w 117"/>
                    <a:gd name="T7" fmla="*/ 0 h 193"/>
                    <a:gd name="T8" fmla="*/ 0 w 117"/>
                    <a:gd name="T9" fmla="*/ 0 h 193"/>
                    <a:gd name="T10" fmla="*/ 0 w 117"/>
                    <a:gd name="T11" fmla="*/ 0 h 193"/>
                    <a:gd name="T12" fmla="*/ 0 w 117"/>
                    <a:gd name="T13" fmla="*/ 0 h 193"/>
                    <a:gd name="T14" fmla="*/ 0 w 117"/>
                    <a:gd name="T15" fmla="*/ 0 h 193"/>
                    <a:gd name="T16" fmla="*/ 0 w 117"/>
                    <a:gd name="T17" fmla="*/ 0 h 193"/>
                    <a:gd name="T18" fmla="*/ 0 w 117"/>
                    <a:gd name="T19" fmla="*/ 0 h 193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17"/>
                    <a:gd name="T31" fmla="*/ 0 h 193"/>
                    <a:gd name="T32" fmla="*/ 117 w 117"/>
                    <a:gd name="T33" fmla="*/ 193 h 193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17" h="193">
                      <a:moveTo>
                        <a:pt x="117" y="193"/>
                      </a:moveTo>
                      <a:lnTo>
                        <a:pt x="0" y="0"/>
                      </a:lnTo>
                      <a:lnTo>
                        <a:pt x="23" y="21"/>
                      </a:lnTo>
                      <a:lnTo>
                        <a:pt x="41" y="44"/>
                      </a:lnTo>
                      <a:lnTo>
                        <a:pt x="58" y="65"/>
                      </a:lnTo>
                      <a:lnTo>
                        <a:pt x="74" y="90"/>
                      </a:lnTo>
                      <a:lnTo>
                        <a:pt x="87" y="114"/>
                      </a:lnTo>
                      <a:lnTo>
                        <a:pt x="98" y="141"/>
                      </a:lnTo>
                      <a:lnTo>
                        <a:pt x="109" y="166"/>
                      </a:lnTo>
                      <a:lnTo>
                        <a:pt x="117" y="193"/>
                      </a:lnTo>
                      <a:close/>
                    </a:path>
                  </a:pathLst>
                </a:custGeom>
                <a:solidFill>
                  <a:srgbClr val="EDCE9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17" name="Freeform 366"/>
                <p:cNvSpPr>
                  <a:spLocks/>
                </p:cNvSpPr>
                <p:nvPr/>
              </p:nvSpPr>
              <p:spPr bwMode="auto">
                <a:xfrm>
                  <a:off x="5304" y="1526"/>
                  <a:ext cx="36" cy="50"/>
                </a:xfrm>
                <a:custGeom>
                  <a:avLst/>
                  <a:gdLst>
                    <a:gd name="T0" fmla="*/ 0 w 147"/>
                    <a:gd name="T1" fmla="*/ 0 h 202"/>
                    <a:gd name="T2" fmla="*/ 0 w 147"/>
                    <a:gd name="T3" fmla="*/ 0 h 202"/>
                    <a:gd name="T4" fmla="*/ 0 w 147"/>
                    <a:gd name="T5" fmla="*/ 0 h 202"/>
                    <a:gd name="T6" fmla="*/ 0 w 147"/>
                    <a:gd name="T7" fmla="*/ 0 h 202"/>
                    <a:gd name="T8" fmla="*/ 0 w 147"/>
                    <a:gd name="T9" fmla="*/ 0 h 202"/>
                    <a:gd name="T10" fmla="*/ 0 w 147"/>
                    <a:gd name="T11" fmla="*/ 0 h 202"/>
                    <a:gd name="T12" fmla="*/ 0 w 147"/>
                    <a:gd name="T13" fmla="*/ 0 h 202"/>
                    <a:gd name="T14" fmla="*/ 0 w 147"/>
                    <a:gd name="T15" fmla="*/ 0 h 202"/>
                    <a:gd name="T16" fmla="*/ 0 w 147"/>
                    <a:gd name="T17" fmla="*/ 0 h 202"/>
                    <a:gd name="T18" fmla="*/ 0 w 147"/>
                    <a:gd name="T19" fmla="*/ 0 h 202"/>
                    <a:gd name="T20" fmla="*/ 0 w 147"/>
                    <a:gd name="T21" fmla="*/ 0 h 202"/>
                    <a:gd name="T22" fmla="*/ 0 w 147"/>
                    <a:gd name="T23" fmla="*/ 0 h 202"/>
                    <a:gd name="T24" fmla="*/ 0 w 147"/>
                    <a:gd name="T25" fmla="*/ 0 h 20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47"/>
                    <a:gd name="T40" fmla="*/ 0 h 202"/>
                    <a:gd name="T41" fmla="*/ 147 w 147"/>
                    <a:gd name="T42" fmla="*/ 202 h 202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47" h="202">
                      <a:moveTo>
                        <a:pt x="69" y="202"/>
                      </a:moveTo>
                      <a:lnTo>
                        <a:pt x="55" y="147"/>
                      </a:lnTo>
                      <a:lnTo>
                        <a:pt x="39" y="98"/>
                      </a:lnTo>
                      <a:lnTo>
                        <a:pt x="22" y="49"/>
                      </a:lnTo>
                      <a:lnTo>
                        <a:pt x="0" y="0"/>
                      </a:lnTo>
                      <a:lnTo>
                        <a:pt x="55" y="3"/>
                      </a:lnTo>
                      <a:lnTo>
                        <a:pt x="96" y="19"/>
                      </a:lnTo>
                      <a:lnTo>
                        <a:pt x="129" y="46"/>
                      </a:lnTo>
                      <a:lnTo>
                        <a:pt x="145" y="79"/>
                      </a:lnTo>
                      <a:lnTo>
                        <a:pt x="147" y="117"/>
                      </a:lnTo>
                      <a:lnTo>
                        <a:pt x="136" y="152"/>
                      </a:lnTo>
                      <a:lnTo>
                        <a:pt x="112" y="182"/>
                      </a:lnTo>
                      <a:lnTo>
                        <a:pt x="69" y="202"/>
                      </a:lnTo>
                      <a:close/>
                    </a:path>
                  </a:pathLst>
                </a:custGeom>
                <a:solidFill>
                  <a:srgbClr val="F9EA9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18" name="Freeform 367"/>
                <p:cNvSpPr>
                  <a:spLocks/>
                </p:cNvSpPr>
                <p:nvPr/>
              </p:nvSpPr>
              <p:spPr bwMode="auto">
                <a:xfrm>
                  <a:off x="5208" y="1545"/>
                  <a:ext cx="90" cy="25"/>
                </a:xfrm>
                <a:custGeom>
                  <a:avLst/>
                  <a:gdLst>
                    <a:gd name="T0" fmla="*/ 0 w 359"/>
                    <a:gd name="T1" fmla="*/ 0 h 98"/>
                    <a:gd name="T2" fmla="*/ 0 w 359"/>
                    <a:gd name="T3" fmla="*/ 0 h 98"/>
                    <a:gd name="T4" fmla="*/ 0 w 359"/>
                    <a:gd name="T5" fmla="*/ 0 h 98"/>
                    <a:gd name="T6" fmla="*/ 0 w 359"/>
                    <a:gd name="T7" fmla="*/ 0 h 98"/>
                    <a:gd name="T8" fmla="*/ 0 w 359"/>
                    <a:gd name="T9" fmla="*/ 0 h 98"/>
                    <a:gd name="T10" fmla="*/ 0 w 359"/>
                    <a:gd name="T11" fmla="*/ 0 h 9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59"/>
                    <a:gd name="T19" fmla="*/ 0 h 98"/>
                    <a:gd name="T20" fmla="*/ 359 w 359"/>
                    <a:gd name="T21" fmla="*/ 98 h 9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59" h="98">
                      <a:moveTo>
                        <a:pt x="359" y="89"/>
                      </a:moveTo>
                      <a:lnTo>
                        <a:pt x="36" y="98"/>
                      </a:lnTo>
                      <a:lnTo>
                        <a:pt x="0" y="0"/>
                      </a:lnTo>
                      <a:lnTo>
                        <a:pt x="341" y="0"/>
                      </a:lnTo>
                      <a:lnTo>
                        <a:pt x="341" y="17"/>
                      </a:lnTo>
                      <a:lnTo>
                        <a:pt x="359" y="89"/>
                      </a:lnTo>
                      <a:close/>
                    </a:path>
                  </a:pathLst>
                </a:custGeom>
                <a:solidFill>
                  <a:srgbClr val="C4C4C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19" name="Freeform 368"/>
                <p:cNvSpPr>
                  <a:spLocks/>
                </p:cNvSpPr>
                <p:nvPr/>
              </p:nvSpPr>
              <p:spPr bwMode="auto">
                <a:xfrm>
                  <a:off x="4250" y="1489"/>
                  <a:ext cx="227" cy="190"/>
                </a:xfrm>
                <a:custGeom>
                  <a:avLst/>
                  <a:gdLst>
                    <a:gd name="T0" fmla="*/ 0 w 907"/>
                    <a:gd name="T1" fmla="*/ 0 h 758"/>
                    <a:gd name="T2" fmla="*/ 0 w 907"/>
                    <a:gd name="T3" fmla="*/ 0 h 758"/>
                    <a:gd name="T4" fmla="*/ 0 w 907"/>
                    <a:gd name="T5" fmla="*/ 0 h 758"/>
                    <a:gd name="T6" fmla="*/ 0 w 907"/>
                    <a:gd name="T7" fmla="*/ 0 h 758"/>
                    <a:gd name="T8" fmla="*/ 0 w 907"/>
                    <a:gd name="T9" fmla="*/ 0 h 758"/>
                    <a:gd name="T10" fmla="*/ 0 w 907"/>
                    <a:gd name="T11" fmla="*/ 0 h 758"/>
                    <a:gd name="T12" fmla="*/ 0 w 907"/>
                    <a:gd name="T13" fmla="*/ 0 h 758"/>
                    <a:gd name="T14" fmla="*/ 0 w 907"/>
                    <a:gd name="T15" fmla="*/ 0 h 758"/>
                    <a:gd name="T16" fmla="*/ 0 w 907"/>
                    <a:gd name="T17" fmla="*/ 0 h 758"/>
                    <a:gd name="T18" fmla="*/ 0 w 907"/>
                    <a:gd name="T19" fmla="*/ 0 h 758"/>
                    <a:gd name="T20" fmla="*/ 0 w 907"/>
                    <a:gd name="T21" fmla="*/ 0 h 758"/>
                    <a:gd name="T22" fmla="*/ 0 w 907"/>
                    <a:gd name="T23" fmla="*/ 0 h 758"/>
                    <a:gd name="T24" fmla="*/ 0 w 907"/>
                    <a:gd name="T25" fmla="*/ 0 h 758"/>
                    <a:gd name="T26" fmla="*/ 0 w 907"/>
                    <a:gd name="T27" fmla="*/ 0 h 758"/>
                    <a:gd name="T28" fmla="*/ 0 w 907"/>
                    <a:gd name="T29" fmla="*/ 0 h 758"/>
                    <a:gd name="T30" fmla="*/ 0 w 907"/>
                    <a:gd name="T31" fmla="*/ 0 h 758"/>
                    <a:gd name="T32" fmla="*/ 0 w 907"/>
                    <a:gd name="T33" fmla="*/ 0 h 758"/>
                    <a:gd name="T34" fmla="*/ 0 w 907"/>
                    <a:gd name="T35" fmla="*/ 0 h 758"/>
                    <a:gd name="T36" fmla="*/ 0 w 907"/>
                    <a:gd name="T37" fmla="*/ 0 h 758"/>
                    <a:gd name="T38" fmla="*/ 0 w 907"/>
                    <a:gd name="T39" fmla="*/ 0 h 758"/>
                    <a:gd name="T40" fmla="*/ 0 w 907"/>
                    <a:gd name="T41" fmla="*/ 0 h 758"/>
                    <a:gd name="T42" fmla="*/ 0 w 907"/>
                    <a:gd name="T43" fmla="*/ 0 h 758"/>
                    <a:gd name="T44" fmla="*/ 0 w 907"/>
                    <a:gd name="T45" fmla="*/ 0 h 758"/>
                    <a:gd name="T46" fmla="*/ 0 w 907"/>
                    <a:gd name="T47" fmla="*/ 0 h 758"/>
                    <a:gd name="T48" fmla="*/ 0 w 907"/>
                    <a:gd name="T49" fmla="*/ 0 h 758"/>
                    <a:gd name="T50" fmla="*/ 0 w 907"/>
                    <a:gd name="T51" fmla="*/ 0 h 758"/>
                    <a:gd name="T52" fmla="*/ 0 w 907"/>
                    <a:gd name="T53" fmla="*/ 0 h 758"/>
                    <a:gd name="T54" fmla="*/ 0 w 907"/>
                    <a:gd name="T55" fmla="*/ 0 h 758"/>
                    <a:gd name="T56" fmla="*/ 0 w 907"/>
                    <a:gd name="T57" fmla="*/ 0 h 758"/>
                    <a:gd name="T58" fmla="*/ 0 w 907"/>
                    <a:gd name="T59" fmla="*/ 0 h 758"/>
                    <a:gd name="T60" fmla="*/ 0 w 907"/>
                    <a:gd name="T61" fmla="*/ 0 h 758"/>
                    <a:gd name="T62" fmla="*/ 0 w 907"/>
                    <a:gd name="T63" fmla="*/ 0 h 758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907"/>
                    <a:gd name="T97" fmla="*/ 0 h 758"/>
                    <a:gd name="T98" fmla="*/ 907 w 907"/>
                    <a:gd name="T99" fmla="*/ 758 h 758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907" h="758">
                      <a:moveTo>
                        <a:pt x="457" y="0"/>
                      </a:moveTo>
                      <a:lnTo>
                        <a:pt x="503" y="3"/>
                      </a:lnTo>
                      <a:lnTo>
                        <a:pt x="549" y="8"/>
                      </a:lnTo>
                      <a:lnTo>
                        <a:pt x="589" y="17"/>
                      </a:lnTo>
                      <a:lnTo>
                        <a:pt x="633" y="30"/>
                      </a:lnTo>
                      <a:lnTo>
                        <a:pt x="671" y="47"/>
                      </a:lnTo>
                      <a:lnTo>
                        <a:pt x="709" y="65"/>
                      </a:lnTo>
                      <a:lnTo>
                        <a:pt x="745" y="88"/>
                      </a:lnTo>
                      <a:lnTo>
                        <a:pt x="777" y="112"/>
                      </a:lnTo>
                      <a:lnTo>
                        <a:pt x="804" y="139"/>
                      </a:lnTo>
                      <a:lnTo>
                        <a:pt x="831" y="169"/>
                      </a:lnTo>
                      <a:lnTo>
                        <a:pt x="854" y="199"/>
                      </a:lnTo>
                      <a:lnTo>
                        <a:pt x="872" y="231"/>
                      </a:lnTo>
                      <a:lnTo>
                        <a:pt x="889" y="266"/>
                      </a:lnTo>
                      <a:lnTo>
                        <a:pt x="900" y="302"/>
                      </a:lnTo>
                      <a:lnTo>
                        <a:pt x="905" y="340"/>
                      </a:lnTo>
                      <a:lnTo>
                        <a:pt x="907" y="379"/>
                      </a:lnTo>
                      <a:lnTo>
                        <a:pt x="905" y="416"/>
                      </a:lnTo>
                      <a:lnTo>
                        <a:pt x="900" y="455"/>
                      </a:lnTo>
                      <a:lnTo>
                        <a:pt x="889" y="492"/>
                      </a:lnTo>
                      <a:lnTo>
                        <a:pt x="872" y="525"/>
                      </a:lnTo>
                      <a:lnTo>
                        <a:pt x="854" y="560"/>
                      </a:lnTo>
                      <a:lnTo>
                        <a:pt x="831" y="590"/>
                      </a:lnTo>
                      <a:lnTo>
                        <a:pt x="804" y="620"/>
                      </a:lnTo>
                      <a:lnTo>
                        <a:pt x="777" y="647"/>
                      </a:lnTo>
                      <a:lnTo>
                        <a:pt x="745" y="672"/>
                      </a:lnTo>
                      <a:lnTo>
                        <a:pt x="709" y="693"/>
                      </a:lnTo>
                      <a:lnTo>
                        <a:pt x="671" y="712"/>
                      </a:lnTo>
                      <a:lnTo>
                        <a:pt x="633" y="728"/>
                      </a:lnTo>
                      <a:lnTo>
                        <a:pt x="589" y="742"/>
                      </a:lnTo>
                      <a:lnTo>
                        <a:pt x="549" y="750"/>
                      </a:lnTo>
                      <a:lnTo>
                        <a:pt x="503" y="756"/>
                      </a:lnTo>
                      <a:lnTo>
                        <a:pt x="457" y="758"/>
                      </a:lnTo>
                      <a:lnTo>
                        <a:pt x="411" y="756"/>
                      </a:lnTo>
                      <a:lnTo>
                        <a:pt x="364" y="750"/>
                      </a:lnTo>
                      <a:lnTo>
                        <a:pt x="321" y="742"/>
                      </a:lnTo>
                      <a:lnTo>
                        <a:pt x="280" y="728"/>
                      </a:lnTo>
                      <a:lnTo>
                        <a:pt x="240" y="712"/>
                      </a:lnTo>
                      <a:lnTo>
                        <a:pt x="201" y="693"/>
                      </a:lnTo>
                      <a:lnTo>
                        <a:pt x="166" y="672"/>
                      </a:lnTo>
                      <a:lnTo>
                        <a:pt x="133" y="647"/>
                      </a:lnTo>
                      <a:lnTo>
                        <a:pt x="104" y="620"/>
                      </a:lnTo>
                      <a:lnTo>
                        <a:pt x="79" y="590"/>
                      </a:lnTo>
                      <a:lnTo>
                        <a:pt x="55" y="560"/>
                      </a:lnTo>
                      <a:lnTo>
                        <a:pt x="35" y="525"/>
                      </a:lnTo>
                      <a:lnTo>
                        <a:pt x="22" y="492"/>
                      </a:lnTo>
                      <a:lnTo>
                        <a:pt x="9" y="455"/>
                      </a:lnTo>
                      <a:lnTo>
                        <a:pt x="3" y="416"/>
                      </a:lnTo>
                      <a:lnTo>
                        <a:pt x="0" y="379"/>
                      </a:lnTo>
                      <a:lnTo>
                        <a:pt x="3" y="340"/>
                      </a:lnTo>
                      <a:lnTo>
                        <a:pt x="9" y="302"/>
                      </a:lnTo>
                      <a:lnTo>
                        <a:pt x="22" y="266"/>
                      </a:lnTo>
                      <a:lnTo>
                        <a:pt x="35" y="231"/>
                      </a:lnTo>
                      <a:lnTo>
                        <a:pt x="55" y="199"/>
                      </a:lnTo>
                      <a:lnTo>
                        <a:pt x="79" y="169"/>
                      </a:lnTo>
                      <a:lnTo>
                        <a:pt x="104" y="139"/>
                      </a:lnTo>
                      <a:lnTo>
                        <a:pt x="133" y="112"/>
                      </a:lnTo>
                      <a:lnTo>
                        <a:pt x="166" y="88"/>
                      </a:lnTo>
                      <a:lnTo>
                        <a:pt x="201" y="65"/>
                      </a:lnTo>
                      <a:lnTo>
                        <a:pt x="240" y="47"/>
                      </a:lnTo>
                      <a:lnTo>
                        <a:pt x="280" y="30"/>
                      </a:lnTo>
                      <a:lnTo>
                        <a:pt x="321" y="17"/>
                      </a:lnTo>
                      <a:lnTo>
                        <a:pt x="364" y="8"/>
                      </a:lnTo>
                      <a:lnTo>
                        <a:pt x="411" y="3"/>
                      </a:lnTo>
                      <a:lnTo>
                        <a:pt x="457" y="0"/>
                      </a:lnTo>
                      <a:close/>
                    </a:path>
                  </a:pathLst>
                </a:custGeom>
                <a:solidFill>
                  <a:srgbClr val="1E191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20" name="Freeform 369"/>
                <p:cNvSpPr>
                  <a:spLocks/>
                </p:cNvSpPr>
                <p:nvPr/>
              </p:nvSpPr>
              <p:spPr bwMode="auto">
                <a:xfrm>
                  <a:off x="4272" y="1507"/>
                  <a:ext cx="184" cy="154"/>
                </a:xfrm>
                <a:custGeom>
                  <a:avLst/>
                  <a:gdLst>
                    <a:gd name="T0" fmla="*/ 0 w 734"/>
                    <a:gd name="T1" fmla="*/ 0 h 617"/>
                    <a:gd name="T2" fmla="*/ 0 w 734"/>
                    <a:gd name="T3" fmla="*/ 0 h 617"/>
                    <a:gd name="T4" fmla="*/ 0 w 734"/>
                    <a:gd name="T5" fmla="*/ 0 h 617"/>
                    <a:gd name="T6" fmla="*/ 0 w 734"/>
                    <a:gd name="T7" fmla="*/ 0 h 617"/>
                    <a:gd name="T8" fmla="*/ 0 w 734"/>
                    <a:gd name="T9" fmla="*/ 0 h 617"/>
                    <a:gd name="T10" fmla="*/ 0 w 734"/>
                    <a:gd name="T11" fmla="*/ 0 h 617"/>
                    <a:gd name="T12" fmla="*/ 0 w 734"/>
                    <a:gd name="T13" fmla="*/ 0 h 617"/>
                    <a:gd name="T14" fmla="*/ 0 w 734"/>
                    <a:gd name="T15" fmla="*/ 0 h 617"/>
                    <a:gd name="T16" fmla="*/ 0 w 734"/>
                    <a:gd name="T17" fmla="*/ 0 h 617"/>
                    <a:gd name="T18" fmla="*/ 0 w 734"/>
                    <a:gd name="T19" fmla="*/ 0 h 617"/>
                    <a:gd name="T20" fmla="*/ 0 w 734"/>
                    <a:gd name="T21" fmla="*/ 0 h 617"/>
                    <a:gd name="T22" fmla="*/ 0 w 734"/>
                    <a:gd name="T23" fmla="*/ 0 h 617"/>
                    <a:gd name="T24" fmla="*/ 0 w 734"/>
                    <a:gd name="T25" fmla="*/ 0 h 617"/>
                    <a:gd name="T26" fmla="*/ 0 w 734"/>
                    <a:gd name="T27" fmla="*/ 0 h 617"/>
                    <a:gd name="T28" fmla="*/ 0 w 734"/>
                    <a:gd name="T29" fmla="*/ 0 h 617"/>
                    <a:gd name="T30" fmla="*/ 0 w 734"/>
                    <a:gd name="T31" fmla="*/ 0 h 617"/>
                    <a:gd name="T32" fmla="*/ 0 w 734"/>
                    <a:gd name="T33" fmla="*/ 0 h 617"/>
                    <a:gd name="T34" fmla="*/ 0 w 734"/>
                    <a:gd name="T35" fmla="*/ 0 h 617"/>
                    <a:gd name="T36" fmla="*/ 0 w 734"/>
                    <a:gd name="T37" fmla="*/ 0 h 617"/>
                    <a:gd name="T38" fmla="*/ 0 w 734"/>
                    <a:gd name="T39" fmla="*/ 0 h 617"/>
                    <a:gd name="T40" fmla="*/ 0 w 734"/>
                    <a:gd name="T41" fmla="*/ 0 h 617"/>
                    <a:gd name="T42" fmla="*/ 0 w 734"/>
                    <a:gd name="T43" fmla="*/ 0 h 617"/>
                    <a:gd name="T44" fmla="*/ 0 w 734"/>
                    <a:gd name="T45" fmla="*/ 0 h 617"/>
                    <a:gd name="T46" fmla="*/ 0 w 734"/>
                    <a:gd name="T47" fmla="*/ 0 h 617"/>
                    <a:gd name="T48" fmla="*/ 0 w 734"/>
                    <a:gd name="T49" fmla="*/ 0 h 617"/>
                    <a:gd name="T50" fmla="*/ 0 w 734"/>
                    <a:gd name="T51" fmla="*/ 0 h 617"/>
                    <a:gd name="T52" fmla="*/ 0 w 734"/>
                    <a:gd name="T53" fmla="*/ 0 h 617"/>
                    <a:gd name="T54" fmla="*/ 0 w 734"/>
                    <a:gd name="T55" fmla="*/ 0 h 617"/>
                    <a:gd name="T56" fmla="*/ 0 w 734"/>
                    <a:gd name="T57" fmla="*/ 0 h 617"/>
                    <a:gd name="T58" fmla="*/ 0 w 734"/>
                    <a:gd name="T59" fmla="*/ 0 h 617"/>
                    <a:gd name="T60" fmla="*/ 0 w 734"/>
                    <a:gd name="T61" fmla="*/ 0 h 617"/>
                    <a:gd name="T62" fmla="*/ 0 w 734"/>
                    <a:gd name="T63" fmla="*/ 0 h 617"/>
                    <a:gd name="T64" fmla="*/ 0 w 734"/>
                    <a:gd name="T65" fmla="*/ 0 h 617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734"/>
                    <a:gd name="T100" fmla="*/ 0 h 617"/>
                    <a:gd name="T101" fmla="*/ 734 w 734"/>
                    <a:gd name="T102" fmla="*/ 617 h 617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734" h="617">
                      <a:moveTo>
                        <a:pt x="367" y="0"/>
                      </a:moveTo>
                      <a:lnTo>
                        <a:pt x="440" y="6"/>
                      </a:lnTo>
                      <a:lnTo>
                        <a:pt x="508" y="24"/>
                      </a:lnTo>
                      <a:lnTo>
                        <a:pt x="570" y="52"/>
                      </a:lnTo>
                      <a:lnTo>
                        <a:pt x="625" y="89"/>
                      </a:lnTo>
                      <a:lnTo>
                        <a:pt x="671" y="136"/>
                      </a:lnTo>
                      <a:lnTo>
                        <a:pt x="704" y="188"/>
                      </a:lnTo>
                      <a:lnTo>
                        <a:pt x="725" y="244"/>
                      </a:lnTo>
                      <a:lnTo>
                        <a:pt x="734" y="308"/>
                      </a:lnTo>
                      <a:lnTo>
                        <a:pt x="725" y="370"/>
                      </a:lnTo>
                      <a:lnTo>
                        <a:pt x="704" y="426"/>
                      </a:lnTo>
                      <a:lnTo>
                        <a:pt x="671" y="481"/>
                      </a:lnTo>
                      <a:lnTo>
                        <a:pt x="625" y="527"/>
                      </a:lnTo>
                      <a:lnTo>
                        <a:pt x="570" y="565"/>
                      </a:lnTo>
                      <a:lnTo>
                        <a:pt x="508" y="592"/>
                      </a:lnTo>
                      <a:lnTo>
                        <a:pt x="440" y="611"/>
                      </a:lnTo>
                      <a:lnTo>
                        <a:pt x="367" y="617"/>
                      </a:lnTo>
                      <a:lnTo>
                        <a:pt x="291" y="611"/>
                      </a:lnTo>
                      <a:lnTo>
                        <a:pt x="222" y="592"/>
                      </a:lnTo>
                      <a:lnTo>
                        <a:pt x="160" y="565"/>
                      </a:lnTo>
                      <a:lnTo>
                        <a:pt x="106" y="527"/>
                      </a:lnTo>
                      <a:lnTo>
                        <a:pt x="62" y="481"/>
                      </a:lnTo>
                      <a:lnTo>
                        <a:pt x="27" y="426"/>
                      </a:lnTo>
                      <a:lnTo>
                        <a:pt x="7" y="370"/>
                      </a:lnTo>
                      <a:lnTo>
                        <a:pt x="0" y="308"/>
                      </a:lnTo>
                      <a:lnTo>
                        <a:pt x="7" y="244"/>
                      </a:lnTo>
                      <a:lnTo>
                        <a:pt x="27" y="188"/>
                      </a:lnTo>
                      <a:lnTo>
                        <a:pt x="62" y="136"/>
                      </a:lnTo>
                      <a:lnTo>
                        <a:pt x="106" y="89"/>
                      </a:lnTo>
                      <a:lnTo>
                        <a:pt x="160" y="52"/>
                      </a:lnTo>
                      <a:lnTo>
                        <a:pt x="222" y="24"/>
                      </a:lnTo>
                      <a:lnTo>
                        <a:pt x="291" y="6"/>
                      </a:lnTo>
                      <a:lnTo>
                        <a:pt x="367" y="0"/>
                      </a:lnTo>
                      <a:close/>
                    </a:path>
                  </a:pathLst>
                </a:custGeom>
                <a:solidFill>
                  <a:srgbClr val="877A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21" name="Freeform 370"/>
                <p:cNvSpPr>
                  <a:spLocks/>
                </p:cNvSpPr>
                <p:nvPr/>
              </p:nvSpPr>
              <p:spPr bwMode="auto">
                <a:xfrm>
                  <a:off x="4298" y="1529"/>
                  <a:ext cx="131" cy="110"/>
                </a:xfrm>
                <a:custGeom>
                  <a:avLst/>
                  <a:gdLst>
                    <a:gd name="T0" fmla="*/ 0 w 525"/>
                    <a:gd name="T1" fmla="*/ 0 h 441"/>
                    <a:gd name="T2" fmla="*/ 0 w 525"/>
                    <a:gd name="T3" fmla="*/ 0 h 441"/>
                    <a:gd name="T4" fmla="*/ 0 w 525"/>
                    <a:gd name="T5" fmla="*/ 0 h 441"/>
                    <a:gd name="T6" fmla="*/ 0 w 525"/>
                    <a:gd name="T7" fmla="*/ 0 h 441"/>
                    <a:gd name="T8" fmla="*/ 0 w 525"/>
                    <a:gd name="T9" fmla="*/ 0 h 441"/>
                    <a:gd name="T10" fmla="*/ 0 w 525"/>
                    <a:gd name="T11" fmla="*/ 0 h 441"/>
                    <a:gd name="T12" fmla="*/ 0 w 525"/>
                    <a:gd name="T13" fmla="*/ 0 h 441"/>
                    <a:gd name="T14" fmla="*/ 0 w 525"/>
                    <a:gd name="T15" fmla="*/ 0 h 441"/>
                    <a:gd name="T16" fmla="*/ 0 w 525"/>
                    <a:gd name="T17" fmla="*/ 0 h 441"/>
                    <a:gd name="T18" fmla="*/ 0 w 525"/>
                    <a:gd name="T19" fmla="*/ 0 h 441"/>
                    <a:gd name="T20" fmla="*/ 0 w 525"/>
                    <a:gd name="T21" fmla="*/ 0 h 441"/>
                    <a:gd name="T22" fmla="*/ 0 w 525"/>
                    <a:gd name="T23" fmla="*/ 0 h 441"/>
                    <a:gd name="T24" fmla="*/ 0 w 525"/>
                    <a:gd name="T25" fmla="*/ 0 h 441"/>
                    <a:gd name="T26" fmla="*/ 0 w 525"/>
                    <a:gd name="T27" fmla="*/ 0 h 441"/>
                    <a:gd name="T28" fmla="*/ 0 w 525"/>
                    <a:gd name="T29" fmla="*/ 0 h 441"/>
                    <a:gd name="T30" fmla="*/ 0 w 525"/>
                    <a:gd name="T31" fmla="*/ 0 h 441"/>
                    <a:gd name="T32" fmla="*/ 0 w 525"/>
                    <a:gd name="T33" fmla="*/ 0 h 441"/>
                    <a:gd name="T34" fmla="*/ 0 w 525"/>
                    <a:gd name="T35" fmla="*/ 0 h 441"/>
                    <a:gd name="T36" fmla="*/ 0 w 525"/>
                    <a:gd name="T37" fmla="*/ 0 h 441"/>
                    <a:gd name="T38" fmla="*/ 0 w 525"/>
                    <a:gd name="T39" fmla="*/ 0 h 441"/>
                    <a:gd name="T40" fmla="*/ 0 w 525"/>
                    <a:gd name="T41" fmla="*/ 0 h 441"/>
                    <a:gd name="T42" fmla="*/ 0 w 525"/>
                    <a:gd name="T43" fmla="*/ 0 h 441"/>
                    <a:gd name="T44" fmla="*/ 0 w 525"/>
                    <a:gd name="T45" fmla="*/ 0 h 441"/>
                    <a:gd name="T46" fmla="*/ 0 w 525"/>
                    <a:gd name="T47" fmla="*/ 0 h 441"/>
                    <a:gd name="T48" fmla="*/ 0 w 525"/>
                    <a:gd name="T49" fmla="*/ 0 h 441"/>
                    <a:gd name="T50" fmla="*/ 0 w 525"/>
                    <a:gd name="T51" fmla="*/ 0 h 441"/>
                    <a:gd name="T52" fmla="*/ 0 w 525"/>
                    <a:gd name="T53" fmla="*/ 0 h 441"/>
                    <a:gd name="T54" fmla="*/ 0 w 525"/>
                    <a:gd name="T55" fmla="*/ 0 h 441"/>
                    <a:gd name="T56" fmla="*/ 0 w 525"/>
                    <a:gd name="T57" fmla="*/ 0 h 441"/>
                    <a:gd name="T58" fmla="*/ 0 w 525"/>
                    <a:gd name="T59" fmla="*/ 0 h 441"/>
                    <a:gd name="T60" fmla="*/ 0 w 525"/>
                    <a:gd name="T61" fmla="*/ 0 h 441"/>
                    <a:gd name="T62" fmla="*/ 0 w 525"/>
                    <a:gd name="T63" fmla="*/ 0 h 441"/>
                    <a:gd name="T64" fmla="*/ 0 w 525"/>
                    <a:gd name="T65" fmla="*/ 0 h 44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525"/>
                    <a:gd name="T100" fmla="*/ 0 h 441"/>
                    <a:gd name="T101" fmla="*/ 525 w 525"/>
                    <a:gd name="T102" fmla="*/ 441 h 441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525" h="441">
                      <a:moveTo>
                        <a:pt x="264" y="0"/>
                      </a:moveTo>
                      <a:lnTo>
                        <a:pt x="315" y="6"/>
                      </a:lnTo>
                      <a:lnTo>
                        <a:pt x="364" y="17"/>
                      </a:lnTo>
                      <a:lnTo>
                        <a:pt x="407" y="36"/>
                      </a:lnTo>
                      <a:lnTo>
                        <a:pt x="448" y="63"/>
                      </a:lnTo>
                      <a:lnTo>
                        <a:pt x="478" y="96"/>
                      </a:lnTo>
                      <a:lnTo>
                        <a:pt x="502" y="134"/>
                      </a:lnTo>
                      <a:lnTo>
                        <a:pt x="519" y="175"/>
                      </a:lnTo>
                      <a:lnTo>
                        <a:pt x="525" y="219"/>
                      </a:lnTo>
                      <a:lnTo>
                        <a:pt x="519" y="265"/>
                      </a:lnTo>
                      <a:lnTo>
                        <a:pt x="502" y="305"/>
                      </a:lnTo>
                      <a:lnTo>
                        <a:pt x="478" y="343"/>
                      </a:lnTo>
                      <a:lnTo>
                        <a:pt x="448" y="376"/>
                      </a:lnTo>
                      <a:lnTo>
                        <a:pt x="407" y="403"/>
                      </a:lnTo>
                      <a:lnTo>
                        <a:pt x="364" y="425"/>
                      </a:lnTo>
                      <a:lnTo>
                        <a:pt x="315" y="436"/>
                      </a:lnTo>
                      <a:lnTo>
                        <a:pt x="264" y="441"/>
                      </a:lnTo>
                      <a:lnTo>
                        <a:pt x="211" y="436"/>
                      </a:lnTo>
                      <a:lnTo>
                        <a:pt x="160" y="425"/>
                      </a:lnTo>
                      <a:lnTo>
                        <a:pt x="117" y="403"/>
                      </a:lnTo>
                      <a:lnTo>
                        <a:pt x="79" y="376"/>
                      </a:lnTo>
                      <a:lnTo>
                        <a:pt x="47" y="343"/>
                      </a:lnTo>
                      <a:lnTo>
                        <a:pt x="22" y="305"/>
                      </a:lnTo>
                      <a:lnTo>
                        <a:pt x="5" y="265"/>
                      </a:lnTo>
                      <a:lnTo>
                        <a:pt x="0" y="219"/>
                      </a:lnTo>
                      <a:lnTo>
                        <a:pt x="5" y="175"/>
                      </a:lnTo>
                      <a:lnTo>
                        <a:pt x="22" y="134"/>
                      </a:lnTo>
                      <a:lnTo>
                        <a:pt x="47" y="96"/>
                      </a:lnTo>
                      <a:lnTo>
                        <a:pt x="79" y="63"/>
                      </a:lnTo>
                      <a:lnTo>
                        <a:pt x="117" y="36"/>
                      </a:lnTo>
                      <a:lnTo>
                        <a:pt x="160" y="17"/>
                      </a:lnTo>
                      <a:lnTo>
                        <a:pt x="211" y="6"/>
                      </a:lnTo>
                      <a:lnTo>
                        <a:pt x="264" y="0"/>
                      </a:lnTo>
                      <a:close/>
                    </a:path>
                  </a:pathLst>
                </a:custGeom>
                <a:solidFill>
                  <a:srgbClr val="56545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22" name="Freeform 371"/>
                <p:cNvSpPr>
                  <a:spLocks/>
                </p:cNvSpPr>
                <p:nvPr/>
              </p:nvSpPr>
              <p:spPr bwMode="auto">
                <a:xfrm>
                  <a:off x="4331" y="1556"/>
                  <a:ext cx="66" cy="56"/>
                </a:xfrm>
                <a:custGeom>
                  <a:avLst/>
                  <a:gdLst>
                    <a:gd name="T0" fmla="*/ 0 w 264"/>
                    <a:gd name="T1" fmla="*/ 0 h 223"/>
                    <a:gd name="T2" fmla="*/ 0 w 264"/>
                    <a:gd name="T3" fmla="*/ 0 h 223"/>
                    <a:gd name="T4" fmla="*/ 0 w 264"/>
                    <a:gd name="T5" fmla="*/ 0 h 223"/>
                    <a:gd name="T6" fmla="*/ 0 w 264"/>
                    <a:gd name="T7" fmla="*/ 0 h 223"/>
                    <a:gd name="T8" fmla="*/ 0 w 264"/>
                    <a:gd name="T9" fmla="*/ 0 h 223"/>
                    <a:gd name="T10" fmla="*/ 0 w 264"/>
                    <a:gd name="T11" fmla="*/ 0 h 223"/>
                    <a:gd name="T12" fmla="*/ 0 w 264"/>
                    <a:gd name="T13" fmla="*/ 0 h 223"/>
                    <a:gd name="T14" fmla="*/ 0 w 264"/>
                    <a:gd name="T15" fmla="*/ 0 h 223"/>
                    <a:gd name="T16" fmla="*/ 0 w 264"/>
                    <a:gd name="T17" fmla="*/ 0 h 223"/>
                    <a:gd name="T18" fmla="*/ 0 w 264"/>
                    <a:gd name="T19" fmla="*/ 0 h 223"/>
                    <a:gd name="T20" fmla="*/ 0 w 264"/>
                    <a:gd name="T21" fmla="*/ 0 h 223"/>
                    <a:gd name="T22" fmla="*/ 0 w 264"/>
                    <a:gd name="T23" fmla="*/ 0 h 223"/>
                    <a:gd name="T24" fmla="*/ 0 w 264"/>
                    <a:gd name="T25" fmla="*/ 0 h 223"/>
                    <a:gd name="T26" fmla="*/ 0 w 264"/>
                    <a:gd name="T27" fmla="*/ 0 h 223"/>
                    <a:gd name="T28" fmla="*/ 0 w 264"/>
                    <a:gd name="T29" fmla="*/ 0 h 223"/>
                    <a:gd name="T30" fmla="*/ 0 w 264"/>
                    <a:gd name="T31" fmla="*/ 0 h 223"/>
                    <a:gd name="T32" fmla="*/ 0 w 264"/>
                    <a:gd name="T33" fmla="*/ 0 h 223"/>
                    <a:gd name="T34" fmla="*/ 0 w 264"/>
                    <a:gd name="T35" fmla="*/ 0 h 223"/>
                    <a:gd name="T36" fmla="*/ 0 w 264"/>
                    <a:gd name="T37" fmla="*/ 0 h 223"/>
                    <a:gd name="T38" fmla="*/ 0 w 264"/>
                    <a:gd name="T39" fmla="*/ 0 h 223"/>
                    <a:gd name="T40" fmla="*/ 0 w 264"/>
                    <a:gd name="T41" fmla="*/ 0 h 223"/>
                    <a:gd name="T42" fmla="*/ 0 w 264"/>
                    <a:gd name="T43" fmla="*/ 0 h 223"/>
                    <a:gd name="T44" fmla="*/ 0 w 264"/>
                    <a:gd name="T45" fmla="*/ 0 h 223"/>
                    <a:gd name="T46" fmla="*/ 0 w 264"/>
                    <a:gd name="T47" fmla="*/ 0 h 223"/>
                    <a:gd name="T48" fmla="*/ 0 w 264"/>
                    <a:gd name="T49" fmla="*/ 0 h 223"/>
                    <a:gd name="T50" fmla="*/ 0 w 264"/>
                    <a:gd name="T51" fmla="*/ 0 h 223"/>
                    <a:gd name="T52" fmla="*/ 0 w 264"/>
                    <a:gd name="T53" fmla="*/ 0 h 223"/>
                    <a:gd name="T54" fmla="*/ 0 w 264"/>
                    <a:gd name="T55" fmla="*/ 0 h 223"/>
                    <a:gd name="T56" fmla="*/ 0 w 264"/>
                    <a:gd name="T57" fmla="*/ 0 h 223"/>
                    <a:gd name="T58" fmla="*/ 0 w 264"/>
                    <a:gd name="T59" fmla="*/ 0 h 223"/>
                    <a:gd name="T60" fmla="*/ 0 w 264"/>
                    <a:gd name="T61" fmla="*/ 0 h 223"/>
                    <a:gd name="T62" fmla="*/ 0 w 264"/>
                    <a:gd name="T63" fmla="*/ 0 h 223"/>
                    <a:gd name="T64" fmla="*/ 0 w 264"/>
                    <a:gd name="T65" fmla="*/ 0 h 223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264"/>
                    <a:gd name="T100" fmla="*/ 0 h 223"/>
                    <a:gd name="T101" fmla="*/ 264 w 264"/>
                    <a:gd name="T102" fmla="*/ 223 h 223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264" h="223">
                      <a:moveTo>
                        <a:pt x="134" y="0"/>
                      </a:moveTo>
                      <a:lnTo>
                        <a:pt x="158" y="3"/>
                      </a:lnTo>
                      <a:lnTo>
                        <a:pt x="182" y="9"/>
                      </a:lnTo>
                      <a:lnTo>
                        <a:pt x="204" y="20"/>
                      </a:lnTo>
                      <a:lnTo>
                        <a:pt x="224" y="33"/>
                      </a:lnTo>
                      <a:lnTo>
                        <a:pt x="240" y="50"/>
                      </a:lnTo>
                      <a:lnTo>
                        <a:pt x="253" y="66"/>
                      </a:lnTo>
                      <a:lnTo>
                        <a:pt x="261" y="87"/>
                      </a:lnTo>
                      <a:lnTo>
                        <a:pt x="264" y="110"/>
                      </a:lnTo>
                      <a:lnTo>
                        <a:pt x="261" y="131"/>
                      </a:lnTo>
                      <a:lnTo>
                        <a:pt x="253" y="152"/>
                      </a:lnTo>
                      <a:lnTo>
                        <a:pt x="240" y="172"/>
                      </a:lnTo>
                      <a:lnTo>
                        <a:pt x="224" y="191"/>
                      </a:lnTo>
                      <a:lnTo>
                        <a:pt x="204" y="204"/>
                      </a:lnTo>
                      <a:lnTo>
                        <a:pt x="182" y="215"/>
                      </a:lnTo>
                      <a:lnTo>
                        <a:pt x="158" y="221"/>
                      </a:lnTo>
                      <a:lnTo>
                        <a:pt x="134" y="223"/>
                      </a:lnTo>
                      <a:lnTo>
                        <a:pt x="106" y="221"/>
                      </a:lnTo>
                      <a:lnTo>
                        <a:pt x="81" y="215"/>
                      </a:lnTo>
                      <a:lnTo>
                        <a:pt x="60" y="204"/>
                      </a:lnTo>
                      <a:lnTo>
                        <a:pt x="39" y="191"/>
                      </a:lnTo>
                      <a:lnTo>
                        <a:pt x="23" y="172"/>
                      </a:lnTo>
                      <a:lnTo>
                        <a:pt x="11" y="152"/>
                      </a:lnTo>
                      <a:lnTo>
                        <a:pt x="3" y="131"/>
                      </a:lnTo>
                      <a:lnTo>
                        <a:pt x="0" y="110"/>
                      </a:lnTo>
                      <a:lnTo>
                        <a:pt x="3" y="87"/>
                      </a:lnTo>
                      <a:lnTo>
                        <a:pt x="11" y="66"/>
                      </a:lnTo>
                      <a:lnTo>
                        <a:pt x="23" y="50"/>
                      </a:lnTo>
                      <a:lnTo>
                        <a:pt x="39" y="33"/>
                      </a:lnTo>
                      <a:lnTo>
                        <a:pt x="60" y="20"/>
                      </a:lnTo>
                      <a:lnTo>
                        <a:pt x="81" y="9"/>
                      </a:lnTo>
                      <a:lnTo>
                        <a:pt x="106" y="3"/>
                      </a:lnTo>
                      <a:lnTo>
                        <a:pt x="134" y="0"/>
                      </a:lnTo>
                      <a:close/>
                    </a:path>
                  </a:pathLst>
                </a:custGeom>
                <a:solidFill>
                  <a:srgbClr val="1E191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23" name="Freeform 372"/>
                <p:cNvSpPr>
                  <a:spLocks/>
                </p:cNvSpPr>
                <p:nvPr/>
              </p:nvSpPr>
              <p:spPr bwMode="auto">
                <a:xfrm>
                  <a:off x="4346" y="1570"/>
                  <a:ext cx="35" cy="28"/>
                </a:xfrm>
                <a:custGeom>
                  <a:avLst/>
                  <a:gdLst>
                    <a:gd name="T0" fmla="*/ 0 w 138"/>
                    <a:gd name="T1" fmla="*/ 0 h 111"/>
                    <a:gd name="T2" fmla="*/ 0 w 138"/>
                    <a:gd name="T3" fmla="*/ 0 h 111"/>
                    <a:gd name="T4" fmla="*/ 0 w 138"/>
                    <a:gd name="T5" fmla="*/ 0 h 111"/>
                    <a:gd name="T6" fmla="*/ 0 w 138"/>
                    <a:gd name="T7" fmla="*/ 0 h 111"/>
                    <a:gd name="T8" fmla="*/ 0 w 138"/>
                    <a:gd name="T9" fmla="*/ 0 h 111"/>
                    <a:gd name="T10" fmla="*/ 0 w 138"/>
                    <a:gd name="T11" fmla="*/ 0 h 111"/>
                    <a:gd name="T12" fmla="*/ 0 w 138"/>
                    <a:gd name="T13" fmla="*/ 0 h 111"/>
                    <a:gd name="T14" fmla="*/ 0 w 138"/>
                    <a:gd name="T15" fmla="*/ 0 h 111"/>
                    <a:gd name="T16" fmla="*/ 0 w 138"/>
                    <a:gd name="T17" fmla="*/ 0 h 111"/>
                    <a:gd name="T18" fmla="*/ 0 w 138"/>
                    <a:gd name="T19" fmla="*/ 0 h 111"/>
                    <a:gd name="T20" fmla="*/ 0 w 138"/>
                    <a:gd name="T21" fmla="*/ 0 h 111"/>
                    <a:gd name="T22" fmla="*/ 0 w 138"/>
                    <a:gd name="T23" fmla="*/ 0 h 111"/>
                    <a:gd name="T24" fmla="*/ 0 w 138"/>
                    <a:gd name="T25" fmla="*/ 0 h 111"/>
                    <a:gd name="T26" fmla="*/ 0 w 138"/>
                    <a:gd name="T27" fmla="*/ 0 h 111"/>
                    <a:gd name="T28" fmla="*/ 0 w 138"/>
                    <a:gd name="T29" fmla="*/ 0 h 111"/>
                    <a:gd name="T30" fmla="*/ 0 w 138"/>
                    <a:gd name="T31" fmla="*/ 0 h 111"/>
                    <a:gd name="T32" fmla="*/ 0 w 138"/>
                    <a:gd name="T33" fmla="*/ 0 h 11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38"/>
                    <a:gd name="T52" fmla="*/ 0 h 111"/>
                    <a:gd name="T53" fmla="*/ 138 w 138"/>
                    <a:gd name="T54" fmla="*/ 111 h 111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38" h="111">
                      <a:moveTo>
                        <a:pt x="71" y="0"/>
                      </a:moveTo>
                      <a:lnTo>
                        <a:pt x="95" y="5"/>
                      </a:lnTo>
                      <a:lnTo>
                        <a:pt x="117" y="16"/>
                      </a:lnTo>
                      <a:lnTo>
                        <a:pt x="133" y="32"/>
                      </a:lnTo>
                      <a:lnTo>
                        <a:pt x="138" y="55"/>
                      </a:lnTo>
                      <a:lnTo>
                        <a:pt x="133" y="76"/>
                      </a:lnTo>
                      <a:lnTo>
                        <a:pt x="117" y="95"/>
                      </a:lnTo>
                      <a:lnTo>
                        <a:pt x="95" y="106"/>
                      </a:lnTo>
                      <a:lnTo>
                        <a:pt x="71" y="111"/>
                      </a:lnTo>
                      <a:lnTo>
                        <a:pt x="43" y="106"/>
                      </a:lnTo>
                      <a:lnTo>
                        <a:pt x="18" y="95"/>
                      </a:lnTo>
                      <a:lnTo>
                        <a:pt x="6" y="76"/>
                      </a:lnTo>
                      <a:lnTo>
                        <a:pt x="0" y="55"/>
                      </a:lnTo>
                      <a:lnTo>
                        <a:pt x="6" y="32"/>
                      </a:lnTo>
                      <a:lnTo>
                        <a:pt x="18" y="16"/>
                      </a:lnTo>
                      <a:lnTo>
                        <a:pt x="43" y="5"/>
                      </a:lnTo>
                      <a:lnTo>
                        <a:pt x="71" y="0"/>
                      </a:lnTo>
                      <a:close/>
                    </a:path>
                  </a:pathLst>
                </a:custGeom>
                <a:solidFill>
                  <a:srgbClr val="C4C4C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24" name="Freeform 373"/>
                <p:cNvSpPr>
                  <a:spLocks/>
                </p:cNvSpPr>
                <p:nvPr/>
              </p:nvSpPr>
              <p:spPr bwMode="auto">
                <a:xfrm>
                  <a:off x="4903" y="1489"/>
                  <a:ext cx="227" cy="190"/>
                </a:xfrm>
                <a:custGeom>
                  <a:avLst/>
                  <a:gdLst>
                    <a:gd name="T0" fmla="*/ 0 w 907"/>
                    <a:gd name="T1" fmla="*/ 0 h 758"/>
                    <a:gd name="T2" fmla="*/ 0 w 907"/>
                    <a:gd name="T3" fmla="*/ 0 h 758"/>
                    <a:gd name="T4" fmla="*/ 0 w 907"/>
                    <a:gd name="T5" fmla="*/ 0 h 758"/>
                    <a:gd name="T6" fmla="*/ 0 w 907"/>
                    <a:gd name="T7" fmla="*/ 0 h 758"/>
                    <a:gd name="T8" fmla="*/ 0 w 907"/>
                    <a:gd name="T9" fmla="*/ 0 h 758"/>
                    <a:gd name="T10" fmla="*/ 0 w 907"/>
                    <a:gd name="T11" fmla="*/ 0 h 758"/>
                    <a:gd name="T12" fmla="*/ 0 w 907"/>
                    <a:gd name="T13" fmla="*/ 0 h 758"/>
                    <a:gd name="T14" fmla="*/ 0 w 907"/>
                    <a:gd name="T15" fmla="*/ 0 h 758"/>
                    <a:gd name="T16" fmla="*/ 0 w 907"/>
                    <a:gd name="T17" fmla="*/ 0 h 758"/>
                    <a:gd name="T18" fmla="*/ 0 w 907"/>
                    <a:gd name="T19" fmla="*/ 0 h 758"/>
                    <a:gd name="T20" fmla="*/ 0 w 907"/>
                    <a:gd name="T21" fmla="*/ 0 h 758"/>
                    <a:gd name="T22" fmla="*/ 0 w 907"/>
                    <a:gd name="T23" fmla="*/ 0 h 758"/>
                    <a:gd name="T24" fmla="*/ 0 w 907"/>
                    <a:gd name="T25" fmla="*/ 0 h 758"/>
                    <a:gd name="T26" fmla="*/ 0 w 907"/>
                    <a:gd name="T27" fmla="*/ 0 h 758"/>
                    <a:gd name="T28" fmla="*/ 0 w 907"/>
                    <a:gd name="T29" fmla="*/ 0 h 758"/>
                    <a:gd name="T30" fmla="*/ 0 w 907"/>
                    <a:gd name="T31" fmla="*/ 0 h 758"/>
                    <a:gd name="T32" fmla="*/ 0 w 907"/>
                    <a:gd name="T33" fmla="*/ 0 h 758"/>
                    <a:gd name="T34" fmla="*/ 0 w 907"/>
                    <a:gd name="T35" fmla="*/ 0 h 758"/>
                    <a:gd name="T36" fmla="*/ 0 w 907"/>
                    <a:gd name="T37" fmla="*/ 0 h 758"/>
                    <a:gd name="T38" fmla="*/ 0 w 907"/>
                    <a:gd name="T39" fmla="*/ 0 h 758"/>
                    <a:gd name="T40" fmla="*/ 0 w 907"/>
                    <a:gd name="T41" fmla="*/ 0 h 758"/>
                    <a:gd name="T42" fmla="*/ 0 w 907"/>
                    <a:gd name="T43" fmla="*/ 0 h 758"/>
                    <a:gd name="T44" fmla="*/ 0 w 907"/>
                    <a:gd name="T45" fmla="*/ 0 h 758"/>
                    <a:gd name="T46" fmla="*/ 0 w 907"/>
                    <a:gd name="T47" fmla="*/ 0 h 758"/>
                    <a:gd name="T48" fmla="*/ 0 w 907"/>
                    <a:gd name="T49" fmla="*/ 0 h 758"/>
                    <a:gd name="T50" fmla="*/ 0 w 907"/>
                    <a:gd name="T51" fmla="*/ 0 h 758"/>
                    <a:gd name="T52" fmla="*/ 0 w 907"/>
                    <a:gd name="T53" fmla="*/ 0 h 758"/>
                    <a:gd name="T54" fmla="*/ 0 w 907"/>
                    <a:gd name="T55" fmla="*/ 0 h 758"/>
                    <a:gd name="T56" fmla="*/ 0 w 907"/>
                    <a:gd name="T57" fmla="*/ 0 h 758"/>
                    <a:gd name="T58" fmla="*/ 0 w 907"/>
                    <a:gd name="T59" fmla="*/ 0 h 758"/>
                    <a:gd name="T60" fmla="*/ 0 w 907"/>
                    <a:gd name="T61" fmla="*/ 0 h 758"/>
                    <a:gd name="T62" fmla="*/ 0 w 907"/>
                    <a:gd name="T63" fmla="*/ 0 h 758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907"/>
                    <a:gd name="T97" fmla="*/ 0 h 758"/>
                    <a:gd name="T98" fmla="*/ 907 w 907"/>
                    <a:gd name="T99" fmla="*/ 758 h 758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907" h="758">
                      <a:moveTo>
                        <a:pt x="450" y="0"/>
                      </a:moveTo>
                      <a:lnTo>
                        <a:pt x="496" y="3"/>
                      </a:lnTo>
                      <a:lnTo>
                        <a:pt x="543" y="8"/>
                      </a:lnTo>
                      <a:lnTo>
                        <a:pt x="586" y="17"/>
                      </a:lnTo>
                      <a:lnTo>
                        <a:pt x="627" y="30"/>
                      </a:lnTo>
                      <a:lnTo>
                        <a:pt x="668" y="47"/>
                      </a:lnTo>
                      <a:lnTo>
                        <a:pt x="706" y="65"/>
                      </a:lnTo>
                      <a:lnTo>
                        <a:pt x="741" y="88"/>
                      </a:lnTo>
                      <a:lnTo>
                        <a:pt x="773" y="112"/>
                      </a:lnTo>
                      <a:lnTo>
                        <a:pt x="803" y="139"/>
                      </a:lnTo>
                      <a:lnTo>
                        <a:pt x="828" y="169"/>
                      </a:lnTo>
                      <a:lnTo>
                        <a:pt x="853" y="199"/>
                      </a:lnTo>
                      <a:lnTo>
                        <a:pt x="872" y="231"/>
                      </a:lnTo>
                      <a:lnTo>
                        <a:pt x="886" y="266"/>
                      </a:lnTo>
                      <a:lnTo>
                        <a:pt x="899" y="302"/>
                      </a:lnTo>
                      <a:lnTo>
                        <a:pt x="904" y="340"/>
                      </a:lnTo>
                      <a:lnTo>
                        <a:pt x="907" y="379"/>
                      </a:lnTo>
                      <a:lnTo>
                        <a:pt x="904" y="416"/>
                      </a:lnTo>
                      <a:lnTo>
                        <a:pt x="899" y="455"/>
                      </a:lnTo>
                      <a:lnTo>
                        <a:pt x="886" y="492"/>
                      </a:lnTo>
                      <a:lnTo>
                        <a:pt x="872" y="525"/>
                      </a:lnTo>
                      <a:lnTo>
                        <a:pt x="853" y="560"/>
                      </a:lnTo>
                      <a:lnTo>
                        <a:pt x="828" y="590"/>
                      </a:lnTo>
                      <a:lnTo>
                        <a:pt x="803" y="620"/>
                      </a:lnTo>
                      <a:lnTo>
                        <a:pt x="773" y="647"/>
                      </a:lnTo>
                      <a:lnTo>
                        <a:pt x="741" y="672"/>
                      </a:lnTo>
                      <a:lnTo>
                        <a:pt x="706" y="693"/>
                      </a:lnTo>
                      <a:lnTo>
                        <a:pt x="668" y="712"/>
                      </a:lnTo>
                      <a:lnTo>
                        <a:pt x="627" y="728"/>
                      </a:lnTo>
                      <a:lnTo>
                        <a:pt x="586" y="742"/>
                      </a:lnTo>
                      <a:lnTo>
                        <a:pt x="543" y="750"/>
                      </a:lnTo>
                      <a:lnTo>
                        <a:pt x="496" y="756"/>
                      </a:lnTo>
                      <a:lnTo>
                        <a:pt x="450" y="758"/>
                      </a:lnTo>
                      <a:lnTo>
                        <a:pt x="404" y="756"/>
                      </a:lnTo>
                      <a:lnTo>
                        <a:pt x="358" y="750"/>
                      </a:lnTo>
                      <a:lnTo>
                        <a:pt x="318" y="742"/>
                      </a:lnTo>
                      <a:lnTo>
                        <a:pt x="274" y="728"/>
                      </a:lnTo>
                      <a:lnTo>
                        <a:pt x="237" y="712"/>
                      </a:lnTo>
                      <a:lnTo>
                        <a:pt x="198" y="693"/>
                      </a:lnTo>
                      <a:lnTo>
                        <a:pt x="163" y="672"/>
                      </a:lnTo>
                      <a:lnTo>
                        <a:pt x="133" y="647"/>
                      </a:lnTo>
                      <a:lnTo>
                        <a:pt x="103" y="620"/>
                      </a:lnTo>
                      <a:lnTo>
                        <a:pt x="76" y="590"/>
                      </a:lnTo>
                      <a:lnTo>
                        <a:pt x="54" y="560"/>
                      </a:lnTo>
                      <a:lnTo>
                        <a:pt x="35" y="525"/>
                      </a:lnTo>
                      <a:lnTo>
                        <a:pt x="18" y="492"/>
                      </a:lnTo>
                      <a:lnTo>
                        <a:pt x="8" y="455"/>
                      </a:lnTo>
                      <a:lnTo>
                        <a:pt x="2" y="416"/>
                      </a:lnTo>
                      <a:lnTo>
                        <a:pt x="0" y="379"/>
                      </a:lnTo>
                      <a:lnTo>
                        <a:pt x="2" y="340"/>
                      </a:lnTo>
                      <a:lnTo>
                        <a:pt x="8" y="302"/>
                      </a:lnTo>
                      <a:lnTo>
                        <a:pt x="18" y="266"/>
                      </a:lnTo>
                      <a:lnTo>
                        <a:pt x="35" y="231"/>
                      </a:lnTo>
                      <a:lnTo>
                        <a:pt x="54" y="199"/>
                      </a:lnTo>
                      <a:lnTo>
                        <a:pt x="76" y="169"/>
                      </a:lnTo>
                      <a:lnTo>
                        <a:pt x="103" y="139"/>
                      </a:lnTo>
                      <a:lnTo>
                        <a:pt x="133" y="112"/>
                      </a:lnTo>
                      <a:lnTo>
                        <a:pt x="163" y="88"/>
                      </a:lnTo>
                      <a:lnTo>
                        <a:pt x="198" y="65"/>
                      </a:lnTo>
                      <a:lnTo>
                        <a:pt x="237" y="47"/>
                      </a:lnTo>
                      <a:lnTo>
                        <a:pt x="274" y="30"/>
                      </a:lnTo>
                      <a:lnTo>
                        <a:pt x="318" y="17"/>
                      </a:lnTo>
                      <a:lnTo>
                        <a:pt x="358" y="8"/>
                      </a:lnTo>
                      <a:lnTo>
                        <a:pt x="404" y="3"/>
                      </a:lnTo>
                      <a:lnTo>
                        <a:pt x="450" y="0"/>
                      </a:lnTo>
                      <a:close/>
                    </a:path>
                  </a:pathLst>
                </a:custGeom>
                <a:solidFill>
                  <a:srgbClr val="1E191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25" name="Freeform 374"/>
                <p:cNvSpPr>
                  <a:spLocks/>
                </p:cNvSpPr>
                <p:nvPr/>
              </p:nvSpPr>
              <p:spPr bwMode="auto">
                <a:xfrm>
                  <a:off x="4924" y="1507"/>
                  <a:ext cx="184" cy="154"/>
                </a:xfrm>
                <a:custGeom>
                  <a:avLst/>
                  <a:gdLst>
                    <a:gd name="T0" fmla="*/ 0 w 733"/>
                    <a:gd name="T1" fmla="*/ 0 h 617"/>
                    <a:gd name="T2" fmla="*/ 0 w 733"/>
                    <a:gd name="T3" fmla="*/ 0 h 617"/>
                    <a:gd name="T4" fmla="*/ 0 w 733"/>
                    <a:gd name="T5" fmla="*/ 0 h 617"/>
                    <a:gd name="T6" fmla="*/ 0 w 733"/>
                    <a:gd name="T7" fmla="*/ 0 h 617"/>
                    <a:gd name="T8" fmla="*/ 0 w 733"/>
                    <a:gd name="T9" fmla="*/ 0 h 617"/>
                    <a:gd name="T10" fmla="*/ 0 w 733"/>
                    <a:gd name="T11" fmla="*/ 0 h 617"/>
                    <a:gd name="T12" fmla="*/ 0 w 733"/>
                    <a:gd name="T13" fmla="*/ 0 h 617"/>
                    <a:gd name="T14" fmla="*/ 0 w 733"/>
                    <a:gd name="T15" fmla="*/ 0 h 617"/>
                    <a:gd name="T16" fmla="*/ 0 w 733"/>
                    <a:gd name="T17" fmla="*/ 0 h 617"/>
                    <a:gd name="T18" fmla="*/ 0 w 733"/>
                    <a:gd name="T19" fmla="*/ 0 h 617"/>
                    <a:gd name="T20" fmla="*/ 0 w 733"/>
                    <a:gd name="T21" fmla="*/ 0 h 617"/>
                    <a:gd name="T22" fmla="*/ 0 w 733"/>
                    <a:gd name="T23" fmla="*/ 0 h 617"/>
                    <a:gd name="T24" fmla="*/ 0 w 733"/>
                    <a:gd name="T25" fmla="*/ 0 h 617"/>
                    <a:gd name="T26" fmla="*/ 0 w 733"/>
                    <a:gd name="T27" fmla="*/ 0 h 617"/>
                    <a:gd name="T28" fmla="*/ 0 w 733"/>
                    <a:gd name="T29" fmla="*/ 0 h 617"/>
                    <a:gd name="T30" fmla="*/ 0 w 733"/>
                    <a:gd name="T31" fmla="*/ 0 h 617"/>
                    <a:gd name="T32" fmla="*/ 0 w 733"/>
                    <a:gd name="T33" fmla="*/ 0 h 617"/>
                    <a:gd name="T34" fmla="*/ 0 w 733"/>
                    <a:gd name="T35" fmla="*/ 0 h 617"/>
                    <a:gd name="T36" fmla="*/ 0 w 733"/>
                    <a:gd name="T37" fmla="*/ 0 h 617"/>
                    <a:gd name="T38" fmla="*/ 0 w 733"/>
                    <a:gd name="T39" fmla="*/ 0 h 617"/>
                    <a:gd name="T40" fmla="*/ 0 w 733"/>
                    <a:gd name="T41" fmla="*/ 0 h 617"/>
                    <a:gd name="T42" fmla="*/ 0 w 733"/>
                    <a:gd name="T43" fmla="*/ 0 h 617"/>
                    <a:gd name="T44" fmla="*/ 0 w 733"/>
                    <a:gd name="T45" fmla="*/ 0 h 617"/>
                    <a:gd name="T46" fmla="*/ 0 w 733"/>
                    <a:gd name="T47" fmla="*/ 0 h 617"/>
                    <a:gd name="T48" fmla="*/ 0 w 733"/>
                    <a:gd name="T49" fmla="*/ 0 h 617"/>
                    <a:gd name="T50" fmla="*/ 0 w 733"/>
                    <a:gd name="T51" fmla="*/ 0 h 617"/>
                    <a:gd name="T52" fmla="*/ 0 w 733"/>
                    <a:gd name="T53" fmla="*/ 0 h 617"/>
                    <a:gd name="T54" fmla="*/ 0 w 733"/>
                    <a:gd name="T55" fmla="*/ 0 h 617"/>
                    <a:gd name="T56" fmla="*/ 0 w 733"/>
                    <a:gd name="T57" fmla="*/ 0 h 617"/>
                    <a:gd name="T58" fmla="*/ 0 w 733"/>
                    <a:gd name="T59" fmla="*/ 0 h 617"/>
                    <a:gd name="T60" fmla="*/ 0 w 733"/>
                    <a:gd name="T61" fmla="*/ 0 h 617"/>
                    <a:gd name="T62" fmla="*/ 0 w 733"/>
                    <a:gd name="T63" fmla="*/ 0 h 617"/>
                    <a:gd name="T64" fmla="*/ 0 w 733"/>
                    <a:gd name="T65" fmla="*/ 0 h 617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733"/>
                    <a:gd name="T100" fmla="*/ 0 h 617"/>
                    <a:gd name="T101" fmla="*/ 733 w 733"/>
                    <a:gd name="T102" fmla="*/ 617 h 617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733" h="617">
                      <a:moveTo>
                        <a:pt x="366" y="0"/>
                      </a:moveTo>
                      <a:lnTo>
                        <a:pt x="442" y="6"/>
                      </a:lnTo>
                      <a:lnTo>
                        <a:pt x="511" y="24"/>
                      </a:lnTo>
                      <a:lnTo>
                        <a:pt x="573" y="52"/>
                      </a:lnTo>
                      <a:lnTo>
                        <a:pt x="627" y="89"/>
                      </a:lnTo>
                      <a:lnTo>
                        <a:pt x="671" y="136"/>
                      </a:lnTo>
                      <a:lnTo>
                        <a:pt x="707" y="188"/>
                      </a:lnTo>
                      <a:lnTo>
                        <a:pt x="725" y="244"/>
                      </a:lnTo>
                      <a:lnTo>
                        <a:pt x="733" y="308"/>
                      </a:lnTo>
                      <a:lnTo>
                        <a:pt x="725" y="370"/>
                      </a:lnTo>
                      <a:lnTo>
                        <a:pt x="707" y="426"/>
                      </a:lnTo>
                      <a:lnTo>
                        <a:pt x="671" y="481"/>
                      </a:lnTo>
                      <a:lnTo>
                        <a:pt x="627" y="527"/>
                      </a:lnTo>
                      <a:lnTo>
                        <a:pt x="573" y="565"/>
                      </a:lnTo>
                      <a:lnTo>
                        <a:pt x="511" y="592"/>
                      </a:lnTo>
                      <a:lnTo>
                        <a:pt x="442" y="611"/>
                      </a:lnTo>
                      <a:lnTo>
                        <a:pt x="366" y="617"/>
                      </a:lnTo>
                      <a:lnTo>
                        <a:pt x="294" y="611"/>
                      </a:lnTo>
                      <a:lnTo>
                        <a:pt x="225" y="592"/>
                      </a:lnTo>
                      <a:lnTo>
                        <a:pt x="163" y="565"/>
                      </a:lnTo>
                      <a:lnTo>
                        <a:pt x="109" y="527"/>
                      </a:lnTo>
                      <a:lnTo>
                        <a:pt x="63" y="481"/>
                      </a:lnTo>
                      <a:lnTo>
                        <a:pt x="30" y="426"/>
                      </a:lnTo>
                      <a:lnTo>
                        <a:pt x="8" y="370"/>
                      </a:lnTo>
                      <a:lnTo>
                        <a:pt x="0" y="308"/>
                      </a:lnTo>
                      <a:lnTo>
                        <a:pt x="8" y="244"/>
                      </a:lnTo>
                      <a:lnTo>
                        <a:pt x="30" y="188"/>
                      </a:lnTo>
                      <a:lnTo>
                        <a:pt x="63" y="136"/>
                      </a:lnTo>
                      <a:lnTo>
                        <a:pt x="109" y="89"/>
                      </a:lnTo>
                      <a:lnTo>
                        <a:pt x="163" y="52"/>
                      </a:lnTo>
                      <a:lnTo>
                        <a:pt x="225" y="24"/>
                      </a:lnTo>
                      <a:lnTo>
                        <a:pt x="294" y="6"/>
                      </a:lnTo>
                      <a:lnTo>
                        <a:pt x="366" y="0"/>
                      </a:lnTo>
                      <a:close/>
                    </a:path>
                  </a:pathLst>
                </a:custGeom>
                <a:solidFill>
                  <a:srgbClr val="877A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26" name="Freeform 375"/>
                <p:cNvSpPr>
                  <a:spLocks/>
                </p:cNvSpPr>
                <p:nvPr/>
              </p:nvSpPr>
              <p:spPr bwMode="auto">
                <a:xfrm>
                  <a:off x="4951" y="1529"/>
                  <a:ext cx="131" cy="110"/>
                </a:xfrm>
                <a:custGeom>
                  <a:avLst/>
                  <a:gdLst>
                    <a:gd name="T0" fmla="*/ 0 w 526"/>
                    <a:gd name="T1" fmla="*/ 0 h 441"/>
                    <a:gd name="T2" fmla="*/ 0 w 526"/>
                    <a:gd name="T3" fmla="*/ 0 h 441"/>
                    <a:gd name="T4" fmla="*/ 0 w 526"/>
                    <a:gd name="T5" fmla="*/ 0 h 441"/>
                    <a:gd name="T6" fmla="*/ 0 w 526"/>
                    <a:gd name="T7" fmla="*/ 0 h 441"/>
                    <a:gd name="T8" fmla="*/ 0 w 526"/>
                    <a:gd name="T9" fmla="*/ 0 h 441"/>
                    <a:gd name="T10" fmla="*/ 0 w 526"/>
                    <a:gd name="T11" fmla="*/ 0 h 441"/>
                    <a:gd name="T12" fmla="*/ 0 w 526"/>
                    <a:gd name="T13" fmla="*/ 0 h 441"/>
                    <a:gd name="T14" fmla="*/ 0 w 526"/>
                    <a:gd name="T15" fmla="*/ 0 h 441"/>
                    <a:gd name="T16" fmla="*/ 0 w 526"/>
                    <a:gd name="T17" fmla="*/ 0 h 441"/>
                    <a:gd name="T18" fmla="*/ 0 w 526"/>
                    <a:gd name="T19" fmla="*/ 0 h 441"/>
                    <a:gd name="T20" fmla="*/ 0 w 526"/>
                    <a:gd name="T21" fmla="*/ 0 h 441"/>
                    <a:gd name="T22" fmla="*/ 0 w 526"/>
                    <a:gd name="T23" fmla="*/ 0 h 441"/>
                    <a:gd name="T24" fmla="*/ 0 w 526"/>
                    <a:gd name="T25" fmla="*/ 0 h 441"/>
                    <a:gd name="T26" fmla="*/ 0 w 526"/>
                    <a:gd name="T27" fmla="*/ 0 h 441"/>
                    <a:gd name="T28" fmla="*/ 0 w 526"/>
                    <a:gd name="T29" fmla="*/ 0 h 441"/>
                    <a:gd name="T30" fmla="*/ 0 w 526"/>
                    <a:gd name="T31" fmla="*/ 0 h 441"/>
                    <a:gd name="T32" fmla="*/ 0 w 526"/>
                    <a:gd name="T33" fmla="*/ 0 h 441"/>
                    <a:gd name="T34" fmla="*/ 0 w 526"/>
                    <a:gd name="T35" fmla="*/ 0 h 441"/>
                    <a:gd name="T36" fmla="*/ 0 w 526"/>
                    <a:gd name="T37" fmla="*/ 0 h 441"/>
                    <a:gd name="T38" fmla="*/ 0 w 526"/>
                    <a:gd name="T39" fmla="*/ 0 h 441"/>
                    <a:gd name="T40" fmla="*/ 0 w 526"/>
                    <a:gd name="T41" fmla="*/ 0 h 441"/>
                    <a:gd name="T42" fmla="*/ 0 w 526"/>
                    <a:gd name="T43" fmla="*/ 0 h 441"/>
                    <a:gd name="T44" fmla="*/ 0 w 526"/>
                    <a:gd name="T45" fmla="*/ 0 h 441"/>
                    <a:gd name="T46" fmla="*/ 0 w 526"/>
                    <a:gd name="T47" fmla="*/ 0 h 441"/>
                    <a:gd name="T48" fmla="*/ 0 w 526"/>
                    <a:gd name="T49" fmla="*/ 0 h 441"/>
                    <a:gd name="T50" fmla="*/ 0 w 526"/>
                    <a:gd name="T51" fmla="*/ 0 h 441"/>
                    <a:gd name="T52" fmla="*/ 0 w 526"/>
                    <a:gd name="T53" fmla="*/ 0 h 441"/>
                    <a:gd name="T54" fmla="*/ 0 w 526"/>
                    <a:gd name="T55" fmla="*/ 0 h 441"/>
                    <a:gd name="T56" fmla="*/ 0 w 526"/>
                    <a:gd name="T57" fmla="*/ 0 h 441"/>
                    <a:gd name="T58" fmla="*/ 0 w 526"/>
                    <a:gd name="T59" fmla="*/ 0 h 441"/>
                    <a:gd name="T60" fmla="*/ 0 w 526"/>
                    <a:gd name="T61" fmla="*/ 0 h 441"/>
                    <a:gd name="T62" fmla="*/ 0 w 526"/>
                    <a:gd name="T63" fmla="*/ 0 h 441"/>
                    <a:gd name="T64" fmla="*/ 0 w 526"/>
                    <a:gd name="T65" fmla="*/ 0 h 44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526"/>
                    <a:gd name="T100" fmla="*/ 0 h 441"/>
                    <a:gd name="T101" fmla="*/ 526 w 526"/>
                    <a:gd name="T102" fmla="*/ 441 h 441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526" h="441">
                      <a:moveTo>
                        <a:pt x="261" y="0"/>
                      </a:moveTo>
                      <a:lnTo>
                        <a:pt x="313" y="6"/>
                      </a:lnTo>
                      <a:lnTo>
                        <a:pt x="365" y="17"/>
                      </a:lnTo>
                      <a:lnTo>
                        <a:pt x="408" y="39"/>
                      </a:lnTo>
                      <a:lnTo>
                        <a:pt x="446" y="66"/>
                      </a:lnTo>
                      <a:lnTo>
                        <a:pt x="479" y="99"/>
                      </a:lnTo>
                      <a:lnTo>
                        <a:pt x="503" y="134"/>
                      </a:lnTo>
                      <a:lnTo>
                        <a:pt x="519" y="175"/>
                      </a:lnTo>
                      <a:lnTo>
                        <a:pt x="526" y="219"/>
                      </a:lnTo>
                      <a:lnTo>
                        <a:pt x="519" y="265"/>
                      </a:lnTo>
                      <a:lnTo>
                        <a:pt x="503" y="305"/>
                      </a:lnTo>
                      <a:lnTo>
                        <a:pt x="479" y="343"/>
                      </a:lnTo>
                      <a:lnTo>
                        <a:pt x="446" y="376"/>
                      </a:lnTo>
                      <a:lnTo>
                        <a:pt x="408" y="403"/>
                      </a:lnTo>
                      <a:lnTo>
                        <a:pt x="365" y="425"/>
                      </a:lnTo>
                      <a:lnTo>
                        <a:pt x="313" y="436"/>
                      </a:lnTo>
                      <a:lnTo>
                        <a:pt x="261" y="441"/>
                      </a:lnTo>
                      <a:lnTo>
                        <a:pt x="210" y="436"/>
                      </a:lnTo>
                      <a:lnTo>
                        <a:pt x="161" y="425"/>
                      </a:lnTo>
                      <a:lnTo>
                        <a:pt x="118" y="403"/>
                      </a:lnTo>
                      <a:lnTo>
                        <a:pt x="80" y="376"/>
                      </a:lnTo>
                      <a:lnTo>
                        <a:pt x="48" y="343"/>
                      </a:lnTo>
                      <a:lnTo>
                        <a:pt x="23" y="305"/>
                      </a:lnTo>
                      <a:lnTo>
                        <a:pt x="6" y="265"/>
                      </a:lnTo>
                      <a:lnTo>
                        <a:pt x="0" y="219"/>
                      </a:lnTo>
                      <a:lnTo>
                        <a:pt x="6" y="175"/>
                      </a:lnTo>
                      <a:lnTo>
                        <a:pt x="23" y="134"/>
                      </a:lnTo>
                      <a:lnTo>
                        <a:pt x="48" y="99"/>
                      </a:lnTo>
                      <a:lnTo>
                        <a:pt x="80" y="66"/>
                      </a:lnTo>
                      <a:lnTo>
                        <a:pt x="118" y="39"/>
                      </a:lnTo>
                      <a:lnTo>
                        <a:pt x="161" y="17"/>
                      </a:lnTo>
                      <a:lnTo>
                        <a:pt x="210" y="6"/>
                      </a:lnTo>
                      <a:lnTo>
                        <a:pt x="261" y="0"/>
                      </a:lnTo>
                      <a:close/>
                    </a:path>
                  </a:pathLst>
                </a:custGeom>
                <a:solidFill>
                  <a:srgbClr val="56545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27" name="Freeform 376"/>
                <p:cNvSpPr>
                  <a:spLocks/>
                </p:cNvSpPr>
                <p:nvPr/>
              </p:nvSpPr>
              <p:spPr bwMode="auto">
                <a:xfrm>
                  <a:off x="4983" y="1556"/>
                  <a:ext cx="66" cy="56"/>
                </a:xfrm>
                <a:custGeom>
                  <a:avLst/>
                  <a:gdLst>
                    <a:gd name="T0" fmla="*/ 0 w 264"/>
                    <a:gd name="T1" fmla="*/ 0 h 223"/>
                    <a:gd name="T2" fmla="*/ 0 w 264"/>
                    <a:gd name="T3" fmla="*/ 0 h 223"/>
                    <a:gd name="T4" fmla="*/ 0 w 264"/>
                    <a:gd name="T5" fmla="*/ 0 h 223"/>
                    <a:gd name="T6" fmla="*/ 0 w 264"/>
                    <a:gd name="T7" fmla="*/ 0 h 223"/>
                    <a:gd name="T8" fmla="*/ 0 w 264"/>
                    <a:gd name="T9" fmla="*/ 0 h 223"/>
                    <a:gd name="T10" fmla="*/ 0 w 264"/>
                    <a:gd name="T11" fmla="*/ 0 h 223"/>
                    <a:gd name="T12" fmla="*/ 0 w 264"/>
                    <a:gd name="T13" fmla="*/ 0 h 223"/>
                    <a:gd name="T14" fmla="*/ 0 w 264"/>
                    <a:gd name="T15" fmla="*/ 0 h 223"/>
                    <a:gd name="T16" fmla="*/ 0 w 264"/>
                    <a:gd name="T17" fmla="*/ 0 h 223"/>
                    <a:gd name="T18" fmla="*/ 0 w 264"/>
                    <a:gd name="T19" fmla="*/ 0 h 223"/>
                    <a:gd name="T20" fmla="*/ 0 w 264"/>
                    <a:gd name="T21" fmla="*/ 0 h 223"/>
                    <a:gd name="T22" fmla="*/ 0 w 264"/>
                    <a:gd name="T23" fmla="*/ 0 h 223"/>
                    <a:gd name="T24" fmla="*/ 0 w 264"/>
                    <a:gd name="T25" fmla="*/ 0 h 223"/>
                    <a:gd name="T26" fmla="*/ 0 w 264"/>
                    <a:gd name="T27" fmla="*/ 0 h 223"/>
                    <a:gd name="T28" fmla="*/ 0 w 264"/>
                    <a:gd name="T29" fmla="*/ 0 h 223"/>
                    <a:gd name="T30" fmla="*/ 0 w 264"/>
                    <a:gd name="T31" fmla="*/ 0 h 223"/>
                    <a:gd name="T32" fmla="*/ 0 w 264"/>
                    <a:gd name="T33" fmla="*/ 0 h 223"/>
                    <a:gd name="T34" fmla="*/ 0 w 264"/>
                    <a:gd name="T35" fmla="*/ 0 h 223"/>
                    <a:gd name="T36" fmla="*/ 0 w 264"/>
                    <a:gd name="T37" fmla="*/ 0 h 223"/>
                    <a:gd name="T38" fmla="*/ 0 w 264"/>
                    <a:gd name="T39" fmla="*/ 0 h 223"/>
                    <a:gd name="T40" fmla="*/ 0 w 264"/>
                    <a:gd name="T41" fmla="*/ 0 h 223"/>
                    <a:gd name="T42" fmla="*/ 0 w 264"/>
                    <a:gd name="T43" fmla="*/ 0 h 223"/>
                    <a:gd name="T44" fmla="*/ 0 w 264"/>
                    <a:gd name="T45" fmla="*/ 0 h 223"/>
                    <a:gd name="T46" fmla="*/ 0 w 264"/>
                    <a:gd name="T47" fmla="*/ 0 h 223"/>
                    <a:gd name="T48" fmla="*/ 0 w 264"/>
                    <a:gd name="T49" fmla="*/ 0 h 223"/>
                    <a:gd name="T50" fmla="*/ 0 w 264"/>
                    <a:gd name="T51" fmla="*/ 0 h 223"/>
                    <a:gd name="T52" fmla="*/ 0 w 264"/>
                    <a:gd name="T53" fmla="*/ 0 h 223"/>
                    <a:gd name="T54" fmla="*/ 0 w 264"/>
                    <a:gd name="T55" fmla="*/ 0 h 223"/>
                    <a:gd name="T56" fmla="*/ 0 w 264"/>
                    <a:gd name="T57" fmla="*/ 0 h 223"/>
                    <a:gd name="T58" fmla="*/ 0 w 264"/>
                    <a:gd name="T59" fmla="*/ 0 h 223"/>
                    <a:gd name="T60" fmla="*/ 0 w 264"/>
                    <a:gd name="T61" fmla="*/ 0 h 223"/>
                    <a:gd name="T62" fmla="*/ 0 w 264"/>
                    <a:gd name="T63" fmla="*/ 0 h 223"/>
                    <a:gd name="T64" fmla="*/ 0 w 264"/>
                    <a:gd name="T65" fmla="*/ 0 h 223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264"/>
                    <a:gd name="T100" fmla="*/ 0 h 223"/>
                    <a:gd name="T101" fmla="*/ 264 w 264"/>
                    <a:gd name="T102" fmla="*/ 223 h 223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264" h="223">
                      <a:moveTo>
                        <a:pt x="130" y="0"/>
                      </a:moveTo>
                      <a:lnTo>
                        <a:pt x="158" y="3"/>
                      </a:lnTo>
                      <a:lnTo>
                        <a:pt x="182" y="9"/>
                      </a:lnTo>
                      <a:lnTo>
                        <a:pt x="204" y="20"/>
                      </a:lnTo>
                      <a:lnTo>
                        <a:pt x="226" y="33"/>
                      </a:lnTo>
                      <a:lnTo>
                        <a:pt x="242" y="50"/>
                      </a:lnTo>
                      <a:lnTo>
                        <a:pt x="252" y="66"/>
                      </a:lnTo>
                      <a:lnTo>
                        <a:pt x="261" y="87"/>
                      </a:lnTo>
                      <a:lnTo>
                        <a:pt x="264" y="110"/>
                      </a:lnTo>
                      <a:lnTo>
                        <a:pt x="261" y="131"/>
                      </a:lnTo>
                      <a:lnTo>
                        <a:pt x="252" y="152"/>
                      </a:lnTo>
                      <a:lnTo>
                        <a:pt x="242" y="172"/>
                      </a:lnTo>
                      <a:lnTo>
                        <a:pt x="226" y="191"/>
                      </a:lnTo>
                      <a:lnTo>
                        <a:pt x="204" y="204"/>
                      </a:lnTo>
                      <a:lnTo>
                        <a:pt x="182" y="215"/>
                      </a:lnTo>
                      <a:lnTo>
                        <a:pt x="158" y="221"/>
                      </a:lnTo>
                      <a:lnTo>
                        <a:pt x="130" y="223"/>
                      </a:lnTo>
                      <a:lnTo>
                        <a:pt x="106" y="221"/>
                      </a:lnTo>
                      <a:lnTo>
                        <a:pt x="81" y="215"/>
                      </a:lnTo>
                      <a:lnTo>
                        <a:pt x="60" y="204"/>
                      </a:lnTo>
                      <a:lnTo>
                        <a:pt x="41" y="191"/>
                      </a:lnTo>
                      <a:lnTo>
                        <a:pt x="25" y="172"/>
                      </a:lnTo>
                      <a:lnTo>
                        <a:pt x="11" y="152"/>
                      </a:lnTo>
                      <a:lnTo>
                        <a:pt x="3" y="131"/>
                      </a:lnTo>
                      <a:lnTo>
                        <a:pt x="0" y="110"/>
                      </a:lnTo>
                      <a:lnTo>
                        <a:pt x="3" y="87"/>
                      </a:lnTo>
                      <a:lnTo>
                        <a:pt x="11" y="66"/>
                      </a:lnTo>
                      <a:lnTo>
                        <a:pt x="25" y="50"/>
                      </a:lnTo>
                      <a:lnTo>
                        <a:pt x="41" y="33"/>
                      </a:lnTo>
                      <a:lnTo>
                        <a:pt x="60" y="20"/>
                      </a:lnTo>
                      <a:lnTo>
                        <a:pt x="81" y="9"/>
                      </a:lnTo>
                      <a:lnTo>
                        <a:pt x="106" y="3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1E191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28" name="Freeform 377"/>
                <p:cNvSpPr>
                  <a:spLocks/>
                </p:cNvSpPr>
                <p:nvPr/>
              </p:nvSpPr>
              <p:spPr bwMode="auto">
                <a:xfrm>
                  <a:off x="5000" y="1570"/>
                  <a:ext cx="34" cy="28"/>
                </a:xfrm>
                <a:custGeom>
                  <a:avLst/>
                  <a:gdLst>
                    <a:gd name="T0" fmla="*/ 0 w 136"/>
                    <a:gd name="T1" fmla="*/ 0 h 111"/>
                    <a:gd name="T2" fmla="*/ 0 w 136"/>
                    <a:gd name="T3" fmla="*/ 0 h 111"/>
                    <a:gd name="T4" fmla="*/ 0 w 136"/>
                    <a:gd name="T5" fmla="*/ 0 h 111"/>
                    <a:gd name="T6" fmla="*/ 0 w 136"/>
                    <a:gd name="T7" fmla="*/ 0 h 111"/>
                    <a:gd name="T8" fmla="*/ 0 w 136"/>
                    <a:gd name="T9" fmla="*/ 0 h 111"/>
                    <a:gd name="T10" fmla="*/ 0 w 136"/>
                    <a:gd name="T11" fmla="*/ 0 h 111"/>
                    <a:gd name="T12" fmla="*/ 0 w 136"/>
                    <a:gd name="T13" fmla="*/ 0 h 111"/>
                    <a:gd name="T14" fmla="*/ 0 w 136"/>
                    <a:gd name="T15" fmla="*/ 0 h 111"/>
                    <a:gd name="T16" fmla="*/ 0 w 136"/>
                    <a:gd name="T17" fmla="*/ 0 h 111"/>
                    <a:gd name="T18" fmla="*/ 0 w 136"/>
                    <a:gd name="T19" fmla="*/ 0 h 111"/>
                    <a:gd name="T20" fmla="*/ 0 w 136"/>
                    <a:gd name="T21" fmla="*/ 0 h 111"/>
                    <a:gd name="T22" fmla="*/ 0 w 136"/>
                    <a:gd name="T23" fmla="*/ 0 h 111"/>
                    <a:gd name="T24" fmla="*/ 0 w 136"/>
                    <a:gd name="T25" fmla="*/ 0 h 111"/>
                    <a:gd name="T26" fmla="*/ 0 w 136"/>
                    <a:gd name="T27" fmla="*/ 0 h 111"/>
                    <a:gd name="T28" fmla="*/ 0 w 136"/>
                    <a:gd name="T29" fmla="*/ 0 h 111"/>
                    <a:gd name="T30" fmla="*/ 0 w 136"/>
                    <a:gd name="T31" fmla="*/ 0 h 111"/>
                    <a:gd name="T32" fmla="*/ 0 w 136"/>
                    <a:gd name="T33" fmla="*/ 0 h 11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36"/>
                    <a:gd name="T52" fmla="*/ 0 h 111"/>
                    <a:gd name="T53" fmla="*/ 136 w 136"/>
                    <a:gd name="T54" fmla="*/ 111 h 111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36" h="111">
                      <a:moveTo>
                        <a:pt x="65" y="0"/>
                      </a:moveTo>
                      <a:lnTo>
                        <a:pt x="93" y="5"/>
                      </a:lnTo>
                      <a:lnTo>
                        <a:pt x="115" y="16"/>
                      </a:lnTo>
                      <a:lnTo>
                        <a:pt x="131" y="32"/>
                      </a:lnTo>
                      <a:lnTo>
                        <a:pt x="136" y="55"/>
                      </a:lnTo>
                      <a:lnTo>
                        <a:pt x="131" y="76"/>
                      </a:lnTo>
                      <a:lnTo>
                        <a:pt x="115" y="95"/>
                      </a:lnTo>
                      <a:lnTo>
                        <a:pt x="93" y="106"/>
                      </a:lnTo>
                      <a:lnTo>
                        <a:pt x="65" y="111"/>
                      </a:lnTo>
                      <a:lnTo>
                        <a:pt x="39" y="106"/>
                      </a:lnTo>
                      <a:lnTo>
                        <a:pt x="19" y="95"/>
                      </a:lnTo>
                      <a:lnTo>
                        <a:pt x="6" y="76"/>
                      </a:lnTo>
                      <a:lnTo>
                        <a:pt x="0" y="55"/>
                      </a:lnTo>
                      <a:lnTo>
                        <a:pt x="6" y="32"/>
                      </a:lnTo>
                      <a:lnTo>
                        <a:pt x="19" y="16"/>
                      </a:lnTo>
                      <a:lnTo>
                        <a:pt x="39" y="5"/>
                      </a:lnTo>
                      <a:lnTo>
                        <a:pt x="65" y="0"/>
                      </a:lnTo>
                      <a:close/>
                    </a:path>
                  </a:pathLst>
                </a:custGeom>
                <a:solidFill>
                  <a:srgbClr val="C4C4C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29" name="Freeform 378"/>
                <p:cNvSpPr>
                  <a:spLocks/>
                </p:cNvSpPr>
                <p:nvPr/>
              </p:nvSpPr>
              <p:spPr bwMode="auto">
                <a:xfrm>
                  <a:off x="4705" y="1334"/>
                  <a:ext cx="54" cy="71"/>
                </a:xfrm>
                <a:custGeom>
                  <a:avLst/>
                  <a:gdLst>
                    <a:gd name="T0" fmla="*/ 0 w 213"/>
                    <a:gd name="T1" fmla="*/ 0 h 288"/>
                    <a:gd name="T2" fmla="*/ 0 w 213"/>
                    <a:gd name="T3" fmla="*/ 0 h 288"/>
                    <a:gd name="T4" fmla="*/ 0 w 213"/>
                    <a:gd name="T5" fmla="*/ 0 h 288"/>
                    <a:gd name="T6" fmla="*/ 0 w 213"/>
                    <a:gd name="T7" fmla="*/ 0 h 288"/>
                    <a:gd name="T8" fmla="*/ 0 w 213"/>
                    <a:gd name="T9" fmla="*/ 0 h 288"/>
                    <a:gd name="T10" fmla="*/ 0 w 213"/>
                    <a:gd name="T11" fmla="*/ 0 h 288"/>
                    <a:gd name="T12" fmla="*/ 0 w 213"/>
                    <a:gd name="T13" fmla="*/ 0 h 288"/>
                    <a:gd name="T14" fmla="*/ 0 w 213"/>
                    <a:gd name="T15" fmla="*/ 0 h 288"/>
                    <a:gd name="T16" fmla="*/ 0 w 213"/>
                    <a:gd name="T17" fmla="*/ 0 h 288"/>
                    <a:gd name="T18" fmla="*/ 0 w 213"/>
                    <a:gd name="T19" fmla="*/ 0 h 288"/>
                    <a:gd name="T20" fmla="*/ 0 w 213"/>
                    <a:gd name="T21" fmla="*/ 0 h 288"/>
                    <a:gd name="T22" fmla="*/ 0 w 213"/>
                    <a:gd name="T23" fmla="*/ 0 h 288"/>
                    <a:gd name="T24" fmla="*/ 0 w 213"/>
                    <a:gd name="T25" fmla="*/ 0 h 28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13"/>
                    <a:gd name="T40" fmla="*/ 0 h 288"/>
                    <a:gd name="T41" fmla="*/ 213 w 213"/>
                    <a:gd name="T42" fmla="*/ 288 h 288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13" h="288">
                      <a:moveTo>
                        <a:pt x="90" y="27"/>
                      </a:moveTo>
                      <a:lnTo>
                        <a:pt x="213" y="288"/>
                      </a:lnTo>
                      <a:lnTo>
                        <a:pt x="119" y="283"/>
                      </a:lnTo>
                      <a:lnTo>
                        <a:pt x="103" y="283"/>
                      </a:lnTo>
                      <a:lnTo>
                        <a:pt x="3" y="65"/>
                      </a:lnTo>
                      <a:lnTo>
                        <a:pt x="0" y="46"/>
                      </a:lnTo>
                      <a:lnTo>
                        <a:pt x="3" y="30"/>
                      </a:lnTo>
                      <a:lnTo>
                        <a:pt x="8" y="14"/>
                      </a:lnTo>
                      <a:lnTo>
                        <a:pt x="19" y="5"/>
                      </a:lnTo>
                      <a:lnTo>
                        <a:pt x="30" y="0"/>
                      </a:lnTo>
                      <a:lnTo>
                        <a:pt x="47" y="0"/>
                      </a:lnTo>
                      <a:lnTo>
                        <a:pt x="65" y="11"/>
                      </a:lnTo>
                      <a:lnTo>
                        <a:pt x="90" y="27"/>
                      </a:lnTo>
                      <a:close/>
                    </a:path>
                  </a:pathLst>
                </a:custGeom>
                <a:solidFill>
                  <a:srgbClr val="77493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30" name="Freeform 379"/>
                <p:cNvSpPr>
                  <a:spLocks/>
                </p:cNvSpPr>
                <p:nvPr/>
              </p:nvSpPr>
              <p:spPr bwMode="auto">
                <a:xfrm>
                  <a:off x="5026" y="1272"/>
                  <a:ext cx="118" cy="144"/>
                </a:xfrm>
                <a:custGeom>
                  <a:avLst/>
                  <a:gdLst>
                    <a:gd name="T0" fmla="*/ 0 w 471"/>
                    <a:gd name="T1" fmla="*/ 0 h 574"/>
                    <a:gd name="T2" fmla="*/ 0 w 471"/>
                    <a:gd name="T3" fmla="*/ 0 h 574"/>
                    <a:gd name="T4" fmla="*/ 0 w 471"/>
                    <a:gd name="T5" fmla="*/ 0 h 574"/>
                    <a:gd name="T6" fmla="*/ 0 w 471"/>
                    <a:gd name="T7" fmla="*/ 0 h 574"/>
                    <a:gd name="T8" fmla="*/ 0 w 471"/>
                    <a:gd name="T9" fmla="*/ 0 h 574"/>
                    <a:gd name="T10" fmla="*/ 0 w 471"/>
                    <a:gd name="T11" fmla="*/ 0 h 574"/>
                    <a:gd name="T12" fmla="*/ 0 w 471"/>
                    <a:gd name="T13" fmla="*/ 0 h 574"/>
                    <a:gd name="T14" fmla="*/ 0 w 471"/>
                    <a:gd name="T15" fmla="*/ 0 h 574"/>
                    <a:gd name="T16" fmla="*/ 0 w 471"/>
                    <a:gd name="T17" fmla="*/ 0 h 574"/>
                    <a:gd name="T18" fmla="*/ 0 w 471"/>
                    <a:gd name="T19" fmla="*/ 0 h 574"/>
                    <a:gd name="T20" fmla="*/ 0 w 471"/>
                    <a:gd name="T21" fmla="*/ 0 h 574"/>
                    <a:gd name="T22" fmla="*/ 0 w 471"/>
                    <a:gd name="T23" fmla="*/ 0 h 574"/>
                    <a:gd name="T24" fmla="*/ 0 w 471"/>
                    <a:gd name="T25" fmla="*/ 0 h 574"/>
                    <a:gd name="T26" fmla="*/ 0 w 471"/>
                    <a:gd name="T27" fmla="*/ 0 h 574"/>
                    <a:gd name="T28" fmla="*/ 0 w 471"/>
                    <a:gd name="T29" fmla="*/ 0 h 574"/>
                    <a:gd name="T30" fmla="*/ 0 w 471"/>
                    <a:gd name="T31" fmla="*/ 0 h 574"/>
                    <a:gd name="T32" fmla="*/ 0 w 471"/>
                    <a:gd name="T33" fmla="*/ 0 h 574"/>
                    <a:gd name="T34" fmla="*/ 0 w 471"/>
                    <a:gd name="T35" fmla="*/ 0 h 574"/>
                    <a:gd name="T36" fmla="*/ 0 w 471"/>
                    <a:gd name="T37" fmla="*/ 0 h 574"/>
                    <a:gd name="T38" fmla="*/ 0 w 471"/>
                    <a:gd name="T39" fmla="*/ 0 h 574"/>
                    <a:gd name="T40" fmla="*/ 0 w 471"/>
                    <a:gd name="T41" fmla="*/ 0 h 574"/>
                    <a:gd name="T42" fmla="*/ 0 w 471"/>
                    <a:gd name="T43" fmla="*/ 0 h 574"/>
                    <a:gd name="T44" fmla="*/ 0 w 471"/>
                    <a:gd name="T45" fmla="*/ 0 h 574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471"/>
                    <a:gd name="T70" fmla="*/ 0 h 574"/>
                    <a:gd name="T71" fmla="*/ 471 w 471"/>
                    <a:gd name="T72" fmla="*/ 574 h 574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471" h="574">
                      <a:moveTo>
                        <a:pt x="471" y="574"/>
                      </a:moveTo>
                      <a:lnTo>
                        <a:pt x="351" y="560"/>
                      </a:lnTo>
                      <a:lnTo>
                        <a:pt x="41" y="158"/>
                      </a:lnTo>
                      <a:lnTo>
                        <a:pt x="11" y="104"/>
                      </a:lnTo>
                      <a:lnTo>
                        <a:pt x="0" y="63"/>
                      </a:lnTo>
                      <a:lnTo>
                        <a:pt x="11" y="28"/>
                      </a:lnTo>
                      <a:lnTo>
                        <a:pt x="33" y="0"/>
                      </a:lnTo>
                      <a:lnTo>
                        <a:pt x="35" y="0"/>
                      </a:lnTo>
                      <a:lnTo>
                        <a:pt x="39" y="3"/>
                      </a:lnTo>
                      <a:lnTo>
                        <a:pt x="46" y="11"/>
                      </a:lnTo>
                      <a:lnTo>
                        <a:pt x="55" y="23"/>
                      </a:lnTo>
                      <a:lnTo>
                        <a:pt x="65" y="35"/>
                      </a:lnTo>
                      <a:lnTo>
                        <a:pt x="81" y="55"/>
                      </a:lnTo>
                      <a:lnTo>
                        <a:pt x="98" y="79"/>
                      </a:lnTo>
                      <a:lnTo>
                        <a:pt x="123" y="109"/>
                      </a:lnTo>
                      <a:lnTo>
                        <a:pt x="147" y="145"/>
                      </a:lnTo>
                      <a:lnTo>
                        <a:pt x="177" y="185"/>
                      </a:lnTo>
                      <a:lnTo>
                        <a:pt x="212" y="231"/>
                      </a:lnTo>
                      <a:lnTo>
                        <a:pt x="253" y="286"/>
                      </a:lnTo>
                      <a:lnTo>
                        <a:pt x="300" y="346"/>
                      </a:lnTo>
                      <a:lnTo>
                        <a:pt x="351" y="413"/>
                      </a:lnTo>
                      <a:lnTo>
                        <a:pt x="408" y="489"/>
                      </a:lnTo>
                      <a:lnTo>
                        <a:pt x="471" y="574"/>
                      </a:lnTo>
                      <a:close/>
                    </a:path>
                  </a:pathLst>
                </a:custGeom>
                <a:solidFill>
                  <a:srgbClr val="D6D6D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31" name="Freeform 380"/>
                <p:cNvSpPr>
                  <a:spLocks/>
                </p:cNvSpPr>
                <p:nvPr/>
              </p:nvSpPr>
              <p:spPr bwMode="auto">
                <a:xfrm>
                  <a:off x="5040" y="1281"/>
                  <a:ext cx="104" cy="135"/>
                </a:xfrm>
                <a:custGeom>
                  <a:avLst/>
                  <a:gdLst>
                    <a:gd name="T0" fmla="*/ 0 w 413"/>
                    <a:gd name="T1" fmla="*/ 0 h 539"/>
                    <a:gd name="T2" fmla="*/ 0 w 413"/>
                    <a:gd name="T3" fmla="*/ 0 h 539"/>
                    <a:gd name="T4" fmla="*/ 0 w 413"/>
                    <a:gd name="T5" fmla="*/ 0 h 539"/>
                    <a:gd name="T6" fmla="*/ 0 w 413"/>
                    <a:gd name="T7" fmla="*/ 0 h 539"/>
                    <a:gd name="T8" fmla="*/ 0 w 413"/>
                    <a:gd name="T9" fmla="*/ 0 h 539"/>
                    <a:gd name="T10" fmla="*/ 0 w 413"/>
                    <a:gd name="T11" fmla="*/ 0 h 539"/>
                    <a:gd name="T12" fmla="*/ 0 w 413"/>
                    <a:gd name="T13" fmla="*/ 0 h 539"/>
                    <a:gd name="T14" fmla="*/ 0 w 413"/>
                    <a:gd name="T15" fmla="*/ 0 h 539"/>
                    <a:gd name="T16" fmla="*/ 0 w 413"/>
                    <a:gd name="T17" fmla="*/ 0 h 539"/>
                    <a:gd name="T18" fmla="*/ 0 w 413"/>
                    <a:gd name="T19" fmla="*/ 0 h 539"/>
                    <a:gd name="T20" fmla="*/ 0 w 413"/>
                    <a:gd name="T21" fmla="*/ 0 h 539"/>
                    <a:gd name="T22" fmla="*/ 0 w 413"/>
                    <a:gd name="T23" fmla="*/ 0 h 539"/>
                    <a:gd name="T24" fmla="*/ 0 w 413"/>
                    <a:gd name="T25" fmla="*/ 0 h 539"/>
                    <a:gd name="T26" fmla="*/ 0 w 413"/>
                    <a:gd name="T27" fmla="*/ 0 h 539"/>
                    <a:gd name="T28" fmla="*/ 0 w 413"/>
                    <a:gd name="T29" fmla="*/ 0 h 53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413"/>
                    <a:gd name="T46" fmla="*/ 0 h 539"/>
                    <a:gd name="T47" fmla="*/ 413 w 413"/>
                    <a:gd name="T48" fmla="*/ 539 h 53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413" h="539">
                      <a:moveTo>
                        <a:pt x="342" y="531"/>
                      </a:moveTo>
                      <a:lnTo>
                        <a:pt x="37" y="136"/>
                      </a:lnTo>
                      <a:lnTo>
                        <a:pt x="13" y="94"/>
                      </a:lnTo>
                      <a:lnTo>
                        <a:pt x="0" y="55"/>
                      </a:ln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32" y="30"/>
                      </a:lnTo>
                      <a:lnTo>
                        <a:pt x="59" y="66"/>
                      </a:lnTo>
                      <a:lnTo>
                        <a:pt x="95" y="115"/>
                      </a:lnTo>
                      <a:lnTo>
                        <a:pt x="138" y="172"/>
                      </a:lnTo>
                      <a:lnTo>
                        <a:pt x="189" y="242"/>
                      </a:lnTo>
                      <a:lnTo>
                        <a:pt x="252" y="327"/>
                      </a:lnTo>
                      <a:lnTo>
                        <a:pt x="325" y="425"/>
                      </a:lnTo>
                      <a:lnTo>
                        <a:pt x="413" y="539"/>
                      </a:lnTo>
                      <a:lnTo>
                        <a:pt x="342" y="531"/>
                      </a:lnTo>
                      <a:close/>
                    </a:path>
                  </a:pathLst>
                </a:custGeom>
                <a:solidFill>
                  <a:srgbClr val="A8B2B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32" name="Freeform 381"/>
                <p:cNvSpPr>
                  <a:spLocks/>
                </p:cNvSpPr>
                <p:nvPr/>
              </p:nvSpPr>
              <p:spPr bwMode="auto">
                <a:xfrm>
                  <a:off x="4722" y="1177"/>
                  <a:ext cx="291" cy="288"/>
                </a:xfrm>
                <a:custGeom>
                  <a:avLst/>
                  <a:gdLst>
                    <a:gd name="T0" fmla="*/ 0 w 1166"/>
                    <a:gd name="T1" fmla="*/ 0 h 1153"/>
                    <a:gd name="T2" fmla="*/ 0 w 1166"/>
                    <a:gd name="T3" fmla="*/ 0 h 1153"/>
                    <a:gd name="T4" fmla="*/ 0 w 1166"/>
                    <a:gd name="T5" fmla="*/ 0 h 1153"/>
                    <a:gd name="T6" fmla="*/ 0 w 1166"/>
                    <a:gd name="T7" fmla="*/ 0 h 1153"/>
                    <a:gd name="T8" fmla="*/ 0 w 1166"/>
                    <a:gd name="T9" fmla="*/ 0 h 1153"/>
                    <a:gd name="T10" fmla="*/ 0 w 1166"/>
                    <a:gd name="T11" fmla="*/ 0 h 1153"/>
                    <a:gd name="T12" fmla="*/ 0 w 1166"/>
                    <a:gd name="T13" fmla="*/ 0 h 1153"/>
                    <a:gd name="T14" fmla="*/ 0 w 1166"/>
                    <a:gd name="T15" fmla="*/ 0 h 1153"/>
                    <a:gd name="T16" fmla="*/ 0 w 1166"/>
                    <a:gd name="T17" fmla="*/ 0 h 1153"/>
                    <a:gd name="T18" fmla="*/ 0 w 1166"/>
                    <a:gd name="T19" fmla="*/ 0 h 1153"/>
                    <a:gd name="T20" fmla="*/ 0 w 1166"/>
                    <a:gd name="T21" fmla="*/ 0 h 1153"/>
                    <a:gd name="T22" fmla="*/ 0 w 1166"/>
                    <a:gd name="T23" fmla="*/ 0 h 1153"/>
                    <a:gd name="T24" fmla="*/ 0 w 1166"/>
                    <a:gd name="T25" fmla="*/ 0 h 1153"/>
                    <a:gd name="T26" fmla="*/ 0 w 1166"/>
                    <a:gd name="T27" fmla="*/ 0 h 1153"/>
                    <a:gd name="T28" fmla="*/ 0 w 1166"/>
                    <a:gd name="T29" fmla="*/ 0 h 1153"/>
                    <a:gd name="T30" fmla="*/ 0 w 1166"/>
                    <a:gd name="T31" fmla="*/ 0 h 1153"/>
                    <a:gd name="T32" fmla="*/ 0 w 1166"/>
                    <a:gd name="T33" fmla="*/ 0 h 1153"/>
                    <a:gd name="T34" fmla="*/ 0 w 1166"/>
                    <a:gd name="T35" fmla="*/ 0 h 1153"/>
                    <a:gd name="T36" fmla="*/ 0 w 1166"/>
                    <a:gd name="T37" fmla="*/ 0 h 1153"/>
                    <a:gd name="T38" fmla="*/ 0 w 1166"/>
                    <a:gd name="T39" fmla="*/ 0 h 1153"/>
                    <a:gd name="T40" fmla="*/ 0 w 1166"/>
                    <a:gd name="T41" fmla="*/ 0 h 1153"/>
                    <a:gd name="T42" fmla="*/ 0 w 1166"/>
                    <a:gd name="T43" fmla="*/ 0 h 1153"/>
                    <a:gd name="T44" fmla="*/ 0 w 1166"/>
                    <a:gd name="T45" fmla="*/ 0 h 1153"/>
                    <a:gd name="T46" fmla="*/ 0 w 1166"/>
                    <a:gd name="T47" fmla="*/ 0 h 1153"/>
                    <a:gd name="T48" fmla="*/ 0 w 1166"/>
                    <a:gd name="T49" fmla="*/ 0 h 1153"/>
                    <a:gd name="T50" fmla="*/ 0 w 1166"/>
                    <a:gd name="T51" fmla="*/ 0 h 1153"/>
                    <a:gd name="T52" fmla="*/ 0 w 1166"/>
                    <a:gd name="T53" fmla="*/ 0 h 1153"/>
                    <a:gd name="T54" fmla="*/ 0 w 1166"/>
                    <a:gd name="T55" fmla="*/ 0 h 1153"/>
                    <a:gd name="T56" fmla="*/ 0 w 1166"/>
                    <a:gd name="T57" fmla="*/ 0 h 1153"/>
                    <a:gd name="T58" fmla="*/ 0 w 1166"/>
                    <a:gd name="T59" fmla="*/ 0 h 1153"/>
                    <a:gd name="T60" fmla="*/ 0 w 1166"/>
                    <a:gd name="T61" fmla="*/ 0 h 1153"/>
                    <a:gd name="T62" fmla="*/ 0 w 1166"/>
                    <a:gd name="T63" fmla="*/ 0 h 1153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1166"/>
                    <a:gd name="T97" fmla="*/ 0 h 1153"/>
                    <a:gd name="T98" fmla="*/ 1166 w 1166"/>
                    <a:gd name="T99" fmla="*/ 1153 h 1153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1166" h="1153">
                      <a:moveTo>
                        <a:pt x="1166" y="627"/>
                      </a:moveTo>
                      <a:lnTo>
                        <a:pt x="1130" y="647"/>
                      </a:lnTo>
                      <a:lnTo>
                        <a:pt x="1101" y="663"/>
                      </a:lnTo>
                      <a:lnTo>
                        <a:pt x="1071" y="676"/>
                      </a:lnTo>
                      <a:lnTo>
                        <a:pt x="1044" y="687"/>
                      </a:lnTo>
                      <a:lnTo>
                        <a:pt x="1016" y="698"/>
                      </a:lnTo>
                      <a:lnTo>
                        <a:pt x="991" y="704"/>
                      </a:lnTo>
                      <a:lnTo>
                        <a:pt x="968" y="706"/>
                      </a:lnTo>
                      <a:lnTo>
                        <a:pt x="943" y="710"/>
                      </a:lnTo>
                      <a:lnTo>
                        <a:pt x="919" y="710"/>
                      </a:lnTo>
                      <a:lnTo>
                        <a:pt x="894" y="706"/>
                      </a:lnTo>
                      <a:lnTo>
                        <a:pt x="869" y="701"/>
                      </a:lnTo>
                      <a:lnTo>
                        <a:pt x="843" y="693"/>
                      </a:lnTo>
                      <a:lnTo>
                        <a:pt x="815" y="685"/>
                      </a:lnTo>
                      <a:lnTo>
                        <a:pt x="783" y="674"/>
                      </a:lnTo>
                      <a:lnTo>
                        <a:pt x="750" y="660"/>
                      </a:lnTo>
                      <a:lnTo>
                        <a:pt x="714" y="644"/>
                      </a:lnTo>
                      <a:lnTo>
                        <a:pt x="734" y="527"/>
                      </a:lnTo>
                      <a:lnTo>
                        <a:pt x="563" y="470"/>
                      </a:lnTo>
                      <a:lnTo>
                        <a:pt x="563" y="383"/>
                      </a:lnTo>
                      <a:lnTo>
                        <a:pt x="560" y="299"/>
                      </a:lnTo>
                      <a:lnTo>
                        <a:pt x="552" y="214"/>
                      </a:lnTo>
                      <a:lnTo>
                        <a:pt x="533" y="128"/>
                      </a:lnTo>
                      <a:lnTo>
                        <a:pt x="497" y="87"/>
                      </a:lnTo>
                      <a:lnTo>
                        <a:pt x="457" y="52"/>
                      </a:lnTo>
                      <a:lnTo>
                        <a:pt x="416" y="30"/>
                      </a:lnTo>
                      <a:lnTo>
                        <a:pt x="375" y="13"/>
                      </a:lnTo>
                      <a:lnTo>
                        <a:pt x="329" y="2"/>
                      </a:lnTo>
                      <a:lnTo>
                        <a:pt x="280" y="0"/>
                      </a:lnTo>
                      <a:lnTo>
                        <a:pt x="231" y="6"/>
                      </a:lnTo>
                      <a:lnTo>
                        <a:pt x="176" y="13"/>
                      </a:lnTo>
                      <a:lnTo>
                        <a:pt x="123" y="55"/>
                      </a:lnTo>
                      <a:lnTo>
                        <a:pt x="79" y="98"/>
                      </a:lnTo>
                      <a:lnTo>
                        <a:pt x="47" y="144"/>
                      </a:lnTo>
                      <a:lnTo>
                        <a:pt x="22" y="196"/>
                      </a:lnTo>
                      <a:lnTo>
                        <a:pt x="8" y="247"/>
                      </a:lnTo>
                      <a:lnTo>
                        <a:pt x="0" y="307"/>
                      </a:lnTo>
                      <a:lnTo>
                        <a:pt x="0" y="373"/>
                      </a:lnTo>
                      <a:lnTo>
                        <a:pt x="8" y="443"/>
                      </a:lnTo>
                      <a:lnTo>
                        <a:pt x="148" y="546"/>
                      </a:lnTo>
                      <a:lnTo>
                        <a:pt x="125" y="622"/>
                      </a:lnTo>
                      <a:lnTo>
                        <a:pt x="130" y="701"/>
                      </a:lnTo>
                      <a:lnTo>
                        <a:pt x="158" y="777"/>
                      </a:lnTo>
                      <a:lnTo>
                        <a:pt x="204" y="853"/>
                      </a:lnTo>
                      <a:lnTo>
                        <a:pt x="264" y="924"/>
                      </a:lnTo>
                      <a:lnTo>
                        <a:pt x="326" y="989"/>
                      </a:lnTo>
                      <a:lnTo>
                        <a:pt x="389" y="1047"/>
                      </a:lnTo>
                      <a:lnTo>
                        <a:pt x="448" y="1093"/>
                      </a:lnTo>
                      <a:lnTo>
                        <a:pt x="522" y="1125"/>
                      </a:lnTo>
                      <a:lnTo>
                        <a:pt x="587" y="1147"/>
                      </a:lnTo>
                      <a:lnTo>
                        <a:pt x="642" y="1153"/>
                      </a:lnTo>
                      <a:lnTo>
                        <a:pt x="684" y="1144"/>
                      </a:lnTo>
                      <a:lnTo>
                        <a:pt x="720" y="1119"/>
                      </a:lnTo>
                      <a:lnTo>
                        <a:pt x="748" y="1076"/>
                      </a:lnTo>
                      <a:lnTo>
                        <a:pt x="767" y="1011"/>
                      </a:lnTo>
                      <a:lnTo>
                        <a:pt x="778" y="924"/>
                      </a:lnTo>
                      <a:lnTo>
                        <a:pt x="848" y="904"/>
                      </a:lnTo>
                      <a:lnTo>
                        <a:pt x="910" y="883"/>
                      </a:lnTo>
                      <a:lnTo>
                        <a:pt x="968" y="858"/>
                      </a:lnTo>
                      <a:lnTo>
                        <a:pt x="1021" y="828"/>
                      </a:lnTo>
                      <a:lnTo>
                        <a:pt x="1065" y="793"/>
                      </a:lnTo>
                      <a:lnTo>
                        <a:pt x="1106" y="750"/>
                      </a:lnTo>
                      <a:lnTo>
                        <a:pt x="1139" y="696"/>
                      </a:lnTo>
                      <a:lnTo>
                        <a:pt x="1166" y="627"/>
                      </a:lnTo>
                      <a:close/>
                    </a:path>
                  </a:pathLst>
                </a:custGeom>
                <a:solidFill>
                  <a:srgbClr val="1E191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33" name="Freeform 382"/>
                <p:cNvSpPr>
                  <a:spLocks/>
                </p:cNvSpPr>
                <p:nvPr/>
              </p:nvSpPr>
              <p:spPr bwMode="auto">
                <a:xfrm>
                  <a:off x="4731" y="1187"/>
                  <a:ext cx="115" cy="124"/>
                </a:xfrm>
                <a:custGeom>
                  <a:avLst/>
                  <a:gdLst>
                    <a:gd name="T0" fmla="*/ 0 w 460"/>
                    <a:gd name="T1" fmla="*/ 0 h 492"/>
                    <a:gd name="T2" fmla="*/ 0 w 460"/>
                    <a:gd name="T3" fmla="*/ 0 h 492"/>
                    <a:gd name="T4" fmla="*/ 0 w 460"/>
                    <a:gd name="T5" fmla="*/ 0 h 492"/>
                    <a:gd name="T6" fmla="*/ 0 w 460"/>
                    <a:gd name="T7" fmla="*/ 0 h 492"/>
                    <a:gd name="T8" fmla="*/ 0 w 460"/>
                    <a:gd name="T9" fmla="*/ 0 h 492"/>
                    <a:gd name="T10" fmla="*/ 0 w 460"/>
                    <a:gd name="T11" fmla="*/ 0 h 492"/>
                    <a:gd name="T12" fmla="*/ 0 w 460"/>
                    <a:gd name="T13" fmla="*/ 0 h 492"/>
                    <a:gd name="T14" fmla="*/ 0 w 460"/>
                    <a:gd name="T15" fmla="*/ 0 h 492"/>
                    <a:gd name="T16" fmla="*/ 0 w 460"/>
                    <a:gd name="T17" fmla="*/ 0 h 492"/>
                    <a:gd name="T18" fmla="*/ 0 w 460"/>
                    <a:gd name="T19" fmla="*/ 0 h 492"/>
                    <a:gd name="T20" fmla="*/ 0 w 460"/>
                    <a:gd name="T21" fmla="*/ 0 h 492"/>
                    <a:gd name="T22" fmla="*/ 0 w 460"/>
                    <a:gd name="T23" fmla="*/ 0 h 492"/>
                    <a:gd name="T24" fmla="*/ 0 w 460"/>
                    <a:gd name="T25" fmla="*/ 0 h 492"/>
                    <a:gd name="T26" fmla="*/ 0 w 460"/>
                    <a:gd name="T27" fmla="*/ 0 h 492"/>
                    <a:gd name="T28" fmla="*/ 0 w 460"/>
                    <a:gd name="T29" fmla="*/ 0 h 492"/>
                    <a:gd name="T30" fmla="*/ 0 w 460"/>
                    <a:gd name="T31" fmla="*/ 0 h 492"/>
                    <a:gd name="T32" fmla="*/ 0 w 460"/>
                    <a:gd name="T33" fmla="*/ 0 h 492"/>
                    <a:gd name="T34" fmla="*/ 0 w 460"/>
                    <a:gd name="T35" fmla="*/ 0 h 492"/>
                    <a:gd name="T36" fmla="*/ 0 w 460"/>
                    <a:gd name="T37" fmla="*/ 0 h 492"/>
                    <a:gd name="T38" fmla="*/ 0 w 460"/>
                    <a:gd name="T39" fmla="*/ 0 h 492"/>
                    <a:gd name="T40" fmla="*/ 0 w 460"/>
                    <a:gd name="T41" fmla="*/ 0 h 492"/>
                    <a:gd name="T42" fmla="*/ 0 w 460"/>
                    <a:gd name="T43" fmla="*/ 0 h 492"/>
                    <a:gd name="T44" fmla="*/ 0 w 460"/>
                    <a:gd name="T45" fmla="*/ 0 h 492"/>
                    <a:gd name="T46" fmla="*/ 0 w 460"/>
                    <a:gd name="T47" fmla="*/ 0 h 492"/>
                    <a:gd name="T48" fmla="*/ 0 w 460"/>
                    <a:gd name="T49" fmla="*/ 0 h 492"/>
                    <a:gd name="T50" fmla="*/ 0 w 460"/>
                    <a:gd name="T51" fmla="*/ 0 h 492"/>
                    <a:gd name="T52" fmla="*/ 0 w 460"/>
                    <a:gd name="T53" fmla="*/ 0 h 492"/>
                    <a:gd name="T54" fmla="*/ 0 w 460"/>
                    <a:gd name="T55" fmla="*/ 0 h 492"/>
                    <a:gd name="T56" fmla="*/ 0 w 460"/>
                    <a:gd name="T57" fmla="*/ 0 h 492"/>
                    <a:gd name="T58" fmla="*/ 0 w 460"/>
                    <a:gd name="T59" fmla="*/ 0 h 492"/>
                    <a:gd name="T60" fmla="*/ 0 w 460"/>
                    <a:gd name="T61" fmla="*/ 0 h 492"/>
                    <a:gd name="T62" fmla="*/ 0 w 460"/>
                    <a:gd name="T63" fmla="*/ 0 h 492"/>
                    <a:gd name="T64" fmla="*/ 0 w 460"/>
                    <a:gd name="T65" fmla="*/ 0 h 492"/>
                    <a:gd name="T66" fmla="*/ 0 w 460"/>
                    <a:gd name="T67" fmla="*/ 0 h 492"/>
                    <a:gd name="T68" fmla="*/ 0 w 460"/>
                    <a:gd name="T69" fmla="*/ 0 h 492"/>
                    <a:gd name="T70" fmla="*/ 0 w 460"/>
                    <a:gd name="T71" fmla="*/ 0 h 492"/>
                    <a:gd name="T72" fmla="*/ 0 w 460"/>
                    <a:gd name="T73" fmla="*/ 0 h 492"/>
                    <a:gd name="T74" fmla="*/ 0 w 460"/>
                    <a:gd name="T75" fmla="*/ 0 h 492"/>
                    <a:gd name="T76" fmla="*/ 0 w 460"/>
                    <a:gd name="T77" fmla="*/ 0 h 492"/>
                    <a:gd name="T78" fmla="*/ 0 w 460"/>
                    <a:gd name="T79" fmla="*/ 0 h 492"/>
                    <a:gd name="T80" fmla="*/ 0 w 460"/>
                    <a:gd name="T81" fmla="*/ 0 h 492"/>
                    <a:gd name="T82" fmla="*/ 0 w 460"/>
                    <a:gd name="T83" fmla="*/ 0 h 492"/>
                    <a:gd name="T84" fmla="*/ 0 w 460"/>
                    <a:gd name="T85" fmla="*/ 0 h 492"/>
                    <a:gd name="T86" fmla="*/ 0 w 460"/>
                    <a:gd name="T87" fmla="*/ 0 h 492"/>
                    <a:gd name="T88" fmla="*/ 0 w 460"/>
                    <a:gd name="T89" fmla="*/ 0 h 492"/>
                    <a:gd name="T90" fmla="*/ 0 w 460"/>
                    <a:gd name="T91" fmla="*/ 0 h 492"/>
                    <a:gd name="T92" fmla="*/ 0 w 460"/>
                    <a:gd name="T93" fmla="*/ 0 h 492"/>
                    <a:gd name="T94" fmla="*/ 0 w 460"/>
                    <a:gd name="T95" fmla="*/ 0 h 492"/>
                    <a:gd name="T96" fmla="*/ 0 w 460"/>
                    <a:gd name="T97" fmla="*/ 0 h 492"/>
                    <a:gd name="T98" fmla="*/ 0 w 460"/>
                    <a:gd name="T99" fmla="*/ 0 h 492"/>
                    <a:gd name="T100" fmla="*/ 0 w 460"/>
                    <a:gd name="T101" fmla="*/ 0 h 492"/>
                    <a:gd name="T102" fmla="*/ 0 w 460"/>
                    <a:gd name="T103" fmla="*/ 0 h 492"/>
                    <a:gd name="T104" fmla="*/ 0 w 460"/>
                    <a:gd name="T105" fmla="*/ 0 h 492"/>
                    <a:gd name="T106" fmla="*/ 0 w 460"/>
                    <a:gd name="T107" fmla="*/ 0 h 492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w 460"/>
                    <a:gd name="T163" fmla="*/ 0 h 492"/>
                    <a:gd name="T164" fmla="*/ 460 w 460"/>
                    <a:gd name="T165" fmla="*/ 492 h 492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T162" t="T163" r="T164" b="T165"/>
                  <a:pathLst>
                    <a:path w="460" h="492">
                      <a:moveTo>
                        <a:pt x="12" y="356"/>
                      </a:moveTo>
                      <a:lnTo>
                        <a:pt x="30" y="385"/>
                      </a:lnTo>
                      <a:lnTo>
                        <a:pt x="60" y="418"/>
                      </a:lnTo>
                      <a:lnTo>
                        <a:pt x="101" y="445"/>
                      </a:lnTo>
                      <a:lnTo>
                        <a:pt x="145" y="470"/>
                      </a:lnTo>
                      <a:lnTo>
                        <a:pt x="185" y="486"/>
                      </a:lnTo>
                      <a:lnTo>
                        <a:pt x="221" y="492"/>
                      </a:lnTo>
                      <a:lnTo>
                        <a:pt x="242" y="486"/>
                      </a:lnTo>
                      <a:lnTo>
                        <a:pt x="251" y="468"/>
                      </a:lnTo>
                      <a:lnTo>
                        <a:pt x="234" y="454"/>
                      </a:lnTo>
                      <a:lnTo>
                        <a:pt x="207" y="432"/>
                      </a:lnTo>
                      <a:lnTo>
                        <a:pt x="177" y="410"/>
                      </a:lnTo>
                      <a:lnTo>
                        <a:pt x="145" y="385"/>
                      </a:lnTo>
                      <a:lnTo>
                        <a:pt x="113" y="362"/>
                      </a:lnTo>
                      <a:lnTo>
                        <a:pt x="88" y="337"/>
                      </a:lnTo>
                      <a:lnTo>
                        <a:pt x="71" y="315"/>
                      </a:lnTo>
                      <a:lnTo>
                        <a:pt x="65" y="296"/>
                      </a:lnTo>
                      <a:lnTo>
                        <a:pt x="69" y="291"/>
                      </a:lnTo>
                      <a:lnTo>
                        <a:pt x="74" y="288"/>
                      </a:lnTo>
                      <a:lnTo>
                        <a:pt x="83" y="288"/>
                      </a:lnTo>
                      <a:lnTo>
                        <a:pt x="88" y="288"/>
                      </a:lnTo>
                      <a:lnTo>
                        <a:pt x="259" y="418"/>
                      </a:lnTo>
                      <a:lnTo>
                        <a:pt x="267" y="397"/>
                      </a:lnTo>
                      <a:lnTo>
                        <a:pt x="277" y="378"/>
                      </a:lnTo>
                      <a:lnTo>
                        <a:pt x="294" y="358"/>
                      </a:lnTo>
                      <a:lnTo>
                        <a:pt x="313" y="342"/>
                      </a:lnTo>
                      <a:lnTo>
                        <a:pt x="316" y="304"/>
                      </a:lnTo>
                      <a:lnTo>
                        <a:pt x="321" y="268"/>
                      </a:lnTo>
                      <a:lnTo>
                        <a:pt x="332" y="236"/>
                      </a:lnTo>
                      <a:lnTo>
                        <a:pt x="348" y="203"/>
                      </a:lnTo>
                      <a:lnTo>
                        <a:pt x="370" y="176"/>
                      </a:lnTo>
                      <a:lnTo>
                        <a:pt x="395" y="152"/>
                      </a:lnTo>
                      <a:lnTo>
                        <a:pt x="425" y="130"/>
                      </a:lnTo>
                      <a:lnTo>
                        <a:pt x="460" y="117"/>
                      </a:lnTo>
                      <a:lnTo>
                        <a:pt x="455" y="95"/>
                      </a:lnTo>
                      <a:lnTo>
                        <a:pt x="441" y="78"/>
                      </a:lnTo>
                      <a:lnTo>
                        <a:pt x="422" y="62"/>
                      </a:lnTo>
                      <a:lnTo>
                        <a:pt x="402" y="49"/>
                      </a:lnTo>
                      <a:lnTo>
                        <a:pt x="362" y="25"/>
                      </a:lnTo>
                      <a:lnTo>
                        <a:pt x="321" y="7"/>
                      </a:lnTo>
                      <a:lnTo>
                        <a:pt x="280" y="0"/>
                      </a:lnTo>
                      <a:lnTo>
                        <a:pt x="240" y="0"/>
                      </a:lnTo>
                      <a:lnTo>
                        <a:pt x="201" y="5"/>
                      </a:lnTo>
                      <a:lnTo>
                        <a:pt x="166" y="19"/>
                      </a:lnTo>
                      <a:lnTo>
                        <a:pt x="131" y="35"/>
                      </a:lnTo>
                      <a:lnTo>
                        <a:pt x="101" y="60"/>
                      </a:lnTo>
                      <a:lnTo>
                        <a:pt x="74" y="87"/>
                      </a:lnTo>
                      <a:lnTo>
                        <a:pt x="49" y="117"/>
                      </a:lnTo>
                      <a:lnTo>
                        <a:pt x="30" y="152"/>
                      </a:lnTo>
                      <a:lnTo>
                        <a:pt x="14" y="190"/>
                      </a:lnTo>
                      <a:lnTo>
                        <a:pt x="6" y="228"/>
                      </a:lnTo>
                      <a:lnTo>
                        <a:pt x="0" y="272"/>
                      </a:lnTo>
                      <a:lnTo>
                        <a:pt x="3" y="312"/>
                      </a:lnTo>
                      <a:lnTo>
                        <a:pt x="12" y="356"/>
                      </a:lnTo>
                      <a:close/>
                    </a:path>
                  </a:pathLst>
                </a:custGeom>
                <a:solidFill>
                  <a:srgbClr val="996B4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34" name="Freeform 383"/>
                <p:cNvSpPr>
                  <a:spLocks/>
                </p:cNvSpPr>
                <p:nvPr/>
              </p:nvSpPr>
              <p:spPr bwMode="auto">
                <a:xfrm>
                  <a:off x="4777" y="1297"/>
                  <a:ext cx="16" cy="9"/>
                </a:xfrm>
                <a:custGeom>
                  <a:avLst/>
                  <a:gdLst>
                    <a:gd name="T0" fmla="*/ 0 w 66"/>
                    <a:gd name="T1" fmla="*/ 0 h 33"/>
                    <a:gd name="T2" fmla="*/ 0 w 66"/>
                    <a:gd name="T3" fmla="*/ 0 h 33"/>
                    <a:gd name="T4" fmla="*/ 0 w 66"/>
                    <a:gd name="T5" fmla="*/ 0 h 33"/>
                    <a:gd name="T6" fmla="*/ 0 w 66"/>
                    <a:gd name="T7" fmla="*/ 0 h 33"/>
                    <a:gd name="T8" fmla="*/ 0 w 66"/>
                    <a:gd name="T9" fmla="*/ 0 h 33"/>
                    <a:gd name="T10" fmla="*/ 0 w 66"/>
                    <a:gd name="T11" fmla="*/ 0 h 33"/>
                    <a:gd name="T12" fmla="*/ 0 w 66"/>
                    <a:gd name="T13" fmla="*/ 0 h 33"/>
                    <a:gd name="T14" fmla="*/ 0 w 66"/>
                    <a:gd name="T15" fmla="*/ 0 h 33"/>
                    <a:gd name="T16" fmla="*/ 0 w 66"/>
                    <a:gd name="T17" fmla="*/ 0 h 33"/>
                    <a:gd name="T18" fmla="*/ 0 w 66"/>
                    <a:gd name="T19" fmla="*/ 0 h 33"/>
                    <a:gd name="T20" fmla="*/ 0 w 66"/>
                    <a:gd name="T21" fmla="*/ 0 h 33"/>
                    <a:gd name="T22" fmla="*/ 0 w 66"/>
                    <a:gd name="T23" fmla="*/ 0 h 33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66"/>
                    <a:gd name="T37" fmla="*/ 0 h 33"/>
                    <a:gd name="T38" fmla="*/ 66 w 66"/>
                    <a:gd name="T39" fmla="*/ 33 h 33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66" h="33">
                      <a:moveTo>
                        <a:pt x="0" y="3"/>
                      </a:moveTo>
                      <a:lnTo>
                        <a:pt x="27" y="0"/>
                      </a:lnTo>
                      <a:lnTo>
                        <a:pt x="39" y="8"/>
                      </a:lnTo>
                      <a:lnTo>
                        <a:pt x="49" y="14"/>
                      </a:lnTo>
                      <a:lnTo>
                        <a:pt x="57" y="22"/>
                      </a:lnTo>
                      <a:lnTo>
                        <a:pt x="66" y="28"/>
                      </a:lnTo>
                      <a:lnTo>
                        <a:pt x="66" y="30"/>
                      </a:lnTo>
                      <a:lnTo>
                        <a:pt x="66" y="33"/>
                      </a:lnTo>
                      <a:lnTo>
                        <a:pt x="52" y="28"/>
                      </a:lnTo>
                      <a:lnTo>
                        <a:pt x="36" y="22"/>
                      </a:lnTo>
                      <a:lnTo>
                        <a:pt x="20" y="14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CCAD7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35" name="Freeform 384"/>
                <p:cNvSpPr>
                  <a:spLocks/>
                </p:cNvSpPr>
                <p:nvPr/>
              </p:nvSpPr>
              <p:spPr bwMode="auto">
                <a:xfrm>
                  <a:off x="4772" y="1293"/>
                  <a:ext cx="16" cy="9"/>
                </a:xfrm>
                <a:custGeom>
                  <a:avLst/>
                  <a:gdLst>
                    <a:gd name="T0" fmla="*/ 0 w 65"/>
                    <a:gd name="T1" fmla="*/ 0 h 37"/>
                    <a:gd name="T2" fmla="*/ 0 w 65"/>
                    <a:gd name="T3" fmla="*/ 0 h 37"/>
                    <a:gd name="T4" fmla="*/ 0 w 65"/>
                    <a:gd name="T5" fmla="*/ 0 h 37"/>
                    <a:gd name="T6" fmla="*/ 0 w 65"/>
                    <a:gd name="T7" fmla="*/ 0 h 37"/>
                    <a:gd name="T8" fmla="*/ 0 w 65"/>
                    <a:gd name="T9" fmla="*/ 0 h 37"/>
                    <a:gd name="T10" fmla="*/ 0 w 65"/>
                    <a:gd name="T11" fmla="*/ 0 h 37"/>
                    <a:gd name="T12" fmla="*/ 0 w 65"/>
                    <a:gd name="T13" fmla="*/ 0 h 37"/>
                    <a:gd name="T14" fmla="*/ 0 w 65"/>
                    <a:gd name="T15" fmla="*/ 0 h 37"/>
                    <a:gd name="T16" fmla="*/ 0 w 65"/>
                    <a:gd name="T17" fmla="*/ 0 h 37"/>
                    <a:gd name="T18" fmla="*/ 0 w 65"/>
                    <a:gd name="T19" fmla="*/ 0 h 37"/>
                    <a:gd name="T20" fmla="*/ 0 w 65"/>
                    <a:gd name="T21" fmla="*/ 0 h 3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65"/>
                    <a:gd name="T34" fmla="*/ 0 h 37"/>
                    <a:gd name="T35" fmla="*/ 65 w 65"/>
                    <a:gd name="T36" fmla="*/ 37 h 3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65" h="37">
                      <a:moveTo>
                        <a:pt x="65" y="30"/>
                      </a:moveTo>
                      <a:lnTo>
                        <a:pt x="44" y="37"/>
                      </a:lnTo>
                      <a:lnTo>
                        <a:pt x="33" y="30"/>
                      </a:lnTo>
                      <a:lnTo>
                        <a:pt x="19" y="25"/>
                      </a:lnTo>
                      <a:lnTo>
                        <a:pt x="9" y="18"/>
                      </a:lnTo>
                      <a:lnTo>
                        <a:pt x="0" y="9"/>
                      </a:lnTo>
                      <a:lnTo>
                        <a:pt x="28" y="0"/>
                      </a:lnTo>
                      <a:lnTo>
                        <a:pt x="35" y="9"/>
                      </a:lnTo>
                      <a:lnTo>
                        <a:pt x="46" y="18"/>
                      </a:lnTo>
                      <a:lnTo>
                        <a:pt x="58" y="25"/>
                      </a:lnTo>
                      <a:lnTo>
                        <a:pt x="65" y="30"/>
                      </a:lnTo>
                      <a:close/>
                    </a:path>
                  </a:pathLst>
                </a:custGeom>
                <a:solidFill>
                  <a:srgbClr val="CCAD7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36" name="Freeform 385"/>
                <p:cNvSpPr>
                  <a:spLocks noEditPoints="1"/>
                </p:cNvSpPr>
                <p:nvPr/>
              </p:nvSpPr>
              <p:spPr bwMode="auto">
                <a:xfrm>
                  <a:off x="4767" y="1282"/>
                  <a:ext cx="33" cy="16"/>
                </a:xfrm>
                <a:custGeom>
                  <a:avLst/>
                  <a:gdLst>
                    <a:gd name="T0" fmla="*/ 0 w 129"/>
                    <a:gd name="T1" fmla="*/ 0 h 63"/>
                    <a:gd name="T2" fmla="*/ 0 w 129"/>
                    <a:gd name="T3" fmla="*/ 0 h 63"/>
                    <a:gd name="T4" fmla="*/ 0 w 129"/>
                    <a:gd name="T5" fmla="*/ 0 h 63"/>
                    <a:gd name="T6" fmla="*/ 0 w 129"/>
                    <a:gd name="T7" fmla="*/ 0 h 63"/>
                    <a:gd name="T8" fmla="*/ 0 w 129"/>
                    <a:gd name="T9" fmla="*/ 0 h 63"/>
                    <a:gd name="T10" fmla="*/ 0 w 129"/>
                    <a:gd name="T11" fmla="*/ 0 h 63"/>
                    <a:gd name="T12" fmla="*/ 0 w 129"/>
                    <a:gd name="T13" fmla="*/ 0 h 63"/>
                    <a:gd name="T14" fmla="*/ 0 w 129"/>
                    <a:gd name="T15" fmla="*/ 0 h 63"/>
                    <a:gd name="T16" fmla="*/ 0 w 129"/>
                    <a:gd name="T17" fmla="*/ 0 h 63"/>
                    <a:gd name="T18" fmla="*/ 0 w 129"/>
                    <a:gd name="T19" fmla="*/ 0 h 63"/>
                    <a:gd name="T20" fmla="*/ 0 w 129"/>
                    <a:gd name="T21" fmla="*/ 0 h 63"/>
                    <a:gd name="T22" fmla="*/ 0 w 129"/>
                    <a:gd name="T23" fmla="*/ 0 h 63"/>
                    <a:gd name="T24" fmla="*/ 0 w 129"/>
                    <a:gd name="T25" fmla="*/ 0 h 63"/>
                    <a:gd name="T26" fmla="*/ 0 w 129"/>
                    <a:gd name="T27" fmla="*/ 0 h 63"/>
                    <a:gd name="T28" fmla="*/ 0 w 129"/>
                    <a:gd name="T29" fmla="*/ 0 h 63"/>
                    <a:gd name="T30" fmla="*/ 0 w 129"/>
                    <a:gd name="T31" fmla="*/ 0 h 63"/>
                    <a:gd name="T32" fmla="*/ 0 w 129"/>
                    <a:gd name="T33" fmla="*/ 0 h 63"/>
                    <a:gd name="T34" fmla="*/ 0 w 129"/>
                    <a:gd name="T35" fmla="*/ 0 h 63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29"/>
                    <a:gd name="T55" fmla="*/ 0 h 63"/>
                    <a:gd name="T56" fmla="*/ 129 w 129"/>
                    <a:gd name="T57" fmla="*/ 63 h 63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29" h="63">
                      <a:moveTo>
                        <a:pt x="64" y="60"/>
                      </a:moveTo>
                      <a:lnTo>
                        <a:pt x="37" y="63"/>
                      </a:lnTo>
                      <a:lnTo>
                        <a:pt x="27" y="58"/>
                      </a:lnTo>
                      <a:lnTo>
                        <a:pt x="16" y="49"/>
                      </a:lnTo>
                      <a:lnTo>
                        <a:pt x="7" y="44"/>
                      </a:lnTo>
                      <a:lnTo>
                        <a:pt x="0" y="38"/>
                      </a:lnTo>
                      <a:lnTo>
                        <a:pt x="27" y="30"/>
                      </a:lnTo>
                      <a:lnTo>
                        <a:pt x="35" y="35"/>
                      </a:lnTo>
                      <a:lnTo>
                        <a:pt x="43" y="44"/>
                      </a:lnTo>
                      <a:lnTo>
                        <a:pt x="53" y="52"/>
                      </a:lnTo>
                      <a:lnTo>
                        <a:pt x="64" y="60"/>
                      </a:lnTo>
                      <a:close/>
                      <a:moveTo>
                        <a:pt x="111" y="5"/>
                      </a:moveTo>
                      <a:lnTo>
                        <a:pt x="129" y="0"/>
                      </a:lnTo>
                      <a:lnTo>
                        <a:pt x="127" y="3"/>
                      </a:lnTo>
                      <a:lnTo>
                        <a:pt x="124" y="5"/>
                      </a:lnTo>
                      <a:lnTo>
                        <a:pt x="122" y="12"/>
                      </a:lnTo>
                      <a:lnTo>
                        <a:pt x="119" y="14"/>
                      </a:lnTo>
                      <a:lnTo>
                        <a:pt x="111" y="5"/>
                      </a:lnTo>
                      <a:close/>
                    </a:path>
                  </a:pathLst>
                </a:custGeom>
                <a:solidFill>
                  <a:srgbClr val="C6A87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37" name="Freeform 386"/>
                <p:cNvSpPr>
                  <a:spLocks noEditPoints="1"/>
                </p:cNvSpPr>
                <p:nvPr/>
              </p:nvSpPr>
              <p:spPr bwMode="auto">
                <a:xfrm>
                  <a:off x="4763" y="1275"/>
                  <a:ext cx="43" cy="20"/>
                </a:xfrm>
                <a:custGeom>
                  <a:avLst/>
                  <a:gdLst>
                    <a:gd name="T0" fmla="*/ 0 w 173"/>
                    <a:gd name="T1" fmla="*/ 0 h 79"/>
                    <a:gd name="T2" fmla="*/ 0 w 173"/>
                    <a:gd name="T3" fmla="*/ 0 h 79"/>
                    <a:gd name="T4" fmla="*/ 0 w 173"/>
                    <a:gd name="T5" fmla="*/ 0 h 79"/>
                    <a:gd name="T6" fmla="*/ 0 w 173"/>
                    <a:gd name="T7" fmla="*/ 0 h 79"/>
                    <a:gd name="T8" fmla="*/ 0 w 173"/>
                    <a:gd name="T9" fmla="*/ 0 h 79"/>
                    <a:gd name="T10" fmla="*/ 0 w 173"/>
                    <a:gd name="T11" fmla="*/ 0 h 79"/>
                    <a:gd name="T12" fmla="*/ 0 w 173"/>
                    <a:gd name="T13" fmla="*/ 0 h 79"/>
                    <a:gd name="T14" fmla="*/ 0 w 173"/>
                    <a:gd name="T15" fmla="*/ 0 h 79"/>
                    <a:gd name="T16" fmla="*/ 0 w 173"/>
                    <a:gd name="T17" fmla="*/ 0 h 79"/>
                    <a:gd name="T18" fmla="*/ 0 w 173"/>
                    <a:gd name="T19" fmla="*/ 0 h 79"/>
                    <a:gd name="T20" fmla="*/ 0 w 173"/>
                    <a:gd name="T21" fmla="*/ 0 h 79"/>
                    <a:gd name="T22" fmla="*/ 0 w 173"/>
                    <a:gd name="T23" fmla="*/ 0 h 79"/>
                    <a:gd name="T24" fmla="*/ 0 w 173"/>
                    <a:gd name="T25" fmla="*/ 0 h 79"/>
                    <a:gd name="T26" fmla="*/ 0 w 173"/>
                    <a:gd name="T27" fmla="*/ 0 h 79"/>
                    <a:gd name="T28" fmla="*/ 0 w 173"/>
                    <a:gd name="T29" fmla="*/ 0 h 79"/>
                    <a:gd name="T30" fmla="*/ 0 w 173"/>
                    <a:gd name="T31" fmla="*/ 0 h 79"/>
                    <a:gd name="T32" fmla="*/ 0 w 173"/>
                    <a:gd name="T33" fmla="*/ 0 h 79"/>
                    <a:gd name="T34" fmla="*/ 0 w 173"/>
                    <a:gd name="T35" fmla="*/ 0 h 79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73"/>
                    <a:gd name="T55" fmla="*/ 0 h 79"/>
                    <a:gd name="T56" fmla="*/ 173 w 173"/>
                    <a:gd name="T57" fmla="*/ 79 h 79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73" h="79">
                      <a:moveTo>
                        <a:pt x="65" y="70"/>
                      </a:moveTo>
                      <a:lnTo>
                        <a:pt x="37" y="79"/>
                      </a:lnTo>
                      <a:lnTo>
                        <a:pt x="26" y="74"/>
                      </a:lnTo>
                      <a:lnTo>
                        <a:pt x="16" y="65"/>
                      </a:lnTo>
                      <a:lnTo>
                        <a:pt x="7" y="60"/>
                      </a:lnTo>
                      <a:lnTo>
                        <a:pt x="0" y="54"/>
                      </a:lnTo>
                      <a:lnTo>
                        <a:pt x="26" y="47"/>
                      </a:lnTo>
                      <a:lnTo>
                        <a:pt x="35" y="52"/>
                      </a:lnTo>
                      <a:lnTo>
                        <a:pt x="42" y="58"/>
                      </a:lnTo>
                      <a:lnTo>
                        <a:pt x="54" y="65"/>
                      </a:lnTo>
                      <a:lnTo>
                        <a:pt x="65" y="70"/>
                      </a:lnTo>
                      <a:close/>
                      <a:moveTo>
                        <a:pt x="111" y="22"/>
                      </a:moveTo>
                      <a:lnTo>
                        <a:pt x="173" y="0"/>
                      </a:lnTo>
                      <a:lnTo>
                        <a:pt x="162" y="12"/>
                      </a:lnTo>
                      <a:lnTo>
                        <a:pt x="155" y="22"/>
                      </a:lnTo>
                      <a:lnTo>
                        <a:pt x="146" y="33"/>
                      </a:lnTo>
                      <a:lnTo>
                        <a:pt x="138" y="44"/>
                      </a:lnTo>
                      <a:lnTo>
                        <a:pt x="111" y="22"/>
                      </a:lnTo>
                      <a:close/>
                    </a:path>
                  </a:pathLst>
                </a:custGeom>
                <a:solidFill>
                  <a:srgbClr val="C1A07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38" name="Freeform 387"/>
                <p:cNvSpPr>
                  <a:spLocks noEditPoints="1"/>
                </p:cNvSpPr>
                <p:nvPr/>
              </p:nvSpPr>
              <p:spPr bwMode="auto">
                <a:xfrm>
                  <a:off x="4759" y="1270"/>
                  <a:ext cx="50" cy="22"/>
                </a:xfrm>
                <a:custGeom>
                  <a:avLst/>
                  <a:gdLst>
                    <a:gd name="T0" fmla="*/ 0 w 200"/>
                    <a:gd name="T1" fmla="*/ 0 h 90"/>
                    <a:gd name="T2" fmla="*/ 0 w 200"/>
                    <a:gd name="T3" fmla="*/ 0 h 90"/>
                    <a:gd name="T4" fmla="*/ 0 w 200"/>
                    <a:gd name="T5" fmla="*/ 0 h 90"/>
                    <a:gd name="T6" fmla="*/ 0 w 200"/>
                    <a:gd name="T7" fmla="*/ 0 h 90"/>
                    <a:gd name="T8" fmla="*/ 0 w 200"/>
                    <a:gd name="T9" fmla="*/ 0 h 90"/>
                    <a:gd name="T10" fmla="*/ 0 w 200"/>
                    <a:gd name="T11" fmla="*/ 0 h 90"/>
                    <a:gd name="T12" fmla="*/ 0 w 200"/>
                    <a:gd name="T13" fmla="*/ 0 h 90"/>
                    <a:gd name="T14" fmla="*/ 0 w 200"/>
                    <a:gd name="T15" fmla="*/ 0 h 90"/>
                    <a:gd name="T16" fmla="*/ 0 w 200"/>
                    <a:gd name="T17" fmla="*/ 0 h 90"/>
                    <a:gd name="T18" fmla="*/ 0 w 200"/>
                    <a:gd name="T19" fmla="*/ 0 h 90"/>
                    <a:gd name="T20" fmla="*/ 0 w 200"/>
                    <a:gd name="T21" fmla="*/ 0 h 90"/>
                    <a:gd name="T22" fmla="*/ 0 w 200"/>
                    <a:gd name="T23" fmla="*/ 0 h 90"/>
                    <a:gd name="T24" fmla="*/ 0 w 200"/>
                    <a:gd name="T25" fmla="*/ 0 h 90"/>
                    <a:gd name="T26" fmla="*/ 0 w 200"/>
                    <a:gd name="T27" fmla="*/ 0 h 90"/>
                    <a:gd name="T28" fmla="*/ 0 w 200"/>
                    <a:gd name="T29" fmla="*/ 0 h 90"/>
                    <a:gd name="T30" fmla="*/ 0 w 200"/>
                    <a:gd name="T31" fmla="*/ 0 h 90"/>
                    <a:gd name="T32" fmla="*/ 0 w 200"/>
                    <a:gd name="T33" fmla="*/ 0 h 90"/>
                    <a:gd name="T34" fmla="*/ 0 w 200"/>
                    <a:gd name="T35" fmla="*/ 0 h 90"/>
                    <a:gd name="T36" fmla="*/ 0 w 200"/>
                    <a:gd name="T37" fmla="*/ 0 h 90"/>
                    <a:gd name="T38" fmla="*/ 0 w 200"/>
                    <a:gd name="T39" fmla="*/ 0 h 90"/>
                    <a:gd name="T40" fmla="*/ 0 w 200"/>
                    <a:gd name="T41" fmla="*/ 0 h 90"/>
                    <a:gd name="T42" fmla="*/ 0 w 200"/>
                    <a:gd name="T43" fmla="*/ 0 h 90"/>
                    <a:gd name="T44" fmla="*/ 0 w 200"/>
                    <a:gd name="T45" fmla="*/ 0 h 9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200"/>
                    <a:gd name="T70" fmla="*/ 0 h 90"/>
                    <a:gd name="T71" fmla="*/ 200 w 200"/>
                    <a:gd name="T72" fmla="*/ 90 h 90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200" h="90">
                      <a:moveTo>
                        <a:pt x="164" y="52"/>
                      </a:moveTo>
                      <a:lnTo>
                        <a:pt x="146" y="57"/>
                      </a:lnTo>
                      <a:lnTo>
                        <a:pt x="108" y="30"/>
                      </a:lnTo>
                      <a:lnTo>
                        <a:pt x="200" y="0"/>
                      </a:lnTo>
                      <a:lnTo>
                        <a:pt x="200" y="4"/>
                      </a:lnTo>
                      <a:lnTo>
                        <a:pt x="200" y="9"/>
                      </a:lnTo>
                      <a:lnTo>
                        <a:pt x="200" y="11"/>
                      </a:lnTo>
                      <a:lnTo>
                        <a:pt x="200" y="14"/>
                      </a:lnTo>
                      <a:lnTo>
                        <a:pt x="189" y="22"/>
                      </a:lnTo>
                      <a:lnTo>
                        <a:pt x="178" y="34"/>
                      </a:lnTo>
                      <a:lnTo>
                        <a:pt x="171" y="41"/>
                      </a:lnTo>
                      <a:lnTo>
                        <a:pt x="164" y="52"/>
                      </a:lnTo>
                      <a:close/>
                      <a:moveTo>
                        <a:pt x="62" y="82"/>
                      </a:moveTo>
                      <a:lnTo>
                        <a:pt x="35" y="90"/>
                      </a:lnTo>
                      <a:lnTo>
                        <a:pt x="23" y="82"/>
                      </a:lnTo>
                      <a:lnTo>
                        <a:pt x="12" y="74"/>
                      </a:lnTo>
                      <a:lnTo>
                        <a:pt x="5" y="66"/>
                      </a:lnTo>
                      <a:lnTo>
                        <a:pt x="0" y="60"/>
                      </a:lnTo>
                      <a:lnTo>
                        <a:pt x="23" y="52"/>
                      </a:lnTo>
                      <a:lnTo>
                        <a:pt x="32" y="60"/>
                      </a:lnTo>
                      <a:lnTo>
                        <a:pt x="40" y="66"/>
                      </a:lnTo>
                      <a:lnTo>
                        <a:pt x="51" y="74"/>
                      </a:lnTo>
                      <a:lnTo>
                        <a:pt x="62" y="82"/>
                      </a:lnTo>
                      <a:close/>
                    </a:path>
                  </a:pathLst>
                </a:custGeom>
                <a:solidFill>
                  <a:srgbClr val="BF9B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39" name="Freeform 388"/>
                <p:cNvSpPr>
                  <a:spLocks noEditPoints="1"/>
                </p:cNvSpPr>
                <p:nvPr/>
              </p:nvSpPr>
              <p:spPr bwMode="auto">
                <a:xfrm>
                  <a:off x="4756" y="1265"/>
                  <a:ext cx="53" cy="24"/>
                </a:xfrm>
                <a:custGeom>
                  <a:avLst/>
                  <a:gdLst>
                    <a:gd name="T0" fmla="*/ 0 w 209"/>
                    <a:gd name="T1" fmla="*/ 0 h 95"/>
                    <a:gd name="T2" fmla="*/ 0 w 209"/>
                    <a:gd name="T3" fmla="*/ 0 h 95"/>
                    <a:gd name="T4" fmla="*/ 0 w 209"/>
                    <a:gd name="T5" fmla="*/ 0 h 95"/>
                    <a:gd name="T6" fmla="*/ 0 w 209"/>
                    <a:gd name="T7" fmla="*/ 0 h 95"/>
                    <a:gd name="T8" fmla="*/ 0 w 209"/>
                    <a:gd name="T9" fmla="*/ 0 h 95"/>
                    <a:gd name="T10" fmla="*/ 0 w 209"/>
                    <a:gd name="T11" fmla="*/ 0 h 95"/>
                    <a:gd name="T12" fmla="*/ 0 w 209"/>
                    <a:gd name="T13" fmla="*/ 0 h 95"/>
                    <a:gd name="T14" fmla="*/ 0 w 209"/>
                    <a:gd name="T15" fmla="*/ 0 h 95"/>
                    <a:gd name="T16" fmla="*/ 0 w 209"/>
                    <a:gd name="T17" fmla="*/ 0 h 95"/>
                    <a:gd name="T18" fmla="*/ 0 w 209"/>
                    <a:gd name="T19" fmla="*/ 0 h 95"/>
                    <a:gd name="T20" fmla="*/ 0 w 209"/>
                    <a:gd name="T21" fmla="*/ 0 h 95"/>
                    <a:gd name="T22" fmla="*/ 0 w 209"/>
                    <a:gd name="T23" fmla="*/ 0 h 95"/>
                    <a:gd name="T24" fmla="*/ 0 w 209"/>
                    <a:gd name="T25" fmla="*/ 0 h 95"/>
                    <a:gd name="T26" fmla="*/ 0 w 209"/>
                    <a:gd name="T27" fmla="*/ 0 h 95"/>
                    <a:gd name="T28" fmla="*/ 0 w 209"/>
                    <a:gd name="T29" fmla="*/ 0 h 95"/>
                    <a:gd name="T30" fmla="*/ 0 w 209"/>
                    <a:gd name="T31" fmla="*/ 0 h 95"/>
                    <a:gd name="T32" fmla="*/ 0 w 209"/>
                    <a:gd name="T33" fmla="*/ 0 h 95"/>
                    <a:gd name="T34" fmla="*/ 0 w 209"/>
                    <a:gd name="T35" fmla="*/ 0 h 95"/>
                    <a:gd name="T36" fmla="*/ 0 w 209"/>
                    <a:gd name="T37" fmla="*/ 0 h 95"/>
                    <a:gd name="T38" fmla="*/ 0 w 209"/>
                    <a:gd name="T39" fmla="*/ 0 h 95"/>
                    <a:gd name="T40" fmla="*/ 0 w 209"/>
                    <a:gd name="T41" fmla="*/ 0 h 95"/>
                    <a:gd name="T42" fmla="*/ 0 w 209"/>
                    <a:gd name="T43" fmla="*/ 0 h 95"/>
                    <a:gd name="T44" fmla="*/ 0 w 209"/>
                    <a:gd name="T45" fmla="*/ 0 h 95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209"/>
                    <a:gd name="T70" fmla="*/ 0 h 95"/>
                    <a:gd name="T71" fmla="*/ 209 w 209"/>
                    <a:gd name="T72" fmla="*/ 95 h 95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209" h="95">
                      <a:moveTo>
                        <a:pt x="198" y="41"/>
                      </a:moveTo>
                      <a:lnTo>
                        <a:pt x="136" y="63"/>
                      </a:lnTo>
                      <a:lnTo>
                        <a:pt x="97" y="33"/>
                      </a:lnTo>
                      <a:lnTo>
                        <a:pt x="209" y="0"/>
                      </a:lnTo>
                      <a:lnTo>
                        <a:pt x="209" y="9"/>
                      </a:lnTo>
                      <a:lnTo>
                        <a:pt x="209" y="17"/>
                      </a:lnTo>
                      <a:lnTo>
                        <a:pt x="209" y="25"/>
                      </a:lnTo>
                      <a:lnTo>
                        <a:pt x="209" y="33"/>
                      </a:lnTo>
                      <a:lnTo>
                        <a:pt x="203" y="35"/>
                      </a:lnTo>
                      <a:lnTo>
                        <a:pt x="201" y="39"/>
                      </a:lnTo>
                      <a:lnTo>
                        <a:pt x="201" y="41"/>
                      </a:lnTo>
                      <a:lnTo>
                        <a:pt x="198" y="41"/>
                      </a:lnTo>
                      <a:close/>
                      <a:moveTo>
                        <a:pt x="51" y="88"/>
                      </a:moveTo>
                      <a:lnTo>
                        <a:pt x="25" y="95"/>
                      </a:lnTo>
                      <a:lnTo>
                        <a:pt x="16" y="88"/>
                      </a:lnTo>
                      <a:lnTo>
                        <a:pt x="9" y="79"/>
                      </a:lnTo>
                      <a:lnTo>
                        <a:pt x="5" y="71"/>
                      </a:lnTo>
                      <a:lnTo>
                        <a:pt x="0" y="63"/>
                      </a:lnTo>
                      <a:lnTo>
                        <a:pt x="11" y="55"/>
                      </a:lnTo>
                      <a:lnTo>
                        <a:pt x="21" y="63"/>
                      </a:lnTo>
                      <a:lnTo>
                        <a:pt x="30" y="71"/>
                      </a:lnTo>
                      <a:lnTo>
                        <a:pt x="41" y="79"/>
                      </a:lnTo>
                      <a:lnTo>
                        <a:pt x="51" y="88"/>
                      </a:lnTo>
                      <a:close/>
                    </a:path>
                  </a:pathLst>
                </a:custGeom>
                <a:solidFill>
                  <a:srgbClr val="BA96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40" name="Freeform 389"/>
                <p:cNvSpPr>
                  <a:spLocks noEditPoints="1"/>
                </p:cNvSpPr>
                <p:nvPr/>
              </p:nvSpPr>
              <p:spPr bwMode="auto">
                <a:xfrm>
                  <a:off x="4754" y="1259"/>
                  <a:ext cx="55" cy="26"/>
                </a:xfrm>
                <a:custGeom>
                  <a:avLst/>
                  <a:gdLst>
                    <a:gd name="T0" fmla="*/ 0 w 223"/>
                    <a:gd name="T1" fmla="*/ 0 h 100"/>
                    <a:gd name="T2" fmla="*/ 0 w 223"/>
                    <a:gd name="T3" fmla="*/ 0 h 100"/>
                    <a:gd name="T4" fmla="*/ 0 w 223"/>
                    <a:gd name="T5" fmla="*/ 0 h 100"/>
                    <a:gd name="T6" fmla="*/ 0 w 223"/>
                    <a:gd name="T7" fmla="*/ 0 h 100"/>
                    <a:gd name="T8" fmla="*/ 0 w 223"/>
                    <a:gd name="T9" fmla="*/ 0 h 100"/>
                    <a:gd name="T10" fmla="*/ 0 w 223"/>
                    <a:gd name="T11" fmla="*/ 0 h 100"/>
                    <a:gd name="T12" fmla="*/ 0 w 223"/>
                    <a:gd name="T13" fmla="*/ 0 h 100"/>
                    <a:gd name="T14" fmla="*/ 0 w 223"/>
                    <a:gd name="T15" fmla="*/ 0 h 100"/>
                    <a:gd name="T16" fmla="*/ 0 w 223"/>
                    <a:gd name="T17" fmla="*/ 0 h 100"/>
                    <a:gd name="T18" fmla="*/ 0 w 223"/>
                    <a:gd name="T19" fmla="*/ 0 h 100"/>
                    <a:gd name="T20" fmla="*/ 0 w 223"/>
                    <a:gd name="T21" fmla="*/ 0 h 100"/>
                    <a:gd name="T22" fmla="*/ 0 w 223"/>
                    <a:gd name="T23" fmla="*/ 0 h 100"/>
                    <a:gd name="T24" fmla="*/ 0 w 223"/>
                    <a:gd name="T25" fmla="*/ 0 h 100"/>
                    <a:gd name="T26" fmla="*/ 0 w 223"/>
                    <a:gd name="T27" fmla="*/ 0 h 100"/>
                    <a:gd name="T28" fmla="*/ 0 w 223"/>
                    <a:gd name="T29" fmla="*/ 0 h 100"/>
                    <a:gd name="T30" fmla="*/ 0 w 223"/>
                    <a:gd name="T31" fmla="*/ 0 h 100"/>
                    <a:gd name="T32" fmla="*/ 0 w 223"/>
                    <a:gd name="T33" fmla="*/ 0 h 100"/>
                    <a:gd name="T34" fmla="*/ 0 w 223"/>
                    <a:gd name="T35" fmla="*/ 0 h 100"/>
                    <a:gd name="T36" fmla="*/ 0 w 223"/>
                    <a:gd name="T37" fmla="*/ 0 h 100"/>
                    <a:gd name="T38" fmla="*/ 0 w 223"/>
                    <a:gd name="T39" fmla="*/ 0 h 100"/>
                    <a:gd name="T40" fmla="*/ 0 w 223"/>
                    <a:gd name="T41" fmla="*/ 0 h 100"/>
                    <a:gd name="T42" fmla="*/ 0 w 223"/>
                    <a:gd name="T43" fmla="*/ 0 h 100"/>
                    <a:gd name="T44" fmla="*/ 0 w 223"/>
                    <a:gd name="T45" fmla="*/ 0 h 10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223"/>
                    <a:gd name="T70" fmla="*/ 0 h 100"/>
                    <a:gd name="T71" fmla="*/ 223 w 223"/>
                    <a:gd name="T72" fmla="*/ 100 h 100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223" h="100">
                      <a:moveTo>
                        <a:pt x="220" y="40"/>
                      </a:moveTo>
                      <a:lnTo>
                        <a:pt x="128" y="70"/>
                      </a:lnTo>
                      <a:lnTo>
                        <a:pt x="90" y="38"/>
                      </a:lnTo>
                      <a:lnTo>
                        <a:pt x="223" y="0"/>
                      </a:lnTo>
                      <a:lnTo>
                        <a:pt x="220" y="10"/>
                      </a:lnTo>
                      <a:lnTo>
                        <a:pt x="220" y="21"/>
                      </a:lnTo>
                      <a:lnTo>
                        <a:pt x="220" y="33"/>
                      </a:lnTo>
                      <a:lnTo>
                        <a:pt x="220" y="40"/>
                      </a:lnTo>
                      <a:close/>
                      <a:moveTo>
                        <a:pt x="43" y="92"/>
                      </a:moveTo>
                      <a:lnTo>
                        <a:pt x="20" y="100"/>
                      </a:lnTo>
                      <a:lnTo>
                        <a:pt x="13" y="95"/>
                      </a:lnTo>
                      <a:lnTo>
                        <a:pt x="11" y="86"/>
                      </a:lnTo>
                      <a:lnTo>
                        <a:pt x="6" y="81"/>
                      </a:lnTo>
                      <a:lnTo>
                        <a:pt x="2" y="76"/>
                      </a:lnTo>
                      <a:lnTo>
                        <a:pt x="2" y="74"/>
                      </a:lnTo>
                      <a:lnTo>
                        <a:pt x="2" y="70"/>
                      </a:lnTo>
                      <a:lnTo>
                        <a:pt x="0" y="68"/>
                      </a:lnTo>
                      <a:lnTo>
                        <a:pt x="0" y="62"/>
                      </a:lnTo>
                      <a:lnTo>
                        <a:pt x="8" y="62"/>
                      </a:lnTo>
                      <a:lnTo>
                        <a:pt x="16" y="70"/>
                      </a:lnTo>
                      <a:lnTo>
                        <a:pt x="25" y="76"/>
                      </a:lnTo>
                      <a:lnTo>
                        <a:pt x="32" y="84"/>
                      </a:lnTo>
                      <a:lnTo>
                        <a:pt x="43" y="92"/>
                      </a:lnTo>
                      <a:close/>
                    </a:path>
                  </a:pathLst>
                </a:custGeom>
                <a:solidFill>
                  <a:srgbClr val="B58E6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41" name="Freeform 390"/>
                <p:cNvSpPr>
                  <a:spLocks noEditPoints="1"/>
                </p:cNvSpPr>
                <p:nvPr/>
              </p:nvSpPr>
              <p:spPr bwMode="auto">
                <a:xfrm>
                  <a:off x="4754" y="1254"/>
                  <a:ext cx="58" cy="27"/>
                </a:xfrm>
                <a:custGeom>
                  <a:avLst/>
                  <a:gdLst>
                    <a:gd name="T0" fmla="*/ 0 w 231"/>
                    <a:gd name="T1" fmla="*/ 0 h 106"/>
                    <a:gd name="T2" fmla="*/ 0 w 231"/>
                    <a:gd name="T3" fmla="*/ 0 h 106"/>
                    <a:gd name="T4" fmla="*/ 0 w 231"/>
                    <a:gd name="T5" fmla="*/ 0 h 106"/>
                    <a:gd name="T6" fmla="*/ 0 w 231"/>
                    <a:gd name="T7" fmla="*/ 0 h 106"/>
                    <a:gd name="T8" fmla="*/ 0 w 231"/>
                    <a:gd name="T9" fmla="*/ 0 h 106"/>
                    <a:gd name="T10" fmla="*/ 0 w 231"/>
                    <a:gd name="T11" fmla="*/ 0 h 106"/>
                    <a:gd name="T12" fmla="*/ 0 w 231"/>
                    <a:gd name="T13" fmla="*/ 0 h 106"/>
                    <a:gd name="T14" fmla="*/ 0 w 231"/>
                    <a:gd name="T15" fmla="*/ 0 h 106"/>
                    <a:gd name="T16" fmla="*/ 0 w 231"/>
                    <a:gd name="T17" fmla="*/ 0 h 106"/>
                    <a:gd name="T18" fmla="*/ 0 w 231"/>
                    <a:gd name="T19" fmla="*/ 0 h 106"/>
                    <a:gd name="T20" fmla="*/ 0 w 231"/>
                    <a:gd name="T21" fmla="*/ 0 h 106"/>
                    <a:gd name="T22" fmla="*/ 0 w 231"/>
                    <a:gd name="T23" fmla="*/ 0 h 106"/>
                    <a:gd name="T24" fmla="*/ 0 w 231"/>
                    <a:gd name="T25" fmla="*/ 0 h 106"/>
                    <a:gd name="T26" fmla="*/ 0 w 231"/>
                    <a:gd name="T27" fmla="*/ 0 h 106"/>
                    <a:gd name="T28" fmla="*/ 0 w 231"/>
                    <a:gd name="T29" fmla="*/ 0 h 106"/>
                    <a:gd name="T30" fmla="*/ 0 w 231"/>
                    <a:gd name="T31" fmla="*/ 0 h 106"/>
                    <a:gd name="T32" fmla="*/ 0 w 231"/>
                    <a:gd name="T33" fmla="*/ 0 h 106"/>
                    <a:gd name="T34" fmla="*/ 0 w 231"/>
                    <a:gd name="T35" fmla="*/ 0 h 106"/>
                    <a:gd name="T36" fmla="*/ 0 w 231"/>
                    <a:gd name="T37" fmla="*/ 0 h 106"/>
                    <a:gd name="T38" fmla="*/ 0 w 231"/>
                    <a:gd name="T39" fmla="*/ 0 h 106"/>
                    <a:gd name="T40" fmla="*/ 0 w 231"/>
                    <a:gd name="T41" fmla="*/ 0 h 106"/>
                    <a:gd name="T42" fmla="*/ 0 w 231"/>
                    <a:gd name="T43" fmla="*/ 0 h 106"/>
                    <a:gd name="T44" fmla="*/ 0 w 231"/>
                    <a:gd name="T45" fmla="*/ 0 h 106"/>
                    <a:gd name="T46" fmla="*/ 0 w 231"/>
                    <a:gd name="T47" fmla="*/ 0 h 106"/>
                    <a:gd name="T48" fmla="*/ 0 w 231"/>
                    <a:gd name="T49" fmla="*/ 0 h 106"/>
                    <a:gd name="T50" fmla="*/ 0 w 231"/>
                    <a:gd name="T51" fmla="*/ 0 h 106"/>
                    <a:gd name="T52" fmla="*/ 0 w 231"/>
                    <a:gd name="T53" fmla="*/ 0 h 106"/>
                    <a:gd name="T54" fmla="*/ 0 w 231"/>
                    <a:gd name="T55" fmla="*/ 0 h 106"/>
                    <a:gd name="T56" fmla="*/ 0 w 231"/>
                    <a:gd name="T57" fmla="*/ 0 h 10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231"/>
                    <a:gd name="T88" fmla="*/ 0 h 106"/>
                    <a:gd name="T89" fmla="*/ 231 w 231"/>
                    <a:gd name="T90" fmla="*/ 106 h 10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231" h="106">
                      <a:moveTo>
                        <a:pt x="220" y="43"/>
                      </a:moveTo>
                      <a:lnTo>
                        <a:pt x="108" y="76"/>
                      </a:lnTo>
                      <a:lnTo>
                        <a:pt x="68" y="46"/>
                      </a:lnTo>
                      <a:lnTo>
                        <a:pt x="231" y="0"/>
                      </a:lnTo>
                      <a:lnTo>
                        <a:pt x="226" y="11"/>
                      </a:lnTo>
                      <a:lnTo>
                        <a:pt x="223" y="22"/>
                      </a:lnTo>
                      <a:lnTo>
                        <a:pt x="220" y="32"/>
                      </a:lnTo>
                      <a:lnTo>
                        <a:pt x="220" y="43"/>
                      </a:lnTo>
                      <a:close/>
                      <a:moveTo>
                        <a:pt x="22" y="98"/>
                      </a:moveTo>
                      <a:lnTo>
                        <a:pt x="11" y="106"/>
                      </a:lnTo>
                      <a:lnTo>
                        <a:pt x="8" y="103"/>
                      </a:lnTo>
                      <a:lnTo>
                        <a:pt x="8" y="101"/>
                      </a:lnTo>
                      <a:lnTo>
                        <a:pt x="6" y="98"/>
                      </a:lnTo>
                      <a:lnTo>
                        <a:pt x="2" y="98"/>
                      </a:lnTo>
                      <a:lnTo>
                        <a:pt x="0" y="92"/>
                      </a:lnTo>
                      <a:lnTo>
                        <a:pt x="0" y="87"/>
                      </a:lnTo>
                      <a:lnTo>
                        <a:pt x="0" y="82"/>
                      </a:lnTo>
                      <a:lnTo>
                        <a:pt x="0" y="76"/>
                      </a:lnTo>
                      <a:lnTo>
                        <a:pt x="2" y="82"/>
                      </a:lnTo>
                      <a:lnTo>
                        <a:pt x="11" y="87"/>
                      </a:lnTo>
                      <a:lnTo>
                        <a:pt x="16" y="92"/>
                      </a:lnTo>
                      <a:lnTo>
                        <a:pt x="22" y="98"/>
                      </a:lnTo>
                      <a:close/>
                      <a:moveTo>
                        <a:pt x="38" y="55"/>
                      </a:moveTo>
                      <a:lnTo>
                        <a:pt x="46" y="52"/>
                      </a:lnTo>
                      <a:lnTo>
                        <a:pt x="46" y="55"/>
                      </a:lnTo>
                      <a:lnTo>
                        <a:pt x="46" y="57"/>
                      </a:lnTo>
                      <a:lnTo>
                        <a:pt x="46" y="60"/>
                      </a:lnTo>
                      <a:lnTo>
                        <a:pt x="46" y="62"/>
                      </a:lnTo>
                      <a:lnTo>
                        <a:pt x="38" y="55"/>
                      </a:lnTo>
                      <a:close/>
                    </a:path>
                  </a:pathLst>
                </a:custGeom>
                <a:solidFill>
                  <a:srgbClr val="AF8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42" name="Freeform 391"/>
                <p:cNvSpPr>
                  <a:spLocks noEditPoints="1"/>
                </p:cNvSpPr>
                <p:nvPr/>
              </p:nvSpPr>
              <p:spPr bwMode="auto">
                <a:xfrm>
                  <a:off x="4754" y="1249"/>
                  <a:ext cx="59" cy="26"/>
                </a:xfrm>
                <a:custGeom>
                  <a:avLst/>
                  <a:gdLst>
                    <a:gd name="T0" fmla="*/ 0 w 237"/>
                    <a:gd name="T1" fmla="*/ 0 h 103"/>
                    <a:gd name="T2" fmla="*/ 0 w 237"/>
                    <a:gd name="T3" fmla="*/ 0 h 103"/>
                    <a:gd name="T4" fmla="*/ 0 w 237"/>
                    <a:gd name="T5" fmla="*/ 0 h 103"/>
                    <a:gd name="T6" fmla="*/ 0 w 237"/>
                    <a:gd name="T7" fmla="*/ 0 h 103"/>
                    <a:gd name="T8" fmla="*/ 0 w 237"/>
                    <a:gd name="T9" fmla="*/ 0 h 103"/>
                    <a:gd name="T10" fmla="*/ 0 w 237"/>
                    <a:gd name="T11" fmla="*/ 0 h 103"/>
                    <a:gd name="T12" fmla="*/ 0 w 237"/>
                    <a:gd name="T13" fmla="*/ 0 h 103"/>
                    <a:gd name="T14" fmla="*/ 0 w 237"/>
                    <a:gd name="T15" fmla="*/ 0 h 103"/>
                    <a:gd name="T16" fmla="*/ 0 w 237"/>
                    <a:gd name="T17" fmla="*/ 0 h 103"/>
                    <a:gd name="T18" fmla="*/ 0 w 237"/>
                    <a:gd name="T19" fmla="*/ 0 h 103"/>
                    <a:gd name="T20" fmla="*/ 0 w 237"/>
                    <a:gd name="T21" fmla="*/ 0 h 103"/>
                    <a:gd name="T22" fmla="*/ 0 w 237"/>
                    <a:gd name="T23" fmla="*/ 0 h 103"/>
                    <a:gd name="T24" fmla="*/ 0 w 237"/>
                    <a:gd name="T25" fmla="*/ 0 h 103"/>
                    <a:gd name="T26" fmla="*/ 0 w 237"/>
                    <a:gd name="T27" fmla="*/ 0 h 103"/>
                    <a:gd name="T28" fmla="*/ 0 w 237"/>
                    <a:gd name="T29" fmla="*/ 0 h 103"/>
                    <a:gd name="T30" fmla="*/ 0 w 237"/>
                    <a:gd name="T31" fmla="*/ 0 h 103"/>
                    <a:gd name="T32" fmla="*/ 0 w 237"/>
                    <a:gd name="T33" fmla="*/ 0 h 103"/>
                    <a:gd name="T34" fmla="*/ 0 w 237"/>
                    <a:gd name="T35" fmla="*/ 0 h 103"/>
                    <a:gd name="T36" fmla="*/ 0 w 237"/>
                    <a:gd name="T37" fmla="*/ 0 h 103"/>
                    <a:gd name="T38" fmla="*/ 0 w 237"/>
                    <a:gd name="T39" fmla="*/ 0 h 103"/>
                    <a:gd name="T40" fmla="*/ 0 w 237"/>
                    <a:gd name="T41" fmla="*/ 0 h 103"/>
                    <a:gd name="T42" fmla="*/ 0 w 237"/>
                    <a:gd name="T43" fmla="*/ 0 h 103"/>
                    <a:gd name="T44" fmla="*/ 0 w 237"/>
                    <a:gd name="T45" fmla="*/ 0 h 103"/>
                    <a:gd name="T46" fmla="*/ 0 w 237"/>
                    <a:gd name="T47" fmla="*/ 0 h 103"/>
                    <a:gd name="T48" fmla="*/ 0 w 237"/>
                    <a:gd name="T49" fmla="*/ 0 h 103"/>
                    <a:gd name="T50" fmla="*/ 0 w 237"/>
                    <a:gd name="T51" fmla="*/ 0 h 103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237"/>
                    <a:gd name="T79" fmla="*/ 0 h 103"/>
                    <a:gd name="T80" fmla="*/ 237 w 237"/>
                    <a:gd name="T81" fmla="*/ 103 h 103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237" h="103">
                      <a:moveTo>
                        <a:pt x="223" y="41"/>
                      </a:moveTo>
                      <a:lnTo>
                        <a:pt x="90" y="79"/>
                      </a:lnTo>
                      <a:lnTo>
                        <a:pt x="66" y="62"/>
                      </a:lnTo>
                      <a:lnTo>
                        <a:pt x="60" y="62"/>
                      </a:lnTo>
                      <a:lnTo>
                        <a:pt x="55" y="62"/>
                      </a:lnTo>
                      <a:lnTo>
                        <a:pt x="48" y="65"/>
                      </a:lnTo>
                      <a:lnTo>
                        <a:pt x="46" y="71"/>
                      </a:lnTo>
                      <a:lnTo>
                        <a:pt x="46" y="74"/>
                      </a:lnTo>
                      <a:lnTo>
                        <a:pt x="46" y="76"/>
                      </a:lnTo>
                      <a:lnTo>
                        <a:pt x="46" y="79"/>
                      </a:lnTo>
                      <a:lnTo>
                        <a:pt x="46" y="81"/>
                      </a:lnTo>
                      <a:lnTo>
                        <a:pt x="20" y="62"/>
                      </a:lnTo>
                      <a:lnTo>
                        <a:pt x="237" y="0"/>
                      </a:lnTo>
                      <a:lnTo>
                        <a:pt x="233" y="9"/>
                      </a:lnTo>
                      <a:lnTo>
                        <a:pt x="231" y="19"/>
                      </a:lnTo>
                      <a:lnTo>
                        <a:pt x="226" y="30"/>
                      </a:lnTo>
                      <a:lnTo>
                        <a:pt x="223" y="41"/>
                      </a:lnTo>
                      <a:close/>
                      <a:moveTo>
                        <a:pt x="8" y="103"/>
                      </a:moveTo>
                      <a:lnTo>
                        <a:pt x="0" y="103"/>
                      </a:lnTo>
                      <a:lnTo>
                        <a:pt x="0" y="101"/>
                      </a:lnTo>
                      <a:lnTo>
                        <a:pt x="0" y="97"/>
                      </a:lnTo>
                      <a:lnTo>
                        <a:pt x="0" y="95"/>
                      </a:lnTo>
                      <a:lnTo>
                        <a:pt x="0" y="97"/>
                      </a:lnTo>
                      <a:lnTo>
                        <a:pt x="2" y="101"/>
                      </a:lnTo>
                      <a:lnTo>
                        <a:pt x="6" y="103"/>
                      </a:lnTo>
                      <a:lnTo>
                        <a:pt x="8" y="103"/>
                      </a:lnTo>
                      <a:close/>
                    </a:path>
                  </a:pathLst>
                </a:custGeom>
                <a:solidFill>
                  <a:srgbClr val="AA84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43" name="Freeform 392"/>
                <p:cNvSpPr>
                  <a:spLocks/>
                </p:cNvSpPr>
                <p:nvPr/>
              </p:nvSpPr>
              <p:spPr bwMode="auto">
                <a:xfrm>
                  <a:off x="4754" y="1244"/>
                  <a:ext cx="62" cy="24"/>
                </a:xfrm>
                <a:custGeom>
                  <a:avLst/>
                  <a:gdLst>
                    <a:gd name="T0" fmla="*/ 0 w 247"/>
                    <a:gd name="T1" fmla="*/ 0 h 95"/>
                    <a:gd name="T2" fmla="*/ 0 w 247"/>
                    <a:gd name="T3" fmla="*/ 0 h 95"/>
                    <a:gd name="T4" fmla="*/ 0 w 247"/>
                    <a:gd name="T5" fmla="*/ 0 h 95"/>
                    <a:gd name="T6" fmla="*/ 0 w 247"/>
                    <a:gd name="T7" fmla="*/ 0 h 95"/>
                    <a:gd name="T8" fmla="*/ 0 w 247"/>
                    <a:gd name="T9" fmla="*/ 0 h 95"/>
                    <a:gd name="T10" fmla="*/ 0 w 247"/>
                    <a:gd name="T11" fmla="*/ 0 h 95"/>
                    <a:gd name="T12" fmla="*/ 0 w 247"/>
                    <a:gd name="T13" fmla="*/ 0 h 95"/>
                    <a:gd name="T14" fmla="*/ 0 w 247"/>
                    <a:gd name="T15" fmla="*/ 0 h 95"/>
                    <a:gd name="T16" fmla="*/ 0 w 247"/>
                    <a:gd name="T17" fmla="*/ 0 h 95"/>
                    <a:gd name="T18" fmla="*/ 0 w 247"/>
                    <a:gd name="T19" fmla="*/ 0 h 95"/>
                    <a:gd name="T20" fmla="*/ 0 w 247"/>
                    <a:gd name="T21" fmla="*/ 0 h 95"/>
                    <a:gd name="T22" fmla="*/ 0 w 247"/>
                    <a:gd name="T23" fmla="*/ 0 h 95"/>
                    <a:gd name="T24" fmla="*/ 0 w 247"/>
                    <a:gd name="T25" fmla="*/ 0 h 95"/>
                    <a:gd name="T26" fmla="*/ 0 w 247"/>
                    <a:gd name="T27" fmla="*/ 0 h 95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47"/>
                    <a:gd name="T43" fmla="*/ 0 h 95"/>
                    <a:gd name="T44" fmla="*/ 247 w 247"/>
                    <a:gd name="T45" fmla="*/ 95 h 95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47" h="95">
                      <a:moveTo>
                        <a:pt x="231" y="40"/>
                      </a:moveTo>
                      <a:lnTo>
                        <a:pt x="68" y="86"/>
                      </a:lnTo>
                      <a:lnTo>
                        <a:pt x="66" y="83"/>
                      </a:lnTo>
                      <a:lnTo>
                        <a:pt x="60" y="83"/>
                      </a:lnTo>
                      <a:lnTo>
                        <a:pt x="55" y="83"/>
                      </a:lnTo>
                      <a:lnTo>
                        <a:pt x="48" y="86"/>
                      </a:lnTo>
                      <a:lnTo>
                        <a:pt x="46" y="92"/>
                      </a:lnTo>
                      <a:lnTo>
                        <a:pt x="38" y="95"/>
                      </a:lnTo>
                      <a:lnTo>
                        <a:pt x="0" y="70"/>
                      </a:lnTo>
                      <a:lnTo>
                        <a:pt x="247" y="0"/>
                      </a:lnTo>
                      <a:lnTo>
                        <a:pt x="242" y="7"/>
                      </a:lnTo>
                      <a:lnTo>
                        <a:pt x="237" y="18"/>
                      </a:lnTo>
                      <a:lnTo>
                        <a:pt x="233" y="30"/>
                      </a:lnTo>
                      <a:lnTo>
                        <a:pt x="231" y="40"/>
                      </a:lnTo>
                      <a:close/>
                    </a:path>
                  </a:pathLst>
                </a:custGeom>
                <a:solidFill>
                  <a:srgbClr val="A57C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44" name="Freeform 393"/>
                <p:cNvSpPr>
                  <a:spLocks/>
                </p:cNvSpPr>
                <p:nvPr/>
              </p:nvSpPr>
              <p:spPr bwMode="auto">
                <a:xfrm>
                  <a:off x="4751" y="1238"/>
                  <a:ext cx="67" cy="27"/>
                </a:xfrm>
                <a:custGeom>
                  <a:avLst/>
                  <a:gdLst>
                    <a:gd name="T0" fmla="*/ 0 w 268"/>
                    <a:gd name="T1" fmla="*/ 0 h 108"/>
                    <a:gd name="T2" fmla="*/ 0 w 268"/>
                    <a:gd name="T3" fmla="*/ 0 h 108"/>
                    <a:gd name="T4" fmla="*/ 0 w 268"/>
                    <a:gd name="T5" fmla="*/ 0 h 108"/>
                    <a:gd name="T6" fmla="*/ 0 w 268"/>
                    <a:gd name="T7" fmla="*/ 0 h 108"/>
                    <a:gd name="T8" fmla="*/ 0 w 268"/>
                    <a:gd name="T9" fmla="*/ 0 h 108"/>
                    <a:gd name="T10" fmla="*/ 0 w 268"/>
                    <a:gd name="T11" fmla="*/ 0 h 108"/>
                    <a:gd name="T12" fmla="*/ 0 w 268"/>
                    <a:gd name="T13" fmla="*/ 0 h 108"/>
                    <a:gd name="T14" fmla="*/ 0 w 268"/>
                    <a:gd name="T15" fmla="*/ 0 h 108"/>
                    <a:gd name="T16" fmla="*/ 0 w 268"/>
                    <a:gd name="T17" fmla="*/ 0 h 108"/>
                    <a:gd name="T18" fmla="*/ 0 w 268"/>
                    <a:gd name="T19" fmla="*/ 0 h 108"/>
                    <a:gd name="T20" fmla="*/ 0 w 268"/>
                    <a:gd name="T21" fmla="*/ 0 h 108"/>
                    <a:gd name="T22" fmla="*/ 0 w 268"/>
                    <a:gd name="T23" fmla="*/ 0 h 108"/>
                    <a:gd name="T24" fmla="*/ 0 w 268"/>
                    <a:gd name="T25" fmla="*/ 0 h 10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68"/>
                    <a:gd name="T40" fmla="*/ 0 h 108"/>
                    <a:gd name="T41" fmla="*/ 268 w 268"/>
                    <a:gd name="T42" fmla="*/ 108 h 108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68" h="108">
                      <a:moveTo>
                        <a:pt x="247" y="46"/>
                      </a:moveTo>
                      <a:lnTo>
                        <a:pt x="30" y="108"/>
                      </a:lnTo>
                      <a:lnTo>
                        <a:pt x="5" y="87"/>
                      </a:lnTo>
                      <a:lnTo>
                        <a:pt x="2" y="87"/>
                      </a:lnTo>
                      <a:lnTo>
                        <a:pt x="0" y="87"/>
                      </a:lnTo>
                      <a:lnTo>
                        <a:pt x="0" y="84"/>
                      </a:lnTo>
                      <a:lnTo>
                        <a:pt x="0" y="81"/>
                      </a:lnTo>
                      <a:lnTo>
                        <a:pt x="0" y="78"/>
                      </a:lnTo>
                      <a:lnTo>
                        <a:pt x="268" y="0"/>
                      </a:lnTo>
                      <a:lnTo>
                        <a:pt x="259" y="8"/>
                      </a:lnTo>
                      <a:lnTo>
                        <a:pt x="254" y="19"/>
                      </a:lnTo>
                      <a:lnTo>
                        <a:pt x="249" y="32"/>
                      </a:lnTo>
                      <a:lnTo>
                        <a:pt x="247" y="46"/>
                      </a:lnTo>
                      <a:close/>
                    </a:path>
                  </a:pathLst>
                </a:custGeom>
                <a:solidFill>
                  <a:srgbClr val="A37A5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45" name="Freeform 394"/>
                <p:cNvSpPr>
                  <a:spLocks/>
                </p:cNvSpPr>
                <p:nvPr/>
              </p:nvSpPr>
              <p:spPr bwMode="auto">
                <a:xfrm>
                  <a:off x="4751" y="1231"/>
                  <a:ext cx="72" cy="31"/>
                </a:xfrm>
                <a:custGeom>
                  <a:avLst/>
                  <a:gdLst>
                    <a:gd name="T0" fmla="*/ 0 w 287"/>
                    <a:gd name="T1" fmla="*/ 0 h 123"/>
                    <a:gd name="T2" fmla="*/ 0 w 287"/>
                    <a:gd name="T3" fmla="*/ 0 h 123"/>
                    <a:gd name="T4" fmla="*/ 0 w 287"/>
                    <a:gd name="T5" fmla="*/ 0 h 123"/>
                    <a:gd name="T6" fmla="*/ 0 w 287"/>
                    <a:gd name="T7" fmla="*/ 0 h 123"/>
                    <a:gd name="T8" fmla="*/ 0 w 287"/>
                    <a:gd name="T9" fmla="*/ 0 h 123"/>
                    <a:gd name="T10" fmla="*/ 0 w 287"/>
                    <a:gd name="T11" fmla="*/ 0 h 123"/>
                    <a:gd name="T12" fmla="*/ 0 w 287"/>
                    <a:gd name="T13" fmla="*/ 0 h 123"/>
                    <a:gd name="T14" fmla="*/ 0 w 287"/>
                    <a:gd name="T15" fmla="*/ 0 h 123"/>
                    <a:gd name="T16" fmla="*/ 0 w 287"/>
                    <a:gd name="T17" fmla="*/ 0 h 123"/>
                    <a:gd name="T18" fmla="*/ 0 w 287"/>
                    <a:gd name="T19" fmla="*/ 0 h 123"/>
                    <a:gd name="T20" fmla="*/ 0 w 287"/>
                    <a:gd name="T21" fmla="*/ 0 h 123"/>
                    <a:gd name="T22" fmla="*/ 0 w 287"/>
                    <a:gd name="T23" fmla="*/ 0 h 123"/>
                    <a:gd name="T24" fmla="*/ 0 w 287"/>
                    <a:gd name="T25" fmla="*/ 0 h 123"/>
                    <a:gd name="T26" fmla="*/ 0 w 287"/>
                    <a:gd name="T27" fmla="*/ 0 h 123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87"/>
                    <a:gd name="T43" fmla="*/ 0 h 123"/>
                    <a:gd name="T44" fmla="*/ 287 w 287"/>
                    <a:gd name="T45" fmla="*/ 123 h 123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87" h="123">
                      <a:moveTo>
                        <a:pt x="257" y="53"/>
                      </a:moveTo>
                      <a:lnTo>
                        <a:pt x="10" y="123"/>
                      </a:lnTo>
                      <a:lnTo>
                        <a:pt x="5" y="115"/>
                      </a:lnTo>
                      <a:lnTo>
                        <a:pt x="2" y="115"/>
                      </a:lnTo>
                      <a:lnTo>
                        <a:pt x="0" y="115"/>
                      </a:lnTo>
                      <a:lnTo>
                        <a:pt x="0" y="106"/>
                      </a:lnTo>
                      <a:lnTo>
                        <a:pt x="0" y="99"/>
                      </a:lnTo>
                      <a:lnTo>
                        <a:pt x="0" y="93"/>
                      </a:lnTo>
                      <a:lnTo>
                        <a:pt x="0" y="85"/>
                      </a:lnTo>
                      <a:lnTo>
                        <a:pt x="287" y="0"/>
                      </a:lnTo>
                      <a:lnTo>
                        <a:pt x="279" y="12"/>
                      </a:lnTo>
                      <a:lnTo>
                        <a:pt x="271" y="23"/>
                      </a:lnTo>
                      <a:lnTo>
                        <a:pt x="263" y="36"/>
                      </a:lnTo>
                      <a:lnTo>
                        <a:pt x="257" y="53"/>
                      </a:lnTo>
                      <a:close/>
                    </a:path>
                  </a:pathLst>
                </a:custGeom>
                <a:solidFill>
                  <a:srgbClr val="9E755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46" name="Freeform 395"/>
                <p:cNvSpPr>
                  <a:spLocks/>
                </p:cNvSpPr>
                <p:nvPr/>
              </p:nvSpPr>
              <p:spPr bwMode="auto">
                <a:xfrm>
                  <a:off x="4751" y="1224"/>
                  <a:ext cx="81" cy="33"/>
                </a:xfrm>
                <a:custGeom>
                  <a:avLst/>
                  <a:gdLst>
                    <a:gd name="T0" fmla="*/ 0 w 323"/>
                    <a:gd name="T1" fmla="*/ 0 h 132"/>
                    <a:gd name="T2" fmla="*/ 0 w 323"/>
                    <a:gd name="T3" fmla="*/ 0 h 132"/>
                    <a:gd name="T4" fmla="*/ 0 w 323"/>
                    <a:gd name="T5" fmla="*/ 0 h 132"/>
                    <a:gd name="T6" fmla="*/ 0 w 323"/>
                    <a:gd name="T7" fmla="*/ 0 h 132"/>
                    <a:gd name="T8" fmla="*/ 0 w 323"/>
                    <a:gd name="T9" fmla="*/ 0 h 132"/>
                    <a:gd name="T10" fmla="*/ 0 w 323"/>
                    <a:gd name="T11" fmla="*/ 0 h 132"/>
                    <a:gd name="T12" fmla="*/ 0 w 323"/>
                    <a:gd name="T13" fmla="*/ 0 h 132"/>
                    <a:gd name="T14" fmla="*/ 0 w 323"/>
                    <a:gd name="T15" fmla="*/ 0 h 132"/>
                    <a:gd name="T16" fmla="*/ 0 w 323"/>
                    <a:gd name="T17" fmla="*/ 0 h 132"/>
                    <a:gd name="T18" fmla="*/ 0 w 323"/>
                    <a:gd name="T19" fmla="*/ 0 h 132"/>
                    <a:gd name="T20" fmla="*/ 0 w 323"/>
                    <a:gd name="T21" fmla="*/ 0 h 13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23"/>
                    <a:gd name="T34" fmla="*/ 0 h 132"/>
                    <a:gd name="T35" fmla="*/ 323 w 323"/>
                    <a:gd name="T36" fmla="*/ 132 h 13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23" h="132">
                      <a:moveTo>
                        <a:pt x="268" y="54"/>
                      </a:moveTo>
                      <a:lnTo>
                        <a:pt x="0" y="132"/>
                      </a:lnTo>
                      <a:lnTo>
                        <a:pt x="0" y="121"/>
                      </a:lnTo>
                      <a:lnTo>
                        <a:pt x="2" y="111"/>
                      </a:lnTo>
                      <a:lnTo>
                        <a:pt x="2" y="100"/>
                      </a:lnTo>
                      <a:lnTo>
                        <a:pt x="2" y="89"/>
                      </a:lnTo>
                      <a:lnTo>
                        <a:pt x="323" y="0"/>
                      </a:lnTo>
                      <a:lnTo>
                        <a:pt x="307" y="13"/>
                      </a:lnTo>
                      <a:lnTo>
                        <a:pt x="293" y="24"/>
                      </a:lnTo>
                      <a:lnTo>
                        <a:pt x="279" y="38"/>
                      </a:lnTo>
                      <a:lnTo>
                        <a:pt x="268" y="54"/>
                      </a:lnTo>
                      <a:close/>
                    </a:path>
                  </a:pathLst>
                </a:custGeom>
                <a:solidFill>
                  <a:srgbClr val="99704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47" name="Freeform 396"/>
                <p:cNvSpPr>
                  <a:spLocks/>
                </p:cNvSpPr>
                <p:nvPr/>
              </p:nvSpPr>
              <p:spPr bwMode="auto">
                <a:xfrm>
                  <a:off x="4751" y="1217"/>
                  <a:ext cx="88" cy="35"/>
                </a:xfrm>
                <a:custGeom>
                  <a:avLst/>
                  <a:gdLst>
                    <a:gd name="T0" fmla="*/ 0 w 349"/>
                    <a:gd name="T1" fmla="*/ 0 h 138"/>
                    <a:gd name="T2" fmla="*/ 0 w 349"/>
                    <a:gd name="T3" fmla="*/ 0 h 138"/>
                    <a:gd name="T4" fmla="*/ 0 w 349"/>
                    <a:gd name="T5" fmla="*/ 0 h 138"/>
                    <a:gd name="T6" fmla="*/ 0 w 349"/>
                    <a:gd name="T7" fmla="*/ 0 h 138"/>
                    <a:gd name="T8" fmla="*/ 0 w 349"/>
                    <a:gd name="T9" fmla="*/ 0 h 138"/>
                    <a:gd name="T10" fmla="*/ 0 w 349"/>
                    <a:gd name="T11" fmla="*/ 0 h 138"/>
                    <a:gd name="T12" fmla="*/ 0 w 349"/>
                    <a:gd name="T13" fmla="*/ 0 h 138"/>
                    <a:gd name="T14" fmla="*/ 0 w 349"/>
                    <a:gd name="T15" fmla="*/ 0 h 138"/>
                    <a:gd name="T16" fmla="*/ 0 w 349"/>
                    <a:gd name="T17" fmla="*/ 0 h 138"/>
                    <a:gd name="T18" fmla="*/ 0 w 349"/>
                    <a:gd name="T19" fmla="*/ 0 h 138"/>
                    <a:gd name="T20" fmla="*/ 0 w 349"/>
                    <a:gd name="T21" fmla="*/ 0 h 138"/>
                    <a:gd name="T22" fmla="*/ 0 w 349"/>
                    <a:gd name="T23" fmla="*/ 0 h 138"/>
                    <a:gd name="T24" fmla="*/ 0 w 349"/>
                    <a:gd name="T25" fmla="*/ 0 h 138"/>
                    <a:gd name="T26" fmla="*/ 0 w 349"/>
                    <a:gd name="T27" fmla="*/ 0 h 138"/>
                    <a:gd name="T28" fmla="*/ 0 w 349"/>
                    <a:gd name="T29" fmla="*/ 0 h 13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349"/>
                    <a:gd name="T46" fmla="*/ 0 h 138"/>
                    <a:gd name="T47" fmla="*/ 349 w 349"/>
                    <a:gd name="T48" fmla="*/ 138 h 138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349" h="138">
                      <a:moveTo>
                        <a:pt x="287" y="53"/>
                      </a:moveTo>
                      <a:lnTo>
                        <a:pt x="0" y="138"/>
                      </a:lnTo>
                      <a:lnTo>
                        <a:pt x="2" y="127"/>
                      </a:lnTo>
                      <a:lnTo>
                        <a:pt x="2" y="116"/>
                      </a:lnTo>
                      <a:lnTo>
                        <a:pt x="2" y="106"/>
                      </a:lnTo>
                      <a:lnTo>
                        <a:pt x="5" y="97"/>
                      </a:lnTo>
                      <a:lnTo>
                        <a:pt x="339" y="0"/>
                      </a:lnTo>
                      <a:lnTo>
                        <a:pt x="342" y="2"/>
                      </a:lnTo>
                      <a:lnTo>
                        <a:pt x="344" y="5"/>
                      </a:lnTo>
                      <a:lnTo>
                        <a:pt x="347" y="5"/>
                      </a:lnTo>
                      <a:lnTo>
                        <a:pt x="349" y="7"/>
                      </a:lnTo>
                      <a:lnTo>
                        <a:pt x="330" y="18"/>
                      </a:lnTo>
                      <a:lnTo>
                        <a:pt x="314" y="30"/>
                      </a:lnTo>
                      <a:lnTo>
                        <a:pt x="301" y="43"/>
                      </a:lnTo>
                      <a:lnTo>
                        <a:pt x="287" y="53"/>
                      </a:lnTo>
                      <a:close/>
                    </a:path>
                  </a:pathLst>
                </a:custGeom>
                <a:solidFill>
                  <a:srgbClr val="93684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48" name="Freeform 397"/>
                <p:cNvSpPr>
                  <a:spLocks/>
                </p:cNvSpPr>
                <p:nvPr/>
              </p:nvSpPr>
              <p:spPr bwMode="auto">
                <a:xfrm>
                  <a:off x="4752" y="1215"/>
                  <a:ext cx="87" cy="32"/>
                </a:xfrm>
                <a:custGeom>
                  <a:avLst/>
                  <a:gdLst>
                    <a:gd name="T0" fmla="*/ 0 w 347"/>
                    <a:gd name="T1" fmla="*/ 0 h 128"/>
                    <a:gd name="T2" fmla="*/ 0 w 347"/>
                    <a:gd name="T3" fmla="*/ 0 h 128"/>
                    <a:gd name="T4" fmla="*/ 0 w 347"/>
                    <a:gd name="T5" fmla="*/ 0 h 128"/>
                    <a:gd name="T6" fmla="*/ 0 w 347"/>
                    <a:gd name="T7" fmla="*/ 0 h 128"/>
                    <a:gd name="T8" fmla="*/ 0 w 347"/>
                    <a:gd name="T9" fmla="*/ 0 h 128"/>
                    <a:gd name="T10" fmla="*/ 0 w 347"/>
                    <a:gd name="T11" fmla="*/ 0 h 128"/>
                    <a:gd name="T12" fmla="*/ 0 w 347"/>
                    <a:gd name="T13" fmla="*/ 0 h 128"/>
                    <a:gd name="T14" fmla="*/ 0 w 347"/>
                    <a:gd name="T15" fmla="*/ 0 h 128"/>
                    <a:gd name="T16" fmla="*/ 0 w 347"/>
                    <a:gd name="T17" fmla="*/ 0 h 128"/>
                    <a:gd name="T18" fmla="*/ 0 w 347"/>
                    <a:gd name="T19" fmla="*/ 0 h 128"/>
                    <a:gd name="T20" fmla="*/ 0 w 347"/>
                    <a:gd name="T21" fmla="*/ 0 h 128"/>
                    <a:gd name="T22" fmla="*/ 0 w 347"/>
                    <a:gd name="T23" fmla="*/ 0 h 128"/>
                    <a:gd name="T24" fmla="*/ 0 w 347"/>
                    <a:gd name="T25" fmla="*/ 0 h 128"/>
                    <a:gd name="T26" fmla="*/ 0 w 347"/>
                    <a:gd name="T27" fmla="*/ 0 h 128"/>
                    <a:gd name="T28" fmla="*/ 0 w 347"/>
                    <a:gd name="T29" fmla="*/ 0 h 128"/>
                    <a:gd name="T30" fmla="*/ 0 w 347"/>
                    <a:gd name="T31" fmla="*/ 0 h 128"/>
                    <a:gd name="T32" fmla="*/ 0 w 347"/>
                    <a:gd name="T33" fmla="*/ 0 h 128"/>
                    <a:gd name="T34" fmla="*/ 0 w 347"/>
                    <a:gd name="T35" fmla="*/ 0 h 128"/>
                    <a:gd name="T36" fmla="*/ 0 w 347"/>
                    <a:gd name="T37" fmla="*/ 0 h 12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347"/>
                    <a:gd name="T58" fmla="*/ 0 h 128"/>
                    <a:gd name="T59" fmla="*/ 347 w 347"/>
                    <a:gd name="T60" fmla="*/ 128 h 128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347" h="128">
                      <a:moveTo>
                        <a:pt x="321" y="39"/>
                      </a:moveTo>
                      <a:lnTo>
                        <a:pt x="0" y="128"/>
                      </a:lnTo>
                      <a:lnTo>
                        <a:pt x="3" y="118"/>
                      </a:lnTo>
                      <a:lnTo>
                        <a:pt x="5" y="106"/>
                      </a:lnTo>
                      <a:lnTo>
                        <a:pt x="8" y="98"/>
                      </a:lnTo>
                      <a:lnTo>
                        <a:pt x="10" y="88"/>
                      </a:lnTo>
                      <a:lnTo>
                        <a:pt x="317" y="0"/>
                      </a:lnTo>
                      <a:lnTo>
                        <a:pt x="321" y="3"/>
                      </a:lnTo>
                      <a:lnTo>
                        <a:pt x="323" y="3"/>
                      </a:lnTo>
                      <a:lnTo>
                        <a:pt x="326" y="5"/>
                      </a:lnTo>
                      <a:lnTo>
                        <a:pt x="328" y="9"/>
                      </a:lnTo>
                      <a:lnTo>
                        <a:pt x="334" y="12"/>
                      </a:lnTo>
                      <a:lnTo>
                        <a:pt x="340" y="14"/>
                      </a:lnTo>
                      <a:lnTo>
                        <a:pt x="342" y="17"/>
                      </a:lnTo>
                      <a:lnTo>
                        <a:pt x="347" y="19"/>
                      </a:lnTo>
                      <a:lnTo>
                        <a:pt x="342" y="25"/>
                      </a:lnTo>
                      <a:lnTo>
                        <a:pt x="334" y="28"/>
                      </a:lnTo>
                      <a:lnTo>
                        <a:pt x="326" y="33"/>
                      </a:lnTo>
                      <a:lnTo>
                        <a:pt x="321" y="39"/>
                      </a:lnTo>
                      <a:close/>
                    </a:path>
                  </a:pathLst>
                </a:custGeom>
                <a:solidFill>
                  <a:srgbClr val="91664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49" name="Freeform 398"/>
                <p:cNvSpPr>
                  <a:spLocks/>
                </p:cNvSpPr>
                <p:nvPr/>
              </p:nvSpPr>
              <p:spPr bwMode="auto">
                <a:xfrm>
                  <a:off x="4752" y="1211"/>
                  <a:ext cx="84" cy="31"/>
                </a:xfrm>
                <a:custGeom>
                  <a:avLst/>
                  <a:gdLst>
                    <a:gd name="T0" fmla="*/ 0 w 334"/>
                    <a:gd name="T1" fmla="*/ 0 h 122"/>
                    <a:gd name="T2" fmla="*/ 0 w 334"/>
                    <a:gd name="T3" fmla="*/ 0 h 122"/>
                    <a:gd name="T4" fmla="*/ 0 w 334"/>
                    <a:gd name="T5" fmla="*/ 0 h 122"/>
                    <a:gd name="T6" fmla="*/ 0 w 334"/>
                    <a:gd name="T7" fmla="*/ 0 h 122"/>
                    <a:gd name="T8" fmla="*/ 0 w 334"/>
                    <a:gd name="T9" fmla="*/ 0 h 122"/>
                    <a:gd name="T10" fmla="*/ 0 w 334"/>
                    <a:gd name="T11" fmla="*/ 0 h 122"/>
                    <a:gd name="T12" fmla="*/ 0 w 334"/>
                    <a:gd name="T13" fmla="*/ 0 h 122"/>
                    <a:gd name="T14" fmla="*/ 0 w 334"/>
                    <a:gd name="T15" fmla="*/ 0 h 122"/>
                    <a:gd name="T16" fmla="*/ 0 w 334"/>
                    <a:gd name="T17" fmla="*/ 0 h 122"/>
                    <a:gd name="T18" fmla="*/ 0 w 334"/>
                    <a:gd name="T19" fmla="*/ 0 h 122"/>
                    <a:gd name="T20" fmla="*/ 0 w 334"/>
                    <a:gd name="T21" fmla="*/ 0 h 122"/>
                    <a:gd name="T22" fmla="*/ 0 w 334"/>
                    <a:gd name="T23" fmla="*/ 0 h 122"/>
                    <a:gd name="T24" fmla="*/ 0 w 334"/>
                    <a:gd name="T25" fmla="*/ 0 h 122"/>
                    <a:gd name="T26" fmla="*/ 0 w 334"/>
                    <a:gd name="T27" fmla="*/ 0 h 122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34"/>
                    <a:gd name="T43" fmla="*/ 0 h 122"/>
                    <a:gd name="T44" fmla="*/ 334 w 334"/>
                    <a:gd name="T45" fmla="*/ 122 h 122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34" h="122">
                      <a:moveTo>
                        <a:pt x="334" y="25"/>
                      </a:moveTo>
                      <a:lnTo>
                        <a:pt x="0" y="122"/>
                      </a:lnTo>
                      <a:lnTo>
                        <a:pt x="5" y="111"/>
                      </a:lnTo>
                      <a:lnTo>
                        <a:pt x="11" y="98"/>
                      </a:lnTo>
                      <a:lnTo>
                        <a:pt x="18" y="87"/>
                      </a:lnTo>
                      <a:lnTo>
                        <a:pt x="25" y="76"/>
                      </a:lnTo>
                      <a:lnTo>
                        <a:pt x="290" y="0"/>
                      </a:lnTo>
                      <a:lnTo>
                        <a:pt x="298" y="6"/>
                      </a:lnTo>
                      <a:lnTo>
                        <a:pt x="309" y="11"/>
                      </a:lnTo>
                      <a:lnTo>
                        <a:pt x="318" y="16"/>
                      </a:lnTo>
                      <a:lnTo>
                        <a:pt x="325" y="22"/>
                      </a:lnTo>
                      <a:lnTo>
                        <a:pt x="328" y="22"/>
                      </a:lnTo>
                      <a:lnTo>
                        <a:pt x="331" y="22"/>
                      </a:lnTo>
                      <a:lnTo>
                        <a:pt x="334" y="25"/>
                      </a:lnTo>
                      <a:close/>
                    </a:path>
                  </a:pathLst>
                </a:custGeom>
                <a:solidFill>
                  <a:srgbClr val="8C604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50" name="Freeform 399"/>
                <p:cNvSpPr>
                  <a:spLocks/>
                </p:cNvSpPr>
                <p:nvPr/>
              </p:nvSpPr>
              <p:spPr bwMode="auto">
                <a:xfrm>
                  <a:off x="4754" y="1208"/>
                  <a:ext cx="77" cy="28"/>
                </a:xfrm>
                <a:custGeom>
                  <a:avLst/>
                  <a:gdLst>
                    <a:gd name="T0" fmla="*/ 0 w 307"/>
                    <a:gd name="T1" fmla="*/ 0 h 115"/>
                    <a:gd name="T2" fmla="*/ 0 w 307"/>
                    <a:gd name="T3" fmla="*/ 0 h 115"/>
                    <a:gd name="T4" fmla="*/ 0 w 307"/>
                    <a:gd name="T5" fmla="*/ 0 h 115"/>
                    <a:gd name="T6" fmla="*/ 0 w 307"/>
                    <a:gd name="T7" fmla="*/ 0 h 115"/>
                    <a:gd name="T8" fmla="*/ 0 w 307"/>
                    <a:gd name="T9" fmla="*/ 0 h 115"/>
                    <a:gd name="T10" fmla="*/ 0 w 307"/>
                    <a:gd name="T11" fmla="*/ 0 h 115"/>
                    <a:gd name="T12" fmla="*/ 0 w 307"/>
                    <a:gd name="T13" fmla="*/ 0 h 115"/>
                    <a:gd name="T14" fmla="*/ 0 w 307"/>
                    <a:gd name="T15" fmla="*/ 0 h 115"/>
                    <a:gd name="T16" fmla="*/ 0 w 307"/>
                    <a:gd name="T17" fmla="*/ 0 h 115"/>
                    <a:gd name="T18" fmla="*/ 0 w 307"/>
                    <a:gd name="T19" fmla="*/ 0 h 115"/>
                    <a:gd name="T20" fmla="*/ 0 w 307"/>
                    <a:gd name="T21" fmla="*/ 0 h 11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07"/>
                    <a:gd name="T34" fmla="*/ 0 h 115"/>
                    <a:gd name="T35" fmla="*/ 307 w 307"/>
                    <a:gd name="T36" fmla="*/ 115 h 115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07" h="115">
                      <a:moveTo>
                        <a:pt x="307" y="27"/>
                      </a:moveTo>
                      <a:lnTo>
                        <a:pt x="0" y="115"/>
                      </a:lnTo>
                      <a:lnTo>
                        <a:pt x="6" y="104"/>
                      </a:lnTo>
                      <a:lnTo>
                        <a:pt x="14" y="90"/>
                      </a:lnTo>
                      <a:lnTo>
                        <a:pt x="23" y="79"/>
                      </a:lnTo>
                      <a:lnTo>
                        <a:pt x="34" y="69"/>
                      </a:lnTo>
                      <a:lnTo>
                        <a:pt x="256" y="0"/>
                      </a:lnTo>
                      <a:lnTo>
                        <a:pt x="270" y="6"/>
                      </a:lnTo>
                      <a:lnTo>
                        <a:pt x="283" y="11"/>
                      </a:lnTo>
                      <a:lnTo>
                        <a:pt x="295" y="20"/>
                      </a:lnTo>
                      <a:lnTo>
                        <a:pt x="307" y="27"/>
                      </a:lnTo>
                      <a:close/>
                    </a:path>
                  </a:pathLst>
                </a:custGeom>
                <a:solidFill>
                  <a:srgbClr val="895B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51" name="Freeform 400"/>
                <p:cNvSpPr>
                  <a:spLocks/>
                </p:cNvSpPr>
                <p:nvPr/>
              </p:nvSpPr>
              <p:spPr bwMode="auto">
                <a:xfrm>
                  <a:off x="4759" y="1206"/>
                  <a:ext cx="66" cy="24"/>
                </a:xfrm>
                <a:custGeom>
                  <a:avLst/>
                  <a:gdLst>
                    <a:gd name="T0" fmla="*/ 0 w 265"/>
                    <a:gd name="T1" fmla="*/ 0 h 98"/>
                    <a:gd name="T2" fmla="*/ 0 w 265"/>
                    <a:gd name="T3" fmla="*/ 0 h 98"/>
                    <a:gd name="T4" fmla="*/ 0 w 265"/>
                    <a:gd name="T5" fmla="*/ 0 h 98"/>
                    <a:gd name="T6" fmla="*/ 0 w 265"/>
                    <a:gd name="T7" fmla="*/ 0 h 98"/>
                    <a:gd name="T8" fmla="*/ 0 w 265"/>
                    <a:gd name="T9" fmla="*/ 0 h 98"/>
                    <a:gd name="T10" fmla="*/ 0 w 265"/>
                    <a:gd name="T11" fmla="*/ 0 h 98"/>
                    <a:gd name="T12" fmla="*/ 0 w 265"/>
                    <a:gd name="T13" fmla="*/ 0 h 98"/>
                    <a:gd name="T14" fmla="*/ 0 w 265"/>
                    <a:gd name="T15" fmla="*/ 0 h 98"/>
                    <a:gd name="T16" fmla="*/ 0 w 265"/>
                    <a:gd name="T17" fmla="*/ 0 h 98"/>
                    <a:gd name="T18" fmla="*/ 0 w 265"/>
                    <a:gd name="T19" fmla="*/ 0 h 98"/>
                    <a:gd name="T20" fmla="*/ 0 w 265"/>
                    <a:gd name="T21" fmla="*/ 0 h 9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65"/>
                    <a:gd name="T34" fmla="*/ 0 h 98"/>
                    <a:gd name="T35" fmla="*/ 265 w 265"/>
                    <a:gd name="T36" fmla="*/ 98 h 9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65" h="98">
                      <a:moveTo>
                        <a:pt x="265" y="22"/>
                      </a:moveTo>
                      <a:lnTo>
                        <a:pt x="0" y="98"/>
                      </a:lnTo>
                      <a:lnTo>
                        <a:pt x="7" y="82"/>
                      </a:lnTo>
                      <a:lnTo>
                        <a:pt x="16" y="68"/>
                      </a:lnTo>
                      <a:lnTo>
                        <a:pt x="26" y="57"/>
                      </a:lnTo>
                      <a:lnTo>
                        <a:pt x="37" y="47"/>
                      </a:lnTo>
                      <a:lnTo>
                        <a:pt x="200" y="0"/>
                      </a:lnTo>
                      <a:lnTo>
                        <a:pt x="217" y="3"/>
                      </a:lnTo>
                      <a:lnTo>
                        <a:pt x="233" y="8"/>
                      </a:lnTo>
                      <a:lnTo>
                        <a:pt x="249" y="14"/>
                      </a:lnTo>
                      <a:lnTo>
                        <a:pt x="265" y="22"/>
                      </a:lnTo>
                      <a:close/>
                    </a:path>
                  </a:pathLst>
                </a:custGeom>
                <a:solidFill>
                  <a:srgbClr val="84563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52" name="Freeform 401"/>
                <p:cNvSpPr>
                  <a:spLocks/>
                </p:cNvSpPr>
                <p:nvPr/>
              </p:nvSpPr>
              <p:spPr bwMode="auto">
                <a:xfrm>
                  <a:off x="4763" y="1205"/>
                  <a:ext cx="55" cy="20"/>
                </a:xfrm>
                <a:custGeom>
                  <a:avLst/>
                  <a:gdLst>
                    <a:gd name="T0" fmla="*/ 0 w 222"/>
                    <a:gd name="T1" fmla="*/ 0 h 79"/>
                    <a:gd name="T2" fmla="*/ 0 w 222"/>
                    <a:gd name="T3" fmla="*/ 0 h 79"/>
                    <a:gd name="T4" fmla="*/ 0 w 222"/>
                    <a:gd name="T5" fmla="*/ 0 h 79"/>
                    <a:gd name="T6" fmla="*/ 0 w 222"/>
                    <a:gd name="T7" fmla="*/ 0 h 79"/>
                    <a:gd name="T8" fmla="*/ 0 w 222"/>
                    <a:gd name="T9" fmla="*/ 0 h 79"/>
                    <a:gd name="T10" fmla="*/ 0 w 222"/>
                    <a:gd name="T11" fmla="*/ 0 h 79"/>
                    <a:gd name="T12" fmla="*/ 0 w 222"/>
                    <a:gd name="T13" fmla="*/ 0 h 79"/>
                    <a:gd name="T14" fmla="*/ 0 w 222"/>
                    <a:gd name="T15" fmla="*/ 0 h 79"/>
                    <a:gd name="T16" fmla="*/ 0 w 222"/>
                    <a:gd name="T17" fmla="*/ 0 h 79"/>
                    <a:gd name="T18" fmla="*/ 0 w 222"/>
                    <a:gd name="T19" fmla="*/ 0 h 79"/>
                    <a:gd name="T20" fmla="*/ 0 w 222"/>
                    <a:gd name="T21" fmla="*/ 0 h 79"/>
                    <a:gd name="T22" fmla="*/ 0 w 222"/>
                    <a:gd name="T23" fmla="*/ 0 h 79"/>
                    <a:gd name="T24" fmla="*/ 0 w 222"/>
                    <a:gd name="T25" fmla="*/ 0 h 79"/>
                    <a:gd name="T26" fmla="*/ 0 w 222"/>
                    <a:gd name="T27" fmla="*/ 0 h 79"/>
                    <a:gd name="T28" fmla="*/ 0 w 222"/>
                    <a:gd name="T29" fmla="*/ 0 h 79"/>
                    <a:gd name="T30" fmla="*/ 0 w 222"/>
                    <a:gd name="T31" fmla="*/ 0 h 79"/>
                    <a:gd name="T32" fmla="*/ 0 w 222"/>
                    <a:gd name="T33" fmla="*/ 0 h 79"/>
                    <a:gd name="T34" fmla="*/ 0 w 222"/>
                    <a:gd name="T35" fmla="*/ 0 h 79"/>
                    <a:gd name="T36" fmla="*/ 0 w 222"/>
                    <a:gd name="T37" fmla="*/ 0 h 79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222"/>
                    <a:gd name="T58" fmla="*/ 0 h 79"/>
                    <a:gd name="T59" fmla="*/ 222 w 222"/>
                    <a:gd name="T60" fmla="*/ 79 h 79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222" h="79">
                      <a:moveTo>
                        <a:pt x="222" y="10"/>
                      </a:moveTo>
                      <a:lnTo>
                        <a:pt x="0" y="79"/>
                      </a:lnTo>
                      <a:lnTo>
                        <a:pt x="7" y="67"/>
                      </a:lnTo>
                      <a:lnTo>
                        <a:pt x="19" y="54"/>
                      </a:lnTo>
                      <a:lnTo>
                        <a:pt x="30" y="46"/>
                      </a:lnTo>
                      <a:lnTo>
                        <a:pt x="40" y="35"/>
                      </a:lnTo>
                      <a:lnTo>
                        <a:pt x="54" y="26"/>
                      </a:lnTo>
                      <a:lnTo>
                        <a:pt x="67" y="19"/>
                      </a:lnTo>
                      <a:lnTo>
                        <a:pt x="81" y="13"/>
                      </a:lnTo>
                      <a:lnTo>
                        <a:pt x="95" y="7"/>
                      </a:lnTo>
                      <a:lnTo>
                        <a:pt x="102" y="7"/>
                      </a:lnTo>
                      <a:lnTo>
                        <a:pt x="116" y="2"/>
                      </a:lnTo>
                      <a:lnTo>
                        <a:pt x="130" y="0"/>
                      </a:lnTo>
                      <a:lnTo>
                        <a:pt x="143" y="0"/>
                      </a:lnTo>
                      <a:lnTo>
                        <a:pt x="160" y="0"/>
                      </a:lnTo>
                      <a:lnTo>
                        <a:pt x="173" y="2"/>
                      </a:lnTo>
                      <a:lnTo>
                        <a:pt x="190" y="2"/>
                      </a:lnTo>
                      <a:lnTo>
                        <a:pt x="206" y="7"/>
                      </a:lnTo>
                      <a:lnTo>
                        <a:pt x="222" y="10"/>
                      </a:lnTo>
                      <a:close/>
                    </a:path>
                  </a:pathLst>
                </a:custGeom>
                <a:solidFill>
                  <a:srgbClr val="82543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53" name="Freeform 402"/>
                <p:cNvSpPr>
                  <a:spLocks/>
                </p:cNvSpPr>
                <p:nvPr/>
              </p:nvSpPr>
              <p:spPr bwMode="auto">
                <a:xfrm>
                  <a:off x="4768" y="1205"/>
                  <a:ext cx="41" cy="12"/>
                </a:xfrm>
                <a:custGeom>
                  <a:avLst/>
                  <a:gdLst>
                    <a:gd name="T0" fmla="*/ 0 w 163"/>
                    <a:gd name="T1" fmla="*/ 0 h 49"/>
                    <a:gd name="T2" fmla="*/ 0 w 163"/>
                    <a:gd name="T3" fmla="*/ 0 h 49"/>
                    <a:gd name="T4" fmla="*/ 0 w 163"/>
                    <a:gd name="T5" fmla="*/ 0 h 49"/>
                    <a:gd name="T6" fmla="*/ 0 w 163"/>
                    <a:gd name="T7" fmla="*/ 0 h 49"/>
                    <a:gd name="T8" fmla="*/ 0 w 163"/>
                    <a:gd name="T9" fmla="*/ 0 h 49"/>
                    <a:gd name="T10" fmla="*/ 0 w 163"/>
                    <a:gd name="T11" fmla="*/ 0 h 49"/>
                    <a:gd name="T12" fmla="*/ 0 w 163"/>
                    <a:gd name="T13" fmla="*/ 0 h 49"/>
                    <a:gd name="T14" fmla="*/ 0 w 163"/>
                    <a:gd name="T15" fmla="*/ 0 h 49"/>
                    <a:gd name="T16" fmla="*/ 0 w 163"/>
                    <a:gd name="T17" fmla="*/ 0 h 49"/>
                    <a:gd name="T18" fmla="*/ 0 w 163"/>
                    <a:gd name="T19" fmla="*/ 0 h 49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63"/>
                    <a:gd name="T31" fmla="*/ 0 h 49"/>
                    <a:gd name="T32" fmla="*/ 163 w 163"/>
                    <a:gd name="T33" fmla="*/ 49 h 49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63" h="49">
                      <a:moveTo>
                        <a:pt x="163" y="2"/>
                      </a:moveTo>
                      <a:lnTo>
                        <a:pt x="0" y="49"/>
                      </a:lnTo>
                      <a:lnTo>
                        <a:pt x="16" y="35"/>
                      </a:lnTo>
                      <a:lnTo>
                        <a:pt x="35" y="24"/>
                      </a:lnTo>
                      <a:lnTo>
                        <a:pt x="55" y="16"/>
                      </a:lnTo>
                      <a:lnTo>
                        <a:pt x="74" y="7"/>
                      </a:lnTo>
                      <a:lnTo>
                        <a:pt x="95" y="2"/>
                      </a:lnTo>
                      <a:lnTo>
                        <a:pt x="117" y="0"/>
                      </a:lnTo>
                      <a:lnTo>
                        <a:pt x="139" y="0"/>
                      </a:lnTo>
                      <a:lnTo>
                        <a:pt x="163" y="2"/>
                      </a:lnTo>
                      <a:close/>
                    </a:path>
                  </a:pathLst>
                </a:custGeom>
                <a:solidFill>
                  <a:srgbClr val="7C4F3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54" name="Freeform 403"/>
                <p:cNvSpPr>
                  <a:spLocks/>
                </p:cNvSpPr>
                <p:nvPr/>
              </p:nvSpPr>
              <p:spPr bwMode="auto">
                <a:xfrm>
                  <a:off x="4786" y="1207"/>
                  <a:ext cx="2" cy="1"/>
                </a:xfrm>
                <a:custGeom>
                  <a:avLst/>
                  <a:gdLst>
                    <a:gd name="T0" fmla="*/ 0 w 7"/>
                    <a:gd name="T1" fmla="*/ 0 h 1"/>
                    <a:gd name="T2" fmla="*/ 0 w 7"/>
                    <a:gd name="T3" fmla="*/ 0 h 1"/>
                    <a:gd name="T4" fmla="*/ 0 w 7"/>
                    <a:gd name="T5" fmla="*/ 0 h 1"/>
                    <a:gd name="T6" fmla="*/ 0 w 7"/>
                    <a:gd name="T7" fmla="*/ 0 h 1"/>
                    <a:gd name="T8" fmla="*/ 0 w 7"/>
                    <a:gd name="T9" fmla="*/ 0 h 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"/>
                    <a:gd name="T16" fmla="*/ 0 h 1"/>
                    <a:gd name="T17" fmla="*/ 7 w 7"/>
                    <a:gd name="T18" fmla="*/ 1 h 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" h="1">
                      <a:moveTo>
                        <a:pt x="7" y="0"/>
                      </a:move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5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77493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55" name="Freeform 404"/>
                <p:cNvSpPr>
                  <a:spLocks/>
                </p:cNvSpPr>
                <p:nvPr/>
              </p:nvSpPr>
              <p:spPr bwMode="auto">
                <a:xfrm>
                  <a:off x="4821" y="1229"/>
                  <a:ext cx="30" cy="61"/>
                </a:xfrm>
                <a:custGeom>
                  <a:avLst/>
                  <a:gdLst>
                    <a:gd name="T0" fmla="*/ 0 w 122"/>
                    <a:gd name="T1" fmla="*/ 0 h 244"/>
                    <a:gd name="T2" fmla="*/ 0 w 122"/>
                    <a:gd name="T3" fmla="*/ 0 h 244"/>
                    <a:gd name="T4" fmla="*/ 0 w 122"/>
                    <a:gd name="T5" fmla="*/ 0 h 244"/>
                    <a:gd name="T6" fmla="*/ 0 w 122"/>
                    <a:gd name="T7" fmla="*/ 0 h 244"/>
                    <a:gd name="T8" fmla="*/ 0 w 122"/>
                    <a:gd name="T9" fmla="*/ 0 h 244"/>
                    <a:gd name="T10" fmla="*/ 0 w 122"/>
                    <a:gd name="T11" fmla="*/ 0 h 244"/>
                    <a:gd name="T12" fmla="*/ 0 w 122"/>
                    <a:gd name="T13" fmla="*/ 0 h 244"/>
                    <a:gd name="T14" fmla="*/ 0 w 122"/>
                    <a:gd name="T15" fmla="*/ 0 h 244"/>
                    <a:gd name="T16" fmla="*/ 0 w 122"/>
                    <a:gd name="T17" fmla="*/ 0 h 244"/>
                    <a:gd name="T18" fmla="*/ 0 w 122"/>
                    <a:gd name="T19" fmla="*/ 0 h 244"/>
                    <a:gd name="T20" fmla="*/ 0 w 122"/>
                    <a:gd name="T21" fmla="*/ 0 h 244"/>
                    <a:gd name="T22" fmla="*/ 0 w 122"/>
                    <a:gd name="T23" fmla="*/ 0 h 244"/>
                    <a:gd name="T24" fmla="*/ 0 w 122"/>
                    <a:gd name="T25" fmla="*/ 0 h 244"/>
                    <a:gd name="T26" fmla="*/ 0 w 122"/>
                    <a:gd name="T27" fmla="*/ 0 h 244"/>
                    <a:gd name="T28" fmla="*/ 0 w 122"/>
                    <a:gd name="T29" fmla="*/ 0 h 244"/>
                    <a:gd name="T30" fmla="*/ 0 w 122"/>
                    <a:gd name="T31" fmla="*/ 0 h 244"/>
                    <a:gd name="T32" fmla="*/ 0 w 122"/>
                    <a:gd name="T33" fmla="*/ 0 h 244"/>
                    <a:gd name="T34" fmla="*/ 0 w 122"/>
                    <a:gd name="T35" fmla="*/ 0 h 244"/>
                    <a:gd name="T36" fmla="*/ 0 w 122"/>
                    <a:gd name="T37" fmla="*/ 0 h 244"/>
                    <a:gd name="T38" fmla="*/ 0 w 122"/>
                    <a:gd name="T39" fmla="*/ 0 h 244"/>
                    <a:gd name="T40" fmla="*/ 0 w 122"/>
                    <a:gd name="T41" fmla="*/ 0 h 24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122"/>
                    <a:gd name="T64" fmla="*/ 0 h 244"/>
                    <a:gd name="T65" fmla="*/ 122 w 122"/>
                    <a:gd name="T66" fmla="*/ 244 h 244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122" h="244">
                      <a:moveTo>
                        <a:pt x="16" y="184"/>
                      </a:moveTo>
                      <a:lnTo>
                        <a:pt x="28" y="196"/>
                      </a:lnTo>
                      <a:lnTo>
                        <a:pt x="38" y="206"/>
                      </a:lnTo>
                      <a:lnTo>
                        <a:pt x="49" y="214"/>
                      </a:lnTo>
                      <a:lnTo>
                        <a:pt x="60" y="222"/>
                      </a:lnTo>
                      <a:lnTo>
                        <a:pt x="74" y="228"/>
                      </a:lnTo>
                      <a:lnTo>
                        <a:pt x="86" y="233"/>
                      </a:lnTo>
                      <a:lnTo>
                        <a:pt x="100" y="238"/>
                      </a:lnTo>
                      <a:lnTo>
                        <a:pt x="116" y="244"/>
                      </a:lnTo>
                      <a:lnTo>
                        <a:pt x="122" y="184"/>
                      </a:lnTo>
                      <a:lnTo>
                        <a:pt x="122" y="125"/>
                      </a:lnTo>
                      <a:lnTo>
                        <a:pt x="120" y="65"/>
                      </a:lnTo>
                      <a:lnTo>
                        <a:pt x="109" y="5"/>
                      </a:lnTo>
                      <a:lnTo>
                        <a:pt x="86" y="0"/>
                      </a:lnTo>
                      <a:lnTo>
                        <a:pt x="63" y="10"/>
                      </a:lnTo>
                      <a:lnTo>
                        <a:pt x="38" y="30"/>
                      </a:lnTo>
                      <a:lnTo>
                        <a:pt x="19" y="56"/>
                      </a:lnTo>
                      <a:lnTo>
                        <a:pt x="5" y="92"/>
                      </a:lnTo>
                      <a:lnTo>
                        <a:pt x="0" y="125"/>
                      </a:lnTo>
                      <a:lnTo>
                        <a:pt x="3" y="157"/>
                      </a:lnTo>
                      <a:lnTo>
                        <a:pt x="16" y="184"/>
                      </a:lnTo>
                      <a:close/>
                    </a:path>
                  </a:pathLst>
                </a:custGeom>
                <a:solidFill>
                  <a:srgbClr val="C99E8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56" name="Freeform 405"/>
                <p:cNvSpPr>
                  <a:spLocks/>
                </p:cNvSpPr>
                <p:nvPr/>
              </p:nvSpPr>
              <p:spPr bwMode="auto">
                <a:xfrm>
                  <a:off x="4828" y="1238"/>
                  <a:ext cx="23" cy="52"/>
                </a:xfrm>
                <a:custGeom>
                  <a:avLst/>
                  <a:gdLst>
                    <a:gd name="T0" fmla="*/ 0 w 92"/>
                    <a:gd name="T1" fmla="*/ 0 h 207"/>
                    <a:gd name="T2" fmla="*/ 0 w 92"/>
                    <a:gd name="T3" fmla="*/ 0 h 207"/>
                    <a:gd name="T4" fmla="*/ 0 w 92"/>
                    <a:gd name="T5" fmla="*/ 0 h 207"/>
                    <a:gd name="T6" fmla="*/ 0 w 92"/>
                    <a:gd name="T7" fmla="*/ 0 h 207"/>
                    <a:gd name="T8" fmla="*/ 0 w 92"/>
                    <a:gd name="T9" fmla="*/ 0 h 207"/>
                    <a:gd name="T10" fmla="*/ 0 w 92"/>
                    <a:gd name="T11" fmla="*/ 0 h 207"/>
                    <a:gd name="T12" fmla="*/ 0 w 92"/>
                    <a:gd name="T13" fmla="*/ 0 h 207"/>
                    <a:gd name="T14" fmla="*/ 0 w 92"/>
                    <a:gd name="T15" fmla="*/ 0 h 207"/>
                    <a:gd name="T16" fmla="*/ 0 w 92"/>
                    <a:gd name="T17" fmla="*/ 0 h 207"/>
                    <a:gd name="T18" fmla="*/ 0 w 92"/>
                    <a:gd name="T19" fmla="*/ 0 h 207"/>
                    <a:gd name="T20" fmla="*/ 0 w 92"/>
                    <a:gd name="T21" fmla="*/ 0 h 207"/>
                    <a:gd name="T22" fmla="*/ 0 w 92"/>
                    <a:gd name="T23" fmla="*/ 0 h 207"/>
                    <a:gd name="T24" fmla="*/ 0 w 92"/>
                    <a:gd name="T25" fmla="*/ 0 h 207"/>
                    <a:gd name="T26" fmla="*/ 0 w 92"/>
                    <a:gd name="T27" fmla="*/ 0 h 207"/>
                    <a:gd name="T28" fmla="*/ 0 w 92"/>
                    <a:gd name="T29" fmla="*/ 0 h 207"/>
                    <a:gd name="T30" fmla="*/ 0 w 92"/>
                    <a:gd name="T31" fmla="*/ 0 h 207"/>
                    <a:gd name="T32" fmla="*/ 0 w 92"/>
                    <a:gd name="T33" fmla="*/ 0 h 207"/>
                    <a:gd name="T34" fmla="*/ 0 w 92"/>
                    <a:gd name="T35" fmla="*/ 0 h 207"/>
                    <a:gd name="T36" fmla="*/ 0 w 92"/>
                    <a:gd name="T37" fmla="*/ 0 h 207"/>
                    <a:gd name="T38" fmla="*/ 0 w 92"/>
                    <a:gd name="T39" fmla="*/ 0 h 207"/>
                    <a:gd name="T40" fmla="*/ 0 w 92"/>
                    <a:gd name="T41" fmla="*/ 0 h 207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92"/>
                    <a:gd name="T64" fmla="*/ 0 h 207"/>
                    <a:gd name="T65" fmla="*/ 92 w 92"/>
                    <a:gd name="T66" fmla="*/ 207 h 207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92" h="207">
                      <a:moveTo>
                        <a:pt x="84" y="0"/>
                      </a:moveTo>
                      <a:lnTo>
                        <a:pt x="65" y="11"/>
                      </a:lnTo>
                      <a:lnTo>
                        <a:pt x="46" y="30"/>
                      </a:lnTo>
                      <a:lnTo>
                        <a:pt x="33" y="49"/>
                      </a:lnTo>
                      <a:lnTo>
                        <a:pt x="19" y="74"/>
                      </a:lnTo>
                      <a:lnTo>
                        <a:pt x="8" y="99"/>
                      </a:lnTo>
                      <a:lnTo>
                        <a:pt x="3" y="123"/>
                      </a:lnTo>
                      <a:lnTo>
                        <a:pt x="0" y="147"/>
                      </a:lnTo>
                      <a:lnTo>
                        <a:pt x="5" y="169"/>
                      </a:lnTo>
                      <a:lnTo>
                        <a:pt x="16" y="175"/>
                      </a:lnTo>
                      <a:lnTo>
                        <a:pt x="24" y="180"/>
                      </a:lnTo>
                      <a:lnTo>
                        <a:pt x="35" y="185"/>
                      </a:lnTo>
                      <a:lnTo>
                        <a:pt x="46" y="191"/>
                      </a:lnTo>
                      <a:lnTo>
                        <a:pt x="54" y="196"/>
                      </a:lnTo>
                      <a:lnTo>
                        <a:pt x="65" y="199"/>
                      </a:lnTo>
                      <a:lnTo>
                        <a:pt x="76" y="205"/>
                      </a:lnTo>
                      <a:lnTo>
                        <a:pt x="86" y="207"/>
                      </a:lnTo>
                      <a:lnTo>
                        <a:pt x="92" y="155"/>
                      </a:lnTo>
                      <a:lnTo>
                        <a:pt x="92" y="104"/>
                      </a:lnTo>
                      <a:lnTo>
                        <a:pt x="90" y="53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EDD1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57" name="Freeform 406"/>
                <p:cNvSpPr>
                  <a:spLocks/>
                </p:cNvSpPr>
                <p:nvPr/>
              </p:nvSpPr>
              <p:spPr bwMode="auto">
                <a:xfrm>
                  <a:off x="4808" y="1287"/>
                  <a:ext cx="57" cy="44"/>
                </a:xfrm>
                <a:custGeom>
                  <a:avLst/>
                  <a:gdLst>
                    <a:gd name="T0" fmla="*/ 0 w 226"/>
                    <a:gd name="T1" fmla="*/ 0 h 176"/>
                    <a:gd name="T2" fmla="*/ 0 w 226"/>
                    <a:gd name="T3" fmla="*/ 0 h 176"/>
                    <a:gd name="T4" fmla="*/ 0 w 226"/>
                    <a:gd name="T5" fmla="*/ 0 h 176"/>
                    <a:gd name="T6" fmla="*/ 0 w 226"/>
                    <a:gd name="T7" fmla="*/ 0 h 176"/>
                    <a:gd name="T8" fmla="*/ 0 w 226"/>
                    <a:gd name="T9" fmla="*/ 0 h 176"/>
                    <a:gd name="T10" fmla="*/ 0 w 226"/>
                    <a:gd name="T11" fmla="*/ 0 h 176"/>
                    <a:gd name="T12" fmla="*/ 0 w 226"/>
                    <a:gd name="T13" fmla="*/ 0 h 176"/>
                    <a:gd name="T14" fmla="*/ 0 w 226"/>
                    <a:gd name="T15" fmla="*/ 0 h 176"/>
                    <a:gd name="T16" fmla="*/ 0 w 226"/>
                    <a:gd name="T17" fmla="*/ 0 h 176"/>
                    <a:gd name="T18" fmla="*/ 0 w 226"/>
                    <a:gd name="T19" fmla="*/ 0 h 176"/>
                    <a:gd name="T20" fmla="*/ 0 w 226"/>
                    <a:gd name="T21" fmla="*/ 0 h 176"/>
                    <a:gd name="T22" fmla="*/ 0 w 226"/>
                    <a:gd name="T23" fmla="*/ 0 h 176"/>
                    <a:gd name="T24" fmla="*/ 0 w 226"/>
                    <a:gd name="T25" fmla="*/ 0 h 176"/>
                    <a:gd name="T26" fmla="*/ 0 w 226"/>
                    <a:gd name="T27" fmla="*/ 0 h 176"/>
                    <a:gd name="T28" fmla="*/ 0 w 226"/>
                    <a:gd name="T29" fmla="*/ 0 h 176"/>
                    <a:gd name="T30" fmla="*/ 0 w 226"/>
                    <a:gd name="T31" fmla="*/ 0 h 176"/>
                    <a:gd name="T32" fmla="*/ 0 w 226"/>
                    <a:gd name="T33" fmla="*/ 0 h 176"/>
                    <a:gd name="T34" fmla="*/ 0 w 226"/>
                    <a:gd name="T35" fmla="*/ 0 h 176"/>
                    <a:gd name="T36" fmla="*/ 0 w 226"/>
                    <a:gd name="T37" fmla="*/ 0 h 176"/>
                    <a:gd name="T38" fmla="*/ 0 w 226"/>
                    <a:gd name="T39" fmla="*/ 0 h 176"/>
                    <a:gd name="T40" fmla="*/ 0 w 226"/>
                    <a:gd name="T41" fmla="*/ 0 h 17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226"/>
                    <a:gd name="T64" fmla="*/ 0 h 176"/>
                    <a:gd name="T65" fmla="*/ 226 w 226"/>
                    <a:gd name="T66" fmla="*/ 176 h 17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226" h="176">
                      <a:moveTo>
                        <a:pt x="25" y="92"/>
                      </a:moveTo>
                      <a:lnTo>
                        <a:pt x="50" y="103"/>
                      </a:lnTo>
                      <a:lnTo>
                        <a:pt x="76" y="117"/>
                      </a:lnTo>
                      <a:lnTo>
                        <a:pt x="101" y="127"/>
                      </a:lnTo>
                      <a:lnTo>
                        <a:pt x="126" y="138"/>
                      </a:lnTo>
                      <a:lnTo>
                        <a:pt x="150" y="149"/>
                      </a:lnTo>
                      <a:lnTo>
                        <a:pt x="174" y="159"/>
                      </a:lnTo>
                      <a:lnTo>
                        <a:pt x="201" y="168"/>
                      </a:lnTo>
                      <a:lnTo>
                        <a:pt x="226" y="176"/>
                      </a:lnTo>
                      <a:lnTo>
                        <a:pt x="218" y="138"/>
                      </a:lnTo>
                      <a:lnTo>
                        <a:pt x="201" y="108"/>
                      </a:lnTo>
                      <a:lnTo>
                        <a:pt x="185" y="83"/>
                      </a:lnTo>
                      <a:lnTo>
                        <a:pt x="161" y="65"/>
                      </a:lnTo>
                      <a:lnTo>
                        <a:pt x="131" y="48"/>
                      </a:lnTo>
                      <a:lnTo>
                        <a:pt x="98" y="35"/>
                      </a:lnTo>
                      <a:lnTo>
                        <a:pt x="60" y="18"/>
                      </a:lnTo>
                      <a:lnTo>
                        <a:pt x="14" y="0"/>
                      </a:lnTo>
                      <a:lnTo>
                        <a:pt x="0" y="23"/>
                      </a:lnTo>
                      <a:lnTo>
                        <a:pt x="0" y="48"/>
                      </a:lnTo>
                      <a:lnTo>
                        <a:pt x="9" y="71"/>
                      </a:lnTo>
                      <a:lnTo>
                        <a:pt x="25" y="92"/>
                      </a:lnTo>
                      <a:close/>
                    </a:path>
                  </a:pathLst>
                </a:custGeom>
                <a:solidFill>
                  <a:srgbClr val="84828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58" name="Freeform 407"/>
                <p:cNvSpPr>
                  <a:spLocks/>
                </p:cNvSpPr>
                <p:nvPr/>
              </p:nvSpPr>
              <p:spPr bwMode="auto">
                <a:xfrm>
                  <a:off x="4865" y="1308"/>
                  <a:ext cx="25" cy="23"/>
                </a:xfrm>
                <a:custGeom>
                  <a:avLst/>
                  <a:gdLst>
                    <a:gd name="T0" fmla="*/ 0 w 103"/>
                    <a:gd name="T1" fmla="*/ 0 h 93"/>
                    <a:gd name="T2" fmla="*/ 0 w 103"/>
                    <a:gd name="T3" fmla="*/ 0 h 93"/>
                    <a:gd name="T4" fmla="*/ 0 w 103"/>
                    <a:gd name="T5" fmla="*/ 0 h 93"/>
                    <a:gd name="T6" fmla="*/ 0 w 103"/>
                    <a:gd name="T7" fmla="*/ 0 h 93"/>
                    <a:gd name="T8" fmla="*/ 0 w 103"/>
                    <a:gd name="T9" fmla="*/ 0 h 93"/>
                    <a:gd name="T10" fmla="*/ 0 w 103"/>
                    <a:gd name="T11" fmla="*/ 0 h 93"/>
                    <a:gd name="T12" fmla="*/ 0 w 103"/>
                    <a:gd name="T13" fmla="*/ 0 h 93"/>
                    <a:gd name="T14" fmla="*/ 0 w 103"/>
                    <a:gd name="T15" fmla="*/ 0 h 93"/>
                    <a:gd name="T16" fmla="*/ 0 w 103"/>
                    <a:gd name="T17" fmla="*/ 0 h 93"/>
                    <a:gd name="T18" fmla="*/ 0 w 103"/>
                    <a:gd name="T19" fmla="*/ 0 h 93"/>
                    <a:gd name="T20" fmla="*/ 0 w 103"/>
                    <a:gd name="T21" fmla="*/ 0 h 93"/>
                    <a:gd name="T22" fmla="*/ 0 w 103"/>
                    <a:gd name="T23" fmla="*/ 0 h 93"/>
                    <a:gd name="T24" fmla="*/ 0 w 103"/>
                    <a:gd name="T25" fmla="*/ 0 h 93"/>
                    <a:gd name="T26" fmla="*/ 0 w 103"/>
                    <a:gd name="T27" fmla="*/ 0 h 93"/>
                    <a:gd name="T28" fmla="*/ 0 w 103"/>
                    <a:gd name="T29" fmla="*/ 0 h 93"/>
                    <a:gd name="T30" fmla="*/ 0 w 103"/>
                    <a:gd name="T31" fmla="*/ 0 h 93"/>
                    <a:gd name="T32" fmla="*/ 0 w 103"/>
                    <a:gd name="T33" fmla="*/ 0 h 93"/>
                    <a:gd name="T34" fmla="*/ 0 w 103"/>
                    <a:gd name="T35" fmla="*/ 0 h 93"/>
                    <a:gd name="T36" fmla="*/ 0 w 103"/>
                    <a:gd name="T37" fmla="*/ 0 h 93"/>
                    <a:gd name="T38" fmla="*/ 0 w 103"/>
                    <a:gd name="T39" fmla="*/ 0 h 93"/>
                    <a:gd name="T40" fmla="*/ 0 w 103"/>
                    <a:gd name="T41" fmla="*/ 0 h 93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103"/>
                    <a:gd name="T64" fmla="*/ 0 h 93"/>
                    <a:gd name="T65" fmla="*/ 103 w 103"/>
                    <a:gd name="T66" fmla="*/ 93 h 93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103" h="93">
                      <a:moveTo>
                        <a:pt x="0" y="0"/>
                      </a:moveTo>
                      <a:lnTo>
                        <a:pt x="11" y="12"/>
                      </a:lnTo>
                      <a:lnTo>
                        <a:pt x="21" y="23"/>
                      </a:lnTo>
                      <a:lnTo>
                        <a:pt x="35" y="34"/>
                      </a:lnTo>
                      <a:lnTo>
                        <a:pt x="48" y="47"/>
                      </a:lnTo>
                      <a:lnTo>
                        <a:pt x="60" y="58"/>
                      </a:lnTo>
                      <a:lnTo>
                        <a:pt x="71" y="69"/>
                      </a:lnTo>
                      <a:lnTo>
                        <a:pt x="81" y="83"/>
                      </a:lnTo>
                      <a:lnTo>
                        <a:pt x="90" y="93"/>
                      </a:lnTo>
                      <a:lnTo>
                        <a:pt x="97" y="80"/>
                      </a:lnTo>
                      <a:lnTo>
                        <a:pt x="103" y="66"/>
                      </a:lnTo>
                      <a:lnTo>
                        <a:pt x="103" y="50"/>
                      </a:lnTo>
                      <a:lnTo>
                        <a:pt x="101" y="30"/>
                      </a:lnTo>
                      <a:lnTo>
                        <a:pt x="90" y="30"/>
                      </a:lnTo>
                      <a:lnTo>
                        <a:pt x="76" y="28"/>
                      </a:lnTo>
                      <a:lnTo>
                        <a:pt x="65" y="23"/>
                      </a:lnTo>
                      <a:lnTo>
                        <a:pt x="51" y="20"/>
                      </a:lnTo>
                      <a:lnTo>
                        <a:pt x="41" y="14"/>
                      </a:lnTo>
                      <a:lnTo>
                        <a:pt x="27" y="9"/>
                      </a:lnTo>
                      <a:lnTo>
                        <a:pt x="13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4828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59" name="Freeform 408"/>
                <p:cNvSpPr>
                  <a:spLocks/>
                </p:cNvSpPr>
                <p:nvPr/>
              </p:nvSpPr>
              <p:spPr bwMode="auto">
                <a:xfrm>
                  <a:off x="4759" y="1318"/>
                  <a:ext cx="146" cy="136"/>
                </a:xfrm>
                <a:custGeom>
                  <a:avLst/>
                  <a:gdLst>
                    <a:gd name="T0" fmla="*/ 0 w 582"/>
                    <a:gd name="T1" fmla="*/ 0 h 547"/>
                    <a:gd name="T2" fmla="*/ 0 w 582"/>
                    <a:gd name="T3" fmla="*/ 0 h 547"/>
                    <a:gd name="T4" fmla="*/ 0 w 582"/>
                    <a:gd name="T5" fmla="*/ 0 h 547"/>
                    <a:gd name="T6" fmla="*/ 0 w 582"/>
                    <a:gd name="T7" fmla="*/ 0 h 547"/>
                    <a:gd name="T8" fmla="*/ 0 w 582"/>
                    <a:gd name="T9" fmla="*/ 0 h 547"/>
                    <a:gd name="T10" fmla="*/ 0 w 582"/>
                    <a:gd name="T11" fmla="*/ 0 h 547"/>
                    <a:gd name="T12" fmla="*/ 0 w 582"/>
                    <a:gd name="T13" fmla="*/ 0 h 547"/>
                    <a:gd name="T14" fmla="*/ 0 w 582"/>
                    <a:gd name="T15" fmla="*/ 0 h 547"/>
                    <a:gd name="T16" fmla="*/ 0 w 582"/>
                    <a:gd name="T17" fmla="*/ 0 h 547"/>
                    <a:gd name="T18" fmla="*/ 0 w 582"/>
                    <a:gd name="T19" fmla="*/ 0 h 547"/>
                    <a:gd name="T20" fmla="*/ 0 w 582"/>
                    <a:gd name="T21" fmla="*/ 0 h 547"/>
                    <a:gd name="T22" fmla="*/ 0 w 582"/>
                    <a:gd name="T23" fmla="*/ 0 h 547"/>
                    <a:gd name="T24" fmla="*/ 0 w 582"/>
                    <a:gd name="T25" fmla="*/ 0 h 547"/>
                    <a:gd name="T26" fmla="*/ 0 w 582"/>
                    <a:gd name="T27" fmla="*/ 0 h 547"/>
                    <a:gd name="T28" fmla="*/ 0 w 582"/>
                    <a:gd name="T29" fmla="*/ 0 h 547"/>
                    <a:gd name="T30" fmla="*/ 0 w 582"/>
                    <a:gd name="T31" fmla="*/ 0 h 547"/>
                    <a:gd name="T32" fmla="*/ 0 w 582"/>
                    <a:gd name="T33" fmla="*/ 0 h 547"/>
                    <a:gd name="T34" fmla="*/ 0 w 582"/>
                    <a:gd name="T35" fmla="*/ 0 h 547"/>
                    <a:gd name="T36" fmla="*/ 0 w 582"/>
                    <a:gd name="T37" fmla="*/ 0 h 547"/>
                    <a:gd name="T38" fmla="*/ 0 w 582"/>
                    <a:gd name="T39" fmla="*/ 0 h 547"/>
                    <a:gd name="T40" fmla="*/ 0 w 582"/>
                    <a:gd name="T41" fmla="*/ 0 h 547"/>
                    <a:gd name="T42" fmla="*/ 0 w 582"/>
                    <a:gd name="T43" fmla="*/ 0 h 547"/>
                    <a:gd name="T44" fmla="*/ 0 w 582"/>
                    <a:gd name="T45" fmla="*/ 0 h 547"/>
                    <a:gd name="T46" fmla="*/ 0 w 582"/>
                    <a:gd name="T47" fmla="*/ 0 h 547"/>
                    <a:gd name="T48" fmla="*/ 0 w 582"/>
                    <a:gd name="T49" fmla="*/ 0 h 547"/>
                    <a:gd name="T50" fmla="*/ 0 w 582"/>
                    <a:gd name="T51" fmla="*/ 0 h 547"/>
                    <a:gd name="T52" fmla="*/ 0 w 582"/>
                    <a:gd name="T53" fmla="*/ 0 h 547"/>
                    <a:gd name="T54" fmla="*/ 0 w 582"/>
                    <a:gd name="T55" fmla="*/ 0 h 547"/>
                    <a:gd name="T56" fmla="*/ 0 w 582"/>
                    <a:gd name="T57" fmla="*/ 0 h 547"/>
                    <a:gd name="T58" fmla="*/ 0 w 582"/>
                    <a:gd name="T59" fmla="*/ 0 h 547"/>
                    <a:gd name="T60" fmla="*/ 0 w 582"/>
                    <a:gd name="T61" fmla="*/ 0 h 547"/>
                    <a:gd name="T62" fmla="*/ 0 w 582"/>
                    <a:gd name="T63" fmla="*/ 0 h 547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582"/>
                    <a:gd name="T97" fmla="*/ 0 h 547"/>
                    <a:gd name="T98" fmla="*/ 582 w 582"/>
                    <a:gd name="T99" fmla="*/ 547 h 547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582" h="547">
                      <a:moveTo>
                        <a:pt x="546" y="522"/>
                      </a:moveTo>
                      <a:lnTo>
                        <a:pt x="568" y="478"/>
                      </a:lnTo>
                      <a:lnTo>
                        <a:pt x="582" y="425"/>
                      </a:lnTo>
                      <a:lnTo>
                        <a:pt x="582" y="370"/>
                      </a:lnTo>
                      <a:lnTo>
                        <a:pt x="576" y="310"/>
                      </a:lnTo>
                      <a:lnTo>
                        <a:pt x="562" y="254"/>
                      </a:lnTo>
                      <a:lnTo>
                        <a:pt x="546" y="199"/>
                      </a:lnTo>
                      <a:lnTo>
                        <a:pt x="524" y="153"/>
                      </a:lnTo>
                      <a:lnTo>
                        <a:pt x="499" y="114"/>
                      </a:lnTo>
                      <a:lnTo>
                        <a:pt x="505" y="180"/>
                      </a:lnTo>
                      <a:lnTo>
                        <a:pt x="505" y="245"/>
                      </a:lnTo>
                      <a:lnTo>
                        <a:pt x="497" y="307"/>
                      </a:lnTo>
                      <a:lnTo>
                        <a:pt x="481" y="370"/>
                      </a:lnTo>
                      <a:lnTo>
                        <a:pt x="453" y="378"/>
                      </a:lnTo>
                      <a:lnTo>
                        <a:pt x="405" y="354"/>
                      </a:lnTo>
                      <a:lnTo>
                        <a:pt x="342" y="305"/>
                      </a:lnTo>
                      <a:lnTo>
                        <a:pt x="277" y="245"/>
                      </a:lnTo>
                      <a:lnTo>
                        <a:pt x="211" y="183"/>
                      </a:lnTo>
                      <a:lnTo>
                        <a:pt x="162" y="123"/>
                      </a:lnTo>
                      <a:lnTo>
                        <a:pt x="133" y="77"/>
                      </a:lnTo>
                      <a:lnTo>
                        <a:pt x="136" y="55"/>
                      </a:lnTo>
                      <a:lnTo>
                        <a:pt x="157" y="65"/>
                      </a:lnTo>
                      <a:lnTo>
                        <a:pt x="195" y="98"/>
                      </a:lnTo>
                      <a:lnTo>
                        <a:pt x="241" y="144"/>
                      </a:lnTo>
                      <a:lnTo>
                        <a:pt x="293" y="199"/>
                      </a:lnTo>
                      <a:lnTo>
                        <a:pt x="345" y="250"/>
                      </a:lnTo>
                      <a:lnTo>
                        <a:pt x="391" y="294"/>
                      </a:lnTo>
                      <a:lnTo>
                        <a:pt x="426" y="319"/>
                      </a:lnTo>
                      <a:lnTo>
                        <a:pt x="448" y="316"/>
                      </a:lnTo>
                      <a:lnTo>
                        <a:pt x="453" y="286"/>
                      </a:lnTo>
                      <a:lnTo>
                        <a:pt x="453" y="256"/>
                      </a:lnTo>
                      <a:lnTo>
                        <a:pt x="453" y="226"/>
                      </a:lnTo>
                      <a:lnTo>
                        <a:pt x="453" y="194"/>
                      </a:lnTo>
                      <a:lnTo>
                        <a:pt x="432" y="171"/>
                      </a:lnTo>
                      <a:lnTo>
                        <a:pt x="410" y="150"/>
                      </a:lnTo>
                      <a:lnTo>
                        <a:pt x="386" y="125"/>
                      </a:lnTo>
                      <a:lnTo>
                        <a:pt x="361" y="104"/>
                      </a:lnTo>
                      <a:lnTo>
                        <a:pt x="333" y="85"/>
                      </a:lnTo>
                      <a:lnTo>
                        <a:pt x="310" y="63"/>
                      </a:lnTo>
                      <a:lnTo>
                        <a:pt x="280" y="47"/>
                      </a:lnTo>
                      <a:lnTo>
                        <a:pt x="252" y="30"/>
                      </a:lnTo>
                      <a:lnTo>
                        <a:pt x="225" y="22"/>
                      </a:lnTo>
                      <a:lnTo>
                        <a:pt x="198" y="17"/>
                      </a:lnTo>
                      <a:lnTo>
                        <a:pt x="171" y="17"/>
                      </a:lnTo>
                      <a:lnTo>
                        <a:pt x="141" y="17"/>
                      </a:lnTo>
                      <a:lnTo>
                        <a:pt x="114" y="17"/>
                      </a:lnTo>
                      <a:lnTo>
                        <a:pt x="86" y="17"/>
                      </a:lnTo>
                      <a:lnTo>
                        <a:pt x="60" y="12"/>
                      </a:lnTo>
                      <a:lnTo>
                        <a:pt x="33" y="0"/>
                      </a:lnTo>
                      <a:lnTo>
                        <a:pt x="8" y="33"/>
                      </a:lnTo>
                      <a:lnTo>
                        <a:pt x="0" y="71"/>
                      </a:lnTo>
                      <a:lnTo>
                        <a:pt x="8" y="118"/>
                      </a:lnTo>
                      <a:lnTo>
                        <a:pt x="24" y="166"/>
                      </a:lnTo>
                      <a:lnTo>
                        <a:pt x="54" y="218"/>
                      </a:lnTo>
                      <a:lnTo>
                        <a:pt x="92" y="270"/>
                      </a:lnTo>
                      <a:lnTo>
                        <a:pt x="136" y="321"/>
                      </a:lnTo>
                      <a:lnTo>
                        <a:pt x="185" y="370"/>
                      </a:lnTo>
                      <a:lnTo>
                        <a:pt x="236" y="419"/>
                      </a:lnTo>
                      <a:lnTo>
                        <a:pt x="291" y="460"/>
                      </a:lnTo>
                      <a:lnTo>
                        <a:pt x="345" y="495"/>
                      </a:lnTo>
                      <a:lnTo>
                        <a:pt x="396" y="522"/>
                      </a:lnTo>
                      <a:lnTo>
                        <a:pt x="442" y="538"/>
                      </a:lnTo>
                      <a:lnTo>
                        <a:pt x="486" y="547"/>
                      </a:lnTo>
                      <a:lnTo>
                        <a:pt x="522" y="541"/>
                      </a:lnTo>
                      <a:lnTo>
                        <a:pt x="546" y="522"/>
                      </a:lnTo>
                      <a:close/>
                    </a:path>
                  </a:pathLst>
                </a:custGeom>
                <a:solidFill>
                  <a:srgbClr val="005E3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60" name="Freeform 409"/>
                <p:cNvSpPr>
                  <a:spLocks/>
                </p:cNvSpPr>
                <p:nvPr/>
              </p:nvSpPr>
              <p:spPr bwMode="auto">
                <a:xfrm>
                  <a:off x="4772" y="1346"/>
                  <a:ext cx="32" cy="45"/>
                </a:xfrm>
                <a:custGeom>
                  <a:avLst/>
                  <a:gdLst>
                    <a:gd name="T0" fmla="*/ 0 w 128"/>
                    <a:gd name="T1" fmla="*/ 0 h 179"/>
                    <a:gd name="T2" fmla="*/ 0 w 128"/>
                    <a:gd name="T3" fmla="*/ 0 h 179"/>
                    <a:gd name="T4" fmla="*/ 0 w 128"/>
                    <a:gd name="T5" fmla="*/ 0 h 179"/>
                    <a:gd name="T6" fmla="*/ 0 w 128"/>
                    <a:gd name="T7" fmla="*/ 0 h 179"/>
                    <a:gd name="T8" fmla="*/ 0 w 128"/>
                    <a:gd name="T9" fmla="*/ 0 h 179"/>
                    <a:gd name="T10" fmla="*/ 0 w 128"/>
                    <a:gd name="T11" fmla="*/ 0 h 179"/>
                    <a:gd name="T12" fmla="*/ 0 w 128"/>
                    <a:gd name="T13" fmla="*/ 0 h 179"/>
                    <a:gd name="T14" fmla="*/ 0 w 128"/>
                    <a:gd name="T15" fmla="*/ 0 h 179"/>
                    <a:gd name="T16" fmla="*/ 0 w 128"/>
                    <a:gd name="T17" fmla="*/ 0 h 179"/>
                    <a:gd name="T18" fmla="*/ 0 w 128"/>
                    <a:gd name="T19" fmla="*/ 0 h 179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28"/>
                    <a:gd name="T31" fmla="*/ 0 h 179"/>
                    <a:gd name="T32" fmla="*/ 128 w 128"/>
                    <a:gd name="T33" fmla="*/ 179 h 179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28" h="179">
                      <a:moveTo>
                        <a:pt x="0" y="0"/>
                      </a:moveTo>
                      <a:lnTo>
                        <a:pt x="128" y="179"/>
                      </a:lnTo>
                      <a:lnTo>
                        <a:pt x="106" y="158"/>
                      </a:lnTo>
                      <a:lnTo>
                        <a:pt x="85" y="136"/>
                      </a:lnTo>
                      <a:lnTo>
                        <a:pt x="65" y="114"/>
                      </a:lnTo>
                      <a:lnTo>
                        <a:pt x="49" y="89"/>
                      </a:lnTo>
                      <a:lnTo>
                        <a:pt x="33" y="68"/>
                      </a:lnTo>
                      <a:lnTo>
                        <a:pt x="19" y="43"/>
                      </a:lnTo>
                      <a:lnTo>
                        <a:pt x="9" y="2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68E4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61" name="Freeform 410"/>
                <p:cNvSpPr>
                  <a:spLocks/>
                </p:cNvSpPr>
                <p:nvPr/>
              </p:nvSpPr>
              <p:spPr bwMode="auto">
                <a:xfrm>
                  <a:off x="4769" y="1331"/>
                  <a:ext cx="52" cy="75"/>
                </a:xfrm>
                <a:custGeom>
                  <a:avLst/>
                  <a:gdLst>
                    <a:gd name="T0" fmla="*/ 0 w 207"/>
                    <a:gd name="T1" fmla="*/ 0 h 299"/>
                    <a:gd name="T2" fmla="*/ 0 w 207"/>
                    <a:gd name="T3" fmla="*/ 0 h 299"/>
                    <a:gd name="T4" fmla="*/ 0 w 207"/>
                    <a:gd name="T5" fmla="*/ 0 h 299"/>
                    <a:gd name="T6" fmla="*/ 0 w 207"/>
                    <a:gd name="T7" fmla="*/ 0 h 299"/>
                    <a:gd name="T8" fmla="*/ 0 w 207"/>
                    <a:gd name="T9" fmla="*/ 0 h 299"/>
                    <a:gd name="T10" fmla="*/ 0 w 207"/>
                    <a:gd name="T11" fmla="*/ 0 h 299"/>
                    <a:gd name="T12" fmla="*/ 0 w 207"/>
                    <a:gd name="T13" fmla="*/ 0 h 299"/>
                    <a:gd name="T14" fmla="*/ 0 w 207"/>
                    <a:gd name="T15" fmla="*/ 0 h 299"/>
                    <a:gd name="T16" fmla="*/ 0 w 207"/>
                    <a:gd name="T17" fmla="*/ 0 h 299"/>
                    <a:gd name="T18" fmla="*/ 0 w 207"/>
                    <a:gd name="T19" fmla="*/ 0 h 299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07"/>
                    <a:gd name="T31" fmla="*/ 0 h 299"/>
                    <a:gd name="T32" fmla="*/ 207 w 207"/>
                    <a:gd name="T33" fmla="*/ 299 h 299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07" h="299">
                      <a:moveTo>
                        <a:pt x="0" y="0"/>
                      </a:moveTo>
                      <a:lnTo>
                        <a:pt x="207" y="299"/>
                      </a:lnTo>
                      <a:lnTo>
                        <a:pt x="166" y="266"/>
                      </a:lnTo>
                      <a:lnTo>
                        <a:pt x="129" y="231"/>
                      </a:lnTo>
                      <a:lnTo>
                        <a:pt x="93" y="193"/>
                      </a:lnTo>
                      <a:lnTo>
                        <a:pt x="63" y="152"/>
                      </a:lnTo>
                      <a:lnTo>
                        <a:pt x="36" y="114"/>
                      </a:lnTo>
                      <a:lnTo>
                        <a:pt x="16" y="73"/>
                      </a:lnTo>
                      <a:lnTo>
                        <a:pt x="6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98E4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62" name="Freeform 411"/>
                <p:cNvSpPr>
                  <a:spLocks/>
                </p:cNvSpPr>
                <p:nvPr/>
              </p:nvSpPr>
              <p:spPr bwMode="auto">
                <a:xfrm>
                  <a:off x="4769" y="1325"/>
                  <a:ext cx="66" cy="91"/>
                </a:xfrm>
                <a:custGeom>
                  <a:avLst/>
                  <a:gdLst>
                    <a:gd name="T0" fmla="*/ 0 w 261"/>
                    <a:gd name="T1" fmla="*/ 0 h 364"/>
                    <a:gd name="T2" fmla="*/ 0 w 261"/>
                    <a:gd name="T3" fmla="*/ 0 h 364"/>
                    <a:gd name="T4" fmla="*/ 0 w 261"/>
                    <a:gd name="T5" fmla="*/ 0 h 364"/>
                    <a:gd name="T6" fmla="*/ 0 w 261"/>
                    <a:gd name="T7" fmla="*/ 0 h 364"/>
                    <a:gd name="T8" fmla="*/ 0 w 261"/>
                    <a:gd name="T9" fmla="*/ 0 h 364"/>
                    <a:gd name="T10" fmla="*/ 0 w 261"/>
                    <a:gd name="T11" fmla="*/ 0 h 364"/>
                    <a:gd name="T12" fmla="*/ 0 w 261"/>
                    <a:gd name="T13" fmla="*/ 0 h 364"/>
                    <a:gd name="T14" fmla="*/ 0 w 261"/>
                    <a:gd name="T15" fmla="*/ 0 h 364"/>
                    <a:gd name="T16" fmla="*/ 0 w 261"/>
                    <a:gd name="T17" fmla="*/ 0 h 364"/>
                    <a:gd name="T18" fmla="*/ 0 w 261"/>
                    <a:gd name="T19" fmla="*/ 0 h 364"/>
                    <a:gd name="T20" fmla="*/ 0 w 261"/>
                    <a:gd name="T21" fmla="*/ 0 h 364"/>
                    <a:gd name="T22" fmla="*/ 0 w 261"/>
                    <a:gd name="T23" fmla="*/ 0 h 364"/>
                    <a:gd name="T24" fmla="*/ 0 w 261"/>
                    <a:gd name="T25" fmla="*/ 0 h 364"/>
                    <a:gd name="T26" fmla="*/ 0 w 261"/>
                    <a:gd name="T27" fmla="*/ 0 h 364"/>
                    <a:gd name="T28" fmla="*/ 0 w 261"/>
                    <a:gd name="T29" fmla="*/ 0 h 36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261"/>
                    <a:gd name="T46" fmla="*/ 0 h 364"/>
                    <a:gd name="T47" fmla="*/ 261 w 261"/>
                    <a:gd name="T48" fmla="*/ 364 h 36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261" h="364">
                      <a:moveTo>
                        <a:pt x="139" y="263"/>
                      </a:moveTo>
                      <a:lnTo>
                        <a:pt x="11" y="84"/>
                      </a:lnTo>
                      <a:lnTo>
                        <a:pt x="4" y="60"/>
                      </a:lnTo>
                      <a:lnTo>
                        <a:pt x="0" y="37"/>
                      </a:lnTo>
                      <a:lnTo>
                        <a:pt x="0" y="19"/>
                      </a:lnTo>
                      <a:lnTo>
                        <a:pt x="4" y="0"/>
                      </a:lnTo>
                      <a:lnTo>
                        <a:pt x="261" y="364"/>
                      </a:lnTo>
                      <a:lnTo>
                        <a:pt x="247" y="353"/>
                      </a:lnTo>
                      <a:lnTo>
                        <a:pt x="231" y="342"/>
                      </a:lnTo>
                      <a:lnTo>
                        <a:pt x="215" y="332"/>
                      </a:lnTo>
                      <a:lnTo>
                        <a:pt x="201" y="318"/>
                      </a:lnTo>
                      <a:lnTo>
                        <a:pt x="185" y="304"/>
                      </a:lnTo>
                      <a:lnTo>
                        <a:pt x="169" y="291"/>
                      </a:lnTo>
                      <a:lnTo>
                        <a:pt x="152" y="277"/>
                      </a:lnTo>
                      <a:lnTo>
                        <a:pt x="139" y="263"/>
                      </a:lnTo>
                      <a:close/>
                    </a:path>
                  </a:pathLst>
                </a:custGeom>
                <a:solidFill>
                  <a:srgbClr val="598E4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63" name="Freeform 412"/>
                <p:cNvSpPr>
                  <a:spLocks/>
                </p:cNvSpPr>
                <p:nvPr/>
              </p:nvSpPr>
              <p:spPr bwMode="auto">
                <a:xfrm>
                  <a:off x="4769" y="1321"/>
                  <a:ext cx="78" cy="102"/>
                </a:xfrm>
                <a:custGeom>
                  <a:avLst/>
                  <a:gdLst>
                    <a:gd name="T0" fmla="*/ 0 w 313"/>
                    <a:gd name="T1" fmla="*/ 0 h 410"/>
                    <a:gd name="T2" fmla="*/ 0 w 313"/>
                    <a:gd name="T3" fmla="*/ 0 h 410"/>
                    <a:gd name="T4" fmla="*/ 0 w 313"/>
                    <a:gd name="T5" fmla="*/ 0 h 410"/>
                    <a:gd name="T6" fmla="*/ 0 w 313"/>
                    <a:gd name="T7" fmla="*/ 0 h 410"/>
                    <a:gd name="T8" fmla="*/ 0 w 313"/>
                    <a:gd name="T9" fmla="*/ 0 h 410"/>
                    <a:gd name="T10" fmla="*/ 0 w 313"/>
                    <a:gd name="T11" fmla="*/ 0 h 410"/>
                    <a:gd name="T12" fmla="*/ 0 w 313"/>
                    <a:gd name="T13" fmla="*/ 0 h 410"/>
                    <a:gd name="T14" fmla="*/ 0 w 313"/>
                    <a:gd name="T15" fmla="*/ 0 h 410"/>
                    <a:gd name="T16" fmla="*/ 0 w 313"/>
                    <a:gd name="T17" fmla="*/ 0 h 410"/>
                    <a:gd name="T18" fmla="*/ 0 w 313"/>
                    <a:gd name="T19" fmla="*/ 0 h 410"/>
                    <a:gd name="T20" fmla="*/ 0 w 313"/>
                    <a:gd name="T21" fmla="*/ 0 h 410"/>
                    <a:gd name="T22" fmla="*/ 0 w 313"/>
                    <a:gd name="T23" fmla="*/ 0 h 410"/>
                    <a:gd name="T24" fmla="*/ 0 w 313"/>
                    <a:gd name="T25" fmla="*/ 0 h 410"/>
                    <a:gd name="T26" fmla="*/ 0 w 313"/>
                    <a:gd name="T27" fmla="*/ 0 h 410"/>
                    <a:gd name="T28" fmla="*/ 0 w 313"/>
                    <a:gd name="T29" fmla="*/ 0 h 410"/>
                    <a:gd name="T30" fmla="*/ 0 w 313"/>
                    <a:gd name="T31" fmla="*/ 0 h 410"/>
                    <a:gd name="T32" fmla="*/ 0 w 313"/>
                    <a:gd name="T33" fmla="*/ 0 h 410"/>
                    <a:gd name="T34" fmla="*/ 0 w 313"/>
                    <a:gd name="T35" fmla="*/ 0 h 41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313"/>
                    <a:gd name="T55" fmla="*/ 0 h 410"/>
                    <a:gd name="T56" fmla="*/ 313 w 313"/>
                    <a:gd name="T57" fmla="*/ 410 h 410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313" h="410">
                      <a:moveTo>
                        <a:pt x="207" y="342"/>
                      </a:moveTo>
                      <a:lnTo>
                        <a:pt x="0" y="43"/>
                      </a:lnTo>
                      <a:lnTo>
                        <a:pt x="0" y="32"/>
                      </a:lnTo>
                      <a:lnTo>
                        <a:pt x="4" y="18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16" y="0"/>
                      </a:lnTo>
                      <a:lnTo>
                        <a:pt x="20" y="0"/>
                      </a:lnTo>
                      <a:lnTo>
                        <a:pt x="22" y="2"/>
                      </a:lnTo>
                      <a:lnTo>
                        <a:pt x="313" y="410"/>
                      </a:lnTo>
                      <a:lnTo>
                        <a:pt x="300" y="404"/>
                      </a:lnTo>
                      <a:lnTo>
                        <a:pt x="286" y="396"/>
                      </a:lnTo>
                      <a:lnTo>
                        <a:pt x="272" y="388"/>
                      </a:lnTo>
                      <a:lnTo>
                        <a:pt x="261" y="380"/>
                      </a:lnTo>
                      <a:lnTo>
                        <a:pt x="247" y="372"/>
                      </a:lnTo>
                      <a:lnTo>
                        <a:pt x="235" y="364"/>
                      </a:lnTo>
                      <a:lnTo>
                        <a:pt x="221" y="353"/>
                      </a:lnTo>
                      <a:lnTo>
                        <a:pt x="207" y="342"/>
                      </a:lnTo>
                      <a:close/>
                    </a:path>
                  </a:pathLst>
                </a:custGeom>
                <a:solidFill>
                  <a:srgbClr val="5E935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64" name="Freeform 413"/>
                <p:cNvSpPr>
                  <a:spLocks/>
                </p:cNvSpPr>
                <p:nvPr/>
              </p:nvSpPr>
              <p:spPr bwMode="auto">
                <a:xfrm>
                  <a:off x="4770" y="1321"/>
                  <a:ext cx="87" cy="107"/>
                </a:xfrm>
                <a:custGeom>
                  <a:avLst/>
                  <a:gdLst>
                    <a:gd name="T0" fmla="*/ 0 w 347"/>
                    <a:gd name="T1" fmla="*/ 0 h 429"/>
                    <a:gd name="T2" fmla="*/ 0 w 347"/>
                    <a:gd name="T3" fmla="*/ 0 h 429"/>
                    <a:gd name="T4" fmla="*/ 0 w 347"/>
                    <a:gd name="T5" fmla="*/ 0 h 429"/>
                    <a:gd name="T6" fmla="*/ 0 w 347"/>
                    <a:gd name="T7" fmla="*/ 0 h 429"/>
                    <a:gd name="T8" fmla="*/ 0 w 347"/>
                    <a:gd name="T9" fmla="*/ 0 h 429"/>
                    <a:gd name="T10" fmla="*/ 0 w 347"/>
                    <a:gd name="T11" fmla="*/ 0 h 429"/>
                    <a:gd name="T12" fmla="*/ 0 w 347"/>
                    <a:gd name="T13" fmla="*/ 0 h 429"/>
                    <a:gd name="T14" fmla="*/ 0 w 347"/>
                    <a:gd name="T15" fmla="*/ 0 h 429"/>
                    <a:gd name="T16" fmla="*/ 0 w 347"/>
                    <a:gd name="T17" fmla="*/ 0 h 429"/>
                    <a:gd name="T18" fmla="*/ 0 w 347"/>
                    <a:gd name="T19" fmla="*/ 0 h 429"/>
                    <a:gd name="T20" fmla="*/ 0 w 347"/>
                    <a:gd name="T21" fmla="*/ 0 h 429"/>
                    <a:gd name="T22" fmla="*/ 0 w 347"/>
                    <a:gd name="T23" fmla="*/ 0 h 429"/>
                    <a:gd name="T24" fmla="*/ 0 w 347"/>
                    <a:gd name="T25" fmla="*/ 0 h 429"/>
                    <a:gd name="T26" fmla="*/ 0 w 347"/>
                    <a:gd name="T27" fmla="*/ 0 h 429"/>
                    <a:gd name="T28" fmla="*/ 0 w 347"/>
                    <a:gd name="T29" fmla="*/ 0 h 429"/>
                    <a:gd name="T30" fmla="*/ 0 w 347"/>
                    <a:gd name="T31" fmla="*/ 0 h 429"/>
                    <a:gd name="T32" fmla="*/ 0 w 347"/>
                    <a:gd name="T33" fmla="*/ 0 h 429"/>
                    <a:gd name="T34" fmla="*/ 0 w 347"/>
                    <a:gd name="T35" fmla="*/ 0 h 429"/>
                    <a:gd name="T36" fmla="*/ 0 w 347"/>
                    <a:gd name="T37" fmla="*/ 0 h 429"/>
                    <a:gd name="T38" fmla="*/ 0 w 347"/>
                    <a:gd name="T39" fmla="*/ 0 h 429"/>
                    <a:gd name="T40" fmla="*/ 0 w 347"/>
                    <a:gd name="T41" fmla="*/ 0 h 429"/>
                    <a:gd name="T42" fmla="*/ 0 w 347"/>
                    <a:gd name="T43" fmla="*/ 0 h 429"/>
                    <a:gd name="T44" fmla="*/ 0 w 347"/>
                    <a:gd name="T45" fmla="*/ 0 h 429"/>
                    <a:gd name="T46" fmla="*/ 0 w 347"/>
                    <a:gd name="T47" fmla="*/ 0 h 429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347"/>
                    <a:gd name="T73" fmla="*/ 0 h 429"/>
                    <a:gd name="T74" fmla="*/ 347 w 347"/>
                    <a:gd name="T75" fmla="*/ 429 h 429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347" h="429">
                      <a:moveTo>
                        <a:pt x="257" y="380"/>
                      </a:moveTo>
                      <a:lnTo>
                        <a:pt x="0" y="16"/>
                      </a:lnTo>
                      <a:lnTo>
                        <a:pt x="0" y="10"/>
                      </a:lnTo>
                      <a:lnTo>
                        <a:pt x="2" y="7"/>
                      </a:lnTo>
                      <a:lnTo>
                        <a:pt x="5" y="2"/>
                      </a:lnTo>
                      <a:lnTo>
                        <a:pt x="7" y="0"/>
                      </a:lnTo>
                      <a:lnTo>
                        <a:pt x="16" y="2"/>
                      </a:lnTo>
                      <a:lnTo>
                        <a:pt x="26" y="2"/>
                      </a:lnTo>
                      <a:lnTo>
                        <a:pt x="37" y="2"/>
                      </a:lnTo>
                      <a:lnTo>
                        <a:pt x="46" y="2"/>
                      </a:lnTo>
                      <a:lnTo>
                        <a:pt x="92" y="70"/>
                      </a:lnTo>
                      <a:lnTo>
                        <a:pt x="100" y="83"/>
                      </a:lnTo>
                      <a:lnTo>
                        <a:pt x="111" y="100"/>
                      </a:lnTo>
                      <a:lnTo>
                        <a:pt x="127" y="119"/>
                      </a:lnTo>
                      <a:lnTo>
                        <a:pt x="146" y="141"/>
                      </a:lnTo>
                      <a:lnTo>
                        <a:pt x="347" y="429"/>
                      </a:lnTo>
                      <a:lnTo>
                        <a:pt x="336" y="423"/>
                      </a:lnTo>
                      <a:lnTo>
                        <a:pt x="325" y="420"/>
                      </a:lnTo>
                      <a:lnTo>
                        <a:pt x="314" y="415"/>
                      </a:lnTo>
                      <a:lnTo>
                        <a:pt x="303" y="410"/>
                      </a:lnTo>
                      <a:lnTo>
                        <a:pt x="293" y="404"/>
                      </a:lnTo>
                      <a:lnTo>
                        <a:pt x="282" y="396"/>
                      </a:lnTo>
                      <a:lnTo>
                        <a:pt x="268" y="388"/>
                      </a:lnTo>
                      <a:lnTo>
                        <a:pt x="257" y="380"/>
                      </a:lnTo>
                      <a:close/>
                    </a:path>
                  </a:pathLst>
                </a:custGeom>
                <a:solidFill>
                  <a:srgbClr val="60935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65" name="Freeform 414"/>
                <p:cNvSpPr>
                  <a:spLocks/>
                </p:cNvSpPr>
                <p:nvPr/>
              </p:nvSpPr>
              <p:spPr bwMode="auto">
                <a:xfrm>
                  <a:off x="4775" y="1321"/>
                  <a:ext cx="91" cy="110"/>
                </a:xfrm>
                <a:custGeom>
                  <a:avLst/>
                  <a:gdLst>
                    <a:gd name="T0" fmla="*/ 0 w 367"/>
                    <a:gd name="T1" fmla="*/ 0 h 441"/>
                    <a:gd name="T2" fmla="*/ 0 w 367"/>
                    <a:gd name="T3" fmla="*/ 0 h 441"/>
                    <a:gd name="T4" fmla="*/ 0 w 367"/>
                    <a:gd name="T5" fmla="*/ 0 h 441"/>
                    <a:gd name="T6" fmla="*/ 0 w 367"/>
                    <a:gd name="T7" fmla="*/ 0 h 441"/>
                    <a:gd name="T8" fmla="*/ 0 w 367"/>
                    <a:gd name="T9" fmla="*/ 0 h 441"/>
                    <a:gd name="T10" fmla="*/ 0 w 367"/>
                    <a:gd name="T11" fmla="*/ 0 h 441"/>
                    <a:gd name="T12" fmla="*/ 0 w 367"/>
                    <a:gd name="T13" fmla="*/ 0 h 441"/>
                    <a:gd name="T14" fmla="*/ 0 w 367"/>
                    <a:gd name="T15" fmla="*/ 0 h 441"/>
                    <a:gd name="T16" fmla="*/ 0 w 367"/>
                    <a:gd name="T17" fmla="*/ 0 h 441"/>
                    <a:gd name="T18" fmla="*/ 0 w 367"/>
                    <a:gd name="T19" fmla="*/ 0 h 441"/>
                    <a:gd name="T20" fmla="*/ 0 w 367"/>
                    <a:gd name="T21" fmla="*/ 0 h 441"/>
                    <a:gd name="T22" fmla="*/ 0 w 367"/>
                    <a:gd name="T23" fmla="*/ 0 h 441"/>
                    <a:gd name="T24" fmla="*/ 0 w 367"/>
                    <a:gd name="T25" fmla="*/ 0 h 441"/>
                    <a:gd name="T26" fmla="*/ 0 w 367"/>
                    <a:gd name="T27" fmla="*/ 0 h 441"/>
                    <a:gd name="T28" fmla="*/ 0 w 367"/>
                    <a:gd name="T29" fmla="*/ 0 h 441"/>
                    <a:gd name="T30" fmla="*/ 0 w 367"/>
                    <a:gd name="T31" fmla="*/ 0 h 441"/>
                    <a:gd name="T32" fmla="*/ 0 w 367"/>
                    <a:gd name="T33" fmla="*/ 0 h 441"/>
                    <a:gd name="T34" fmla="*/ 0 w 367"/>
                    <a:gd name="T35" fmla="*/ 0 h 441"/>
                    <a:gd name="T36" fmla="*/ 0 w 367"/>
                    <a:gd name="T37" fmla="*/ 0 h 441"/>
                    <a:gd name="T38" fmla="*/ 0 w 367"/>
                    <a:gd name="T39" fmla="*/ 0 h 441"/>
                    <a:gd name="T40" fmla="*/ 0 w 367"/>
                    <a:gd name="T41" fmla="*/ 0 h 441"/>
                    <a:gd name="T42" fmla="*/ 0 w 367"/>
                    <a:gd name="T43" fmla="*/ 0 h 441"/>
                    <a:gd name="T44" fmla="*/ 0 w 367"/>
                    <a:gd name="T45" fmla="*/ 0 h 441"/>
                    <a:gd name="T46" fmla="*/ 0 w 367"/>
                    <a:gd name="T47" fmla="*/ 0 h 441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367"/>
                    <a:gd name="T73" fmla="*/ 0 h 441"/>
                    <a:gd name="T74" fmla="*/ 367 w 367"/>
                    <a:gd name="T75" fmla="*/ 441 h 441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367" h="441">
                      <a:moveTo>
                        <a:pt x="291" y="408"/>
                      </a:moveTo>
                      <a:lnTo>
                        <a:pt x="0" y="0"/>
                      </a:lnTo>
                      <a:lnTo>
                        <a:pt x="14" y="0"/>
                      </a:lnTo>
                      <a:lnTo>
                        <a:pt x="28" y="3"/>
                      </a:lnTo>
                      <a:lnTo>
                        <a:pt x="41" y="5"/>
                      </a:lnTo>
                      <a:lnTo>
                        <a:pt x="54" y="5"/>
                      </a:lnTo>
                      <a:lnTo>
                        <a:pt x="82" y="38"/>
                      </a:lnTo>
                      <a:lnTo>
                        <a:pt x="82" y="41"/>
                      </a:lnTo>
                      <a:lnTo>
                        <a:pt x="79" y="38"/>
                      </a:lnTo>
                      <a:lnTo>
                        <a:pt x="77" y="38"/>
                      </a:lnTo>
                      <a:lnTo>
                        <a:pt x="74" y="41"/>
                      </a:lnTo>
                      <a:lnTo>
                        <a:pt x="68" y="49"/>
                      </a:lnTo>
                      <a:lnTo>
                        <a:pt x="74" y="65"/>
                      </a:lnTo>
                      <a:lnTo>
                        <a:pt x="84" y="87"/>
                      </a:lnTo>
                      <a:lnTo>
                        <a:pt x="103" y="114"/>
                      </a:lnTo>
                      <a:lnTo>
                        <a:pt x="130" y="144"/>
                      </a:lnTo>
                      <a:lnTo>
                        <a:pt x="160" y="176"/>
                      </a:lnTo>
                      <a:lnTo>
                        <a:pt x="193" y="212"/>
                      </a:lnTo>
                      <a:lnTo>
                        <a:pt x="229" y="245"/>
                      </a:lnTo>
                      <a:lnTo>
                        <a:pt x="367" y="441"/>
                      </a:lnTo>
                      <a:lnTo>
                        <a:pt x="348" y="438"/>
                      </a:lnTo>
                      <a:lnTo>
                        <a:pt x="329" y="429"/>
                      </a:lnTo>
                      <a:lnTo>
                        <a:pt x="310" y="418"/>
                      </a:lnTo>
                      <a:lnTo>
                        <a:pt x="291" y="408"/>
                      </a:lnTo>
                      <a:close/>
                    </a:path>
                  </a:pathLst>
                </a:custGeom>
                <a:solidFill>
                  <a:srgbClr val="60935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66" name="Freeform 415"/>
                <p:cNvSpPr>
                  <a:spLocks noEditPoints="1"/>
                </p:cNvSpPr>
                <p:nvPr/>
              </p:nvSpPr>
              <p:spPr bwMode="auto">
                <a:xfrm>
                  <a:off x="4782" y="1321"/>
                  <a:ext cx="92" cy="112"/>
                </a:xfrm>
                <a:custGeom>
                  <a:avLst/>
                  <a:gdLst>
                    <a:gd name="T0" fmla="*/ 0 w 369"/>
                    <a:gd name="T1" fmla="*/ 0 h 448"/>
                    <a:gd name="T2" fmla="*/ 0 w 369"/>
                    <a:gd name="T3" fmla="*/ 0 h 448"/>
                    <a:gd name="T4" fmla="*/ 0 w 369"/>
                    <a:gd name="T5" fmla="*/ 0 h 448"/>
                    <a:gd name="T6" fmla="*/ 0 w 369"/>
                    <a:gd name="T7" fmla="*/ 0 h 448"/>
                    <a:gd name="T8" fmla="*/ 0 w 369"/>
                    <a:gd name="T9" fmla="*/ 0 h 448"/>
                    <a:gd name="T10" fmla="*/ 0 w 369"/>
                    <a:gd name="T11" fmla="*/ 0 h 448"/>
                    <a:gd name="T12" fmla="*/ 0 w 369"/>
                    <a:gd name="T13" fmla="*/ 0 h 448"/>
                    <a:gd name="T14" fmla="*/ 0 w 369"/>
                    <a:gd name="T15" fmla="*/ 0 h 448"/>
                    <a:gd name="T16" fmla="*/ 0 w 369"/>
                    <a:gd name="T17" fmla="*/ 0 h 448"/>
                    <a:gd name="T18" fmla="*/ 0 w 369"/>
                    <a:gd name="T19" fmla="*/ 0 h 448"/>
                    <a:gd name="T20" fmla="*/ 0 w 369"/>
                    <a:gd name="T21" fmla="*/ 0 h 448"/>
                    <a:gd name="T22" fmla="*/ 0 w 369"/>
                    <a:gd name="T23" fmla="*/ 0 h 448"/>
                    <a:gd name="T24" fmla="*/ 0 w 369"/>
                    <a:gd name="T25" fmla="*/ 0 h 448"/>
                    <a:gd name="T26" fmla="*/ 0 w 369"/>
                    <a:gd name="T27" fmla="*/ 0 h 448"/>
                    <a:gd name="T28" fmla="*/ 0 w 369"/>
                    <a:gd name="T29" fmla="*/ 0 h 448"/>
                    <a:gd name="T30" fmla="*/ 0 w 369"/>
                    <a:gd name="T31" fmla="*/ 0 h 448"/>
                    <a:gd name="T32" fmla="*/ 0 w 369"/>
                    <a:gd name="T33" fmla="*/ 0 h 448"/>
                    <a:gd name="T34" fmla="*/ 0 w 369"/>
                    <a:gd name="T35" fmla="*/ 0 h 448"/>
                    <a:gd name="T36" fmla="*/ 0 w 369"/>
                    <a:gd name="T37" fmla="*/ 0 h 448"/>
                    <a:gd name="T38" fmla="*/ 0 w 369"/>
                    <a:gd name="T39" fmla="*/ 0 h 448"/>
                    <a:gd name="T40" fmla="*/ 0 w 369"/>
                    <a:gd name="T41" fmla="*/ 0 h 448"/>
                    <a:gd name="T42" fmla="*/ 0 w 369"/>
                    <a:gd name="T43" fmla="*/ 0 h 448"/>
                    <a:gd name="T44" fmla="*/ 0 w 369"/>
                    <a:gd name="T45" fmla="*/ 0 h 448"/>
                    <a:gd name="T46" fmla="*/ 0 w 369"/>
                    <a:gd name="T47" fmla="*/ 0 h 448"/>
                    <a:gd name="T48" fmla="*/ 0 w 369"/>
                    <a:gd name="T49" fmla="*/ 0 h 448"/>
                    <a:gd name="T50" fmla="*/ 0 w 369"/>
                    <a:gd name="T51" fmla="*/ 0 h 448"/>
                    <a:gd name="T52" fmla="*/ 0 w 369"/>
                    <a:gd name="T53" fmla="*/ 0 h 448"/>
                    <a:gd name="T54" fmla="*/ 0 w 369"/>
                    <a:gd name="T55" fmla="*/ 0 h 448"/>
                    <a:gd name="T56" fmla="*/ 0 w 369"/>
                    <a:gd name="T57" fmla="*/ 0 h 448"/>
                    <a:gd name="T58" fmla="*/ 0 w 369"/>
                    <a:gd name="T59" fmla="*/ 0 h 448"/>
                    <a:gd name="T60" fmla="*/ 0 w 369"/>
                    <a:gd name="T61" fmla="*/ 0 h 448"/>
                    <a:gd name="T62" fmla="*/ 0 w 369"/>
                    <a:gd name="T63" fmla="*/ 0 h 448"/>
                    <a:gd name="T64" fmla="*/ 0 w 369"/>
                    <a:gd name="T65" fmla="*/ 0 h 448"/>
                    <a:gd name="T66" fmla="*/ 0 w 369"/>
                    <a:gd name="T67" fmla="*/ 0 h 448"/>
                    <a:gd name="T68" fmla="*/ 0 w 369"/>
                    <a:gd name="T69" fmla="*/ 0 h 448"/>
                    <a:gd name="T70" fmla="*/ 0 w 369"/>
                    <a:gd name="T71" fmla="*/ 0 h 448"/>
                    <a:gd name="T72" fmla="*/ 0 w 369"/>
                    <a:gd name="T73" fmla="*/ 0 h 448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369"/>
                    <a:gd name="T112" fmla="*/ 0 h 448"/>
                    <a:gd name="T113" fmla="*/ 369 w 369"/>
                    <a:gd name="T114" fmla="*/ 448 h 448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369" h="448">
                      <a:moveTo>
                        <a:pt x="301" y="427"/>
                      </a:moveTo>
                      <a:lnTo>
                        <a:pt x="100" y="139"/>
                      </a:lnTo>
                      <a:lnTo>
                        <a:pt x="119" y="160"/>
                      </a:lnTo>
                      <a:lnTo>
                        <a:pt x="137" y="180"/>
                      </a:lnTo>
                      <a:lnTo>
                        <a:pt x="157" y="201"/>
                      </a:lnTo>
                      <a:lnTo>
                        <a:pt x="179" y="222"/>
                      </a:lnTo>
                      <a:lnTo>
                        <a:pt x="201" y="245"/>
                      </a:lnTo>
                      <a:lnTo>
                        <a:pt x="222" y="264"/>
                      </a:lnTo>
                      <a:lnTo>
                        <a:pt x="243" y="282"/>
                      </a:lnTo>
                      <a:lnTo>
                        <a:pt x="266" y="302"/>
                      </a:lnTo>
                      <a:lnTo>
                        <a:pt x="369" y="448"/>
                      </a:lnTo>
                      <a:lnTo>
                        <a:pt x="356" y="446"/>
                      </a:lnTo>
                      <a:lnTo>
                        <a:pt x="339" y="443"/>
                      </a:lnTo>
                      <a:lnTo>
                        <a:pt x="320" y="435"/>
                      </a:lnTo>
                      <a:lnTo>
                        <a:pt x="301" y="427"/>
                      </a:lnTo>
                      <a:close/>
                      <a:moveTo>
                        <a:pt x="46" y="68"/>
                      </a:moveTo>
                      <a:lnTo>
                        <a:pt x="0" y="0"/>
                      </a:lnTo>
                      <a:lnTo>
                        <a:pt x="13" y="3"/>
                      </a:lnTo>
                      <a:lnTo>
                        <a:pt x="26" y="3"/>
                      </a:lnTo>
                      <a:lnTo>
                        <a:pt x="40" y="3"/>
                      </a:lnTo>
                      <a:lnTo>
                        <a:pt x="54" y="0"/>
                      </a:lnTo>
                      <a:lnTo>
                        <a:pt x="81" y="38"/>
                      </a:lnTo>
                      <a:lnTo>
                        <a:pt x="75" y="35"/>
                      </a:lnTo>
                      <a:lnTo>
                        <a:pt x="67" y="33"/>
                      </a:lnTo>
                      <a:lnTo>
                        <a:pt x="62" y="30"/>
                      </a:lnTo>
                      <a:lnTo>
                        <a:pt x="56" y="30"/>
                      </a:lnTo>
                      <a:lnTo>
                        <a:pt x="54" y="33"/>
                      </a:lnTo>
                      <a:lnTo>
                        <a:pt x="54" y="35"/>
                      </a:lnTo>
                      <a:lnTo>
                        <a:pt x="54" y="38"/>
                      </a:lnTo>
                      <a:lnTo>
                        <a:pt x="54" y="41"/>
                      </a:lnTo>
                      <a:lnTo>
                        <a:pt x="51" y="38"/>
                      </a:lnTo>
                      <a:lnTo>
                        <a:pt x="49" y="38"/>
                      </a:lnTo>
                      <a:lnTo>
                        <a:pt x="46" y="41"/>
                      </a:lnTo>
                      <a:lnTo>
                        <a:pt x="43" y="46"/>
                      </a:lnTo>
                      <a:lnTo>
                        <a:pt x="43" y="51"/>
                      </a:lnTo>
                      <a:lnTo>
                        <a:pt x="43" y="60"/>
                      </a:lnTo>
                      <a:lnTo>
                        <a:pt x="46" y="68"/>
                      </a:lnTo>
                      <a:close/>
                    </a:path>
                  </a:pathLst>
                </a:custGeom>
                <a:solidFill>
                  <a:srgbClr val="66965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67" name="Freeform 416"/>
                <p:cNvSpPr>
                  <a:spLocks noEditPoints="1"/>
                </p:cNvSpPr>
                <p:nvPr/>
              </p:nvSpPr>
              <p:spPr bwMode="auto">
                <a:xfrm>
                  <a:off x="4788" y="1321"/>
                  <a:ext cx="94" cy="114"/>
                </a:xfrm>
                <a:custGeom>
                  <a:avLst/>
                  <a:gdLst>
                    <a:gd name="T0" fmla="*/ 0 w 376"/>
                    <a:gd name="T1" fmla="*/ 0 h 454"/>
                    <a:gd name="T2" fmla="*/ 0 w 376"/>
                    <a:gd name="T3" fmla="*/ 0 h 454"/>
                    <a:gd name="T4" fmla="*/ 0 w 376"/>
                    <a:gd name="T5" fmla="*/ 0 h 454"/>
                    <a:gd name="T6" fmla="*/ 0 w 376"/>
                    <a:gd name="T7" fmla="*/ 0 h 454"/>
                    <a:gd name="T8" fmla="*/ 0 w 376"/>
                    <a:gd name="T9" fmla="*/ 0 h 454"/>
                    <a:gd name="T10" fmla="*/ 0 w 376"/>
                    <a:gd name="T11" fmla="*/ 0 h 454"/>
                    <a:gd name="T12" fmla="*/ 0 w 376"/>
                    <a:gd name="T13" fmla="*/ 0 h 454"/>
                    <a:gd name="T14" fmla="*/ 0 w 376"/>
                    <a:gd name="T15" fmla="*/ 0 h 454"/>
                    <a:gd name="T16" fmla="*/ 0 w 376"/>
                    <a:gd name="T17" fmla="*/ 0 h 454"/>
                    <a:gd name="T18" fmla="*/ 0 w 376"/>
                    <a:gd name="T19" fmla="*/ 0 h 454"/>
                    <a:gd name="T20" fmla="*/ 0 w 376"/>
                    <a:gd name="T21" fmla="*/ 0 h 454"/>
                    <a:gd name="T22" fmla="*/ 0 w 376"/>
                    <a:gd name="T23" fmla="*/ 0 h 454"/>
                    <a:gd name="T24" fmla="*/ 0 w 376"/>
                    <a:gd name="T25" fmla="*/ 0 h 454"/>
                    <a:gd name="T26" fmla="*/ 0 w 376"/>
                    <a:gd name="T27" fmla="*/ 0 h 454"/>
                    <a:gd name="T28" fmla="*/ 0 w 376"/>
                    <a:gd name="T29" fmla="*/ 0 h 454"/>
                    <a:gd name="T30" fmla="*/ 0 w 376"/>
                    <a:gd name="T31" fmla="*/ 0 h 454"/>
                    <a:gd name="T32" fmla="*/ 0 w 376"/>
                    <a:gd name="T33" fmla="*/ 0 h 454"/>
                    <a:gd name="T34" fmla="*/ 0 w 376"/>
                    <a:gd name="T35" fmla="*/ 0 h 454"/>
                    <a:gd name="T36" fmla="*/ 0 w 376"/>
                    <a:gd name="T37" fmla="*/ 0 h 454"/>
                    <a:gd name="T38" fmla="*/ 0 w 376"/>
                    <a:gd name="T39" fmla="*/ 0 h 454"/>
                    <a:gd name="T40" fmla="*/ 0 w 376"/>
                    <a:gd name="T41" fmla="*/ 0 h 454"/>
                    <a:gd name="T42" fmla="*/ 0 w 376"/>
                    <a:gd name="T43" fmla="*/ 0 h 454"/>
                    <a:gd name="T44" fmla="*/ 0 w 376"/>
                    <a:gd name="T45" fmla="*/ 0 h 454"/>
                    <a:gd name="T46" fmla="*/ 0 w 376"/>
                    <a:gd name="T47" fmla="*/ 0 h 454"/>
                    <a:gd name="T48" fmla="*/ 0 w 376"/>
                    <a:gd name="T49" fmla="*/ 0 h 454"/>
                    <a:gd name="T50" fmla="*/ 0 w 376"/>
                    <a:gd name="T51" fmla="*/ 0 h 454"/>
                    <a:gd name="T52" fmla="*/ 0 w 376"/>
                    <a:gd name="T53" fmla="*/ 0 h 454"/>
                    <a:gd name="T54" fmla="*/ 0 w 376"/>
                    <a:gd name="T55" fmla="*/ 0 h 454"/>
                    <a:gd name="T56" fmla="*/ 0 w 376"/>
                    <a:gd name="T57" fmla="*/ 0 h 454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376"/>
                    <a:gd name="T88" fmla="*/ 0 h 454"/>
                    <a:gd name="T89" fmla="*/ 376 w 376"/>
                    <a:gd name="T90" fmla="*/ 454 h 454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376" h="454">
                      <a:moveTo>
                        <a:pt x="313" y="441"/>
                      </a:moveTo>
                      <a:lnTo>
                        <a:pt x="175" y="245"/>
                      </a:lnTo>
                      <a:lnTo>
                        <a:pt x="191" y="261"/>
                      </a:lnTo>
                      <a:lnTo>
                        <a:pt x="207" y="275"/>
                      </a:lnTo>
                      <a:lnTo>
                        <a:pt x="224" y="288"/>
                      </a:lnTo>
                      <a:lnTo>
                        <a:pt x="237" y="302"/>
                      </a:lnTo>
                      <a:lnTo>
                        <a:pt x="253" y="316"/>
                      </a:lnTo>
                      <a:lnTo>
                        <a:pt x="267" y="326"/>
                      </a:lnTo>
                      <a:lnTo>
                        <a:pt x="280" y="337"/>
                      </a:lnTo>
                      <a:lnTo>
                        <a:pt x="294" y="346"/>
                      </a:lnTo>
                      <a:lnTo>
                        <a:pt x="376" y="454"/>
                      </a:lnTo>
                      <a:lnTo>
                        <a:pt x="362" y="454"/>
                      </a:lnTo>
                      <a:lnTo>
                        <a:pt x="346" y="451"/>
                      </a:lnTo>
                      <a:lnTo>
                        <a:pt x="330" y="446"/>
                      </a:lnTo>
                      <a:lnTo>
                        <a:pt x="313" y="441"/>
                      </a:lnTo>
                      <a:close/>
                      <a:moveTo>
                        <a:pt x="28" y="38"/>
                      </a:moveTo>
                      <a:lnTo>
                        <a:pt x="0" y="5"/>
                      </a:lnTo>
                      <a:lnTo>
                        <a:pt x="14" y="5"/>
                      </a:lnTo>
                      <a:lnTo>
                        <a:pt x="28" y="3"/>
                      </a:lnTo>
                      <a:lnTo>
                        <a:pt x="41" y="0"/>
                      </a:lnTo>
                      <a:lnTo>
                        <a:pt x="55" y="0"/>
                      </a:lnTo>
                      <a:lnTo>
                        <a:pt x="109" y="79"/>
                      </a:lnTo>
                      <a:lnTo>
                        <a:pt x="85" y="60"/>
                      </a:lnTo>
                      <a:lnTo>
                        <a:pt x="63" y="44"/>
                      </a:lnTo>
                      <a:lnTo>
                        <a:pt x="44" y="33"/>
                      </a:lnTo>
                      <a:lnTo>
                        <a:pt x="30" y="30"/>
                      </a:lnTo>
                      <a:lnTo>
                        <a:pt x="28" y="33"/>
                      </a:lnTo>
                      <a:lnTo>
                        <a:pt x="28" y="35"/>
                      </a:lnTo>
                      <a:lnTo>
                        <a:pt x="28" y="38"/>
                      </a:lnTo>
                      <a:close/>
                    </a:path>
                  </a:pathLst>
                </a:custGeom>
                <a:solidFill>
                  <a:srgbClr val="6899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68" name="Freeform 417"/>
                <p:cNvSpPr>
                  <a:spLocks noEditPoints="1"/>
                </p:cNvSpPr>
                <p:nvPr/>
              </p:nvSpPr>
              <p:spPr bwMode="auto">
                <a:xfrm>
                  <a:off x="4795" y="1321"/>
                  <a:ext cx="93" cy="113"/>
                </a:xfrm>
                <a:custGeom>
                  <a:avLst/>
                  <a:gdLst>
                    <a:gd name="T0" fmla="*/ 0 w 369"/>
                    <a:gd name="T1" fmla="*/ 0 h 451"/>
                    <a:gd name="T2" fmla="*/ 0 w 369"/>
                    <a:gd name="T3" fmla="*/ 0 h 451"/>
                    <a:gd name="T4" fmla="*/ 0 w 369"/>
                    <a:gd name="T5" fmla="*/ 0 h 451"/>
                    <a:gd name="T6" fmla="*/ 0 w 369"/>
                    <a:gd name="T7" fmla="*/ 0 h 451"/>
                    <a:gd name="T8" fmla="*/ 0 w 369"/>
                    <a:gd name="T9" fmla="*/ 0 h 451"/>
                    <a:gd name="T10" fmla="*/ 0 w 369"/>
                    <a:gd name="T11" fmla="*/ 0 h 451"/>
                    <a:gd name="T12" fmla="*/ 0 w 369"/>
                    <a:gd name="T13" fmla="*/ 0 h 451"/>
                    <a:gd name="T14" fmla="*/ 0 w 369"/>
                    <a:gd name="T15" fmla="*/ 0 h 451"/>
                    <a:gd name="T16" fmla="*/ 0 w 369"/>
                    <a:gd name="T17" fmla="*/ 0 h 451"/>
                    <a:gd name="T18" fmla="*/ 0 w 369"/>
                    <a:gd name="T19" fmla="*/ 0 h 451"/>
                    <a:gd name="T20" fmla="*/ 0 w 369"/>
                    <a:gd name="T21" fmla="*/ 0 h 451"/>
                    <a:gd name="T22" fmla="*/ 0 w 369"/>
                    <a:gd name="T23" fmla="*/ 0 h 451"/>
                    <a:gd name="T24" fmla="*/ 0 w 369"/>
                    <a:gd name="T25" fmla="*/ 0 h 451"/>
                    <a:gd name="T26" fmla="*/ 0 w 369"/>
                    <a:gd name="T27" fmla="*/ 0 h 451"/>
                    <a:gd name="T28" fmla="*/ 0 w 369"/>
                    <a:gd name="T29" fmla="*/ 0 h 451"/>
                    <a:gd name="T30" fmla="*/ 0 w 369"/>
                    <a:gd name="T31" fmla="*/ 0 h 451"/>
                    <a:gd name="T32" fmla="*/ 0 w 369"/>
                    <a:gd name="T33" fmla="*/ 0 h 451"/>
                    <a:gd name="T34" fmla="*/ 0 w 369"/>
                    <a:gd name="T35" fmla="*/ 0 h 451"/>
                    <a:gd name="T36" fmla="*/ 0 w 369"/>
                    <a:gd name="T37" fmla="*/ 0 h 451"/>
                    <a:gd name="T38" fmla="*/ 0 w 369"/>
                    <a:gd name="T39" fmla="*/ 0 h 451"/>
                    <a:gd name="T40" fmla="*/ 0 w 369"/>
                    <a:gd name="T41" fmla="*/ 0 h 451"/>
                    <a:gd name="T42" fmla="*/ 0 w 369"/>
                    <a:gd name="T43" fmla="*/ 0 h 451"/>
                    <a:gd name="T44" fmla="*/ 0 w 369"/>
                    <a:gd name="T45" fmla="*/ 0 h 451"/>
                    <a:gd name="T46" fmla="*/ 0 w 369"/>
                    <a:gd name="T47" fmla="*/ 0 h 451"/>
                    <a:gd name="T48" fmla="*/ 0 w 369"/>
                    <a:gd name="T49" fmla="*/ 0 h 451"/>
                    <a:gd name="T50" fmla="*/ 0 w 369"/>
                    <a:gd name="T51" fmla="*/ 0 h 451"/>
                    <a:gd name="T52" fmla="*/ 0 w 369"/>
                    <a:gd name="T53" fmla="*/ 0 h 451"/>
                    <a:gd name="T54" fmla="*/ 0 w 369"/>
                    <a:gd name="T55" fmla="*/ 0 h 451"/>
                    <a:gd name="T56" fmla="*/ 0 w 369"/>
                    <a:gd name="T57" fmla="*/ 0 h 451"/>
                    <a:gd name="T58" fmla="*/ 0 w 369"/>
                    <a:gd name="T59" fmla="*/ 0 h 451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369"/>
                    <a:gd name="T91" fmla="*/ 0 h 451"/>
                    <a:gd name="T92" fmla="*/ 369 w 369"/>
                    <a:gd name="T93" fmla="*/ 451 h 451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369" h="451">
                      <a:moveTo>
                        <a:pt x="315" y="448"/>
                      </a:moveTo>
                      <a:lnTo>
                        <a:pt x="212" y="302"/>
                      </a:lnTo>
                      <a:lnTo>
                        <a:pt x="225" y="312"/>
                      </a:lnTo>
                      <a:lnTo>
                        <a:pt x="239" y="323"/>
                      </a:lnTo>
                      <a:lnTo>
                        <a:pt x="252" y="332"/>
                      </a:lnTo>
                      <a:lnTo>
                        <a:pt x="266" y="340"/>
                      </a:lnTo>
                      <a:lnTo>
                        <a:pt x="277" y="348"/>
                      </a:lnTo>
                      <a:lnTo>
                        <a:pt x="290" y="353"/>
                      </a:lnTo>
                      <a:lnTo>
                        <a:pt x="298" y="358"/>
                      </a:lnTo>
                      <a:lnTo>
                        <a:pt x="309" y="362"/>
                      </a:lnTo>
                      <a:lnTo>
                        <a:pt x="369" y="448"/>
                      </a:lnTo>
                      <a:lnTo>
                        <a:pt x="358" y="451"/>
                      </a:lnTo>
                      <a:lnTo>
                        <a:pt x="348" y="451"/>
                      </a:lnTo>
                      <a:lnTo>
                        <a:pt x="332" y="451"/>
                      </a:lnTo>
                      <a:lnTo>
                        <a:pt x="315" y="448"/>
                      </a:lnTo>
                      <a:close/>
                      <a:moveTo>
                        <a:pt x="27" y="38"/>
                      </a:moveTo>
                      <a:lnTo>
                        <a:pt x="0" y="0"/>
                      </a:lnTo>
                      <a:lnTo>
                        <a:pt x="13" y="0"/>
                      </a:lnTo>
                      <a:lnTo>
                        <a:pt x="27" y="0"/>
                      </a:lnTo>
                      <a:lnTo>
                        <a:pt x="41" y="3"/>
                      </a:lnTo>
                      <a:lnTo>
                        <a:pt x="54" y="5"/>
                      </a:lnTo>
                      <a:lnTo>
                        <a:pt x="147" y="130"/>
                      </a:lnTo>
                      <a:lnTo>
                        <a:pt x="131" y="117"/>
                      </a:lnTo>
                      <a:lnTo>
                        <a:pt x="111" y="104"/>
                      </a:lnTo>
                      <a:lnTo>
                        <a:pt x="95" y="90"/>
                      </a:lnTo>
                      <a:lnTo>
                        <a:pt x="78" y="76"/>
                      </a:lnTo>
                      <a:lnTo>
                        <a:pt x="65" y="65"/>
                      </a:lnTo>
                      <a:lnTo>
                        <a:pt x="51" y="54"/>
                      </a:lnTo>
                      <a:lnTo>
                        <a:pt x="37" y="46"/>
                      </a:lnTo>
                      <a:lnTo>
                        <a:pt x="27" y="38"/>
                      </a:lnTo>
                      <a:close/>
                    </a:path>
                  </a:pathLst>
                </a:custGeom>
                <a:solidFill>
                  <a:srgbClr val="6899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69" name="Freeform 418"/>
                <p:cNvSpPr>
                  <a:spLocks noEditPoints="1"/>
                </p:cNvSpPr>
                <p:nvPr/>
              </p:nvSpPr>
              <p:spPr bwMode="auto">
                <a:xfrm>
                  <a:off x="4802" y="1321"/>
                  <a:ext cx="90" cy="114"/>
                </a:xfrm>
                <a:custGeom>
                  <a:avLst/>
                  <a:gdLst>
                    <a:gd name="T0" fmla="*/ 0 w 361"/>
                    <a:gd name="T1" fmla="*/ 0 h 454"/>
                    <a:gd name="T2" fmla="*/ 0 w 361"/>
                    <a:gd name="T3" fmla="*/ 0 h 454"/>
                    <a:gd name="T4" fmla="*/ 0 w 361"/>
                    <a:gd name="T5" fmla="*/ 0 h 454"/>
                    <a:gd name="T6" fmla="*/ 0 w 361"/>
                    <a:gd name="T7" fmla="*/ 0 h 454"/>
                    <a:gd name="T8" fmla="*/ 0 w 361"/>
                    <a:gd name="T9" fmla="*/ 0 h 454"/>
                    <a:gd name="T10" fmla="*/ 0 w 361"/>
                    <a:gd name="T11" fmla="*/ 0 h 454"/>
                    <a:gd name="T12" fmla="*/ 0 w 361"/>
                    <a:gd name="T13" fmla="*/ 0 h 454"/>
                    <a:gd name="T14" fmla="*/ 0 w 361"/>
                    <a:gd name="T15" fmla="*/ 0 h 454"/>
                    <a:gd name="T16" fmla="*/ 0 w 361"/>
                    <a:gd name="T17" fmla="*/ 0 h 454"/>
                    <a:gd name="T18" fmla="*/ 0 w 361"/>
                    <a:gd name="T19" fmla="*/ 0 h 454"/>
                    <a:gd name="T20" fmla="*/ 0 w 361"/>
                    <a:gd name="T21" fmla="*/ 0 h 454"/>
                    <a:gd name="T22" fmla="*/ 0 w 361"/>
                    <a:gd name="T23" fmla="*/ 0 h 454"/>
                    <a:gd name="T24" fmla="*/ 0 w 361"/>
                    <a:gd name="T25" fmla="*/ 0 h 454"/>
                    <a:gd name="T26" fmla="*/ 0 w 361"/>
                    <a:gd name="T27" fmla="*/ 0 h 454"/>
                    <a:gd name="T28" fmla="*/ 0 w 361"/>
                    <a:gd name="T29" fmla="*/ 0 h 454"/>
                    <a:gd name="T30" fmla="*/ 0 w 361"/>
                    <a:gd name="T31" fmla="*/ 0 h 454"/>
                    <a:gd name="T32" fmla="*/ 0 w 361"/>
                    <a:gd name="T33" fmla="*/ 0 h 454"/>
                    <a:gd name="T34" fmla="*/ 0 w 361"/>
                    <a:gd name="T35" fmla="*/ 0 h 454"/>
                    <a:gd name="T36" fmla="*/ 0 w 361"/>
                    <a:gd name="T37" fmla="*/ 0 h 454"/>
                    <a:gd name="T38" fmla="*/ 0 w 361"/>
                    <a:gd name="T39" fmla="*/ 0 h 454"/>
                    <a:gd name="T40" fmla="*/ 0 w 361"/>
                    <a:gd name="T41" fmla="*/ 0 h 454"/>
                    <a:gd name="T42" fmla="*/ 0 w 361"/>
                    <a:gd name="T43" fmla="*/ 0 h 454"/>
                    <a:gd name="T44" fmla="*/ 0 w 361"/>
                    <a:gd name="T45" fmla="*/ 0 h 454"/>
                    <a:gd name="T46" fmla="*/ 0 w 361"/>
                    <a:gd name="T47" fmla="*/ 0 h 454"/>
                    <a:gd name="T48" fmla="*/ 0 w 361"/>
                    <a:gd name="T49" fmla="*/ 0 h 454"/>
                    <a:gd name="T50" fmla="*/ 0 w 361"/>
                    <a:gd name="T51" fmla="*/ 0 h 454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361"/>
                    <a:gd name="T79" fmla="*/ 0 h 454"/>
                    <a:gd name="T80" fmla="*/ 361 w 361"/>
                    <a:gd name="T81" fmla="*/ 454 h 454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361" h="454">
                      <a:moveTo>
                        <a:pt x="321" y="454"/>
                      </a:moveTo>
                      <a:lnTo>
                        <a:pt x="239" y="346"/>
                      </a:lnTo>
                      <a:lnTo>
                        <a:pt x="263" y="356"/>
                      </a:lnTo>
                      <a:lnTo>
                        <a:pt x="282" y="362"/>
                      </a:lnTo>
                      <a:lnTo>
                        <a:pt x="296" y="362"/>
                      </a:lnTo>
                      <a:lnTo>
                        <a:pt x="305" y="356"/>
                      </a:lnTo>
                      <a:lnTo>
                        <a:pt x="361" y="441"/>
                      </a:lnTo>
                      <a:lnTo>
                        <a:pt x="353" y="446"/>
                      </a:lnTo>
                      <a:lnTo>
                        <a:pt x="342" y="451"/>
                      </a:lnTo>
                      <a:lnTo>
                        <a:pt x="331" y="454"/>
                      </a:lnTo>
                      <a:lnTo>
                        <a:pt x="321" y="454"/>
                      </a:lnTo>
                      <a:close/>
                      <a:moveTo>
                        <a:pt x="54" y="79"/>
                      </a:moveTo>
                      <a:lnTo>
                        <a:pt x="0" y="0"/>
                      </a:lnTo>
                      <a:lnTo>
                        <a:pt x="16" y="0"/>
                      </a:lnTo>
                      <a:lnTo>
                        <a:pt x="33" y="3"/>
                      </a:lnTo>
                      <a:lnTo>
                        <a:pt x="46" y="5"/>
                      </a:lnTo>
                      <a:lnTo>
                        <a:pt x="62" y="8"/>
                      </a:lnTo>
                      <a:lnTo>
                        <a:pt x="182" y="180"/>
                      </a:lnTo>
                      <a:lnTo>
                        <a:pt x="166" y="169"/>
                      </a:lnTo>
                      <a:lnTo>
                        <a:pt x="150" y="157"/>
                      </a:lnTo>
                      <a:lnTo>
                        <a:pt x="133" y="144"/>
                      </a:lnTo>
                      <a:lnTo>
                        <a:pt x="116" y="130"/>
                      </a:lnTo>
                      <a:lnTo>
                        <a:pt x="100" y="117"/>
                      </a:lnTo>
                      <a:lnTo>
                        <a:pt x="84" y="104"/>
                      </a:lnTo>
                      <a:lnTo>
                        <a:pt x="68" y="90"/>
                      </a:lnTo>
                      <a:lnTo>
                        <a:pt x="54" y="79"/>
                      </a:lnTo>
                      <a:close/>
                    </a:path>
                  </a:pathLst>
                </a:custGeom>
                <a:solidFill>
                  <a:srgbClr val="6D9B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70" name="Freeform 419"/>
                <p:cNvSpPr>
                  <a:spLocks noEditPoints="1"/>
                </p:cNvSpPr>
                <p:nvPr/>
              </p:nvSpPr>
              <p:spPr bwMode="auto">
                <a:xfrm>
                  <a:off x="4809" y="1323"/>
                  <a:ext cx="87" cy="110"/>
                </a:xfrm>
                <a:custGeom>
                  <a:avLst/>
                  <a:gdLst>
                    <a:gd name="T0" fmla="*/ 0 w 350"/>
                    <a:gd name="T1" fmla="*/ 0 h 443"/>
                    <a:gd name="T2" fmla="*/ 0 w 350"/>
                    <a:gd name="T3" fmla="*/ 0 h 443"/>
                    <a:gd name="T4" fmla="*/ 0 w 350"/>
                    <a:gd name="T5" fmla="*/ 0 h 443"/>
                    <a:gd name="T6" fmla="*/ 0 w 350"/>
                    <a:gd name="T7" fmla="*/ 0 h 443"/>
                    <a:gd name="T8" fmla="*/ 0 w 350"/>
                    <a:gd name="T9" fmla="*/ 0 h 443"/>
                    <a:gd name="T10" fmla="*/ 0 w 350"/>
                    <a:gd name="T11" fmla="*/ 0 h 443"/>
                    <a:gd name="T12" fmla="*/ 0 w 350"/>
                    <a:gd name="T13" fmla="*/ 0 h 443"/>
                    <a:gd name="T14" fmla="*/ 0 w 350"/>
                    <a:gd name="T15" fmla="*/ 0 h 443"/>
                    <a:gd name="T16" fmla="*/ 0 w 350"/>
                    <a:gd name="T17" fmla="*/ 0 h 443"/>
                    <a:gd name="T18" fmla="*/ 0 w 350"/>
                    <a:gd name="T19" fmla="*/ 0 h 443"/>
                    <a:gd name="T20" fmla="*/ 0 w 350"/>
                    <a:gd name="T21" fmla="*/ 0 h 443"/>
                    <a:gd name="T22" fmla="*/ 0 w 350"/>
                    <a:gd name="T23" fmla="*/ 0 h 443"/>
                    <a:gd name="T24" fmla="*/ 0 w 350"/>
                    <a:gd name="T25" fmla="*/ 0 h 443"/>
                    <a:gd name="T26" fmla="*/ 0 w 350"/>
                    <a:gd name="T27" fmla="*/ 0 h 443"/>
                    <a:gd name="T28" fmla="*/ 0 w 350"/>
                    <a:gd name="T29" fmla="*/ 0 h 443"/>
                    <a:gd name="T30" fmla="*/ 0 w 350"/>
                    <a:gd name="T31" fmla="*/ 0 h 443"/>
                    <a:gd name="T32" fmla="*/ 0 w 350"/>
                    <a:gd name="T33" fmla="*/ 0 h 443"/>
                    <a:gd name="T34" fmla="*/ 0 w 350"/>
                    <a:gd name="T35" fmla="*/ 0 h 443"/>
                    <a:gd name="T36" fmla="*/ 0 w 350"/>
                    <a:gd name="T37" fmla="*/ 0 h 443"/>
                    <a:gd name="T38" fmla="*/ 0 w 350"/>
                    <a:gd name="T39" fmla="*/ 0 h 443"/>
                    <a:gd name="T40" fmla="*/ 0 w 350"/>
                    <a:gd name="T41" fmla="*/ 0 h 443"/>
                    <a:gd name="T42" fmla="*/ 0 w 350"/>
                    <a:gd name="T43" fmla="*/ 0 h 443"/>
                    <a:gd name="T44" fmla="*/ 0 w 350"/>
                    <a:gd name="T45" fmla="*/ 0 h 443"/>
                    <a:gd name="T46" fmla="*/ 0 w 350"/>
                    <a:gd name="T47" fmla="*/ 0 h 443"/>
                    <a:gd name="T48" fmla="*/ 0 w 350"/>
                    <a:gd name="T49" fmla="*/ 0 h 443"/>
                    <a:gd name="T50" fmla="*/ 0 w 350"/>
                    <a:gd name="T51" fmla="*/ 0 h 443"/>
                    <a:gd name="T52" fmla="*/ 0 w 350"/>
                    <a:gd name="T53" fmla="*/ 0 h 443"/>
                    <a:gd name="T54" fmla="*/ 0 w 350"/>
                    <a:gd name="T55" fmla="*/ 0 h 443"/>
                    <a:gd name="T56" fmla="*/ 0 w 350"/>
                    <a:gd name="T57" fmla="*/ 0 h 443"/>
                    <a:gd name="T58" fmla="*/ 0 w 350"/>
                    <a:gd name="T59" fmla="*/ 0 h 443"/>
                    <a:gd name="T60" fmla="*/ 0 w 350"/>
                    <a:gd name="T61" fmla="*/ 0 h 443"/>
                    <a:gd name="T62" fmla="*/ 0 w 350"/>
                    <a:gd name="T63" fmla="*/ 0 h 443"/>
                    <a:gd name="T64" fmla="*/ 0 w 350"/>
                    <a:gd name="T65" fmla="*/ 0 h 443"/>
                    <a:gd name="T66" fmla="*/ 0 w 350"/>
                    <a:gd name="T67" fmla="*/ 0 h 443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350"/>
                    <a:gd name="T103" fmla="*/ 0 h 443"/>
                    <a:gd name="T104" fmla="*/ 350 w 350"/>
                    <a:gd name="T105" fmla="*/ 443 h 443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350" h="443">
                      <a:moveTo>
                        <a:pt x="315" y="443"/>
                      </a:moveTo>
                      <a:lnTo>
                        <a:pt x="255" y="357"/>
                      </a:lnTo>
                      <a:lnTo>
                        <a:pt x="264" y="357"/>
                      </a:lnTo>
                      <a:lnTo>
                        <a:pt x="271" y="357"/>
                      </a:lnTo>
                      <a:lnTo>
                        <a:pt x="278" y="353"/>
                      </a:lnTo>
                      <a:lnTo>
                        <a:pt x="283" y="351"/>
                      </a:lnTo>
                      <a:lnTo>
                        <a:pt x="285" y="346"/>
                      </a:lnTo>
                      <a:lnTo>
                        <a:pt x="285" y="337"/>
                      </a:lnTo>
                      <a:lnTo>
                        <a:pt x="285" y="332"/>
                      </a:lnTo>
                      <a:lnTo>
                        <a:pt x="288" y="327"/>
                      </a:lnTo>
                      <a:lnTo>
                        <a:pt x="350" y="419"/>
                      </a:lnTo>
                      <a:lnTo>
                        <a:pt x="345" y="427"/>
                      </a:lnTo>
                      <a:lnTo>
                        <a:pt x="336" y="436"/>
                      </a:lnTo>
                      <a:lnTo>
                        <a:pt x="326" y="441"/>
                      </a:lnTo>
                      <a:lnTo>
                        <a:pt x="315" y="443"/>
                      </a:lnTo>
                      <a:close/>
                      <a:moveTo>
                        <a:pt x="93" y="125"/>
                      </a:moveTo>
                      <a:lnTo>
                        <a:pt x="0" y="0"/>
                      </a:lnTo>
                      <a:lnTo>
                        <a:pt x="13" y="3"/>
                      </a:lnTo>
                      <a:lnTo>
                        <a:pt x="27" y="3"/>
                      </a:lnTo>
                      <a:lnTo>
                        <a:pt x="41" y="6"/>
                      </a:lnTo>
                      <a:lnTo>
                        <a:pt x="54" y="11"/>
                      </a:lnTo>
                      <a:lnTo>
                        <a:pt x="57" y="14"/>
                      </a:lnTo>
                      <a:lnTo>
                        <a:pt x="63" y="16"/>
                      </a:lnTo>
                      <a:lnTo>
                        <a:pt x="68" y="20"/>
                      </a:lnTo>
                      <a:lnTo>
                        <a:pt x="73" y="25"/>
                      </a:lnTo>
                      <a:lnTo>
                        <a:pt x="212" y="217"/>
                      </a:lnTo>
                      <a:lnTo>
                        <a:pt x="198" y="210"/>
                      </a:lnTo>
                      <a:lnTo>
                        <a:pt x="182" y="199"/>
                      </a:lnTo>
                      <a:lnTo>
                        <a:pt x="169" y="188"/>
                      </a:lnTo>
                      <a:lnTo>
                        <a:pt x="155" y="175"/>
                      </a:lnTo>
                      <a:lnTo>
                        <a:pt x="139" y="164"/>
                      </a:lnTo>
                      <a:lnTo>
                        <a:pt x="125" y="150"/>
                      </a:lnTo>
                      <a:lnTo>
                        <a:pt x="109" y="139"/>
                      </a:lnTo>
                      <a:lnTo>
                        <a:pt x="93" y="125"/>
                      </a:lnTo>
                      <a:close/>
                    </a:path>
                  </a:pathLst>
                </a:custGeom>
                <a:solidFill>
                  <a:srgbClr val="709E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71" name="Freeform 420"/>
                <p:cNvSpPr>
                  <a:spLocks noEditPoints="1"/>
                </p:cNvSpPr>
                <p:nvPr/>
              </p:nvSpPr>
              <p:spPr bwMode="auto">
                <a:xfrm>
                  <a:off x="4817" y="1323"/>
                  <a:ext cx="83" cy="108"/>
                </a:xfrm>
                <a:custGeom>
                  <a:avLst/>
                  <a:gdLst>
                    <a:gd name="T0" fmla="*/ 0 w 331"/>
                    <a:gd name="T1" fmla="*/ 0 h 433"/>
                    <a:gd name="T2" fmla="*/ 0 w 331"/>
                    <a:gd name="T3" fmla="*/ 0 h 433"/>
                    <a:gd name="T4" fmla="*/ 0 w 331"/>
                    <a:gd name="T5" fmla="*/ 0 h 433"/>
                    <a:gd name="T6" fmla="*/ 0 w 331"/>
                    <a:gd name="T7" fmla="*/ 0 h 433"/>
                    <a:gd name="T8" fmla="*/ 0 w 331"/>
                    <a:gd name="T9" fmla="*/ 0 h 433"/>
                    <a:gd name="T10" fmla="*/ 0 w 331"/>
                    <a:gd name="T11" fmla="*/ 0 h 433"/>
                    <a:gd name="T12" fmla="*/ 0 w 331"/>
                    <a:gd name="T13" fmla="*/ 0 h 433"/>
                    <a:gd name="T14" fmla="*/ 0 w 331"/>
                    <a:gd name="T15" fmla="*/ 0 h 433"/>
                    <a:gd name="T16" fmla="*/ 0 w 331"/>
                    <a:gd name="T17" fmla="*/ 0 h 433"/>
                    <a:gd name="T18" fmla="*/ 0 w 331"/>
                    <a:gd name="T19" fmla="*/ 0 h 433"/>
                    <a:gd name="T20" fmla="*/ 0 w 331"/>
                    <a:gd name="T21" fmla="*/ 0 h 433"/>
                    <a:gd name="T22" fmla="*/ 0 w 331"/>
                    <a:gd name="T23" fmla="*/ 0 h 433"/>
                    <a:gd name="T24" fmla="*/ 0 w 331"/>
                    <a:gd name="T25" fmla="*/ 0 h 433"/>
                    <a:gd name="T26" fmla="*/ 0 w 331"/>
                    <a:gd name="T27" fmla="*/ 0 h 433"/>
                    <a:gd name="T28" fmla="*/ 0 w 331"/>
                    <a:gd name="T29" fmla="*/ 0 h 433"/>
                    <a:gd name="T30" fmla="*/ 0 w 331"/>
                    <a:gd name="T31" fmla="*/ 0 h 433"/>
                    <a:gd name="T32" fmla="*/ 0 w 331"/>
                    <a:gd name="T33" fmla="*/ 0 h 433"/>
                    <a:gd name="T34" fmla="*/ 0 w 331"/>
                    <a:gd name="T35" fmla="*/ 0 h 433"/>
                    <a:gd name="T36" fmla="*/ 0 w 331"/>
                    <a:gd name="T37" fmla="*/ 0 h 433"/>
                    <a:gd name="T38" fmla="*/ 0 w 331"/>
                    <a:gd name="T39" fmla="*/ 0 h 433"/>
                    <a:gd name="T40" fmla="*/ 0 w 331"/>
                    <a:gd name="T41" fmla="*/ 0 h 433"/>
                    <a:gd name="T42" fmla="*/ 0 w 331"/>
                    <a:gd name="T43" fmla="*/ 0 h 433"/>
                    <a:gd name="T44" fmla="*/ 0 w 331"/>
                    <a:gd name="T45" fmla="*/ 0 h 433"/>
                    <a:gd name="T46" fmla="*/ 0 w 331"/>
                    <a:gd name="T47" fmla="*/ 0 h 433"/>
                    <a:gd name="T48" fmla="*/ 0 w 331"/>
                    <a:gd name="T49" fmla="*/ 0 h 433"/>
                    <a:gd name="T50" fmla="*/ 0 w 331"/>
                    <a:gd name="T51" fmla="*/ 0 h 433"/>
                    <a:gd name="T52" fmla="*/ 0 w 331"/>
                    <a:gd name="T53" fmla="*/ 0 h 433"/>
                    <a:gd name="T54" fmla="*/ 0 w 331"/>
                    <a:gd name="T55" fmla="*/ 0 h 433"/>
                    <a:gd name="T56" fmla="*/ 0 w 331"/>
                    <a:gd name="T57" fmla="*/ 0 h 433"/>
                    <a:gd name="T58" fmla="*/ 0 w 331"/>
                    <a:gd name="T59" fmla="*/ 0 h 433"/>
                    <a:gd name="T60" fmla="*/ 0 w 331"/>
                    <a:gd name="T61" fmla="*/ 0 h 433"/>
                    <a:gd name="T62" fmla="*/ 0 w 331"/>
                    <a:gd name="T63" fmla="*/ 0 h 433"/>
                    <a:gd name="T64" fmla="*/ 0 w 331"/>
                    <a:gd name="T65" fmla="*/ 0 h 433"/>
                    <a:gd name="T66" fmla="*/ 0 w 331"/>
                    <a:gd name="T67" fmla="*/ 0 h 433"/>
                    <a:gd name="T68" fmla="*/ 0 w 331"/>
                    <a:gd name="T69" fmla="*/ 0 h 433"/>
                    <a:gd name="T70" fmla="*/ 0 w 331"/>
                    <a:gd name="T71" fmla="*/ 0 h 43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331"/>
                    <a:gd name="T109" fmla="*/ 0 h 433"/>
                    <a:gd name="T110" fmla="*/ 331 w 331"/>
                    <a:gd name="T111" fmla="*/ 433 h 433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331" h="433">
                      <a:moveTo>
                        <a:pt x="299" y="433"/>
                      </a:moveTo>
                      <a:lnTo>
                        <a:pt x="243" y="348"/>
                      </a:lnTo>
                      <a:lnTo>
                        <a:pt x="245" y="348"/>
                      </a:lnTo>
                      <a:lnTo>
                        <a:pt x="248" y="348"/>
                      </a:lnTo>
                      <a:lnTo>
                        <a:pt x="250" y="334"/>
                      </a:lnTo>
                      <a:lnTo>
                        <a:pt x="255" y="324"/>
                      </a:lnTo>
                      <a:lnTo>
                        <a:pt x="259" y="310"/>
                      </a:lnTo>
                      <a:lnTo>
                        <a:pt x="261" y="299"/>
                      </a:lnTo>
                      <a:lnTo>
                        <a:pt x="331" y="394"/>
                      </a:lnTo>
                      <a:lnTo>
                        <a:pt x="326" y="400"/>
                      </a:lnTo>
                      <a:lnTo>
                        <a:pt x="324" y="405"/>
                      </a:lnTo>
                      <a:lnTo>
                        <a:pt x="321" y="410"/>
                      </a:lnTo>
                      <a:lnTo>
                        <a:pt x="315" y="416"/>
                      </a:lnTo>
                      <a:lnTo>
                        <a:pt x="313" y="421"/>
                      </a:lnTo>
                      <a:lnTo>
                        <a:pt x="308" y="427"/>
                      </a:lnTo>
                      <a:lnTo>
                        <a:pt x="305" y="430"/>
                      </a:lnTo>
                      <a:lnTo>
                        <a:pt x="299" y="433"/>
                      </a:lnTo>
                      <a:close/>
                      <a:moveTo>
                        <a:pt x="120" y="172"/>
                      </a:moveTo>
                      <a:lnTo>
                        <a:pt x="0" y="0"/>
                      </a:lnTo>
                      <a:lnTo>
                        <a:pt x="3" y="3"/>
                      </a:lnTo>
                      <a:lnTo>
                        <a:pt x="8" y="6"/>
                      </a:lnTo>
                      <a:lnTo>
                        <a:pt x="14" y="8"/>
                      </a:lnTo>
                      <a:lnTo>
                        <a:pt x="19" y="8"/>
                      </a:lnTo>
                      <a:lnTo>
                        <a:pt x="36" y="20"/>
                      </a:lnTo>
                      <a:lnTo>
                        <a:pt x="52" y="27"/>
                      </a:lnTo>
                      <a:lnTo>
                        <a:pt x="68" y="38"/>
                      </a:lnTo>
                      <a:lnTo>
                        <a:pt x="84" y="52"/>
                      </a:lnTo>
                      <a:lnTo>
                        <a:pt x="215" y="232"/>
                      </a:lnTo>
                      <a:lnTo>
                        <a:pt x="207" y="228"/>
                      </a:lnTo>
                      <a:lnTo>
                        <a:pt x="199" y="223"/>
                      </a:lnTo>
                      <a:lnTo>
                        <a:pt x="188" y="218"/>
                      </a:lnTo>
                      <a:lnTo>
                        <a:pt x="174" y="209"/>
                      </a:lnTo>
                      <a:lnTo>
                        <a:pt x="160" y="202"/>
                      </a:lnTo>
                      <a:lnTo>
                        <a:pt x="147" y="193"/>
                      </a:lnTo>
                      <a:lnTo>
                        <a:pt x="134" y="182"/>
                      </a:lnTo>
                      <a:lnTo>
                        <a:pt x="120" y="172"/>
                      </a:lnTo>
                      <a:close/>
                    </a:path>
                  </a:pathLst>
                </a:custGeom>
                <a:solidFill>
                  <a:srgbClr val="72A0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72" name="Freeform 421"/>
                <p:cNvSpPr>
                  <a:spLocks noEditPoints="1"/>
                </p:cNvSpPr>
                <p:nvPr/>
              </p:nvSpPr>
              <p:spPr bwMode="auto">
                <a:xfrm>
                  <a:off x="4827" y="1329"/>
                  <a:ext cx="76" cy="98"/>
                </a:xfrm>
                <a:custGeom>
                  <a:avLst/>
                  <a:gdLst>
                    <a:gd name="T0" fmla="*/ 0 w 305"/>
                    <a:gd name="T1" fmla="*/ 0 h 394"/>
                    <a:gd name="T2" fmla="*/ 0 w 305"/>
                    <a:gd name="T3" fmla="*/ 0 h 394"/>
                    <a:gd name="T4" fmla="*/ 0 w 305"/>
                    <a:gd name="T5" fmla="*/ 0 h 394"/>
                    <a:gd name="T6" fmla="*/ 0 w 305"/>
                    <a:gd name="T7" fmla="*/ 0 h 394"/>
                    <a:gd name="T8" fmla="*/ 0 w 305"/>
                    <a:gd name="T9" fmla="*/ 0 h 394"/>
                    <a:gd name="T10" fmla="*/ 0 w 305"/>
                    <a:gd name="T11" fmla="*/ 0 h 394"/>
                    <a:gd name="T12" fmla="*/ 0 w 305"/>
                    <a:gd name="T13" fmla="*/ 0 h 394"/>
                    <a:gd name="T14" fmla="*/ 0 w 305"/>
                    <a:gd name="T15" fmla="*/ 0 h 394"/>
                    <a:gd name="T16" fmla="*/ 0 w 305"/>
                    <a:gd name="T17" fmla="*/ 0 h 394"/>
                    <a:gd name="T18" fmla="*/ 0 w 305"/>
                    <a:gd name="T19" fmla="*/ 0 h 394"/>
                    <a:gd name="T20" fmla="*/ 0 w 305"/>
                    <a:gd name="T21" fmla="*/ 0 h 394"/>
                    <a:gd name="T22" fmla="*/ 0 w 305"/>
                    <a:gd name="T23" fmla="*/ 0 h 394"/>
                    <a:gd name="T24" fmla="*/ 0 w 305"/>
                    <a:gd name="T25" fmla="*/ 0 h 394"/>
                    <a:gd name="T26" fmla="*/ 0 w 305"/>
                    <a:gd name="T27" fmla="*/ 0 h 394"/>
                    <a:gd name="T28" fmla="*/ 0 w 305"/>
                    <a:gd name="T29" fmla="*/ 0 h 394"/>
                    <a:gd name="T30" fmla="*/ 0 w 305"/>
                    <a:gd name="T31" fmla="*/ 0 h 394"/>
                    <a:gd name="T32" fmla="*/ 0 w 305"/>
                    <a:gd name="T33" fmla="*/ 0 h 394"/>
                    <a:gd name="T34" fmla="*/ 0 w 305"/>
                    <a:gd name="T35" fmla="*/ 0 h 394"/>
                    <a:gd name="T36" fmla="*/ 0 w 305"/>
                    <a:gd name="T37" fmla="*/ 0 h 394"/>
                    <a:gd name="T38" fmla="*/ 0 w 305"/>
                    <a:gd name="T39" fmla="*/ 0 h 394"/>
                    <a:gd name="T40" fmla="*/ 0 w 305"/>
                    <a:gd name="T41" fmla="*/ 0 h 394"/>
                    <a:gd name="T42" fmla="*/ 0 w 305"/>
                    <a:gd name="T43" fmla="*/ 0 h 394"/>
                    <a:gd name="T44" fmla="*/ 0 w 305"/>
                    <a:gd name="T45" fmla="*/ 0 h 394"/>
                    <a:gd name="T46" fmla="*/ 0 w 305"/>
                    <a:gd name="T47" fmla="*/ 0 h 394"/>
                    <a:gd name="T48" fmla="*/ 0 w 305"/>
                    <a:gd name="T49" fmla="*/ 0 h 394"/>
                    <a:gd name="T50" fmla="*/ 0 w 305"/>
                    <a:gd name="T51" fmla="*/ 0 h 394"/>
                    <a:gd name="T52" fmla="*/ 0 w 305"/>
                    <a:gd name="T53" fmla="*/ 0 h 394"/>
                    <a:gd name="T54" fmla="*/ 0 w 305"/>
                    <a:gd name="T55" fmla="*/ 0 h 394"/>
                    <a:gd name="T56" fmla="*/ 0 w 305"/>
                    <a:gd name="T57" fmla="*/ 0 h 394"/>
                    <a:gd name="T58" fmla="*/ 0 w 305"/>
                    <a:gd name="T59" fmla="*/ 0 h 394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305"/>
                    <a:gd name="T91" fmla="*/ 0 h 394"/>
                    <a:gd name="T92" fmla="*/ 305 w 305"/>
                    <a:gd name="T93" fmla="*/ 394 h 394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305" h="394">
                      <a:moveTo>
                        <a:pt x="277" y="394"/>
                      </a:moveTo>
                      <a:lnTo>
                        <a:pt x="215" y="302"/>
                      </a:lnTo>
                      <a:lnTo>
                        <a:pt x="221" y="288"/>
                      </a:lnTo>
                      <a:lnTo>
                        <a:pt x="223" y="275"/>
                      </a:lnTo>
                      <a:lnTo>
                        <a:pt x="228" y="261"/>
                      </a:lnTo>
                      <a:lnTo>
                        <a:pt x="231" y="247"/>
                      </a:lnTo>
                      <a:lnTo>
                        <a:pt x="305" y="348"/>
                      </a:lnTo>
                      <a:lnTo>
                        <a:pt x="299" y="358"/>
                      </a:lnTo>
                      <a:lnTo>
                        <a:pt x="291" y="370"/>
                      </a:lnTo>
                      <a:lnTo>
                        <a:pt x="286" y="383"/>
                      </a:lnTo>
                      <a:lnTo>
                        <a:pt x="277" y="394"/>
                      </a:lnTo>
                      <a:close/>
                      <a:moveTo>
                        <a:pt x="139" y="192"/>
                      </a:moveTo>
                      <a:lnTo>
                        <a:pt x="0" y="0"/>
                      </a:lnTo>
                      <a:lnTo>
                        <a:pt x="14" y="5"/>
                      </a:lnTo>
                      <a:lnTo>
                        <a:pt x="27" y="14"/>
                      </a:lnTo>
                      <a:lnTo>
                        <a:pt x="44" y="24"/>
                      </a:lnTo>
                      <a:lnTo>
                        <a:pt x="57" y="33"/>
                      </a:lnTo>
                      <a:lnTo>
                        <a:pt x="71" y="44"/>
                      </a:lnTo>
                      <a:lnTo>
                        <a:pt x="85" y="54"/>
                      </a:lnTo>
                      <a:lnTo>
                        <a:pt x="98" y="68"/>
                      </a:lnTo>
                      <a:lnTo>
                        <a:pt x="112" y="79"/>
                      </a:lnTo>
                      <a:lnTo>
                        <a:pt x="182" y="180"/>
                      </a:lnTo>
                      <a:lnTo>
                        <a:pt x="182" y="187"/>
                      </a:lnTo>
                      <a:lnTo>
                        <a:pt x="182" y="196"/>
                      </a:lnTo>
                      <a:lnTo>
                        <a:pt x="182" y="204"/>
                      </a:lnTo>
                      <a:lnTo>
                        <a:pt x="182" y="215"/>
                      </a:lnTo>
                      <a:lnTo>
                        <a:pt x="171" y="210"/>
                      </a:lnTo>
                      <a:lnTo>
                        <a:pt x="161" y="204"/>
                      </a:lnTo>
                      <a:lnTo>
                        <a:pt x="150" y="199"/>
                      </a:lnTo>
                      <a:lnTo>
                        <a:pt x="139" y="192"/>
                      </a:lnTo>
                      <a:close/>
                    </a:path>
                  </a:pathLst>
                </a:custGeom>
                <a:solidFill>
                  <a:srgbClr val="75A3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73" name="Freeform 422"/>
                <p:cNvSpPr>
                  <a:spLocks noEditPoints="1"/>
                </p:cNvSpPr>
                <p:nvPr/>
              </p:nvSpPr>
              <p:spPr bwMode="auto">
                <a:xfrm>
                  <a:off x="4839" y="1336"/>
                  <a:ext cx="66" cy="86"/>
                </a:xfrm>
                <a:custGeom>
                  <a:avLst/>
                  <a:gdLst>
                    <a:gd name="T0" fmla="*/ 0 w 265"/>
                    <a:gd name="T1" fmla="*/ 0 h 342"/>
                    <a:gd name="T2" fmla="*/ 0 w 265"/>
                    <a:gd name="T3" fmla="*/ 0 h 342"/>
                    <a:gd name="T4" fmla="*/ 0 w 265"/>
                    <a:gd name="T5" fmla="*/ 0 h 342"/>
                    <a:gd name="T6" fmla="*/ 0 w 265"/>
                    <a:gd name="T7" fmla="*/ 0 h 342"/>
                    <a:gd name="T8" fmla="*/ 0 w 265"/>
                    <a:gd name="T9" fmla="*/ 0 h 342"/>
                    <a:gd name="T10" fmla="*/ 0 w 265"/>
                    <a:gd name="T11" fmla="*/ 0 h 342"/>
                    <a:gd name="T12" fmla="*/ 0 w 265"/>
                    <a:gd name="T13" fmla="*/ 0 h 342"/>
                    <a:gd name="T14" fmla="*/ 0 w 265"/>
                    <a:gd name="T15" fmla="*/ 0 h 342"/>
                    <a:gd name="T16" fmla="*/ 0 w 265"/>
                    <a:gd name="T17" fmla="*/ 0 h 342"/>
                    <a:gd name="T18" fmla="*/ 0 w 265"/>
                    <a:gd name="T19" fmla="*/ 0 h 342"/>
                    <a:gd name="T20" fmla="*/ 0 w 265"/>
                    <a:gd name="T21" fmla="*/ 0 h 342"/>
                    <a:gd name="T22" fmla="*/ 0 w 265"/>
                    <a:gd name="T23" fmla="*/ 0 h 342"/>
                    <a:gd name="T24" fmla="*/ 0 w 265"/>
                    <a:gd name="T25" fmla="*/ 0 h 342"/>
                    <a:gd name="T26" fmla="*/ 0 w 265"/>
                    <a:gd name="T27" fmla="*/ 0 h 342"/>
                    <a:gd name="T28" fmla="*/ 0 w 265"/>
                    <a:gd name="T29" fmla="*/ 0 h 342"/>
                    <a:gd name="T30" fmla="*/ 0 w 265"/>
                    <a:gd name="T31" fmla="*/ 0 h 342"/>
                    <a:gd name="T32" fmla="*/ 0 w 265"/>
                    <a:gd name="T33" fmla="*/ 0 h 342"/>
                    <a:gd name="T34" fmla="*/ 0 w 265"/>
                    <a:gd name="T35" fmla="*/ 0 h 342"/>
                    <a:gd name="T36" fmla="*/ 0 w 265"/>
                    <a:gd name="T37" fmla="*/ 0 h 342"/>
                    <a:gd name="T38" fmla="*/ 0 w 265"/>
                    <a:gd name="T39" fmla="*/ 0 h 342"/>
                    <a:gd name="T40" fmla="*/ 0 w 265"/>
                    <a:gd name="T41" fmla="*/ 0 h 342"/>
                    <a:gd name="T42" fmla="*/ 0 w 265"/>
                    <a:gd name="T43" fmla="*/ 0 h 342"/>
                    <a:gd name="T44" fmla="*/ 0 w 265"/>
                    <a:gd name="T45" fmla="*/ 0 h 342"/>
                    <a:gd name="T46" fmla="*/ 0 w 265"/>
                    <a:gd name="T47" fmla="*/ 0 h 342"/>
                    <a:gd name="T48" fmla="*/ 0 w 265"/>
                    <a:gd name="T49" fmla="*/ 0 h 342"/>
                    <a:gd name="T50" fmla="*/ 0 w 265"/>
                    <a:gd name="T51" fmla="*/ 0 h 342"/>
                    <a:gd name="T52" fmla="*/ 0 w 265"/>
                    <a:gd name="T53" fmla="*/ 0 h 342"/>
                    <a:gd name="T54" fmla="*/ 0 w 265"/>
                    <a:gd name="T55" fmla="*/ 0 h 342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w 265"/>
                    <a:gd name="T85" fmla="*/ 0 h 342"/>
                    <a:gd name="T86" fmla="*/ 265 w 265"/>
                    <a:gd name="T87" fmla="*/ 342 h 342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T84" t="T85" r="T86" b="T87"/>
                  <a:pathLst>
                    <a:path w="265" h="342">
                      <a:moveTo>
                        <a:pt x="247" y="342"/>
                      </a:moveTo>
                      <a:lnTo>
                        <a:pt x="177" y="247"/>
                      </a:lnTo>
                      <a:lnTo>
                        <a:pt x="180" y="231"/>
                      </a:lnTo>
                      <a:lnTo>
                        <a:pt x="182" y="215"/>
                      </a:lnTo>
                      <a:lnTo>
                        <a:pt x="185" y="198"/>
                      </a:lnTo>
                      <a:lnTo>
                        <a:pt x="185" y="185"/>
                      </a:lnTo>
                      <a:lnTo>
                        <a:pt x="265" y="293"/>
                      </a:lnTo>
                      <a:lnTo>
                        <a:pt x="261" y="304"/>
                      </a:lnTo>
                      <a:lnTo>
                        <a:pt x="256" y="318"/>
                      </a:lnTo>
                      <a:lnTo>
                        <a:pt x="253" y="328"/>
                      </a:lnTo>
                      <a:lnTo>
                        <a:pt x="247" y="342"/>
                      </a:lnTo>
                      <a:close/>
                      <a:moveTo>
                        <a:pt x="131" y="180"/>
                      </a:moveTo>
                      <a:lnTo>
                        <a:pt x="0" y="0"/>
                      </a:lnTo>
                      <a:lnTo>
                        <a:pt x="20" y="14"/>
                      </a:lnTo>
                      <a:lnTo>
                        <a:pt x="39" y="27"/>
                      </a:lnTo>
                      <a:lnTo>
                        <a:pt x="58" y="40"/>
                      </a:lnTo>
                      <a:lnTo>
                        <a:pt x="74" y="57"/>
                      </a:lnTo>
                      <a:lnTo>
                        <a:pt x="90" y="74"/>
                      </a:lnTo>
                      <a:lnTo>
                        <a:pt x="106" y="87"/>
                      </a:lnTo>
                      <a:lnTo>
                        <a:pt x="120" y="104"/>
                      </a:lnTo>
                      <a:lnTo>
                        <a:pt x="136" y="120"/>
                      </a:lnTo>
                      <a:lnTo>
                        <a:pt x="136" y="136"/>
                      </a:lnTo>
                      <a:lnTo>
                        <a:pt x="136" y="152"/>
                      </a:lnTo>
                      <a:lnTo>
                        <a:pt x="136" y="169"/>
                      </a:lnTo>
                      <a:lnTo>
                        <a:pt x="136" y="185"/>
                      </a:lnTo>
                      <a:lnTo>
                        <a:pt x="136" y="182"/>
                      </a:lnTo>
                      <a:lnTo>
                        <a:pt x="134" y="180"/>
                      </a:lnTo>
                      <a:lnTo>
                        <a:pt x="131" y="180"/>
                      </a:lnTo>
                      <a:close/>
                    </a:path>
                  </a:pathLst>
                </a:custGeom>
                <a:solidFill>
                  <a:srgbClr val="75A3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74" name="Freeform 423"/>
                <p:cNvSpPr>
                  <a:spLocks noEditPoints="1"/>
                </p:cNvSpPr>
                <p:nvPr/>
              </p:nvSpPr>
              <p:spPr bwMode="auto">
                <a:xfrm>
                  <a:off x="4855" y="1349"/>
                  <a:ext cx="50" cy="67"/>
                </a:xfrm>
                <a:custGeom>
                  <a:avLst/>
                  <a:gdLst>
                    <a:gd name="T0" fmla="*/ 0 w 199"/>
                    <a:gd name="T1" fmla="*/ 0 h 269"/>
                    <a:gd name="T2" fmla="*/ 0 w 199"/>
                    <a:gd name="T3" fmla="*/ 0 h 269"/>
                    <a:gd name="T4" fmla="*/ 0 w 199"/>
                    <a:gd name="T5" fmla="*/ 0 h 269"/>
                    <a:gd name="T6" fmla="*/ 0 w 199"/>
                    <a:gd name="T7" fmla="*/ 0 h 269"/>
                    <a:gd name="T8" fmla="*/ 0 w 199"/>
                    <a:gd name="T9" fmla="*/ 0 h 269"/>
                    <a:gd name="T10" fmla="*/ 0 w 199"/>
                    <a:gd name="T11" fmla="*/ 0 h 269"/>
                    <a:gd name="T12" fmla="*/ 0 w 199"/>
                    <a:gd name="T13" fmla="*/ 0 h 269"/>
                    <a:gd name="T14" fmla="*/ 0 w 199"/>
                    <a:gd name="T15" fmla="*/ 0 h 269"/>
                    <a:gd name="T16" fmla="*/ 0 w 199"/>
                    <a:gd name="T17" fmla="*/ 0 h 269"/>
                    <a:gd name="T18" fmla="*/ 0 w 199"/>
                    <a:gd name="T19" fmla="*/ 0 h 269"/>
                    <a:gd name="T20" fmla="*/ 0 w 199"/>
                    <a:gd name="T21" fmla="*/ 0 h 269"/>
                    <a:gd name="T22" fmla="*/ 0 w 199"/>
                    <a:gd name="T23" fmla="*/ 0 h 269"/>
                    <a:gd name="T24" fmla="*/ 0 w 199"/>
                    <a:gd name="T25" fmla="*/ 0 h 269"/>
                    <a:gd name="T26" fmla="*/ 0 w 199"/>
                    <a:gd name="T27" fmla="*/ 0 h 269"/>
                    <a:gd name="T28" fmla="*/ 0 w 199"/>
                    <a:gd name="T29" fmla="*/ 0 h 269"/>
                    <a:gd name="T30" fmla="*/ 0 w 199"/>
                    <a:gd name="T31" fmla="*/ 0 h 269"/>
                    <a:gd name="T32" fmla="*/ 0 w 199"/>
                    <a:gd name="T33" fmla="*/ 0 h 269"/>
                    <a:gd name="T34" fmla="*/ 0 w 199"/>
                    <a:gd name="T35" fmla="*/ 0 h 269"/>
                    <a:gd name="T36" fmla="*/ 0 w 199"/>
                    <a:gd name="T37" fmla="*/ 0 h 269"/>
                    <a:gd name="T38" fmla="*/ 0 w 199"/>
                    <a:gd name="T39" fmla="*/ 0 h 269"/>
                    <a:gd name="T40" fmla="*/ 0 w 199"/>
                    <a:gd name="T41" fmla="*/ 0 h 269"/>
                    <a:gd name="T42" fmla="*/ 0 w 199"/>
                    <a:gd name="T43" fmla="*/ 0 h 269"/>
                    <a:gd name="T44" fmla="*/ 0 w 199"/>
                    <a:gd name="T45" fmla="*/ 0 h 269"/>
                    <a:gd name="T46" fmla="*/ 0 w 199"/>
                    <a:gd name="T47" fmla="*/ 0 h 269"/>
                    <a:gd name="T48" fmla="*/ 0 w 199"/>
                    <a:gd name="T49" fmla="*/ 0 h 269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199"/>
                    <a:gd name="T76" fmla="*/ 0 h 269"/>
                    <a:gd name="T77" fmla="*/ 199 w 199"/>
                    <a:gd name="T78" fmla="*/ 269 h 269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199" h="269">
                      <a:moveTo>
                        <a:pt x="193" y="269"/>
                      </a:moveTo>
                      <a:lnTo>
                        <a:pt x="119" y="168"/>
                      </a:lnTo>
                      <a:lnTo>
                        <a:pt x="119" y="152"/>
                      </a:lnTo>
                      <a:lnTo>
                        <a:pt x="119" y="133"/>
                      </a:lnTo>
                      <a:lnTo>
                        <a:pt x="119" y="117"/>
                      </a:lnTo>
                      <a:lnTo>
                        <a:pt x="119" y="97"/>
                      </a:lnTo>
                      <a:lnTo>
                        <a:pt x="193" y="201"/>
                      </a:lnTo>
                      <a:lnTo>
                        <a:pt x="195" y="212"/>
                      </a:lnTo>
                      <a:lnTo>
                        <a:pt x="199" y="219"/>
                      </a:lnTo>
                      <a:lnTo>
                        <a:pt x="199" y="231"/>
                      </a:lnTo>
                      <a:lnTo>
                        <a:pt x="199" y="239"/>
                      </a:lnTo>
                      <a:lnTo>
                        <a:pt x="199" y="247"/>
                      </a:lnTo>
                      <a:lnTo>
                        <a:pt x="195" y="255"/>
                      </a:lnTo>
                      <a:lnTo>
                        <a:pt x="193" y="263"/>
                      </a:lnTo>
                      <a:lnTo>
                        <a:pt x="193" y="269"/>
                      </a:lnTo>
                      <a:close/>
                      <a:moveTo>
                        <a:pt x="70" y="101"/>
                      </a:moveTo>
                      <a:lnTo>
                        <a:pt x="0" y="0"/>
                      </a:lnTo>
                      <a:lnTo>
                        <a:pt x="19" y="16"/>
                      </a:lnTo>
                      <a:lnTo>
                        <a:pt x="35" y="35"/>
                      </a:lnTo>
                      <a:lnTo>
                        <a:pt x="54" y="51"/>
                      </a:lnTo>
                      <a:lnTo>
                        <a:pt x="70" y="71"/>
                      </a:lnTo>
                      <a:lnTo>
                        <a:pt x="70" y="78"/>
                      </a:lnTo>
                      <a:lnTo>
                        <a:pt x="70" y="87"/>
                      </a:lnTo>
                      <a:lnTo>
                        <a:pt x="70" y="95"/>
                      </a:lnTo>
                      <a:lnTo>
                        <a:pt x="70" y="101"/>
                      </a:lnTo>
                      <a:close/>
                    </a:path>
                  </a:pathLst>
                </a:custGeom>
                <a:solidFill>
                  <a:srgbClr val="7AA5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75" name="Freeform 424"/>
                <p:cNvSpPr>
                  <a:spLocks/>
                </p:cNvSpPr>
                <p:nvPr/>
              </p:nvSpPr>
              <p:spPr bwMode="auto">
                <a:xfrm>
                  <a:off x="4885" y="1362"/>
                  <a:ext cx="20" cy="48"/>
                </a:xfrm>
                <a:custGeom>
                  <a:avLst/>
                  <a:gdLst>
                    <a:gd name="T0" fmla="*/ 0 w 80"/>
                    <a:gd name="T1" fmla="*/ 0 h 189"/>
                    <a:gd name="T2" fmla="*/ 0 w 80"/>
                    <a:gd name="T3" fmla="*/ 0 h 189"/>
                    <a:gd name="T4" fmla="*/ 0 w 80"/>
                    <a:gd name="T5" fmla="*/ 0 h 189"/>
                    <a:gd name="T6" fmla="*/ 0 w 80"/>
                    <a:gd name="T7" fmla="*/ 0 h 189"/>
                    <a:gd name="T8" fmla="*/ 0 w 80"/>
                    <a:gd name="T9" fmla="*/ 0 h 189"/>
                    <a:gd name="T10" fmla="*/ 0 w 80"/>
                    <a:gd name="T11" fmla="*/ 0 h 189"/>
                    <a:gd name="T12" fmla="*/ 0 w 80"/>
                    <a:gd name="T13" fmla="*/ 0 h 189"/>
                    <a:gd name="T14" fmla="*/ 0 w 80"/>
                    <a:gd name="T15" fmla="*/ 0 h 189"/>
                    <a:gd name="T16" fmla="*/ 0 w 80"/>
                    <a:gd name="T17" fmla="*/ 0 h 189"/>
                    <a:gd name="T18" fmla="*/ 0 w 80"/>
                    <a:gd name="T19" fmla="*/ 0 h 189"/>
                    <a:gd name="T20" fmla="*/ 0 w 80"/>
                    <a:gd name="T21" fmla="*/ 0 h 189"/>
                    <a:gd name="T22" fmla="*/ 0 w 80"/>
                    <a:gd name="T23" fmla="*/ 0 h 189"/>
                    <a:gd name="T24" fmla="*/ 0 w 80"/>
                    <a:gd name="T25" fmla="*/ 0 h 18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80"/>
                    <a:gd name="T40" fmla="*/ 0 h 189"/>
                    <a:gd name="T41" fmla="*/ 80 w 80"/>
                    <a:gd name="T42" fmla="*/ 189 h 18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80" h="189">
                      <a:moveTo>
                        <a:pt x="80" y="189"/>
                      </a:moveTo>
                      <a:lnTo>
                        <a:pt x="0" y="81"/>
                      </a:lnTo>
                      <a:lnTo>
                        <a:pt x="0" y="58"/>
                      </a:lnTo>
                      <a:lnTo>
                        <a:pt x="0" y="40"/>
                      </a:lnTo>
                      <a:lnTo>
                        <a:pt x="0" y="21"/>
                      </a:lnTo>
                      <a:lnTo>
                        <a:pt x="0" y="0"/>
                      </a:lnTo>
                      <a:lnTo>
                        <a:pt x="62" y="92"/>
                      </a:lnTo>
                      <a:lnTo>
                        <a:pt x="71" y="113"/>
                      </a:lnTo>
                      <a:lnTo>
                        <a:pt x="76" y="138"/>
                      </a:lnTo>
                      <a:lnTo>
                        <a:pt x="80" y="162"/>
                      </a:lnTo>
                      <a:lnTo>
                        <a:pt x="80" y="184"/>
                      </a:lnTo>
                      <a:lnTo>
                        <a:pt x="80" y="187"/>
                      </a:lnTo>
                      <a:lnTo>
                        <a:pt x="80" y="189"/>
                      </a:lnTo>
                      <a:close/>
                    </a:path>
                  </a:pathLst>
                </a:custGeom>
                <a:solidFill>
                  <a:srgbClr val="7AA56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76" name="Freeform 425"/>
                <p:cNvSpPr>
                  <a:spLocks/>
                </p:cNvSpPr>
                <p:nvPr/>
              </p:nvSpPr>
              <p:spPr bwMode="auto">
                <a:xfrm>
                  <a:off x="4884" y="1352"/>
                  <a:ext cx="19" cy="47"/>
                </a:xfrm>
                <a:custGeom>
                  <a:avLst/>
                  <a:gdLst>
                    <a:gd name="T0" fmla="*/ 0 w 77"/>
                    <a:gd name="T1" fmla="*/ 0 h 188"/>
                    <a:gd name="T2" fmla="*/ 0 w 77"/>
                    <a:gd name="T3" fmla="*/ 0 h 188"/>
                    <a:gd name="T4" fmla="*/ 0 w 77"/>
                    <a:gd name="T5" fmla="*/ 0 h 188"/>
                    <a:gd name="T6" fmla="*/ 0 w 77"/>
                    <a:gd name="T7" fmla="*/ 0 h 188"/>
                    <a:gd name="T8" fmla="*/ 0 w 77"/>
                    <a:gd name="T9" fmla="*/ 0 h 188"/>
                    <a:gd name="T10" fmla="*/ 0 w 77"/>
                    <a:gd name="T11" fmla="*/ 0 h 188"/>
                    <a:gd name="T12" fmla="*/ 0 w 77"/>
                    <a:gd name="T13" fmla="*/ 0 h 188"/>
                    <a:gd name="T14" fmla="*/ 0 w 77"/>
                    <a:gd name="T15" fmla="*/ 0 h 188"/>
                    <a:gd name="T16" fmla="*/ 0 w 77"/>
                    <a:gd name="T17" fmla="*/ 0 h 188"/>
                    <a:gd name="T18" fmla="*/ 0 w 77"/>
                    <a:gd name="T19" fmla="*/ 0 h 188"/>
                    <a:gd name="T20" fmla="*/ 0 w 77"/>
                    <a:gd name="T21" fmla="*/ 0 h 18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7"/>
                    <a:gd name="T34" fmla="*/ 0 h 188"/>
                    <a:gd name="T35" fmla="*/ 77 w 77"/>
                    <a:gd name="T36" fmla="*/ 188 h 18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7" h="188">
                      <a:moveTo>
                        <a:pt x="77" y="188"/>
                      </a:moveTo>
                      <a:lnTo>
                        <a:pt x="3" y="84"/>
                      </a:lnTo>
                      <a:lnTo>
                        <a:pt x="3" y="63"/>
                      </a:lnTo>
                      <a:lnTo>
                        <a:pt x="3" y="42"/>
                      </a:lnTo>
                      <a:lnTo>
                        <a:pt x="3" y="19"/>
                      </a:lnTo>
                      <a:lnTo>
                        <a:pt x="0" y="0"/>
                      </a:lnTo>
                      <a:lnTo>
                        <a:pt x="47" y="63"/>
                      </a:lnTo>
                      <a:lnTo>
                        <a:pt x="58" y="93"/>
                      </a:lnTo>
                      <a:lnTo>
                        <a:pt x="65" y="123"/>
                      </a:lnTo>
                      <a:lnTo>
                        <a:pt x="74" y="155"/>
                      </a:lnTo>
                      <a:lnTo>
                        <a:pt x="77" y="188"/>
                      </a:lnTo>
                      <a:close/>
                    </a:path>
                  </a:pathLst>
                </a:custGeom>
                <a:solidFill>
                  <a:srgbClr val="82AA6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77" name="Freeform 426"/>
                <p:cNvSpPr>
                  <a:spLocks/>
                </p:cNvSpPr>
                <p:nvPr/>
              </p:nvSpPr>
              <p:spPr bwMode="auto">
                <a:xfrm>
                  <a:off x="4884" y="1346"/>
                  <a:ext cx="16" cy="39"/>
                </a:xfrm>
                <a:custGeom>
                  <a:avLst/>
                  <a:gdLst>
                    <a:gd name="T0" fmla="*/ 0 w 65"/>
                    <a:gd name="T1" fmla="*/ 0 h 156"/>
                    <a:gd name="T2" fmla="*/ 0 w 65"/>
                    <a:gd name="T3" fmla="*/ 0 h 156"/>
                    <a:gd name="T4" fmla="*/ 0 w 65"/>
                    <a:gd name="T5" fmla="*/ 0 h 156"/>
                    <a:gd name="T6" fmla="*/ 0 w 65"/>
                    <a:gd name="T7" fmla="*/ 0 h 156"/>
                    <a:gd name="T8" fmla="*/ 0 w 65"/>
                    <a:gd name="T9" fmla="*/ 0 h 156"/>
                    <a:gd name="T10" fmla="*/ 0 w 65"/>
                    <a:gd name="T11" fmla="*/ 0 h 156"/>
                    <a:gd name="T12" fmla="*/ 0 w 65"/>
                    <a:gd name="T13" fmla="*/ 0 h 156"/>
                    <a:gd name="T14" fmla="*/ 0 w 65"/>
                    <a:gd name="T15" fmla="*/ 0 h 156"/>
                    <a:gd name="T16" fmla="*/ 0 w 65"/>
                    <a:gd name="T17" fmla="*/ 0 h 156"/>
                    <a:gd name="T18" fmla="*/ 0 w 65"/>
                    <a:gd name="T19" fmla="*/ 0 h 156"/>
                    <a:gd name="T20" fmla="*/ 0 w 65"/>
                    <a:gd name="T21" fmla="*/ 0 h 156"/>
                    <a:gd name="T22" fmla="*/ 0 w 65"/>
                    <a:gd name="T23" fmla="*/ 0 h 15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65"/>
                    <a:gd name="T37" fmla="*/ 0 h 156"/>
                    <a:gd name="T38" fmla="*/ 65 w 65"/>
                    <a:gd name="T39" fmla="*/ 156 h 15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65" h="156">
                      <a:moveTo>
                        <a:pt x="65" y="156"/>
                      </a:moveTo>
                      <a:lnTo>
                        <a:pt x="3" y="64"/>
                      </a:lnTo>
                      <a:lnTo>
                        <a:pt x="3" y="50"/>
                      </a:lnTo>
                      <a:lnTo>
                        <a:pt x="3" y="34"/>
                      </a:lnTo>
                      <a:lnTo>
                        <a:pt x="0" y="20"/>
                      </a:lnTo>
                      <a:lnTo>
                        <a:pt x="0" y="6"/>
                      </a:lnTo>
                      <a:lnTo>
                        <a:pt x="0" y="4"/>
                      </a:lnTo>
                      <a:lnTo>
                        <a:pt x="0" y="0"/>
                      </a:lnTo>
                      <a:lnTo>
                        <a:pt x="19" y="30"/>
                      </a:lnTo>
                      <a:lnTo>
                        <a:pt x="39" y="66"/>
                      </a:lnTo>
                      <a:lnTo>
                        <a:pt x="55" y="110"/>
                      </a:lnTo>
                      <a:lnTo>
                        <a:pt x="65" y="156"/>
                      </a:lnTo>
                      <a:close/>
                    </a:path>
                  </a:pathLst>
                </a:custGeom>
                <a:solidFill>
                  <a:srgbClr val="84AD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78" name="Freeform 427"/>
                <p:cNvSpPr>
                  <a:spLocks/>
                </p:cNvSpPr>
                <p:nvPr/>
              </p:nvSpPr>
              <p:spPr bwMode="auto">
                <a:xfrm>
                  <a:off x="4884" y="1346"/>
                  <a:ext cx="12" cy="22"/>
                </a:xfrm>
                <a:custGeom>
                  <a:avLst/>
                  <a:gdLst>
                    <a:gd name="T0" fmla="*/ 0 w 47"/>
                    <a:gd name="T1" fmla="*/ 0 h 85"/>
                    <a:gd name="T2" fmla="*/ 0 w 47"/>
                    <a:gd name="T3" fmla="*/ 0 h 85"/>
                    <a:gd name="T4" fmla="*/ 0 w 47"/>
                    <a:gd name="T5" fmla="*/ 0 h 85"/>
                    <a:gd name="T6" fmla="*/ 0 w 47"/>
                    <a:gd name="T7" fmla="*/ 0 h 85"/>
                    <a:gd name="T8" fmla="*/ 0 w 47"/>
                    <a:gd name="T9" fmla="*/ 0 h 85"/>
                    <a:gd name="T10" fmla="*/ 0 w 47"/>
                    <a:gd name="T11" fmla="*/ 0 h 85"/>
                    <a:gd name="T12" fmla="*/ 0 w 47"/>
                    <a:gd name="T13" fmla="*/ 0 h 85"/>
                    <a:gd name="T14" fmla="*/ 0 w 47"/>
                    <a:gd name="T15" fmla="*/ 0 h 85"/>
                    <a:gd name="T16" fmla="*/ 0 w 47"/>
                    <a:gd name="T17" fmla="*/ 0 h 85"/>
                    <a:gd name="T18" fmla="*/ 0 w 47"/>
                    <a:gd name="T19" fmla="*/ 0 h 85"/>
                    <a:gd name="T20" fmla="*/ 0 w 47"/>
                    <a:gd name="T21" fmla="*/ 0 h 85"/>
                    <a:gd name="T22" fmla="*/ 0 w 47"/>
                    <a:gd name="T23" fmla="*/ 0 h 85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47"/>
                    <a:gd name="T37" fmla="*/ 0 h 85"/>
                    <a:gd name="T38" fmla="*/ 47 w 47"/>
                    <a:gd name="T39" fmla="*/ 85 h 85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47" h="85">
                      <a:moveTo>
                        <a:pt x="47" y="85"/>
                      </a:moveTo>
                      <a:lnTo>
                        <a:pt x="0" y="22"/>
                      </a:lnTo>
                      <a:lnTo>
                        <a:pt x="0" y="17"/>
                      </a:lnTo>
                      <a:lnTo>
                        <a:pt x="0" y="11"/>
                      </a:lnTo>
                      <a:lnTo>
                        <a:pt x="0" y="9"/>
                      </a:lnTo>
                      <a:lnTo>
                        <a:pt x="0" y="6"/>
                      </a:lnTo>
                      <a:lnTo>
                        <a:pt x="0" y="4"/>
                      </a:lnTo>
                      <a:lnTo>
                        <a:pt x="0" y="0"/>
                      </a:lnTo>
                      <a:lnTo>
                        <a:pt x="12" y="20"/>
                      </a:lnTo>
                      <a:lnTo>
                        <a:pt x="23" y="39"/>
                      </a:lnTo>
                      <a:lnTo>
                        <a:pt x="35" y="60"/>
                      </a:lnTo>
                      <a:lnTo>
                        <a:pt x="47" y="85"/>
                      </a:lnTo>
                      <a:close/>
                    </a:path>
                  </a:pathLst>
                </a:custGeom>
                <a:solidFill>
                  <a:srgbClr val="84AD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79" name="Freeform 428"/>
                <p:cNvSpPr>
                  <a:spLocks/>
                </p:cNvSpPr>
                <p:nvPr/>
              </p:nvSpPr>
              <p:spPr bwMode="auto">
                <a:xfrm>
                  <a:off x="4860" y="1340"/>
                  <a:ext cx="9" cy="10"/>
                </a:xfrm>
                <a:custGeom>
                  <a:avLst/>
                  <a:gdLst>
                    <a:gd name="T0" fmla="*/ 0 w 38"/>
                    <a:gd name="T1" fmla="*/ 0 h 38"/>
                    <a:gd name="T2" fmla="*/ 0 w 38"/>
                    <a:gd name="T3" fmla="*/ 0 h 38"/>
                    <a:gd name="T4" fmla="*/ 0 w 38"/>
                    <a:gd name="T5" fmla="*/ 0 h 38"/>
                    <a:gd name="T6" fmla="*/ 0 w 38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38"/>
                    <a:gd name="T14" fmla="*/ 38 w 38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38">
                      <a:moveTo>
                        <a:pt x="35" y="8"/>
                      </a:moveTo>
                      <a:lnTo>
                        <a:pt x="0" y="0"/>
                      </a:lnTo>
                      <a:lnTo>
                        <a:pt x="38" y="38"/>
                      </a:lnTo>
                      <a:lnTo>
                        <a:pt x="35" y="8"/>
                      </a:lnTo>
                      <a:close/>
                    </a:path>
                  </a:pathLst>
                </a:custGeom>
                <a:solidFill>
                  <a:srgbClr val="0056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80" name="Freeform 430"/>
                <p:cNvSpPr>
                  <a:spLocks/>
                </p:cNvSpPr>
                <p:nvPr/>
              </p:nvSpPr>
              <p:spPr bwMode="auto">
                <a:xfrm>
                  <a:off x="4899" y="1446"/>
                  <a:ext cx="96" cy="45"/>
                </a:xfrm>
                <a:custGeom>
                  <a:avLst/>
                  <a:gdLst>
                    <a:gd name="T0" fmla="*/ 0 w 383"/>
                    <a:gd name="T1" fmla="*/ 0 h 179"/>
                    <a:gd name="T2" fmla="*/ 0 w 383"/>
                    <a:gd name="T3" fmla="*/ 0 h 179"/>
                    <a:gd name="T4" fmla="*/ 0 w 383"/>
                    <a:gd name="T5" fmla="*/ 0 h 179"/>
                    <a:gd name="T6" fmla="*/ 0 w 383"/>
                    <a:gd name="T7" fmla="*/ 0 h 179"/>
                    <a:gd name="T8" fmla="*/ 0 w 383"/>
                    <a:gd name="T9" fmla="*/ 0 h 179"/>
                    <a:gd name="T10" fmla="*/ 0 w 383"/>
                    <a:gd name="T11" fmla="*/ 0 h 179"/>
                    <a:gd name="T12" fmla="*/ 0 w 383"/>
                    <a:gd name="T13" fmla="*/ 0 h 179"/>
                    <a:gd name="T14" fmla="*/ 0 w 383"/>
                    <a:gd name="T15" fmla="*/ 0 h 179"/>
                    <a:gd name="T16" fmla="*/ 0 w 383"/>
                    <a:gd name="T17" fmla="*/ 0 h 179"/>
                    <a:gd name="T18" fmla="*/ 0 w 383"/>
                    <a:gd name="T19" fmla="*/ 0 h 179"/>
                    <a:gd name="T20" fmla="*/ 0 w 383"/>
                    <a:gd name="T21" fmla="*/ 0 h 179"/>
                    <a:gd name="T22" fmla="*/ 0 w 383"/>
                    <a:gd name="T23" fmla="*/ 0 h 179"/>
                    <a:gd name="T24" fmla="*/ 0 w 383"/>
                    <a:gd name="T25" fmla="*/ 0 h 179"/>
                    <a:gd name="T26" fmla="*/ 0 w 383"/>
                    <a:gd name="T27" fmla="*/ 0 h 179"/>
                    <a:gd name="T28" fmla="*/ 0 w 383"/>
                    <a:gd name="T29" fmla="*/ 0 h 179"/>
                    <a:gd name="T30" fmla="*/ 0 w 383"/>
                    <a:gd name="T31" fmla="*/ 0 h 179"/>
                    <a:gd name="T32" fmla="*/ 0 w 383"/>
                    <a:gd name="T33" fmla="*/ 0 h 179"/>
                    <a:gd name="T34" fmla="*/ 0 w 383"/>
                    <a:gd name="T35" fmla="*/ 0 h 179"/>
                    <a:gd name="T36" fmla="*/ 0 w 383"/>
                    <a:gd name="T37" fmla="*/ 0 h 179"/>
                    <a:gd name="T38" fmla="*/ 0 w 383"/>
                    <a:gd name="T39" fmla="*/ 0 h 179"/>
                    <a:gd name="T40" fmla="*/ 0 w 383"/>
                    <a:gd name="T41" fmla="*/ 0 h 179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383"/>
                    <a:gd name="T64" fmla="*/ 0 h 179"/>
                    <a:gd name="T65" fmla="*/ 383 w 383"/>
                    <a:gd name="T66" fmla="*/ 179 h 179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383" h="179">
                      <a:moveTo>
                        <a:pt x="383" y="13"/>
                      </a:moveTo>
                      <a:lnTo>
                        <a:pt x="329" y="35"/>
                      </a:lnTo>
                      <a:lnTo>
                        <a:pt x="280" y="49"/>
                      </a:lnTo>
                      <a:lnTo>
                        <a:pt x="234" y="54"/>
                      </a:lnTo>
                      <a:lnTo>
                        <a:pt x="188" y="54"/>
                      </a:lnTo>
                      <a:lnTo>
                        <a:pt x="141" y="47"/>
                      </a:lnTo>
                      <a:lnTo>
                        <a:pt x="98" y="35"/>
                      </a:lnTo>
                      <a:lnTo>
                        <a:pt x="49" y="19"/>
                      </a:lnTo>
                      <a:lnTo>
                        <a:pt x="0" y="0"/>
                      </a:lnTo>
                      <a:lnTo>
                        <a:pt x="25" y="40"/>
                      </a:lnTo>
                      <a:lnTo>
                        <a:pt x="41" y="84"/>
                      </a:lnTo>
                      <a:lnTo>
                        <a:pt x="55" y="130"/>
                      </a:lnTo>
                      <a:lnTo>
                        <a:pt x="63" y="176"/>
                      </a:lnTo>
                      <a:lnTo>
                        <a:pt x="101" y="179"/>
                      </a:lnTo>
                      <a:lnTo>
                        <a:pt x="144" y="174"/>
                      </a:lnTo>
                      <a:lnTo>
                        <a:pt x="194" y="158"/>
                      </a:lnTo>
                      <a:lnTo>
                        <a:pt x="240" y="135"/>
                      </a:lnTo>
                      <a:lnTo>
                        <a:pt x="286" y="109"/>
                      </a:lnTo>
                      <a:lnTo>
                        <a:pt x="326" y="79"/>
                      </a:lnTo>
                      <a:lnTo>
                        <a:pt x="359" y="47"/>
                      </a:lnTo>
                      <a:lnTo>
                        <a:pt x="383" y="13"/>
                      </a:lnTo>
                      <a:close/>
                    </a:path>
                  </a:pathLst>
                </a:custGeom>
                <a:solidFill>
                  <a:srgbClr val="005E3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81" name="Freeform 431"/>
                <p:cNvSpPr>
                  <a:spLocks/>
                </p:cNvSpPr>
                <p:nvPr/>
              </p:nvSpPr>
              <p:spPr bwMode="auto">
                <a:xfrm>
                  <a:off x="4912" y="1475"/>
                  <a:ext cx="4" cy="6"/>
                </a:xfrm>
                <a:custGeom>
                  <a:avLst/>
                  <a:gdLst>
                    <a:gd name="T0" fmla="*/ 0 w 17"/>
                    <a:gd name="T1" fmla="*/ 0 h 25"/>
                    <a:gd name="T2" fmla="*/ 0 w 17"/>
                    <a:gd name="T3" fmla="*/ 0 h 25"/>
                    <a:gd name="T4" fmla="*/ 0 w 17"/>
                    <a:gd name="T5" fmla="*/ 0 h 25"/>
                    <a:gd name="T6" fmla="*/ 0 w 17"/>
                    <a:gd name="T7" fmla="*/ 0 h 25"/>
                    <a:gd name="T8" fmla="*/ 0 w 17"/>
                    <a:gd name="T9" fmla="*/ 0 h 25"/>
                    <a:gd name="T10" fmla="*/ 0 w 17"/>
                    <a:gd name="T11" fmla="*/ 0 h 25"/>
                    <a:gd name="T12" fmla="*/ 0 w 17"/>
                    <a:gd name="T13" fmla="*/ 0 h 25"/>
                    <a:gd name="T14" fmla="*/ 0 w 17"/>
                    <a:gd name="T15" fmla="*/ 0 h 25"/>
                    <a:gd name="T16" fmla="*/ 0 w 17"/>
                    <a:gd name="T17" fmla="*/ 0 h 25"/>
                    <a:gd name="T18" fmla="*/ 0 w 17"/>
                    <a:gd name="T19" fmla="*/ 0 h 25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7"/>
                    <a:gd name="T31" fmla="*/ 0 h 25"/>
                    <a:gd name="T32" fmla="*/ 17 w 17"/>
                    <a:gd name="T33" fmla="*/ 25 h 25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7" h="25">
                      <a:moveTo>
                        <a:pt x="0" y="0"/>
                      </a:moveTo>
                      <a:lnTo>
                        <a:pt x="17" y="25"/>
                      </a:lnTo>
                      <a:lnTo>
                        <a:pt x="13" y="25"/>
                      </a:lnTo>
                      <a:lnTo>
                        <a:pt x="11" y="25"/>
                      </a:lnTo>
                      <a:lnTo>
                        <a:pt x="6" y="25"/>
                      </a:lnTo>
                      <a:lnTo>
                        <a:pt x="3" y="25"/>
                      </a:lnTo>
                      <a:lnTo>
                        <a:pt x="0" y="19"/>
                      </a:lnTo>
                      <a:lnTo>
                        <a:pt x="0" y="11"/>
                      </a:lnTo>
                      <a:lnTo>
                        <a:pt x="0" y="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F894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82" name="Freeform 432"/>
                <p:cNvSpPr>
                  <a:spLocks/>
                </p:cNvSpPr>
                <p:nvPr/>
              </p:nvSpPr>
              <p:spPr bwMode="auto">
                <a:xfrm>
                  <a:off x="4909" y="1465"/>
                  <a:ext cx="10" cy="16"/>
                </a:xfrm>
                <a:custGeom>
                  <a:avLst/>
                  <a:gdLst>
                    <a:gd name="T0" fmla="*/ 0 w 40"/>
                    <a:gd name="T1" fmla="*/ 0 h 63"/>
                    <a:gd name="T2" fmla="*/ 0 w 40"/>
                    <a:gd name="T3" fmla="*/ 0 h 63"/>
                    <a:gd name="T4" fmla="*/ 0 w 40"/>
                    <a:gd name="T5" fmla="*/ 0 h 63"/>
                    <a:gd name="T6" fmla="*/ 0 w 40"/>
                    <a:gd name="T7" fmla="*/ 0 h 63"/>
                    <a:gd name="T8" fmla="*/ 0 w 40"/>
                    <a:gd name="T9" fmla="*/ 0 h 63"/>
                    <a:gd name="T10" fmla="*/ 0 w 40"/>
                    <a:gd name="T11" fmla="*/ 0 h 63"/>
                    <a:gd name="T12" fmla="*/ 0 w 40"/>
                    <a:gd name="T13" fmla="*/ 0 h 63"/>
                    <a:gd name="T14" fmla="*/ 0 w 40"/>
                    <a:gd name="T15" fmla="*/ 0 h 63"/>
                    <a:gd name="T16" fmla="*/ 0 w 40"/>
                    <a:gd name="T17" fmla="*/ 0 h 63"/>
                    <a:gd name="T18" fmla="*/ 0 w 40"/>
                    <a:gd name="T19" fmla="*/ 0 h 63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40"/>
                    <a:gd name="T31" fmla="*/ 0 h 63"/>
                    <a:gd name="T32" fmla="*/ 40 w 40"/>
                    <a:gd name="T33" fmla="*/ 63 h 63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40" h="63">
                      <a:moveTo>
                        <a:pt x="0" y="0"/>
                      </a:moveTo>
                      <a:lnTo>
                        <a:pt x="40" y="63"/>
                      </a:lnTo>
                      <a:lnTo>
                        <a:pt x="33" y="63"/>
                      </a:lnTo>
                      <a:lnTo>
                        <a:pt x="28" y="63"/>
                      </a:lnTo>
                      <a:lnTo>
                        <a:pt x="19" y="63"/>
                      </a:lnTo>
                      <a:lnTo>
                        <a:pt x="14" y="63"/>
                      </a:lnTo>
                      <a:lnTo>
                        <a:pt x="11" y="47"/>
                      </a:lnTo>
                      <a:lnTo>
                        <a:pt x="8" y="29"/>
                      </a:lnTo>
                      <a:lnTo>
                        <a:pt x="3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F894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83" name="Freeform 433"/>
                <p:cNvSpPr>
                  <a:spLocks/>
                </p:cNvSpPr>
                <p:nvPr/>
              </p:nvSpPr>
              <p:spPr bwMode="auto">
                <a:xfrm>
                  <a:off x="4903" y="1452"/>
                  <a:ext cx="21" cy="29"/>
                </a:xfrm>
                <a:custGeom>
                  <a:avLst/>
                  <a:gdLst>
                    <a:gd name="T0" fmla="*/ 0 w 81"/>
                    <a:gd name="T1" fmla="*/ 0 h 117"/>
                    <a:gd name="T2" fmla="*/ 0 w 81"/>
                    <a:gd name="T3" fmla="*/ 0 h 117"/>
                    <a:gd name="T4" fmla="*/ 0 w 81"/>
                    <a:gd name="T5" fmla="*/ 0 h 117"/>
                    <a:gd name="T6" fmla="*/ 0 w 81"/>
                    <a:gd name="T7" fmla="*/ 0 h 117"/>
                    <a:gd name="T8" fmla="*/ 0 w 81"/>
                    <a:gd name="T9" fmla="*/ 0 h 117"/>
                    <a:gd name="T10" fmla="*/ 0 w 81"/>
                    <a:gd name="T11" fmla="*/ 0 h 117"/>
                    <a:gd name="T12" fmla="*/ 0 w 81"/>
                    <a:gd name="T13" fmla="*/ 0 h 117"/>
                    <a:gd name="T14" fmla="*/ 0 w 81"/>
                    <a:gd name="T15" fmla="*/ 0 h 117"/>
                    <a:gd name="T16" fmla="*/ 0 w 81"/>
                    <a:gd name="T17" fmla="*/ 0 h 117"/>
                    <a:gd name="T18" fmla="*/ 0 w 81"/>
                    <a:gd name="T19" fmla="*/ 0 h 117"/>
                    <a:gd name="T20" fmla="*/ 0 w 81"/>
                    <a:gd name="T21" fmla="*/ 0 h 1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81"/>
                    <a:gd name="T34" fmla="*/ 0 h 117"/>
                    <a:gd name="T35" fmla="*/ 81 w 81"/>
                    <a:gd name="T36" fmla="*/ 117 h 1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81" h="117">
                      <a:moveTo>
                        <a:pt x="52" y="117"/>
                      </a:moveTo>
                      <a:lnTo>
                        <a:pt x="35" y="92"/>
                      </a:lnTo>
                      <a:lnTo>
                        <a:pt x="29" y="71"/>
                      </a:lnTo>
                      <a:lnTo>
                        <a:pt x="22" y="46"/>
                      </a:lnTo>
                      <a:lnTo>
                        <a:pt x="11" y="21"/>
                      </a:lnTo>
                      <a:lnTo>
                        <a:pt x="0" y="0"/>
                      </a:lnTo>
                      <a:lnTo>
                        <a:pt x="81" y="117"/>
                      </a:lnTo>
                      <a:lnTo>
                        <a:pt x="73" y="117"/>
                      </a:lnTo>
                      <a:lnTo>
                        <a:pt x="68" y="117"/>
                      </a:lnTo>
                      <a:lnTo>
                        <a:pt x="59" y="117"/>
                      </a:lnTo>
                      <a:lnTo>
                        <a:pt x="52" y="117"/>
                      </a:lnTo>
                      <a:close/>
                    </a:path>
                  </a:pathLst>
                </a:custGeom>
                <a:solidFill>
                  <a:srgbClr val="548C4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84" name="Freeform 434"/>
                <p:cNvSpPr>
                  <a:spLocks/>
                </p:cNvSpPr>
                <p:nvPr/>
              </p:nvSpPr>
              <p:spPr bwMode="auto">
                <a:xfrm>
                  <a:off x="4899" y="1446"/>
                  <a:ext cx="27" cy="35"/>
                </a:xfrm>
                <a:custGeom>
                  <a:avLst/>
                  <a:gdLst>
                    <a:gd name="T0" fmla="*/ 0 w 109"/>
                    <a:gd name="T1" fmla="*/ 0 h 139"/>
                    <a:gd name="T2" fmla="*/ 0 w 109"/>
                    <a:gd name="T3" fmla="*/ 0 h 139"/>
                    <a:gd name="T4" fmla="*/ 0 w 109"/>
                    <a:gd name="T5" fmla="*/ 0 h 139"/>
                    <a:gd name="T6" fmla="*/ 0 w 109"/>
                    <a:gd name="T7" fmla="*/ 0 h 139"/>
                    <a:gd name="T8" fmla="*/ 0 w 109"/>
                    <a:gd name="T9" fmla="*/ 0 h 139"/>
                    <a:gd name="T10" fmla="*/ 0 w 109"/>
                    <a:gd name="T11" fmla="*/ 0 h 139"/>
                    <a:gd name="T12" fmla="*/ 0 w 109"/>
                    <a:gd name="T13" fmla="*/ 0 h 139"/>
                    <a:gd name="T14" fmla="*/ 0 w 109"/>
                    <a:gd name="T15" fmla="*/ 0 h 139"/>
                    <a:gd name="T16" fmla="*/ 0 w 109"/>
                    <a:gd name="T17" fmla="*/ 0 h 139"/>
                    <a:gd name="T18" fmla="*/ 0 w 109"/>
                    <a:gd name="T19" fmla="*/ 0 h 139"/>
                    <a:gd name="T20" fmla="*/ 0 w 109"/>
                    <a:gd name="T21" fmla="*/ 0 h 139"/>
                    <a:gd name="T22" fmla="*/ 0 w 109"/>
                    <a:gd name="T23" fmla="*/ 0 h 139"/>
                    <a:gd name="T24" fmla="*/ 0 w 109"/>
                    <a:gd name="T25" fmla="*/ 0 h 139"/>
                    <a:gd name="T26" fmla="*/ 0 w 109"/>
                    <a:gd name="T27" fmla="*/ 0 h 139"/>
                    <a:gd name="T28" fmla="*/ 0 w 109"/>
                    <a:gd name="T29" fmla="*/ 0 h 13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9"/>
                    <a:gd name="T46" fmla="*/ 0 h 139"/>
                    <a:gd name="T47" fmla="*/ 109 w 109"/>
                    <a:gd name="T48" fmla="*/ 139 h 13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9" h="139">
                      <a:moveTo>
                        <a:pt x="81" y="139"/>
                      </a:moveTo>
                      <a:lnTo>
                        <a:pt x="41" y="76"/>
                      </a:lnTo>
                      <a:lnTo>
                        <a:pt x="30" y="57"/>
                      </a:lnTo>
                      <a:lnTo>
                        <a:pt x="23" y="38"/>
                      </a:lnTo>
                      <a:lnTo>
                        <a:pt x="11" y="17"/>
                      </a:lnTo>
                      <a:lnTo>
                        <a:pt x="0" y="0"/>
                      </a:lnTo>
                      <a:lnTo>
                        <a:pt x="5" y="3"/>
                      </a:lnTo>
                      <a:lnTo>
                        <a:pt x="11" y="5"/>
                      </a:lnTo>
                      <a:lnTo>
                        <a:pt x="17" y="5"/>
                      </a:lnTo>
                      <a:lnTo>
                        <a:pt x="23" y="8"/>
                      </a:lnTo>
                      <a:lnTo>
                        <a:pt x="109" y="139"/>
                      </a:lnTo>
                      <a:lnTo>
                        <a:pt x="104" y="139"/>
                      </a:lnTo>
                      <a:lnTo>
                        <a:pt x="95" y="139"/>
                      </a:lnTo>
                      <a:lnTo>
                        <a:pt x="88" y="139"/>
                      </a:lnTo>
                      <a:lnTo>
                        <a:pt x="81" y="139"/>
                      </a:lnTo>
                      <a:close/>
                    </a:path>
                  </a:pathLst>
                </a:custGeom>
                <a:solidFill>
                  <a:srgbClr val="568E4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85" name="Freeform 435"/>
                <p:cNvSpPr>
                  <a:spLocks/>
                </p:cNvSpPr>
                <p:nvPr/>
              </p:nvSpPr>
              <p:spPr bwMode="auto">
                <a:xfrm>
                  <a:off x="4899" y="1446"/>
                  <a:ext cx="31" cy="35"/>
                </a:xfrm>
                <a:custGeom>
                  <a:avLst/>
                  <a:gdLst>
                    <a:gd name="T0" fmla="*/ 0 w 125"/>
                    <a:gd name="T1" fmla="*/ 0 h 139"/>
                    <a:gd name="T2" fmla="*/ 0 w 125"/>
                    <a:gd name="T3" fmla="*/ 0 h 139"/>
                    <a:gd name="T4" fmla="*/ 0 w 125"/>
                    <a:gd name="T5" fmla="*/ 0 h 139"/>
                    <a:gd name="T6" fmla="*/ 0 w 125"/>
                    <a:gd name="T7" fmla="*/ 0 h 139"/>
                    <a:gd name="T8" fmla="*/ 0 w 125"/>
                    <a:gd name="T9" fmla="*/ 0 h 139"/>
                    <a:gd name="T10" fmla="*/ 0 w 125"/>
                    <a:gd name="T11" fmla="*/ 0 h 139"/>
                    <a:gd name="T12" fmla="*/ 0 w 125"/>
                    <a:gd name="T13" fmla="*/ 0 h 139"/>
                    <a:gd name="T14" fmla="*/ 0 w 125"/>
                    <a:gd name="T15" fmla="*/ 0 h 139"/>
                    <a:gd name="T16" fmla="*/ 0 w 125"/>
                    <a:gd name="T17" fmla="*/ 0 h 139"/>
                    <a:gd name="T18" fmla="*/ 0 w 125"/>
                    <a:gd name="T19" fmla="*/ 0 h 139"/>
                    <a:gd name="T20" fmla="*/ 0 w 125"/>
                    <a:gd name="T21" fmla="*/ 0 h 139"/>
                    <a:gd name="T22" fmla="*/ 0 w 125"/>
                    <a:gd name="T23" fmla="*/ 0 h 139"/>
                    <a:gd name="T24" fmla="*/ 0 w 125"/>
                    <a:gd name="T25" fmla="*/ 0 h 139"/>
                    <a:gd name="T26" fmla="*/ 0 w 125"/>
                    <a:gd name="T27" fmla="*/ 0 h 139"/>
                    <a:gd name="T28" fmla="*/ 0 w 125"/>
                    <a:gd name="T29" fmla="*/ 0 h 13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25"/>
                    <a:gd name="T46" fmla="*/ 0 h 139"/>
                    <a:gd name="T47" fmla="*/ 125 w 125"/>
                    <a:gd name="T48" fmla="*/ 139 h 13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25" h="139">
                      <a:moveTo>
                        <a:pt x="98" y="139"/>
                      </a:moveTo>
                      <a:lnTo>
                        <a:pt x="17" y="22"/>
                      </a:lnTo>
                      <a:lnTo>
                        <a:pt x="11" y="17"/>
                      </a:lnTo>
                      <a:lnTo>
                        <a:pt x="9" y="11"/>
                      </a:lnTo>
                      <a:lnTo>
                        <a:pt x="3" y="5"/>
                      </a:lnTo>
                      <a:lnTo>
                        <a:pt x="0" y="0"/>
                      </a:lnTo>
                      <a:lnTo>
                        <a:pt x="11" y="5"/>
                      </a:lnTo>
                      <a:lnTo>
                        <a:pt x="23" y="8"/>
                      </a:lnTo>
                      <a:lnTo>
                        <a:pt x="33" y="13"/>
                      </a:lnTo>
                      <a:lnTo>
                        <a:pt x="44" y="17"/>
                      </a:lnTo>
                      <a:lnTo>
                        <a:pt x="125" y="130"/>
                      </a:lnTo>
                      <a:lnTo>
                        <a:pt x="120" y="133"/>
                      </a:lnTo>
                      <a:lnTo>
                        <a:pt x="111" y="135"/>
                      </a:lnTo>
                      <a:lnTo>
                        <a:pt x="104" y="139"/>
                      </a:lnTo>
                      <a:lnTo>
                        <a:pt x="98" y="139"/>
                      </a:lnTo>
                      <a:close/>
                    </a:path>
                  </a:pathLst>
                </a:custGeom>
                <a:solidFill>
                  <a:srgbClr val="598E4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86" name="Freeform 436"/>
                <p:cNvSpPr>
                  <a:spLocks/>
                </p:cNvSpPr>
                <p:nvPr/>
              </p:nvSpPr>
              <p:spPr bwMode="auto">
                <a:xfrm>
                  <a:off x="4905" y="1449"/>
                  <a:ext cx="28" cy="32"/>
                </a:xfrm>
                <a:custGeom>
                  <a:avLst/>
                  <a:gdLst>
                    <a:gd name="T0" fmla="*/ 0 w 113"/>
                    <a:gd name="T1" fmla="*/ 0 h 131"/>
                    <a:gd name="T2" fmla="*/ 0 w 113"/>
                    <a:gd name="T3" fmla="*/ 0 h 131"/>
                    <a:gd name="T4" fmla="*/ 0 w 113"/>
                    <a:gd name="T5" fmla="*/ 0 h 131"/>
                    <a:gd name="T6" fmla="*/ 0 w 113"/>
                    <a:gd name="T7" fmla="*/ 0 h 131"/>
                    <a:gd name="T8" fmla="*/ 0 w 113"/>
                    <a:gd name="T9" fmla="*/ 0 h 131"/>
                    <a:gd name="T10" fmla="*/ 0 w 113"/>
                    <a:gd name="T11" fmla="*/ 0 h 131"/>
                    <a:gd name="T12" fmla="*/ 0 w 113"/>
                    <a:gd name="T13" fmla="*/ 0 h 131"/>
                    <a:gd name="T14" fmla="*/ 0 w 113"/>
                    <a:gd name="T15" fmla="*/ 0 h 131"/>
                    <a:gd name="T16" fmla="*/ 0 w 113"/>
                    <a:gd name="T17" fmla="*/ 0 h 131"/>
                    <a:gd name="T18" fmla="*/ 0 w 113"/>
                    <a:gd name="T19" fmla="*/ 0 h 131"/>
                    <a:gd name="T20" fmla="*/ 0 w 113"/>
                    <a:gd name="T21" fmla="*/ 0 h 13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13"/>
                    <a:gd name="T34" fmla="*/ 0 h 131"/>
                    <a:gd name="T35" fmla="*/ 113 w 113"/>
                    <a:gd name="T36" fmla="*/ 131 h 13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13" h="131">
                      <a:moveTo>
                        <a:pt x="86" y="131"/>
                      </a:moveTo>
                      <a:lnTo>
                        <a:pt x="0" y="0"/>
                      </a:lnTo>
                      <a:lnTo>
                        <a:pt x="10" y="5"/>
                      </a:lnTo>
                      <a:lnTo>
                        <a:pt x="18" y="9"/>
                      </a:lnTo>
                      <a:lnTo>
                        <a:pt x="29" y="14"/>
                      </a:lnTo>
                      <a:lnTo>
                        <a:pt x="40" y="19"/>
                      </a:lnTo>
                      <a:lnTo>
                        <a:pt x="113" y="122"/>
                      </a:lnTo>
                      <a:lnTo>
                        <a:pt x="105" y="122"/>
                      </a:lnTo>
                      <a:lnTo>
                        <a:pt x="100" y="125"/>
                      </a:lnTo>
                      <a:lnTo>
                        <a:pt x="91" y="127"/>
                      </a:lnTo>
                      <a:lnTo>
                        <a:pt x="86" y="131"/>
                      </a:lnTo>
                      <a:close/>
                    </a:path>
                  </a:pathLst>
                </a:custGeom>
                <a:solidFill>
                  <a:srgbClr val="598E4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87" name="Freeform 437"/>
                <p:cNvSpPr>
                  <a:spLocks/>
                </p:cNvSpPr>
                <p:nvPr/>
              </p:nvSpPr>
              <p:spPr bwMode="auto">
                <a:xfrm>
                  <a:off x="4910" y="1451"/>
                  <a:ext cx="26" cy="28"/>
                </a:xfrm>
                <a:custGeom>
                  <a:avLst/>
                  <a:gdLst>
                    <a:gd name="T0" fmla="*/ 0 w 103"/>
                    <a:gd name="T1" fmla="*/ 0 h 113"/>
                    <a:gd name="T2" fmla="*/ 0 w 103"/>
                    <a:gd name="T3" fmla="*/ 0 h 113"/>
                    <a:gd name="T4" fmla="*/ 0 w 103"/>
                    <a:gd name="T5" fmla="*/ 0 h 113"/>
                    <a:gd name="T6" fmla="*/ 0 w 103"/>
                    <a:gd name="T7" fmla="*/ 0 h 113"/>
                    <a:gd name="T8" fmla="*/ 0 w 103"/>
                    <a:gd name="T9" fmla="*/ 0 h 113"/>
                    <a:gd name="T10" fmla="*/ 0 w 103"/>
                    <a:gd name="T11" fmla="*/ 0 h 113"/>
                    <a:gd name="T12" fmla="*/ 0 w 103"/>
                    <a:gd name="T13" fmla="*/ 0 h 113"/>
                    <a:gd name="T14" fmla="*/ 0 w 103"/>
                    <a:gd name="T15" fmla="*/ 0 h 113"/>
                    <a:gd name="T16" fmla="*/ 0 w 103"/>
                    <a:gd name="T17" fmla="*/ 0 h 113"/>
                    <a:gd name="T18" fmla="*/ 0 w 103"/>
                    <a:gd name="T19" fmla="*/ 0 h 113"/>
                    <a:gd name="T20" fmla="*/ 0 w 103"/>
                    <a:gd name="T21" fmla="*/ 0 h 113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03"/>
                    <a:gd name="T34" fmla="*/ 0 h 113"/>
                    <a:gd name="T35" fmla="*/ 103 w 103"/>
                    <a:gd name="T36" fmla="*/ 113 h 113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03" h="113">
                      <a:moveTo>
                        <a:pt x="81" y="113"/>
                      </a:moveTo>
                      <a:lnTo>
                        <a:pt x="0" y="0"/>
                      </a:lnTo>
                      <a:lnTo>
                        <a:pt x="8" y="2"/>
                      </a:lnTo>
                      <a:lnTo>
                        <a:pt x="19" y="7"/>
                      </a:lnTo>
                      <a:lnTo>
                        <a:pt x="30" y="10"/>
                      </a:lnTo>
                      <a:lnTo>
                        <a:pt x="37" y="13"/>
                      </a:lnTo>
                      <a:lnTo>
                        <a:pt x="103" y="111"/>
                      </a:lnTo>
                      <a:lnTo>
                        <a:pt x="97" y="113"/>
                      </a:lnTo>
                      <a:lnTo>
                        <a:pt x="92" y="113"/>
                      </a:lnTo>
                      <a:lnTo>
                        <a:pt x="87" y="113"/>
                      </a:lnTo>
                      <a:lnTo>
                        <a:pt x="81" y="113"/>
                      </a:lnTo>
                      <a:close/>
                    </a:path>
                  </a:pathLst>
                </a:custGeom>
                <a:solidFill>
                  <a:srgbClr val="5E935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88" name="Freeform 438"/>
                <p:cNvSpPr>
                  <a:spLocks/>
                </p:cNvSpPr>
                <p:nvPr/>
              </p:nvSpPr>
              <p:spPr bwMode="auto">
                <a:xfrm>
                  <a:off x="4915" y="1453"/>
                  <a:ext cx="25" cy="26"/>
                </a:xfrm>
                <a:custGeom>
                  <a:avLst/>
                  <a:gdLst>
                    <a:gd name="T0" fmla="*/ 0 w 101"/>
                    <a:gd name="T1" fmla="*/ 0 h 103"/>
                    <a:gd name="T2" fmla="*/ 0 w 101"/>
                    <a:gd name="T3" fmla="*/ 0 h 103"/>
                    <a:gd name="T4" fmla="*/ 0 w 101"/>
                    <a:gd name="T5" fmla="*/ 0 h 103"/>
                    <a:gd name="T6" fmla="*/ 0 w 101"/>
                    <a:gd name="T7" fmla="*/ 0 h 103"/>
                    <a:gd name="T8" fmla="*/ 0 w 101"/>
                    <a:gd name="T9" fmla="*/ 0 h 103"/>
                    <a:gd name="T10" fmla="*/ 0 w 101"/>
                    <a:gd name="T11" fmla="*/ 0 h 103"/>
                    <a:gd name="T12" fmla="*/ 0 w 101"/>
                    <a:gd name="T13" fmla="*/ 0 h 103"/>
                    <a:gd name="T14" fmla="*/ 0 w 101"/>
                    <a:gd name="T15" fmla="*/ 0 h 103"/>
                    <a:gd name="T16" fmla="*/ 0 w 101"/>
                    <a:gd name="T17" fmla="*/ 0 h 103"/>
                    <a:gd name="T18" fmla="*/ 0 w 101"/>
                    <a:gd name="T19" fmla="*/ 0 h 103"/>
                    <a:gd name="T20" fmla="*/ 0 w 101"/>
                    <a:gd name="T21" fmla="*/ 0 h 103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01"/>
                    <a:gd name="T34" fmla="*/ 0 h 103"/>
                    <a:gd name="T35" fmla="*/ 101 w 101"/>
                    <a:gd name="T36" fmla="*/ 103 h 103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01" h="103">
                      <a:moveTo>
                        <a:pt x="73" y="103"/>
                      </a:moveTo>
                      <a:lnTo>
                        <a:pt x="0" y="0"/>
                      </a:lnTo>
                      <a:lnTo>
                        <a:pt x="11" y="3"/>
                      </a:lnTo>
                      <a:lnTo>
                        <a:pt x="22" y="6"/>
                      </a:lnTo>
                      <a:lnTo>
                        <a:pt x="30" y="8"/>
                      </a:lnTo>
                      <a:lnTo>
                        <a:pt x="38" y="11"/>
                      </a:lnTo>
                      <a:lnTo>
                        <a:pt x="101" y="96"/>
                      </a:lnTo>
                      <a:lnTo>
                        <a:pt x="92" y="96"/>
                      </a:lnTo>
                      <a:lnTo>
                        <a:pt x="87" y="98"/>
                      </a:lnTo>
                      <a:lnTo>
                        <a:pt x="78" y="101"/>
                      </a:lnTo>
                      <a:lnTo>
                        <a:pt x="73" y="103"/>
                      </a:lnTo>
                      <a:close/>
                    </a:path>
                  </a:pathLst>
                </a:custGeom>
                <a:solidFill>
                  <a:srgbClr val="60935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89" name="Freeform 439"/>
                <p:cNvSpPr>
                  <a:spLocks/>
                </p:cNvSpPr>
                <p:nvPr/>
              </p:nvSpPr>
              <p:spPr bwMode="auto">
                <a:xfrm>
                  <a:off x="4919" y="1454"/>
                  <a:ext cx="23" cy="24"/>
                </a:xfrm>
                <a:custGeom>
                  <a:avLst/>
                  <a:gdLst>
                    <a:gd name="T0" fmla="*/ 0 w 90"/>
                    <a:gd name="T1" fmla="*/ 0 h 98"/>
                    <a:gd name="T2" fmla="*/ 0 w 90"/>
                    <a:gd name="T3" fmla="*/ 0 h 98"/>
                    <a:gd name="T4" fmla="*/ 0 w 90"/>
                    <a:gd name="T5" fmla="*/ 0 h 98"/>
                    <a:gd name="T6" fmla="*/ 0 w 90"/>
                    <a:gd name="T7" fmla="*/ 0 h 98"/>
                    <a:gd name="T8" fmla="*/ 0 w 90"/>
                    <a:gd name="T9" fmla="*/ 0 h 98"/>
                    <a:gd name="T10" fmla="*/ 0 w 90"/>
                    <a:gd name="T11" fmla="*/ 0 h 98"/>
                    <a:gd name="T12" fmla="*/ 0 w 90"/>
                    <a:gd name="T13" fmla="*/ 0 h 98"/>
                    <a:gd name="T14" fmla="*/ 0 w 90"/>
                    <a:gd name="T15" fmla="*/ 0 h 98"/>
                    <a:gd name="T16" fmla="*/ 0 w 90"/>
                    <a:gd name="T17" fmla="*/ 0 h 98"/>
                    <a:gd name="T18" fmla="*/ 0 w 90"/>
                    <a:gd name="T19" fmla="*/ 0 h 98"/>
                    <a:gd name="T20" fmla="*/ 0 w 90"/>
                    <a:gd name="T21" fmla="*/ 0 h 9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90"/>
                    <a:gd name="T34" fmla="*/ 0 h 98"/>
                    <a:gd name="T35" fmla="*/ 90 w 90"/>
                    <a:gd name="T36" fmla="*/ 98 h 9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90" h="98">
                      <a:moveTo>
                        <a:pt x="66" y="98"/>
                      </a:moveTo>
                      <a:lnTo>
                        <a:pt x="0" y="0"/>
                      </a:lnTo>
                      <a:lnTo>
                        <a:pt x="12" y="5"/>
                      </a:lnTo>
                      <a:lnTo>
                        <a:pt x="23" y="8"/>
                      </a:lnTo>
                      <a:lnTo>
                        <a:pt x="30" y="10"/>
                      </a:lnTo>
                      <a:lnTo>
                        <a:pt x="39" y="13"/>
                      </a:lnTo>
                      <a:lnTo>
                        <a:pt x="90" y="84"/>
                      </a:lnTo>
                      <a:lnTo>
                        <a:pt x="85" y="87"/>
                      </a:lnTo>
                      <a:lnTo>
                        <a:pt x="79" y="89"/>
                      </a:lnTo>
                      <a:lnTo>
                        <a:pt x="72" y="95"/>
                      </a:lnTo>
                      <a:lnTo>
                        <a:pt x="66" y="98"/>
                      </a:lnTo>
                      <a:close/>
                    </a:path>
                  </a:pathLst>
                </a:custGeom>
                <a:solidFill>
                  <a:srgbClr val="60935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90" name="Freeform 440"/>
                <p:cNvSpPr>
                  <a:spLocks/>
                </p:cNvSpPr>
                <p:nvPr/>
              </p:nvSpPr>
              <p:spPr bwMode="auto">
                <a:xfrm>
                  <a:off x="4924" y="1456"/>
                  <a:ext cx="22" cy="21"/>
                </a:xfrm>
                <a:custGeom>
                  <a:avLst/>
                  <a:gdLst>
                    <a:gd name="T0" fmla="*/ 0 w 87"/>
                    <a:gd name="T1" fmla="*/ 0 h 85"/>
                    <a:gd name="T2" fmla="*/ 0 w 87"/>
                    <a:gd name="T3" fmla="*/ 0 h 85"/>
                    <a:gd name="T4" fmla="*/ 0 w 87"/>
                    <a:gd name="T5" fmla="*/ 0 h 85"/>
                    <a:gd name="T6" fmla="*/ 0 w 87"/>
                    <a:gd name="T7" fmla="*/ 0 h 85"/>
                    <a:gd name="T8" fmla="*/ 0 w 87"/>
                    <a:gd name="T9" fmla="*/ 0 h 85"/>
                    <a:gd name="T10" fmla="*/ 0 w 87"/>
                    <a:gd name="T11" fmla="*/ 0 h 85"/>
                    <a:gd name="T12" fmla="*/ 0 w 87"/>
                    <a:gd name="T13" fmla="*/ 0 h 85"/>
                    <a:gd name="T14" fmla="*/ 0 w 87"/>
                    <a:gd name="T15" fmla="*/ 0 h 85"/>
                    <a:gd name="T16" fmla="*/ 0 w 87"/>
                    <a:gd name="T17" fmla="*/ 0 h 85"/>
                    <a:gd name="T18" fmla="*/ 0 w 87"/>
                    <a:gd name="T19" fmla="*/ 0 h 85"/>
                    <a:gd name="T20" fmla="*/ 0 w 87"/>
                    <a:gd name="T21" fmla="*/ 0 h 8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87"/>
                    <a:gd name="T34" fmla="*/ 0 h 85"/>
                    <a:gd name="T35" fmla="*/ 87 w 87"/>
                    <a:gd name="T36" fmla="*/ 85 h 85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87" h="85">
                      <a:moveTo>
                        <a:pt x="63" y="85"/>
                      </a:moveTo>
                      <a:lnTo>
                        <a:pt x="0" y="0"/>
                      </a:lnTo>
                      <a:lnTo>
                        <a:pt x="10" y="2"/>
                      </a:lnTo>
                      <a:lnTo>
                        <a:pt x="22" y="5"/>
                      </a:lnTo>
                      <a:lnTo>
                        <a:pt x="30" y="9"/>
                      </a:lnTo>
                      <a:lnTo>
                        <a:pt x="40" y="9"/>
                      </a:lnTo>
                      <a:lnTo>
                        <a:pt x="87" y="71"/>
                      </a:lnTo>
                      <a:lnTo>
                        <a:pt x="81" y="74"/>
                      </a:lnTo>
                      <a:lnTo>
                        <a:pt x="76" y="76"/>
                      </a:lnTo>
                      <a:lnTo>
                        <a:pt x="68" y="81"/>
                      </a:lnTo>
                      <a:lnTo>
                        <a:pt x="63" y="85"/>
                      </a:lnTo>
                      <a:close/>
                    </a:path>
                  </a:pathLst>
                </a:custGeom>
                <a:solidFill>
                  <a:srgbClr val="66965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91" name="Freeform 441"/>
                <p:cNvSpPr>
                  <a:spLocks/>
                </p:cNvSpPr>
                <p:nvPr/>
              </p:nvSpPr>
              <p:spPr bwMode="auto">
                <a:xfrm>
                  <a:off x="4929" y="1457"/>
                  <a:ext cx="20" cy="18"/>
                </a:xfrm>
                <a:custGeom>
                  <a:avLst/>
                  <a:gdLst>
                    <a:gd name="T0" fmla="*/ 0 w 79"/>
                    <a:gd name="T1" fmla="*/ 0 h 71"/>
                    <a:gd name="T2" fmla="*/ 0 w 79"/>
                    <a:gd name="T3" fmla="*/ 0 h 71"/>
                    <a:gd name="T4" fmla="*/ 0 w 79"/>
                    <a:gd name="T5" fmla="*/ 0 h 71"/>
                    <a:gd name="T6" fmla="*/ 0 w 79"/>
                    <a:gd name="T7" fmla="*/ 0 h 71"/>
                    <a:gd name="T8" fmla="*/ 0 w 79"/>
                    <a:gd name="T9" fmla="*/ 0 h 71"/>
                    <a:gd name="T10" fmla="*/ 0 w 79"/>
                    <a:gd name="T11" fmla="*/ 0 h 71"/>
                    <a:gd name="T12" fmla="*/ 0 w 79"/>
                    <a:gd name="T13" fmla="*/ 0 h 71"/>
                    <a:gd name="T14" fmla="*/ 0 w 79"/>
                    <a:gd name="T15" fmla="*/ 0 h 71"/>
                    <a:gd name="T16" fmla="*/ 0 w 79"/>
                    <a:gd name="T17" fmla="*/ 0 h 71"/>
                    <a:gd name="T18" fmla="*/ 0 w 79"/>
                    <a:gd name="T19" fmla="*/ 0 h 71"/>
                    <a:gd name="T20" fmla="*/ 0 w 79"/>
                    <a:gd name="T21" fmla="*/ 0 h 7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9"/>
                    <a:gd name="T34" fmla="*/ 0 h 71"/>
                    <a:gd name="T35" fmla="*/ 79 w 79"/>
                    <a:gd name="T36" fmla="*/ 71 h 7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9" h="71">
                      <a:moveTo>
                        <a:pt x="51" y="71"/>
                      </a:moveTo>
                      <a:lnTo>
                        <a:pt x="0" y="0"/>
                      </a:lnTo>
                      <a:lnTo>
                        <a:pt x="11" y="4"/>
                      </a:lnTo>
                      <a:lnTo>
                        <a:pt x="21" y="6"/>
                      </a:lnTo>
                      <a:lnTo>
                        <a:pt x="30" y="9"/>
                      </a:lnTo>
                      <a:lnTo>
                        <a:pt x="40" y="9"/>
                      </a:lnTo>
                      <a:lnTo>
                        <a:pt x="79" y="62"/>
                      </a:lnTo>
                      <a:lnTo>
                        <a:pt x="74" y="66"/>
                      </a:lnTo>
                      <a:lnTo>
                        <a:pt x="65" y="69"/>
                      </a:lnTo>
                      <a:lnTo>
                        <a:pt x="60" y="71"/>
                      </a:lnTo>
                      <a:lnTo>
                        <a:pt x="51" y="71"/>
                      </a:lnTo>
                      <a:close/>
                    </a:path>
                  </a:pathLst>
                </a:custGeom>
                <a:solidFill>
                  <a:srgbClr val="6899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92" name="Freeform 442"/>
                <p:cNvSpPr>
                  <a:spLocks/>
                </p:cNvSpPr>
                <p:nvPr/>
              </p:nvSpPr>
              <p:spPr bwMode="auto">
                <a:xfrm>
                  <a:off x="4934" y="1458"/>
                  <a:ext cx="17" cy="16"/>
                </a:xfrm>
                <a:custGeom>
                  <a:avLst/>
                  <a:gdLst>
                    <a:gd name="T0" fmla="*/ 0 w 69"/>
                    <a:gd name="T1" fmla="*/ 0 h 62"/>
                    <a:gd name="T2" fmla="*/ 0 w 69"/>
                    <a:gd name="T3" fmla="*/ 0 h 62"/>
                    <a:gd name="T4" fmla="*/ 0 w 69"/>
                    <a:gd name="T5" fmla="*/ 0 h 62"/>
                    <a:gd name="T6" fmla="*/ 0 w 69"/>
                    <a:gd name="T7" fmla="*/ 0 h 62"/>
                    <a:gd name="T8" fmla="*/ 0 w 69"/>
                    <a:gd name="T9" fmla="*/ 0 h 62"/>
                    <a:gd name="T10" fmla="*/ 0 w 69"/>
                    <a:gd name="T11" fmla="*/ 0 h 62"/>
                    <a:gd name="T12" fmla="*/ 0 w 69"/>
                    <a:gd name="T13" fmla="*/ 0 h 62"/>
                    <a:gd name="T14" fmla="*/ 0 w 69"/>
                    <a:gd name="T15" fmla="*/ 0 h 62"/>
                    <a:gd name="T16" fmla="*/ 0 w 69"/>
                    <a:gd name="T17" fmla="*/ 0 h 62"/>
                    <a:gd name="T18" fmla="*/ 0 w 69"/>
                    <a:gd name="T19" fmla="*/ 0 h 62"/>
                    <a:gd name="T20" fmla="*/ 0 w 69"/>
                    <a:gd name="T21" fmla="*/ 0 h 6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69"/>
                    <a:gd name="T34" fmla="*/ 0 h 62"/>
                    <a:gd name="T35" fmla="*/ 69 w 69"/>
                    <a:gd name="T36" fmla="*/ 62 h 6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69" h="62">
                      <a:moveTo>
                        <a:pt x="47" y="62"/>
                      </a:moveTo>
                      <a:lnTo>
                        <a:pt x="0" y="0"/>
                      </a:lnTo>
                      <a:lnTo>
                        <a:pt x="9" y="2"/>
                      </a:lnTo>
                      <a:lnTo>
                        <a:pt x="17" y="5"/>
                      </a:lnTo>
                      <a:lnTo>
                        <a:pt x="25" y="5"/>
                      </a:lnTo>
                      <a:lnTo>
                        <a:pt x="33" y="5"/>
                      </a:lnTo>
                      <a:lnTo>
                        <a:pt x="69" y="51"/>
                      </a:lnTo>
                      <a:lnTo>
                        <a:pt x="60" y="56"/>
                      </a:lnTo>
                      <a:lnTo>
                        <a:pt x="55" y="58"/>
                      </a:lnTo>
                      <a:lnTo>
                        <a:pt x="49" y="58"/>
                      </a:lnTo>
                      <a:lnTo>
                        <a:pt x="47" y="62"/>
                      </a:lnTo>
                      <a:close/>
                    </a:path>
                  </a:pathLst>
                </a:custGeom>
                <a:solidFill>
                  <a:srgbClr val="6899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93" name="Freeform 443"/>
                <p:cNvSpPr>
                  <a:spLocks/>
                </p:cNvSpPr>
                <p:nvPr/>
              </p:nvSpPr>
              <p:spPr bwMode="auto">
                <a:xfrm>
                  <a:off x="4939" y="1459"/>
                  <a:ext cx="14" cy="14"/>
                </a:xfrm>
                <a:custGeom>
                  <a:avLst/>
                  <a:gdLst>
                    <a:gd name="T0" fmla="*/ 0 w 57"/>
                    <a:gd name="T1" fmla="*/ 0 h 53"/>
                    <a:gd name="T2" fmla="*/ 0 w 57"/>
                    <a:gd name="T3" fmla="*/ 0 h 53"/>
                    <a:gd name="T4" fmla="*/ 0 w 57"/>
                    <a:gd name="T5" fmla="*/ 0 h 53"/>
                    <a:gd name="T6" fmla="*/ 0 w 57"/>
                    <a:gd name="T7" fmla="*/ 0 h 53"/>
                    <a:gd name="T8" fmla="*/ 0 w 57"/>
                    <a:gd name="T9" fmla="*/ 0 h 53"/>
                    <a:gd name="T10" fmla="*/ 0 w 57"/>
                    <a:gd name="T11" fmla="*/ 0 h 53"/>
                    <a:gd name="T12" fmla="*/ 0 w 57"/>
                    <a:gd name="T13" fmla="*/ 0 h 53"/>
                    <a:gd name="T14" fmla="*/ 0 w 57"/>
                    <a:gd name="T15" fmla="*/ 0 h 53"/>
                    <a:gd name="T16" fmla="*/ 0 w 57"/>
                    <a:gd name="T17" fmla="*/ 0 h 53"/>
                    <a:gd name="T18" fmla="*/ 0 w 57"/>
                    <a:gd name="T19" fmla="*/ 0 h 53"/>
                    <a:gd name="T20" fmla="*/ 0 w 57"/>
                    <a:gd name="T21" fmla="*/ 0 h 53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57"/>
                    <a:gd name="T34" fmla="*/ 0 h 53"/>
                    <a:gd name="T35" fmla="*/ 57 w 57"/>
                    <a:gd name="T36" fmla="*/ 53 h 53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57" h="53">
                      <a:moveTo>
                        <a:pt x="39" y="53"/>
                      </a:moveTo>
                      <a:lnTo>
                        <a:pt x="0" y="0"/>
                      </a:lnTo>
                      <a:lnTo>
                        <a:pt x="9" y="0"/>
                      </a:lnTo>
                      <a:lnTo>
                        <a:pt x="17" y="0"/>
                      </a:lnTo>
                      <a:lnTo>
                        <a:pt x="25" y="2"/>
                      </a:lnTo>
                      <a:lnTo>
                        <a:pt x="30" y="2"/>
                      </a:lnTo>
                      <a:lnTo>
                        <a:pt x="57" y="41"/>
                      </a:lnTo>
                      <a:lnTo>
                        <a:pt x="52" y="43"/>
                      </a:lnTo>
                      <a:lnTo>
                        <a:pt x="50" y="46"/>
                      </a:lnTo>
                      <a:lnTo>
                        <a:pt x="44" y="51"/>
                      </a:lnTo>
                      <a:lnTo>
                        <a:pt x="39" y="53"/>
                      </a:lnTo>
                      <a:close/>
                    </a:path>
                  </a:pathLst>
                </a:custGeom>
                <a:solidFill>
                  <a:srgbClr val="6D9B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94" name="Freeform 444"/>
                <p:cNvSpPr>
                  <a:spLocks/>
                </p:cNvSpPr>
                <p:nvPr/>
              </p:nvSpPr>
              <p:spPr bwMode="auto">
                <a:xfrm>
                  <a:off x="4943" y="1459"/>
                  <a:ext cx="13" cy="12"/>
                </a:xfrm>
                <a:custGeom>
                  <a:avLst/>
                  <a:gdLst>
                    <a:gd name="T0" fmla="*/ 0 w 55"/>
                    <a:gd name="T1" fmla="*/ 0 h 46"/>
                    <a:gd name="T2" fmla="*/ 0 w 55"/>
                    <a:gd name="T3" fmla="*/ 0 h 46"/>
                    <a:gd name="T4" fmla="*/ 0 w 55"/>
                    <a:gd name="T5" fmla="*/ 0 h 46"/>
                    <a:gd name="T6" fmla="*/ 0 w 55"/>
                    <a:gd name="T7" fmla="*/ 0 h 46"/>
                    <a:gd name="T8" fmla="*/ 0 w 55"/>
                    <a:gd name="T9" fmla="*/ 0 h 46"/>
                    <a:gd name="T10" fmla="*/ 0 w 55"/>
                    <a:gd name="T11" fmla="*/ 0 h 46"/>
                    <a:gd name="T12" fmla="*/ 0 w 55"/>
                    <a:gd name="T13" fmla="*/ 0 h 46"/>
                    <a:gd name="T14" fmla="*/ 0 w 55"/>
                    <a:gd name="T15" fmla="*/ 0 h 46"/>
                    <a:gd name="T16" fmla="*/ 0 w 55"/>
                    <a:gd name="T17" fmla="*/ 0 h 46"/>
                    <a:gd name="T18" fmla="*/ 0 w 55"/>
                    <a:gd name="T19" fmla="*/ 0 h 46"/>
                    <a:gd name="T20" fmla="*/ 0 w 55"/>
                    <a:gd name="T21" fmla="*/ 0 h 4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55"/>
                    <a:gd name="T34" fmla="*/ 0 h 46"/>
                    <a:gd name="T35" fmla="*/ 55 w 55"/>
                    <a:gd name="T36" fmla="*/ 46 h 4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55" h="46">
                      <a:moveTo>
                        <a:pt x="36" y="46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0" y="2"/>
                      </a:lnTo>
                      <a:lnTo>
                        <a:pt x="27" y="2"/>
                      </a:lnTo>
                      <a:lnTo>
                        <a:pt x="36" y="2"/>
                      </a:lnTo>
                      <a:lnTo>
                        <a:pt x="55" y="37"/>
                      </a:lnTo>
                      <a:lnTo>
                        <a:pt x="52" y="41"/>
                      </a:lnTo>
                      <a:lnTo>
                        <a:pt x="46" y="43"/>
                      </a:lnTo>
                      <a:lnTo>
                        <a:pt x="41" y="46"/>
                      </a:lnTo>
                      <a:lnTo>
                        <a:pt x="36" y="46"/>
                      </a:lnTo>
                      <a:close/>
                    </a:path>
                  </a:pathLst>
                </a:custGeom>
                <a:solidFill>
                  <a:srgbClr val="709E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95" name="Freeform 445"/>
                <p:cNvSpPr>
                  <a:spLocks/>
                </p:cNvSpPr>
                <p:nvPr/>
              </p:nvSpPr>
              <p:spPr bwMode="auto">
                <a:xfrm>
                  <a:off x="4947" y="1460"/>
                  <a:ext cx="12" cy="10"/>
                </a:xfrm>
                <a:custGeom>
                  <a:avLst/>
                  <a:gdLst>
                    <a:gd name="T0" fmla="*/ 0 w 50"/>
                    <a:gd name="T1" fmla="*/ 0 h 39"/>
                    <a:gd name="T2" fmla="*/ 0 w 50"/>
                    <a:gd name="T3" fmla="*/ 0 h 39"/>
                    <a:gd name="T4" fmla="*/ 0 w 50"/>
                    <a:gd name="T5" fmla="*/ 0 h 39"/>
                    <a:gd name="T6" fmla="*/ 0 w 50"/>
                    <a:gd name="T7" fmla="*/ 0 h 39"/>
                    <a:gd name="T8" fmla="*/ 0 w 50"/>
                    <a:gd name="T9" fmla="*/ 0 h 39"/>
                    <a:gd name="T10" fmla="*/ 0 w 50"/>
                    <a:gd name="T11" fmla="*/ 0 h 39"/>
                    <a:gd name="T12" fmla="*/ 0 w 50"/>
                    <a:gd name="T13" fmla="*/ 0 h 39"/>
                    <a:gd name="T14" fmla="*/ 0 w 50"/>
                    <a:gd name="T15" fmla="*/ 0 h 39"/>
                    <a:gd name="T16" fmla="*/ 0 w 50"/>
                    <a:gd name="T17" fmla="*/ 0 h 39"/>
                    <a:gd name="T18" fmla="*/ 0 w 50"/>
                    <a:gd name="T19" fmla="*/ 0 h 39"/>
                    <a:gd name="T20" fmla="*/ 0 w 50"/>
                    <a:gd name="T21" fmla="*/ 0 h 3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50"/>
                    <a:gd name="T34" fmla="*/ 0 h 39"/>
                    <a:gd name="T35" fmla="*/ 50 w 50"/>
                    <a:gd name="T36" fmla="*/ 39 h 3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50" h="39">
                      <a:moveTo>
                        <a:pt x="27" y="39"/>
                      </a:moveTo>
                      <a:lnTo>
                        <a:pt x="0" y="0"/>
                      </a:lnTo>
                      <a:lnTo>
                        <a:pt x="9" y="0"/>
                      </a:lnTo>
                      <a:lnTo>
                        <a:pt x="20" y="0"/>
                      </a:lnTo>
                      <a:lnTo>
                        <a:pt x="27" y="0"/>
                      </a:lnTo>
                      <a:lnTo>
                        <a:pt x="36" y="0"/>
                      </a:lnTo>
                      <a:lnTo>
                        <a:pt x="50" y="28"/>
                      </a:lnTo>
                      <a:lnTo>
                        <a:pt x="46" y="30"/>
                      </a:lnTo>
                      <a:lnTo>
                        <a:pt x="41" y="33"/>
                      </a:lnTo>
                      <a:lnTo>
                        <a:pt x="36" y="35"/>
                      </a:lnTo>
                      <a:lnTo>
                        <a:pt x="27" y="39"/>
                      </a:lnTo>
                      <a:close/>
                    </a:path>
                  </a:pathLst>
                </a:custGeom>
                <a:solidFill>
                  <a:srgbClr val="72A0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96" name="Freeform 446"/>
                <p:cNvSpPr>
                  <a:spLocks/>
                </p:cNvSpPr>
                <p:nvPr/>
              </p:nvSpPr>
              <p:spPr bwMode="auto">
                <a:xfrm>
                  <a:off x="4951" y="1460"/>
                  <a:ext cx="11" cy="9"/>
                </a:xfrm>
                <a:custGeom>
                  <a:avLst/>
                  <a:gdLst>
                    <a:gd name="T0" fmla="*/ 0 w 44"/>
                    <a:gd name="T1" fmla="*/ 0 h 35"/>
                    <a:gd name="T2" fmla="*/ 0 w 44"/>
                    <a:gd name="T3" fmla="*/ 0 h 35"/>
                    <a:gd name="T4" fmla="*/ 0 w 44"/>
                    <a:gd name="T5" fmla="*/ 0 h 35"/>
                    <a:gd name="T6" fmla="*/ 0 w 44"/>
                    <a:gd name="T7" fmla="*/ 0 h 35"/>
                    <a:gd name="T8" fmla="*/ 0 w 44"/>
                    <a:gd name="T9" fmla="*/ 0 h 35"/>
                    <a:gd name="T10" fmla="*/ 0 w 44"/>
                    <a:gd name="T11" fmla="*/ 0 h 35"/>
                    <a:gd name="T12" fmla="*/ 0 w 44"/>
                    <a:gd name="T13" fmla="*/ 0 h 35"/>
                    <a:gd name="T14" fmla="*/ 0 w 44"/>
                    <a:gd name="T15" fmla="*/ 0 h 35"/>
                    <a:gd name="T16" fmla="*/ 0 w 44"/>
                    <a:gd name="T17" fmla="*/ 0 h 35"/>
                    <a:gd name="T18" fmla="*/ 0 w 44"/>
                    <a:gd name="T19" fmla="*/ 0 h 35"/>
                    <a:gd name="T20" fmla="*/ 0 w 44"/>
                    <a:gd name="T21" fmla="*/ 0 h 3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35"/>
                    <a:gd name="T35" fmla="*/ 44 w 44"/>
                    <a:gd name="T36" fmla="*/ 35 h 35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35">
                      <a:moveTo>
                        <a:pt x="19" y="35"/>
                      </a:move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14" y="0"/>
                      </a:lnTo>
                      <a:lnTo>
                        <a:pt x="21" y="0"/>
                      </a:lnTo>
                      <a:lnTo>
                        <a:pt x="26" y="0"/>
                      </a:lnTo>
                      <a:lnTo>
                        <a:pt x="44" y="22"/>
                      </a:lnTo>
                      <a:lnTo>
                        <a:pt x="37" y="25"/>
                      </a:lnTo>
                      <a:lnTo>
                        <a:pt x="32" y="28"/>
                      </a:lnTo>
                      <a:lnTo>
                        <a:pt x="24" y="33"/>
                      </a:lnTo>
                      <a:lnTo>
                        <a:pt x="19" y="35"/>
                      </a:lnTo>
                      <a:close/>
                    </a:path>
                  </a:pathLst>
                </a:custGeom>
                <a:solidFill>
                  <a:srgbClr val="75A3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97" name="Freeform 447"/>
                <p:cNvSpPr>
                  <a:spLocks/>
                </p:cNvSpPr>
                <p:nvPr/>
              </p:nvSpPr>
              <p:spPr bwMode="auto">
                <a:xfrm>
                  <a:off x="4955" y="1460"/>
                  <a:ext cx="10" cy="7"/>
                </a:xfrm>
                <a:custGeom>
                  <a:avLst/>
                  <a:gdLst>
                    <a:gd name="T0" fmla="*/ 0 w 38"/>
                    <a:gd name="T1" fmla="*/ 0 h 28"/>
                    <a:gd name="T2" fmla="*/ 0 w 38"/>
                    <a:gd name="T3" fmla="*/ 0 h 28"/>
                    <a:gd name="T4" fmla="*/ 0 w 38"/>
                    <a:gd name="T5" fmla="*/ 0 h 28"/>
                    <a:gd name="T6" fmla="*/ 0 w 38"/>
                    <a:gd name="T7" fmla="*/ 0 h 28"/>
                    <a:gd name="T8" fmla="*/ 0 w 38"/>
                    <a:gd name="T9" fmla="*/ 0 h 28"/>
                    <a:gd name="T10" fmla="*/ 0 w 38"/>
                    <a:gd name="T11" fmla="*/ 0 h 28"/>
                    <a:gd name="T12" fmla="*/ 0 w 38"/>
                    <a:gd name="T13" fmla="*/ 0 h 28"/>
                    <a:gd name="T14" fmla="*/ 0 w 38"/>
                    <a:gd name="T15" fmla="*/ 0 h 28"/>
                    <a:gd name="T16" fmla="*/ 0 w 38"/>
                    <a:gd name="T17" fmla="*/ 0 h 28"/>
                    <a:gd name="T18" fmla="*/ 0 w 38"/>
                    <a:gd name="T19" fmla="*/ 0 h 28"/>
                    <a:gd name="T20" fmla="*/ 0 w 38"/>
                    <a:gd name="T21" fmla="*/ 0 h 2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8"/>
                    <a:gd name="T34" fmla="*/ 0 h 28"/>
                    <a:gd name="T35" fmla="*/ 38 w 38"/>
                    <a:gd name="T36" fmla="*/ 28 h 2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8" h="28">
                      <a:moveTo>
                        <a:pt x="14" y="28"/>
                      </a:move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14" y="0"/>
                      </a:lnTo>
                      <a:lnTo>
                        <a:pt x="21" y="0"/>
                      </a:lnTo>
                      <a:lnTo>
                        <a:pt x="30" y="0"/>
                      </a:lnTo>
                      <a:lnTo>
                        <a:pt x="38" y="14"/>
                      </a:lnTo>
                      <a:lnTo>
                        <a:pt x="33" y="16"/>
                      </a:lnTo>
                      <a:lnTo>
                        <a:pt x="28" y="19"/>
                      </a:lnTo>
                      <a:lnTo>
                        <a:pt x="19" y="25"/>
                      </a:lnTo>
                      <a:lnTo>
                        <a:pt x="14" y="28"/>
                      </a:lnTo>
                      <a:close/>
                    </a:path>
                  </a:pathLst>
                </a:custGeom>
                <a:solidFill>
                  <a:srgbClr val="75A3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98" name="Freeform 448"/>
                <p:cNvSpPr>
                  <a:spLocks/>
                </p:cNvSpPr>
                <p:nvPr/>
              </p:nvSpPr>
              <p:spPr bwMode="auto">
                <a:xfrm>
                  <a:off x="4958" y="1459"/>
                  <a:ext cx="9" cy="6"/>
                </a:xfrm>
                <a:custGeom>
                  <a:avLst/>
                  <a:gdLst>
                    <a:gd name="T0" fmla="*/ 0 w 36"/>
                    <a:gd name="T1" fmla="*/ 0 h 24"/>
                    <a:gd name="T2" fmla="*/ 0 w 36"/>
                    <a:gd name="T3" fmla="*/ 0 h 24"/>
                    <a:gd name="T4" fmla="*/ 0 w 36"/>
                    <a:gd name="T5" fmla="*/ 0 h 24"/>
                    <a:gd name="T6" fmla="*/ 0 w 36"/>
                    <a:gd name="T7" fmla="*/ 0 h 24"/>
                    <a:gd name="T8" fmla="*/ 0 w 36"/>
                    <a:gd name="T9" fmla="*/ 0 h 24"/>
                    <a:gd name="T10" fmla="*/ 0 w 36"/>
                    <a:gd name="T11" fmla="*/ 0 h 24"/>
                    <a:gd name="T12" fmla="*/ 0 w 36"/>
                    <a:gd name="T13" fmla="*/ 0 h 24"/>
                    <a:gd name="T14" fmla="*/ 0 w 36"/>
                    <a:gd name="T15" fmla="*/ 0 h 24"/>
                    <a:gd name="T16" fmla="*/ 0 w 36"/>
                    <a:gd name="T17" fmla="*/ 0 h 24"/>
                    <a:gd name="T18" fmla="*/ 0 w 36"/>
                    <a:gd name="T19" fmla="*/ 0 h 24"/>
                    <a:gd name="T20" fmla="*/ 0 w 36"/>
                    <a:gd name="T21" fmla="*/ 0 h 2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6"/>
                    <a:gd name="T34" fmla="*/ 0 h 24"/>
                    <a:gd name="T35" fmla="*/ 36 w 36"/>
                    <a:gd name="T36" fmla="*/ 24 h 24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6" h="24">
                      <a:moveTo>
                        <a:pt x="18" y="24"/>
                      </a:moveTo>
                      <a:lnTo>
                        <a:pt x="0" y="2"/>
                      </a:lnTo>
                      <a:lnTo>
                        <a:pt x="9" y="2"/>
                      </a:lnTo>
                      <a:lnTo>
                        <a:pt x="18" y="2"/>
                      </a:lnTo>
                      <a:lnTo>
                        <a:pt x="23" y="2"/>
                      </a:lnTo>
                      <a:lnTo>
                        <a:pt x="30" y="0"/>
                      </a:lnTo>
                      <a:lnTo>
                        <a:pt x="36" y="7"/>
                      </a:lnTo>
                      <a:lnTo>
                        <a:pt x="30" y="11"/>
                      </a:lnTo>
                      <a:lnTo>
                        <a:pt x="28" y="13"/>
                      </a:lnTo>
                      <a:lnTo>
                        <a:pt x="23" y="18"/>
                      </a:lnTo>
                      <a:lnTo>
                        <a:pt x="18" y="24"/>
                      </a:lnTo>
                      <a:close/>
                    </a:path>
                  </a:pathLst>
                </a:custGeom>
                <a:solidFill>
                  <a:srgbClr val="7AA5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99" name="Freeform 449"/>
                <p:cNvSpPr>
                  <a:spLocks/>
                </p:cNvSpPr>
                <p:nvPr/>
              </p:nvSpPr>
              <p:spPr bwMode="auto">
                <a:xfrm>
                  <a:off x="4963" y="1459"/>
                  <a:ext cx="7" cy="5"/>
                </a:xfrm>
                <a:custGeom>
                  <a:avLst/>
                  <a:gdLst>
                    <a:gd name="T0" fmla="*/ 0 w 26"/>
                    <a:gd name="T1" fmla="*/ 0 h 16"/>
                    <a:gd name="T2" fmla="*/ 0 w 26"/>
                    <a:gd name="T3" fmla="*/ 0 h 16"/>
                    <a:gd name="T4" fmla="*/ 0 w 26"/>
                    <a:gd name="T5" fmla="*/ 0 h 16"/>
                    <a:gd name="T6" fmla="*/ 0 w 26"/>
                    <a:gd name="T7" fmla="*/ 0 h 16"/>
                    <a:gd name="T8" fmla="*/ 0 w 26"/>
                    <a:gd name="T9" fmla="*/ 0 h 16"/>
                    <a:gd name="T10" fmla="*/ 0 w 26"/>
                    <a:gd name="T11" fmla="*/ 0 h 16"/>
                    <a:gd name="T12" fmla="*/ 0 w 26"/>
                    <a:gd name="T13" fmla="*/ 0 h 16"/>
                    <a:gd name="T14" fmla="*/ 0 w 26"/>
                    <a:gd name="T15" fmla="*/ 0 h 16"/>
                    <a:gd name="T16" fmla="*/ 0 w 26"/>
                    <a:gd name="T17" fmla="*/ 0 h 16"/>
                    <a:gd name="T18" fmla="*/ 0 w 26"/>
                    <a:gd name="T19" fmla="*/ 0 h 1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6"/>
                    <a:gd name="T31" fmla="*/ 0 h 16"/>
                    <a:gd name="T32" fmla="*/ 26 w 26"/>
                    <a:gd name="T33" fmla="*/ 16 h 1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6" h="16">
                      <a:moveTo>
                        <a:pt x="8" y="16"/>
                      </a:moveTo>
                      <a:lnTo>
                        <a:pt x="0" y="2"/>
                      </a:lnTo>
                      <a:lnTo>
                        <a:pt x="5" y="0"/>
                      </a:lnTo>
                      <a:lnTo>
                        <a:pt x="14" y="0"/>
                      </a:lnTo>
                      <a:lnTo>
                        <a:pt x="19" y="0"/>
                      </a:lnTo>
                      <a:lnTo>
                        <a:pt x="26" y="0"/>
                      </a:lnTo>
                      <a:lnTo>
                        <a:pt x="21" y="5"/>
                      </a:lnTo>
                      <a:lnTo>
                        <a:pt x="19" y="7"/>
                      </a:lnTo>
                      <a:lnTo>
                        <a:pt x="14" y="13"/>
                      </a:lnTo>
                      <a:lnTo>
                        <a:pt x="8" y="16"/>
                      </a:lnTo>
                      <a:close/>
                    </a:path>
                  </a:pathLst>
                </a:custGeom>
                <a:solidFill>
                  <a:srgbClr val="7AA56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00" name="Freeform 450"/>
                <p:cNvSpPr>
                  <a:spLocks/>
                </p:cNvSpPr>
                <p:nvPr/>
              </p:nvSpPr>
              <p:spPr bwMode="auto">
                <a:xfrm>
                  <a:off x="4966" y="1459"/>
                  <a:ext cx="5" cy="2"/>
                </a:xfrm>
                <a:custGeom>
                  <a:avLst/>
                  <a:gdLst>
                    <a:gd name="T0" fmla="*/ 0 w 23"/>
                    <a:gd name="T1" fmla="*/ 0 h 7"/>
                    <a:gd name="T2" fmla="*/ 0 w 23"/>
                    <a:gd name="T3" fmla="*/ 0 h 7"/>
                    <a:gd name="T4" fmla="*/ 0 w 23"/>
                    <a:gd name="T5" fmla="*/ 0 h 7"/>
                    <a:gd name="T6" fmla="*/ 0 w 23"/>
                    <a:gd name="T7" fmla="*/ 0 h 7"/>
                    <a:gd name="T8" fmla="*/ 0 w 23"/>
                    <a:gd name="T9" fmla="*/ 0 h 7"/>
                    <a:gd name="T10" fmla="*/ 0 w 23"/>
                    <a:gd name="T11" fmla="*/ 0 h 7"/>
                    <a:gd name="T12" fmla="*/ 0 w 23"/>
                    <a:gd name="T13" fmla="*/ 0 h 7"/>
                    <a:gd name="T14" fmla="*/ 0 w 23"/>
                    <a:gd name="T15" fmla="*/ 0 h 7"/>
                    <a:gd name="T16" fmla="*/ 0 w 23"/>
                    <a:gd name="T17" fmla="*/ 0 h 7"/>
                    <a:gd name="T18" fmla="*/ 0 w 23"/>
                    <a:gd name="T19" fmla="*/ 0 h 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3"/>
                    <a:gd name="T31" fmla="*/ 0 h 7"/>
                    <a:gd name="T32" fmla="*/ 23 w 23"/>
                    <a:gd name="T33" fmla="*/ 7 h 7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3" h="7">
                      <a:moveTo>
                        <a:pt x="6" y="7"/>
                      </a:moveTo>
                      <a:lnTo>
                        <a:pt x="0" y="0"/>
                      </a:ln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6" y="0"/>
                      </a:lnTo>
                      <a:lnTo>
                        <a:pt x="23" y="0"/>
                      </a:lnTo>
                      <a:lnTo>
                        <a:pt x="20" y="0"/>
                      </a:lnTo>
                      <a:lnTo>
                        <a:pt x="14" y="2"/>
                      </a:lnTo>
                      <a:lnTo>
                        <a:pt x="11" y="5"/>
                      </a:lnTo>
                      <a:lnTo>
                        <a:pt x="6" y="7"/>
                      </a:lnTo>
                      <a:close/>
                    </a:path>
                  </a:pathLst>
                </a:custGeom>
                <a:solidFill>
                  <a:srgbClr val="82AA6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01" name="Freeform 451"/>
                <p:cNvSpPr>
                  <a:spLocks/>
                </p:cNvSpPr>
                <p:nvPr/>
              </p:nvSpPr>
              <p:spPr bwMode="auto">
                <a:xfrm>
                  <a:off x="4970" y="1459"/>
                  <a:ext cx="1" cy="1"/>
                </a:xfrm>
                <a:custGeom>
                  <a:avLst/>
                  <a:gdLst>
                    <a:gd name="T0" fmla="*/ 0 w 7"/>
                    <a:gd name="T1" fmla="*/ 0 h 1"/>
                    <a:gd name="T2" fmla="*/ 0 w 7"/>
                    <a:gd name="T3" fmla="*/ 0 h 1"/>
                    <a:gd name="T4" fmla="*/ 0 w 7"/>
                    <a:gd name="T5" fmla="*/ 0 h 1"/>
                    <a:gd name="T6" fmla="*/ 0 w 7"/>
                    <a:gd name="T7" fmla="*/ 0 h 1"/>
                    <a:gd name="T8" fmla="*/ 0 w 7"/>
                    <a:gd name="T9" fmla="*/ 0 h 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"/>
                    <a:gd name="T16" fmla="*/ 0 h 1"/>
                    <a:gd name="T17" fmla="*/ 7 w 7"/>
                    <a:gd name="T18" fmla="*/ 1 h 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" h="1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7" y="0"/>
                      </a:lnTo>
                      <a:lnTo>
                        <a:pt x="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4AD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8696" name="Picture 453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32" y="480"/>
                <a:ext cx="624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8683" name="Group 460"/>
            <p:cNvGrpSpPr>
              <a:grpSpLocks/>
            </p:cNvGrpSpPr>
            <p:nvPr/>
          </p:nvGrpSpPr>
          <p:grpSpPr bwMode="auto">
            <a:xfrm rot="-846927">
              <a:off x="2536" y="400"/>
              <a:ext cx="528" cy="480"/>
              <a:chOff x="5088" y="624"/>
              <a:chExt cx="528" cy="480"/>
            </a:xfrm>
          </p:grpSpPr>
          <p:sp>
            <p:nvSpPr>
              <p:cNvPr id="28684" name="Line 457"/>
              <p:cNvSpPr>
                <a:spLocks noChangeShapeType="1"/>
              </p:cNvSpPr>
              <p:nvPr/>
            </p:nvSpPr>
            <p:spPr bwMode="auto">
              <a:xfrm flipV="1">
                <a:off x="5184" y="624"/>
                <a:ext cx="14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eaVert" wrap="none" anchor="ctr"/>
              <a:lstStyle/>
              <a:p>
                <a:endParaRPr lang="en-US"/>
              </a:p>
            </p:txBody>
          </p:sp>
          <p:sp>
            <p:nvSpPr>
              <p:cNvPr id="28685" name="Line 458"/>
              <p:cNvSpPr>
                <a:spLocks noChangeShapeType="1"/>
              </p:cNvSpPr>
              <p:nvPr/>
            </p:nvSpPr>
            <p:spPr bwMode="auto">
              <a:xfrm flipV="1">
                <a:off x="5232" y="960"/>
                <a:ext cx="384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eaVert" wrap="none" anchor="ctr"/>
              <a:lstStyle/>
              <a:p>
                <a:endParaRPr lang="en-US"/>
              </a:p>
            </p:txBody>
          </p:sp>
          <p:sp>
            <p:nvSpPr>
              <p:cNvPr id="28686" name="Line 459"/>
              <p:cNvSpPr>
                <a:spLocks noChangeShapeType="1"/>
              </p:cNvSpPr>
              <p:nvPr/>
            </p:nvSpPr>
            <p:spPr bwMode="auto">
              <a:xfrm flipV="1">
                <a:off x="5184" y="720"/>
                <a:ext cx="336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eaVert" wrap="none" anchor="ctr"/>
              <a:lstStyle/>
              <a:p>
                <a:endParaRPr lang="en-US"/>
              </a:p>
            </p:txBody>
          </p:sp>
          <p:sp>
            <p:nvSpPr>
              <p:cNvPr id="28687" name="WordArt 455"/>
              <p:cNvSpPr>
                <a:spLocks noChangeArrowheads="1" noChangeShapeType="1" noTextEdit="1"/>
              </p:cNvSpPr>
              <p:nvPr/>
            </p:nvSpPr>
            <p:spPr bwMode="auto">
              <a:xfrm rot="-2297688">
                <a:off x="5088" y="672"/>
                <a:ext cx="404" cy="397"/>
              </a:xfrm>
              <a:prstGeom prst="rect">
                <a:avLst/>
              </a:prstGeom>
            </p:spPr>
            <p:txBody>
              <a:bodyPr wrap="none" fromWordArt="1">
                <a:prstTxWarp prst="textCurveUp">
                  <a:avLst>
                    <a:gd name="adj" fmla="val 56338"/>
                  </a:avLst>
                </a:prstTxWarp>
              </a:bodyPr>
              <a:lstStyle/>
              <a:p>
                <a:r>
                  <a:rPr lang="en-US" sz="3600" kern="10"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hlink"/>
                    </a:solidFill>
                    <a:effectLst>
                      <a:outerShdw blurRad="63500" dist="46662" dir="2115817" algn="ctr" rotWithShape="0">
                        <a:srgbClr val="000000">
                          <a:alpha val="79999"/>
                        </a:srgbClr>
                      </a:outerShdw>
                    </a:effectLst>
                    <a:latin typeface="Arial Black"/>
                    <a:ea typeface="Arial Black"/>
                    <a:cs typeface="Arial Black"/>
                  </a:rPr>
                  <a:t>Honk!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92783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ED52FE-3C83-4100-396C-72E3E23A8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"/>
            <a:ext cx="7620000" cy="533400"/>
          </a:xfrm>
        </p:spPr>
        <p:txBody>
          <a:bodyPr/>
          <a:lstStyle/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complicated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deadlock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E8D59B-CAA1-164F-9B4F-7448A19E1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68773"/>
            <a:ext cx="7772400" cy="472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125630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Dining Philosopher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s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Problem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0" y="3048000"/>
            <a:ext cx="9144000" cy="34290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Five chopsticks/Five philosopher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s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(really cheap restaurant)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Free for all: Philosopher will grab any one they can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Need two chopsticks to eat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What if all grab at same time?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Deadlock!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How to fix deadlock?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Make one of them give up a chopstick (Hah!)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Eventually everyone will get chance to eat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How to prevent deadlock?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(Answer later)</a:t>
            </a:r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1" t="522" r="11351" b="522"/>
          <a:stretch>
            <a:fillRect/>
          </a:stretch>
        </p:blipFill>
        <p:spPr bwMode="auto">
          <a:xfrm>
            <a:off x="3429000" y="838200"/>
            <a:ext cx="2209800" cy="212090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914400"/>
            <a:ext cx="1257300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38200"/>
            <a:ext cx="1163638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11709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Methods for Handling Deadlocks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373063" y="990600"/>
            <a:ext cx="8229600" cy="5257800"/>
          </a:xfrm>
        </p:spPr>
        <p:txBody>
          <a:bodyPr/>
          <a:lstStyle/>
          <a:p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Allow system to enter deadlock and then recover</a:t>
            </a:r>
          </a:p>
          <a:p>
            <a:pPr lvl="1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Requires deadlock </a:t>
            </a:r>
            <a:r>
              <a:rPr lang="en-US" altLang="ko-KR" dirty="0">
                <a:solidFill>
                  <a:srgbClr val="FF0000"/>
                </a:solidFill>
                <a:latin typeface="Helvetica" charset="0"/>
                <a:ea typeface="Gulim" charset="0"/>
                <a:cs typeface="Gulim" charset="0"/>
              </a:rPr>
              <a:t>detection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algorithm (Java JMX</a:t>
            </a:r>
            <a:br>
              <a:rPr lang="en-US" altLang="ko-KR" dirty="0">
                <a:latin typeface="Helvetica" charset="0"/>
                <a:ea typeface="Gulim" charset="0"/>
                <a:cs typeface="Gulim" charset="0"/>
              </a:rPr>
            </a:br>
            <a:r>
              <a:rPr lang="en-US" dirty="0">
                <a:latin typeface="Helvetica" charset="0"/>
                <a:ea typeface="MS PGothic" charset="0"/>
                <a:hlinkClick r:id="rId3"/>
              </a:rPr>
              <a:t>findDeadlockedThreads()</a:t>
            </a:r>
            <a:r>
              <a:rPr lang="en-US" dirty="0">
                <a:latin typeface="Helvetica" charset="0"/>
                <a:ea typeface="MS PGothic" charset="0"/>
              </a:rPr>
              <a:t>, try also </a:t>
            </a:r>
            <a:r>
              <a:rPr lang="en-US" b="1" dirty="0" err="1">
                <a:solidFill>
                  <a:srgbClr val="2A40E2"/>
                </a:solidFill>
                <a:latin typeface="Helvetica" charset="0"/>
                <a:ea typeface="MS PGothic" charset="0"/>
              </a:rPr>
              <a:t>jvisualvm</a:t>
            </a:r>
            <a:r>
              <a:rPr lang="en-US" dirty="0">
                <a:latin typeface="Helvetica" charset="0"/>
                <a:ea typeface="MS PGothic" charset="0"/>
              </a:rPr>
              <a:t>)</a:t>
            </a: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lvl="1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Some technique for forcibly preempting resources and/or terminating tasks</a:t>
            </a:r>
          </a:p>
          <a:p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Deadlock </a:t>
            </a:r>
            <a:r>
              <a:rPr lang="en-US" altLang="ko-KR" dirty="0">
                <a:solidFill>
                  <a:srgbClr val="FF0000"/>
                </a:solidFill>
                <a:latin typeface="Helvetica" charset="0"/>
                <a:ea typeface="Gulim" charset="0"/>
                <a:cs typeface="Gulim" charset="0"/>
              </a:rPr>
              <a:t>prevention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: ensure that system will </a:t>
            </a:r>
            <a:r>
              <a:rPr lang="en-US" altLang="ko-KR" i="1" dirty="0">
                <a:solidFill>
                  <a:srgbClr val="FF0066"/>
                </a:solidFill>
                <a:latin typeface="Helvetica" charset="0"/>
                <a:ea typeface="Gulim" charset="0"/>
                <a:cs typeface="Gulim" charset="0"/>
              </a:rPr>
              <a:t>never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enter a deadlock</a:t>
            </a:r>
          </a:p>
          <a:p>
            <a:pPr lvl="1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Need to monitor all lock acquisitions</a:t>
            </a:r>
          </a:p>
          <a:p>
            <a:pPr lvl="1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Selectively deny those that </a:t>
            </a:r>
            <a:r>
              <a:rPr lang="en-US" altLang="ko-KR" i="1" dirty="0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might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lead to deadlock</a:t>
            </a:r>
          </a:p>
          <a:p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r>
              <a:rPr lang="en-US" altLang="ko-KR" dirty="0">
                <a:solidFill>
                  <a:srgbClr val="FF0000"/>
                </a:solidFill>
                <a:latin typeface="Helvetica" charset="0"/>
                <a:ea typeface="Gulim" charset="0"/>
                <a:cs typeface="Gulim" charset="0"/>
              </a:rPr>
              <a:t>Ignore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the problem and pretend that deadlocks never occur in the system</a:t>
            </a:r>
          </a:p>
          <a:p>
            <a:pPr lvl="1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Used by most operating systems, including UNIX</a:t>
            </a:r>
          </a:p>
        </p:txBody>
      </p:sp>
      <p:grpSp>
        <p:nvGrpSpPr>
          <p:cNvPr id="37892" name="Group 4"/>
          <p:cNvGrpSpPr>
            <a:grpSpLocks/>
          </p:cNvGrpSpPr>
          <p:nvPr/>
        </p:nvGrpSpPr>
        <p:grpSpPr bwMode="auto">
          <a:xfrm>
            <a:off x="8251825" y="77788"/>
            <a:ext cx="828675" cy="831850"/>
            <a:chOff x="454" y="3314"/>
            <a:chExt cx="522" cy="524"/>
          </a:xfrm>
        </p:grpSpPr>
        <p:sp>
          <p:nvSpPr>
            <p:cNvPr id="37893" name="AutoShape 5"/>
            <p:cNvSpPr>
              <a:spLocks noChangeArrowheads="1"/>
            </p:cNvSpPr>
            <p:nvPr/>
          </p:nvSpPr>
          <p:spPr bwMode="auto">
            <a:xfrm>
              <a:off x="484" y="3314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2420 w 21600"/>
                <a:gd name="T13" fmla="*/ 2880 h 21600"/>
                <a:gd name="T14" fmla="*/ 18270 w 21600"/>
                <a:gd name="T15" fmla="*/ 927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37894" name="AutoShape 6"/>
            <p:cNvSpPr>
              <a:spLocks noChangeArrowheads="1"/>
            </p:cNvSpPr>
            <p:nvPr/>
          </p:nvSpPr>
          <p:spPr bwMode="auto">
            <a:xfrm rot="5400000">
              <a:off x="736" y="3344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2420 w 21600"/>
                <a:gd name="T13" fmla="*/ 2880 h 21600"/>
                <a:gd name="T14" fmla="*/ 18270 w 21600"/>
                <a:gd name="T15" fmla="*/ 927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37895" name="AutoShape 7"/>
            <p:cNvSpPr>
              <a:spLocks noChangeArrowheads="1"/>
            </p:cNvSpPr>
            <p:nvPr/>
          </p:nvSpPr>
          <p:spPr bwMode="auto">
            <a:xfrm rot="-5400000">
              <a:off x="454" y="3568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2420 w 21600"/>
                <a:gd name="T13" fmla="*/ 2880 h 21600"/>
                <a:gd name="T14" fmla="*/ 18270 w 21600"/>
                <a:gd name="T15" fmla="*/ 927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37896" name="AutoShape 8"/>
            <p:cNvSpPr>
              <a:spLocks noChangeArrowheads="1"/>
            </p:cNvSpPr>
            <p:nvPr/>
          </p:nvSpPr>
          <p:spPr bwMode="auto">
            <a:xfrm rot="10800000">
              <a:off x="706" y="3598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2420 w 21600"/>
                <a:gd name="T13" fmla="*/ 2880 h 21600"/>
                <a:gd name="T14" fmla="*/ 18270 w 21600"/>
                <a:gd name="T15" fmla="*/ 927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239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305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Techniques for Preventing Deadlock</a:t>
            </a:r>
          </a:p>
        </p:txBody>
      </p:sp>
      <p:sp>
        <p:nvSpPr>
          <p:cNvPr id="64512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838200"/>
            <a:ext cx="8915400" cy="5562600"/>
          </a:xfrm>
        </p:spPr>
        <p:txBody>
          <a:bodyPr/>
          <a:lstStyle/>
          <a:p>
            <a:pPr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Infinite resources</a:t>
            </a:r>
          </a:p>
          <a:p>
            <a:pPr lvl="1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Include enough resources so that no one ever runs out of resources. Doesn’t have to be infinite, just large</a:t>
            </a:r>
          </a:p>
          <a:p>
            <a:pPr lvl="1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Give illusion of infinite resources (e.g. virtual memory)</a:t>
            </a:r>
          </a:p>
          <a:p>
            <a:pPr lvl="2">
              <a:lnSpc>
                <a:spcPct val="75000"/>
              </a:lnSpc>
              <a:spcBef>
                <a:spcPct val="20000"/>
              </a:spcBef>
            </a:pP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“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Infinite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”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disk space (not realistic yet?)</a:t>
            </a:r>
          </a:p>
          <a:p>
            <a:pPr>
              <a:lnSpc>
                <a:spcPct val="75000"/>
              </a:lnSpc>
              <a:spcBef>
                <a:spcPct val="20000"/>
              </a:spcBef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No Sharing of resources (totally independent threads)</a:t>
            </a:r>
          </a:p>
          <a:p>
            <a:pPr lvl="1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Not very realistic</a:t>
            </a:r>
          </a:p>
          <a:p>
            <a:pPr>
              <a:lnSpc>
                <a:spcPct val="75000"/>
              </a:lnSpc>
              <a:spcBef>
                <a:spcPct val="20000"/>
              </a:spcBef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Don’t allow waiting </a:t>
            </a:r>
          </a:p>
          <a:p>
            <a:pPr lvl="1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How the phone company avoids deadlock</a:t>
            </a:r>
          </a:p>
          <a:p>
            <a:pPr lvl="2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Call to your significant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other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at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the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South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Pole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, works its way through the phone lines, but if blocked get busy signal </a:t>
            </a:r>
          </a:p>
          <a:p>
            <a:pPr lvl="1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Technique used in Ethernet/some multiprocessor nets</a:t>
            </a:r>
          </a:p>
          <a:p>
            <a:pPr lvl="2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Everyone speaks at once.  On collision, back off and retry</a:t>
            </a:r>
          </a:p>
        </p:txBody>
      </p:sp>
      <p:grpSp>
        <p:nvGrpSpPr>
          <p:cNvPr id="66564" name="Group 25"/>
          <p:cNvGrpSpPr>
            <a:grpSpLocks/>
          </p:cNvGrpSpPr>
          <p:nvPr/>
        </p:nvGrpSpPr>
        <p:grpSpPr bwMode="auto">
          <a:xfrm>
            <a:off x="8251825" y="77788"/>
            <a:ext cx="828675" cy="831850"/>
            <a:chOff x="454" y="3314"/>
            <a:chExt cx="522" cy="524"/>
          </a:xfrm>
        </p:grpSpPr>
        <p:sp>
          <p:nvSpPr>
            <p:cNvPr id="66565" name="AutoShape 21"/>
            <p:cNvSpPr>
              <a:spLocks noChangeArrowheads="1"/>
            </p:cNvSpPr>
            <p:nvPr/>
          </p:nvSpPr>
          <p:spPr bwMode="auto">
            <a:xfrm>
              <a:off x="484" y="3314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2420 w 21600"/>
                <a:gd name="T13" fmla="*/ 2880 h 21600"/>
                <a:gd name="T14" fmla="*/ 18270 w 21600"/>
                <a:gd name="T15" fmla="*/ 927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66566" name="AutoShape 22"/>
            <p:cNvSpPr>
              <a:spLocks noChangeArrowheads="1"/>
            </p:cNvSpPr>
            <p:nvPr/>
          </p:nvSpPr>
          <p:spPr bwMode="auto">
            <a:xfrm rot="5400000">
              <a:off x="736" y="3344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2420 w 21600"/>
                <a:gd name="T13" fmla="*/ 2880 h 21600"/>
                <a:gd name="T14" fmla="*/ 18270 w 21600"/>
                <a:gd name="T15" fmla="*/ 927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66567" name="AutoShape 23"/>
            <p:cNvSpPr>
              <a:spLocks noChangeArrowheads="1"/>
            </p:cNvSpPr>
            <p:nvPr/>
          </p:nvSpPr>
          <p:spPr bwMode="auto">
            <a:xfrm rot="-5400000">
              <a:off x="454" y="3568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2420 w 21600"/>
                <a:gd name="T13" fmla="*/ 2880 h 21600"/>
                <a:gd name="T14" fmla="*/ 18270 w 21600"/>
                <a:gd name="T15" fmla="*/ 927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66568" name="AutoShape 24"/>
            <p:cNvSpPr>
              <a:spLocks noChangeArrowheads="1"/>
            </p:cNvSpPr>
            <p:nvPr/>
          </p:nvSpPr>
          <p:spPr bwMode="auto">
            <a:xfrm rot="10800000">
              <a:off x="706" y="3598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2420 w 21600"/>
                <a:gd name="T13" fmla="*/ 2880 h 21600"/>
                <a:gd name="T14" fmla="*/ 18270 w 21600"/>
                <a:gd name="T15" fmla="*/ 927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46640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23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Techniques for Preventing Deadlock </a:t>
            </a:r>
            <a:br>
              <a:rPr lang="en-US" altLang="ko-KR">
                <a:latin typeface="Helvetica" charset="0"/>
                <a:ea typeface="Gulim" charset="0"/>
                <a:cs typeface="Gulim" charset="0"/>
              </a:rPr>
            </a:b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(cont’d)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066800"/>
            <a:ext cx="8534400" cy="54102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Make all threads request everything they’ll need at the beginning</a:t>
            </a:r>
          </a:p>
          <a:p>
            <a:pPr lvl="1"/>
            <a:r>
              <a:rPr lang="en-US" altLang="ko-KR">
                <a:latin typeface="Helvetica" charset="0"/>
                <a:ea typeface="Gulim" charset="0"/>
                <a:cs typeface="Gulim" charset="0"/>
              </a:rPr>
              <a:t>Problem: Predicting future is hard, tend to over-estimate resources</a:t>
            </a:r>
          </a:p>
          <a:p>
            <a:pPr lvl="1"/>
            <a:r>
              <a:rPr lang="en-US" altLang="ko-KR">
                <a:latin typeface="Helvetica" charset="0"/>
                <a:ea typeface="Gulim" charset="0"/>
                <a:cs typeface="Gulim" charset="0"/>
              </a:rPr>
              <a:t>Example:</a:t>
            </a:r>
          </a:p>
          <a:p>
            <a:pPr lvl="2"/>
            <a:r>
              <a:rPr lang="en-US" altLang="ko-KR">
                <a:latin typeface="Helvetica" charset="0"/>
                <a:ea typeface="Gulim" charset="0"/>
                <a:cs typeface="Gulim" charset="0"/>
              </a:rPr>
              <a:t>Don’t leave home until we know no one is using any intersection between here and where you want to go!</a:t>
            </a:r>
          </a:p>
          <a:p>
            <a:pPr lvl="2"/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Force all threads to request resources in a particular order preventing any cyclic use of resources</a:t>
            </a:r>
          </a:p>
          <a:p>
            <a:pPr lvl="1"/>
            <a:r>
              <a:rPr lang="en-US" altLang="ko-KR">
                <a:latin typeface="Helvetica" charset="0"/>
                <a:ea typeface="Gulim" charset="0"/>
                <a:cs typeface="Gulim" charset="0"/>
              </a:rPr>
              <a:t>Thus, preventing deadlock</a:t>
            </a:r>
          </a:p>
          <a:p>
            <a:pPr lvl="1"/>
            <a:r>
              <a:rPr lang="en-US" altLang="ko-KR">
                <a:latin typeface="Helvetica" charset="0"/>
                <a:ea typeface="Gulim" charset="0"/>
                <a:cs typeface="Gulim" charset="0"/>
              </a:rPr>
              <a:t>Example (x.P, y.P, z.P,…)</a:t>
            </a:r>
          </a:p>
          <a:p>
            <a:pPr lvl="2"/>
            <a:r>
              <a:rPr lang="en-US" altLang="ko-KR">
                <a:latin typeface="Helvetica" charset="0"/>
                <a:ea typeface="Gulim" charset="0"/>
                <a:cs typeface="Gulim" charset="0"/>
              </a:rPr>
              <a:t>Make tasks request disk, then memory, then…</a:t>
            </a:r>
          </a:p>
        </p:txBody>
      </p:sp>
      <p:grpSp>
        <p:nvGrpSpPr>
          <p:cNvPr id="67588" name="Group 25"/>
          <p:cNvGrpSpPr>
            <a:grpSpLocks/>
          </p:cNvGrpSpPr>
          <p:nvPr/>
        </p:nvGrpSpPr>
        <p:grpSpPr bwMode="auto">
          <a:xfrm>
            <a:off x="8251825" y="77788"/>
            <a:ext cx="828675" cy="831850"/>
            <a:chOff x="454" y="3314"/>
            <a:chExt cx="522" cy="524"/>
          </a:xfrm>
        </p:grpSpPr>
        <p:sp>
          <p:nvSpPr>
            <p:cNvPr id="67589" name="AutoShape 21"/>
            <p:cNvSpPr>
              <a:spLocks noChangeArrowheads="1"/>
            </p:cNvSpPr>
            <p:nvPr/>
          </p:nvSpPr>
          <p:spPr bwMode="auto">
            <a:xfrm>
              <a:off x="484" y="3314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2420 w 21600"/>
                <a:gd name="T13" fmla="*/ 2880 h 21600"/>
                <a:gd name="T14" fmla="*/ 18270 w 21600"/>
                <a:gd name="T15" fmla="*/ 927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67590" name="AutoShape 22"/>
            <p:cNvSpPr>
              <a:spLocks noChangeArrowheads="1"/>
            </p:cNvSpPr>
            <p:nvPr/>
          </p:nvSpPr>
          <p:spPr bwMode="auto">
            <a:xfrm rot="5400000">
              <a:off x="736" y="3344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2420 w 21600"/>
                <a:gd name="T13" fmla="*/ 2880 h 21600"/>
                <a:gd name="T14" fmla="*/ 18270 w 21600"/>
                <a:gd name="T15" fmla="*/ 927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67591" name="AutoShape 23"/>
            <p:cNvSpPr>
              <a:spLocks noChangeArrowheads="1"/>
            </p:cNvSpPr>
            <p:nvPr/>
          </p:nvSpPr>
          <p:spPr bwMode="auto">
            <a:xfrm rot="-5400000">
              <a:off x="454" y="3568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2420 w 21600"/>
                <a:gd name="T13" fmla="*/ 2880 h 21600"/>
                <a:gd name="T14" fmla="*/ 18270 w 21600"/>
                <a:gd name="T15" fmla="*/ 927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67592" name="AutoShape 24"/>
            <p:cNvSpPr>
              <a:spLocks noChangeArrowheads="1"/>
            </p:cNvSpPr>
            <p:nvPr/>
          </p:nvSpPr>
          <p:spPr bwMode="auto">
            <a:xfrm rot="10800000">
              <a:off x="706" y="3598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2420 w 21600"/>
                <a:gd name="T13" fmla="*/ 2880 h 21600"/>
                <a:gd name="T14" fmla="*/ 18270 w 21600"/>
                <a:gd name="T15" fmla="*/ 927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27816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Behind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/>
              <a:t>scenes:</a:t>
            </a:r>
            <a:r>
              <a:rPr lang="zh-CN" altLang="en-US"/>
              <a:t> </a:t>
            </a:r>
            <a:r>
              <a:rPr lang="en-US" dirty="0"/>
              <a:t>Implement</a:t>
            </a:r>
            <a:r>
              <a:rPr lang="en-US" altLang="zh-CN" dirty="0"/>
              <a:t>ing</a:t>
            </a:r>
            <a:r>
              <a:rPr lang="en-US" dirty="0"/>
              <a:t> a lock</a:t>
            </a:r>
          </a:p>
        </p:txBody>
      </p:sp>
      <p:sp>
        <p:nvSpPr>
          <p:cNvPr id="150530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Helvetica" charset="0"/>
              </a:rPr>
              <a:t>（</a:t>
            </a:r>
            <a:r>
              <a:rPr lang="en-US" altLang="zh-CN" dirty="0">
                <a:latin typeface="Helvetica" charset="0"/>
              </a:rPr>
              <a:t>Will</a:t>
            </a:r>
            <a:r>
              <a:rPr lang="zh-CN" altLang="en-US" dirty="0">
                <a:latin typeface="Helvetica" charset="0"/>
              </a:rPr>
              <a:t> </a:t>
            </a:r>
            <a:r>
              <a:rPr lang="en-US" altLang="zh-CN" dirty="0">
                <a:latin typeface="Helvetica" charset="0"/>
              </a:rPr>
              <a:t>not</a:t>
            </a:r>
            <a:r>
              <a:rPr lang="zh-CN" altLang="en-US" dirty="0">
                <a:latin typeface="Helvetica" charset="0"/>
              </a:rPr>
              <a:t> </a:t>
            </a:r>
            <a:r>
              <a:rPr lang="en-US" altLang="zh-CN" dirty="0">
                <a:latin typeface="Helvetica" charset="0"/>
              </a:rPr>
              <a:t>be</a:t>
            </a:r>
            <a:r>
              <a:rPr lang="zh-CN" altLang="en-US" dirty="0">
                <a:latin typeface="Helvetica" charset="0"/>
              </a:rPr>
              <a:t> </a:t>
            </a:r>
            <a:r>
              <a:rPr lang="en-US" altLang="zh-CN" dirty="0">
                <a:latin typeface="Helvetica" charset="0"/>
              </a:rPr>
              <a:t>on</a:t>
            </a:r>
            <a:r>
              <a:rPr lang="zh-CN" altLang="en-US" dirty="0">
                <a:latin typeface="Helvetica" charset="0"/>
              </a:rPr>
              <a:t> </a:t>
            </a:r>
            <a:r>
              <a:rPr lang="en-US" altLang="zh-CN" dirty="0">
                <a:latin typeface="Helvetica" charset="0"/>
              </a:rPr>
              <a:t>the</a:t>
            </a:r>
            <a:r>
              <a:rPr lang="zh-CN" altLang="en-US" dirty="0">
                <a:latin typeface="Helvetica" charset="0"/>
              </a:rPr>
              <a:t> </a:t>
            </a:r>
            <a:r>
              <a:rPr lang="en-US" altLang="zh-CN" dirty="0">
                <a:latin typeface="Helvetica" charset="0"/>
              </a:rPr>
              <a:t>exam</a:t>
            </a:r>
            <a:r>
              <a:rPr lang="zh-CN" altLang="en-US" dirty="0">
                <a:latin typeface="Helvetica" charset="0"/>
              </a:rPr>
              <a:t>）</a:t>
            </a:r>
            <a:endParaRPr lang="zh-CN" altLang="zh-CN" dirty="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2350"/>
      </p:ext>
    </p:extLst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763000" cy="495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How can we build multi-instruction atomic operations?</a:t>
            </a:r>
          </a:p>
          <a:p>
            <a:pPr lvl="1" eaLnBrk="1" hangingPunct="1">
              <a:lnSpc>
                <a:spcPct val="10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Recall: dispatcher gets control in two ways. </a:t>
            </a:r>
          </a:p>
          <a:p>
            <a:pPr lvl="2" eaLnBrk="1" hangingPunct="1">
              <a:lnSpc>
                <a:spcPct val="10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Internal: Thread does something to relinquish the CPU</a:t>
            </a:r>
          </a:p>
          <a:p>
            <a:pPr lvl="2" eaLnBrk="1" hangingPunct="1">
              <a:lnSpc>
                <a:spcPct val="10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External: Interrupts cause dispatcher to take CPU</a:t>
            </a:r>
          </a:p>
          <a:p>
            <a:pPr lvl="1" eaLnBrk="1" hangingPunct="1">
              <a:lnSpc>
                <a:spcPct val="10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On a uniprocessor, can avoid context-switching by:</a:t>
            </a:r>
          </a:p>
          <a:p>
            <a:pPr lvl="2" eaLnBrk="1" hangingPunct="1">
              <a:lnSpc>
                <a:spcPct val="10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Avoiding internal events (although virtual memory tricks)</a:t>
            </a:r>
          </a:p>
          <a:p>
            <a:pPr lvl="2" eaLnBrk="1" hangingPunct="1">
              <a:lnSpc>
                <a:spcPct val="10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Preventing external events by disabling interrupts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endParaRPr lang="en-US" altLang="ko-KR" dirty="0">
              <a:latin typeface="Helvetica" charset="0"/>
              <a:ea typeface="굴림" charset="-127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Consequently, naïve Implementation of locks: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ko-KR" dirty="0">
                <a:latin typeface="Helvetica" charset="0"/>
                <a:ea typeface="굴림" charset="-127"/>
              </a:rPr>
              <a:t>		</a:t>
            </a:r>
            <a:r>
              <a:rPr lang="en-US" altLang="ko-KR" sz="2000" dirty="0" err="1">
                <a:latin typeface="Courier New" charset="0"/>
                <a:ea typeface="굴림" charset="-127"/>
              </a:rPr>
              <a:t>LockAcquire</a:t>
            </a:r>
            <a:r>
              <a:rPr lang="en-US" altLang="ko-KR" sz="2000" dirty="0">
                <a:latin typeface="Courier New" charset="0"/>
                <a:ea typeface="굴림" charset="-127"/>
              </a:rPr>
              <a:t> { disable </a:t>
            </a:r>
            <a:r>
              <a:rPr lang="en-US" altLang="ko-KR" sz="2000" dirty="0" err="1">
                <a:latin typeface="Courier New" charset="0"/>
                <a:ea typeface="굴림" charset="-127"/>
              </a:rPr>
              <a:t>Ints</a:t>
            </a:r>
            <a:r>
              <a:rPr lang="en-US" altLang="ko-KR" sz="2000" dirty="0">
                <a:latin typeface="Courier New" charset="0"/>
                <a:ea typeface="굴림" charset="-127"/>
              </a:rPr>
              <a:t>; }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ko-KR" sz="2000" dirty="0">
                <a:latin typeface="Courier New" charset="0"/>
                <a:ea typeface="굴림" charset="-127"/>
              </a:rPr>
              <a:t>		</a:t>
            </a:r>
            <a:r>
              <a:rPr lang="en-US" altLang="ko-KR" sz="2000" dirty="0" err="1">
                <a:latin typeface="Courier New" charset="0"/>
                <a:ea typeface="굴림" charset="-127"/>
              </a:rPr>
              <a:t>LockRelease</a:t>
            </a:r>
            <a:r>
              <a:rPr lang="en-US" altLang="ko-KR" sz="2000" dirty="0">
                <a:latin typeface="Courier New" charset="0"/>
                <a:ea typeface="굴림" charset="-127"/>
              </a:rPr>
              <a:t> { enable </a:t>
            </a:r>
            <a:r>
              <a:rPr lang="en-US" altLang="ko-KR" sz="2000" dirty="0" err="1">
                <a:latin typeface="Courier New" charset="0"/>
                <a:ea typeface="굴림" charset="-127"/>
              </a:rPr>
              <a:t>Ints</a:t>
            </a:r>
            <a:r>
              <a:rPr lang="en-US" altLang="ko-KR" sz="2000" dirty="0">
                <a:latin typeface="Courier New" charset="0"/>
                <a:ea typeface="굴림" charset="-127"/>
              </a:rPr>
              <a:t>; }</a:t>
            </a:r>
            <a:endParaRPr lang="en-US" altLang="ko-KR" dirty="0">
              <a:latin typeface="Helvetica" charset="0"/>
              <a:ea typeface="굴림" charset="-127"/>
            </a:endParaRPr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696200" cy="533400"/>
          </a:xfrm>
        </p:spPr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Naïve use of Interrupt Enable/Disable</a:t>
            </a:r>
          </a:p>
        </p:txBody>
      </p:sp>
    </p:spTree>
    <p:extLst>
      <p:ext uri="{BB962C8B-B14F-4D97-AF65-F5344CB8AC3E}">
        <p14:creationId xmlns:p14="http://schemas.microsoft.com/office/powerpoint/2010/main" val="15063183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19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7848600" cy="4876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endParaRPr lang="en-US" altLang="ko-KR" dirty="0">
              <a:solidFill>
                <a:schemeClr val="hlink"/>
              </a:solidFill>
              <a:latin typeface="Helvetica" charset="0"/>
              <a:ea typeface="굴림" charset="-127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굴림" charset="-127"/>
              </a:rPr>
              <a:t>Can’t let user do this!</a:t>
            </a:r>
            <a:r>
              <a:rPr lang="en-US" altLang="ko-KR" dirty="0">
                <a:latin typeface="Helvetica" charset="0"/>
                <a:ea typeface="굴림" charset="-127"/>
              </a:rPr>
              <a:t> Consider following:</a:t>
            </a:r>
          </a:p>
          <a:p>
            <a:pPr lvl="2" eaLnBrk="1" hangingPunct="1">
              <a:lnSpc>
                <a:spcPct val="110000"/>
              </a:lnSpc>
              <a:spcBef>
                <a:spcPct val="20000"/>
              </a:spcBef>
              <a:buFontTx/>
              <a:buNone/>
            </a:pPr>
            <a:r>
              <a:rPr lang="en-US" altLang="ko-KR" dirty="0">
                <a:latin typeface="Courier New" charset="0"/>
                <a:ea typeface="굴림" charset="-127"/>
              </a:rPr>
              <a:t>	</a:t>
            </a:r>
            <a:r>
              <a:rPr lang="en-US" altLang="ko-KR" dirty="0" err="1">
                <a:latin typeface="Courier New" charset="0"/>
                <a:ea typeface="굴림" charset="-127"/>
              </a:rPr>
              <a:t>LockAcquire</a:t>
            </a:r>
            <a:r>
              <a:rPr lang="en-US" altLang="ko-KR" dirty="0">
                <a:latin typeface="Courier New" charset="0"/>
                <a:ea typeface="굴림" charset="-127"/>
              </a:rPr>
              <a:t>();</a:t>
            </a:r>
            <a:br>
              <a:rPr lang="en-US" altLang="ko-KR" dirty="0">
                <a:latin typeface="Courier New" charset="0"/>
                <a:ea typeface="굴림" charset="-127"/>
              </a:rPr>
            </a:br>
            <a:r>
              <a:rPr lang="en-US" altLang="ko-KR" dirty="0">
                <a:latin typeface="Courier New" charset="0"/>
                <a:ea typeface="굴림" charset="-127"/>
              </a:rPr>
              <a:t>While(TRUE) {;}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endParaRPr lang="en-US" altLang="ko-KR" dirty="0">
              <a:latin typeface="Helvetica" charset="0"/>
              <a:ea typeface="굴림" charset="-127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Real-Time system—no guarantees on timing! 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Critical Sections might be arbitrarily long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What happens with I/O or other important events?	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“Reactor about to meltdown. Help?”</a:t>
            </a:r>
          </a:p>
        </p:txBody>
      </p:sp>
      <p:pic>
        <p:nvPicPr>
          <p:cNvPr id="444420" name="Picture 4" descr="MCj0104966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75" y="1614315"/>
            <a:ext cx="1825625" cy="182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2819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7696200" cy="838200"/>
          </a:xfrm>
        </p:spPr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Naïve use of Interrupt Enable/Disable: Problems</a:t>
            </a:r>
          </a:p>
        </p:txBody>
      </p:sp>
    </p:spTree>
    <p:extLst>
      <p:ext uri="{BB962C8B-B14F-4D97-AF65-F5344CB8AC3E}">
        <p14:creationId xmlns:p14="http://schemas.microsoft.com/office/powerpoint/2010/main" val="9019652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4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Better Implementation of Locks </a:t>
            </a:r>
            <a:br>
              <a:rPr lang="en-US" altLang="ko-KR">
                <a:latin typeface="Helvetica" charset="0"/>
                <a:ea typeface="굴림" charset="-127"/>
              </a:rPr>
            </a:br>
            <a:r>
              <a:rPr lang="en-US" altLang="ko-KR">
                <a:latin typeface="Helvetica" charset="0"/>
                <a:ea typeface="굴림" charset="-127"/>
              </a:rPr>
              <a:t>by Disabling Interrupts</a:t>
            </a:r>
          </a:p>
        </p:txBody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5988"/>
            <a:ext cx="8610600" cy="12954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25000"/>
              </a:spcBef>
              <a:tabLst>
                <a:tab pos="801688" algn="l"/>
                <a:tab pos="1139825" algn="l"/>
                <a:tab pos="1490663" algn="l"/>
                <a:tab pos="1828800" algn="l"/>
              </a:tabLst>
            </a:pPr>
            <a:r>
              <a:rPr lang="en-US" altLang="ko-KR">
                <a:latin typeface="Helvetica" charset="0"/>
                <a:ea typeface="굴림" charset="-127"/>
              </a:rPr>
              <a:t>Key idea: maintain a lock variable and impose mutual exclusion only during operations on that variable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buFontTx/>
              <a:buNone/>
              <a:tabLst>
                <a:tab pos="801688" algn="l"/>
                <a:tab pos="1139825" algn="l"/>
                <a:tab pos="1490663" algn="l"/>
                <a:tab pos="1828800" algn="l"/>
              </a:tabLst>
            </a:pPr>
            <a:r>
              <a:rPr lang="en-US" altLang="ko-KR" sz="2200">
                <a:latin typeface="Courier New" charset="0"/>
                <a:ea typeface="굴림" charset="-127"/>
              </a:rPr>
              <a:t>	</a:t>
            </a:r>
          </a:p>
        </p:txBody>
      </p:sp>
      <p:sp>
        <p:nvSpPr>
          <p:cNvPr id="445445" name="Text Box 5"/>
          <p:cNvSpPr txBox="1">
            <a:spLocks noChangeArrowheads="1"/>
          </p:cNvSpPr>
          <p:nvPr/>
        </p:nvSpPr>
        <p:spPr bwMode="auto">
          <a:xfrm>
            <a:off x="152400" y="2149475"/>
            <a:ext cx="4581525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338138" algn="l"/>
                <a:tab pos="688975" algn="l"/>
                <a:tab pos="102711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1pPr>
            <a:lvl2pPr marL="742950" indent="-285750">
              <a:tabLst>
                <a:tab pos="338138" algn="l"/>
                <a:tab pos="688975" algn="l"/>
                <a:tab pos="102711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2pPr>
            <a:lvl3pPr marL="1143000" indent="-228600">
              <a:tabLst>
                <a:tab pos="338138" algn="l"/>
                <a:tab pos="688975" algn="l"/>
                <a:tab pos="102711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3pPr>
            <a:lvl4pPr marL="1600200" indent="-228600">
              <a:tabLst>
                <a:tab pos="338138" algn="l"/>
                <a:tab pos="688975" algn="l"/>
                <a:tab pos="102711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4pPr>
            <a:lvl5pPr marL="2057400" indent="-228600">
              <a:tabLst>
                <a:tab pos="338138" algn="l"/>
                <a:tab pos="688975" algn="l"/>
                <a:tab pos="102711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9pPr>
          </a:lstStyle>
          <a:p>
            <a:r>
              <a:rPr lang="en-US" altLang="zh-CN" sz="1900">
                <a:solidFill>
                  <a:srgbClr val="233AE1"/>
                </a:solidFill>
                <a:latin typeface="Courier New" charset="0"/>
                <a:ea typeface="ＭＳ Ｐゴシック" charset="-128"/>
              </a:rPr>
              <a:t>int value = FREE;</a:t>
            </a:r>
          </a:p>
          <a:p>
            <a:endParaRPr lang="en-US" altLang="zh-CN" sz="1900">
              <a:latin typeface="Courier New" charset="0"/>
              <a:ea typeface="ＭＳ Ｐゴシック" charset="-128"/>
            </a:endParaRPr>
          </a:p>
          <a:p>
            <a:r>
              <a:rPr lang="en-US" altLang="zh-CN" sz="1900">
                <a:latin typeface="Courier New" charset="0"/>
                <a:ea typeface="ＭＳ Ｐゴシック" charset="-128"/>
              </a:rPr>
              <a:t>Acquire() {</a:t>
            </a:r>
            <a:br>
              <a:rPr lang="en-US" altLang="zh-CN" sz="1900">
                <a:latin typeface="Courier New" charset="0"/>
                <a:ea typeface="ＭＳ Ｐゴシック" charset="-128"/>
              </a:rPr>
            </a:br>
            <a:r>
              <a:rPr lang="en-US" altLang="zh-CN" sz="1900">
                <a:latin typeface="Courier New" charset="0"/>
                <a:ea typeface="ＭＳ Ｐゴシック" charset="-128"/>
              </a:rPr>
              <a:t>	</a:t>
            </a:r>
            <a:r>
              <a:rPr lang="en-US" altLang="zh-CN" sz="1900">
                <a:solidFill>
                  <a:schemeClr val="hlink"/>
                </a:solidFill>
                <a:latin typeface="Courier New" charset="0"/>
                <a:ea typeface="ＭＳ Ｐゴシック" charset="-128"/>
              </a:rPr>
              <a:t>disable interrupts;</a:t>
            </a:r>
            <a:br>
              <a:rPr lang="en-US" altLang="zh-CN" sz="1900">
                <a:solidFill>
                  <a:schemeClr val="hlink"/>
                </a:solidFill>
                <a:latin typeface="Courier New" charset="0"/>
                <a:ea typeface="ＭＳ Ｐゴシック" charset="-128"/>
              </a:rPr>
            </a:br>
            <a:r>
              <a:rPr lang="en-US" altLang="zh-CN" sz="1900">
                <a:latin typeface="Courier New" charset="0"/>
                <a:ea typeface="ＭＳ Ｐゴシック" charset="-128"/>
              </a:rPr>
              <a:t>	if (value == BUSY) {</a:t>
            </a:r>
            <a:br>
              <a:rPr lang="en-US" altLang="zh-CN" sz="1900">
                <a:latin typeface="Courier New" charset="0"/>
                <a:ea typeface="ＭＳ Ｐゴシック" charset="-128"/>
              </a:rPr>
            </a:br>
            <a:r>
              <a:rPr lang="en-US" altLang="zh-CN" sz="1900">
                <a:latin typeface="Courier New" charset="0"/>
                <a:ea typeface="ＭＳ Ｐゴシック" charset="-128"/>
              </a:rPr>
              <a:t>		put thread on wait queue;</a:t>
            </a:r>
            <a:br>
              <a:rPr lang="en-US" altLang="zh-CN" sz="1900">
                <a:latin typeface="Courier New" charset="0"/>
                <a:ea typeface="ＭＳ Ｐゴシック" charset="-128"/>
              </a:rPr>
            </a:br>
            <a:r>
              <a:rPr lang="en-US" altLang="zh-CN" sz="1900">
                <a:latin typeface="Courier New" charset="0"/>
                <a:ea typeface="ＭＳ Ｐゴシック" charset="-128"/>
              </a:rPr>
              <a:t>		Go to sleep();</a:t>
            </a:r>
            <a:br>
              <a:rPr lang="en-US" altLang="zh-CN" sz="1900">
                <a:latin typeface="Courier New" charset="0"/>
                <a:ea typeface="ＭＳ Ｐゴシック" charset="-128"/>
              </a:rPr>
            </a:br>
            <a:r>
              <a:rPr lang="en-US" altLang="zh-CN" sz="1900">
                <a:latin typeface="Courier New" charset="0"/>
                <a:ea typeface="ＭＳ Ｐゴシック" charset="-128"/>
              </a:rPr>
              <a:t>		// Enable interrupts?</a:t>
            </a:r>
            <a:br>
              <a:rPr lang="en-US" altLang="zh-CN" sz="1900">
                <a:latin typeface="Courier New" charset="0"/>
                <a:ea typeface="ＭＳ Ｐゴシック" charset="-128"/>
              </a:rPr>
            </a:br>
            <a:r>
              <a:rPr lang="en-US" altLang="zh-CN" sz="1900">
                <a:latin typeface="Courier New" charset="0"/>
                <a:ea typeface="ＭＳ Ｐゴシック" charset="-128"/>
              </a:rPr>
              <a:t>	} else {</a:t>
            </a:r>
            <a:br>
              <a:rPr lang="en-US" altLang="zh-CN" sz="1900">
                <a:latin typeface="Courier New" charset="0"/>
                <a:ea typeface="ＭＳ Ｐゴシック" charset="-128"/>
              </a:rPr>
            </a:br>
            <a:r>
              <a:rPr lang="en-US" altLang="zh-CN" sz="1900">
                <a:latin typeface="Courier New" charset="0"/>
                <a:ea typeface="ＭＳ Ｐゴシック" charset="-128"/>
              </a:rPr>
              <a:t>		</a:t>
            </a:r>
            <a:r>
              <a:rPr lang="en-US" altLang="zh-CN" sz="1900">
                <a:solidFill>
                  <a:srgbClr val="233AE1"/>
                </a:solidFill>
                <a:latin typeface="Courier New" charset="0"/>
                <a:ea typeface="ＭＳ Ｐゴシック" charset="-128"/>
              </a:rPr>
              <a:t>value = BUSY;</a:t>
            </a:r>
            <a:br>
              <a:rPr lang="en-US" altLang="zh-CN" sz="1900">
                <a:solidFill>
                  <a:srgbClr val="233AE1"/>
                </a:solidFill>
                <a:latin typeface="Courier New" charset="0"/>
                <a:ea typeface="ＭＳ Ｐゴシック" charset="-128"/>
              </a:rPr>
            </a:br>
            <a:r>
              <a:rPr lang="en-US" altLang="zh-CN" sz="1900">
                <a:solidFill>
                  <a:srgbClr val="233AE1"/>
                </a:solidFill>
                <a:latin typeface="Courier New" charset="0"/>
                <a:ea typeface="ＭＳ Ｐゴシック" charset="-128"/>
              </a:rPr>
              <a:t>	</a:t>
            </a:r>
            <a:r>
              <a:rPr lang="en-US" altLang="zh-CN" sz="1900">
                <a:latin typeface="Courier New" charset="0"/>
                <a:ea typeface="ＭＳ Ｐゴシック" charset="-128"/>
              </a:rPr>
              <a:t>}</a:t>
            </a:r>
            <a:br>
              <a:rPr lang="en-US" altLang="zh-CN" sz="1900">
                <a:latin typeface="Courier New" charset="0"/>
                <a:ea typeface="ＭＳ Ｐゴシック" charset="-128"/>
              </a:rPr>
            </a:br>
            <a:r>
              <a:rPr lang="en-US" altLang="zh-CN" sz="1900">
                <a:latin typeface="Courier New" charset="0"/>
                <a:ea typeface="ＭＳ Ｐゴシック" charset="-128"/>
              </a:rPr>
              <a:t>	</a:t>
            </a:r>
            <a:r>
              <a:rPr lang="en-US" altLang="zh-CN" sz="1900">
                <a:solidFill>
                  <a:schemeClr val="hlink"/>
                </a:solidFill>
                <a:latin typeface="Courier New" charset="0"/>
                <a:ea typeface="ＭＳ Ｐゴシック" charset="-128"/>
              </a:rPr>
              <a:t>enable interrupts;</a:t>
            </a:r>
            <a:br>
              <a:rPr lang="en-US" altLang="zh-CN" sz="1900">
                <a:solidFill>
                  <a:schemeClr val="hlink"/>
                </a:solidFill>
                <a:latin typeface="Courier New" charset="0"/>
                <a:ea typeface="ＭＳ Ｐゴシック" charset="-128"/>
              </a:rPr>
            </a:br>
            <a:r>
              <a:rPr lang="en-US" altLang="zh-CN" sz="1900">
                <a:latin typeface="Courier New" charset="0"/>
                <a:ea typeface="ＭＳ Ｐゴシック" charset="-128"/>
              </a:rPr>
              <a:t>}</a:t>
            </a:r>
          </a:p>
        </p:txBody>
      </p:sp>
      <p:sp>
        <p:nvSpPr>
          <p:cNvPr id="445446" name="Text Box 6"/>
          <p:cNvSpPr txBox="1">
            <a:spLocks noChangeArrowheads="1"/>
          </p:cNvSpPr>
          <p:nvPr/>
        </p:nvSpPr>
        <p:spPr bwMode="auto">
          <a:xfrm>
            <a:off x="4419600" y="2225675"/>
            <a:ext cx="4876800" cy="384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338138" algn="l"/>
                <a:tab pos="688975" algn="l"/>
                <a:tab pos="102711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1pPr>
            <a:lvl2pPr marL="742950" indent="-285750">
              <a:tabLst>
                <a:tab pos="338138" algn="l"/>
                <a:tab pos="688975" algn="l"/>
                <a:tab pos="102711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2pPr>
            <a:lvl3pPr marL="1143000" indent="-228600">
              <a:tabLst>
                <a:tab pos="338138" algn="l"/>
                <a:tab pos="688975" algn="l"/>
                <a:tab pos="102711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3pPr>
            <a:lvl4pPr marL="1600200" indent="-228600">
              <a:tabLst>
                <a:tab pos="338138" algn="l"/>
                <a:tab pos="688975" algn="l"/>
                <a:tab pos="102711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4pPr>
            <a:lvl5pPr marL="2057400" indent="-228600">
              <a:tabLst>
                <a:tab pos="338138" algn="l"/>
                <a:tab pos="688975" algn="l"/>
                <a:tab pos="102711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9pPr>
          </a:lstStyle>
          <a:p>
            <a:pPr>
              <a:lnSpc>
                <a:spcPct val="90000"/>
              </a:lnSpc>
              <a:spcBef>
                <a:spcPct val="10000"/>
              </a:spcBef>
              <a:buSzPct val="100000"/>
            </a:pPr>
            <a:endParaRPr lang="en-US" altLang="zh-CN" sz="1900">
              <a:latin typeface="Courier New" charset="0"/>
              <a:ea typeface="ＭＳ Ｐゴシック" charset="-128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SzPct val="100000"/>
            </a:pPr>
            <a:endParaRPr lang="en-US" altLang="zh-CN" sz="1900">
              <a:latin typeface="Courier New" charset="0"/>
              <a:ea typeface="ＭＳ Ｐゴシック" charset="-128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SzPct val="100000"/>
            </a:pPr>
            <a:r>
              <a:rPr lang="en-US" altLang="zh-CN" sz="1900">
                <a:latin typeface="Courier New" charset="0"/>
                <a:ea typeface="ＭＳ Ｐゴシック" charset="-128"/>
              </a:rPr>
              <a:t>Release() {</a:t>
            </a:r>
            <a:br>
              <a:rPr lang="en-US" altLang="zh-CN" sz="1900">
                <a:latin typeface="Courier New" charset="0"/>
                <a:ea typeface="ＭＳ Ｐゴシック" charset="-128"/>
              </a:rPr>
            </a:br>
            <a:r>
              <a:rPr lang="en-US" altLang="zh-CN" sz="1900">
                <a:latin typeface="Courier New" charset="0"/>
                <a:ea typeface="ＭＳ Ｐゴシック" charset="-128"/>
              </a:rPr>
              <a:t>	</a:t>
            </a:r>
            <a:r>
              <a:rPr lang="en-US" altLang="zh-CN" sz="1900">
                <a:solidFill>
                  <a:schemeClr val="hlink"/>
                </a:solidFill>
                <a:latin typeface="Courier New" charset="0"/>
                <a:ea typeface="ＭＳ Ｐゴシック" charset="-128"/>
              </a:rPr>
              <a:t>disable interrupts;</a:t>
            </a:r>
            <a:br>
              <a:rPr lang="en-US" altLang="zh-CN" sz="1900">
                <a:latin typeface="Courier New" charset="0"/>
                <a:ea typeface="ＭＳ Ｐゴシック" charset="-128"/>
              </a:rPr>
            </a:br>
            <a:r>
              <a:rPr lang="en-US" altLang="zh-CN" sz="1900">
                <a:latin typeface="Courier New" charset="0"/>
                <a:ea typeface="ＭＳ Ｐゴシック" charset="-128"/>
              </a:rPr>
              <a:t>	if (anyone on wait queue) {</a:t>
            </a:r>
            <a:br>
              <a:rPr lang="en-US" altLang="zh-CN" sz="1900">
                <a:latin typeface="Courier New" charset="0"/>
                <a:ea typeface="ＭＳ Ｐゴシック" charset="-128"/>
              </a:rPr>
            </a:br>
            <a:r>
              <a:rPr lang="en-US" altLang="zh-CN" sz="1900">
                <a:latin typeface="Courier New" charset="0"/>
                <a:ea typeface="ＭＳ Ｐゴシック" charset="-128"/>
              </a:rPr>
              <a:t>		take thread off wait queue</a:t>
            </a:r>
            <a:br>
              <a:rPr lang="en-US" altLang="zh-CN" sz="1900">
                <a:latin typeface="Courier New" charset="0"/>
                <a:ea typeface="ＭＳ Ｐゴシック" charset="-128"/>
              </a:rPr>
            </a:br>
            <a:r>
              <a:rPr lang="en-US" altLang="zh-CN" sz="1900">
                <a:latin typeface="Courier New" charset="0"/>
                <a:ea typeface="ＭＳ Ｐゴシック" charset="-128"/>
              </a:rPr>
              <a:t>		Put at front of ready queue</a:t>
            </a:r>
            <a:br>
              <a:rPr lang="en-US" altLang="zh-CN" sz="1900">
                <a:latin typeface="Courier New" charset="0"/>
                <a:ea typeface="ＭＳ Ｐゴシック" charset="-128"/>
              </a:rPr>
            </a:br>
            <a:r>
              <a:rPr lang="en-US" altLang="zh-CN" sz="1900">
                <a:latin typeface="Courier New" charset="0"/>
                <a:ea typeface="ＭＳ Ｐゴシック" charset="-128"/>
              </a:rPr>
              <a:t>	} else {</a:t>
            </a:r>
            <a:br>
              <a:rPr lang="en-US" altLang="zh-CN" sz="1900">
                <a:latin typeface="Courier New" charset="0"/>
                <a:ea typeface="ＭＳ Ｐゴシック" charset="-128"/>
              </a:rPr>
            </a:br>
            <a:r>
              <a:rPr lang="en-US" altLang="zh-CN" sz="1900">
                <a:latin typeface="Courier New" charset="0"/>
                <a:ea typeface="ＭＳ Ｐゴシック" charset="-128"/>
              </a:rPr>
              <a:t>		</a:t>
            </a:r>
            <a:r>
              <a:rPr lang="en-US" altLang="zh-CN" sz="1900">
                <a:solidFill>
                  <a:srgbClr val="233AE1"/>
                </a:solidFill>
                <a:latin typeface="Courier New" charset="0"/>
                <a:ea typeface="ＭＳ Ｐゴシック" charset="-128"/>
              </a:rPr>
              <a:t>value = FREE;</a:t>
            </a:r>
            <a:br>
              <a:rPr lang="en-US" altLang="zh-CN" sz="1900">
                <a:solidFill>
                  <a:srgbClr val="233AE1"/>
                </a:solidFill>
                <a:latin typeface="Courier New" charset="0"/>
                <a:ea typeface="ＭＳ Ｐゴシック" charset="-128"/>
              </a:rPr>
            </a:br>
            <a:r>
              <a:rPr lang="en-US" altLang="zh-CN" sz="1900">
                <a:latin typeface="Courier New" charset="0"/>
                <a:ea typeface="ＭＳ Ｐゴシック" charset="-128"/>
              </a:rPr>
              <a:t>	}</a:t>
            </a:r>
            <a:br>
              <a:rPr lang="en-US" altLang="zh-CN" sz="1900">
                <a:latin typeface="Courier New" charset="0"/>
                <a:ea typeface="ＭＳ Ｐゴシック" charset="-128"/>
              </a:rPr>
            </a:br>
            <a:r>
              <a:rPr lang="en-US" altLang="zh-CN" sz="1900">
                <a:latin typeface="Courier New" charset="0"/>
                <a:ea typeface="ＭＳ Ｐゴシック" charset="-128"/>
              </a:rPr>
              <a:t>	</a:t>
            </a:r>
            <a:r>
              <a:rPr lang="en-US" altLang="zh-CN" sz="1900">
                <a:solidFill>
                  <a:schemeClr val="hlink"/>
                </a:solidFill>
                <a:latin typeface="Courier New" charset="0"/>
                <a:ea typeface="ＭＳ Ｐゴシック" charset="-128"/>
              </a:rPr>
              <a:t>enable interrupts;</a:t>
            </a:r>
            <a:br>
              <a:rPr lang="en-US" altLang="zh-CN" sz="1900">
                <a:solidFill>
                  <a:schemeClr val="hlink"/>
                </a:solidFill>
                <a:latin typeface="Courier New" charset="0"/>
                <a:ea typeface="ＭＳ Ｐゴシック" charset="-128"/>
              </a:rPr>
            </a:br>
            <a:r>
              <a:rPr lang="en-US" altLang="zh-CN" sz="1900">
                <a:latin typeface="Courier New" charset="0"/>
                <a:ea typeface="ＭＳ Ｐゴシック" charset="-128"/>
              </a:rPr>
              <a:t>}</a:t>
            </a:r>
            <a:br>
              <a:rPr lang="en-US" altLang="zh-CN" sz="1900">
                <a:latin typeface="Courier New" charset="0"/>
                <a:ea typeface="ＭＳ Ｐゴシック" charset="-128"/>
              </a:rPr>
            </a:br>
            <a:br>
              <a:rPr lang="en-US" altLang="zh-CN" sz="1900">
                <a:latin typeface="Courier New" charset="0"/>
                <a:ea typeface="ＭＳ Ｐゴシック" charset="-128"/>
              </a:rPr>
            </a:br>
            <a:endParaRPr lang="en-US" altLang="zh-CN" sz="1900">
              <a:latin typeface="Courier New" charset="0"/>
              <a:ea typeface="ＭＳ Ｐゴシック" charset="-128"/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2895600" y="1997075"/>
            <a:ext cx="609600" cy="685800"/>
            <a:chOff x="1776" y="912"/>
            <a:chExt cx="476" cy="576"/>
          </a:xfrm>
        </p:grpSpPr>
        <p:sp>
          <p:nvSpPr>
            <p:cNvPr id="164870" name="AutoShape 8"/>
            <p:cNvSpPr>
              <a:spLocks noChangeAspect="1" noChangeArrowheads="1" noTextEdit="1"/>
            </p:cNvSpPr>
            <p:nvPr/>
          </p:nvSpPr>
          <p:spPr bwMode="auto">
            <a:xfrm>
              <a:off x="1776" y="912"/>
              <a:ext cx="47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71" name="Freeform 10"/>
            <p:cNvSpPr>
              <a:spLocks/>
            </p:cNvSpPr>
            <p:nvPr/>
          </p:nvSpPr>
          <p:spPr bwMode="auto">
            <a:xfrm>
              <a:off x="1818" y="1046"/>
              <a:ext cx="434" cy="442"/>
            </a:xfrm>
            <a:custGeom>
              <a:avLst/>
              <a:gdLst>
                <a:gd name="T0" fmla="*/ 0 w 1303"/>
                <a:gd name="T1" fmla="*/ 0 h 1327"/>
                <a:gd name="T2" fmla="*/ 0 w 1303"/>
                <a:gd name="T3" fmla="*/ 0 h 1327"/>
                <a:gd name="T4" fmla="*/ 0 w 1303"/>
                <a:gd name="T5" fmla="*/ 0 h 1327"/>
                <a:gd name="T6" fmla="*/ 0 w 1303"/>
                <a:gd name="T7" fmla="*/ 0 h 1327"/>
                <a:gd name="T8" fmla="*/ 0 w 1303"/>
                <a:gd name="T9" fmla="*/ 0 h 1327"/>
                <a:gd name="T10" fmla="*/ 0 w 1303"/>
                <a:gd name="T11" fmla="*/ 0 h 1327"/>
                <a:gd name="T12" fmla="*/ 0 w 1303"/>
                <a:gd name="T13" fmla="*/ 0 h 1327"/>
                <a:gd name="T14" fmla="*/ 0 w 1303"/>
                <a:gd name="T15" fmla="*/ 0 h 1327"/>
                <a:gd name="T16" fmla="*/ 0 w 1303"/>
                <a:gd name="T17" fmla="*/ 0 h 1327"/>
                <a:gd name="T18" fmla="*/ 0 w 1303"/>
                <a:gd name="T19" fmla="*/ 0 h 1327"/>
                <a:gd name="T20" fmla="*/ 0 w 1303"/>
                <a:gd name="T21" fmla="*/ 0 h 1327"/>
                <a:gd name="T22" fmla="*/ 0 w 1303"/>
                <a:gd name="T23" fmla="*/ 0 h 1327"/>
                <a:gd name="T24" fmla="*/ 0 w 1303"/>
                <a:gd name="T25" fmla="*/ 0 h 1327"/>
                <a:gd name="T26" fmla="*/ 0 w 1303"/>
                <a:gd name="T27" fmla="*/ 0 h 1327"/>
                <a:gd name="T28" fmla="*/ 0 w 1303"/>
                <a:gd name="T29" fmla="*/ 0 h 1327"/>
                <a:gd name="T30" fmla="*/ 0 w 1303"/>
                <a:gd name="T31" fmla="*/ 0 h 1327"/>
                <a:gd name="T32" fmla="*/ 0 w 1303"/>
                <a:gd name="T33" fmla="*/ 0 h 1327"/>
                <a:gd name="T34" fmla="*/ 0 w 1303"/>
                <a:gd name="T35" fmla="*/ 0 h 1327"/>
                <a:gd name="T36" fmla="*/ 0 w 1303"/>
                <a:gd name="T37" fmla="*/ 0 h 1327"/>
                <a:gd name="T38" fmla="*/ 0 w 1303"/>
                <a:gd name="T39" fmla="*/ 0 h 1327"/>
                <a:gd name="T40" fmla="*/ 0 w 1303"/>
                <a:gd name="T41" fmla="*/ 0 h 1327"/>
                <a:gd name="T42" fmla="*/ 0 w 1303"/>
                <a:gd name="T43" fmla="*/ 0 h 1327"/>
                <a:gd name="T44" fmla="*/ 0 w 1303"/>
                <a:gd name="T45" fmla="*/ 0 h 1327"/>
                <a:gd name="T46" fmla="*/ 0 w 1303"/>
                <a:gd name="T47" fmla="*/ 0 h 1327"/>
                <a:gd name="T48" fmla="*/ 0 w 1303"/>
                <a:gd name="T49" fmla="*/ 0 h 1327"/>
                <a:gd name="T50" fmla="*/ 0 w 1303"/>
                <a:gd name="T51" fmla="*/ 0 h 1327"/>
                <a:gd name="T52" fmla="*/ 0 w 1303"/>
                <a:gd name="T53" fmla="*/ 0 h 1327"/>
                <a:gd name="T54" fmla="*/ 0 w 1303"/>
                <a:gd name="T55" fmla="*/ 0 h 1327"/>
                <a:gd name="T56" fmla="*/ 0 w 1303"/>
                <a:gd name="T57" fmla="*/ 0 h 1327"/>
                <a:gd name="T58" fmla="*/ 0 w 1303"/>
                <a:gd name="T59" fmla="*/ 0 h 1327"/>
                <a:gd name="T60" fmla="*/ 0 w 1303"/>
                <a:gd name="T61" fmla="*/ 0 h 1327"/>
                <a:gd name="T62" fmla="*/ 0 w 1303"/>
                <a:gd name="T63" fmla="*/ 0 h 1327"/>
                <a:gd name="T64" fmla="*/ 0 w 1303"/>
                <a:gd name="T65" fmla="*/ 0 h 1327"/>
                <a:gd name="T66" fmla="*/ 0 w 1303"/>
                <a:gd name="T67" fmla="*/ 0 h 1327"/>
                <a:gd name="T68" fmla="*/ 0 w 1303"/>
                <a:gd name="T69" fmla="*/ 0 h 1327"/>
                <a:gd name="T70" fmla="*/ 0 w 1303"/>
                <a:gd name="T71" fmla="*/ 0 h 1327"/>
                <a:gd name="T72" fmla="*/ 0 w 1303"/>
                <a:gd name="T73" fmla="*/ 0 h 1327"/>
                <a:gd name="T74" fmla="*/ 0 w 1303"/>
                <a:gd name="T75" fmla="*/ 0 h 1327"/>
                <a:gd name="T76" fmla="*/ 0 w 1303"/>
                <a:gd name="T77" fmla="*/ 0 h 1327"/>
                <a:gd name="T78" fmla="*/ 0 w 1303"/>
                <a:gd name="T79" fmla="*/ 0 h 1327"/>
                <a:gd name="T80" fmla="*/ 0 w 1303"/>
                <a:gd name="T81" fmla="*/ 0 h 1327"/>
                <a:gd name="T82" fmla="*/ 0 w 1303"/>
                <a:gd name="T83" fmla="*/ 0 h 1327"/>
                <a:gd name="T84" fmla="*/ 0 w 1303"/>
                <a:gd name="T85" fmla="*/ 0 h 1327"/>
                <a:gd name="T86" fmla="*/ 0 w 1303"/>
                <a:gd name="T87" fmla="*/ 0 h 1327"/>
                <a:gd name="T88" fmla="*/ 0 w 1303"/>
                <a:gd name="T89" fmla="*/ 0 h 1327"/>
                <a:gd name="T90" fmla="*/ 0 w 1303"/>
                <a:gd name="T91" fmla="*/ 0 h 1327"/>
                <a:gd name="T92" fmla="*/ 0 w 1303"/>
                <a:gd name="T93" fmla="*/ 0 h 1327"/>
                <a:gd name="T94" fmla="*/ 0 w 1303"/>
                <a:gd name="T95" fmla="*/ 0 h 1327"/>
                <a:gd name="T96" fmla="*/ 0 w 1303"/>
                <a:gd name="T97" fmla="*/ 0 h 1327"/>
                <a:gd name="T98" fmla="*/ 0 w 1303"/>
                <a:gd name="T99" fmla="*/ 0 h 1327"/>
                <a:gd name="T100" fmla="*/ 0 w 1303"/>
                <a:gd name="T101" fmla="*/ 0 h 1327"/>
                <a:gd name="T102" fmla="*/ 0 w 1303"/>
                <a:gd name="T103" fmla="*/ 0 h 1327"/>
                <a:gd name="T104" fmla="*/ 0 w 1303"/>
                <a:gd name="T105" fmla="*/ 0 h 1327"/>
                <a:gd name="T106" fmla="*/ 0 w 1303"/>
                <a:gd name="T107" fmla="*/ 0 h 1327"/>
                <a:gd name="T108" fmla="*/ 0 w 1303"/>
                <a:gd name="T109" fmla="*/ 0 h 1327"/>
                <a:gd name="T110" fmla="*/ 0 w 1303"/>
                <a:gd name="T111" fmla="*/ 0 h 1327"/>
                <a:gd name="T112" fmla="*/ 0 w 1303"/>
                <a:gd name="T113" fmla="*/ 0 h 1327"/>
                <a:gd name="T114" fmla="*/ 0 w 1303"/>
                <a:gd name="T115" fmla="*/ 0 h 1327"/>
                <a:gd name="T116" fmla="*/ 0 w 1303"/>
                <a:gd name="T117" fmla="*/ 0 h 132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303"/>
                <a:gd name="T178" fmla="*/ 0 h 1327"/>
                <a:gd name="T179" fmla="*/ 1303 w 1303"/>
                <a:gd name="T180" fmla="*/ 1327 h 132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303" h="1327">
                  <a:moveTo>
                    <a:pt x="28" y="680"/>
                  </a:moveTo>
                  <a:lnTo>
                    <a:pt x="28" y="681"/>
                  </a:lnTo>
                  <a:lnTo>
                    <a:pt x="30" y="684"/>
                  </a:lnTo>
                  <a:lnTo>
                    <a:pt x="30" y="686"/>
                  </a:lnTo>
                  <a:lnTo>
                    <a:pt x="30" y="688"/>
                  </a:lnTo>
                  <a:lnTo>
                    <a:pt x="33" y="691"/>
                  </a:lnTo>
                  <a:lnTo>
                    <a:pt x="34" y="697"/>
                  </a:lnTo>
                  <a:lnTo>
                    <a:pt x="36" y="698"/>
                  </a:lnTo>
                  <a:lnTo>
                    <a:pt x="36" y="704"/>
                  </a:lnTo>
                  <a:lnTo>
                    <a:pt x="37" y="708"/>
                  </a:lnTo>
                  <a:lnTo>
                    <a:pt x="40" y="714"/>
                  </a:lnTo>
                  <a:lnTo>
                    <a:pt x="43" y="720"/>
                  </a:lnTo>
                  <a:lnTo>
                    <a:pt x="44" y="725"/>
                  </a:lnTo>
                  <a:lnTo>
                    <a:pt x="47" y="733"/>
                  </a:lnTo>
                  <a:lnTo>
                    <a:pt x="51" y="740"/>
                  </a:lnTo>
                  <a:lnTo>
                    <a:pt x="53" y="745"/>
                  </a:lnTo>
                  <a:lnTo>
                    <a:pt x="55" y="752"/>
                  </a:lnTo>
                  <a:lnTo>
                    <a:pt x="60" y="761"/>
                  </a:lnTo>
                  <a:lnTo>
                    <a:pt x="64" y="769"/>
                  </a:lnTo>
                  <a:lnTo>
                    <a:pt x="67" y="778"/>
                  </a:lnTo>
                  <a:lnTo>
                    <a:pt x="70" y="785"/>
                  </a:lnTo>
                  <a:lnTo>
                    <a:pt x="74" y="795"/>
                  </a:lnTo>
                  <a:lnTo>
                    <a:pt x="80" y="804"/>
                  </a:lnTo>
                  <a:lnTo>
                    <a:pt x="84" y="812"/>
                  </a:lnTo>
                  <a:lnTo>
                    <a:pt x="87" y="822"/>
                  </a:lnTo>
                  <a:lnTo>
                    <a:pt x="92" y="832"/>
                  </a:lnTo>
                  <a:lnTo>
                    <a:pt x="98" y="842"/>
                  </a:lnTo>
                  <a:lnTo>
                    <a:pt x="101" y="852"/>
                  </a:lnTo>
                  <a:lnTo>
                    <a:pt x="108" y="861"/>
                  </a:lnTo>
                  <a:lnTo>
                    <a:pt x="114" y="872"/>
                  </a:lnTo>
                  <a:lnTo>
                    <a:pt x="118" y="883"/>
                  </a:lnTo>
                  <a:lnTo>
                    <a:pt x="124" y="893"/>
                  </a:lnTo>
                  <a:lnTo>
                    <a:pt x="129" y="903"/>
                  </a:lnTo>
                  <a:lnTo>
                    <a:pt x="136" y="915"/>
                  </a:lnTo>
                  <a:lnTo>
                    <a:pt x="142" y="926"/>
                  </a:lnTo>
                  <a:lnTo>
                    <a:pt x="148" y="936"/>
                  </a:lnTo>
                  <a:lnTo>
                    <a:pt x="153" y="947"/>
                  </a:lnTo>
                  <a:lnTo>
                    <a:pt x="161" y="959"/>
                  </a:lnTo>
                  <a:lnTo>
                    <a:pt x="168" y="969"/>
                  </a:lnTo>
                  <a:lnTo>
                    <a:pt x="173" y="980"/>
                  </a:lnTo>
                  <a:lnTo>
                    <a:pt x="180" y="991"/>
                  </a:lnTo>
                  <a:lnTo>
                    <a:pt x="189" y="1003"/>
                  </a:lnTo>
                  <a:lnTo>
                    <a:pt x="196" y="1014"/>
                  </a:lnTo>
                  <a:lnTo>
                    <a:pt x="202" y="1024"/>
                  </a:lnTo>
                  <a:lnTo>
                    <a:pt x="210" y="1035"/>
                  </a:lnTo>
                  <a:lnTo>
                    <a:pt x="219" y="1047"/>
                  </a:lnTo>
                  <a:lnTo>
                    <a:pt x="226" y="1058"/>
                  </a:lnTo>
                  <a:lnTo>
                    <a:pt x="233" y="1068"/>
                  </a:lnTo>
                  <a:lnTo>
                    <a:pt x="243" y="1078"/>
                  </a:lnTo>
                  <a:lnTo>
                    <a:pt x="250" y="1091"/>
                  </a:lnTo>
                  <a:lnTo>
                    <a:pt x="260" y="1101"/>
                  </a:lnTo>
                  <a:lnTo>
                    <a:pt x="269" y="1111"/>
                  </a:lnTo>
                  <a:lnTo>
                    <a:pt x="277" y="1122"/>
                  </a:lnTo>
                  <a:lnTo>
                    <a:pt x="286" y="1131"/>
                  </a:lnTo>
                  <a:lnTo>
                    <a:pt x="296" y="1141"/>
                  </a:lnTo>
                  <a:lnTo>
                    <a:pt x="304" y="1152"/>
                  </a:lnTo>
                  <a:lnTo>
                    <a:pt x="314" y="1161"/>
                  </a:lnTo>
                  <a:lnTo>
                    <a:pt x="324" y="1171"/>
                  </a:lnTo>
                  <a:lnTo>
                    <a:pt x="333" y="1181"/>
                  </a:lnTo>
                  <a:lnTo>
                    <a:pt x="342" y="1188"/>
                  </a:lnTo>
                  <a:lnTo>
                    <a:pt x="352" y="1199"/>
                  </a:lnTo>
                  <a:lnTo>
                    <a:pt x="362" y="1206"/>
                  </a:lnTo>
                  <a:lnTo>
                    <a:pt x="372" y="1215"/>
                  </a:lnTo>
                  <a:lnTo>
                    <a:pt x="382" y="1222"/>
                  </a:lnTo>
                  <a:lnTo>
                    <a:pt x="394" y="1230"/>
                  </a:lnTo>
                  <a:lnTo>
                    <a:pt x="405" y="1237"/>
                  </a:lnTo>
                  <a:lnTo>
                    <a:pt x="415" y="1245"/>
                  </a:lnTo>
                  <a:lnTo>
                    <a:pt x="425" y="1252"/>
                  </a:lnTo>
                  <a:lnTo>
                    <a:pt x="436" y="1259"/>
                  </a:lnTo>
                  <a:lnTo>
                    <a:pt x="448" y="1264"/>
                  </a:lnTo>
                  <a:lnTo>
                    <a:pt x="459" y="1270"/>
                  </a:lnTo>
                  <a:lnTo>
                    <a:pt x="469" y="1274"/>
                  </a:lnTo>
                  <a:lnTo>
                    <a:pt x="480" y="1281"/>
                  </a:lnTo>
                  <a:lnTo>
                    <a:pt x="492" y="1286"/>
                  </a:lnTo>
                  <a:lnTo>
                    <a:pt x="504" y="1290"/>
                  </a:lnTo>
                  <a:lnTo>
                    <a:pt x="516" y="1294"/>
                  </a:lnTo>
                  <a:lnTo>
                    <a:pt x="527" y="1299"/>
                  </a:lnTo>
                  <a:lnTo>
                    <a:pt x="539" y="1301"/>
                  </a:lnTo>
                  <a:lnTo>
                    <a:pt x="551" y="1307"/>
                  </a:lnTo>
                  <a:lnTo>
                    <a:pt x="563" y="1310"/>
                  </a:lnTo>
                  <a:lnTo>
                    <a:pt x="576" y="1313"/>
                  </a:lnTo>
                  <a:lnTo>
                    <a:pt x="587" y="1316"/>
                  </a:lnTo>
                  <a:lnTo>
                    <a:pt x="600" y="1317"/>
                  </a:lnTo>
                  <a:lnTo>
                    <a:pt x="611" y="1318"/>
                  </a:lnTo>
                  <a:lnTo>
                    <a:pt x="624" y="1321"/>
                  </a:lnTo>
                  <a:lnTo>
                    <a:pt x="637" y="1323"/>
                  </a:lnTo>
                  <a:lnTo>
                    <a:pt x="648" y="1324"/>
                  </a:lnTo>
                  <a:lnTo>
                    <a:pt x="661" y="1324"/>
                  </a:lnTo>
                  <a:lnTo>
                    <a:pt x="674" y="1326"/>
                  </a:lnTo>
                  <a:lnTo>
                    <a:pt x="686" y="1327"/>
                  </a:lnTo>
                  <a:lnTo>
                    <a:pt x="698" y="1327"/>
                  </a:lnTo>
                  <a:lnTo>
                    <a:pt x="710" y="1327"/>
                  </a:lnTo>
                  <a:lnTo>
                    <a:pt x="723" y="1327"/>
                  </a:lnTo>
                  <a:lnTo>
                    <a:pt x="736" y="1326"/>
                  </a:lnTo>
                  <a:lnTo>
                    <a:pt x="749" y="1326"/>
                  </a:lnTo>
                  <a:lnTo>
                    <a:pt x="762" y="1324"/>
                  </a:lnTo>
                  <a:lnTo>
                    <a:pt x="772" y="1323"/>
                  </a:lnTo>
                  <a:lnTo>
                    <a:pt x="786" y="1321"/>
                  </a:lnTo>
                  <a:lnTo>
                    <a:pt x="799" y="1318"/>
                  </a:lnTo>
                  <a:lnTo>
                    <a:pt x="810" y="1317"/>
                  </a:lnTo>
                  <a:lnTo>
                    <a:pt x="823" y="1314"/>
                  </a:lnTo>
                  <a:lnTo>
                    <a:pt x="836" y="1311"/>
                  </a:lnTo>
                  <a:lnTo>
                    <a:pt x="848" y="1310"/>
                  </a:lnTo>
                  <a:lnTo>
                    <a:pt x="860" y="1306"/>
                  </a:lnTo>
                  <a:lnTo>
                    <a:pt x="872" y="1301"/>
                  </a:lnTo>
                  <a:lnTo>
                    <a:pt x="885" y="1299"/>
                  </a:lnTo>
                  <a:lnTo>
                    <a:pt x="897" y="1296"/>
                  </a:lnTo>
                  <a:lnTo>
                    <a:pt x="908" y="1290"/>
                  </a:lnTo>
                  <a:lnTo>
                    <a:pt x="921" y="1287"/>
                  </a:lnTo>
                  <a:lnTo>
                    <a:pt x="934" y="1281"/>
                  </a:lnTo>
                  <a:lnTo>
                    <a:pt x="945" y="1277"/>
                  </a:lnTo>
                  <a:lnTo>
                    <a:pt x="958" y="1272"/>
                  </a:lnTo>
                  <a:lnTo>
                    <a:pt x="969" y="1266"/>
                  </a:lnTo>
                  <a:lnTo>
                    <a:pt x="980" y="1262"/>
                  </a:lnTo>
                  <a:lnTo>
                    <a:pt x="992" y="1256"/>
                  </a:lnTo>
                  <a:lnTo>
                    <a:pt x="1003" y="1249"/>
                  </a:lnTo>
                  <a:lnTo>
                    <a:pt x="1016" y="1242"/>
                  </a:lnTo>
                  <a:lnTo>
                    <a:pt x="1026" y="1235"/>
                  </a:lnTo>
                  <a:lnTo>
                    <a:pt x="1039" y="1230"/>
                  </a:lnTo>
                  <a:lnTo>
                    <a:pt x="1049" y="1222"/>
                  </a:lnTo>
                  <a:lnTo>
                    <a:pt x="1060" y="1215"/>
                  </a:lnTo>
                  <a:lnTo>
                    <a:pt x="1070" y="1206"/>
                  </a:lnTo>
                  <a:lnTo>
                    <a:pt x="1081" y="1200"/>
                  </a:lnTo>
                  <a:lnTo>
                    <a:pt x="1093" y="1190"/>
                  </a:lnTo>
                  <a:lnTo>
                    <a:pt x="1103" y="1183"/>
                  </a:lnTo>
                  <a:lnTo>
                    <a:pt x="1114" y="1175"/>
                  </a:lnTo>
                  <a:lnTo>
                    <a:pt x="1125" y="1168"/>
                  </a:lnTo>
                  <a:lnTo>
                    <a:pt x="1134" y="1158"/>
                  </a:lnTo>
                  <a:lnTo>
                    <a:pt x="1144" y="1149"/>
                  </a:lnTo>
                  <a:lnTo>
                    <a:pt x="1152" y="1139"/>
                  </a:lnTo>
                  <a:lnTo>
                    <a:pt x="1162" y="1131"/>
                  </a:lnTo>
                  <a:lnTo>
                    <a:pt x="1171" y="1122"/>
                  </a:lnTo>
                  <a:lnTo>
                    <a:pt x="1179" y="1112"/>
                  </a:lnTo>
                  <a:lnTo>
                    <a:pt x="1186" y="1104"/>
                  </a:lnTo>
                  <a:lnTo>
                    <a:pt x="1195" y="1095"/>
                  </a:lnTo>
                  <a:lnTo>
                    <a:pt x="1202" y="1084"/>
                  </a:lnTo>
                  <a:lnTo>
                    <a:pt x="1209" y="1075"/>
                  </a:lnTo>
                  <a:lnTo>
                    <a:pt x="1215" y="1067"/>
                  </a:lnTo>
                  <a:lnTo>
                    <a:pt x="1223" y="1057"/>
                  </a:lnTo>
                  <a:lnTo>
                    <a:pt x="1229" y="1047"/>
                  </a:lnTo>
                  <a:lnTo>
                    <a:pt x="1235" y="1038"/>
                  </a:lnTo>
                  <a:lnTo>
                    <a:pt x="1240" y="1028"/>
                  </a:lnTo>
                  <a:lnTo>
                    <a:pt x="1246" y="1018"/>
                  </a:lnTo>
                  <a:lnTo>
                    <a:pt x="1252" y="1008"/>
                  </a:lnTo>
                  <a:lnTo>
                    <a:pt x="1256" y="998"/>
                  </a:lnTo>
                  <a:lnTo>
                    <a:pt x="1260" y="989"/>
                  </a:lnTo>
                  <a:lnTo>
                    <a:pt x="1266" y="979"/>
                  </a:lnTo>
                  <a:lnTo>
                    <a:pt x="1269" y="969"/>
                  </a:lnTo>
                  <a:lnTo>
                    <a:pt x="1273" y="960"/>
                  </a:lnTo>
                  <a:lnTo>
                    <a:pt x="1276" y="949"/>
                  </a:lnTo>
                  <a:lnTo>
                    <a:pt x="1282" y="940"/>
                  </a:lnTo>
                  <a:lnTo>
                    <a:pt x="1283" y="929"/>
                  </a:lnTo>
                  <a:lnTo>
                    <a:pt x="1286" y="919"/>
                  </a:lnTo>
                  <a:lnTo>
                    <a:pt x="1289" y="907"/>
                  </a:lnTo>
                  <a:lnTo>
                    <a:pt x="1292" y="899"/>
                  </a:lnTo>
                  <a:lnTo>
                    <a:pt x="1293" y="888"/>
                  </a:lnTo>
                  <a:lnTo>
                    <a:pt x="1296" y="879"/>
                  </a:lnTo>
                  <a:lnTo>
                    <a:pt x="1297" y="868"/>
                  </a:lnTo>
                  <a:lnTo>
                    <a:pt x="1299" y="858"/>
                  </a:lnTo>
                  <a:lnTo>
                    <a:pt x="1300" y="848"/>
                  </a:lnTo>
                  <a:lnTo>
                    <a:pt x="1300" y="836"/>
                  </a:lnTo>
                  <a:lnTo>
                    <a:pt x="1302" y="826"/>
                  </a:lnTo>
                  <a:lnTo>
                    <a:pt x="1303" y="816"/>
                  </a:lnTo>
                  <a:lnTo>
                    <a:pt x="1303" y="805"/>
                  </a:lnTo>
                  <a:lnTo>
                    <a:pt x="1303" y="795"/>
                  </a:lnTo>
                  <a:lnTo>
                    <a:pt x="1303" y="784"/>
                  </a:lnTo>
                  <a:lnTo>
                    <a:pt x="1303" y="774"/>
                  </a:lnTo>
                  <a:lnTo>
                    <a:pt x="1303" y="764"/>
                  </a:lnTo>
                  <a:lnTo>
                    <a:pt x="1303" y="752"/>
                  </a:lnTo>
                  <a:lnTo>
                    <a:pt x="1302" y="742"/>
                  </a:lnTo>
                  <a:lnTo>
                    <a:pt x="1302" y="733"/>
                  </a:lnTo>
                  <a:lnTo>
                    <a:pt x="1300" y="721"/>
                  </a:lnTo>
                  <a:lnTo>
                    <a:pt x="1300" y="711"/>
                  </a:lnTo>
                  <a:lnTo>
                    <a:pt x="1299" y="701"/>
                  </a:lnTo>
                  <a:lnTo>
                    <a:pt x="1297" y="691"/>
                  </a:lnTo>
                  <a:lnTo>
                    <a:pt x="1296" y="680"/>
                  </a:lnTo>
                  <a:lnTo>
                    <a:pt x="1294" y="669"/>
                  </a:lnTo>
                  <a:lnTo>
                    <a:pt x="1293" y="659"/>
                  </a:lnTo>
                  <a:lnTo>
                    <a:pt x="1290" y="649"/>
                  </a:lnTo>
                  <a:lnTo>
                    <a:pt x="1289" y="637"/>
                  </a:lnTo>
                  <a:lnTo>
                    <a:pt x="1287" y="627"/>
                  </a:lnTo>
                  <a:lnTo>
                    <a:pt x="1285" y="616"/>
                  </a:lnTo>
                  <a:lnTo>
                    <a:pt x="1283" y="607"/>
                  </a:lnTo>
                  <a:lnTo>
                    <a:pt x="1280" y="596"/>
                  </a:lnTo>
                  <a:lnTo>
                    <a:pt x="1277" y="586"/>
                  </a:lnTo>
                  <a:lnTo>
                    <a:pt x="1275" y="576"/>
                  </a:lnTo>
                  <a:lnTo>
                    <a:pt x="1272" y="566"/>
                  </a:lnTo>
                  <a:lnTo>
                    <a:pt x="1269" y="555"/>
                  </a:lnTo>
                  <a:lnTo>
                    <a:pt x="1266" y="545"/>
                  </a:lnTo>
                  <a:lnTo>
                    <a:pt x="1263" y="533"/>
                  </a:lnTo>
                  <a:lnTo>
                    <a:pt x="1260" y="525"/>
                  </a:lnTo>
                  <a:lnTo>
                    <a:pt x="1256" y="515"/>
                  </a:lnTo>
                  <a:lnTo>
                    <a:pt x="1253" y="504"/>
                  </a:lnTo>
                  <a:lnTo>
                    <a:pt x="1250" y="494"/>
                  </a:lnTo>
                  <a:lnTo>
                    <a:pt x="1246" y="484"/>
                  </a:lnTo>
                  <a:lnTo>
                    <a:pt x="1243" y="474"/>
                  </a:lnTo>
                  <a:lnTo>
                    <a:pt x="1239" y="464"/>
                  </a:lnTo>
                  <a:lnTo>
                    <a:pt x="1236" y="452"/>
                  </a:lnTo>
                  <a:lnTo>
                    <a:pt x="1233" y="442"/>
                  </a:lnTo>
                  <a:lnTo>
                    <a:pt x="1229" y="432"/>
                  </a:lnTo>
                  <a:lnTo>
                    <a:pt x="1226" y="422"/>
                  </a:lnTo>
                  <a:lnTo>
                    <a:pt x="1222" y="413"/>
                  </a:lnTo>
                  <a:lnTo>
                    <a:pt x="1219" y="403"/>
                  </a:lnTo>
                  <a:lnTo>
                    <a:pt x="1213" y="393"/>
                  </a:lnTo>
                  <a:lnTo>
                    <a:pt x="1212" y="383"/>
                  </a:lnTo>
                  <a:lnTo>
                    <a:pt x="1208" y="373"/>
                  </a:lnTo>
                  <a:lnTo>
                    <a:pt x="1205" y="364"/>
                  </a:lnTo>
                  <a:lnTo>
                    <a:pt x="1201" y="354"/>
                  </a:lnTo>
                  <a:lnTo>
                    <a:pt x="1196" y="343"/>
                  </a:lnTo>
                  <a:lnTo>
                    <a:pt x="1192" y="334"/>
                  </a:lnTo>
                  <a:lnTo>
                    <a:pt x="1188" y="326"/>
                  </a:lnTo>
                  <a:lnTo>
                    <a:pt x="1185" y="316"/>
                  </a:lnTo>
                  <a:lnTo>
                    <a:pt x="1181" y="306"/>
                  </a:lnTo>
                  <a:lnTo>
                    <a:pt x="1178" y="297"/>
                  </a:lnTo>
                  <a:lnTo>
                    <a:pt x="1174" y="287"/>
                  </a:lnTo>
                  <a:lnTo>
                    <a:pt x="1169" y="279"/>
                  </a:lnTo>
                  <a:lnTo>
                    <a:pt x="1165" y="270"/>
                  </a:lnTo>
                  <a:lnTo>
                    <a:pt x="1161" y="260"/>
                  </a:lnTo>
                  <a:lnTo>
                    <a:pt x="1157" y="252"/>
                  </a:lnTo>
                  <a:lnTo>
                    <a:pt x="1152" y="243"/>
                  </a:lnTo>
                  <a:lnTo>
                    <a:pt x="1148" y="235"/>
                  </a:lnTo>
                  <a:lnTo>
                    <a:pt x="1144" y="226"/>
                  </a:lnTo>
                  <a:lnTo>
                    <a:pt x="1140" y="219"/>
                  </a:lnTo>
                  <a:lnTo>
                    <a:pt x="1135" y="209"/>
                  </a:lnTo>
                  <a:lnTo>
                    <a:pt x="1131" y="202"/>
                  </a:lnTo>
                  <a:lnTo>
                    <a:pt x="1127" y="193"/>
                  </a:lnTo>
                  <a:lnTo>
                    <a:pt x="1123" y="185"/>
                  </a:lnTo>
                  <a:lnTo>
                    <a:pt x="1117" y="178"/>
                  </a:lnTo>
                  <a:lnTo>
                    <a:pt x="1113" y="171"/>
                  </a:lnTo>
                  <a:lnTo>
                    <a:pt x="1107" y="162"/>
                  </a:lnTo>
                  <a:lnTo>
                    <a:pt x="1103" y="155"/>
                  </a:lnTo>
                  <a:lnTo>
                    <a:pt x="1098" y="148"/>
                  </a:lnTo>
                  <a:lnTo>
                    <a:pt x="1094" y="141"/>
                  </a:lnTo>
                  <a:lnTo>
                    <a:pt x="1088" y="134"/>
                  </a:lnTo>
                  <a:lnTo>
                    <a:pt x="1083" y="127"/>
                  </a:lnTo>
                  <a:lnTo>
                    <a:pt x="1078" y="120"/>
                  </a:lnTo>
                  <a:lnTo>
                    <a:pt x="1073" y="114"/>
                  </a:lnTo>
                  <a:lnTo>
                    <a:pt x="1067" y="107"/>
                  </a:lnTo>
                  <a:lnTo>
                    <a:pt x="1064" y="101"/>
                  </a:lnTo>
                  <a:lnTo>
                    <a:pt x="1057" y="95"/>
                  </a:lnTo>
                  <a:lnTo>
                    <a:pt x="1052" y="90"/>
                  </a:lnTo>
                  <a:lnTo>
                    <a:pt x="1047" y="84"/>
                  </a:lnTo>
                  <a:lnTo>
                    <a:pt x="1042" y="78"/>
                  </a:lnTo>
                  <a:lnTo>
                    <a:pt x="1036" y="73"/>
                  </a:lnTo>
                  <a:lnTo>
                    <a:pt x="1030" y="67"/>
                  </a:lnTo>
                  <a:lnTo>
                    <a:pt x="1025" y="63"/>
                  </a:lnTo>
                  <a:lnTo>
                    <a:pt x="1019" y="57"/>
                  </a:lnTo>
                  <a:lnTo>
                    <a:pt x="1013" y="53"/>
                  </a:lnTo>
                  <a:lnTo>
                    <a:pt x="1007" y="47"/>
                  </a:lnTo>
                  <a:lnTo>
                    <a:pt x="1000" y="44"/>
                  </a:lnTo>
                  <a:lnTo>
                    <a:pt x="995" y="40"/>
                  </a:lnTo>
                  <a:lnTo>
                    <a:pt x="989" y="37"/>
                  </a:lnTo>
                  <a:lnTo>
                    <a:pt x="983" y="33"/>
                  </a:lnTo>
                  <a:lnTo>
                    <a:pt x="978" y="30"/>
                  </a:lnTo>
                  <a:lnTo>
                    <a:pt x="971" y="27"/>
                  </a:lnTo>
                  <a:lnTo>
                    <a:pt x="963" y="23"/>
                  </a:lnTo>
                  <a:lnTo>
                    <a:pt x="958" y="20"/>
                  </a:lnTo>
                  <a:lnTo>
                    <a:pt x="952" y="17"/>
                  </a:lnTo>
                  <a:lnTo>
                    <a:pt x="945" y="14"/>
                  </a:lnTo>
                  <a:lnTo>
                    <a:pt x="939" y="13"/>
                  </a:lnTo>
                  <a:lnTo>
                    <a:pt x="932" y="10"/>
                  </a:lnTo>
                  <a:lnTo>
                    <a:pt x="926" y="9"/>
                  </a:lnTo>
                  <a:lnTo>
                    <a:pt x="922" y="7"/>
                  </a:lnTo>
                  <a:lnTo>
                    <a:pt x="915" y="6"/>
                  </a:lnTo>
                  <a:lnTo>
                    <a:pt x="909" y="4"/>
                  </a:lnTo>
                  <a:lnTo>
                    <a:pt x="904" y="3"/>
                  </a:lnTo>
                  <a:lnTo>
                    <a:pt x="899" y="3"/>
                  </a:lnTo>
                  <a:lnTo>
                    <a:pt x="892" y="0"/>
                  </a:lnTo>
                  <a:lnTo>
                    <a:pt x="887" y="0"/>
                  </a:lnTo>
                  <a:lnTo>
                    <a:pt x="882" y="0"/>
                  </a:lnTo>
                  <a:lnTo>
                    <a:pt x="878" y="0"/>
                  </a:lnTo>
                  <a:lnTo>
                    <a:pt x="872" y="0"/>
                  </a:lnTo>
                  <a:lnTo>
                    <a:pt x="867" y="0"/>
                  </a:lnTo>
                  <a:lnTo>
                    <a:pt x="863" y="0"/>
                  </a:lnTo>
                  <a:lnTo>
                    <a:pt x="858" y="0"/>
                  </a:lnTo>
                  <a:lnTo>
                    <a:pt x="853" y="0"/>
                  </a:lnTo>
                  <a:lnTo>
                    <a:pt x="848" y="1"/>
                  </a:lnTo>
                  <a:lnTo>
                    <a:pt x="845" y="3"/>
                  </a:lnTo>
                  <a:lnTo>
                    <a:pt x="841" y="4"/>
                  </a:lnTo>
                  <a:lnTo>
                    <a:pt x="836" y="4"/>
                  </a:lnTo>
                  <a:lnTo>
                    <a:pt x="831" y="6"/>
                  </a:lnTo>
                  <a:lnTo>
                    <a:pt x="827" y="7"/>
                  </a:lnTo>
                  <a:lnTo>
                    <a:pt x="824" y="9"/>
                  </a:lnTo>
                  <a:lnTo>
                    <a:pt x="818" y="10"/>
                  </a:lnTo>
                  <a:lnTo>
                    <a:pt x="817" y="11"/>
                  </a:lnTo>
                  <a:lnTo>
                    <a:pt x="811" y="13"/>
                  </a:lnTo>
                  <a:lnTo>
                    <a:pt x="809" y="16"/>
                  </a:lnTo>
                  <a:lnTo>
                    <a:pt x="806" y="17"/>
                  </a:lnTo>
                  <a:lnTo>
                    <a:pt x="801" y="20"/>
                  </a:lnTo>
                  <a:lnTo>
                    <a:pt x="799" y="23"/>
                  </a:lnTo>
                  <a:lnTo>
                    <a:pt x="796" y="26"/>
                  </a:lnTo>
                  <a:lnTo>
                    <a:pt x="793" y="29"/>
                  </a:lnTo>
                  <a:lnTo>
                    <a:pt x="789" y="31"/>
                  </a:lnTo>
                  <a:lnTo>
                    <a:pt x="786" y="34"/>
                  </a:lnTo>
                  <a:lnTo>
                    <a:pt x="783" y="37"/>
                  </a:lnTo>
                  <a:lnTo>
                    <a:pt x="780" y="40"/>
                  </a:lnTo>
                  <a:lnTo>
                    <a:pt x="777" y="43"/>
                  </a:lnTo>
                  <a:lnTo>
                    <a:pt x="774" y="46"/>
                  </a:lnTo>
                  <a:lnTo>
                    <a:pt x="773" y="50"/>
                  </a:lnTo>
                  <a:lnTo>
                    <a:pt x="770" y="53"/>
                  </a:lnTo>
                  <a:lnTo>
                    <a:pt x="769" y="57"/>
                  </a:lnTo>
                  <a:lnTo>
                    <a:pt x="767" y="60"/>
                  </a:lnTo>
                  <a:lnTo>
                    <a:pt x="764" y="64"/>
                  </a:lnTo>
                  <a:lnTo>
                    <a:pt x="763" y="68"/>
                  </a:lnTo>
                  <a:lnTo>
                    <a:pt x="762" y="71"/>
                  </a:lnTo>
                  <a:lnTo>
                    <a:pt x="759" y="75"/>
                  </a:lnTo>
                  <a:lnTo>
                    <a:pt x="757" y="80"/>
                  </a:lnTo>
                  <a:lnTo>
                    <a:pt x="756" y="84"/>
                  </a:lnTo>
                  <a:lnTo>
                    <a:pt x="755" y="88"/>
                  </a:lnTo>
                  <a:lnTo>
                    <a:pt x="753" y="91"/>
                  </a:lnTo>
                  <a:lnTo>
                    <a:pt x="753" y="97"/>
                  </a:lnTo>
                  <a:lnTo>
                    <a:pt x="752" y="101"/>
                  </a:lnTo>
                  <a:lnTo>
                    <a:pt x="750" y="107"/>
                  </a:lnTo>
                  <a:lnTo>
                    <a:pt x="749" y="111"/>
                  </a:lnTo>
                  <a:lnTo>
                    <a:pt x="749" y="115"/>
                  </a:lnTo>
                  <a:lnTo>
                    <a:pt x="749" y="120"/>
                  </a:lnTo>
                  <a:lnTo>
                    <a:pt x="749" y="124"/>
                  </a:lnTo>
                  <a:lnTo>
                    <a:pt x="749" y="128"/>
                  </a:lnTo>
                  <a:lnTo>
                    <a:pt x="749" y="135"/>
                  </a:lnTo>
                  <a:lnTo>
                    <a:pt x="747" y="138"/>
                  </a:lnTo>
                  <a:lnTo>
                    <a:pt x="747" y="144"/>
                  </a:lnTo>
                  <a:lnTo>
                    <a:pt x="747" y="148"/>
                  </a:lnTo>
                  <a:lnTo>
                    <a:pt x="747" y="152"/>
                  </a:lnTo>
                  <a:lnTo>
                    <a:pt x="747" y="157"/>
                  </a:lnTo>
                  <a:lnTo>
                    <a:pt x="747" y="162"/>
                  </a:lnTo>
                  <a:lnTo>
                    <a:pt x="747" y="166"/>
                  </a:lnTo>
                  <a:lnTo>
                    <a:pt x="747" y="171"/>
                  </a:lnTo>
                  <a:lnTo>
                    <a:pt x="747" y="175"/>
                  </a:lnTo>
                  <a:lnTo>
                    <a:pt x="747" y="178"/>
                  </a:lnTo>
                  <a:lnTo>
                    <a:pt x="749" y="182"/>
                  </a:lnTo>
                  <a:lnTo>
                    <a:pt x="749" y="188"/>
                  </a:lnTo>
                  <a:lnTo>
                    <a:pt x="749" y="191"/>
                  </a:lnTo>
                  <a:lnTo>
                    <a:pt x="749" y="195"/>
                  </a:lnTo>
                  <a:lnTo>
                    <a:pt x="750" y="199"/>
                  </a:lnTo>
                  <a:lnTo>
                    <a:pt x="750" y="203"/>
                  </a:lnTo>
                  <a:lnTo>
                    <a:pt x="750" y="206"/>
                  </a:lnTo>
                  <a:lnTo>
                    <a:pt x="752" y="209"/>
                  </a:lnTo>
                  <a:lnTo>
                    <a:pt x="752" y="215"/>
                  </a:lnTo>
                  <a:lnTo>
                    <a:pt x="752" y="218"/>
                  </a:lnTo>
                  <a:lnTo>
                    <a:pt x="752" y="221"/>
                  </a:lnTo>
                  <a:lnTo>
                    <a:pt x="752" y="225"/>
                  </a:lnTo>
                  <a:lnTo>
                    <a:pt x="753" y="228"/>
                  </a:lnTo>
                  <a:lnTo>
                    <a:pt x="755" y="232"/>
                  </a:lnTo>
                  <a:lnTo>
                    <a:pt x="755" y="235"/>
                  </a:lnTo>
                  <a:lnTo>
                    <a:pt x="755" y="239"/>
                  </a:lnTo>
                  <a:lnTo>
                    <a:pt x="755" y="243"/>
                  </a:lnTo>
                  <a:lnTo>
                    <a:pt x="756" y="246"/>
                  </a:lnTo>
                  <a:lnTo>
                    <a:pt x="756" y="249"/>
                  </a:lnTo>
                  <a:lnTo>
                    <a:pt x="757" y="252"/>
                  </a:lnTo>
                  <a:lnTo>
                    <a:pt x="757" y="255"/>
                  </a:lnTo>
                  <a:lnTo>
                    <a:pt x="759" y="259"/>
                  </a:lnTo>
                  <a:lnTo>
                    <a:pt x="759" y="260"/>
                  </a:lnTo>
                  <a:lnTo>
                    <a:pt x="760" y="265"/>
                  </a:lnTo>
                  <a:lnTo>
                    <a:pt x="760" y="266"/>
                  </a:lnTo>
                  <a:lnTo>
                    <a:pt x="762" y="270"/>
                  </a:lnTo>
                  <a:lnTo>
                    <a:pt x="762" y="272"/>
                  </a:lnTo>
                  <a:lnTo>
                    <a:pt x="762" y="275"/>
                  </a:lnTo>
                  <a:lnTo>
                    <a:pt x="762" y="277"/>
                  </a:lnTo>
                  <a:lnTo>
                    <a:pt x="763" y="280"/>
                  </a:lnTo>
                  <a:lnTo>
                    <a:pt x="764" y="286"/>
                  </a:lnTo>
                  <a:lnTo>
                    <a:pt x="764" y="290"/>
                  </a:lnTo>
                  <a:lnTo>
                    <a:pt x="766" y="296"/>
                  </a:lnTo>
                  <a:lnTo>
                    <a:pt x="767" y="300"/>
                  </a:lnTo>
                  <a:lnTo>
                    <a:pt x="767" y="304"/>
                  </a:lnTo>
                  <a:lnTo>
                    <a:pt x="767" y="309"/>
                  </a:lnTo>
                  <a:lnTo>
                    <a:pt x="769" y="313"/>
                  </a:lnTo>
                  <a:lnTo>
                    <a:pt x="769" y="317"/>
                  </a:lnTo>
                  <a:lnTo>
                    <a:pt x="769" y="320"/>
                  </a:lnTo>
                  <a:lnTo>
                    <a:pt x="769" y="324"/>
                  </a:lnTo>
                  <a:lnTo>
                    <a:pt x="769" y="327"/>
                  </a:lnTo>
                  <a:lnTo>
                    <a:pt x="770" y="331"/>
                  </a:lnTo>
                  <a:lnTo>
                    <a:pt x="767" y="333"/>
                  </a:lnTo>
                  <a:lnTo>
                    <a:pt x="767" y="337"/>
                  </a:lnTo>
                  <a:lnTo>
                    <a:pt x="764" y="339"/>
                  </a:lnTo>
                  <a:lnTo>
                    <a:pt x="762" y="341"/>
                  </a:lnTo>
                  <a:lnTo>
                    <a:pt x="757" y="344"/>
                  </a:lnTo>
                  <a:lnTo>
                    <a:pt x="753" y="347"/>
                  </a:lnTo>
                  <a:lnTo>
                    <a:pt x="749" y="350"/>
                  </a:lnTo>
                  <a:lnTo>
                    <a:pt x="743" y="354"/>
                  </a:lnTo>
                  <a:lnTo>
                    <a:pt x="740" y="356"/>
                  </a:lnTo>
                  <a:lnTo>
                    <a:pt x="737" y="356"/>
                  </a:lnTo>
                  <a:lnTo>
                    <a:pt x="735" y="358"/>
                  </a:lnTo>
                  <a:lnTo>
                    <a:pt x="730" y="360"/>
                  </a:lnTo>
                  <a:lnTo>
                    <a:pt x="728" y="361"/>
                  </a:lnTo>
                  <a:lnTo>
                    <a:pt x="723" y="363"/>
                  </a:lnTo>
                  <a:lnTo>
                    <a:pt x="720" y="364"/>
                  </a:lnTo>
                  <a:lnTo>
                    <a:pt x="716" y="366"/>
                  </a:lnTo>
                  <a:lnTo>
                    <a:pt x="712" y="367"/>
                  </a:lnTo>
                  <a:lnTo>
                    <a:pt x="709" y="368"/>
                  </a:lnTo>
                  <a:lnTo>
                    <a:pt x="705" y="370"/>
                  </a:lnTo>
                  <a:lnTo>
                    <a:pt x="701" y="371"/>
                  </a:lnTo>
                  <a:lnTo>
                    <a:pt x="696" y="373"/>
                  </a:lnTo>
                  <a:lnTo>
                    <a:pt x="692" y="374"/>
                  </a:lnTo>
                  <a:lnTo>
                    <a:pt x="689" y="376"/>
                  </a:lnTo>
                  <a:lnTo>
                    <a:pt x="683" y="378"/>
                  </a:lnTo>
                  <a:lnTo>
                    <a:pt x="679" y="380"/>
                  </a:lnTo>
                  <a:lnTo>
                    <a:pt x="674" y="381"/>
                  </a:lnTo>
                  <a:lnTo>
                    <a:pt x="669" y="383"/>
                  </a:lnTo>
                  <a:lnTo>
                    <a:pt x="665" y="384"/>
                  </a:lnTo>
                  <a:lnTo>
                    <a:pt x="659" y="385"/>
                  </a:lnTo>
                  <a:lnTo>
                    <a:pt x="655" y="387"/>
                  </a:lnTo>
                  <a:lnTo>
                    <a:pt x="652" y="388"/>
                  </a:lnTo>
                  <a:lnTo>
                    <a:pt x="647" y="390"/>
                  </a:lnTo>
                  <a:lnTo>
                    <a:pt x="642" y="391"/>
                  </a:lnTo>
                  <a:lnTo>
                    <a:pt x="637" y="393"/>
                  </a:lnTo>
                  <a:lnTo>
                    <a:pt x="631" y="394"/>
                  </a:lnTo>
                  <a:lnTo>
                    <a:pt x="628" y="395"/>
                  </a:lnTo>
                  <a:lnTo>
                    <a:pt x="621" y="398"/>
                  </a:lnTo>
                  <a:lnTo>
                    <a:pt x="617" y="400"/>
                  </a:lnTo>
                  <a:lnTo>
                    <a:pt x="612" y="401"/>
                  </a:lnTo>
                  <a:lnTo>
                    <a:pt x="607" y="404"/>
                  </a:lnTo>
                  <a:lnTo>
                    <a:pt x="602" y="405"/>
                  </a:lnTo>
                  <a:lnTo>
                    <a:pt x="598" y="408"/>
                  </a:lnTo>
                  <a:lnTo>
                    <a:pt x="593" y="410"/>
                  </a:lnTo>
                  <a:lnTo>
                    <a:pt x="588" y="411"/>
                  </a:lnTo>
                  <a:lnTo>
                    <a:pt x="583" y="414"/>
                  </a:lnTo>
                  <a:lnTo>
                    <a:pt x="578" y="415"/>
                  </a:lnTo>
                  <a:lnTo>
                    <a:pt x="573" y="417"/>
                  </a:lnTo>
                  <a:lnTo>
                    <a:pt x="568" y="418"/>
                  </a:lnTo>
                  <a:lnTo>
                    <a:pt x="563" y="421"/>
                  </a:lnTo>
                  <a:lnTo>
                    <a:pt x="558" y="422"/>
                  </a:lnTo>
                  <a:lnTo>
                    <a:pt x="554" y="424"/>
                  </a:lnTo>
                  <a:lnTo>
                    <a:pt x="550" y="427"/>
                  </a:lnTo>
                  <a:lnTo>
                    <a:pt x="546" y="430"/>
                  </a:lnTo>
                  <a:lnTo>
                    <a:pt x="541" y="432"/>
                  </a:lnTo>
                  <a:lnTo>
                    <a:pt x="537" y="434"/>
                  </a:lnTo>
                  <a:lnTo>
                    <a:pt x="533" y="437"/>
                  </a:lnTo>
                  <a:lnTo>
                    <a:pt x="529" y="438"/>
                  </a:lnTo>
                  <a:lnTo>
                    <a:pt x="524" y="441"/>
                  </a:lnTo>
                  <a:lnTo>
                    <a:pt x="520" y="442"/>
                  </a:lnTo>
                  <a:lnTo>
                    <a:pt x="516" y="445"/>
                  </a:lnTo>
                  <a:lnTo>
                    <a:pt x="512" y="448"/>
                  </a:lnTo>
                  <a:lnTo>
                    <a:pt x="507" y="449"/>
                  </a:lnTo>
                  <a:lnTo>
                    <a:pt x="503" y="452"/>
                  </a:lnTo>
                  <a:lnTo>
                    <a:pt x="500" y="454"/>
                  </a:lnTo>
                  <a:lnTo>
                    <a:pt x="496" y="455"/>
                  </a:lnTo>
                  <a:lnTo>
                    <a:pt x="492" y="458"/>
                  </a:lnTo>
                  <a:lnTo>
                    <a:pt x="490" y="461"/>
                  </a:lnTo>
                  <a:lnTo>
                    <a:pt x="487" y="464"/>
                  </a:lnTo>
                  <a:lnTo>
                    <a:pt x="482" y="465"/>
                  </a:lnTo>
                  <a:lnTo>
                    <a:pt x="479" y="468"/>
                  </a:lnTo>
                  <a:lnTo>
                    <a:pt x="477" y="471"/>
                  </a:lnTo>
                  <a:lnTo>
                    <a:pt x="475" y="474"/>
                  </a:lnTo>
                  <a:lnTo>
                    <a:pt x="472" y="474"/>
                  </a:lnTo>
                  <a:lnTo>
                    <a:pt x="469" y="477"/>
                  </a:lnTo>
                  <a:lnTo>
                    <a:pt x="466" y="478"/>
                  </a:lnTo>
                  <a:lnTo>
                    <a:pt x="463" y="481"/>
                  </a:lnTo>
                  <a:lnTo>
                    <a:pt x="456" y="485"/>
                  </a:lnTo>
                  <a:lnTo>
                    <a:pt x="452" y="489"/>
                  </a:lnTo>
                  <a:lnTo>
                    <a:pt x="448" y="492"/>
                  </a:lnTo>
                  <a:lnTo>
                    <a:pt x="443" y="496"/>
                  </a:lnTo>
                  <a:lnTo>
                    <a:pt x="438" y="499"/>
                  </a:lnTo>
                  <a:lnTo>
                    <a:pt x="435" y="502"/>
                  </a:lnTo>
                  <a:lnTo>
                    <a:pt x="429" y="505"/>
                  </a:lnTo>
                  <a:lnTo>
                    <a:pt x="425" y="508"/>
                  </a:lnTo>
                  <a:lnTo>
                    <a:pt x="421" y="508"/>
                  </a:lnTo>
                  <a:lnTo>
                    <a:pt x="418" y="511"/>
                  </a:lnTo>
                  <a:lnTo>
                    <a:pt x="414" y="512"/>
                  </a:lnTo>
                  <a:lnTo>
                    <a:pt x="409" y="513"/>
                  </a:lnTo>
                  <a:lnTo>
                    <a:pt x="406" y="515"/>
                  </a:lnTo>
                  <a:lnTo>
                    <a:pt x="401" y="515"/>
                  </a:lnTo>
                  <a:lnTo>
                    <a:pt x="398" y="513"/>
                  </a:lnTo>
                  <a:lnTo>
                    <a:pt x="394" y="513"/>
                  </a:lnTo>
                  <a:lnTo>
                    <a:pt x="389" y="511"/>
                  </a:lnTo>
                  <a:lnTo>
                    <a:pt x="387" y="509"/>
                  </a:lnTo>
                  <a:lnTo>
                    <a:pt x="382" y="506"/>
                  </a:lnTo>
                  <a:lnTo>
                    <a:pt x="378" y="505"/>
                  </a:lnTo>
                  <a:lnTo>
                    <a:pt x="374" y="501"/>
                  </a:lnTo>
                  <a:lnTo>
                    <a:pt x="369" y="498"/>
                  </a:lnTo>
                  <a:lnTo>
                    <a:pt x="367" y="495"/>
                  </a:lnTo>
                  <a:lnTo>
                    <a:pt x="364" y="492"/>
                  </a:lnTo>
                  <a:lnTo>
                    <a:pt x="362" y="489"/>
                  </a:lnTo>
                  <a:lnTo>
                    <a:pt x="360" y="486"/>
                  </a:lnTo>
                  <a:lnTo>
                    <a:pt x="357" y="484"/>
                  </a:lnTo>
                  <a:lnTo>
                    <a:pt x="354" y="479"/>
                  </a:lnTo>
                  <a:lnTo>
                    <a:pt x="351" y="477"/>
                  </a:lnTo>
                  <a:lnTo>
                    <a:pt x="348" y="475"/>
                  </a:lnTo>
                  <a:lnTo>
                    <a:pt x="345" y="471"/>
                  </a:lnTo>
                  <a:lnTo>
                    <a:pt x="342" y="468"/>
                  </a:lnTo>
                  <a:lnTo>
                    <a:pt x="340" y="464"/>
                  </a:lnTo>
                  <a:lnTo>
                    <a:pt x="335" y="461"/>
                  </a:lnTo>
                  <a:lnTo>
                    <a:pt x="333" y="457"/>
                  </a:lnTo>
                  <a:lnTo>
                    <a:pt x="330" y="454"/>
                  </a:lnTo>
                  <a:lnTo>
                    <a:pt x="327" y="451"/>
                  </a:lnTo>
                  <a:lnTo>
                    <a:pt x="324" y="448"/>
                  </a:lnTo>
                  <a:lnTo>
                    <a:pt x="318" y="444"/>
                  </a:lnTo>
                  <a:lnTo>
                    <a:pt x="315" y="440"/>
                  </a:lnTo>
                  <a:lnTo>
                    <a:pt x="311" y="437"/>
                  </a:lnTo>
                  <a:lnTo>
                    <a:pt x="308" y="432"/>
                  </a:lnTo>
                  <a:lnTo>
                    <a:pt x="304" y="428"/>
                  </a:lnTo>
                  <a:lnTo>
                    <a:pt x="300" y="424"/>
                  </a:lnTo>
                  <a:lnTo>
                    <a:pt x="296" y="421"/>
                  </a:lnTo>
                  <a:lnTo>
                    <a:pt x="291" y="418"/>
                  </a:lnTo>
                  <a:lnTo>
                    <a:pt x="287" y="414"/>
                  </a:lnTo>
                  <a:lnTo>
                    <a:pt x="283" y="411"/>
                  </a:lnTo>
                  <a:lnTo>
                    <a:pt x="279" y="408"/>
                  </a:lnTo>
                  <a:lnTo>
                    <a:pt x="276" y="404"/>
                  </a:lnTo>
                  <a:lnTo>
                    <a:pt x="270" y="401"/>
                  </a:lnTo>
                  <a:lnTo>
                    <a:pt x="266" y="397"/>
                  </a:lnTo>
                  <a:lnTo>
                    <a:pt x="261" y="394"/>
                  </a:lnTo>
                  <a:lnTo>
                    <a:pt x="257" y="391"/>
                  </a:lnTo>
                  <a:lnTo>
                    <a:pt x="252" y="387"/>
                  </a:lnTo>
                  <a:lnTo>
                    <a:pt x="247" y="384"/>
                  </a:lnTo>
                  <a:lnTo>
                    <a:pt x="242" y="381"/>
                  </a:lnTo>
                  <a:lnTo>
                    <a:pt x="237" y="380"/>
                  </a:lnTo>
                  <a:lnTo>
                    <a:pt x="232" y="376"/>
                  </a:lnTo>
                  <a:lnTo>
                    <a:pt x="227" y="373"/>
                  </a:lnTo>
                  <a:lnTo>
                    <a:pt x="223" y="371"/>
                  </a:lnTo>
                  <a:lnTo>
                    <a:pt x="217" y="370"/>
                  </a:lnTo>
                  <a:lnTo>
                    <a:pt x="212" y="367"/>
                  </a:lnTo>
                  <a:lnTo>
                    <a:pt x="207" y="364"/>
                  </a:lnTo>
                  <a:lnTo>
                    <a:pt x="202" y="364"/>
                  </a:lnTo>
                  <a:lnTo>
                    <a:pt x="196" y="361"/>
                  </a:lnTo>
                  <a:lnTo>
                    <a:pt x="192" y="361"/>
                  </a:lnTo>
                  <a:lnTo>
                    <a:pt x="185" y="358"/>
                  </a:lnTo>
                  <a:lnTo>
                    <a:pt x="179" y="358"/>
                  </a:lnTo>
                  <a:lnTo>
                    <a:pt x="175" y="357"/>
                  </a:lnTo>
                  <a:lnTo>
                    <a:pt x="168" y="356"/>
                  </a:lnTo>
                  <a:lnTo>
                    <a:pt x="163" y="356"/>
                  </a:lnTo>
                  <a:lnTo>
                    <a:pt x="156" y="356"/>
                  </a:lnTo>
                  <a:lnTo>
                    <a:pt x="151" y="356"/>
                  </a:lnTo>
                  <a:lnTo>
                    <a:pt x="145" y="356"/>
                  </a:lnTo>
                  <a:lnTo>
                    <a:pt x="139" y="356"/>
                  </a:lnTo>
                  <a:lnTo>
                    <a:pt x="134" y="356"/>
                  </a:lnTo>
                  <a:lnTo>
                    <a:pt x="128" y="358"/>
                  </a:lnTo>
                  <a:lnTo>
                    <a:pt x="121" y="358"/>
                  </a:lnTo>
                  <a:lnTo>
                    <a:pt x="117" y="360"/>
                  </a:lnTo>
                  <a:lnTo>
                    <a:pt x="109" y="361"/>
                  </a:lnTo>
                  <a:lnTo>
                    <a:pt x="104" y="364"/>
                  </a:lnTo>
                  <a:lnTo>
                    <a:pt x="98" y="366"/>
                  </a:lnTo>
                  <a:lnTo>
                    <a:pt x="91" y="370"/>
                  </a:lnTo>
                  <a:lnTo>
                    <a:pt x="85" y="371"/>
                  </a:lnTo>
                  <a:lnTo>
                    <a:pt x="80" y="376"/>
                  </a:lnTo>
                  <a:lnTo>
                    <a:pt x="71" y="380"/>
                  </a:lnTo>
                  <a:lnTo>
                    <a:pt x="67" y="383"/>
                  </a:lnTo>
                  <a:lnTo>
                    <a:pt x="61" y="385"/>
                  </a:lnTo>
                  <a:lnTo>
                    <a:pt x="55" y="390"/>
                  </a:lnTo>
                  <a:lnTo>
                    <a:pt x="50" y="394"/>
                  </a:lnTo>
                  <a:lnTo>
                    <a:pt x="46" y="398"/>
                  </a:lnTo>
                  <a:lnTo>
                    <a:pt x="41" y="404"/>
                  </a:lnTo>
                  <a:lnTo>
                    <a:pt x="37" y="410"/>
                  </a:lnTo>
                  <a:lnTo>
                    <a:pt x="33" y="414"/>
                  </a:lnTo>
                  <a:lnTo>
                    <a:pt x="30" y="418"/>
                  </a:lnTo>
                  <a:lnTo>
                    <a:pt x="26" y="424"/>
                  </a:lnTo>
                  <a:lnTo>
                    <a:pt x="23" y="430"/>
                  </a:lnTo>
                  <a:lnTo>
                    <a:pt x="20" y="435"/>
                  </a:lnTo>
                  <a:lnTo>
                    <a:pt x="17" y="441"/>
                  </a:lnTo>
                  <a:lnTo>
                    <a:pt x="14" y="448"/>
                  </a:lnTo>
                  <a:lnTo>
                    <a:pt x="13" y="452"/>
                  </a:lnTo>
                  <a:lnTo>
                    <a:pt x="11" y="458"/>
                  </a:lnTo>
                  <a:lnTo>
                    <a:pt x="9" y="465"/>
                  </a:lnTo>
                  <a:lnTo>
                    <a:pt x="7" y="471"/>
                  </a:lnTo>
                  <a:lnTo>
                    <a:pt x="6" y="478"/>
                  </a:lnTo>
                  <a:lnTo>
                    <a:pt x="4" y="484"/>
                  </a:lnTo>
                  <a:lnTo>
                    <a:pt x="3" y="491"/>
                  </a:lnTo>
                  <a:lnTo>
                    <a:pt x="3" y="498"/>
                  </a:lnTo>
                  <a:lnTo>
                    <a:pt x="3" y="504"/>
                  </a:lnTo>
                  <a:lnTo>
                    <a:pt x="1" y="509"/>
                  </a:lnTo>
                  <a:lnTo>
                    <a:pt x="0" y="516"/>
                  </a:lnTo>
                  <a:lnTo>
                    <a:pt x="0" y="523"/>
                  </a:lnTo>
                  <a:lnTo>
                    <a:pt x="0" y="529"/>
                  </a:lnTo>
                  <a:lnTo>
                    <a:pt x="0" y="535"/>
                  </a:lnTo>
                  <a:lnTo>
                    <a:pt x="0" y="542"/>
                  </a:lnTo>
                  <a:lnTo>
                    <a:pt x="1" y="549"/>
                  </a:lnTo>
                  <a:lnTo>
                    <a:pt x="1" y="555"/>
                  </a:lnTo>
                  <a:lnTo>
                    <a:pt x="1" y="560"/>
                  </a:lnTo>
                  <a:lnTo>
                    <a:pt x="3" y="568"/>
                  </a:lnTo>
                  <a:lnTo>
                    <a:pt x="3" y="573"/>
                  </a:lnTo>
                  <a:lnTo>
                    <a:pt x="4" y="580"/>
                  </a:lnTo>
                  <a:lnTo>
                    <a:pt x="4" y="585"/>
                  </a:lnTo>
                  <a:lnTo>
                    <a:pt x="6" y="590"/>
                  </a:lnTo>
                  <a:lnTo>
                    <a:pt x="6" y="596"/>
                  </a:lnTo>
                  <a:lnTo>
                    <a:pt x="7" y="603"/>
                  </a:lnTo>
                  <a:lnTo>
                    <a:pt x="9" y="607"/>
                  </a:lnTo>
                  <a:lnTo>
                    <a:pt x="9" y="613"/>
                  </a:lnTo>
                  <a:lnTo>
                    <a:pt x="10" y="617"/>
                  </a:lnTo>
                  <a:lnTo>
                    <a:pt x="11" y="624"/>
                  </a:lnTo>
                  <a:lnTo>
                    <a:pt x="13" y="629"/>
                  </a:lnTo>
                  <a:lnTo>
                    <a:pt x="14" y="633"/>
                  </a:lnTo>
                  <a:lnTo>
                    <a:pt x="14" y="637"/>
                  </a:lnTo>
                  <a:lnTo>
                    <a:pt x="16" y="643"/>
                  </a:lnTo>
                  <a:lnTo>
                    <a:pt x="17" y="646"/>
                  </a:lnTo>
                  <a:lnTo>
                    <a:pt x="19" y="651"/>
                  </a:lnTo>
                  <a:lnTo>
                    <a:pt x="19" y="654"/>
                  </a:lnTo>
                  <a:lnTo>
                    <a:pt x="20" y="659"/>
                  </a:lnTo>
                  <a:lnTo>
                    <a:pt x="20" y="661"/>
                  </a:lnTo>
                  <a:lnTo>
                    <a:pt x="23" y="664"/>
                  </a:lnTo>
                  <a:lnTo>
                    <a:pt x="23" y="667"/>
                  </a:lnTo>
                  <a:lnTo>
                    <a:pt x="24" y="670"/>
                  </a:lnTo>
                  <a:lnTo>
                    <a:pt x="26" y="673"/>
                  </a:lnTo>
                  <a:lnTo>
                    <a:pt x="27" y="677"/>
                  </a:lnTo>
                  <a:lnTo>
                    <a:pt x="27" y="680"/>
                  </a:lnTo>
                  <a:lnTo>
                    <a:pt x="28" y="680"/>
                  </a:lnTo>
                  <a:close/>
                </a:path>
              </a:pathLst>
            </a:custGeom>
            <a:solidFill>
              <a:srgbClr val="2A40E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72" name="Freeform 11"/>
            <p:cNvSpPr>
              <a:spLocks/>
            </p:cNvSpPr>
            <p:nvPr/>
          </p:nvSpPr>
          <p:spPr bwMode="auto">
            <a:xfrm>
              <a:off x="2044" y="1293"/>
              <a:ext cx="95" cy="137"/>
            </a:xfrm>
            <a:custGeom>
              <a:avLst/>
              <a:gdLst>
                <a:gd name="T0" fmla="*/ 0 w 285"/>
                <a:gd name="T1" fmla="*/ 0 h 411"/>
                <a:gd name="T2" fmla="*/ 0 w 285"/>
                <a:gd name="T3" fmla="*/ 0 h 411"/>
                <a:gd name="T4" fmla="*/ 0 w 285"/>
                <a:gd name="T5" fmla="*/ 0 h 411"/>
                <a:gd name="T6" fmla="*/ 0 w 285"/>
                <a:gd name="T7" fmla="*/ 0 h 411"/>
                <a:gd name="T8" fmla="*/ 0 w 285"/>
                <a:gd name="T9" fmla="*/ 0 h 411"/>
                <a:gd name="T10" fmla="*/ 0 w 285"/>
                <a:gd name="T11" fmla="*/ 0 h 411"/>
                <a:gd name="T12" fmla="*/ 0 w 285"/>
                <a:gd name="T13" fmla="*/ 0 h 411"/>
                <a:gd name="T14" fmla="*/ 0 w 285"/>
                <a:gd name="T15" fmla="*/ 0 h 411"/>
                <a:gd name="T16" fmla="*/ 0 w 285"/>
                <a:gd name="T17" fmla="*/ 0 h 411"/>
                <a:gd name="T18" fmla="*/ 0 w 285"/>
                <a:gd name="T19" fmla="*/ 0 h 411"/>
                <a:gd name="T20" fmla="*/ 0 w 285"/>
                <a:gd name="T21" fmla="*/ 0 h 411"/>
                <a:gd name="T22" fmla="*/ 0 w 285"/>
                <a:gd name="T23" fmla="*/ 0 h 411"/>
                <a:gd name="T24" fmla="*/ 0 w 285"/>
                <a:gd name="T25" fmla="*/ 0 h 411"/>
                <a:gd name="T26" fmla="*/ 0 w 285"/>
                <a:gd name="T27" fmla="*/ 0 h 411"/>
                <a:gd name="T28" fmla="*/ 0 w 285"/>
                <a:gd name="T29" fmla="*/ 0 h 411"/>
                <a:gd name="T30" fmla="*/ 0 w 285"/>
                <a:gd name="T31" fmla="*/ 0 h 411"/>
                <a:gd name="T32" fmla="*/ 0 w 285"/>
                <a:gd name="T33" fmla="*/ 0 h 411"/>
                <a:gd name="T34" fmla="*/ 0 w 285"/>
                <a:gd name="T35" fmla="*/ 0 h 411"/>
                <a:gd name="T36" fmla="*/ 0 w 285"/>
                <a:gd name="T37" fmla="*/ 0 h 411"/>
                <a:gd name="T38" fmla="*/ 0 w 285"/>
                <a:gd name="T39" fmla="*/ 0 h 411"/>
                <a:gd name="T40" fmla="*/ 0 w 285"/>
                <a:gd name="T41" fmla="*/ 0 h 411"/>
                <a:gd name="T42" fmla="*/ 0 w 285"/>
                <a:gd name="T43" fmla="*/ 0 h 411"/>
                <a:gd name="T44" fmla="*/ 0 w 285"/>
                <a:gd name="T45" fmla="*/ 0 h 411"/>
                <a:gd name="T46" fmla="*/ 0 w 285"/>
                <a:gd name="T47" fmla="*/ 0 h 411"/>
                <a:gd name="T48" fmla="*/ 0 w 285"/>
                <a:gd name="T49" fmla="*/ 0 h 411"/>
                <a:gd name="T50" fmla="*/ 0 w 285"/>
                <a:gd name="T51" fmla="*/ 0 h 411"/>
                <a:gd name="T52" fmla="*/ 0 w 285"/>
                <a:gd name="T53" fmla="*/ 0 h 411"/>
                <a:gd name="T54" fmla="*/ 0 w 285"/>
                <a:gd name="T55" fmla="*/ 0 h 411"/>
                <a:gd name="T56" fmla="*/ 0 w 285"/>
                <a:gd name="T57" fmla="*/ 0 h 411"/>
                <a:gd name="T58" fmla="*/ 0 w 285"/>
                <a:gd name="T59" fmla="*/ 0 h 411"/>
                <a:gd name="T60" fmla="*/ 0 w 285"/>
                <a:gd name="T61" fmla="*/ 0 h 411"/>
                <a:gd name="T62" fmla="*/ 0 w 285"/>
                <a:gd name="T63" fmla="*/ 0 h 411"/>
                <a:gd name="T64" fmla="*/ 0 w 285"/>
                <a:gd name="T65" fmla="*/ 0 h 411"/>
                <a:gd name="T66" fmla="*/ 0 w 285"/>
                <a:gd name="T67" fmla="*/ 0 h 411"/>
                <a:gd name="T68" fmla="*/ 0 w 285"/>
                <a:gd name="T69" fmla="*/ 0 h 411"/>
                <a:gd name="T70" fmla="*/ 0 w 285"/>
                <a:gd name="T71" fmla="*/ 0 h 411"/>
                <a:gd name="T72" fmla="*/ 0 w 285"/>
                <a:gd name="T73" fmla="*/ 0 h 411"/>
                <a:gd name="T74" fmla="*/ 0 w 285"/>
                <a:gd name="T75" fmla="*/ 0 h 411"/>
                <a:gd name="T76" fmla="*/ 0 w 285"/>
                <a:gd name="T77" fmla="*/ 0 h 411"/>
                <a:gd name="T78" fmla="*/ 0 w 285"/>
                <a:gd name="T79" fmla="*/ 0 h 411"/>
                <a:gd name="T80" fmla="*/ 0 w 285"/>
                <a:gd name="T81" fmla="*/ 0 h 411"/>
                <a:gd name="T82" fmla="*/ 0 w 285"/>
                <a:gd name="T83" fmla="*/ 0 h 411"/>
                <a:gd name="T84" fmla="*/ 0 w 285"/>
                <a:gd name="T85" fmla="*/ 0 h 411"/>
                <a:gd name="T86" fmla="*/ 0 w 285"/>
                <a:gd name="T87" fmla="*/ 0 h 411"/>
                <a:gd name="T88" fmla="*/ 0 w 285"/>
                <a:gd name="T89" fmla="*/ 0 h 411"/>
                <a:gd name="T90" fmla="*/ 0 w 285"/>
                <a:gd name="T91" fmla="*/ 0 h 411"/>
                <a:gd name="T92" fmla="*/ 0 w 285"/>
                <a:gd name="T93" fmla="*/ 0 h 411"/>
                <a:gd name="T94" fmla="*/ 0 w 285"/>
                <a:gd name="T95" fmla="*/ 0 h 411"/>
                <a:gd name="T96" fmla="*/ 0 w 285"/>
                <a:gd name="T97" fmla="*/ 0 h 411"/>
                <a:gd name="T98" fmla="*/ 0 w 285"/>
                <a:gd name="T99" fmla="*/ 0 h 411"/>
                <a:gd name="T100" fmla="*/ 0 w 285"/>
                <a:gd name="T101" fmla="*/ 0 h 411"/>
                <a:gd name="T102" fmla="*/ 0 w 285"/>
                <a:gd name="T103" fmla="*/ 0 h 411"/>
                <a:gd name="T104" fmla="*/ 0 w 285"/>
                <a:gd name="T105" fmla="*/ 0 h 411"/>
                <a:gd name="T106" fmla="*/ 0 w 285"/>
                <a:gd name="T107" fmla="*/ 0 h 411"/>
                <a:gd name="T108" fmla="*/ 0 w 285"/>
                <a:gd name="T109" fmla="*/ 0 h 411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85"/>
                <a:gd name="T166" fmla="*/ 0 h 411"/>
                <a:gd name="T167" fmla="*/ 285 w 285"/>
                <a:gd name="T168" fmla="*/ 411 h 411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85" h="411">
                  <a:moveTo>
                    <a:pt x="284" y="330"/>
                  </a:moveTo>
                  <a:lnTo>
                    <a:pt x="283" y="326"/>
                  </a:lnTo>
                  <a:lnTo>
                    <a:pt x="283" y="323"/>
                  </a:lnTo>
                  <a:lnTo>
                    <a:pt x="281" y="319"/>
                  </a:lnTo>
                  <a:lnTo>
                    <a:pt x="280" y="316"/>
                  </a:lnTo>
                  <a:lnTo>
                    <a:pt x="278" y="312"/>
                  </a:lnTo>
                  <a:lnTo>
                    <a:pt x="277" y="307"/>
                  </a:lnTo>
                  <a:lnTo>
                    <a:pt x="275" y="303"/>
                  </a:lnTo>
                  <a:lnTo>
                    <a:pt x="274" y="300"/>
                  </a:lnTo>
                  <a:lnTo>
                    <a:pt x="270" y="294"/>
                  </a:lnTo>
                  <a:lnTo>
                    <a:pt x="268" y="290"/>
                  </a:lnTo>
                  <a:lnTo>
                    <a:pt x="266" y="286"/>
                  </a:lnTo>
                  <a:lnTo>
                    <a:pt x="264" y="282"/>
                  </a:lnTo>
                  <a:lnTo>
                    <a:pt x="261" y="277"/>
                  </a:lnTo>
                  <a:lnTo>
                    <a:pt x="258" y="272"/>
                  </a:lnTo>
                  <a:lnTo>
                    <a:pt x="256" y="267"/>
                  </a:lnTo>
                  <a:lnTo>
                    <a:pt x="254" y="263"/>
                  </a:lnTo>
                  <a:lnTo>
                    <a:pt x="251" y="257"/>
                  </a:lnTo>
                  <a:lnTo>
                    <a:pt x="248" y="253"/>
                  </a:lnTo>
                  <a:lnTo>
                    <a:pt x="246" y="248"/>
                  </a:lnTo>
                  <a:lnTo>
                    <a:pt x="243" y="243"/>
                  </a:lnTo>
                  <a:lnTo>
                    <a:pt x="240" y="239"/>
                  </a:lnTo>
                  <a:lnTo>
                    <a:pt x="239" y="235"/>
                  </a:lnTo>
                  <a:lnTo>
                    <a:pt x="236" y="230"/>
                  </a:lnTo>
                  <a:lnTo>
                    <a:pt x="233" y="226"/>
                  </a:lnTo>
                  <a:lnTo>
                    <a:pt x="231" y="222"/>
                  </a:lnTo>
                  <a:lnTo>
                    <a:pt x="230" y="219"/>
                  </a:lnTo>
                  <a:lnTo>
                    <a:pt x="229" y="213"/>
                  </a:lnTo>
                  <a:lnTo>
                    <a:pt x="227" y="212"/>
                  </a:lnTo>
                  <a:lnTo>
                    <a:pt x="224" y="206"/>
                  </a:lnTo>
                  <a:lnTo>
                    <a:pt x="224" y="203"/>
                  </a:lnTo>
                  <a:lnTo>
                    <a:pt x="224" y="201"/>
                  </a:lnTo>
                  <a:lnTo>
                    <a:pt x="224" y="199"/>
                  </a:lnTo>
                  <a:lnTo>
                    <a:pt x="223" y="196"/>
                  </a:lnTo>
                  <a:lnTo>
                    <a:pt x="223" y="193"/>
                  </a:lnTo>
                  <a:lnTo>
                    <a:pt x="223" y="191"/>
                  </a:lnTo>
                  <a:lnTo>
                    <a:pt x="223" y="188"/>
                  </a:lnTo>
                  <a:lnTo>
                    <a:pt x="223" y="184"/>
                  </a:lnTo>
                  <a:lnTo>
                    <a:pt x="224" y="181"/>
                  </a:lnTo>
                  <a:lnTo>
                    <a:pt x="224" y="175"/>
                  </a:lnTo>
                  <a:lnTo>
                    <a:pt x="226" y="172"/>
                  </a:lnTo>
                  <a:lnTo>
                    <a:pt x="226" y="168"/>
                  </a:lnTo>
                  <a:lnTo>
                    <a:pt x="227" y="164"/>
                  </a:lnTo>
                  <a:lnTo>
                    <a:pt x="229" y="159"/>
                  </a:lnTo>
                  <a:lnTo>
                    <a:pt x="230" y="154"/>
                  </a:lnTo>
                  <a:lnTo>
                    <a:pt x="230" y="148"/>
                  </a:lnTo>
                  <a:lnTo>
                    <a:pt x="230" y="144"/>
                  </a:lnTo>
                  <a:lnTo>
                    <a:pt x="231" y="138"/>
                  </a:lnTo>
                  <a:lnTo>
                    <a:pt x="233" y="134"/>
                  </a:lnTo>
                  <a:lnTo>
                    <a:pt x="233" y="131"/>
                  </a:lnTo>
                  <a:lnTo>
                    <a:pt x="233" y="127"/>
                  </a:lnTo>
                  <a:lnTo>
                    <a:pt x="233" y="124"/>
                  </a:lnTo>
                  <a:lnTo>
                    <a:pt x="233" y="121"/>
                  </a:lnTo>
                  <a:lnTo>
                    <a:pt x="233" y="118"/>
                  </a:lnTo>
                  <a:lnTo>
                    <a:pt x="233" y="115"/>
                  </a:lnTo>
                  <a:lnTo>
                    <a:pt x="233" y="112"/>
                  </a:lnTo>
                  <a:lnTo>
                    <a:pt x="233" y="111"/>
                  </a:lnTo>
                  <a:lnTo>
                    <a:pt x="233" y="107"/>
                  </a:lnTo>
                  <a:lnTo>
                    <a:pt x="233" y="104"/>
                  </a:lnTo>
                  <a:lnTo>
                    <a:pt x="233" y="101"/>
                  </a:lnTo>
                  <a:lnTo>
                    <a:pt x="233" y="98"/>
                  </a:lnTo>
                  <a:lnTo>
                    <a:pt x="233" y="95"/>
                  </a:lnTo>
                  <a:lnTo>
                    <a:pt x="233" y="92"/>
                  </a:lnTo>
                  <a:lnTo>
                    <a:pt x="231" y="90"/>
                  </a:lnTo>
                  <a:lnTo>
                    <a:pt x="231" y="87"/>
                  </a:lnTo>
                  <a:lnTo>
                    <a:pt x="230" y="84"/>
                  </a:lnTo>
                  <a:lnTo>
                    <a:pt x="230" y="81"/>
                  </a:lnTo>
                  <a:lnTo>
                    <a:pt x="230" y="78"/>
                  </a:lnTo>
                  <a:lnTo>
                    <a:pt x="229" y="75"/>
                  </a:lnTo>
                  <a:lnTo>
                    <a:pt x="227" y="71"/>
                  </a:lnTo>
                  <a:lnTo>
                    <a:pt x="226" y="68"/>
                  </a:lnTo>
                  <a:lnTo>
                    <a:pt x="224" y="65"/>
                  </a:lnTo>
                  <a:lnTo>
                    <a:pt x="224" y="63"/>
                  </a:lnTo>
                  <a:lnTo>
                    <a:pt x="223" y="60"/>
                  </a:lnTo>
                  <a:lnTo>
                    <a:pt x="221" y="57"/>
                  </a:lnTo>
                  <a:lnTo>
                    <a:pt x="220" y="54"/>
                  </a:lnTo>
                  <a:lnTo>
                    <a:pt x="219" y="51"/>
                  </a:lnTo>
                  <a:lnTo>
                    <a:pt x="214" y="47"/>
                  </a:lnTo>
                  <a:lnTo>
                    <a:pt x="210" y="40"/>
                  </a:lnTo>
                  <a:lnTo>
                    <a:pt x="207" y="37"/>
                  </a:lnTo>
                  <a:lnTo>
                    <a:pt x="206" y="34"/>
                  </a:lnTo>
                  <a:lnTo>
                    <a:pt x="203" y="31"/>
                  </a:lnTo>
                  <a:lnTo>
                    <a:pt x="202" y="30"/>
                  </a:lnTo>
                  <a:lnTo>
                    <a:pt x="196" y="26"/>
                  </a:lnTo>
                  <a:lnTo>
                    <a:pt x="190" y="21"/>
                  </a:lnTo>
                  <a:lnTo>
                    <a:pt x="186" y="19"/>
                  </a:lnTo>
                  <a:lnTo>
                    <a:pt x="183" y="16"/>
                  </a:lnTo>
                  <a:lnTo>
                    <a:pt x="180" y="16"/>
                  </a:lnTo>
                  <a:lnTo>
                    <a:pt x="177" y="13"/>
                  </a:lnTo>
                  <a:lnTo>
                    <a:pt x="175" y="11"/>
                  </a:lnTo>
                  <a:lnTo>
                    <a:pt x="173" y="10"/>
                  </a:lnTo>
                  <a:lnTo>
                    <a:pt x="170" y="9"/>
                  </a:lnTo>
                  <a:lnTo>
                    <a:pt x="167" y="7"/>
                  </a:lnTo>
                  <a:lnTo>
                    <a:pt x="163" y="7"/>
                  </a:lnTo>
                  <a:lnTo>
                    <a:pt x="160" y="6"/>
                  </a:lnTo>
                  <a:lnTo>
                    <a:pt x="158" y="4"/>
                  </a:lnTo>
                  <a:lnTo>
                    <a:pt x="155" y="4"/>
                  </a:lnTo>
                  <a:lnTo>
                    <a:pt x="150" y="3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0" y="1"/>
                  </a:lnTo>
                  <a:lnTo>
                    <a:pt x="138" y="1"/>
                  </a:lnTo>
                  <a:lnTo>
                    <a:pt x="133" y="0"/>
                  </a:lnTo>
                  <a:lnTo>
                    <a:pt x="131" y="0"/>
                  </a:lnTo>
                  <a:lnTo>
                    <a:pt x="128" y="0"/>
                  </a:lnTo>
                  <a:lnTo>
                    <a:pt x="123" y="0"/>
                  </a:lnTo>
                  <a:lnTo>
                    <a:pt x="121" y="0"/>
                  </a:lnTo>
                  <a:lnTo>
                    <a:pt x="118" y="0"/>
                  </a:lnTo>
                  <a:lnTo>
                    <a:pt x="115" y="1"/>
                  </a:lnTo>
                  <a:lnTo>
                    <a:pt x="111" y="1"/>
                  </a:lnTo>
                  <a:lnTo>
                    <a:pt x="108" y="1"/>
                  </a:lnTo>
                  <a:lnTo>
                    <a:pt x="104" y="1"/>
                  </a:lnTo>
                  <a:lnTo>
                    <a:pt x="101" y="3"/>
                  </a:lnTo>
                  <a:lnTo>
                    <a:pt x="96" y="3"/>
                  </a:lnTo>
                  <a:lnTo>
                    <a:pt x="94" y="3"/>
                  </a:lnTo>
                  <a:lnTo>
                    <a:pt x="91" y="4"/>
                  </a:lnTo>
                  <a:lnTo>
                    <a:pt x="88" y="4"/>
                  </a:lnTo>
                  <a:lnTo>
                    <a:pt x="84" y="6"/>
                  </a:lnTo>
                  <a:lnTo>
                    <a:pt x="81" y="7"/>
                  </a:lnTo>
                  <a:lnTo>
                    <a:pt x="77" y="7"/>
                  </a:lnTo>
                  <a:lnTo>
                    <a:pt x="74" y="9"/>
                  </a:lnTo>
                  <a:lnTo>
                    <a:pt x="71" y="10"/>
                  </a:lnTo>
                  <a:lnTo>
                    <a:pt x="68" y="11"/>
                  </a:lnTo>
                  <a:lnTo>
                    <a:pt x="65" y="13"/>
                  </a:lnTo>
                  <a:lnTo>
                    <a:pt x="62" y="16"/>
                  </a:lnTo>
                  <a:lnTo>
                    <a:pt x="59" y="16"/>
                  </a:lnTo>
                  <a:lnTo>
                    <a:pt x="57" y="19"/>
                  </a:lnTo>
                  <a:lnTo>
                    <a:pt x="52" y="20"/>
                  </a:lnTo>
                  <a:lnTo>
                    <a:pt x="50" y="23"/>
                  </a:lnTo>
                  <a:lnTo>
                    <a:pt x="45" y="26"/>
                  </a:lnTo>
                  <a:lnTo>
                    <a:pt x="40" y="30"/>
                  </a:lnTo>
                  <a:lnTo>
                    <a:pt x="34" y="34"/>
                  </a:lnTo>
                  <a:lnTo>
                    <a:pt x="30" y="38"/>
                  </a:lnTo>
                  <a:lnTo>
                    <a:pt x="25" y="44"/>
                  </a:lnTo>
                  <a:lnTo>
                    <a:pt x="21" y="50"/>
                  </a:lnTo>
                  <a:lnTo>
                    <a:pt x="17" y="54"/>
                  </a:lnTo>
                  <a:lnTo>
                    <a:pt x="14" y="60"/>
                  </a:lnTo>
                  <a:lnTo>
                    <a:pt x="11" y="64"/>
                  </a:lnTo>
                  <a:lnTo>
                    <a:pt x="8" y="70"/>
                  </a:lnTo>
                  <a:lnTo>
                    <a:pt x="7" y="73"/>
                  </a:lnTo>
                  <a:lnTo>
                    <a:pt x="5" y="75"/>
                  </a:lnTo>
                  <a:lnTo>
                    <a:pt x="5" y="78"/>
                  </a:lnTo>
                  <a:lnTo>
                    <a:pt x="5" y="81"/>
                  </a:lnTo>
                  <a:lnTo>
                    <a:pt x="3" y="84"/>
                  </a:lnTo>
                  <a:lnTo>
                    <a:pt x="3" y="85"/>
                  </a:lnTo>
                  <a:lnTo>
                    <a:pt x="3" y="90"/>
                  </a:lnTo>
                  <a:lnTo>
                    <a:pt x="3" y="92"/>
                  </a:lnTo>
                  <a:lnTo>
                    <a:pt x="0" y="97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5"/>
                  </a:lnTo>
                  <a:lnTo>
                    <a:pt x="0" y="120"/>
                  </a:lnTo>
                  <a:lnTo>
                    <a:pt x="1" y="125"/>
                  </a:lnTo>
                  <a:lnTo>
                    <a:pt x="3" y="131"/>
                  </a:lnTo>
                  <a:lnTo>
                    <a:pt x="4" y="135"/>
                  </a:lnTo>
                  <a:lnTo>
                    <a:pt x="5" y="141"/>
                  </a:lnTo>
                  <a:lnTo>
                    <a:pt x="7" y="145"/>
                  </a:lnTo>
                  <a:lnTo>
                    <a:pt x="8" y="149"/>
                  </a:lnTo>
                  <a:lnTo>
                    <a:pt x="11" y="154"/>
                  </a:lnTo>
                  <a:lnTo>
                    <a:pt x="13" y="159"/>
                  </a:lnTo>
                  <a:lnTo>
                    <a:pt x="14" y="165"/>
                  </a:lnTo>
                  <a:lnTo>
                    <a:pt x="17" y="168"/>
                  </a:lnTo>
                  <a:lnTo>
                    <a:pt x="21" y="172"/>
                  </a:lnTo>
                  <a:lnTo>
                    <a:pt x="23" y="176"/>
                  </a:lnTo>
                  <a:lnTo>
                    <a:pt x="27" y="181"/>
                  </a:lnTo>
                  <a:lnTo>
                    <a:pt x="30" y="185"/>
                  </a:lnTo>
                  <a:lnTo>
                    <a:pt x="34" y="188"/>
                  </a:lnTo>
                  <a:lnTo>
                    <a:pt x="37" y="191"/>
                  </a:lnTo>
                  <a:lnTo>
                    <a:pt x="40" y="193"/>
                  </a:lnTo>
                  <a:lnTo>
                    <a:pt x="44" y="196"/>
                  </a:lnTo>
                  <a:lnTo>
                    <a:pt x="47" y="199"/>
                  </a:lnTo>
                  <a:lnTo>
                    <a:pt x="50" y="201"/>
                  </a:lnTo>
                  <a:lnTo>
                    <a:pt x="55" y="203"/>
                  </a:lnTo>
                  <a:lnTo>
                    <a:pt x="58" y="205"/>
                  </a:lnTo>
                  <a:lnTo>
                    <a:pt x="59" y="206"/>
                  </a:lnTo>
                  <a:lnTo>
                    <a:pt x="62" y="209"/>
                  </a:lnTo>
                  <a:lnTo>
                    <a:pt x="65" y="212"/>
                  </a:lnTo>
                  <a:lnTo>
                    <a:pt x="68" y="212"/>
                  </a:lnTo>
                  <a:lnTo>
                    <a:pt x="71" y="213"/>
                  </a:lnTo>
                  <a:lnTo>
                    <a:pt x="75" y="216"/>
                  </a:lnTo>
                  <a:lnTo>
                    <a:pt x="79" y="219"/>
                  </a:lnTo>
                  <a:lnTo>
                    <a:pt x="84" y="220"/>
                  </a:lnTo>
                  <a:lnTo>
                    <a:pt x="86" y="222"/>
                  </a:lnTo>
                  <a:lnTo>
                    <a:pt x="89" y="225"/>
                  </a:lnTo>
                  <a:lnTo>
                    <a:pt x="92" y="228"/>
                  </a:lnTo>
                  <a:lnTo>
                    <a:pt x="95" y="230"/>
                  </a:lnTo>
                  <a:lnTo>
                    <a:pt x="98" y="233"/>
                  </a:lnTo>
                  <a:lnTo>
                    <a:pt x="99" y="238"/>
                  </a:lnTo>
                  <a:lnTo>
                    <a:pt x="102" y="243"/>
                  </a:lnTo>
                  <a:lnTo>
                    <a:pt x="104" y="246"/>
                  </a:lnTo>
                  <a:lnTo>
                    <a:pt x="105" y="249"/>
                  </a:lnTo>
                  <a:lnTo>
                    <a:pt x="105" y="252"/>
                  </a:lnTo>
                  <a:lnTo>
                    <a:pt x="108" y="256"/>
                  </a:lnTo>
                  <a:lnTo>
                    <a:pt x="109" y="259"/>
                  </a:lnTo>
                  <a:lnTo>
                    <a:pt x="109" y="265"/>
                  </a:lnTo>
                  <a:lnTo>
                    <a:pt x="111" y="269"/>
                  </a:lnTo>
                  <a:lnTo>
                    <a:pt x="113" y="275"/>
                  </a:lnTo>
                  <a:lnTo>
                    <a:pt x="115" y="279"/>
                  </a:lnTo>
                  <a:lnTo>
                    <a:pt x="116" y="283"/>
                  </a:lnTo>
                  <a:lnTo>
                    <a:pt x="118" y="286"/>
                  </a:lnTo>
                  <a:lnTo>
                    <a:pt x="118" y="289"/>
                  </a:lnTo>
                  <a:lnTo>
                    <a:pt x="119" y="293"/>
                  </a:lnTo>
                  <a:lnTo>
                    <a:pt x="121" y="296"/>
                  </a:lnTo>
                  <a:lnTo>
                    <a:pt x="122" y="297"/>
                  </a:lnTo>
                  <a:lnTo>
                    <a:pt x="123" y="302"/>
                  </a:lnTo>
                  <a:lnTo>
                    <a:pt x="123" y="304"/>
                  </a:lnTo>
                  <a:lnTo>
                    <a:pt x="125" y="307"/>
                  </a:lnTo>
                  <a:lnTo>
                    <a:pt x="126" y="310"/>
                  </a:lnTo>
                  <a:lnTo>
                    <a:pt x="128" y="313"/>
                  </a:lnTo>
                  <a:lnTo>
                    <a:pt x="129" y="317"/>
                  </a:lnTo>
                  <a:lnTo>
                    <a:pt x="131" y="320"/>
                  </a:lnTo>
                  <a:lnTo>
                    <a:pt x="131" y="324"/>
                  </a:lnTo>
                  <a:lnTo>
                    <a:pt x="133" y="327"/>
                  </a:lnTo>
                  <a:lnTo>
                    <a:pt x="136" y="330"/>
                  </a:lnTo>
                  <a:lnTo>
                    <a:pt x="136" y="331"/>
                  </a:lnTo>
                  <a:lnTo>
                    <a:pt x="139" y="334"/>
                  </a:lnTo>
                  <a:lnTo>
                    <a:pt x="140" y="337"/>
                  </a:lnTo>
                  <a:lnTo>
                    <a:pt x="140" y="341"/>
                  </a:lnTo>
                  <a:lnTo>
                    <a:pt x="143" y="344"/>
                  </a:lnTo>
                  <a:lnTo>
                    <a:pt x="145" y="347"/>
                  </a:lnTo>
                  <a:lnTo>
                    <a:pt x="146" y="350"/>
                  </a:lnTo>
                  <a:lnTo>
                    <a:pt x="148" y="354"/>
                  </a:lnTo>
                  <a:lnTo>
                    <a:pt x="150" y="357"/>
                  </a:lnTo>
                  <a:lnTo>
                    <a:pt x="152" y="358"/>
                  </a:lnTo>
                  <a:lnTo>
                    <a:pt x="153" y="363"/>
                  </a:lnTo>
                  <a:lnTo>
                    <a:pt x="155" y="364"/>
                  </a:lnTo>
                  <a:lnTo>
                    <a:pt x="158" y="367"/>
                  </a:lnTo>
                  <a:lnTo>
                    <a:pt x="160" y="374"/>
                  </a:lnTo>
                  <a:lnTo>
                    <a:pt x="166" y="378"/>
                  </a:lnTo>
                  <a:lnTo>
                    <a:pt x="170" y="384"/>
                  </a:lnTo>
                  <a:lnTo>
                    <a:pt x="175" y="388"/>
                  </a:lnTo>
                  <a:lnTo>
                    <a:pt x="179" y="393"/>
                  </a:lnTo>
                  <a:lnTo>
                    <a:pt x="183" y="395"/>
                  </a:lnTo>
                  <a:lnTo>
                    <a:pt x="187" y="400"/>
                  </a:lnTo>
                  <a:lnTo>
                    <a:pt x="193" y="403"/>
                  </a:lnTo>
                  <a:lnTo>
                    <a:pt x="199" y="405"/>
                  </a:lnTo>
                  <a:lnTo>
                    <a:pt x="204" y="408"/>
                  </a:lnTo>
                  <a:lnTo>
                    <a:pt x="207" y="408"/>
                  </a:lnTo>
                  <a:lnTo>
                    <a:pt x="209" y="410"/>
                  </a:lnTo>
                  <a:lnTo>
                    <a:pt x="212" y="411"/>
                  </a:lnTo>
                  <a:lnTo>
                    <a:pt x="214" y="411"/>
                  </a:lnTo>
                  <a:lnTo>
                    <a:pt x="220" y="411"/>
                  </a:lnTo>
                  <a:lnTo>
                    <a:pt x="224" y="411"/>
                  </a:lnTo>
                  <a:lnTo>
                    <a:pt x="230" y="411"/>
                  </a:lnTo>
                  <a:lnTo>
                    <a:pt x="234" y="411"/>
                  </a:lnTo>
                  <a:lnTo>
                    <a:pt x="239" y="410"/>
                  </a:lnTo>
                  <a:lnTo>
                    <a:pt x="244" y="408"/>
                  </a:lnTo>
                  <a:lnTo>
                    <a:pt x="248" y="408"/>
                  </a:lnTo>
                  <a:lnTo>
                    <a:pt x="251" y="407"/>
                  </a:lnTo>
                  <a:lnTo>
                    <a:pt x="254" y="404"/>
                  </a:lnTo>
                  <a:lnTo>
                    <a:pt x="257" y="403"/>
                  </a:lnTo>
                  <a:lnTo>
                    <a:pt x="261" y="398"/>
                  </a:lnTo>
                  <a:lnTo>
                    <a:pt x="264" y="395"/>
                  </a:lnTo>
                  <a:lnTo>
                    <a:pt x="267" y="393"/>
                  </a:lnTo>
                  <a:lnTo>
                    <a:pt x="268" y="390"/>
                  </a:lnTo>
                  <a:lnTo>
                    <a:pt x="271" y="387"/>
                  </a:lnTo>
                  <a:lnTo>
                    <a:pt x="274" y="384"/>
                  </a:lnTo>
                  <a:lnTo>
                    <a:pt x="275" y="381"/>
                  </a:lnTo>
                  <a:lnTo>
                    <a:pt x="277" y="377"/>
                  </a:lnTo>
                  <a:lnTo>
                    <a:pt x="278" y="374"/>
                  </a:lnTo>
                  <a:lnTo>
                    <a:pt x="280" y="370"/>
                  </a:lnTo>
                  <a:lnTo>
                    <a:pt x="280" y="366"/>
                  </a:lnTo>
                  <a:lnTo>
                    <a:pt x="281" y="363"/>
                  </a:lnTo>
                  <a:lnTo>
                    <a:pt x="283" y="358"/>
                  </a:lnTo>
                  <a:lnTo>
                    <a:pt x="284" y="356"/>
                  </a:lnTo>
                  <a:lnTo>
                    <a:pt x="284" y="351"/>
                  </a:lnTo>
                  <a:lnTo>
                    <a:pt x="284" y="348"/>
                  </a:lnTo>
                  <a:lnTo>
                    <a:pt x="284" y="344"/>
                  </a:lnTo>
                  <a:lnTo>
                    <a:pt x="285" y="341"/>
                  </a:lnTo>
                  <a:lnTo>
                    <a:pt x="284" y="337"/>
                  </a:lnTo>
                  <a:lnTo>
                    <a:pt x="284" y="334"/>
                  </a:lnTo>
                  <a:lnTo>
                    <a:pt x="284" y="331"/>
                  </a:lnTo>
                  <a:lnTo>
                    <a:pt x="284" y="33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73" name="Freeform 12"/>
            <p:cNvSpPr>
              <a:spLocks/>
            </p:cNvSpPr>
            <p:nvPr/>
          </p:nvSpPr>
          <p:spPr bwMode="auto">
            <a:xfrm>
              <a:off x="1776" y="912"/>
              <a:ext cx="314" cy="278"/>
            </a:xfrm>
            <a:custGeom>
              <a:avLst/>
              <a:gdLst>
                <a:gd name="T0" fmla="*/ 0 w 942"/>
                <a:gd name="T1" fmla="*/ 0 h 833"/>
                <a:gd name="T2" fmla="*/ 0 w 942"/>
                <a:gd name="T3" fmla="*/ 0 h 833"/>
                <a:gd name="T4" fmla="*/ 0 w 942"/>
                <a:gd name="T5" fmla="*/ 0 h 833"/>
                <a:gd name="T6" fmla="*/ 0 w 942"/>
                <a:gd name="T7" fmla="*/ 0 h 833"/>
                <a:gd name="T8" fmla="*/ 0 w 942"/>
                <a:gd name="T9" fmla="*/ 0 h 833"/>
                <a:gd name="T10" fmla="*/ 0 w 942"/>
                <a:gd name="T11" fmla="*/ 0 h 833"/>
                <a:gd name="T12" fmla="*/ 0 w 942"/>
                <a:gd name="T13" fmla="*/ 0 h 833"/>
                <a:gd name="T14" fmla="*/ 0 w 942"/>
                <a:gd name="T15" fmla="*/ 0 h 833"/>
                <a:gd name="T16" fmla="*/ 0 w 942"/>
                <a:gd name="T17" fmla="*/ 0 h 833"/>
                <a:gd name="T18" fmla="*/ 0 w 942"/>
                <a:gd name="T19" fmla="*/ 0 h 833"/>
                <a:gd name="T20" fmla="*/ 0 w 942"/>
                <a:gd name="T21" fmla="*/ 0 h 833"/>
                <a:gd name="T22" fmla="*/ 0 w 942"/>
                <a:gd name="T23" fmla="*/ 0 h 833"/>
                <a:gd name="T24" fmla="*/ 0 w 942"/>
                <a:gd name="T25" fmla="*/ 0 h 833"/>
                <a:gd name="T26" fmla="*/ 0 w 942"/>
                <a:gd name="T27" fmla="*/ 0 h 833"/>
                <a:gd name="T28" fmla="*/ 0 w 942"/>
                <a:gd name="T29" fmla="*/ 0 h 833"/>
                <a:gd name="T30" fmla="*/ 0 w 942"/>
                <a:gd name="T31" fmla="*/ 0 h 833"/>
                <a:gd name="T32" fmla="*/ 0 w 942"/>
                <a:gd name="T33" fmla="*/ 0 h 833"/>
                <a:gd name="T34" fmla="*/ 0 w 942"/>
                <a:gd name="T35" fmla="*/ 0 h 833"/>
                <a:gd name="T36" fmla="*/ 0 w 942"/>
                <a:gd name="T37" fmla="*/ 0 h 833"/>
                <a:gd name="T38" fmla="*/ 0 w 942"/>
                <a:gd name="T39" fmla="*/ 0 h 833"/>
                <a:gd name="T40" fmla="*/ 0 w 942"/>
                <a:gd name="T41" fmla="*/ 0 h 833"/>
                <a:gd name="T42" fmla="*/ 0 w 942"/>
                <a:gd name="T43" fmla="*/ 0 h 833"/>
                <a:gd name="T44" fmla="*/ 0 w 942"/>
                <a:gd name="T45" fmla="*/ 0 h 833"/>
                <a:gd name="T46" fmla="*/ 0 w 942"/>
                <a:gd name="T47" fmla="*/ 0 h 833"/>
                <a:gd name="T48" fmla="*/ 0 w 942"/>
                <a:gd name="T49" fmla="*/ 0 h 833"/>
                <a:gd name="T50" fmla="*/ 0 w 942"/>
                <a:gd name="T51" fmla="*/ 0 h 833"/>
                <a:gd name="T52" fmla="*/ 0 w 942"/>
                <a:gd name="T53" fmla="*/ 0 h 833"/>
                <a:gd name="T54" fmla="*/ 0 w 942"/>
                <a:gd name="T55" fmla="*/ 0 h 833"/>
                <a:gd name="T56" fmla="*/ 0 w 942"/>
                <a:gd name="T57" fmla="*/ 0 h 833"/>
                <a:gd name="T58" fmla="*/ 0 w 942"/>
                <a:gd name="T59" fmla="*/ 0 h 833"/>
                <a:gd name="T60" fmla="*/ 0 w 942"/>
                <a:gd name="T61" fmla="*/ 0 h 833"/>
                <a:gd name="T62" fmla="*/ 0 w 942"/>
                <a:gd name="T63" fmla="*/ 0 h 833"/>
                <a:gd name="T64" fmla="*/ 0 w 942"/>
                <a:gd name="T65" fmla="*/ 0 h 833"/>
                <a:gd name="T66" fmla="*/ 0 w 942"/>
                <a:gd name="T67" fmla="*/ 0 h 833"/>
                <a:gd name="T68" fmla="*/ 0 w 942"/>
                <a:gd name="T69" fmla="*/ 0 h 833"/>
                <a:gd name="T70" fmla="*/ 0 w 942"/>
                <a:gd name="T71" fmla="*/ 0 h 833"/>
                <a:gd name="T72" fmla="*/ 0 w 942"/>
                <a:gd name="T73" fmla="*/ 0 h 833"/>
                <a:gd name="T74" fmla="*/ 0 w 942"/>
                <a:gd name="T75" fmla="*/ 0 h 833"/>
                <a:gd name="T76" fmla="*/ 0 w 942"/>
                <a:gd name="T77" fmla="*/ 0 h 833"/>
                <a:gd name="T78" fmla="*/ 0 w 942"/>
                <a:gd name="T79" fmla="*/ 0 h 833"/>
                <a:gd name="T80" fmla="*/ 0 w 942"/>
                <a:gd name="T81" fmla="*/ 0 h 833"/>
                <a:gd name="T82" fmla="*/ 0 w 942"/>
                <a:gd name="T83" fmla="*/ 0 h 833"/>
                <a:gd name="T84" fmla="*/ 0 w 942"/>
                <a:gd name="T85" fmla="*/ 0 h 833"/>
                <a:gd name="T86" fmla="*/ 0 w 942"/>
                <a:gd name="T87" fmla="*/ 0 h 833"/>
                <a:gd name="T88" fmla="*/ 0 w 942"/>
                <a:gd name="T89" fmla="*/ 0 h 833"/>
                <a:gd name="T90" fmla="*/ 0 w 942"/>
                <a:gd name="T91" fmla="*/ 0 h 833"/>
                <a:gd name="T92" fmla="*/ 0 w 942"/>
                <a:gd name="T93" fmla="*/ 0 h 833"/>
                <a:gd name="T94" fmla="*/ 0 w 942"/>
                <a:gd name="T95" fmla="*/ 0 h 833"/>
                <a:gd name="T96" fmla="*/ 0 w 942"/>
                <a:gd name="T97" fmla="*/ 0 h 833"/>
                <a:gd name="T98" fmla="*/ 0 w 942"/>
                <a:gd name="T99" fmla="*/ 0 h 833"/>
                <a:gd name="T100" fmla="*/ 0 w 942"/>
                <a:gd name="T101" fmla="*/ 0 h 833"/>
                <a:gd name="T102" fmla="*/ 0 w 942"/>
                <a:gd name="T103" fmla="*/ 0 h 833"/>
                <a:gd name="T104" fmla="*/ 0 w 942"/>
                <a:gd name="T105" fmla="*/ 0 h 833"/>
                <a:gd name="T106" fmla="*/ 0 w 942"/>
                <a:gd name="T107" fmla="*/ 0 h 833"/>
                <a:gd name="T108" fmla="*/ 0 w 942"/>
                <a:gd name="T109" fmla="*/ 0 h 833"/>
                <a:gd name="T110" fmla="*/ 0 w 942"/>
                <a:gd name="T111" fmla="*/ 0 h 833"/>
                <a:gd name="T112" fmla="*/ 0 w 942"/>
                <a:gd name="T113" fmla="*/ 0 h 833"/>
                <a:gd name="T114" fmla="*/ 0 w 942"/>
                <a:gd name="T115" fmla="*/ 0 h 833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942"/>
                <a:gd name="T175" fmla="*/ 0 h 833"/>
                <a:gd name="T176" fmla="*/ 942 w 942"/>
                <a:gd name="T177" fmla="*/ 833 h 833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942" h="833">
                  <a:moveTo>
                    <a:pt x="44" y="304"/>
                  </a:moveTo>
                  <a:lnTo>
                    <a:pt x="47" y="294"/>
                  </a:lnTo>
                  <a:lnTo>
                    <a:pt x="53" y="284"/>
                  </a:lnTo>
                  <a:lnTo>
                    <a:pt x="57" y="274"/>
                  </a:lnTo>
                  <a:lnTo>
                    <a:pt x="61" y="265"/>
                  </a:lnTo>
                  <a:lnTo>
                    <a:pt x="67" y="255"/>
                  </a:lnTo>
                  <a:lnTo>
                    <a:pt x="72" y="246"/>
                  </a:lnTo>
                  <a:lnTo>
                    <a:pt x="77" y="238"/>
                  </a:lnTo>
                  <a:lnTo>
                    <a:pt x="84" y="229"/>
                  </a:lnTo>
                  <a:lnTo>
                    <a:pt x="88" y="220"/>
                  </a:lnTo>
                  <a:lnTo>
                    <a:pt x="94" y="212"/>
                  </a:lnTo>
                  <a:lnTo>
                    <a:pt x="99" y="202"/>
                  </a:lnTo>
                  <a:lnTo>
                    <a:pt x="107" y="195"/>
                  </a:lnTo>
                  <a:lnTo>
                    <a:pt x="112" y="188"/>
                  </a:lnTo>
                  <a:lnTo>
                    <a:pt x="118" y="181"/>
                  </a:lnTo>
                  <a:lnTo>
                    <a:pt x="125" y="172"/>
                  </a:lnTo>
                  <a:lnTo>
                    <a:pt x="131" y="165"/>
                  </a:lnTo>
                  <a:lnTo>
                    <a:pt x="136" y="158"/>
                  </a:lnTo>
                  <a:lnTo>
                    <a:pt x="144" y="152"/>
                  </a:lnTo>
                  <a:lnTo>
                    <a:pt x="149" y="145"/>
                  </a:lnTo>
                  <a:lnTo>
                    <a:pt x="158" y="138"/>
                  </a:lnTo>
                  <a:lnTo>
                    <a:pt x="162" y="132"/>
                  </a:lnTo>
                  <a:lnTo>
                    <a:pt x="171" y="127"/>
                  </a:lnTo>
                  <a:lnTo>
                    <a:pt x="178" y="119"/>
                  </a:lnTo>
                  <a:lnTo>
                    <a:pt x="185" y="114"/>
                  </a:lnTo>
                  <a:lnTo>
                    <a:pt x="192" y="108"/>
                  </a:lnTo>
                  <a:lnTo>
                    <a:pt x="198" y="104"/>
                  </a:lnTo>
                  <a:lnTo>
                    <a:pt x="206" y="98"/>
                  </a:lnTo>
                  <a:lnTo>
                    <a:pt x="212" y="92"/>
                  </a:lnTo>
                  <a:lnTo>
                    <a:pt x="220" y="87"/>
                  </a:lnTo>
                  <a:lnTo>
                    <a:pt x="226" y="82"/>
                  </a:lnTo>
                  <a:lnTo>
                    <a:pt x="234" y="78"/>
                  </a:lnTo>
                  <a:lnTo>
                    <a:pt x="242" y="74"/>
                  </a:lnTo>
                  <a:lnTo>
                    <a:pt x="249" y="70"/>
                  </a:lnTo>
                  <a:lnTo>
                    <a:pt x="256" y="65"/>
                  </a:lnTo>
                  <a:lnTo>
                    <a:pt x="264" y="61"/>
                  </a:lnTo>
                  <a:lnTo>
                    <a:pt x="271" y="57"/>
                  </a:lnTo>
                  <a:lnTo>
                    <a:pt x="278" y="53"/>
                  </a:lnTo>
                  <a:lnTo>
                    <a:pt x="287" y="50"/>
                  </a:lnTo>
                  <a:lnTo>
                    <a:pt x="294" y="47"/>
                  </a:lnTo>
                  <a:lnTo>
                    <a:pt x="301" y="44"/>
                  </a:lnTo>
                  <a:lnTo>
                    <a:pt x="310" y="40"/>
                  </a:lnTo>
                  <a:lnTo>
                    <a:pt x="317" y="37"/>
                  </a:lnTo>
                  <a:lnTo>
                    <a:pt x="324" y="34"/>
                  </a:lnTo>
                  <a:lnTo>
                    <a:pt x="332" y="31"/>
                  </a:lnTo>
                  <a:lnTo>
                    <a:pt x="340" y="28"/>
                  </a:lnTo>
                  <a:lnTo>
                    <a:pt x="348" y="27"/>
                  </a:lnTo>
                  <a:lnTo>
                    <a:pt x="355" y="24"/>
                  </a:lnTo>
                  <a:lnTo>
                    <a:pt x="362" y="21"/>
                  </a:lnTo>
                  <a:lnTo>
                    <a:pt x="371" y="20"/>
                  </a:lnTo>
                  <a:lnTo>
                    <a:pt x="378" y="17"/>
                  </a:lnTo>
                  <a:lnTo>
                    <a:pt x="385" y="16"/>
                  </a:lnTo>
                  <a:lnTo>
                    <a:pt x="394" y="14"/>
                  </a:lnTo>
                  <a:lnTo>
                    <a:pt x="401" y="11"/>
                  </a:lnTo>
                  <a:lnTo>
                    <a:pt x="408" y="10"/>
                  </a:lnTo>
                  <a:lnTo>
                    <a:pt x="415" y="9"/>
                  </a:lnTo>
                  <a:lnTo>
                    <a:pt x="423" y="9"/>
                  </a:lnTo>
                  <a:lnTo>
                    <a:pt x="429" y="6"/>
                  </a:lnTo>
                  <a:lnTo>
                    <a:pt x="438" y="6"/>
                  </a:lnTo>
                  <a:lnTo>
                    <a:pt x="445" y="4"/>
                  </a:lnTo>
                  <a:lnTo>
                    <a:pt x="452" y="4"/>
                  </a:lnTo>
                  <a:lnTo>
                    <a:pt x="459" y="3"/>
                  </a:lnTo>
                  <a:lnTo>
                    <a:pt x="466" y="3"/>
                  </a:lnTo>
                  <a:lnTo>
                    <a:pt x="473" y="1"/>
                  </a:lnTo>
                  <a:lnTo>
                    <a:pt x="482" y="1"/>
                  </a:lnTo>
                  <a:lnTo>
                    <a:pt x="487" y="1"/>
                  </a:lnTo>
                  <a:lnTo>
                    <a:pt x="492" y="0"/>
                  </a:lnTo>
                  <a:lnTo>
                    <a:pt x="497" y="0"/>
                  </a:lnTo>
                  <a:lnTo>
                    <a:pt x="503" y="0"/>
                  </a:lnTo>
                  <a:lnTo>
                    <a:pt x="507" y="0"/>
                  </a:lnTo>
                  <a:lnTo>
                    <a:pt x="514" y="0"/>
                  </a:lnTo>
                  <a:lnTo>
                    <a:pt x="519" y="0"/>
                  </a:lnTo>
                  <a:lnTo>
                    <a:pt x="526" y="0"/>
                  </a:lnTo>
                  <a:lnTo>
                    <a:pt x="531" y="0"/>
                  </a:lnTo>
                  <a:lnTo>
                    <a:pt x="536" y="0"/>
                  </a:lnTo>
                  <a:lnTo>
                    <a:pt x="541" y="1"/>
                  </a:lnTo>
                  <a:lnTo>
                    <a:pt x="547" y="1"/>
                  </a:lnTo>
                  <a:lnTo>
                    <a:pt x="551" y="1"/>
                  </a:lnTo>
                  <a:lnTo>
                    <a:pt x="557" y="3"/>
                  </a:lnTo>
                  <a:lnTo>
                    <a:pt x="563" y="3"/>
                  </a:lnTo>
                  <a:lnTo>
                    <a:pt x="568" y="4"/>
                  </a:lnTo>
                  <a:lnTo>
                    <a:pt x="573" y="4"/>
                  </a:lnTo>
                  <a:lnTo>
                    <a:pt x="578" y="6"/>
                  </a:lnTo>
                  <a:lnTo>
                    <a:pt x="583" y="6"/>
                  </a:lnTo>
                  <a:lnTo>
                    <a:pt x="588" y="6"/>
                  </a:lnTo>
                  <a:lnTo>
                    <a:pt x="594" y="7"/>
                  </a:lnTo>
                  <a:lnTo>
                    <a:pt x="598" y="9"/>
                  </a:lnTo>
                  <a:lnTo>
                    <a:pt x="604" y="9"/>
                  </a:lnTo>
                  <a:lnTo>
                    <a:pt x="608" y="9"/>
                  </a:lnTo>
                  <a:lnTo>
                    <a:pt x="614" y="10"/>
                  </a:lnTo>
                  <a:lnTo>
                    <a:pt x="618" y="11"/>
                  </a:lnTo>
                  <a:lnTo>
                    <a:pt x="622" y="11"/>
                  </a:lnTo>
                  <a:lnTo>
                    <a:pt x="628" y="14"/>
                  </a:lnTo>
                  <a:lnTo>
                    <a:pt x="632" y="16"/>
                  </a:lnTo>
                  <a:lnTo>
                    <a:pt x="637" y="16"/>
                  </a:lnTo>
                  <a:lnTo>
                    <a:pt x="642" y="17"/>
                  </a:lnTo>
                  <a:lnTo>
                    <a:pt x="647" y="18"/>
                  </a:lnTo>
                  <a:lnTo>
                    <a:pt x="651" y="20"/>
                  </a:lnTo>
                  <a:lnTo>
                    <a:pt x="654" y="21"/>
                  </a:lnTo>
                  <a:lnTo>
                    <a:pt x="658" y="21"/>
                  </a:lnTo>
                  <a:lnTo>
                    <a:pt x="662" y="23"/>
                  </a:lnTo>
                  <a:lnTo>
                    <a:pt x="666" y="24"/>
                  </a:lnTo>
                  <a:lnTo>
                    <a:pt x="671" y="24"/>
                  </a:lnTo>
                  <a:lnTo>
                    <a:pt x="675" y="27"/>
                  </a:lnTo>
                  <a:lnTo>
                    <a:pt x="678" y="28"/>
                  </a:lnTo>
                  <a:lnTo>
                    <a:pt x="681" y="30"/>
                  </a:lnTo>
                  <a:lnTo>
                    <a:pt x="685" y="30"/>
                  </a:lnTo>
                  <a:lnTo>
                    <a:pt x="688" y="31"/>
                  </a:lnTo>
                  <a:lnTo>
                    <a:pt x="691" y="33"/>
                  </a:lnTo>
                  <a:lnTo>
                    <a:pt x="695" y="34"/>
                  </a:lnTo>
                  <a:lnTo>
                    <a:pt x="698" y="36"/>
                  </a:lnTo>
                  <a:lnTo>
                    <a:pt x="701" y="37"/>
                  </a:lnTo>
                  <a:lnTo>
                    <a:pt x="703" y="38"/>
                  </a:lnTo>
                  <a:lnTo>
                    <a:pt x="709" y="40"/>
                  </a:lnTo>
                  <a:lnTo>
                    <a:pt x="715" y="44"/>
                  </a:lnTo>
                  <a:lnTo>
                    <a:pt x="718" y="47"/>
                  </a:lnTo>
                  <a:lnTo>
                    <a:pt x="722" y="50"/>
                  </a:lnTo>
                  <a:lnTo>
                    <a:pt x="725" y="51"/>
                  </a:lnTo>
                  <a:lnTo>
                    <a:pt x="729" y="54"/>
                  </a:lnTo>
                  <a:lnTo>
                    <a:pt x="730" y="57"/>
                  </a:lnTo>
                  <a:lnTo>
                    <a:pt x="732" y="58"/>
                  </a:lnTo>
                  <a:lnTo>
                    <a:pt x="732" y="61"/>
                  </a:lnTo>
                  <a:lnTo>
                    <a:pt x="733" y="64"/>
                  </a:lnTo>
                  <a:lnTo>
                    <a:pt x="735" y="67"/>
                  </a:lnTo>
                  <a:lnTo>
                    <a:pt x="736" y="71"/>
                  </a:lnTo>
                  <a:lnTo>
                    <a:pt x="737" y="74"/>
                  </a:lnTo>
                  <a:lnTo>
                    <a:pt x="739" y="78"/>
                  </a:lnTo>
                  <a:lnTo>
                    <a:pt x="740" y="81"/>
                  </a:lnTo>
                  <a:lnTo>
                    <a:pt x="745" y="87"/>
                  </a:lnTo>
                  <a:lnTo>
                    <a:pt x="746" y="90"/>
                  </a:lnTo>
                  <a:lnTo>
                    <a:pt x="750" y="95"/>
                  </a:lnTo>
                  <a:lnTo>
                    <a:pt x="753" y="100"/>
                  </a:lnTo>
                  <a:lnTo>
                    <a:pt x="759" y="104"/>
                  </a:lnTo>
                  <a:lnTo>
                    <a:pt x="762" y="107"/>
                  </a:lnTo>
                  <a:lnTo>
                    <a:pt x="767" y="111"/>
                  </a:lnTo>
                  <a:lnTo>
                    <a:pt x="769" y="112"/>
                  </a:lnTo>
                  <a:lnTo>
                    <a:pt x="772" y="114"/>
                  </a:lnTo>
                  <a:lnTo>
                    <a:pt x="777" y="115"/>
                  </a:lnTo>
                  <a:lnTo>
                    <a:pt x="779" y="117"/>
                  </a:lnTo>
                  <a:lnTo>
                    <a:pt x="784" y="118"/>
                  </a:lnTo>
                  <a:lnTo>
                    <a:pt x="790" y="118"/>
                  </a:lnTo>
                  <a:lnTo>
                    <a:pt x="793" y="118"/>
                  </a:lnTo>
                  <a:lnTo>
                    <a:pt x="796" y="118"/>
                  </a:lnTo>
                  <a:lnTo>
                    <a:pt x="799" y="118"/>
                  </a:lnTo>
                  <a:lnTo>
                    <a:pt x="803" y="117"/>
                  </a:lnTo>
                  <a:lnTo>
                    <a:pt x="806" y="115"/>
                  </a:lnTo>
                  <a:lnTo>
                    <a:pt x="808" y="114"/>
                  </a:lnTo>
                  <a:lnTo>
                    <a:pt x="813" y="114"/>
                  </a:lnTo>
                  <a:lnTo>
                    <a:pt x="816" y="112"/>
                  </a:lnTo>
                  <a:lnTo>
                    <a:pt x="818" y="111"/>
                  </a:lnTo>
                  <a:lnTo>
                    <a:pt x="821" y="110"/>
                  </a:lnTo>
                  <a:lnTo>
                    <a:pt x="824" y="108"/>
                  </a:lnTo>
                  <a:lnTo>
                    <a:pt x="828" y="107"/>
                  </a:lnTo>
                  <a:lnTo>
                    <a:pt x="831" y="105"/>
                  </a:lnTo>
                  <a:lnTo>
                    <a:pt x="834" y="104"/>
                  </a:lnTo>
                  <a:lnTo>
                    <a:pt x="838" y="102"/>
                  </a:lnTo>
                  <a:lnTo>
                    <a:pt x="841" y="100"/>
                  </a:lnTo>
                  <a:lnTo>
                    <a:pt x="845" y="100"/>
                  </a:lnTo>
                  <a:lnTo>
                    <a:pt x="848" y="98"/>
                  </a:lnTo>
                  <a:lnTo>
                    <a:pt x="850" y="97"/>
                  </a:lnTo>
                  <a:lnTo>
                    <a:pt x="854" y="97"/>
                  </a:lnTo>
                  <a:lnTo>
                    <a:pt x="855" y="94"/>
                  </a:lnTo>
                  <a:lnTo>
                    <a:pt x="861" y="92"/>
                  </a:lnTo>
                  <a:lnTo>
                    <a:pt x="862" y="92"/>
                  </a:lnTo>
                  <a:lnTo>
                    <a:pt x="865" y="92"/>
                  </a:lnTo>
                  <a:lnTo>
                    <a:pt x="871" y="92"/>
                  </a:lnTo>
                  <a:lnTo>
                    <a:pt x="875" y="92"/>
                  </a:lnTo>
                  <a:lnTo>
                    <a:pt x="880" y="95"/>
                  </a:lnTo>
                  <a:lnTo>
                    <a:pt x="887" y="97"/>
                  </a:lnTo>
                  <a:lnTo>
                    <a:pt x="892" y="98"/>
                  </a:lnTo>
                  <a:lnTo>
                    <a:pt x="897" y="101"/>
                  </a:lnTo>
                  <a:lnTo>
                    <a:pt x="901" y="102"/>
                  </a:lnTo>
                  <a:lnTo>
                    <a:pt x="905" y="105"/>
                  </a:lnTo>
                  <a:lnTo>
                    <a:pt x="909" y="108"/>
                  </a:lnTo>
                  <a:lnTo>
                    <a:pt x="914" y="111"/>
                  </a:lnTo>
                  <a:lnTo>
                    <a:pt x="916" y="114"/>
                  </a:lnTo>
                  <a:lnTo>
                    <a:pt x="921" y="117"/>
                  </a:lnTo>
                  <a:lnTo>
                    <a:pt x="924" y="119"/>
                  </a:lnTo>
                  <a:lnTo>
                    <a:pt x="926" y="124"/>
                  </a:lnTo>
                  <a:lnTo>
                    <a:pt x="928" y="128"/>
                  </a:lnTo>
                  <a:lnTo>
                    <a:pt x="931" y="131"/>
                  </a:lnTo>
                  <a:lnTo>
                    <a:pt x="932" y="135"/>
                  </a:lnTo>
                  <a:lnTo>
                    <a:pt x="935" y="139"/>
                  </a:lnTo>
                  <a:lnTo>
                    <a:pt x="936" y="144"/>
                  </a:lnTo>
                  <a:lnTo>
                    <a:pt x="939" y="148"/>
                  </a:lnTo>
                  <a:lnTo>
                    <a:pt x="939" y="154"/>
                  </a:lnTo>
                  <a:lnTo>
                    <a:pt x="939" y="158"/>
                  </a:lnTo>
                  <a:lnTo>
                    <a:pt x="941" y="164"/>
                  </a:lnTo>
                  <a:lnTo>
                    <a:pt x="941" y="168"/>
                  </a:lnTo>
                  <a:lnTo>
                    <a:pt x="941" y="171"/>
                  </a:lnTo>
                  <a:lnTo>
                    <a:pt x="941" y="174"/>
                  </a:lnTo>
                  <a:lnTo>
                    <a:pt x="941" y="176"/>
                  </a:lnTo>
                  <a:lnTo>
                    <a:pt x="942" y="181"/>
                  </a:lnTo>
                  <a:lnTo>
                    <a:pt x="941" y="183"/>
                  </a:lnTo>
                  <a:lnTo>
                    <a:pt x="941" y="186"/>
                  </a:lnTo>
                  <a:lnTo>
                    <a:pt x="941" y="189"/>
                  </a:lnTo>
                  <a:lnTo>
                    <a:pt x="941" y="192"/>
                  </a:lnTo>
                  <a:lnTo>
                    <a:pt x="939" y="195"/>
                  </a:lnTo>
                  <a:lnTo>
                    <a:pt x="939" y="198"/>
                  </a:lnTo>
                  <a:lnTo>
                    <a:pt x="939" y="201"/>
                  </a:lnTo>
                  <a:lnTo>
                    <a:pt x="939" y="205"/>
                  </a:lnTo>
                  <a:lnTo>
                    <a:pt x="936" y="208"/>
                  </a:lnTo>
                  <a:lnTo>
                    <a:pt x="936" y="210"/>
                  </a:lnTo>
                  <a:lnTo>
                    <a:pt x="936" y="215"/>
                  </a:lnTo>
                  <a:lnTo>
                    <a:pt x="935" y="218"/>
                  </a:lnTo>
                  <a:lnTo>
                    <a:pt x="934" y="220"/>
                  </a:lnTo>
                  <a:lnTo>
                    <a:pt x="934" y="225"/>
                  </a:lnTo>
                  <a:lnTo>
                    <a:pt x="934" y="228"/>
                  </a:lnTo>
                  <a:lnTo>
                    <a:pt x="934" y="233"/>
                  </a:lnTo>
                  <a:lnTo>
                    <a:pt x="932" y="235"/>
                  </a:lnTo>
                  <a:lnTo>
                    <a:pt x="931" y="238"/>
                  </a:lnTo>
                  <a:lnTo>
                    <a:pt x="931" y="240"/>
                  </a:lnTo>
                  <a:lnTo>
                    <a:pt x="929" y="243"/>
                  </a:lnTo>
                  <a:lnTo>
                    <a:pt x="928" y="246"/>
                  </a:lnTo>
                  <a:lnTo>
                    <a:pt x="926" y="249"/>
                  </a:lnTo>
                  <a:lnTo>
                    <a:pt x="926" y="252"/>
                  </a:lnTo>
                  <a:lnTo>
                    <a:pt x="925" y="255"/>
                  </a:lnTo>
                  <a:lnTo>
                    <a:pt x="924" y="259"/>
                  </a:lnTo>
                  <a:lnTo>
                    <a:pt x="921" y="265"/>
                  </a:lnTo>
                  <a:lnTo>
                    <a:pt x="918" y="270"/>
                  </a:lnTo>
                  <a:lnTo>
                    <a:pt x="915" y="274"/>
                  </a:lnTo>
                  <a:lnTo>
                    <a:pt x="911" y="279"/>
                  </a:lnTo>
                  <a:lnTo>
                    <a:pt x="908" y="283"/>
                  </a:lnTo>
                  <a:lnTo>
                    <a:pt x="904" y="289"/>
                  </a:lnTo>
                  <a:lnTo>
                    <a:pt x="901" y="292"/>
                  </a:lnTo>
                  <a:lnTo>
                    <a:pt x="897" y="296"/>
                  </a:lnTo>
                  <a:lnTo>
                    <a:pt x="892" y="299"/>
                  </a:lnTo>
                  <a:lnTo>
                    <a:pt x="889" y="302"/>
                  </a:lnTo>
                  <a:lnTo>
                    <a:pt x="885" y="306"/>
                  </a:lnTo>
                  <a:lnTo>
                    <a:pt x="880" y="309"/>
                  </a:lnTo>
                  <a:lnTo>
                    <a:pt x="877" y="310"/>
                  </a:lnTo>
                  <a:lnTo>
                    <a:pt x="871" y="313"/>
                  </a:lnTo>
                  <a:lnTo>
                    <a:pt x="867" y="316"/>
                  </a:lnTo>
                  <a:lnTo>
                    <a:pt x="862" y="317"/>
                  </a:lnTo>
                  <a:lnTo>
                    <a:pt x="858" y="319"/>
                  </a:lnTo>
                  <a:lnTo>
                    <a:pt x="853" y="320"/>
                  </a:lnTo>
                  <a:lnTo>
                    <a:pt x="848" y="321"/>
                  </a:lnTo>
                  <a:lnTo>
                    <a:pt x="843" y="321"/>
                  </a:lnTo>
                  <a:lnTo>
                    <a:pt x="837" y="323"/>
                  </a:lnTo>
                  <a:lnTo>
                    <a:pt x="831" y="323"/>
                  </a:lnTo>
                  <a:lnTo>
                    <a:pt x="827" y="323"/>
                  </a:lnTo>
                  <a:lnTo>
                    <a:pt x="821" y="321"/>
                  </a:lnTo>
                  <a:lnTo>
                    <a:pt x="816" y="320"/>
                  </a:lnTo>
                  <a:lnTo>
                    <a:pt x="811" y="320"/>
                  </a:lnTo>
                  <a:lnTo>
                    <a:pt x="807" y="319"/>
                  </a:lnTo>
                  <a:lnTo>
                    <a:pt x="803" y="317"/>
                  </a:lnTo>
                  <a:lnTo>
                    <a:pt x="799" y="313"/>
                  </a:lnTo>
                  <a:lnTo>
                    <a:pt x="794" y="311"/>
                  </a:lnTo>
                  <a:lnTo>
                    <a:pt x="791" y="310"/>
                  </a:lnTo>
                  <a:lnTo>
                    <a:pt x="787" y="304"/>
                  </a:lnTo>
                  <a:lnTo>
                    <a:pt x="784" y="300"/>
                  </a:lnTo>
                  <a:lnTo>
                    <a:pt x="783" y="296"/>
                  </a:lnTo>
                  <a:lnTo>
                    <a:pt x="781" y="293"/>
                  </a:lnTo>
                  <a:lnTo>
                    <a:pt x="780" y="290"/>
                  </a:lnTo>
                  <a:lnTo>
                    <a:pt x="779" y="287"/>
                  </a:lnTo>
                  <a:lnTo>
                    <a:pt x="779" y="283"/>
                  </a:lnTo>
                  <a:lnTo>
                    <a:pt x="779" y="280"/>
                  </a:lnTo>
                  <a:lnTo>
                    <a:pt x="779" y="277"/>
                  </a:lnTo>
                  <a:lnTo>
                    <a:pt x="779" y="274"/>
                  </a:lnTo>
                  <a:lnTo>
                    <a:pt x="779" y="270"/>
                  </a:lnTo>
                  <a:lnTo>
                    <a:pt x="777" y="267"/>
                  </a:lnTo>
                  <a:lnTo>
                    <a:pt x="777" y="265"/>
                  </a:lnTo>
                  <a:lnTo>
                    <a:pt x="777" y="260"/>
                  </a:lnTo>
                  <a:lnTo>
                    <a:pt x="776" y="257"/>
                  </a:lnTo>
                  <a:lnTo>
                    <a:pt x="774" y="255"/>
                  </a:lnTo>
                  <a:lnTo>
                    <a:pt x="773" y="252"/>
                  </a:lnTo>
                  <a:lnTo>
                    <a:pt x="772" y="249"/>
                  </a:lnTo>
                  <a:lnTo>
                    <a:pt x="769" y="243"/>
                  </a:lnTo>
                  <a:lnTo>
                    <a:pt x="766" y="239"/>
                  </a:lnTo>
                  <a:lnTo>
                    <a:pt x="762" y="236"/>
                  </a:lnTo>
                  <a:lnTo>
                    <a:pt x="759" y="235"/>
                  </a:lnTo>
                  <a:lnTo>
                    <a:pt x="756" y="233"/>
                  </a:lnTo>
                  <a:lnTo>
                    <a:pt x="753" y="233"/>
                  </a:lnTo>
                  <a:lnTo>
                    <a:pt x="749" y="230"/>
                  </a:lnTo>
                  <a:lnTo>
                    <a:pt x="746" y="229"/>
                  </a:lnTo>
                  <a:lnTo>
                    <a:pt x="743" y="229"/>
                  </a:lnTo>
                  <a:lnTo>
                    <a:pt x="739" y="229"/>
                  </a:lnTo>
                  <a:lnTo>
                    <a:pt x="735" y="226"/>
                  </a:lnTo>
                  <a:lnTo>
                    <a:pt x="730" y="226"/>
                  </a:lnTo>
                  <a:lnTo>
                    <a:pt x="725" y="226"/>
                  </a:lnTo>
                  <a:lnTo>
                    <a:pt x="722" y="228"/>
                  </a:lnTo>
                  <a:lnTo>
                    <a:pt x="716" y="229"/>
                  </a:lnTo>
                  <a:lnTo>
                    <a:pt x="713" y="229"/>
                  </a:lnTo>
                  <a:lnTo>
                    <a:pt x="709" y="232"/>
                  </a:lnTo>
                  <a:lnTo>
                    <a:pt x="705" y="233"/>
                  </a:lnTo>
                  <a:lnTo>
                    <a:pt x="701" y="235"/>
                  </a:lnTo>
                  <a:lnTo>
                    <a:pt x="696" y="238"/>
                  </a:lnTo>
                  <a:lnTo>
                    <a:pt x="691" y="239"/>
                  </a:lnTo>
                  <a:lnTo>
                    <a:pt x="685" y="242"/>
                  </a:lnTo>
                  <a:lnTo>
                    <a:pt x="683" y="243"/>
                  </a:lnTo>
                  <a:lnTo>
                    <a:pt x="681" y="245"/>
                  </a:lnTo>
                  <a:lnTo>
                    <a:pt x="678" y="246"/>
                  </a:lnTo>
                  <a:lnTo>
                    <a:pt x="675" y="247"/>
                  </a:lnTo>
                  <a:lnTo>
                    <a:pt x="672" y="246"/>
                  </a:lnTo>
                  <a:lnTo>
                    <a:pt x="669" y="246"/>
                  </a:lnTo>
                  <a:lnTo>
                    <a:pt x="666" y="246"/>
                  </a:lnTo>
                  <a:lnTo>
                    <a:pt x="662" y="245"/>
                  </a:lnTo>
                  <a:lnTo>
                    <a:pt x="656" y="243"/>
                  </a:lnTo>
                  <a:lnTo>
                    <a:pt x="651" y="242"/>
                  </a:lnTo>
                  <a:lnTo>
                    <a:pt x="649" y="240"/>
                  </a:lnTo>
                  <a:lnTo>
                    <a:pt x="647" y="239"/>
                  </a:lnTo>
                  <a:lnTo>
                    <a:pt x="644" y="238"/>
                  </a:lnTo>
                  <a:lnTo>
                    <a:pt x="641" y="236"/>
                  </a:lnTo>
                  <a:lnTo>
                    <a:pt x="637" y="236"/>
                  </a:lnTo>
                  <a:lnTo>
                    <a:pt x="632" y="233"/>
                  </a:lnTo>
                  <a:lnTo>
                    <a:pt x="628" y="233"/>
                  </a:lnTo>
                  <a:lnTo>
                    <a:pt x="625" y="230"/>
                  </a:lnTo>
                  <a:lnTo>
                    <a:pt x="621" y="229"/>
                  </a:lnTo>
                  <a:lnTo>
                    <a:pt x="617" y="228"/>
                  </a:lnTo>
                  <a:lnTo>
                    <a:pt x="614" y="226"/>
                  </a:lnTo>
                  <a:lnTo>
                    <a:pt x="610" y="225"/>
                  </a:lnTo>
                  <a:lnTo>
                    <a:pt x="604" y="223"/>
                  </a:lnTo>
                  <a:lnTo>
                    <a:pt x="600" y="220"/>
                  </a:lnTo>
                  <a:lnTo>
                    <a:pt x="597" y="220"/>
                  </a:lnTo>
                  <a:lnTo>
                    <a:pt x="591" y="218"/>
                  </a:lnTo>
                  <a:lnTo>
                    <a:pt x="585" y="218"/>
                  </a:lnTo>
                  <a:lnTo>
                    <a:pt x="581" y="216"/>
                  </a:lnTo>
                  <a:lnTo>
                    <a:pt x="575" y="215"/>
                  </a:lnTo>
                  <a:lnTo>
                    <a:pt x="571" y="213"/>
                  </a:lnTo>
                  <a:lnTo>
                    <a:pt x="566" y="212"/>
                  </a:lnTo>
                  <a:lnTo>
                    <a:pt x="560" y="210"/>
                  </a:lnTo>
                  <a:lnTo>
                    <a:pt x="554" y="210"/>
                  </a:lnTo>
                  <a:lnTo>
                    <a:pt x="550" y="210"/>
                  </a:lnTo>
                  <a:lnTo>
                    <a:pt x="543" y="208"/>
                  </a:lnTo>
                  <a:lnTo>
                    <a:pt x="537" y="208"/>
                  </a:lnTo>
                  <a:lnTo>
                    <a:pt x="531" y="208"/>
                  </a:lnTo>
                  <a:lnTo>
                    <a:pt x="526" y="208"/>
                  </a:lnTo>
                  <a:lnTo>
                    <a:pt x="519" y="206"/>
                  </a:lnTo>
                  <a:lnTo>
                    <a:pt x="513" y="206"/>
                  </a:lnTo>
                  <a:lnTo>
                    <a:pt x="507" y="206"/>
                  </a:lnTo>
                  <a:lnTo>
                    <a:pt x="500" y="206"/>
                  </a:lnTo>
                  <a:lnTo>
                    <a:pt x="494" y="206"/>
                  </a:lnTo>
                  <a:lnTo>
                    <a:pt x="487" y="206"/>
                  </a:lnTo>
                  <a:lnTo>
                    <a:pt x="482" y="208"/>
                  </a:lnTo>
                  <a:lnTo>
                    <a:pt x="475" y="209"/>
                  </a:lnTo>
                  <a:lnTo>
                    <a:pt x="467" y="209"/>
                  </a:lnTo>
                  <a:lnTo>
                    <a:pt x="460" y="210"/>
                  </a:lnTo>
                  <a:lnTo>
                    <a:pt x="453" y="212"/>
                  </a:lnTo>
                  <a:lnTo>
                    <a:pt x="446" y="212"/>
                  </a:lnTo>
                  <a:lnTo>
                    <a:pt x="439" y="215"/>
                  </a:lnTo>
                  <a:lnTo>
                    <a:pt x="432" y="216"/>
                  </a:lnTo>
                  <a:lnTo>
                    <a:pt x="425" y="218"/>
                  </a:lnTo>
                  <a:lnTo>
                    <a:pt x="418" y="220"/>
                  </a:lnTo>
                  <a:lnTo>
                    <a:pt x="411" y="223"/>
                  </a:lnTo>
                  <a:lnTo>
                    <a:pt x="404" y="226"/>
                  </a:lnTo>
                  <a:lnTo>
                    <a:pt x="395" y="229"/>
                  </a:lnTo>
                  <a:lnTo>
                    <a:pt x="388" y="233"/>
                  </a:lnTo>
                  <a:lnTo>
                    <a:pt x="379" y="236"/>
                  </a:lnTo>
                  <a:lnTo>
                    <a:pt x="372" y="242"/>
                  </a:lnTo>
                  <a:lnTo>
                    <a:pt x="364" y="245"/>
                  </a:lnTo>
                  <a:lnTo>
                    <a:pt x="357" y="249"/>
                  </a:lnTo>
                  <a:lnTo>
                    <a:pt x="351" y="252"/>
                  </a:lnTo>
                  <a:lnTo>
                    <a:pt x="344" y="257"/>
                  </a:lnTo>
                  <a:lnTo>
                    <a:pt x="340" y="260"/>
                  </a:lnTo>
                  <a:lnTo>
                    <a:pt x="332" y="265"/>
                  </a:lnTo>
                  <a:lnTo>
                    <a:pt x="327" y="269"/>
                  </a:lnTo>
                  <a:lnTo>
                    <a:pt x="323" y="273"/>
                  </a:lnTo>
                  <a:lnTo>
                    <a:pt x="318" y="277"/>
                  </a:lnTo>
                  <a:lnTo>
                    <a:pt x="314" y="282"/>
                  </a:lnTo>
                  <a:lnTo>
                    <a:pt x="308" y="286"/>
                  </a:lnTo>
                  <a:lnTo>
                    <a:pt x="304" y="292"/>
                  </a:lnTo>
                  <a:lnTo>
                    <a:pt x="300" y="296"/>
                  </a:lnTo>
                  <a:lnTo>
                    <a:pt x="296" y="300"/>
                  </a:lnTo>
                  <a:lnTo>
                    <a:pt x="290" y="304"/>
                  </a:lnTo>
                  <a:lnTo>
                    <a:pt x="288" y="310"/>
                  </a:lnTo>
                  <a:lnTo>
                    <a:pt x="284" y="314"/>
                  </a:lnTo>
                  <a:lnTo>
                    <a:pt x="280" y="320"/>
                  </a:lnTo>
                  <a:lnTo>
                    <a:pt x="277" y="324"/>
                  </a:lnTo>
                  <a:lnTo>
                    <a:pt x="273" y="330"/>
                  </a:lnTo>
                  <a:lnTo>
                    <a:pt x="270" y="334"/>
                  </a:lnTo>
                  <a:lnTo>
                    <a:pt x="269" y="338"/>
                  </a:lnTo>
                  <a:lnTo>
                    <a:pt x="264" y="346"/>
                  </a:lnTo>
                  <a:lnTo>
                    <a:pt x="263" y="350"/>
                  </a:lnTo>
                  <a:lnTo>
                    <a:pt x="260" y="356"/>
                  </a:lnTo>
                  <a:lnTo>
                    <a:pt x="259" y="361"/>
                  </a:lnTo>
                  <a:lnTo>
                    <a:pt x="254" y="366"/>
                  </a:lnTo>
                  <a:lnTo>
                    <a:pt x="253" y="373"/>
                  </a:lnTo>
                  <a:lnTo>
                    <a:pt x="250" y="377"/>
                  </a:lnTo>
                  <a:lnTo>
                    <a:pt x="249" y="383"/>
                  </a:lnTo>
                  <a:lnTo>
                    <a:pt x="247" y="387"/>
                  </a:lnTo>
                  <a:lnTo>
                    <a:pt x="246" y="393"/>
                  </a:lnTo>
                  <a:lnTo>
                    <a:pt x="243" y="398"/>
                  </a:lnTo>
                  <a:lnTo>
                    <a:pt x="243" y="404"/>
                  </a:lnTo>
                  <a:lnTo>
                    <a:pt x="242" y="408"/>
                  </a:lnTo>
                  <a:lnTo>
                    <a:pt x="240" y="414"/>
                  </a:lnTo>
                  <a:lnTo>
                    <a:pt x="239" y="420"/>
                  </a:lnTo>
                  <a:lnTo>
                    <a:pt x="239" y="425"/>
                  </a:lnTo>
                  <a:lnTo>
                    <a:pt x="237" y="431"/>
                  </a:lnTo>
                  <a:lnTo>
                    <a:pt x="236" y="437"/>
                  </a:lnTo>
                  <a:lnTo>
                    <a:pt x="236" y="441"/>
                  </a:lnTo>
                  <a:lnTo>
                    <a:pt x="234" y="447"/>
                  </a:lnTo>
                  <a:lnTo>
                    <a:pt x="233" y="454"/>
                  </a:lnTo>
                  <a:lnTo>
                    <a:pt x="233" y="458"/>
                  </a:lnTo>
                  <a:lnTo>
                    <a:pt x="233" y="464"/>
                  </a:lnTo>
                  <a:lnTo>
                    <a:pt x="233" y="469"/>
                  </a:lnTo>
                  <a:lnTo>
                    <a:pt x="232" y="474"/>
                  </a:lnTo>
                  <a:lnTo>
                    <a:pt x="232" y="479"/>
                  </a:lnTo>
                  <a:lnTo>
                    <a:pt x="232" y="485"/>
                  </a:lnTo>
                  <a:lnTo>
                    <a:pt x="232" y="491"/>
                  </a:lnTo>
                  <a:lnTo>
                    <a:pt x="230" y="495"/>
                  </a:lnTo>
                  <a:lnTo>
                    <a:pt x="230" y="499"/>
                  </a:lnTo>
                  <a:lnTo>
                    <a:pt x="230" y="505"/>
                  </a:lnTo>
                  <a:lnTo>
                    <a:pt x="230" y="511"/>
                  </a:lnTo>
                  <a:lnTo>
                    <a:pt x="230" y="515"/>
                  </a:lnTo>
                  <a:lnTo>
                    <a:pt x="230" y="519"/>
                  </a:lnTo>
                  <a:lnTo>
                    <a:pt x="230" y="525"/>
                  </a:lnTo>
                  <a:lnTo>
                    <a:pt x="232" y="529"/>
                  </a:lnTo>
                  <a:lnTo>
                    <a:pt x="232" y="535"/>
                  </a:lnTo>
                  <a:lnTo>
                    <a:pt x="232" y="539"/>
                  </a:lnTo>
                  <a:lnTo>
                    <a:pt x="232" y="543"/>
                  </a:lnTo>
                  <a:lnTo>
                    <a:pt x="232" y="548"/>
                  </a:lnTo>
                  <a:lnTo>
                    <a:pt x="232" y="552"/>
                  </a:lnTo>
                  <a:lnTo>
                    <a:pt x="233" y="556"/>
                  </a:lnTo>
                  <a:lnTo>
                    <a:pt x="233" y="560"/>
                  </a:lnTo>
                  <a:lnTo>
                    <a:pt x="233" y="566"/>
                  </a:lnTo>
                  <a:lnTo>
                    <a:pt x="233" y="569"/>
                  </a:lnTo>
                  <a:lnTo>
                    <a:pt x="233" y="573"/>
                  </a:lnTo>
                  <a:lnTo>
                    <a:pt x="233" y="576"/>
                  </a:lnTo>
                  <a:lnTo>
                    <a:pt x="234" y="580"/>
                  </a:lnTo>
                  <a:lnTo>
                    <a:pt x="234" y="585"/>
                  </a:lnTo>
                  <a:lnTo>
                    <a:pt x="236" y="589"/>
                  </a:lnTo>
                  <a:lnTo>
                    <a:pt x="236" y="592"/>
                  </a:lnTo>
                  <a:lnTo>
                    <a:pt x="237" y="596"/>
                  </a:lnTo>
                  <a:lnTo>
                    <a:pt x="239" y="599"/>
                  </a:lnTo>
                  <a:lnTo>
                    <a:pt x="239" y="603"/>
                  </a:lnTo>
                  <a:lnTo>
                    <a:pt x="239" y="606"/>
                  </a:lnTo>
                  <a:lnTo>
                    <a:pt x="240" y="610"/>
                  </a:lnTo>
                  <a:lnTo>
                    <a:pt x="242" y="613"/>
                  </a:lnTo>
                  <a:lnTo>
                    <a:pt x="242" y="616"/>
                  </a:lnTo>
                  <a:lnTo>
                    <a:pt x="243" y="620"/>
                  </a:lnTo>
                  <a:lnTo>
                    <a:pt x="244" y="623"/>
                  </a:lnTo>
                  <a:lnTo>
                    <a:pt x="246" y="626"/>
                  </a:lnTo>
                  <a:lnTo>
                    <a:pt x="246" y="629"/>
                  </a:lnTo>
                  <a:lnTo>
                    <a:pt x="247" y="631"/>
                  </a:lnTo>
                  <a:lnTo>
                    <a:pt x="249" y="634"/>
                  </a:lnTo>
                  <a:lnTo>
                    <a:pt x="250" y="637"/>
                  </a:lnTo>
                  <a:lnTo>
                    <a:pt x="251" y="640"/>
                  </a:lnTo>
                  <a:lnTo>
                    <a:pt x="253" y="643"/>
                  </a:lnTo>
                  <a:lnTo>
                    <a:pt x="254" y="646"/>
                  </a:lnTo>
                  <a:lnTo>
                    <a:pt x="257" y="651"/>
                  </a:lnTo>
                  <a:lnTo>
                    <a:pt x="259" y="656"/>
                  </a:lnTo>
                  <a:lnTo>
                    <a:pt x="261" y="660"/>
                  </a:lnTo>
                  <a:lnTo>
                    <a:pt x="264" y="666"/>
                  </a:lnTo>
                  <a:lnTo>
                    <a:pt x="267" y="670"/>
                  </a:lnTo>
                  <a:lnTo>
                    <a:pt x="269" y="674"/>
                  </a:lnTo>
                  <a:lnTo>
                    <a:pt x="270" y="678"/>
                  </a:lnTo>
                  <a:lnTo>
                    <a:pt x="273" y="681"/>
                  </a:lnTo>
                  <a:lnTo>
                    <a:pt x="273" y="684"/>
                  </a:lnTo>
                  <a:lnTo>
                    <a:pt x="276" y="688"/>
                  </a:lnTo>
                  <a:lnTo>
                    <a:pt x="276" y="691"/>
                  </a:lnTo>
                  <a:lnTo>
                    <a:pt x="277" y="694"/>
                  </a:lnTo>
                  <a:lnTo>
                    <a:pt x="277" y="700"/>
                  </a:lnTo>
                  <a:lnTo>
                    <a:pt x="277" y="704"/>
                  </a:lnTo>
                  <a:lnTo>
                    <a:pt x="276" y="707"/>
                  </a:lnTo>
                  <a:lnTo>
                    <a:pt x="271" y="711"/>
                  </a:lnTo>
                  <a:lnTo>
                    <a:pt x="266" y="713"/>
                  </a:lnTo>
                  <a:lnTo>
                    <a:pt x="261" y="714"/>
                  </a:lnTo>
                  <a:lnTo>
                    <a:pt x="257" y="714"/>
                  </a:lnTo>
                  <a:lnTo>
                    <a:pt x="251" y="715"/>
                  </a:lnTo>
                  <a:lnTo>
                    <a:pt x="247" y="715"/>
                  </a:lnTo>
                  <a:lnTo>
                    <a:pt x="242" y="715"/>
                  </a:lnTo>
                  <a:lnTo>
                    <a:pt x="239" y="715"/>
                  </a:lnTo>
                  <a:lnTo>
                    <a:pt x="237" y="715"/>
                  </a:lnTo>
                  <a:lnTo>
                    <a:pt x="233" y="715"/>
                  </a:lnTo>
                  <a:lnTo>
                    <a:pt x="232" y="717"/>
                  </a:lnTo>
                  <a:lnTo>
                    <a:pt x="227" y="717"/>
                  </a:lnTo>
                  <a:lnTo>
                    <a:pt x="223" y="718"/>
                  </a:lnTo>
                  <a:lnTo>
                    <a:pt x="220" y="718"/>
                  </a:lnTo>
                  <a:lnTo>
                    <a:pt x="216" y="720"/>
                  </a:lnTo>
                  <a:lnTo>
                    <a:pt x="212" y="721"/>
                  </a:lnTo>
                  <a:lnTo>
                    <a:pt x="207" y="722"/>
                  </a:lnTo>
                  <a:lnTo>
                    <a:pt x="203" y="725"/>
                  </a:lnTo>
                  <a:lnTo>
                    <a:pt x="199" y="727"/>
                  </a:lnTo>
                  <a:lnTo>
                    <a:pt x="193" y="728"/>
                  </a:lnTo>
                  <a:lnTo>
                    <a:pt x="188" y="731"/>
                  </a:lnTo>
                  <a:lnTo>
                    <a:pt x="185" y="734"/>
                  </a:lnTo>
                  <a:lnTo>
                    <a:pt x="182" y="734"/>
                  </a:lnTo>
                  <a:lnTo>
                    <a:pt x="179" y="735"/>
                  </a:lnTo>
                  <a:lnTo>
                    <a:pt x="176" y="738"/>
                  </a:lnTo>
                  <a:lnTo>
                    <a:pt x="172" y="740"/>
                  </a:lnTo>
                  <a:lnTo>
                    <a:pt x="169" y="741"/>
                  </a:lnTo>
                  <a:lnTo>
                    <a:pt x="165" y="742"/>
                  </a:lnTo>
                  <a:lnTo>
                    <a:pt x="162" y="745"/>
                  </a:lnTo>
                  <a:lnTo>
                    <a:pt x="159" y="747"/>
                  </a:lnTo>
                  <a:lnTo>
                    <a:pt x="155" y="750"/>
                  </a:lnTo>
                  <a:lnTo>
                    <a:pt x="152" y="752"/>
                  </a:lnTo>
                  <a:lnTo>
                    <a:pt x="149" y="757"/>
                  </a:lnTo>
                  <a:lnTo>
                    <a:pt x="144" y="758"/>
                  </a:lnTo>
                  <a:lnTo>
                    <a:pt x="139" y="761"/>
                  </a:lnTo>
                  <a:lnTo>
                    <a:pt x="136" y="762"/>
                  </a:lnTo>
                  <a:lnTo>
                    <a:pt x="134" y="765"/>
                  </a:lnTo>
                  <a:lnTo>
                    <a:pt x="131" y="768"/>
                  </a:lnTo>
                  <a:lnTo>
                    <a:pt x="126" y="771"/>
                  </a:lnTo>
                  <a:lnTo>
                    <a:pt x="125" y="772"/>
                  </a:lnTo>
                  <a:lnTo>
                    <a:pt x="122" y="775"/>
                  </a:lnTo>
                  <a:lnTo>
                    <a:pt x="117" y="779"/>
                  </a:lnTo>
                  <a:lnTo>
                    <a:pt x="114" y="784"/>
                  </a:lnTo>
                  <a:lnTo>
                    <a:pt x="108" y="788"/>
                  </a:lnTo>
                  <a:lnTo>
                    <a:pt x="105" y="792"/>
                  </a:lnTo>
                  <a:lnTo>
                    <a:pt x="102" y="796"/>
                  </a:lnTo>
                  <a:lnTo>
                    <a:pt x="99" y="799"/>
                  </a:lnTo>
                  <a:lnTo>
                    <a:pt x="98" y="802"/>
                  </a:lnTo>
                  <a:lnTo>
                    <a:pt x="97" y="808"/>
                  </a:lnTo>
                  <a:lnTo>
                    <a:pt x="94" y="809"/>
                  </a:lnTo>
                  <a:lnTo>
                    <a:pt x="94" y="812"/>
                  </a:lnTo>
                  <a:lnTo>
                    <a:pt x="92" y="816"/>
                  </a:lnTo>
                  <a:lnTo>
                    <a:pt x="92" y="819"/>
                  </a:lnTo>
                  <a:lnTo>
                    <a:pt x="90" y="822"/>
                  </a:lnTo>
                  <a:lnTo>
                    <a:pt x="90" y="826"/>
                  </a:lnTo>
                  <a:lnTo>
                    <a:pt x="87" y="831"/>
                  </a:lnTo>
                  <a:lnTo>
                    <a:pt x="85" y="832"/>
                  </a:lnTo>
                  <a:lnTo>
                    <a:pt x="82" y="833"/>
                  </a:lnTo>
                  <a:lnTo>
                    <a:pt x="78" y="833"/>
                  </a:lnTo>
                  <a:lnTo>
                    <a:pt x="77" y="833"/>
                  </a:lnTo>
                  <a:lnTo>
                    <a:pt x="74" y="833"/>
                  </a:lnTo>
                  <a:lnTo>
                    <a:pt x="71" y="832"/>
                  </a:lnTo>
                  <a:lnTo>
                    <a:pt x="68" y="832"/>
                  </a:lnTo>
                  <a:lnTo>
                    <a:pt x="64" y="829"/>
                  </a:lnTo>
                  <a:lnTo>
                    <a:pt x="60" y="825"/>
                  </a:lnTo>
                  <a:lnTo>
                    <a:pt x="57" y="822"/>
                  </a:lnTo>
                  <a:lnTo>
                    <a:pt x="55" y="819"/>
                  </a:lnTo>
                  <a:lnTo>
                    <a:pt x="53" y="818"/>
                  </a:lnTo>
                  <a:lnTo>
                    <a:pt x="51" y="815"/>
                  </a:lnTo>
                  <a:lnTo>
                    <a:pt x="48" y="809"/>
                  </a:lnTo>
                  <a:lnTo>
                    <a:pt x="47" y="805"/>
                  </a:lnTo>
                  <a:lnTo>
                    <a:pt x="44" y="799"/>
                  </a:lnTo>
                  <a:lnTo>
                    <a:pt x="43" y="795"/>
                  </a:lnTo>
                  <a:lnTo>
                    <a:pt x="40" y="789"/>
                  </a:lnTo>
                  <a:lnTo>
                    <a:pt x="40" y="785"/>
                  </a:lnTo>
                  <a:lnTo>
                    <a:pt x="36" y="779"/>
                  </a:lnTo>
                  <a:lnTo>
                    <a:pt x="34" y="772"/>
                  </a:lnTo>
                  <a:lnTo>
                    <a:pt x="31" y="765"/>
                  </a:lnTo>
                  <a:lnTo>
                    <a:pt x="30" y="759"/>
                  </a:lnTo>
                  <a:lnTo>
                    <a:pt x="28" y="751"/>
                  </a:lnTo>
                  <a:lnTo>
                    <a:pt x="27" y="744"/>
                  </a:lnTo>
                  <a:lnTo>
                    <a:pt x="24" y="735"/>
                  </a:lnTo>
                  <a:lnTo>
                    <a:pt x="21" y="728"/>
                  </a:lnTo>
                  <a:lnTo>
                    <a:pt x="20" y="721"/>
                  </a:lnTo>
                  <a:lnTo>
                    <a:pt x="18" y="713"/>
                  </a:lnTo>
                  <a:lnTo>
                    <a:pt x="16" y="704"/>
                  </a:lnTo>
                  <a:lnTo>
                    <a:pt x="16" y="694"/>
                  </a:lnTo>
                  <a:lnTo>
                    <a:pt x="13" y="686"/>
                  </a:lnTo>
                  <a:lnTo>
                    <a:pt x="13" y="677"/>
                  </a:lnTo>
                  <a:lnTo>
                    <a:pt x="10" y="667"/>
                  </a:lnTo>
                  <a:lnTo>
                    <a:pt x="9" y="657"/>
                  </a:lnTo>
                  <a:lnTo>
                    <a:pt x="7" y="649"/>
                  </a:lnTo>
                  <a:lnTo>
                    <a:pt x="6" y="639"/>
                  </a:lnTo>
                  <a:lnTo>
                    <a:pt x="6" y="629"/>
                  </a:lnTo>
                  <a:lnTo>
                    <a:pt x="4" y="619"/>
                  </a:lnTo>
                  <a:lnTo>
                    <a:pt x="3" y="607"/>
                  </a:lnTo>
                  <a:lnTo>
                    <a:pt x="3" y="599"/>
                  </a:lnTo>
                  <a:lnTo>
                    <a:pt x="1" y="589"/>
                  </a:lnTo>
                  <a:lnTo>
                    <a:pt x="0" y="577"/>
                  </a:lnTo>
                  <a:lnTo>
                    <a:pt x="0" y="567"/>
                  </a:lnTo>
                  <a:lnTo>
                    <a:pt x="0" y="556"/>
                  </a:lnTo>
                  <a:lnTo>
                    <a:pt x="0" y="545"/>
                  </a:lnTo>
                  <a:lnTo>
                    <a:pt x="0" y="535"/>
                  </a:lnTo>
                  <a:lnTo>
                    <a:pt x="0" y="525"/>
                  </a:lnTo>
                  <a:lnTo>
                    <a:pt x="0" y="513"/>
                  </a:lnTo>
                  <a:lnTo>
                    <a:pt x="0" y="502"/>
                  </a:lnTo>
                  <a:lnTo>
                    <a:pt x="0" y="492"/>
                  </a:lnTo>
                  <a:lnTo>
                    <a:pt x="1" y="482"/>
                  </a:lnTo>
                  <a:lnTo>
                    <a:pt x="3" y="469"/>
                  </a:lnTo>
                  <a:lnTo>
                    <a:pt x="3" y="459"/>
                  </a:lnTo>
                  <a:lnTo>
                    <a:pt x="4" y="448"/>
                  </a:lnTo>
                  <a:lnTo>
                    <a:pt x="6" y="438"/>
                  </a:lnTo>
                  <a:lnTo>
                    <a:pt x="9" y="427"/>
                  </a:lnTo>
                  <a:lnTo>
                    <a:pt x="9" y="415"/>
                  </a:lnTo>
                  <a:lnTo>
                    <a:pt x="11" y="405"/>
                  </a:lnTo>
                  <a:lnTo>
                    <a:pt x="13" y="394"/>
                  </a:lnTo>
                  <a:lnTo>
                    <a:pt x="16" y="384"/>
                  </a:lnTo>
                  <a:lnTo>
                    <a:pt x="18" y="374"/>
                  </a:lnTo>
                  <a:lnTo>
                    <a:pt x="21" y="363"/>
                  </a:lnTo>
                  <a:lnTo>
                    <a:pt x="24" y="354"/>
                  </a:lnTo>
                  <a:lnTo>
                    <a:pt x="27" y="343"/>
                  </a:lnTo>
                  <a:lnTo>
                    <a:pt x="30" y="333"/>
                  </a:lnTo>
                  <a:lnTo>
                    <a:pt x="34" y="324"/>
                  </a:lnTo>
                  <a:lnTo>
                    <a:pt x="40" y="313"/>
                  </a:lnTo>
                  <a:lnTo>
                    <a:pt x="44" y="304"/>
                  </a:lnTo>
                  <a:close/>
                </a:path>
              </a:pathLst>
            </a:custGeom>
            <a:solidFill>
              <a:srgbClr val="2A40E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74" name="Freeform 13"/>
            <p:cNvSpPr>
              <a:spLocks/>
            </p:cNvSpPr>
            <p:nvPr/>
          </p:nvSpPr>
          <p:spPr bwMode="auto">
            <a:xfrm>
              <a:off x="1923" y="937"/>
              <a:ext cx="81" cy="29"/>
            </a:xfrm>
            <a:custGeom>
              <a:avLst/>
              <a:gdLst>
                <a:gd name="T0" fmla="*/ 0 w 243"/>
                <a:gd name="T1" fmla="*/ 0 h 87"/>
                <a:gd name="T2" fmla="*/ 0 w 243"/>
                <a:gd name="T3" fmla="*/ 0 h 87"/>
                <a:gd name="T4" fmla="*/ 0 w 243"/>
                <a:gd name="T5" fmla="*/ 0 h 87"/>
                <a:gd name="T6" fmla="*/ 0 w 243"/>
                <a:gd name="T7" fmla="*/ 0 h 87"/>
                <a:gd name="T8" fmla="*/ 0 w 243"/>
                <a:gd name="T9" fmla="*/ 0 h 87"/>
                <a:gd name="T10" fmla="*/ 0 w 243"/>
                <a:gd name="T11" fmla="*/ 0 h 87"/>
                <a:gd name="T12" fmla="*/ 0 w 243"/>
                <a:gd name="T13" fmla="*/ 0 h 87"/>
                <a:gd name="T14" fmla="*/ 0 w 243"/>
                <a:gd name="T15" fmla="*/ 0 h 87"/>
                <a:gd name="T16" fmla="*/ 0 w 243"/>
                <a:gd name="T17" fmla="*/ 0 h 87"/>
                <a:gd name="T18" fmla="*/ 0 w 243"/>
                <a:gd name="T19" fmla="*/ 0 h 87"/>
                <a:gd name="T20" fmla="*/ 0 w 243"/>
                <a:gd name="T21" fmla="*/ 0 h 87"/>
                <a:gd name="T22" fmla="*/ 0 w 243"/>
                <a:gd name="T23" fmla="*/ 0 h 87"/>
                <a:gd name="T24" fmla="*/ 0 w 243"/>
                <a:gd name="T25" fmla="*/ 0 h 87"/>
                <a:gd name="T26" fmla="*/ 0 w 243"/>
                <a:gd name="T27" fmla="*/ 0 h 87"/>
                <a:gd name="T28" fmla="*/ 0 w 243"/>
                <a:gd name="T29" fmla="*/ 0 h 87"/>
                <a:gd name="T30" fmla="*/ 0 w 243"/>
                <a:gd name="T31" fmla="*/ 0 h 87"/>
                <a:gd name="T32" fmla="*/ 0 w 243"/>
                <a:gd name="T33" fmla="*/ 0 h 87"/>
                <a:gd name="T34" fmla="*/ 0 w 243"/>
                <a:gd name="T35" fmla="*/ 0 h 87"/>
                <a:gd name="T36" fmla="*/ 0 w 243"/>
                <a:gd name="T37" fmla="*/ 0 h 87"/>
                <a:gd name="T38" fmla="*/ 0 w 243"/>
                <a:gd name="T39" fmla="*/ 0 h 87"/>
                <a:gd name="T40" fmla="*/ 0 w 243"/>
                <a:gd name="T41" fmla="*/ 0 h 87"/>
                <a:gd name="T42" fmla="*/ 0 w 243"/>
                <a:gd name="T43" fmla="*/ 0 h 87"/>
                <a:gd name="T44" fmla="*/ 0 w 243"/>
                <a:gd name="T45" fmla="*/ 0 h 87"/>
                <a:gd name="T46" fmla="*/ 0 w 243"/>
                <a:gd name="T47" fmla="*/ 0 h 87"/>
                <a:gd name="T48" fmla="*/ 0 w 243"/>
                <a:gd name="T49" fmla="*/ 0 h 87"/>
                <a:gd name="T50" fmla="*/ 0 w 243"/>
                <a:gd name="T51" fmla="*/ 0 h 87"/>
                <a:gd name="T52" fmla="*/ 0 w 243"/>
                <a:gd name="T53" fmla="*/ 0 h 87"/>
                <a:gd name="T54" fmla="*/ 0 w 243"/>
                <a:gd name="T55" fmla="*/ 0 h 87"/>
                <a:gd name="T56" fmla="*/ 0 w 243"/>
                <a:gd name="T57" fmla="*/ 0 h 87"/>
                <a:gd name="T58" fmla="*/ 0 w 243"/>
                <a:gd name="T59" fmla="*/ 0 h 87"/>
                <a:gd name="T60" fmla="*/ 0 w 243"/>
                <a:gd name="T61" fmla="*/ 0 h 87"/>
                <a:gd name="T62" fmla="*/ 0 w 243"/>
                <a:gd name="T63" fmla="*/ 0 h 87"/>
                <a:gd name="T64" fmla="*/ 0 w 243"/>
                <a:gd name="T65" fmla="*/ 0 h 87"/>
                <a:gd name="T66" fmla="*/ 0 w 243"/>
                <a:gd name="T67" fmla="*/ 0 h 87"/>
                <a:gd name="T68" fmla="*/ 0 w 243"/>
                <a:gd name="T69" fmla="*/ 0 h 87"/>
                <a:gd name="T70" fmla="*/ 0 w 243"/>
                <a:gd name="T71" fmla="*/ 0 h 87"/>
                <a:gd name="T72" fmla="*/ 0 w 243"/>
                <a:gd name="T73" fmla="*/ 0 h 87"/>
                <a:gd name="T74" fmla="*/ 0 w 243"/>
                <a:gd name="T75" fmla="*/ 0 h 87"/>
                <a:gd name="T76" fmla="*/ 0 w 243"/>
                <a:gd name="T77" fmla="*/ 0 h 87"/>
                <a:gd name="T78" fmla="*/ 0 w 243"/>
                <a:gd name="T79" fmla="*/ 0 h 87"/>
                <a:gd name="T80" fmla="*/ 0 w 243"/>
                <a:gd name="T81" fmla="*/ 0 h 87"/>
                <a:gd name="T82" fmla="*/ 0 w 243"/>
                <a:gd name="T83" fmla="*/ 0 h 87"/>
                <a:gd name="T84" fmla="*/ 0 w 243"/>
                <a:gd name="T85" fmla="*/ 0 h 87"/>
                <a:gd name="T86" fmla="*/ 0 w 243"/>
                <a:gd name="T87" fmla="*/ 0 h 87"/>
                <a:gd name="T88" fmla="*/ 0 w 243"/>
                <a:gd name="T89" fmla="*/ 0 h 87"/>
                <a:gd name="T90" fmla="*/ 0 w 243"/>
                <a:gd name="T91" fmla="*/ 0 h 8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243"/>
                <a:gd name="T139" fmla="*/ 0 h 87"/>
                <a:gd name="T140" fmla="*/ 243 w 243"/>
                <a:gd name="T141" fmla="*/ 87 h 8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243" h="87">
                  <a:moveTo>
                    <a:pt x="77" y="6"/>
                  </a:moveTo>
                  <a:lnTo>
                    <a:pt x="80" y="4"/>
                  </a:lnTo>
                  <a:lnTo>
                    <a:pt x="83" y="3"/>
                  </a:lnTo>
                  <a:lnTo>
                    <a:pt x="86" y="3"/>
                  </a:lnTo>
                  <a:lnTo>
                    <a:pt x="90" y="3"/>
                  </a:lnTo>
                  <a:lnTo>
                    <a:pt x="94" y="1"/>
                  </a:lnTo>
                  <a:lnTo>
                    <a:pt x="96" y="0"/>
                  </a:lnTo>
                  <a:lnTo>
                    <a:pt x="100" y="0"/>
                  </a:lnTo>
                  <a:lnTo>
                    <a:pt x="104" y="0"/>
                  </a:lnTo>
                  <a:lnTo>
                    <a:pt x="107" y="0"/>
                  </a:lnTo>
                  <a:lnTo>
                    <a:pt x="111" y="0"/>
                  </a:lnTo>
                  <a:lnTo>
                    <a:pt x="114" y="0"/>
                  </a:lnTo>
                  <a:lnTo>
                    <a:pt x="118" y="0"/>
                  </a:lnTo>
                  <a:lnTo>
                    <a:pt x="123" y="0"/>
                  </a:lnTo>
                  <a:lnTo>
                    <a:pt x="126" y="0"/>
                  </a:lnTo>
                  <a:lnTo>
                    <a:pt x="130" y="0"/>
                  </a:lnTo>
                  <a:lnTo>
                    <a:pt x="134" y="0"/>
                  </a:lnTo>
                  <a:lnTo>
                    <a:pt x="137" y="0"/>
                  </a:lnTo>
                  <a:lnTo>
                    <a:pt x="141" y="0"/>
                  </a:lnTo>
                  <a:lnTo>
                    <a:pt x="145" y="1"/>
                  </a:lnTo>
                  <a:lnTo>
                    <a:pt x="150" y="3"/>
                  </a:lnTo>
                  <a:lnTo>
                    <a:pt x="154" y="3"/>
                  </a:lnTo>
                  <a:lnTo>
                    <a:pt x="157" y="3"/>
                  </a:lnTo>
                  <a:lnTo>
                    <a:pt x="161" y="4"/>
                  </a:lnTo>
                  <a:lnTo>
                    <a:pt x="165" y="6"/>
                  </a:lnTo>
                  <a:lnTo>
                    <a:pt x="170" y="7"/>
                  </a:lnTo>
                  <a:lnTo>
                    <a:pt x="175" y="7"/>
                  </a:lnTo>
                  <a:lnTo>
                    <a:pt x="180" y="10"/>
                  </a:lnTo>
                  <a:lnTo>
                    <a:pt x="182" y="11"/>
                  </a:lnTo>
                  <a:lnTo>
                    <a:pt x="188" y="13"/>
                  </a:lnTo>
                  <a:lnTo>
                    <a:pt x="192" y="16"/>
                  </a:lnTo>
                  <a:lnTo>
                    <a:pt x="197" y="17"/>
                  </a:lnTo>
                  <a:lnTo>
                    <a:pt x="202" y="18"/>
                  </a:lnTo>
                  <a:lnTo>
                    <a:pt x="207" y="21"/>
                  </a:lnTo>
                  <a:lnTo>
                    <a:pt x="211" y="23"/>
                  </a:lnTo>
                  <a:lnTo>
                    <a:pt x="214" y="26"/>
                  </a:lnTo>
                  <a:lnTo>
                    <a:pt x="218" y="27"/>
                  </a:lnTo>
                  <a:lnTo>
                    <a:pt x="221" y="28"/>
                  </a:lnTo>
                  <a:lnTo>
                    <a:pt x="224" y="31"/>
                  </a:lnTo>
                  <a:lnTo>
                    <a:pt x="228" y="33"/>
                  </a:lnTo>
                  <a:lnTo>
                    <a:pt x="231" y="36"/>
                  </a:lnTo>
                  <a:lnTo>
                    <a:pt x="235" y="37"/>
                  </a:lnTo>
                  <a:lnTo>
                    <a:pt x="238" y="40"/>
                  </a:lnTo>
                  <a:lnTo>
                    <a:pt x="241" y="43"/>
                  </a:lnTo>
                  <a:lnTo>
                    <a:pt x="243" y="45"/>
                  </a:lnTo>
                  <a:lnTo>
                    <a:pt x="243" y="50"/>
                  </a:lnTo>
                  <a:lnTo>
                    <a:pt x="241" y="54"/>
                  </a:lnTo>
                  <a:lnTo>
                    <a:pt x="238" y="55"/>
                  </a:lnTo>
                  <a:lnTo>
                    <a:pt x="235" y="57"/>
                  </a:lnTo>
                  <a:lnTo>
                    <a:pt x="232" y="58"/>
                  </a:lnTo>
                  <a:lnTo>
                    <a:pt x="228" y="60"/>
                  </a:lnTo>
                  <a:lnTo>
                    <a:pt x="222" y="60"/>
                  </a:lnTo>
                  <a:lnTo>
                    <a:pt x="216" y="60"/>
                  </a:lnTo>
                  <a:lnTo>
                    <a:pt x="214" y="60"/>
                  </a:lnTo>
                  <a:lnTo>
                    <a:pt x="211" y="60"/>
                  </a:lnTo>
                  <a:lnTo>
                    <a:pt x="208" y="60"/>
                  </a:lnTo>
                  <a:lnTo>
                    <a:pt x="205" y="58"/>
                  </a:lnTo>
                  <a:lnTo>
                    <a:pt x="202" y="57"/>
                  </a:lnTo>
                  <a:lnTo>
                    <a:pt x="198" y="57"/>
                  </a:lnTo>
                  <a:lnTo>
                    <a:pt x="194" y="55"/>
                  </a:lnTo>
                  <a:lnTo>
                    <a:pt x="191" y="54"/>
                  </a:lnTo>
                  <a:lnTo>
                    <a:pt x="188" y="54"/>
                  </a:lnTo>
                  <a:lnTo>
                    <a:pt x="184" y="53"/>
                  </a:lnTo>
                  <a:lnTo>
                    <a:pt x="181" y="53"/>
                  </a:lnTo>
                  <a:lnTo>
                    <a:pt x="177" y="51"/>
                  </a:lnTo>
                  <a:lnTo>
                    <a:pt x="174" y="50"/>
                  </a:lnTo>
                  <a:lnTo>
                    <a:pt x="168" y="50"/>
                  </a:lnTo>
                  <a:lnTo>
                    <a:pt x="164" y="47"/>
                  </a:lnTo>
                  <a:lnTo>
                    <a:pt x="161" y="47"/>
                  </a:lnTo>
                  <a:lnTo>
                    <a:pt x="157" y="47"/>
                  </a:lnTo>
                  <a:lnTo>
                    <a:pt x="151" y="45"/>
                  </a:lnTo>
                  <a:lnTo>
                    <a:pt x="148" y="45"/>
                  </a:lnTo>
                  <a:lnTo>
                    <a:pt x="143" y="47"/>
                  </a:lnTo>
                  <a:lnTo>
                    <a:pt x="138" y="47"/>
                  </a:lnTo>
                  <a:lnTo>
                    <a:pt x="133" y="47"/>
                  </a:lnTo>
                  <a:lnTo>
                    <a:pt x="128" y="47"/>
                  </a:lnTo>
                  <a:lnTo>
                    <a:pt x="124" y="50"/>
                  </a:lnTo>
                  <a:lnTo>
                    <a:pt x="118" y="51"/>
                  </a:lnTo>
                  <a:lnTo>
                    <a:pt x="113" y="53"/>
                  </a:lnTo>
                  <a:lnTo>
                    <a:pt x="108" y="54"/>
                  </a:lnTo>
                  <a:lnTo>
                    <a:pt x="103" y="57"/>
                  </a:lnTo>
                  <a:lnTo>
                    <a:pt x="100" y="58"/>
                  </a:lnTo>
                  <a:lnTo>
                    <a:pt x="97" y="60"/>
                  </a:lnTo>
                  <a:lnTo>
                    <a:pt x="94" y="60"/>
                  </a:lnTo>
                  <a:lnTo>
                    <a:pt x="93" y="63"/>
                  </a:lnTo>
                  <a:lnTo>
                    <a:pt x="86" y="64"/>
                  </a:lnTo>
                  <a:lnTo>
                    <a:pt x="81" y="67"/>
                  </a:lnTo>
                  <a:lnTo>
                    <a:pt x="76" y="68"/>
                  </a:lnTo>
                  <a:lnTo>
                    <a:pt x="72" y="71"/>
                  </a:lnTo>
                  <a:lnTo>
                    <a:pt x="67" y="71"/>
                  </a:lnTo>
                  <a:lnTo>
                    <a:pt x="63" y="74"/>
                  </a:lnTo>
                  <a:lnTo>
                    <a:pt x="57" y="75"/>
                  </a:lnTo>
                  <a:lnTo>
                    <a:pt x="53" y="78"/>
                  </a:lnTo>
                  <a:lnTo>
                    <a:pt x="49" y="78"/>
                  </a:lnTo>
                  <a:lnTo>
                    <a:pt x="46" y="81"/>
                  </a:lnTo>
                  <a:lnTo>
                    <a:pt x="42" y="81"/>
                  </a:lnTo>
                  <a:lnTo>
                    <a:pt x="39" y="84"/>
                  </a:lnTo>
                  <a:lnTo>
                    <a:pt x="36" y="84"/>
                  </a:lnTo>
                  <a:lnTo>
                    <a:pt x="32" y="85"/>
                  </a:lnTo>
                  <a:lnTo>
                    <a:pt x="29" y="85"/>
                  </a:lnTo>
                  <a:lnTo>
                    <a:pt x="26" y="87"/>
                  </a:lnTo>
                  <a:lnTo>
                    <a:pt x="23" y="87"/>
                  </a:lnTo>
                  <a:lnTo>
                    <a:pt x="20" y="87"/>
                  </a:lnTo>
                  <a:lnTo>
                    <a:pt x="15" y="87"/>
                  </a:lnTo>
                  <a:lnTo>
                    <a:pt x="10" y="85"/>
                  </a:lnTo>
                  <a:lnTo>
                    <a:pt x="6" y="82"/>
                  </a:lnTo>
                  <a:lnTo>
                    <a:pt x="3" y="80"/>
                  </a:lnTo>
                  <a:lnTo>
                    <a:pt x="2" y="75"/>
                  </a:lnTo>
                  <a:lnTo>
                    <a:pt x="0" y="71"/>
                  </a:lnTo>
                  <a:lnTo>
                    <a:pt x="0" y="68"/>
                  </a:lnTo>
                  <a:lnTo>
                    <a:pt x="0" y="65"/>
                  </a:lnTo>
                  <a:lnTo>
                    <a:pt x="0" y="63"/>
                  </a:lnTo>
                  <a:lnTo>
                    <a:pt x="0" y="60"/>
                  </a:lnTo>
                  <a:lnTo>
                    <a:pt x="2" y="54"/>
                  </a:lnTo>
                  <a:lnTo>
                    <a:pt x="5" y="50"/>
                  </a:lnTo>
                  <a:lnTo>
                    <a:pt x="9" y="44"/>
                  </a:lnTo>
                  <a:lnTo>
                    <a:pt x="12" y="40"/>
                  </a:lnTo>
                  <a:lnTo>
                    <a:pt x="15" y="37"/>
                  </a:lnTo>
                  <a:lnTo>
                    <a:pt x="18" y="36"/>
                  </a:lnTo>
                  <a:lnTo>
                    <a:pt x="20" y="33"/>
                  </a:lnTo>
                  <a:lnTo>
                    <a:pt x="23" y="31"/>
                  </a:lnTo>
                  <a:lnTo>
                    <a:pt x="26" y="28"/>
                  </a:lnTo>
                  <a:lnTo>
                    <a:pt x="29" y="26"/>
                  </a:lnTo>
                  <a:lnTo>
                    <a:pt x="32" y="24"/>
                  </a:lnTo>
                  <a:lnTo>
                    <a:pt x="36" y="23"/>
                  </a:lnTo>
                  <a:lnTo>
                    <a:pt x="39" y="21"/>
                  </a:lnTo>
                  <a:lnTo>
                    <a:pt x="42" y="18"/>
                  </a:lnTo>
                  <a:lnTo>
                    <a:pt x="46" y="17"/>
                  </a:lnTo>
                  <a:lnTo>
                    <a:pt x="49" y="16"/>
                  </a:lnTo>
                  <a:lnTo>
                    <a:pt x="52" y="14"/>
                  </a:lnTo>
                  <a:lnTo>
                    <a:pt x="56" y="13"/>
                  </a:lnTo>
                  <a:lnTo>
                    <a:pt x="59" y="10"/>
                  </a:lnTo>
                  <a:lnTo>
                    <a:pt x="64" y="10"/>
                  </a:lnTo>
                  <a:lnTo>
                    <a:pt x="67" y="7"/>
                  </a:lnTo>
                  <a:lnTo>
                    <a:pt x="70" y="7"/>
                  </a:lnTo>
                  <a:lnTo>
                    <a:pt x="73" y="6"/>
                  </a:lnTo>
                  <a:lnTo>
                    <a:pt x="77" y="6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75" name="Freeform 14"/>
            <p:cNvSpPr>
              <a:spLocks/>
            </p:cNvSpPr>
            <p:nvPr/>
          </p:nvSpPr>
          <p:spPr bwMode="auto">
            <a:xfrm>
              <a:off x="2190" y="1213"/>
              <a:ext cx="34" cy="110"/>
            </a:xfrm>
            <a:custGeom>
              <a:avLst/>
              <a:gdLst>
                <a:gd name="T0" fmla="*/ 0 w 102"/>
                <a:gd name="T1" fmla="*/ 0 h 330"/>
                <a:gd name="T2" fmla="*/ 0 w 102"/>
                <a:gd name="T3" fmla="*/ 0 h 330"/>
                <a:gd name="T4" fmla="*/ 0 w 102"/>
                <a:gd name="T5" fmla="*/ 0 h 330"/>
                <a:gd name="T6" fmla="*/ 0 w 102"/>
                <a:gd name="T7" fmla="*/ 0 h 330"/>
                <a:gd name="T8" fmla="*/ 0 w 102"/>
                <a:gd name="T9" fmla="*/ 0 h 330"/>
                <a:gd name="T10" fmla="*/ 0 w 102"/>
                <a:gd name="T11" fmla="*/ 0 h 330"/>
                <a:gd name="T12" fmla="*/ 0 w 102"/>
                <a:gd name="T13" fmla="*/ 0 h 330"/>
                <a:gd name="T14" fmla="*/ 0 w 102"/>
                <a:gd name="T15" fmla="*/ 0 h 330"/>
                <a:gd name="T16" fmla="*/ 0 w 102"/>
                <a:gd name="T17" fmla="*/ 0 h 330"/>
                <a:gd name="T18" fmla="*/ 0 w 102"/>
                <a:gd name="T19" fmla="*/ 0 h 330"/>
                <a:gd name="T20" fmla="*/ 0 w 102"/>
                <a:gd name="T21" fmla="*/ 0 h 330"/>
                <a:gd name="T22" fmla="*/ 0 w 102"/>
                <a:gd name="T23" fmla="*/ 0 h 330"/>
                <a:gd name="T24" fmla="*/ 0 w 102"/>
                <a:gd name="T25" fmla="*/ 0 h 330"/>
                <a:gd name="T26" fmla="*/ 0 w 102"/>
                <a:gd name="T27" fmla="*/ 0 h 330"/>
                <a:gd name="T28" fmla="*/ 0 w 102"/>
                <a:gd name="T29" fmla="*/ 0 h 330"/>
                <a:gd name="T30" fmla="*/ 0 w 102"/>
                <a:gd name="T31" fmla="*/ 0 h 330"/>
                <a:gd name="T32" fmla="*/ 0 w 102"/>
                <a:gd name="T33" fmla="*/ 0 h 330"/>
                <a:gd name="T34" fmla="*/ 0 w 102"/>
                <a:gd name="T35" fmla="*/ 0 h 330"/>
                <a:gd name="T36" fmla="*/ 0 w 102"/>
                <a:gd name="T37" fmla="*/ 0 h 330"/>
                <a:gd name="T38" fmla="*/ 0 w 102"/>
                <a:gd name="T39" fmla="*/ 0 h 330"/>
                <a:gd name="T40" fmla="*/ 0 w 102"/>
                <a:gd name="T41" fmla="*/ 0 h 330"/>
                <a:gd name="T42" fmla="*/ 0 w 102"/>
                <a:gd name="T43" fmla="*/ 0 h 330"/>
                <a:gd name="T44" fmla="*/ 0 w 102"/>
                <a:gd name="T45" fmla="*/ 0 h 330"/>
                <a:gd name="T46" fmla="*/ 0 w 102"/>
                <a:gd name="T47" fmla="*/ 0 h 330"/>
                <a:gd name="T48" fmla="*/ 0 w 102"/>
                <a:gd name="T49" fmla="*/ 0 h 330"/>
                <a:gd name="T50" fmla="*/ 0 w 102"/>
                <a:gd name="T51" fmla="*/ 0 h 330"/>
                <a:gd name="T52" fmla="*/ 0 w 102"/>
                <a:gd name="T53" fmla="*/ 0 h 330"/>
                <a:gd name="T54" fmla="*/ 0 w 102"/>
                <a:gd name="T55" fmla="*/ 0 h 330"/>
                <a:gd name="T56" fmla="*/ 0 w 102"/>
                <a:gd name="T57" fmla="*/ 0 h 330"/>
                <a:gd name="T58" fmla="*/ 0 w 102"/>
                <a:gd name="T59" fmla="*/ 0 h 330"/>
                <a:gd name="T60" fmla="*/ 0 w 102"/>
                <a:gd name="T61" fmla="*/ 0 h 330"/>
                <a:gd name="T62" fmla="*/ 0 w 102"/>
                <a:gd name="T63" fmla="*/ 0 h 330"/>
                <a:gd name="T64" fmla="*/ 0 w 102"/>
                <a:gd name="T65" fmla="*/ 0 h 330"/>
                <a:gd name="T66" fmla="*/ 0 w 102"/>
                <a:gd name="T67" fmla="*/ 0 h 330"/>
                <a:gd name="T68" fmla="*/ 0 w 102"/>
                <a:gd name="T69" fmla="*/ 0 h 330"/>
                <a:gd name="T70" fmla="*/ 0 w 102"/>
                <a:gd name="T71" fmla="*/ 0 h 330"/>
                <a:gd name="T72" fmla="*/ 0 w 102"/>
                <a:gd name="T73" fmla="*/ 0 h 330"/>
                <a:gd name="T74" fmla="*/ 0 w 102"/>
                <a:gd name="T75" fmla="*/ 0 h 330"/>
                <a:gd name="T76" fmla="*/ 0 w 102"/>
                <a:gd name="T77" fmla="*/ 0 h 330"/>
                <a:gd name="T78" fmla="*/ 0 w 102"/>
                <a:gd name="T79" fmla="*/ 0 h 330"/>
                <a:gd name="T80" fmla="*/ 0 w 102"/>
                <a:gd name="T81" fmla="*/ 0 h 330"/>
                <a:gd name="T82" fmla="*/ 0 w 102"/>
                <a:gd name="T83" fmla="*/ 0 h 330"/>
                <a:gd name="T84" fmla="*/ 0 w 102"/>
                <a:gd name="T85" fmla="*/ 0 h 330"/>
                <a:gd name="T86" fmla="*/ 0 w 102"/>
                <a:gd name="T87" fmla="*/ 0 h 330"/>
                <a:gd name="T88" fmla="*/ 0 w 102"/>
                <a:gd name="T89" fmla="*/ 0 h 330"/>
                <a:gd name="T90" fmla="*/ 0 w 102"/>
                <a:gd name="T91" fmla="*/ 0 h 330"/>
                <a:gd name="T92" fmla="*/ 0 w 102"/>
                <a:gd name="T93" fmla="*/ 0 h 330"/>
                <a:gd name="T94" fmla="*/ 0 w 102"/>
                <a:gd name="T95" fmla="*/ 0 h 330"/>
                <a:gd name="T96" fmla="*/ 0 w 102"/>
                <a:gd name="T97" fmla="*/ 0 h 330"/>
                <a:gd name="T98" fmla="*/ 0 w 102"/>
                <a:gd name="T99" fmla="*/ 0 h 330"/>
                <a:gd name="T100" fmla="*/ 0 w 102"/>
                <a:gd name="T101" fmla="*/ 0 h 330"/>
                <a:gd name="T102" fmla="*/ 0 w 102"/>
                <a:gd name="T103" fmla="*/ 0 h 330"/>
                <a:gd name="T104" fmla="*/ 0 w 102"/>
                <a:gd name="T105" fmla="*/ 0 h 330"/>
                <a:gd name="T106" fmla="*/ 0 w 102"/>
                <a:gd name="T107" fmla="*/ 0 h 330"/>
                <a:gd name="T108" fmla="*/ 0 w 102"/>
                <a:gd name="T109" fmla="*/ 0 h 330"/>
                <a:gd name="T110" fmla="*/ 0 w 102"/>
                <a:gd name="T111" fmla="*/ 0 h 330"/>
                <a:gd name="T112" fmla="*/ 0 w 102"/>
                <a:gd name="T113" fmla="*/ 0 h 330"/>
                <a:gd name="T114" fmla="*/ 0 w 102"/>
                <a:gd name="T115" fmla="*/ 0 h 33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02"/>
                <a:gd name="T175" fmla="*/ 0 h 330"/>
                <a:gd name="T176" fmla="*/ 102 w 102"/>
                <a:gd name="T177" fmla="*/ 330 h 33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02" h="330">
                  <a:moveTo>
                    <a:pt x="18" y="99"/>
                  </a:moveTo>
                  <a:lnTo>
                    <a:pt x="18" y="102"/>
                  </a:lnTo>
                  <a:lnTo>
                    <a:pt x="18" y="105"/>
                  </a:lnTo>
                  <a:lnTo>
                    <a:pt x="18" y="109"/>
                  </a:lnTo>
                  <a:lnTo>
                    <a:pt x="20" y="112"/>
                  </a:lnTo>
                  <a:lnTo>
                    <a:pt x="20" y="116"/>
                  </a:lnTo>
                  <a:lnTo>
                    <a:pt x="21" y="119"/>
                  </a:lnTo>
                  <a:lnTo>
                    <a:pt x="21" y="125"/>
                  </a:lnTo>
                  <a:lnTo>
                    <a:pt x="21" y="129"/>
                  </a:lnTo>
                  <a:lnTo>
                    <a:pt x="21" y="132"/>
                  </a:lnTo>
                  <a:lnTo>
                    <a:pt x="21" y="136"/>
                  </a:lnTo>
                  <a:lnTo>
                    <a:pt x="21" y="140"/>
                  </a:lnTo>
                  <a:lnTo>
                    <a:pt x="21" y="145"/>
                  </a:lnTo>
                  <a:lnTo>
                    <a:pt x="21" y="150"/>
                  </a:lnTo>
                  <a:lnTo>
                    <a:pt x="21" y="155"/>
                  </a:lnTo>
                  <a:lnTo>
                    <a:pt x="21" y="159"/>
                  </a:lnTo>
                  <a:lnTo>
                    <a:pt x="23" y="163"/>
                  </a:lnTo>
                  <a:lnTo>
                    <a:pt x="21" y="168"/>
                  </a:lnTo>
                  <a:lnTo>
                    <a:pt x="21" y="172"/>
                  </a:lnTo>
                  <a:lnTo>
                    <a:pt x="21" y="177"/>
                  </a:lnTo>
                  <a:lnTo>
                    <a:pt x="21" y="182"/>
                  </a:lnTo>
                  <a:lnTo>
                    <a:pt x="20" y="187"/>
                  </a:lnTo>
                  <a:lnTo>
                    <a:pt x="20" y="190"/>
                  </a:lnTo>
                  <a:lnTo>
                    <a:pt x="20" y="196"/>
                  </a:lnTo>
                  <a:lnTo>
                    <a:pt x="20" y="200"/>
                  </a:lnTo>
                  <a:lnTo>
                    <a:pt x="18" y="206"/>
                  </a:lnTo>
                  <a:lnTo>
                    <a:pt x="18" y="210"/>
                  </a:lnTo>
                  <a:lnTo>
                    <a:pt x="18" y="214"/>
                  </a:lnTo>
                  <a:lnTo>
                    <a:pt x="18" y="219"/>
                  </a:lnTo>
                  <a:lnTo>
                    <a:pt x="18" y="224"/>
                  </a:lnTo>
                  <a:lnTo>
                    <a:pt x="18" y="227"/>
                  </a:lnTo>
                  <a:lnTo>
                    <a:pt x="18" y="233"/>
                  </a:lnTo>
                  <a:lnTo>
                    <a:pt x="18" y="239"/>
                  </a:lnTo>
                  <a:lnTo>
                    <a:pt x="17" y="243"/>
                  </a:lnTo>
                  <a:lnTo>
                    <a:pt x="17" y="246"/>
                  </a:lnTo>
                  <a:lnTo>
                    <a:pt x="15" y="250"/>
                  </a:lnTo>
                  <a:lnTo>
                    <a:pt x="15" y="254"/>
                  </a:lnTo>
                  <a:lnTo>
                    <a:pt x="15" y="259"/>
                  </a:lnTo>
                  <a:lnTo>
                    <a:pt x="15" y="263"/>
                  </a:lnTo>
                  <a:lnTo>
                    <a:pt x="15" y="267"/>
                  </a:lnTo>
                  <a:lnTo>
                    <a:pt x="17" y="271"/>
                  </a:lnTo>
                  <a:lnTo>
                    <a:pt x="17" y="274"/>
                  </a:lnTo>
                  <a:lnTo>
                    <a:pt x="17" y="278"/>
                  </a:lnTo>
                  <a:lnTo>
                    <a:pt x="17" y="281"/>
                  </a:lnTo>
                  <a:lnTo>
                    <a:pt x="17" y="287"/>
                  </a:lnTo>
                  <a:lnTo>
                    <a:pt x="17" y="290"/>
                  </a:lnTo>
                  <a:lnTo>
                    <a:pt x="18" y="293"/>
                  </a:lnTo>
                  <a:lnTo>
                    <a:pt x="18" y="296"/>
                  </a:lnTo>
                  <a:lnTo>
                    <a:pt x="18" y="300"/>
                  </a:lnTo>
                  <a:lnTo>
                    <a:pt x="18" y="303"/>
                  </a:lnTo>
                  <a:lnTo>
                    <a:pt x="20" y="305"/>
                  </a:lnTo>
                  <a:lnTo>
                    <a:pt x="21" y="308"/>
                  </a:lnTo>
                  <a:lnTo>
                    <a:pt x="23" y="310"/>
                  </a:lnTo>
                  <a:lnTo>
                    <a:pt x="25" y="315"/>
                  </a:lnTo>
                  <a:lnTo>
                    <a:pt x="28" y="320"/>
                  </a:lnTo>
                  <a:lnTo>
                    <a:pt x="31" y="323"/>
                  </a:lnTo>
                  <a:lnTo>
                    <a:pt x="34" y="325"/>
                  </a:lnTo>
                  <a:lnTo>
                    <a:pt x="40" y="327"/>
                  </a:lnTo>
                  <a:lnTo>
                    <a:pt x="44" y="328"/>
                  </a:lnTo>
                  <a:lnTo>
                    <a:pt x="48" y="328"/>
                  </a:lnTo>
                  <a:lnTo>
                    <a:pt x="54" y="330"/>
                  </a:lnTo>
                  <a:lnTo>
                    <a:pt x="58" y="328"/>
                  </a:lnTo>
                  <a:lnTo>
                    <a:pt x="62" y="328"/>
                  </a:lnTo>
                  <a:lnTo>
                    <a:pt x="65" y="327"/>
                  </a:lnTo>
                  <a:lnTo>
                    <a:pt x="69" y="325"/>
                  </a:lnTo>
                  <a:lnTo>
                    <a:pt x="72" y="324"/>
                  </a:lnTo>
                  <a:lnTo>
                    <a:pt x="77" y="323"/>
                  </a:lnTo>
                  <a:lnTo>
                    <a:pt x="79" y="320"/>
                  </a:lnTo>
                  <a:lnTo>
                    <a:pt x="82" y="317"/>
                  </a:lnTo>
                  <a:lnTo>
                    <a:pt x="85" y="314"/>
                  </a:lnTo>
                  <a:lnTo>
                    <a:pt x="87" y="311"/>
                  </a:lnTo>
                  <a:lnTo>
                    <a:pt x="89" y="308"/>
                  </a:lnTo>
                  <a:lnTo>
                    <a:pt x="91" y="304"/>
                  </a:lnTo>
                  <a:lnTo>
                    <a:pt x="92" y="300"/>
                  </a:lnTo>
                  <a:lnTo>
                    <a:pt x="95" y="297"/>
                  </a:lnTo>
                  <a:lnTo>
                    <a:pt x="95" y="293"/>
                  </a:lnTo>
                  <a:lnTo>
                    <a:pt x="96" y="288"/>
                  </a:lnTo>
                  <a:lnTo>
                    <a:pt x="98" y="283"/>
                  </a:lnTo>
                  <a:lnTo>
                    <a:pt x="99" y="278"/>
                  </a:lnTo>
                  <a:lnTo>
                    <a:pt x="99" y="274"/>
                  </a:lnTo>
                  <a:lnTo>
                    <a:pt x="99" y="270"/>
                  </a:lnTo>
                  <a:lnTo>
                    <a:pt x="101" y="266"/>
                  </a:lnTo>
                  <a:lnTo>
                    <a:pt x="102" y="260"/>
                  </a:lnTo>
                  <a:lnTo>
                    <a:pt x="102" y="256"/>
                  </a:lnTo>
                  <a:lnTo>
                    <a:pt x="102" y="250"/>
                  </a:lnTo>
                  <a:lnTo>
                    <a:pt x="102" y="244"/>
                  </a:lnTo>
                  <a:lnTo>
                    <a:pt x="102" y="240"/>
                  </a:lnTo>
                  <a:lnTo>
                    <a:pt x="102" y="236"/>
                  </a:lnTo>
                  <a:lnTo>
                    <a:pt x="102" y="230"/>
                  </a:lnTo>
                  <a:lnTo>
                    <a:pt x="101" y="226"/>
                  </a:lnTo>
                  <a:lnTo>
                    <a:pt x="101" y="222"/>
                  </a:lnTo>
                  <a:lnTo>
                    <a:pt x="99" y="219"/>
                  </a:lnTo>
                  <a:lnTo>
                    <a:pt x="99" y="216"/>
                  </a:lnTo>
                  <a:lnTo>
                    <a:pt x="99" y="213"/>
                  </a:lnTo>
                  <a:lnTo>
                    <a:pt x="99" y="210"/>
                  </a:lnTo>
                  <a:lnTo>
                    <a:pt x="98" y="207"/>
                  </a:lnTo>
                  <a:lnTo>
                    <a:pt x="96" y="204"/>
                  </a:lnTo>
                  <a:lnTo>
                    <a:pt x="96" y="200"/>
                  </a:lnTo>
                  <a:lnTo>
                    <a:pt x="96" y="197"/>
                  </a:lnTo>
                  <a:lnTo>
                    <a:pt x="95" y="193"/>
                  </a:lnTo>
                  <a:lnTo>
                    <a:pt x="95" y="189"/>
                  </a:lnTo>
                  <a:lnTo>
                    <a:pt x="94" y="185"/>
                  </a:lnTo>
                  <a:lnTo>
                    <a:pt x="94" y="182"/>
                  </a:lnTo>
                  <a:lnTo>
                    <a:pt x="92" y="176"/>
                  </a:lnTo>
                  <a:lnTo>
                    <a:pt x="91" y="172"/>
                  </a:lnTo>
                  <a:lnTo>
                    <a:pt x="89" y="168"/>
                  </a:lnTo>
                  <a:lnTo>
                    <a:pt x="89" y="163"/>
                  </a:lnTo>
                  <a:lnTo>
                    <a:pt x="88" y="159"/>
                  </a:lnTo>
                  <a:lnTo>
                    <a:pt x="87" y="153"/>
                  </a:lnTo>
                  <a:lnTo>
                    <a:pt x="85" y="149"/>
                  </a:lnTo>
                  <a:lnTo>
                    <a:pt x="84" y="143"/>
                  </a:lnTo>
                  <a:lnTo>
                    <a:pt x="82" y="139"/>
                  </a:lnTo>
                  <a:lnTo>
                    <a:pt x="81" y="135"/>
                  </a:lnTo>
                  <a:lnTo>
                    <a:pt x="79" y="129"/>
                  </a:lnTo>
                  <a:lnTo>
                    <a:pt x="78" y="125"/>
                  </a:lnTo>
                  <a:lnTo>
                    <a:pt x="77" y="119"/>
                  </a:lnTo>
                  <a:lnTo>
                    <a:pt x="74" y="113"/>
                  </a:lnTo>
                  <a:lnTo>
                    <a:pt x="74" y="109"/>
                  </a:lnTo>
                  <a:lnTo>
                    <a:pt x="71" y="104"/>
                  </a:lnTo>
                  <a:lnTo>
                    <a:pt x="71" y="99"/>
                  </a:lnTo>
                  <a:lnTo>
                    <a:pt x="68" y="94"/>
                  </a:lnTo>
                  <a:lnTo>
                    <a:pt x="67" y="89"/>
                  </a:lnTo>
                  <a:lnTo>
                    <a:pt x="65" y="85"/>
                  </a:lnTo>
                  <a:lnTo>
                    <a:pt x="64" y="79"/>
                  </a:lnTo>
                  <a:lnTo>
                    <a:pt x="62" y="75"/>
                  </a:lnTo>
                  <a:lnTo>
                    <a:pt x="61" y="69"/>
                  </a:lnTo>
                  <a:lnTo>
                    <a:pt x="58" y="65"/>
                  </a:lnTo>
                  <a:lnTo>
                    <a:pt x="57" y="61"/>
                  </a:lnTo>
                  <a:lnTo>
                    <a:pt x="55" y="57"/>
                  </a:lnTo>
                  <a:lnTo>
                    <a:pt x="54" y="52"/>
                  </a:lnTo>
                  <a:lnTo>
                    <a:pt x="52" y="48"/>
                  </a:lnTo>
                  <a:lnTo>
                    <a:pt x="50" y="44"/>
                  </a:lnTo>
                  <a:lnTo>
                    <a:pt x="48" y="38"/>
                  </a:lnTo>
                  <a:lnTo>
                    <a:pt x="45" y="35"/>
                  </a:lnTo>
                  <a:lnTo>
                    <a:pt x="44" y="31"/>
                  </a:lnTo>
                  <a:lnTo>
                    <a:pt x="42" y="28"/>
                  </a:lnTo>
                  <a:lnTo>
                    <a:pt x="41" y="25"/>
                  </a:lnTo>
                  <a:lnTo>
                    <a:pt x="40" y="22"/>
                  </a:lnTo>
                  <a:lnTo>
                    <a:pt x="38" y="20"/>
                  </a:lnTo>
                  <a:lnTo>
                    <a:pt x="37" y="17"/>
                  </a:lnTo>
                  <a:lnTo>
                    <a:pt x="34" y="14"/>
                  </a:lnTo>
                  <a:lnTo>
                    <a:pt x="34" y="10"/>
                  </a:lnTo>
                  <a:lnTo>
                    <a:pt x="31" y="8"/>
                  </a:lnTo>
                  <a:lnTo>
                    <a:pt x="28" y="4"/>
                  </a:lnTo>
                  <a:lnTo>
                    <a:pt x="27" y="3"/>
                  </a:lnTo>
                  <a:lnTo>
                    <a:pt x="20" y="0"/>
                  </a:lnTo>
                  <a:lnTo>
                    <a:pt x="15" y="3"/>
                  </a:lnTo>
                  <a:lnTo>
                    <a:pt x="11" y="5"/>
                  </a:lnTo>
                  <a:lnTo>
                    <a:pt x="8" y="10"/>
                  </a:lnTo>
                  <a:lnTo>
                    <a:pt x="4" y="14"/>
                  </a:lnTo>
                  <a:lnTo>
                    <a:pt x="3" y="17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8"/>
                  </a:lnTo>
                  <a:lnTo>
                    <a:pt x="1" y="42"/>
                  </a:lnTo>
                  <a:lnTo>
                    <a:pt x="3" y="45"/>
                  </a:lnTo>
                  <a:lnTo>
                    <a:pt x="3" y="48"/>
                  </a:lnTo>
                  <a:lnTo>
                    <a:pt x="4" y="51"/>
                  </a:lnTo>
                  <a:lnTo>
                    <a:pt x="6" y="57"/>
                  </a:lnTo>
                  <a:lnTo>
                    <a:pt x="7" y="59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1" y="75"/>
                  </a:lnTo>
                  <a:lnTo>
                    <a:pt x="11" y="78"/>
                  </a:lnTo>
                  <a:lnTo>
                    <a:pt x="13" y="79"/>
                  </a:lnTo>
                  <a:lnTo>
                    <a:pt x="13" y="82"/>
                  </a:lnTo>
                  <a:lnTo>
                    <a:pt x="14" y="85"/>
                  </a:lnTo>
                  <a:lnTo>
                    <a:pt x="14" y="88"/>
                  </a:lnTo>
                  <a:lnTo>
                    <a:pt x="15" y="91"/>
                  </a:lnTo>
                  <a:lnTo>
                    <a:pt x="15" y="95"/>
                  </a:lnTo>
                  <a:lnTo>
                    <a:pt x="18" y="99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76" name="Freeform 15"/>
            <p:cNvSpPr>
              <a:spLocks/>
            </p:cNvSpPr>
            <p:nvPr/>
          </p:nvSpPr>
          <p:spPr bwMode="auto">
            <a:xfrm>
              <a:off x="1899" y="1341"/>
              <a:ext cx="50" cy="73"/>
            </a:xfrm>
            <a:custGeom>
              <a:avLst/>
              <a:gdLst>
                <a:gd name="T0" fmla="*/ 0 w 151"/>
                <a:gd name="T1" fmla="*/ 0 h 219"/>
                <a:gd name="T2" fmla="*/ 0 w 151"/>
                <a:gd name="T3" fmla="*/ 0 h 219"/>
                <a:gd name="T4" fmla="*/ 0 w 151"/>
                <a:gd name="T5" fmla="*/ 0 h 219"/>
                <a:gd name="T6" fmla="*/ 0 w 151"/>
                <a:gd name="T7" fmla="*/ 0 h 219"/>
                <a:gd name="T8" fmla="*/ 0 w 151"/>
                <a:gd name="T9" fmla="*/ 0 h 219"/>
                <a:gd name="T10" fmla="*/ 0 w 151"/>
                <a:gd name="T11" fmla="*/ 0 h 219"/>
                <a:gd name="T12" fmla="*/ 0 w 151"/>
                <a:gd name="T13" fmla="*/ 0 h 219"/>
                <a:gd name="T14" fmla="*/ 0 w 151"/>
                <a:gd name="T15" fmla="*/ 0 h 219"/>
                <a:gd name="T16" fmla="*/ 0 w 151"/>
                <a:gd name="T17" fmla="*/ 0 h 219"/>
                <a:gd name="T18" fmla="*/ 0 w 151"/>
                <a:gd name="T19" fmla="*/ 0 h 219"/>
                <a:gd name="T20" fmla="*/ 0 w 151"/>
                <a:gd name="T21" fmla="*/ 0 h 219"/>
                <a:gd name="T22" fmla="*/ 0 w 151"/>
                <a:gd name="T23" fmla="*/ 0 h 219"/>
                <a:gd name="T24" fmla="*/ 0 w 151"/>
                <a:gd name="T25" fmla="*/ 0 h 219"/>
                <a:gd name="T26" fmla="*/ 0 w 151"/>
                <a:gd name="T27" fmla="*/ 0 h 219"/>
                <a:gd name="T28" fmla="*/ 0 w 151"/>
                <a:gd name="T29" fmla="*/ 0 h 219"/>
                <a:gd name="T30" fmla="*/ 0 w 151"/>
                <a:gd name="T31" fmla="*/ 0 h 219"/>
                <a:gd name="T32" fmla="*/ 0 w 151"/>
                <a:gd name="T33" fmla="*/ 0 h 219"/>
                <a:gd name="T34" fmla="*/ 0 w 151"/>
                <a:gd name="T35" fmla="*/ 0 h 219"/>
                <a:gd name="T36" fmla="*/ 0 w 151"/>
                <a:gd name="T37" fmla="*/ 0 h 219"/>
                <a:gd name="T38" fmla="*/ 0 w 151"/>
                <a:gd name="T39" fmla="*/ 0 h 219"/>
                <a:gd name="T40" fmla="*/ 0 w 151"/>
                <a:gd name="T41" fmla="*/ 0 h 219"/>
                <a:gd name="T42" fmla="*/ 0 w 151"/>
                <a:gd name="T43" fmla="*/ 0 h 219"/>
                <a:gd name="T44" fmla="*/ 0 w 151"/>
                <a:gd name="T45" fmla="*/ 0 h 219"/>
                <a:gd name="T46" fmla="*/ 0 w 151"/>
                <a:gd name="T47" fmla="*/ 0 h 219"/>
                <a:gd name="T48" fmla="*/ 0 w 151"/>
                <a:gd name="T49" fmla="*/ 0 h 219"/>
                <a:gd name="T50" fmla="*/ 0 w 151"/>
                <a:gd name="T51" fmla="*/ 0 h 219"/>
                <a:gd name="T52" fmla="*/ 0 w 151"/>
                <a:gd name="T53" fmla="*/ 0 h 219"/>
                <a:gd name="T54" fmla="*/ 0 w 151"/>
                <a:gd name="T55" fmla="*/ 0 h 219"/>
                <a:gd name="T56" fmla="*/ 0 w 151"/>
                <a:gd name="T57" fmla="*/ 0 h 219"/>
                <a:gd name="T58" fmla="*/ 0 w 151"/>
                <a:gd name="T59" fmla="*/ 0 h 219"/>
                <a:gd name="T60" fmla="*/ 0 w 151"/>
                <a:gd name="T61" fmla="*/ 0 h 219"/>
                <a:gd name="T62" fmla="*/ 0 w 151"/>
                <a:gd name="T63" fmla="*/ 0 h 219"/>
                <a:gd name="T64" fmla="*/ 0 w 151"/>
                <a:gd name="T65" fmla="*/ 0 h 219"/>
                <a:gd name="T66" fmla="*/ 0 w 151"/>
                <a:gd name="T67" fmla="*/ 0 h 219"/>
                <a:gd name="T68" fmla="*/ 0 w 151"/>
                <a:gd name="T69" fmla="*/ 0 h 219"/>
                <a:gd name="T70" fmla="*/ 0 w 151"/>
                <a:gd name="T71" fmla="*/ 0 h 219"/>
                <a:gd name="T72" fmla="*/ 0 w 151"/>
                <a:gd name="T73" fmla="*/ 0 h 219"/>
                <a:gd name="T74" fmla="*/ 0 w 151"/>
                <a:gd name="T75" fmla="*/ 0 h 219"/>
                <a:gd name="T76" fmla="*/ 0 w 151"/>
                <a:gd name="T77" fmla="*/ 0 h 219"/>
                <a:gd name="T78" fmla="*/ 0 w 151"/>
                <a:gd name="T79" fmla="*/ 0 h 219"/>
                <a:gd name="T80" fmla="*/ 0 w 151"/>
                <a:gd name="T81" fmla="*/ 0 h 219"/>
                <a:gd name="T82" fmla="*/ 0 w 151"/>
                <a:gd name="T83" fmla="*/ 0 h 219"/>
                <a:gd name="T84" fmla="*/ 0 w 151"/>
                <a:gd name="T85" fmla="*/ 0 h 219"/>
                <a:gd name="T86" fmla="*/ 0 w 151"/>
                <a:gd name="T87" fmla="*/ 0 h 21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1"/>
                <a:gd name="T133" fmla="*/ 0 h 219"/>
                <a:gd name="T134" fmla="*/ 151 w 151"/>
                <a:gd name="T135" fmla="*/ 219 h 21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1" h="219">
                  <a:moveTo>
                    <a:pt x="2" y="66"/>
                  </a:moveTo>
                  <a:lnTo>
                    <a:pt x="2" y="67"/>
                  </a:lnTo>
                  <a:lnTo>
                    <a:pt x="3" y="70"/>
                  </a:lnTo>
                  <a:lnTo>
                    <a:pt x="5" y="74"/>
                  </a:lnTo>
                  <a:lnTo>
                    <a:pt x="5" y="77"/>
                  </a:lnTo>
                  <a:lnTo>
                    <a:pt x="8" y="80"/>
                  </a:lnTo>
                  <a:lnTo>
                    <a:pt x="9" y="85"/>
                  </a:lnTo>
                  <a:lnTo>
                    <a:pt x="10" y="90"/>
                  </a:lnTo>
                  <a:lnTo>
                    <a:pt x="13" y="94"/>
                  </a:lnTo>
                  <a:lnTo>
                    <a:pt x="13" y="98"/>
                  </a:lnTo>
                  <a:lnTo>
                    <a:pt x="16" y="103"/>
                  </a:lnTo>
                  <a:lnTo>
                    <a:pt x="19" y="108"/>
                  </a:lnTo>
                  <a:lnTo>
                    <a:pt x="22" y="114"/>
                  </a:lnTo>
                  <a:lnTo>
                    <a:pt x="25" y="118"/>
                  </a:lnTo>
                  <a:lnTo>
                    <a:pt x="27" y="124"/>
                  </a:lnTo>
                  <a:lnTo>
                    <a:pt x="29" y="127"/>
                  </a:lnTo>
                  <a:lnTo>
                    <a:pt x="30" y="130"/>
                  </a:lnTo>
                  <a:lnTo>
                    <a:pt x="32" y="132"/>
                  </a:lnTo>
                  <a:lnTo>
                    <a:pt x="33" y="135"/>
                  </a:lnTo>
                  <a:lnTo>
                    <a:pt x="36" y="139"/>
                  </a:lnTo>
                  <a:lnTo>
                    <a:pt x="39" y="145"/>
                  </a:lnTo>
                  <a:lnTo>
                    <a:pt x="42" y="151"/>
                  </a:lnTo>
                  <a:lnTo>
                    <a:pt x="44" y="157"/>
                  </a:lnTo>
                  <a:lnTo>
                    <a:pt x="47" y="161"/>
                  </a:lnTo>
                  <a:lnTo>
                    <a:pt x="52" y="167"/>
                  </a:lnTo>
                  <a:lnTo>
                    <a:pt x="54" y="171"/>
                  </a:lnTo>
                  <a:lnTo>
                    <a:pt x="57" y="176"/>
                  </a:lnTo>
                  <a:lnTo>
                    <a:pt x="60" y="179"/>
                  </a:lnTo>
                  <a:lnTo>
                    <a:pt x="63" y="185"/>
                  </a:lnTo>
                  <a:lnTo>
                    <a:pt x="66" y="188"/>
                  </a:lnTo>
                  <a:lnTo>
                    <a:pt x="70" y="192"/>
                  </a:lnTo>
                  <a:lnTo>
                    <a:pt x="73" y="195"/>
                  </a:lnTo>
                  <a:lnTo>
                    <a:pt x="76" y="198"/>
                  </a:lnTo>
                  <a:lnTo>
                    <a:pt x="80" y="202"/>
                  </a:lnTo>
                  <a:lnTo>
                    <a:pt x="83" y="205"/>
                  </a:lnTo>
                  <a:lnTo>
                    <a:pt x="86" y="205"/>
                  </a:lnTo>
                  <a:lnTo>
                    <a:pt x="89" y="208"/>
                  </a:lnTo>
                  <a:lnTo>
                    <a:pt x="91" y="209"/>
                  </a:lnTo>
                  <a:lnTo>
                    <a:pt x="96" y="211"/>
                  </a:lnTo>
                  <a:lnTo>
                    <a:pt x="98" y="212"/>
                  </a:lnTo>
                  <a:lnTo>
                    <a:pt x="103" y="213"/>
                  </a:lnTo>
                  <a:lnTo>
                    <a:pt x="106" y="215"/>
                  </a:lnTo>
                  <a:lnTo>
                    <a:pt x="110" y="216"/>
                  </a:lnTo>
                  <a:lnTo>
                    <a:pt x="113" y="216"/>
                  </a:lnTo>
                  <a:lnTo>
                    <a:pt x="117" y="218"/>
                  </a:lnTo>
                  <a:lnTo>
                    <a:pt x="120" y="218"/>
                  </a:lnTo>
                  <a:lnTo>
                    <a:pt x="123" y="219"/>
                  </a:lnTo>
                  <a:lnTo>
                    <a:pt x="125" y="219"/>
                  </a:lnTo>
                  <a:lnTo>
                    <a:pt x="128" y="219"/>
                  </a:lnTo>
                  <a:lnTo>
                    <a:pt x="133" y="219"/>
                  </a:lnTo>
                  <a:lnTo>
                    <a:pt x="135" y="219"/>
                  </a:lnTo>
                  <a:lnTo>
                    <a:pt x="141" y="218"/>
                  </a:lnTo>
                  <a:lnTo>
                    <a:pt x="145" y="216"/>
                  </a:lnTo>
                  <a:lnTo>
                    <a:pt x="148" y="213"/>
                  </a:lnTo>
                  <a:lnTo>
                    <a:pt x="150" y="211"/>
                  </a:lnTo>
                  <a:lnTo>
                    <a:pt x="151" y="205"/>
                  </a:lnTo>
                  <a:lnTo>
                    <a:pt x="150" y="202"/>
                  </a:lnTo>
                  <a:lnTo>
                    <a:pt x="150" y="198"/>
                  </a:lnTo>
                  <a:lnTo>
                    <a:pt x="147" y="195"/>
                  </a:lnTo>
                  <a:lnTo>
                    <a:pt x="145" y="192"/>
                  </a:lnTo>
                  <a:lnTo>
                    <a:pt x="144" y="189"/>
                  </a:lnTo>
                  <a:lnTo>
                    <a:pt x="141" y="185"/>
                  </a:lnTo>
                  <a:lnTo>
                    <a:pt x="137" y="181"/>
                  </a:lnTo>
                  <a:lnTo>
                    <a:pt x="135" y="178"/>
                  </a:lnTo>
                  <a:lnTo>
                    <a:pt x="134" y="175"/>
                  </a:lnTo>
                  <a:lnTo>
                    <a:pt x="133" y="172"/>
                  </a:lnTo>
                  <a:lnTo>
                    <a:pt x="131" y="169"/>
                  </a:lnTo>
                  <a:lnTo>
                    <a:pt x="128" y="167"/>
                  </a:lnTo>
                  <a:lnTo>
                    <a:pt x="127" y="164"/>
                  </a:lnTo>
                  <a:lnTo>
                    <a:pt x="125" y="159"/>
                  </a:lnTo>
                  <a:lnTo>
                    <a:pt x="123" y="157"/>
                  </a:lnTo>
                  <a:lnTo>
                    <a:pt x="121" y="152"/>
                  </a:lnTo>
                  <a:lnTo>
                    <a:pt x="120" y="149"/>
                  </a:lnTo>
                  <a:lnTo>
                    <a:pt x="118" y="145"/>
                  </a:lnTo>
                  <a:lnTo>
                    <a:pt x="117" y="141"/>
                  </a:lnTo>
                  <a:lnTo>
                    <a:pt x="114" y="138"/>
                  </a:lnTo>
                  <a:lnTo>
                    <a:pt x="113" y="134"/>
                  </a:lnTo>
                  <a:lnTo>
                    <a:pt x="110" y="130"/>
                  </a:lnTo>
                  <a:lnTo>
                    <a:pt x="108" y="125"/>
                  </a:lnTo>
                  <a:lnTo>
                    <a:pt x="106" y="121"/>
                  </a:lnTo>
                  <a:lnTo>
                    <a:pt x="104" y="117"/>
                  </a:lnTo>
                  <a:lnTo>
                    <a:pt x="101" y="112"/>
                  </a:lnTo>
                  <a:lnTo>
                    <a:pt x="100" y="108"/>
                  </a:lnTo>
                  <a:lnTo>
                    <a:pt x="97" y="104"/>
                  </a:lnTo>
                  <a:lnTo>
                    <a:pt x="96" y="101"/>
                  </a:lnTo>
                  <a:lnTo>
                    <a:pt x="94" y="95"/>
                  </a:lnTo>
                  <a:lnTo>
                    <a:pt x="91" y="93"/>
                  </a:lnTo>
                  <a:lnTo>
                    <a:pt x="89" y="87"/>
                  </a:lnTo>
                  <a:lnTo>
                    <a:pt x="89" y="83"/>
                  </a:lnTo>
                  <a:lnTo>
                    <a:pt x="86" y="78"/>
                  </a:lnTo>
                  <a:lnTo>
                    <a:pt x="83" y="75"/>
                  </a:lnTo>
                  <a:lnTo>
                    <a:pt x="81" y="71"/>
                  </a:lnTo>
                  <a:lnTo>
                    <a:pt x="80" y="67"/>
                  </a:lnTo>
                  <a:lnTo>
                    <a:pt x="76" y="61"/>
                  </a:lnTo>
                  <a:lnTo>
                    <a:pt x="74" y="58"/>
                  </a:lnTo>
                  <a:lnTo>
                    <a:pt x="73" y="54"/>
                  </a:lnTo>
                  <a:lnTo>
                    <a:pt x="71" y="51"/>
                  </a:lnTo>
                  <a:lnTo>
                    <a:pt x="69" y="47"/>
                  </a:lnTo>
                  <a:lnTo>
                    <a:pt x="67" y="44"/>
                  </a:lnTo>
                  <a:lnTo>
                    <a:pt x="64" y="40"/>
                  </a:lnTo>
                  <a:lnTo>
                    <a:pt x="63" y="36"/>
                  </a:lnTo>
                  <a:lnTo>
                    <a:pt x="60" y="33"/>
                  </a:lnTo>
                  <a:lnTo>
                    <a:pt x="59" y="30"/>
                  </a:lnTo>
                  <a:lnTo>
                    <a:pt x="57" y="27"/>
                  </a:lnTo>
                  <a:lnTo>
                    <a:pt x="54" y="24"/>
                  </a:lnTo>
                  <a:lnTo>
                    <a:pt x="53" y="21"/>
                  </a:lnTo>
                  <a:lnTo>
                    <a:pt x="52" y="20"/>
                  </a:lnTo>
                  <a:lnTo>
                    <a:pt x="47" y="14"/>
                  </a:lnTo>
                  <a:lnTo>
                    <a:pt x="44" y="9"/>
                  </a:lnTo>
                  <a:lnTo>
                    <a:pt x="42" y="6"/>
                  </a:lnTo>
                  <a:lnTo>
                    <a:pt x="39" y="3"/>
                  </a:lnTo>
                  <a:lnTo>
                    <a:pt x="36" y="2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5" y="4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4"/>
                  </a:lnTo>
                  <a:lnTo>
                    <a:pt x="10" y="17"/>
                  </a:lnTo>
                  <a:lnTo>
                    <a:pt x="8" y="20"/>
                  </a:lnTo>
                  <a:lnTo>
                    <a:pt x="5" y="24"/>
                  </a:lnTo>
                  <a:lnTo>
                    <a:pt x="5" y="29"/>
                  </a:lnTo>
                  <a:lnTo>
                    <a:pt x="2" y="33"/>
                  </a:lnTo>
                  <a:lnTo>
                    <a:pt x="2" y="36"/>
                  </a:lnTo>
                  <a:lnTo>
                    <a:pt x="0" y="41"/>
                  </a:lnTo>
                  <a:lnTo>
                    <a:pt x="0" y="46"/>
                  </a:lnTo>
                  <a:lnTo>
                    <a:pt x="0" y="51"/>
                  </a:lnTo>
                  <a:lnTo>
                    <a:pt x="0" y="54"/>
                  </a:lnTo>
                  <a:lnTo>
                    <a:pt x="2" y="60"/>
                  </a:lnTo>
                  <a:lnTo>
                    <a:pt x="2" y="66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12935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3" grpId="0" build="p"/>
      <p:bldP spid="445445" grpId="0"/>
      <p:bldP spid="445446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76200"/>
            <a:ext cx="7848600" cy="533400"/>
          </a:xfrm>
        </p:spPr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New Lock Implementation: Discussion</a:t>
            </a:r>
          </a:p>
        </p:txBody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685800"/>
            <a:ext cx="8610600" cy="6096000"/>
          </a:xfrm>
        </p:spPr>
        <p:txBody>
          <a:bodyPr/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Disable interrupts: avoid interrupting between checking and setting lock value</a:t>
            </a:r>
            <a:endParaRPr lang="en-US" altLang="ko-KR" sz="1600" dirty="0">
              <a:latin typeface="Helvetica" charset="0"/>
              <a:ea typeface="굴림" charset="0"/>
              <a:cs typeface="굴림" charset="0"/>
            </a:endParaRPr>
          </a:p>
          <a:p>
            <a:pPr lvl="1" eaLnBrk="1" hangingPunct="1">
              <a:spcBef>
                <a:spcPct val="20000"/>
              </a:spcBef>
              <a:defRPr/>
            </a:pP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Otherwise two threads could think that they both have lock</a:t>
            </a:r>
          </a:p>
          <a:p>
            <a:pPr eaLnBrk="1" hangingPunct="1">
              <a:spcBef>
                <a:spcPct val="20000"/>
              </a:spcBef>
              <a:defRPr/>
            </a:pPr>
            <a:endParaRPr lang="en-US" altLang="ko-KR" dirty="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spcBef>
                <a:spcPct val="20000"/>
              </a:spcBef>
              <a:defRPr/>
            </a:pPr>
            <a:endParaRPr lang="en-US" altLang="ko-KR" dirty="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spcBef>
                <a:spcPct val="20000"/>
              </a:spcBef>
              <a:defRPr/>
            </a:pPr>
            <a:endParaRPr lang="en-US" altLang="ko-KR" dirty="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spcBef>
                <a:spcPct val="20000"/>
              </a:spcBef>
              <a:defRPr/>
            </a:pPr>
            <a:endParaRPr lang="en-US" altLang="ko-KR" dirty="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spcBef>
                <a:spcPct val="20000"/>
              </a:spcBef>
              <a:defRPr/>
            </a:pPr>
            <a:endParaRPr lang="en-US" altLang="ko-KR" dirty="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spcBef>
                <a:spcPct val="20000"/>
              </a:spcBef>
              <a:defRPr/>
            </a:pPr>
            <a:endParaRPr lang="en-US" altLang="ko-KR" dirty="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spcBef>
                <a:spcPct val="20000"/>
              </a:spcBef>
              <a:defRPr/>
            </a:pPr>
            <a:endParaRPr lang="en-US" altLang="ko-KR" dirty="0">
              <a:latin typeface="Helvetica" charset="0"/>
              <a:ea typeface="굴림" charset="0"/>
              <a:cs typeface="굴림" charset="0"/>
            </a:endParaRPr>
          </a:p>
          <a:p>
            <a:pPr marL="0" indent="0" eaLnBrk="1" hangingPunct="1">
              <a:spcBef>
                <a:spcPct val="20000"/>
              </a:spcBef>
              <a:buFontTx/>
              <a:buNone/>
              <a:defRPr/>
            </a:pPr>
            <a:endParaRPr lang="en-US" altLang="ko-KR" dirty="0">
              <a:latin typeface="Helvetica" charset="0"/>
              <a:ea typeface="굴림" charset="0"/>
              <a:cs typeface="굴림" charset="0"/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Note: unlike previous solution, critical section very short</a:t>
            </a:r>
          </a:p>
          <a:p>
            <a:pPr lvl="1" eaLnBrk="1" hangingPunct="1">
              <a:spcBef>
                <a:spcPct val="20000"/>
              </a:spcBef>
              <a:defRPr/>
            </a:pP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User of lock can take as long as they like in their own critical section</a:t>
            </a:r>
          </a:p>
          <a:p>
            <a:pPr lvl="1" eaLnBrk="1" hangingPunct="1">
              <a:spcBef>
                <a:spcPct val="20000"/>
              </a:spcBef>
              <a:defRPr/>
            </a:pPr>
            <a:r>
              <a:rPr lang="en-US" altLang="ko-KR" dirty="0">
                <a:latin typeface="Helvetica" charset="0"/>
                <a:ea typeface="굴림" charset="0"/>
                <a:cs typeface="굴림" charset="0"/>
              </a:rPr>
              <a:t>Critical interrupts taken in time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752600" y="1897063"/>
            <a:ext cx="5922963" cy="2992437"/>
            <a:chOff x="1104" y="1195"/>
            <a:chExt cx="3731" cy="1885"/>
          </a:xfrm>
        </p:grpSpPr>
        <p:sp>
          <p:nvSpPr>
            <p:cNvPr id="166916" name="Text Box 4"/>
            <p:cNvSpPr txBox="1">
              <a:spLocks noChangeArrowheads="1"/>
            </p:cNvSpPr>
            <p:nvPr/>
          </p:nvSpPr>
          <p:spPr bwMode="auto">
            <a:xfrm>
              <a:off x="1104" y="1195"/>
              <a:ext cx="2886" cy="1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338138" algn="l"/>
                  <a:tab pos="688975" algn="l"/>
                  <a:tab pos="1027113" algn="l"/>
                </a:tabLs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tabLst>
                  <a:tab pos="338138" algn="l"/>
                  <a:tab pos="688975" algn="l"/>
                  <a:tab pos="1027113" algn="l"/>
                </a:tabLs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tabLst>
                  <a:tab pos="338138" algn="l"/>
                  <a:tab pos="688975" algn="l"/>
                  <a:tab pos="1027113" algn="l"/>
                </a:tabLs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tabLst>
                  <a:tab pos="338138" algn="l"/>
                  <a:tab pos="688975" algn="l"/>
                  <a:tab pos="1027113" algn="l"/>
                </a:tabLs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tabLst>
                  <a:tab pos="338138" algn="l"/>
                  <a:tab pos="688975" algn="l"/>
                  <a:tab pos="1027113" algn="l"/>
                </a:tabLs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38138" algn="l"/>
                  <a:tab pos="688975" algn="l"/>
                  <a:tab pos="1027113" algn="l"/>
                </a:tabLs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38138" algn="l"/>
                  <a:tab pos="688975" algn="l"/>
                  <a:tab pos="1027113" algn="l"/>
                </a:tabLs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38138" algn="l"/>
                  <a:tab pos="688975" algn="l"/>
                  <a:tab pos="1027113" algn="l"/>
                </a:tabLs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38138" algn="l"/>
                  <a:tab pos="688975" algn="l"/>
                  <a:tab pos="1027113" algn="l"/>
                </a:tabLs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zh-CN" sz="1900">
                  <a:latin typeface="Courier New" charset="0"/>
                  <a:ea typeface="ＭＳ Ｐゴシック" charset="-128"/>
                </a:rPr>
                <a:t>Acquire() {</a:t>
              </a:r>
              <a:br>
                <a:rPr lang="en-US" altLang="zh-CN" sz="1900">
                  <a:latin typeface="Courier New" charset="0"/>
                  <a:ea typeface="ＭＳ Ｐゴシック" charset="-128"/>
                </a:rPr>
              </a:br>
              <a:r>
                <a:rPr lang="en-US" altLang="zh-CN" sz="1900">
                  <a:latin typeface="Courier New" charset="0"/>
                  <a:ea typeface="ＭＳ Ｐゴシック" charset="-128"/>
                </a:rPr>
                <a:t>	</a:t>
              </a:r>
              <a:r>
                <a:rPr lang="en-US" altLang="zh-CN" sz="1900">
                  <a:solidFill>
                    <a:schemeClr val="hlink"/>
                  </a:solidFill>
                  <a:latin typeface="Courier New" charset="0"/>
                  <a:ea typeface="ＭＳ Ｐゴシック" charset="-128"/>
                </a:rPr>
                <a:t>disable interrupts;</a:t>
              </a:r>
              <a:br>
                <a:rPr lang="en-US" altLang="zh-CN" sz="1900">
                  <a:solidFill>
                    <a:schemeClr val="hlink"/>
                  </a:solidFill>
                  <a:latin typeface="Courier New" charset="0"/>
                  <a:ea typeface="ＭＳ Ｐゴシック" charset="-128"/>
                </a:rPr>
              </a:br>
              <a:r>
                <a:rPr lang="en-US" altLang="zh-CN" sz="1900">
                  <a:latin typeface="Courier New" charset="0"/>
                  <a:ea typeface="ＭＳ Ｐゴシック" charset="-128"/>
                </a:rPr>
                <a:t>	if (value == BUSY) {</a:t>
              </a:r>
              <a:br>
                <a:rPr lang="en-US" altLang="zh-CN" sz="1900">
                  <a:latin typeface="Courier New" charset="0"/>
                  <a:ea typeface="ＭＳ Ｐゴシック" charset="-128"/>
                </a:rPr>
              </a:br>
              <a:r>
                <a:rPr lang="en-US" altLang="zh-CN" sz="1900">
                  <a:latin typeface="Courier New" charset="0"/>
                  <a:ea typeface="ＭＳ Ｐゴシック" charset="-128"/>
                </a:rPr>
                <a:t>		put thread on wait queue;</a:t>
              </a:r>
              <a:br>
                <a:rPr lang="en-US" altLang="zh-CN" sz="1900">
                  <a:latin typeface="Courier New" charset="0"/>
                  <a:ea typeface="ＭＳ Ｐゴシック" charset="-128"/>
                </a:rPr>
              </a:br>
              <a:r>
                <a:rPr lang="en-US" altLang="zh-CN" sz="1900">
                  <a:latin typeface="Courier New" charset="0"/>
                  <a:ea typeface="ＭＳ Ｐゴシック" charset="-128"/>
                </a:rPr>
                <a:t>		Go to sleep();</a:t>
              </a:r>
              <a:br>
                <a:rPr lang="en-US" altLang="zh-CN" sz="1900">
                  <a:latin typeface="Courier New" charset="0"/>
                  <a:ea typeface="ＭＳ Ｐゴシック" charset="-128"/>
                </a:rPr>
              </a:br>
              <a:r>
                <a:rPr lang="en-US" altLang="zh-CN" sz="1900">
                  <a:latin typeface="Courier New" charset="0"/>
                  <a:ea typeface="ＭＳ Ｐゴシック" charset="-128"/>
                </a:rPr>
                <a:t>		// Enable interrupts?</a:t>
              </a:r>
              <a:br>
                <a:rPr lang="en-US" altLang="zh-CN" sz="1900">
                  <a:latin typeface="Courier New" charset="0"/>
                  <a:ea typeface="ＭＳ Ｐゴシック" charset="-128"/>
                </a:rPr>
              </a:br>
              <a:r>
                <a:rPr lang="en-US" altLang="zh-CN" sz="1900">
                  <a:latin typeface="Courier New" charset="0"/>
                  <a:ea typeface="ＭＳ Ｐゴシック" charset="-128"/>
                </a:rPr>
                <a:t>	} else {</a:t>
              </a:r>
              <a:br>
                <a:rPr lang="en-US" altLang="zh-CN" sz="1900">
                  <a:latin typeface="Courier New" charset="0"/>
                  <a:ea typeface="ＭＳ Ｐゴシック" charset="-128"/>
                </a:rPr>
              </a:br>
              <a:r>
                <a:rPr lang="en-US" altLang="zh-CN" sz="1900">
                  <a:latin typeface="Courier New" charset="0"/>
                  <a:ea typeface="ＭＳ Ｐゴシック" charset="-128"/>
                </a:rPr>
                <a:t>		value = BUSY;</a:t>
              </a:r>
              <a:br>
                <a:rPr lang="en-US" altLang="zh-CN" sz="1900">
                  <a:solidFill>
                    <a:srgbClr val="233AE1"/>
                  </a:solidFill>
                  <a:latin typeface="Courier New" charset="0"/>
                  <a:ea typeface="ＭＳ Ｐゴシック" charset="-128"/>
                </a:rPr>
              </a:br>
              <a:r>
                <a:rPr lang="en-US" altLang="zh-CN" sz="1900">
                  <a:solidFill>
                    <a:srgbClr val="233AE1"/>
                  </a:solidFill>
                  <a:latin typeface="Courier New" charset="0"/>
                  <a:ea typeface="ＭＳ Ｐゴシック" charset="-128"/>
                </a:rPr>
                <a:t>	</a:t>
              </a:r>
              <a:r>
                <a:rPr lang="en-US" altLang="zh-CN" sz="1900">
                  <a:latin typeface="Courier New" charset="0"/>
                  <a:ea typeface="ＭＳ Ｐゴシック" charset="-128"/>
                </a:rPr>
                <a:t>}</a:t>
              </a:r>
              <a:br>
                <a:rPr lang="en-US" altLang="zh-CN" sz="1900">
                  <a:latin typeface="Courier New" charset="0"/>
                  <a:ea typeface="ＭＳ Ｐゴシック" charset="-128"/>
                </a:rPr>
              </a:br>
              <a:r>
                <a:rPr lang="en-US" altLang="zh-CN" sz="1900">
                  <a:latin typeface="Courier New" charset="0"/>
                  <a:ea typeface="ＭＳ Ｐゴシック" charset="-128"/>
                </a:rPr>
                <a:t>	</a:t>
              </a:r>
              <a:r>
                <a:rPr lang="en-US" altLang="zh-CN" sz="1900">
                  <a:solidFill>
                    <a:schemeClr val="hlink"/>
                  </a:solidFill>
                  <a:latin typeface="Courier New" charset="0"/>
                  <a:ea typeface="ＭＳ Ｐゴシック" charset="-128"/>
                </a:rPr>
                <a:t>enable interrupts;</a:t>
              </a:r>
              <a:br>
                <a:rPr lang="en-US" altLang="zh-CN" sz="1900">
                  <a:solidFill>
                    <a:schemeClr val="hlink"/>
                  </a:solidFill>
                  <a:latin typeface="Courier New" charset="0"/>
                  <a:ea typeface="ＭＳ Ｐゴシック" charset="-128"/>
                </a:rPr>
              </a:br>
              <a:r>
                <a:rPr lang="en-US" altLang="zh-CN" sz="1900">
                  <a:latin typeface="Courier New" charset="0"/>
                  <a:ea typeface="ＭＳ Ｐゴシック" charset="-128"/>
                </a:rPr>
                <a:t>}</a:t>
              </a:r>
            </a:p>
          </p:txBody>
        </p:sp>
        <p:grpSp>
          <p:nvGrpSpPr>
            <p:cNvPr id="166917" name="Group 8"/>
            <p:cNvGrpSpPr>
              <a:grpSpLocks/>
            </p:cNvGrpSpPr>
            <p:nvPr/>
          </p:nvGrpSpPr>
          <p:grpSpPr bwMode="auto">
            <a:xfrm>
              <a:off x="3792" y="1488"/>
              <a:ext cx="1043" cy="1200"/>
              <a:chOff x="3811" y="2112"/>
              <a:chExt cx="1043" cy="1200"/>
            </a:xfrm>
          </p:grpSpPr>
          <p:sp>
            <p:nvSpPr>
              <p:cNvPr id="166918" name="AutoShape 6"/>
              <p:cNvSpPr>
                <a:spLocks/>
              </p:cNvSpPr>
              <p:nvPr/>
            </p:nvSpPr>
            <p:spPr bwMode="auto">
              <a:xfrm>
                <a:off x="3811" y="2112"/>
                <a:ext cx="336" cy="1200"/>
              </a:xfrm>
              <a:prstGeom prst="rightBrace">
                <a:avLst>
                  <a:gd name="adj1" fmla="val 29762"/>
                  <a:gd name="adj2" fmla="val 50000"/>
                </a:avLst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166919" name="Text Box 7"/>
              <p:cNvSpPr txBox="1">
                <a:spLocks noChangeArrowheads="1"/>
              </p:cNvSpPr>
              <p:nvPr/>
            </p:nvSpPr>
            <p:spPr bwMode="auto">
              <a:xfrm>
                <a:off x="4224" y="2544"/>
                <a:ext cx="630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9pPr>
              </a:lstStyle>
              <a:p>
                <a:r>
                  <a:rPr lang="en-US" altLang="zh-CN" sz="1800">
                    <a:ea typeface="ＭＳ Ｐゴシック" charset="-128"/>
                  </a:rPr>
                  <a:t>Critical</a:t>
                </a:r>
              </a:p>
              <a:p>
                <a:r>
                  <a:rPr lang="en-US" altLang="zh-CN" sz="1800">
                    <a:ea typeface="ＭＳ Ｐゴシック" charset="-128"/>
                  </a:rPr>
                  <a:t>Section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261617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6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6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6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6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6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6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467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8153400" cy="533400"/>
          </a:xfrm>
        </p:spPr>
        <p:txBody>
          <a:bodyPr/>
          <a:lstStyle/>
          <a:p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Atomic Read-Modify-Write instructions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534400" cy="5486400"/>
          </a:xfrm>
        </p:spPr>
        <p:txBody>
          <a:bodyPr/>
          <a:lstStyle/>
          <a:p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Problems with interrupt-based lock solution:</a:t>
            </a:r>
          </a:p>
          <a:p>
            <a:pPr lvl="1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Doesn’t work well on multiprocessor</a:t>
            </a:r>
          </a:p>
          <a:p>
            <a:pPr lvl="2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Disabling interrupts on all processors requires messages and would be very time consuming</a:t>
            </a:r>
          </a:p>
          <a:p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Alternative: atomic instruction sequences</a:t>
            </a:r>
          </a:p>
          <a:p>
            <a:pPr lvl="1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These instructions read a value from memory and write a new value atomically</a:t>
            </a:r>
          </a:p>
          <a:p>
            <a:pPr lvl="1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Hardware is responsible for implementing this correctly </a:t>
            </a:r>
          </a:p>
          <a:p>
            <a:pPr lvl="2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on both uniprocessors (not too hard) </a:t>
            </a:r>
          </a:p>
          <a:p>
            <a:pPr lvl="2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and multiprocessors (requires help from cache coherence protocol)</a:t>
            </a:r>
          </a:p>
          <a:p>
            <a:pPr lvl="1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Unlike disabling interrupts, can be used on both uniprocessors and multiprocessors</a:t>
            </a:r>
          </a:p>
        </p:txBody>
      </p:sp>
    </p:spTree>
    <p:extLst>
      <p:ext uri="{BB962C8B-B14F-4D97-AF65-F5344CB8AC3E}">
        <p14:creationId xmlns:p14="http://schemas.microsoft.com/office/powerpoint/2010/main" val="77296643"/>
      </p:ext>
    </p:extLst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Examples of Read-Modify-Write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458200" cy="5257800"/>
          </a:xfrm>
        </p:spPr>
        <p:txBody>
          <a:bodyPr/>
          <a:lstStyle/>
          <a:p>
            <a:pPr>
              <a:lnSpc>
                <a:spcPct val="70000"/>
              </a:lnSpc>
              <a:spcBef>
                <a:spcPct val="20000"/>
              </a:spcBef>
              <a:tabLst>
                <a:tab pos="801688" algn="l"/>
                <a:tab pos="1252538" algn="l"/>
              </a:tabLst>
            </a:pPr>
            <a:r>
              <a:rPr lang="en-US" altLang="ko-KR" sz="1800">
                <a:latin typeface="Courier New" charset="0"/>
                <a:ea typeface="Gulim" charset="0"/>
                <a:cs typeface="Gulim" charset="0"/>
              </a:rPr>
              <a:t>test&amp;set (&amp;address) {	 /* most architectures */</a:t>
            </a:r>
            <a:br>
              <a:rPr lang="en-US" altLang="ko-KR" sz="18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800">
                <a:latin typeface="Courier New" charset="0"/>
                <a:ea typeface="Gulim" charset="0"/>
                <a:cs typeface="Gulim" charset="0"/>
              </a:rPr>
              <a:t>	result = M[address];</a:t>
            </a:r>
            <a:br>
              <a:rPr lang="en-US" altLang="ko-KR" sz="18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800">
                <a:latin typeface="Courier New" charset="0"/>
                <a:ea typeface="Gulim" charset="0"/>
                <a:cs typeface="Gulim" charset="0"/>
              </a:rPr>
              <a:t>	M[address] = 1;</a:t>
            </a:r>
            <a:br>
              <a:rPr lang="en-US" altLang="ko-KR" sz="18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800">
                <a:latin typeface="Courier New" charset="0"/>
                <a:ea typeface="Gulim" charset="0"/>
                <a:cs typeface="Gulim" charset="0"/>
              </a:rPr>
              <a:t>	return result;</a:t>
            </a:r>
            <a:br>
              <a:rPr lang="en-US" altLang="ko-KR" sz="18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800">
                <a:latin typeface="Courier New" charset="0"/>
                <a:ea typeface="Gulim" charset="0"/>
                <a:cs typeface="Gulim" charset="0"/>
              </a:rPr>
              <a:t>}</a:t>
            </a:r>
          </a:p>
          <a:p>
            <a:pPr>
              <a:lnSpc>
                <a:spcPct val="70000"/>
              </a:lnSpc>
              <a:spcBef>
                <a:spcPct val="20000"/>
              </a:spcBef>
              <a:buFontTx/>
              <a:buNone/>
              <a:tabLst>
                <a:tab pos="801688" algn="l"/>
                <a:tab pos="1252538" algn="l"/>
              </a:tabLst>
            </a:pPr>
            <a:endParaRPr lang="en-US" altLang="ko-KR" sz="1800">
              <a:latin typeface="Courier New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tabLst>
                <a:tab pos="801688" algn="l"/>
                <a:tab pos="1252538" algn="l"/>
              </a:tabLst>
            </a:pPr>
            <a:r>
              <a:rPr lang="en-US" altLang="ko-KR" sz="1800">
                <a:latin typeface="Courier New" charset="0"/>
                <a:ea typeface="Gulim" charset="0"/>
                <a:cs typeface="Gulim" charset="0"/>
              </a:rPr>
              <a:t>swap (&amp;address, register) { /* x86 */</a:t>
            </a:r>
            <a:br>
              <a:rPr lang="en-US" altLang="ko-KR" sz="18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800">
                <a:latin typeface="Courier New" charset="0"/>
                <a:ea typeface="Gulim" charset="0"/>
                <a:cs typeface="Gulim" charset="0"/>
              </a:rPr>
              <a:t> 	temp = M[address];</a:t>
            </a:r>
            <a:br>
              <a:rPr lang="en-US" altLang="ko-KR" sz="18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800">
                <a:latin typeface="Courier New" charset="0"/>
                <a:ea typeface="Gulim" charset="0"/>
                <a:cs typeface="Gulim" charset="0"/>
              </a:rPr>
              <a:t>	M[address] = register;</a:t>
            </a:r>
            <a:br>
              <a:rPr lang="en-US" altLang="ko-KR" sz="18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800">
                <a:latin typeface="Courier New" charset="0"/>
                <a:ea typeface="Gulim" charset="0"/>
                <a:cs typeface="Gulim" charset="0"/>
              </a:rPr>
              <a:t>	register = temp;</a:t>
            </a:r>
            <a:br>
              <a:rPr lang="en-US" altLang="ko-KR" sz="18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800">
                <a:latin typeface="Courier New" charset="0"/>
                <a:ea typeface="Gulim" charset="0"/>
                <a:cs typeface="Gulim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tabLst>
                <a:tab pos="801688" algn="l"/>
                <a:tab pos="1252538" algn="l"/>
              </a:tabLst>
            </a:pPr>
            <a:endParaRPr lang="en-US" altLang="ko-KR" sz="1800">
              <a:latin typeface="Courier New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tabLst>
                <a:tab pos="801688" algn="l"/>
                <a:tab pos="1252538" algn="l"/>
              </a:tabLst>
            </a:pPr>
            <a:r>
              <a:rPr lang="en-US" altLang="ko-KR" sz="1800">
                <a:latin typeface="Courier New" charset="0"/>
                <a:ea typeface="Gulim" charset="0"/>
                <a:cs typeface="Gulim" charset="0"/>
              </a:rPr>
              <a:t>compare&amp;swap (&amp;address, reg1, reg2) { /* 68000 */</a:t>
            </a:r>
            <a:br>
              <a:rPr lang="en-US" altLang="ko-KR" sz="18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800">
                <a:latin typeface="Courier New" charset="0"/>
                <a:ea typeface="Gulim" charset="0"/>
                <a:cs typeface="Gulim" charset="0"/>
              </a:rPr>
              <a:t>	if (reg1 == M[address]) {</a:t>
            </a:r>
            <a:br>
              <a:rPr lang="en-US" altLang="ko-KR" sz="18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800">
                <a:latin typeface="Courier New" charset="0"/>
                <a:ea typeface="Gulim" charset="0"/>
                <a:cs typeface="Gulim" charset="0"/>
              </a:rPr>
              <a:t>		M[address] = reg2;</a:t>
            </a:r>
            <a:br>
              <a:rPr lang="en-US" altLang="ko-KR" sz="18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800">
                <a:latin typeface="Courier New" charset="0"/>
                <a:ea typeface="Gulim" charset="0"/>
                <a:cs typeface="Gulim" charset="0"/>
              </a:rPr>
              <a:t>		return success;</a:t>
            </a:r>
            <a:br>
              <a:rPr lang="en-US" altLang="ko-KR" sz="18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800">
                <a:latin typeface="Courier New" charset="0"/>
                <a:ea typeface="Gulim" charset="0"/>
                <a:cs typeface="Gulim" charset="0"/>
              </a:rPr>
              <a:t>	} else {</a:t>
            </a:r>
            <a:br>
              <a:rPr lang="en-US" altLang="ko-KR" sz="18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800">
                <a:latin typeface="Courier New" charset="0"/>
                <a:ea typeface="Gulim" charset="0"/>
                <a:cs typeface="Gulim" charset="0"/>
              </a:rPr>
              <a:t>		return failure;</a:t>
            </a:r>
            <a:br>
              <a:rPr lang="en-US" altLang="ko-KR" sz="18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800">
                <a:latin typeface="Courier New" charset="0"/>
                <a:ea typeface="Gulim" charset="0"/>
                <a:cs typeface="Gulim" charset="0"/>
              </a:rPr>
              <a:t>	}</a:t>
            </a:r>
            <a:br>
              <a:rPr lang="en-US" altLang="ko-KR" sz="18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1800">
                <a:latin typeface="Courier New" charset="0"/>
                <a:ea typeface="Gulim" charset="0"/>
                <a:cs typeface="Gulim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2782032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behind these instructions…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-285750">
              <a:buFontTx/>
              <a:buChar char="•"/>
            </a:pPr>
            <a:r>
              <a:rPr lang="en-US" altLang="ko-KR" dirty="0">
                <a:latin typeface="Courier New" charset="0"/>
                <a:ea typeface="굴림" charset="0"/>
                <a:cs typeface="굴림" charset="0"/>
              </a:rPr>
              <a:t>if (</a:t>
            </a:r>
            <a:r>
              <a:rPr lang="en-US" altLang="ko-KR" dirty="0" err="1">
                <a:latin typeface="Courier New" charset="0"/>
                <a:ea typeface="굴림" charset="0"/>
                <a:cs typeface="굴림" charset="0"/>
              </a:rPr>
              <a:t>noMilk</a:t>
            </a:r>
            <a:r>
              <a:rPr lang="en-US" altLang="ko-KR" dirty="0">
                <a:latin typeface="Courier New" charset="0"/>
                <a:ea typeface="굴림" charset="0"/>
                <a:cs typeface="굴림" charset="0"/>
              </a:rPr>
              <a:t>) {</a:t>
            </a:r>
            <a:br>
              <a:rPr lang="en-US" altLang="ko-KR" dirty="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dirty="0">
                <a:latin typeface="Courier New" charset="0"/>
                <a:ea typeface="굴림" charset="0"/>
                <a:cs typeface="굴림" charset="0"/>
              </a:rPr>
              <a:t>	if (</a:t>
            </a:r>
            <a:r>
              <a:rPr lang="en-US" altLang="ko-KR" dirty="0" err="1">
                <a:latin typeface="Courier New" charset="0"/>
                <a:ea typeface="굴림" charset="0"/>
                <a:cs typeface="굴림" charset="0"/>
              </a:rPr>
              <a:t>noNote</a:t>
            </a:r>
            <a:r>
              <a:rPr lang="en-US" altLang="ko-KR" dirty="0">
                <a:latin typeface="Courier New" charset="0"/>
                <a:ea typeface="굴림" charset="0"/>
                <a:cs typeface="굴림" charset="0"/>
              </a:rPr>
              <a:t>) {</a:t>
            </a:r>
            <a:br>
              <a:rPr lang="en-US" altLang="ko-KR" dirty="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dirty="0">
                <a:latin typeface="Courier New" charset="0"/>
                <a:ea typeface="굴림" charset="0"/>
                <a:cs typeface="굴림" charset="0"/>
              </a:rPr>
              <a:t> 		leave Note;</a:t>
            </a:r>
            <a:br>
              <a:rPr lang="en-US" altLang="ko-KR" dirty="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dirty="0">
                <a:latin typeface="Courier New" charset="0"/>
                <a:ea typeface="굴림" charset="0"/>
                <a:cs typeface="굴림" charset="0"/>
              </a:rPr>
              <a:t> 		buy milk;</a:t>
            </a:r>
            <a:br>
              <a:rPr lang="en-US" altLang="ko-KR" dirty="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dirty="0">
                <a:latin typeface="Courier New" charset="0"/>
                <a:ea typeface="굴림" charset="0"/>
                <a:cs typeface="굴림" charset="0"/>
              </a:rPr>
              <a:t> 		remove note;</a:t>
            </a:r>
            <a:br>
              <a:rPr lang="en-US" altLang="ko-KR" dirty="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dirty="0">
                <a:latin typeface="Courier New" charset="0"/>
                <a:ea typeface="굴림" charset="0"/>
                <a:cs typeface="굴림" charset="0"/>
              </a:rPr>
              <a:t> 	}</a:t>
            </a:r>
            <a:br>
              <a:rPr lang="en-US" altLang="ko-KR" dirty="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dirty="0">
                <a:latin typeface="Courier New" charset="0"/>
                <a:ea typeface="굴림" charset="0"/>
                <a:cs typeface="굴림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DE312B-938C-1E91-FA71-D6800C25207C}"/>
              </a:ext>
            </a:extLst>
          </p:cNvPr>
          <p:cNvSpPr txBox="1"/>
          <p:nvPr/>
        </p:nvSpPr>
        <p:spPr>
          <a:xfrm>
            <a:off x="762000" y="3810000"/>
            <a:ext cx="6559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0" dirty="0">
                <a:latin typeface="Helvetica"/>
                <a:cs typeface="Helvetica"/>
              </a:rPr>
              <a:t>Key</a:t>
            </a:r>
            <a:r>
              <a:rPr kumimoji="1" lang="zh-CN" altLang="en-US" sz="2400" b="0" dirty="0">
                <a:latin typeface="Helvetica"/>
                <a:cs typeface="Helvetica"/>
              </a:rPr>
              <a:t> </a:t>
            </a:r>
            <a:r>
              <a:rPr kumimoji="1" lang="en-US" altLang="zh-CN" sz="2400" b="0" dirty="0">
                <a:latin typeface="Helvetica"/>
                <a:cs typeface="Helvetica"/>
              </a:rPr>
              <a:t>idea</a:t>
            </a:r>
            <a:r>
              <a:rPr kumimoji="1" lang="zh-CN" altLang="en-US" sz="2400" b="0" dirty="0">
                <a:latin typeface="Helvetica"/>
                <a:cs typeface="Helvetica"/>
              </a:rPr>
              <a:t> </a:t>
            </a:r>
            <a:r>
              <a:rPr kumimoji="1" lang="en-US" altLang="zh-CN" sz="2400" b="0" dirty="0">
                <a:latin typeface="Helvetica"/>
                <a:cs typeface="Helvetica"/>
              </a:rPr>
              <a:t>here:</a:t>
            </a:r>
            <a:r>
              <a:rPr kumimoji="1" lang="zh-CN" altLang="en-US" sz="2400" b="0" dirty="0">
                <a:latin typeface="Helvetica"/>
                <a:cs typeface="Helvetica"/>
              </a:rPr>
              <a:t> </a:t>
            </a:r>
            <a:r>
              <a:rPr kumimoji="1" lang="en-US" altLang="zh-CN" sz="2400" b="0" dirty="0">
                <a:latin typeface="Helvetica"/>
                <a:cs typeface="Helvetica"/>
              </a:rPr>
              <a:t>one</a:t>
            </a:r>
            <a:r>
              <a:rPr kumimoji="1" lang="zh-CN" altLang="en-US" sz="2400" b="0" dirty="0">
                <a:latin typeface="Helvetica"/>
                <a:cs typeface="Helvetica"/>
              </a:rPr>
              <a:t> </a:t>
            </a:r>
            <a:r>
              <a:rPr kumimoji="1" lang="en-US" altLang="zh-CN" sz="2400" b="0" dirty="0">
                <a:latin typeface="Helvetica"/>
                <a:cs typeface="Helvetica"/>
              </a:rPr>
              <a:t>read</a:t>
            </a:r>
            <a:r>
              <a:rPr kumimoji="1" lang="zh-CN" altLang="en-US" sz="2400" b="0" dirty="0">
                <a:latin typeface="Helvetica"/>
                <a:cs typeface="Helvetica"/>
              </a:rPr>
              <a:t> </a:t>
            </a:r>
            <a:r>
              <a:rPr kumimoji="1" lang="en-US" altLang="zh-CN" sz="2400" b="0" dirty="0">
                <a:latin typeface="Helvetica"/>
                <a:cs typeface="Helvetica"/>
              </a:rPr>
              <a:t>+</a:t>
            </a:r>
            <a:r>
              <a:rPr kumimoji="1" lang="zh-CN" altLang="en-US" sz="2400" b="0" dirty="0">
                <a:latin typeface="Helvetica"/>
                <a:cs typeface="Helvetica"/>
              </a:rPr>
              <a:t> </a:t>
            </a:r>
            <a:r>
              <a:rPr kumimoji="1" lang="en-US" altLang="zh-CN" sz="2400" b="0" dirty="0">
                <a:latin typeface="Helvetica"/>
                <a:cs typeface="Helvetica"/>
              </a:rPr>
              <a:t>one</a:t>
            </a:r>
            <a:r>
              <a:rPr kumimoji="1" lang="zh-CN" altLang="en-US" sz="2400" b="0" dirty="0">
                <a:latin typeface="Helvetica"/>
                <a:cs typeface="Helvetica"/>
              </a:rPr>
              <a:t> </a:t>
            </a:r>
            <a:r>
              <a:rPr kumimoji="1" lang="en-US" altLang="zh-CN" sz="2400" b="0" dirty="0">
                <a:latin typeface="Helvetica"/>
                <a:cs typeface="Helvetica"/>
              </a:rPr>
              <a:t>write</a:t>
            </a:r>
            <a:r>
              <a:rPr kumimoji="1" lang="zh-CN" altLang="en-US" sz="2400" b="0" dirty="0">
                <a:latin typeface="Helvetica"/>
                <a:cs typeface="Helvetica"/>
              </a:rPr>
              <a:t> </a:t>
            </a:r>
            <a:r>
              <a:rPr kumimoji="1" lang="en-US" altLang="zh-CN" sz="2400" b="0" dirty="0">
                <a:latin typeface="Helvetica"/>
                <a:cs typeface="Helvetica"/>
              </a:rPr>
              <a:t>as</a:t>
            </a:r>
            <a:r>
              <a:rPr kumimoji="1" lang="zh-CN" altLang="en-US" sz="2400" b="0" dirty="0">
                <a:latin typeface="Helvetica"/>
                <a:cs typeface="Helvetica"/>
              </a:rPr>
              <a:t> </a:t>
            </a:r>
            <a:r>
              <a:rPr kumimoji="1" lang="en-US" altLang="zh-CN" sz="2400" b="0" dirty="0">
                <a:latin typeface="Helvetica"/>
                <a:cs typeface="Helvetica"/>
              </a:rPr>
              <a:t>atomic!</a:t>
            </a:r>
            <a:endParaRPr kumimoji="1" lang="zh-CN" altLang="en-US" sz="2400" b="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61624414"/>
      </p:ext>
    </p:extLst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Implementing Locks with </a:t>
            </a:r>
            <a:r>
              <a:rPr lang="en-US" altLang="ko-KR" dirty="0" err="1">
                <a:latin typeface="Helvetica" charset="0"/>
                <a:ea typeface="Gulim" charset="0"/>
                <a:cs typeface="Gulim" charset="0"/>
              </a:rPr>
              <a:t>test&amp;set</a:t>
            </a: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</p:txBody>
      </p:sp>
      <p:sp>
        <p:nvSpPr>
          <p:cNvPr id="45465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066800"/>
            <a:ext cx="8839200" cy="5715000"/>
          </a:xfrm>
        </p:spPr>
        <p:txBody>
          <a:bodyPr/>
          <a:lstStyle/>
          <a:p>
            <a:pPr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Simple solution:</a:t>
            </a:r>
          </a:p>
          <a:p>
            <a:pPr>
              <a:buFontTx/>
              <a:buNone/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dirty="0">
                <a:solidFill>
                  <a:srgbClr val="233AE1"/>
                </a:solidFill>
                <a:latin typeface="Helvetica" charset="0"/>
                <a:ea typeface="Gulim" charset="0"/>
                <a:cs typeface="Gulim" charset="0"/>
              </a:rPr>
              <a:t>		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int value = 0; // Free</a:t>
            </a:r>
          </a:p>
          <a:p>
            <a:pPr>
              <a:buFontTx/>
              <a:buNone/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	Acquire() {</a:t>
            </a:r>
            <a:br>
              <a:rPr lang="en-US" altLang="ko-KR" sz="2000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	while (</a:t>
            </a:r>
            <a:r>
              <a:rPr lang="en-US" altLang="ko-KR" sz="2000" dirty="0" err="1">
                <a:latin typeface="Courier New" charset="0"/>
                <a:ea typeface="Gulim" charset="0"/>
                <a:cs typeface="Gulim" charset="0"/>
              </a:rPr>
              <a:t>test&amp;set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(value)); // while busy</a:t>
            </a:r>
            <a:br>
              <a:rPr lang="en-US" altLang="ko-KR" sz="2000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}</a:t>
            </a:r>
          </a:p>
          <a:p>
            <a:pPr>
              <a:buFontTx/>
              <a:buNone/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	Release() {</a:t>
            </a:r>
            <a:br>
              <a:rPr lang="en-US" altLang="ko-KR" sz="2000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	value = 0;</a:t>
            </a:r>
            <a:br>
              <a:rPr lang="en-US" altLang="ko-KR" sz="2000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}</a:t>
            </a:r>
          </a:p>
          <a:p>
            <a:pPr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Simple explanation:</a:t>
            </a:r>
          </a:p>
          <a:p>
            <a:pPr lvl="1"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If lock is free, </a:t>
            </a:r>
            <a:r>
              <a:rPr lang="en-US" altLang="ko-KR" dirty="0" err="1">
                <a:latin typeface="Helvetica" charset="0"/>
                <a:ea typeface="Gulim" charset="0"/>
                <a:cs typeface="Gulim" charset="0"/>
              </a:rPr>
              <a:t>test&amp;set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reads 0 and sets value=1, so lock is now busy.  It returns 0 so while exits</a:t>
            </a:r>
          </a:p>
          <a:p>
            <a:pPr lvl="1"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If lock is busy, </a:t>
            </a:r>
            <a:r>
              <a:rPr lang="en-US" altLang="ko-KR" dirty="0" err="1">
                <a:latin typeface="Helvetica" charset="0"/>
                <a:ea typeface="Gulim" charset="0"/>
                <a:cs typeface="Gulim" charset="0"/>
              </a:rPr>
              <a:t>test&amp;set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reads 1 and sets value=1 (no change). It returns 1, so while loop continues</a:t>
            </a:r>
          </a:p>
          <a:p>
            <a:pPr lvl="1"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When we set value = 0, someone else can get lock</a:t>
            </a:r>
          </a:p>
          <a:p>
            <a:pPr>
              <a:buFontTx/>
              <a:buNone/>
              <a:tabLst>
                <a:tab pos="1027113" algn="l"/>
                <a:tab pos="1377950" algn="l"/>
                <a:tab pos="1716088" algn="l"/>
              </a:tabLst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>
              <a:tabLst>
                <a:tab pos="1027113" algn="l"/>
                <a:tab pos="1377950" algn="l"/>
                <a:tab pos="1716088" algn="l"/>
              </a:tabLst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lvl="1">
              <a:tabLst>
                <a:tab pos="1027113" algn="l"/>
                <a:tab pos="1377950" algn="l"/>
                <a:tab pos="1716088" algn="l"/>
              </a:tabLst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</p:txBody>
      </p:sp>
      <p:sp>
        <p:nvSpPr>
          <p:cNvPr id="69636" name="Rounded Rectangle 3"/>
          <p:cNvSpPr>
            <a:spLocks noChangeArrowheads="1"/>
          </p:cNvSpPr>
          <p:nvPr/>
        </p:nvSpPr>
        <p:spPr bwMode="auto">
          <a:xfrm>
            <a:off x="5638800" y="609600"/>
            <a:ext cx="3352800" cy="1524000"/>
          </a:xfrm>
          <a:prstGeom prst="roundRect">
            <a:avLst>
              <a:gd name="adj" fmla="val 16667"/>
            </a:avLst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r>
              <a:rPr lang="en-US" altLang="ko-KR" dirty="0" err="1">
                <a:latin typeface="Courier New" charset="0"/>
                <a:ea typeface="Gulim" charset="0"/>
                <a:cs typeface="Gulim" charset="0"/>
              </a:rPr>
              <a:t>test&amp;set</a:t>
            </a: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 (&amp;address) {</a:t>
            </a:r>
          </a:p>
          <a:p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  result = M[address];</a:t>
            </a:r>
          </a:p>
          <a:p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  M[address] = 1;</a:t>
            </a:r>
          </a:p>
          <a:p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  return result;</a:t>
            </a:r>
            <a:br>
              <a:rPr lang="en-US" altLang="ko-KR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256536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59" grpId="0" build="p"/>
      <p:bldP spid="69636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Better Locks using test&amp;set</a:t>
            </a:r>
          </a:p>
        </p:txBody>
      </p:sp>
      <p:sp>
        <p:nvSpPr>
          <p:cNvPr id="45670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685800"/>
            <a:ext cx="8686800" cy="6172200"/>
          </a:xfrm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Can we build test&amp;set locks without busy-waiting?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Can’t entirely, but can minimize!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Idea: only busy-wait to atomically check lock value</a:t>
            </a:r>
          </a:p>
          <a:p>
            <a:pPr>
              <a:lnSpc>
                <a:spcPct val="85000"/>
              </a:lnSpc>
              <a:spcBef>
                <a:spcPct val="20000"/>
              </a:spcBef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5000"/>
              </a:lnSpc>
              <a:spcBef>
                <a:spcPct val="20000"/>
              </a:spcBef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5000"/>
              </a:lnSpc>
              <a:spcBef>
                <a:spcPct val="20000"/>
              </a:spcBef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5000"/>
              </a:lnSpc>
              <a:spcBef>
                <a:spcPct val="20000"/>
              </a:spcBef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5000"/>
              </a:lnSpc>
              <a:spcBef>
                <a:spcPct val="20000"/>
              </a:spcBef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5000"/>
              </a:lnSpc>
              <a:spcBef>
                <a:spcPct val="20000"/>
              </a:spcBef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5000"/>
              </a:lnSpc>
              <a:spcBef>
                <a:spcPct val="20000"/>
              </a:spcBef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5000"/>
              </a:lnSpc>
              <a:spcBef>
                <a:spcPct val="20000"/>
              </a:spcBef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5000"/>
              </a:lnSpc>
              <a:spcBef>
                <a:spcPct val="20000"/>
              </a:spcBef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5000"/>
              </a:lnSpc>
              <a:spcBef>
                <a:spcPct val="20000"/>
              </a:spcBef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Note: sleep has to be sure to reset the guard variable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Why can’t we do it just before or just after the sleep?</a:t>
            </a:r>
          </a:p>
        </p:txBody>
      </p:sp>
      <p:sp>
        <p:nvSpPr>
          <p:cNvPr id="456709" name="Text Box 5"/>
          <p:cNvSpPr txBox="1">
            <a:spLocks noChangeArrowheads="1"/>
          </p:cNvSpPr>
          <p:nvPr/>
        </p:nvSpPr>
        <p:spPr bwMode="auto">
          <a:xfrm>
            <a:off x="4481513" y="1752600"/>
            <a:ext cx="4662487" cy="382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pPr>
              <a:lnSpc>
                <a:spcPct val="90000"/>
              </a:lnSpc>
              <a:spcBef>
                <a:spcPct val="10000"/>
              </a:spcBef>
              <a:buSzPct val="100000"/>
            </a:pPr>
            <a:endParaRPr lang="en-US" sz="1900">
              <a:latin typeface="Courier New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SzPct val="100000"/>
            </a:pPr>
            <a:endParaRPr lang="en-US" sz="1900">
              <a:latin typeface="Courier New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SzPct val="100000"/>
            </a:pPr>
            <a:endParaRPr lang="en-US" sz="1900">
              <a:latin typeface="Courier New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SzPct val="100000"/>
            </a:pPr>
            <a:r>
              <a:rPr lang="en-US" sz="1900">
                <a:latin typeface="Courier New" charset="0"/>
              </a:rPr>
              <a:t>Release() {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// Short busy-wait time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</a:t>
            </a:r>
            <a:r>
              <a:rPr lang="en-US" sz="1900">
                <a:solidFill>
                  <a:schemeClr val="hlink"/>
                </a:solidFill>
                <a:latin typeface="Courier New" charset="0"/>
              </a:rPr>
              <a:t>while (test&amp;set(guard));</a:t>
            </a:r>
            <a:br>
              <a:rPr lang="en-US" sz="1900">
                <a:solidFill>
                  <a:schemeClr val="hlink"/>
                </a:solidFill>
                <a:latin typeface="Courier New" charset="0"/>
              </a:rPr>
            </a:br>
            <a:r>
              <a:rPr lang="en-US" sz="1900">
                <a:latin typeface="Courier New" charset="0"/>
              </a:rPr>
              <a:t>	if anyone on wait queue {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	take thread off wait queue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	Place on ready queue;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} else {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	</a:t>
            </a:r>
            <a:r>
              <a:rPr lang="en-US" sz="1900">
                <a:solidFill>
                  <a:srgbClr val="2A40E2"/>
                </a:solidFill>
                <a:latin typeface="Courier New" charset="0"/>
              </a:rPr>
              <a:t>value = FREE;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}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</a:t>
            </a:r>
            <a:r>
              <a:rPr lang="en-US" sz="1900">
                <a:solidFill>
                  <a:schemeClr val="hlink"/>
                </a:solidFill>
                <a:latin typeface="Courier New" charset="0"/>
              </a:rPr>
              <a:t>guard = 0;</a:t>
            </a:r>
            <a:br>
              <a:rPr lang="en-US" sz="1900">
                <a:solidFill>
                  <a:schemeClr val="hlink"/>
                </a:solidFill>
                <a:latin typeface="Courier New" charset="0"/>
              </a:rPr>
            </a:br>
            <a:endParaRPr lang="en-US" sz="1900">
              <a:solidFill>
                <a:schemeClr val="hlink"/>
              </a:solidFill>
              <a:latin typeface="Courier New" charset="0"/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76200" y="1752600"/>
            <a:ext cx="4724400" cy="4137025"/>
            <a:chOff x="48" y="1152"/>
            <a:chExt cx="2976" cy="2606"/>
          </a:xfrm>
        </p:grpSpPr>
        <p:sp>
          <p:nvSpPr>
            <p:cNvPr id="9222" name="Text Box 4"/>
            <p:cNvSpPr txBox="1">
              <a:spLocks noChangeArrowheads="1"/>
            </p:cNvSpPr>
            <p:nvPr/>
          </p:nvSpPr>
          <p:spPr bwMode="auto">
            <a:xfrm>
              <a:off x="48" y="1152"/>
              <a:ext cx="2976" cy="2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338138" algn="l"/>
                  <a:tab pos="688975" algn="l"/>
                  <a:tab pos="1027113" algn="l"/>
                </a:tabLs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1pPr>
              <a:lvl2pPr marL="742950" indent="-285750">
                <a:tabLst>
                  <a:tab pos="338138" algn="l"/>
                  <a:tab pos="688975" algn="l"/>
                  <a:tab pos="1027113" algn="l"/>
                </a:tabLs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2pPr>
              <a:lvl3pPr marL="1143000" indent="-228600">
                <a:tabLst>
                  <a:tab pos="338138" algn="l"/>
                  <a:tab pos="688975" algn="l"/>
                  <a:tab pos="1027113" algn="l"/>
                </a:tabLs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3pPr>
              <a:lvl4pPr marL="1600200" indent="-228600">
                <a:tabLst>
                  <a:tab pos="338138" algn="l"/>
                  <a:tab pos="688975" algn="l"/>
                  <a:tab pos="1027113" algn="l"/>
                </a:tabLs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4pPr>
              <a:lvl5pPr marL="2057400" indent="-228600">
                <a:tabLst>
                  <a:tab pos="338138" algn="l"/>
                  <a:tab pos="688975" algn="l"/>
                  <a:tab pos="1027113" algn="l"/>
                </a:tabLs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38138" algn="l"/>
                  <a:tab pos="688975" algn="l"/>
                  <a:tab pos="1027113" algn="l"/>
                </a:tabLs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38138" algn="l"/>
                  <a:tab pos="688975" algn="l"/>
                  <a:tab pos="1027113" algn="l"/>
                </a:tabLs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38138" algn="l"/>
                  <a:tab pos="688975" algn="l"/>
                  <a:tab pos="1027113" algn="l"/>
                </a:tabLs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38138" algn="l"/>
                  <a:tab pos="688975" algn="l"/>
                  <a:tab pos="1027113" algn="l"/>
                </a:tabLs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9pPr>
            </a:lstStyle>
            <a:p>
              <a:r>
                <a:rPr lang="en-US" sz="1900">
                  <a:solidFill>
                    <a:schemeClr val="hlink"/>
                  </a:solidFill>
                  <a:latin typeface="Courier New" charset="0"/>
                </a:rPr>
                <a:t>int guard = 0;</a:t>
              </a:r>
            </a:p>
            <a:p>
              <a:r>
                <a:rPr lang="en-US" sz="1900">
                  <a:solidFill>
                    <a:srgbClr val="233AE1"/>
                  </a:solidFill>
                  <a:latin typeface="Courier New" charset="0"/>
                </a:rPr>
                <a:t>int value = FREE;</a:t>
              </a:r>
            </a:p>
            <a:p>
              <a:endParaRPr lang="en-US" sz="1900">
                <a:latin typeface="Courier New" charset="0"/>
              </a:endParaRPr>
            </a:p>
            <a:p>
              <a:r>
                <a:rPr lang="en-US" sz="1900">
                  <a:latin typeface="Courier New" charset="0"/>
                </a:rPr>
                <a:t>Acquire() {</a:t>
              </a:r>
            </a:p>
            <a:p>
              <a:r>
                <a:rPr lang="en-US" sz="1900">
                  <a:latin typeface="Courier New" charset="0"/>
                </a:rPr>
                <a:t>	// Short busy-wait time</a:t>
              </a:r>
              <a:br>
                <a:rPr lang="en-US" sz="1900">
                  <a:latin typeface="Courier New" charset="0"/>
                </a:rPr>
              </a:br>
              <a:r>
                <a:rPr lang="en-US" sz="1900">
                  <a:latin typeface="Courier New" charset="0"/>
                </a:rPr>
                <a:t>	</a:t>
              </a:r>
              <a:r>
                <a:rPr lang="en-US" sz="1900">
                  <a:solidFill>
                    <a:schemeClr val="hlink"/>
                  </a:solidFill>
                  <a:latin typeface="Courier New" charset="0"/>
                </a:rPr>
                <a:t>while (test&amp;set(guard));</a:t>
              </a:r>
              <a:br>
                <a:rPr lang="en-US" sz="1900">
                  <a:latin typeface="Courier New" charset="0"/>
                </a:rPr>
              </a:br>
              <a:r>
                <a:rPr lang="en-US" sz="1900">
                  <a:latin typeface="Courier New" charset="0"/>
                </a:rPr>
                <a:t>	if (</a:t>
              </a:r>
              <a:r>
                <a:rPr lang="en-US" sz="1900">
                  <a:solidFill>
                    <a:srgbClr val="2A40E2"/>
                  </a:solidFill>
                  <a:latin typeface="Courier New" charset="0"/>
                </a:rPr>
                <a:t>value == BUSY</a:t>
              </a:r>
              <a:r>
                <a:rPr lang="en-US" sz="1900">
                  <a:latin typeface="Courier New" charset="0"/>
                </a:rPr>
                <a:t>) {</a:t>
              </a:r>
            </a:p>
            <a:p>
              <a:r>
                <a:rPr lang="en-US" sz="1900">
                  <a:latin typeface="Courier New" charset="0"/>
                </a:rPr>
                <a:t>		put thread on wait queue;</a:t>
              </a:r>
            </a:p>
            <a:p>
              <a:r>
                <a:rPr lang="en-US" sz="1900">
                  <a:latin typeface="Courier New" charset="0"/>
                </a:rPr>
                <a:t>		go to sleep() &amp; </a:t>
              </a:r>
              <a:r>
                <a:rPr lang="en-US" sz="1900">
                  <a:solidFill>
                    <a:schemeClr val="hlink"/>
                  </a:solidFill>
                  <a:latin typeface="Courier New" charset="0"/>
                </a:rPr>
                <a:t>guard = 0</a:t>
              </a:r>
              <a:r>
                <a:rPr lang="en-US" sz="1900">
                  <a:latin typeface="Courier New" charset="0"/>
                </a:rPr>
                <a:t>;</a:t>
              </a:r>
              <a:br>
                <a:rPr lang="en-US" sz="1900">
                  <a:latin typeface="Courier New" charset="0"/>
                </a:rPr>
              </a:br>
              <a:r>
                <a:rPr lang="en-US" sz="1900">
                  <a:latin typeface="Courier New" charset="0"/>
                </a:rPr>
                <a:t>	} else {</a:t>
              </a:r>
              <a:br>
                <a:rPr lang="en-US" sz="1900">
                  <a:latin typeface="Courier New" charset="0"/>
                </a:rPr>
              </a:br>
              <a:r>
                <a:rPr lang="en-US" sz="1900">
                  <a:latin typeface="Courier New" charset="0"/>
                </a:rPr>
                <a:t>		</a:t>
              </a:r>
              <a:r>
                <a:rPr lang="en-US" sz="1900">
                  <a:solidFill>
                    <a:srgbClr val="2A40E2"/>
                  </a:solidFill>
                  <a:latin typeface="Courier New" charset="0"/>
                </a:rPr>
                <a:t>value = BUSY;</a:t>
              </a:r>
              <a:br>
                <a:rPr lang="en-US" sz="1900">
                  <a:latin typeface="Courier New" charset="0"/>
                </a:rPr>
              </a:br>
              <a:r>
                <a:rPr lang="en-US" sz="1900">
                  <a:latin typeface="Courier New" charset="0"/>
                </a:rPr>
                <a:t>		</a:t>
              </a:r>
              <a:r>
                <a:rPr lang="en-US" sz="1900">
                  <a:solidFill>
                    <a:schemeClr val="hlink"/>
                  </a:solidFill>
                  <a:latin typeface="Courier New" charset="0"/>
                </a:rPr>
                <a:t>guard = 0;</a:t>
              </a:r>
              <a:br>
                <a:rPr lang="en-US" sz="1900">
                  <a:solidFill>
                    <a:schemeClr val="hlink"/>
                  </a:solidFill>
                  <a:latin typeface="Courier New" charset="0"/>
                </a:rPr>
              </a:br>
              <a:r>
                <a:rPr lang="en-US" sz="1900">
                  <a:latin typeface="Courier New" charset="0"/>
                </a:rPr>
                <a:t>	}</a:t>
              </a:r>
              <a:br>
                <a:rPr lang="en-US" sz="1900">
                  <a:latin typeface="Courier New" charset="0"/>
                </a:rPr>
              </a:br>
              <a:r>
                <a:rPr lang="en-US" sz="1900">
                  <a:latin typeface="Courier New" charset="0"/>
                </a:rPr>
                <a:t>}</a:t>
              </a:r>
            </a:p>
          </p:txBody>
        </p:sp>
        <p:grpSp>
          <p:nvGrpSpPr>
            <p:cNvPr id="9223" name="Group 6"/>
            <p:cNvGrpSpPr>
              <a:grpSpLocks/>
            </p:cNvGrpSpPr>
            <p:nvPr/>
          </p:nvGrpSpPr>
          <p:grpSpPr bwMode="auto">
            <a:xfrm>
              <a:off x="1728" y="1248"/>
              <a:ext cx="384" cy="432"/>
              <a:chOff x="1776" y="912"/>
              <a:chExt cx="476" cy="576"/>
            </a:xfrm>
          </p:grpSpPr>
          <p:sp>
            <p:nvSpPr>
              <p:cNvPr id="9224" name="AutoShape 7"/>
              <p:cNvSpPr>
                <a:spLocks noChangeAspect="1" noChangeArrowheads="1" noTextEdit="1"/>
              </p:cNvSpPr>
              <p:nvPr/>
            </p:nvSpPr>
            <p:spPr bwMode="auto">
              <a:xfrm>
                <a:off x="1776" y="912"/>
                <a:ext cx="476" cy="5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5" name="Freeform 8"/>
              <p:cNvSpPr>
                <a:spLocks/>
              </p:cNvSpPr>
              <p:nvPr/>
            </p:nvSpPr>
            <p:spPr bwMode="auto">
              <a:xfrm>
                <a:off x="1818" y="1046"/>
                <a:ext cx="434" cy="442"/>
              </a:xfrm>
              <a:custGeom>
                <a:avLst/>
                <a:gdLst>
                  <a:gd name="T0" fmla="*/ 0 w 1303"/>
                  <a:gd name="T1" fmla="*/ 0 h 1327"/>
                  <a:gd name="T2" fmla="*/ 0 w 1303"/>
                  <a:gd name="T3" fmla="*/ 0 h 1327"/>
                  <a:gd name="T4" fmla="*/ 0 w 1303"/>
                  <a:gd name="T5" fmla="*/ 0 h 1327"/>
                  <a:gd name="T6" fmla="*/ 0 w 1303"/>
                  <a:gd name="T7" fmla="*/ 0 h 1327"/>
                  <a:gd name="T8" fmla="*/ 0 w 1303"/>
                  <a:gd name="T9" fmla="*/ 0 h 1327"/>
                  <a:gd name="T10" fmla="*/ 0 w 1303"/>
                  <a:gd name="T11" fmla="*/ 0 h 1327"/>
                  <a:gd name="T12" fmla="*/ 0 w 1303"/>
                  <a:gd name="T13" fmla="*/ 0 h 1327"/>
                  <a:gd name="T14" fmla="*/ 0 w 1303"/>
                  <a:gd name="T15" fmla="*/ 0 h 1327"/>
                  <a:gd name="T16" fmla="*/ 0 w 1303"/>
                  <a:gd name="T17" fmla="*/ 0 h 1327"/>
                  <a:gd name="T18" fmla="*/ 0 w 1303"/>
                  <a:gd name="T19" fmla="*/ 0 h 1327"/>
                  <a:gd name="T20" fmla="*/ 0 w 1303"/>
                  <a:gd name="T21" fmla="*/ 0 h 1327"/>
                  <a:gd name="T22" fmla="*/ 0 w 1303"/>
                  <a:gd name="T23" fmla="*/ 0 h 1327"/>
                  <a:gd name="T24" fmla="*/ 0 w 1303"/>
                  <a:gd name="T25" fmla="*/ 0 h 1327"/>
                  <a:gd name="T26" fmla="*/ 0 w 1303"/>
                  <a:gd name="T27" fmla="*/ 0 h 1327"/>
                  <a:gd name="T28" fmla="*/ 0 w 1303"/>
                  <a:gd name="T29" fmla="*/ 0 h 1327"/>
                  <a:gd name="T30" fmla="*/ 0 w 1303"/>
                  <a:gd name="T31" fmla="*/ 0 h 1327"/>
                  <a:gd name="T32" fmla="*/ 0 w 1303"/>
                  <a:gd name="T33" fmla="*/ 0 h 1327"/>
                  <a:gd name="T34" fmla="*/ 0 w 1303"/>
                  <a:gd name="T35" fmla="*/ 0 h 1327"/>
                  <a:gd name="T36" fmla="*/ 0 w 1303"/>
                  <a:gd name="T37" fmla="*/ 0 h 1327"/>
                  <a:gd name="T38" fmla="*/ 0 w 1303"/>
                  <a:gd name="T39" fmla="*/ 0 h 1327"/>
                  <a:gd name="T40" fmla="*/ 0 w 1303"/>
                  <a:gd name="T41" fmla="*/ 0 h 1327"/>
                  <a:gd name="T42" fmla="*/ 0 w 1303"/>
                  <a:gd name="T43" fmla="*/ 0 h 1327"/>
                  <a:gd name="T44" fmla="*/ 0 w 1303"/>
                  <a:gd name="T45" fmla="*/ 0 h 1327"/>
                  <a:gd name="T46" fmla="*/ 0 w 1303"/>
                  <a:gd name="T47" fmla="*/ 0 h 1327"/>
                  <a:gd name="T48" fmla="*/ 0 w 1303"/>
                  <a:gd name="T49" fmla="*/ 0 h 1327"/>
                  <a:gd name="T50" fmla="*/ 0 w 1303"/>
                  <a:gd name="T51" fmla="*/ 0 h 1327"/>
                  <a:gd name="T52" fmla="*/ 0 w 1303"/>
                  <a:gd name="T53" fmla="*/ 0 h 1327"/>
                  <a:gd name="T54" fmla="*/ 0 w 1303"/>
                  <a:gd name="T55" fmla="*/ 0 h 1327"/>
                  <a:gd name="T56" fmla="*/ 0 w 1303"/>
                  <a:gd name="T57" fmla="*/ 0 h 1327"/>
                  <a:gd name="T58" fmla="*/ 0 w 1303"/>
                  <a:gd name="T59" fmla="*/ 0 h 1327"/>
                  <a:gd name="T60" fmla="*/ 0 w 1303"/>
                  <a:gd name="T61" fmla="*/ 0 h 1327"/>
                  <a:gd name="T62" fmla="*/ 0 w 1303"/>
                  <a:gd name="T63" fmla="*/ 0 h 1327"/>
                  <a:gd name="T64" fmla="*/ 0 w 1303"/>
                  <a:gd name="T65" fmla="*/ 0 h 1327"/>
                  <a:gd name="T66" fmla="*/ 0 w 1303"/>
                  <a:gd name="T67" fmla="*/ 0 h 1327"/>
                  <a:gd name="T68" fmla="*/ 0 w 1303"/>
                  <a:gd name="T69" fmla="*/ 0 h 1327"/>
                  <a:gd name="T70" fmla="*/ 0 w 1303"/>
                  <a:gd name="T71" fmla="*/ 0 h 1327"/>
                  <a:gd name="T72" fmla="*/ 0 w 1303"/>
                  <a:gd name="T73" fmla="*/ 0 h 1327"/>
                  <a:gd name="T74" fmla="*/ 0 w 1303"/>
                  <a:gd name="T75" fmla="*/ 0 h 1327"/>
                  <a:gd name="T76" fmla="*/ 0 w 1303"/>
                  <a:gd name="T77" fmla="*/ 0 h 1327"/>
                  <a:gd name="T78" fmla="*/ 0 w 1303"/>
                  <a:gd name="T79" fmla="*/ 0 h 1327"/>
                  <a:gd name="T80" fmla="*/ 0 w 1303"/>
                  <a:gd name="T81" fmla="*/ 0 h 1327"/>
                  <a:gd name="T82" fmla="*/ 0 w 1303"/>
                  <a:gd name="T83" fmla="*/ 0 h 1327"/>
                  <a:gd name="T84" fmla="*/ 0 w 1303"/>
                  <a:gd name="T85" fmla="*/ 0 h 1327"/>
                  <a:gd name="T86" fmla="*/ 0 w 1303"/>
                  <a:gd name="T87" fmla="*/ 0 h 1327"/>
                  <a:gd name="T88" fmla="*/ 0 w 1303"/>
                  <a:gd name="T89" fmla="*/ 0 h 1327"/>
                  <a:gd name="T90" fmla="*/ 0 w 1303"/>
                  <a:gd name="T91" fmla="*/ 0 h 1327"/>
                  <a:gd name="T92" fmla="*/ 0 w 1303"/>
                  <a:gd name="T93" fmla="*/ 0 h 1327"/>
                  <a:gd name="T94" fmla="*/ 0 w 1303"/>
                  <a:gd name="T95" fmla="*/ 0 h 1327"/>
                  <a:gd name="T96" fmla="*/ 0 w 1303"/>
                  <a:gd name="T97" fmla="*/ 0 h 1327"/>
                  <a:gd name="T98" fmla="*/ 0 w 1303"/>
                  <a:gd name="T99" fmla="*/ 0 h 1327"/>
                  <a:gd name="T100" fmla="*/ 0 w 1303"/>
                  <a:gd name="T101" fmla="*/ 0 h 1327"/>
                  <a:gd name="T102" fmla="*/ 0 w 1303"/>
                  <a:gd name="T103" fmla="*/ 0 h 1327"/>
                  <a:gd name="T104" fmla="*/ 0 w 1303"/>
                  <a:gd name="T105" fmla="*/ 0 h 1327"/>
                  <a:gd name="T106" fmla="*/ 0 w 1303"/>
                  <a:gd name="T107" fmla="*/ 0 h 1327"/>
                  <a:gd name="T108" fmla="*/ 0 w 1303"/>
                  <a:gd name="T109" fmla="*/ 0 h 1327"/>
                  <a:gd name="T110" fmla="*/ 0 w 1303"/>
                  <a:gd name="T111" fmla="*/ 0 h 1327"/>
                  <a:gd name="T112" fmla="*/ 0 w 1303"/>
                  <a:gd name="T113" fmla="*/ 0 h 1327"/>
                  <a:gd name="T114" fmla="*/ 0 w 1303"/>
                  <a:gd name="T115" fmla="*/ 0 h 1327"/>
                  <a:gd name="T116" fmla="*/ 0 w 1303"/>
                  <a:gd name="T117" fmla="*/ 0 h 1327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1303"/>
                  <a:gd name="T178" fmla="*/ 0 h 1327"/>
                  <a:gd name="T179" fmla="*/ 1303 w 1303"/>
                  <a:gd name="T180" fmla="*/ 1327 h 1327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1303" h="1327">
                    <a:moveTo>
                      <a:pt x="28" y="680"/>
                    </a:moveTo>
                    <a:lnTo>
                      <a:pt x="28" y="681"/>
                    </a:lnTo>
                    <a:lnTo>
                      <a:pt x="30" y="684"/>
                    </a:lnTo>
                    <a:lnTo>
                      <a:pt x="30" y="686"/>
                    </a:lnTo>
                    <a:lnTo>
                      <a:pt x="30" y="688"/>
                    </a:lnTo>
                    <a:lnTo>
                      <a:pt x="33" y="691"/>
                    </a:lnTo>
                    <a:lnTo>
                      <a:pt x="34" y="697"/>
                    </a:lnTo>
                    <a:lnTo>
                      <a:pt x="36" y="698"/>
                    </a:lnTo>
                    <a:lnTo>
                      <a:pt x="36" y="704"/>
                    </a:lnTo>
                    <a:lnTo>
                      <a:pt x="37" y="708"/>
                    </a:lnTo>
                    <a:lnTo>
                      <a:pt x="40" y="714"/>
                    </a:lnTo>
                    <a:lnTo>
                      <a:pt x="43" y="720"/>
                    </a:lnTo>
                    <a:lnTo>
                      <a:pt x="44" y="725"/>
                    </a:lnTo>
                    <a:lnTo>
                      <a:pt x="47" y="733"/>
                    </a:lnTo>
                    <a:lnTo>
                      <a:pt x="51" y="740"/>
                    </a:lnTo>
                    <a:lnTo>
                      <a:pt x="53" y="745"/>
                    </a:lnTo>
                    <a:lnTo>
                      <a:pt x="55" y="752"/>
                    </a:lnTo>
                    <a:lnTo>
                      <a:pt x="60" y="761"/>
                    </a:lnTo>
                    <a:lnTo>
                      <a:pt x="64" y="769"/>
                    </a:lnTo>
                    <a:lnTo>
                      <a:pt x="67" y="778"/>
                    </a:lnTo>
                    <a:lnTo>
                      <a:pt x="70" y="785"/>
                    </a:lnTo>
                    <a:lnTo>
                      <a:pt x="74" y="795"/>
                    </a:lnTo>
                    <a:lnTo>
                      <a:pt x="80" y="804"/>
                    </a:lnTo>
                    <a:lnTo>
                      <a:pt x="84" y="812"/>
                    </a:lnTo>
                    <a:lnTo>
                      <a:pt x="87" y="822"/>
                    </a:lnTo>
                    <a:lnTo>
                      <a:pt x="92" y="832"/>
                    </a:lnTo>
                    <a:lnTo>
                      <a:pt x="98" y="842"/>
                    </a:lnTo>
                    <a:lnTo>
                      <a:pt x="101" y="852"/>
                    </a:lnTo>
                    <a:lnTo>
                      <a:pt x="108" y="861"/>
                    </a:lnTo>
                    <a:lnTo>
                      <a:pt x="114" y="872"/>
                    </a:lnTo>
                    <a:lnTo>
                      <a:pt x="118" y="883"/>
                    </a:lnTo>
                    <a:lnTo>
                      <a:pt x="124" y="893"/>
                    </a:lnTo>
                    <a:lnTo>
                      <a:pt x="129" y="903"/>
                    </a:lnTo>
                    <a:lnTo>
                      <a:pt x="136" y="915"/>
                    </a:lnTo>
                    <a:lnTo>
                      <a:pt x="142" y="926"/>
                    </a:lnTo>
                    <a:lnTo>
                      <a:pt x="148" y="936"/>
                    </a:lnTo>
                    <a:lnTo>
                      <a:pt x="153" y="947"/>
                    </a:lnTo>
                    <a:lnTo>
                      <a:pt x="161" y="959"/>
                    </a:lnTo>
                    <a:lnTo>
                      <a:pt x="168" y="969"/>
                    </a:lnTo>
                    <a:lnTo>
                      <a:pt x="173" y="980"/>
                    </a:lnTo>
                    <a:lnTo>
                      <a:pt x="180" y="991"/>
                    </a:lnTo>
                    <a:lnTo>
                      <a:pt x="189" y="1003"/>
                    </a:lnTo>
                    <a:lnTo>
                      <a:pt x="196" y="1014"/>
                    </a:lnTo>
                    <a:lnTo>
                      <a:pt x="202" y="1024"/>
                    </a:lnTo>
                    <a:lnTo>
                      <a:pt x="210" y="1035"/>
                    </a:lnTo>
                    <a:lnTo>
                      <a:pt x="219" y="1047"/>
                    </a:lnTo>
                    <a:lnTo>
                      <a:pt x="226" y="1058"/>
                    </a:lnTo>
                    <a:lnTo>
                      <a:pt x="233" y="1068"/>
                    </a:lnTo>
                    <a:lnTo>
                      <a:pt x="243" y="1078"/>
                    </a:lnTo>
                    <a:lnTo>
                      <a:pt x="250" y="1091"/>
                    </a:lnTo>
                    <a:lnTo>
                      <a:pt x="260" y="1101"/>
                    </a:lnTo>
                    <a:lnTo>
                      <a:pt x="269" y="1111"/>
                    </a:lnTo>
                    <a:lnTo>
                      <a:pt x="277" y="1122"/>
                    </a:lnTo>
                    <a:lnTo>
                      <a:pt x="286" y="1131"/>
                    </a:lnTo>
                    <a:lnTo>
                      <a:pt x="296" y="1141"/>
                    </a:lnTo>
                    <a:lnTo>
                      <a:pt x="304" y="1152"/>
                    </a:lnTo>
                    <a:lnTo>
                      <a:pt x="314" y="1161"/>
                    </a:lnTo>
                    <a:lnTo>
                      <a:pt x="324" y="1171"/>
                    </a:lnTo>
                    <a:lnTo>
                      <a:pt x="333" y="1181"/>
                    </a:lnTo>
                    <a:lnTo>
                      <a:pt x="342" y="1188"/>
                    </a:lnTo>
                    <a:lnTo>
                      <a:pt x="352" y="1199"/>
                    </a:lnTo>
                    <a:lnTo>
                      <a:pt x="362" y="1206"/>
                    </a:lnTo>
                    <a:lnTo>
                      <a:pt x="372" y="1215"/>
                    </a:lnTo>
                    <a:lnTo>
                      <a:pt x="382" y="1222"/>
                    </a:lnTo>
                    <a:lnTo>
                      <a:pt x="394" y="1230"/>
                    </a:lnTo>
                    <a:lnTo>
                      <a:pt x="405" y="1237"/>
                    </a:lnTo>
                    <a:lnTo>
                      <a:pt x="415" y="1245"/>
                    </a:lnTo>
                    <a:lnTo>
                      <a:pt x="425" y="1252"/>
                    </a:lnTo>
                    <a:lnTo>
                      <a:pt x="436" y="1259"/>
                    </a:lnTo>
                    <a:lnTo>
                      <a:pt x="448" y="1264"/>
                    </a:lnTo>
                    <a:lnTo>
                      <a:pt x="459" y="1270"/>
                    </a:lnTo>
                    <a:lnTo>
                      <a:pt x="469" y="1274"/>
                    </a:lnTo>
                    <a:lnTo>
                      <a:pt x="480" y="1281"/>
                    </a:lnTo>
                    <a:lnTo>
                      <a:pt x="492" y="1286"/>
                    </a:lnTo>
                    <a:lnTo>
                      <a:pt x="504" y="1290"/>
                    </a:lnTo>
                    <a:lnTo>
                      <a:pt x="516" y="1294"/>
                    </a:lnTo>
                    <a:lnTo>
                      <a:pt x="527" y="1299"/>
                    </a:lnTo>
                    <a:lnTo>
                      <a:pt x="539" y="1301"/>
                    </a:lnTo>
                    <a:lnTo>
                      <a:pt x="551" y="1307"/>
                    </a:lnTo>
                    <a:lnTo>
                      <a:pt x="563" y="1310"/>
                    </a:lnTo>
                    <a:lnTo>
                      <a:pt x="576" y="1313"/>
                    </a:lnTo>
                    <a:lnTo>
                      <a:pt x="587" y="1316"/>
                    </a:lnTo>
                    <a:lnTo>
                      <a:pt x="600" y="1317"/>
                    </a:lnTo>
                    <a:lnTo>
                      <a:pt x="611" y="1318"/>
                    </a:lnTo>
                    <a:lnTo>
                      <a:pt x="624" y="1321"/>
                    </a:lnTo>
                    <a:lnTo>
                      <a:pt x="637" y="1323"/>
                    </a:lnTo>
                    <a:lnTo>
                      <a:pt x="648" y="1324"/>
                    </a:lnTo>
                    <a:lnTo>
                      <a:pt x="661" y="1324"/>
                    </a:lnTo>
                    <a:lnTo>
                      <a:pt x="674" y="1326"/>
                    </a:lnTo>
                    <a:lnTo>
                      <a:pt x="686" y="1327"/>
                    </a:lnTo>
                    <a:lnTo>
                      <a:pt x="698" y="1327"/>
                    </a:lnTo>
                    <a:lnTo>
                      <a:pt x="710" y="1327"/>
                    </a:lnTo>
                    <a:lnTo>
                      <a:pt x="723" y="1327"/>
                    </a:lnTo>
                    <a:lnTo>
                      <a:pt x="736" y="1326"/>
                    </a:lnTo>
                    <a:lnTo>
                      <a:pt x="749" y="1326"/>
                    </a:lnTo>
                    <a:lnTo>
                      <a:pt x="762" y="1324"/>
                    </a:lnTo>
                    <a:lnTo>
                      <a:pt x="772" y="1323"/>
                    </a:lnTo>
                    <a:lnTo>
                      <a:pt x="786" y="1321"/>
                    </a:lnTo>
                    <a:lnTo>
                      <a:pt x="799" y="1318"/>
                    </a:lnTo>
                    <a:lnTo>
                      <a:pt x="810" y="1317"/>
                    </a:lnTo>
                    <a:lnTo>
                      <a:pt x="823" y="1314"/>
                    </a:lnTo>
                    <a:lnTo>
                      <a:pt x="836" y="1311"/>
                    </a:lnTo>
                    <a:lnTo>
                      <a:pt x="848" y="1310"/>
                    </a:lnTo>
                    <a:lnTo>
                      <a:pt x="860" y="1306"/>
                    </a:lnTo>
                    <a:lnTo>
                      <a:pt x="872" y="1301"/>
                    </a:lnTo>
                    <a:lnTo>
                      <a:pt x="885" y="1299"/>
                    </a:lnTo>
                    <a:lnTo>
                      <a:pt x="897" y="1296"/>
                    </a:lnTo>
                    <a:lnTo>
                      <a:pt x="908" y="1290"/>
                    </a:lnTo>
                    <a:lnTo>
                      <a:pt x="921" y="1287"/>
                    </a:lnTo>
                    <a:lnTo>
                      <a:pt x="934" y="1281"/>
                    </a:lnTo>
                    <a:lnTo>
                      <a:pt x="945" y="1277"/>
                    </a:lnTo>
                    <a:lnTo>
                      <a:pt x="958" y="1272"/>
                    </a:lnTo>
                    <a:lnTo>
                      <a:pt x="969" y="1266"/>
                    </a:lnTo>
                    <a:lnTo>
                      <a:pt x="980" y="1262"/>
                    </a:lnTo>
                    <a:lnTo>
                      <a:pt x="992" y="1256"/>
                    </a:lnTo>
                    <a:lnTo>
                      <a:pt x="1003" y="1249"/>
                    </a:lnTo>
                    <a:lnTo>
                      <a:pt x="1016" y="1242"/>
                    </a:lnTo>
                    <a:lnTo>
                      <a:pt x="1026" y="1235"/>
                    </a:lnTo>
                    <a:lnTo>
                      <a:pt x="1039" y="1230"/>
                    </a:lnTo>
                    <a:lnTo>
                      <a:pt x="1049" y="1222"/>
                    </a:lnTo>
                    <a:lnTo>
                      <a:pt x="1060" y="1215"/>
                    </a:lnTo>
                    <a:lnTo>
                      <a:pt x="1070" y="1206"/>
                    </a:lnTo>
                    <a:lnTo>
                      <a:pt x="1081" y="1200"/>
                    </a:lnTo>
                    <a:lnTo>
                      <a:pt x="1093" y="1190"/>
                    </a:lnTo>
                    <a:lnTo>
                      <a:pt x="1103" y="1183"/>
                    </a:lnTo>
                    <a:lnTo>
                      <a:pt x="1114" y="1175"/>
                    </a:lnTo>
                    <a:lnTo>
                      <a:pt x="1125" y="1168"/>
                    </a:lnTo>
                    <a:lnTo>
                      <a:pt x="1134" y="1158"/>
                    </a:lnTo>
                    <a:lnTo>
                      <a:pt x="1144" y="1149"/>
                    </a:lnTo>
                    <a:lnTo>
                      <a:pt x="1152" y="1139"/>
                    </a:lnTo>
                    <a:lnTo>
                      <a:pt x="1162" y="1131"/>
                    </a:lnTo>
                    <a:lnTo>
                      <a:pt x="1171" y="1122"/>
                    </a:lnTo>
                    <a:lnTo>
                      <a:pt x="1179" y="1112"/>
                    </a:lnTo>
                    <a:lnTo>
                      <a:pt x="1186" y="1104"/>
                    </a:lnTo>
                    <a:lnTo>
                      <a:pt x="1195" y="1095"/>
                    </a:lnTo>
                    <a:lnTo>
                      <a:pt x="1202" y="1084"/>
                    </a:lnTo>
                    <a:lnTo>
                      <a:pt x="1209" y="1075"/>
                    </a:lnTo>
                    <a:lnTo>
                      <a:pt x="1215" y="1067"/>
                    </a:lnTo>
                    <a:lnTo>
                      <a:pt x="1223" y="1057"/>
                    </a:lnTo>
                    <a:lnTo>
                      <a:pt x="1229" y="1047"/>
                    </a:lnTo>
                    <a:lnTo>
                      <a:pt x="1235" y="1038"/>
                    </a:lnTo>
                    <a:lnTo>
                      <a:pt x="1240" y="1028"/>
                    </a:lnTo>
                    <a:lnTo>
                      <a:pt x="1246" y="1018"/>
                    </a:lnTo>
                    <a:lnTo>
                      <a:pt x="1252" y="1008"/>
                    </a:lnTo>
                    <a:lnTo>
                      <a:pt x="1256" y="998"/>
                    </a:lnTo>
                    <a:lnTo>
                      <a:pt x="1260" y="989"/>
                    </a:lnTo>
                    <a:lnTo>
                      <a:pt x="1266" y="979"/>
                    </a:lnTo>
                    <a:lnTo>
                      <a:pt x="1269" y="969"/>
                    </a:lnTo>
                    <a:lnTo>
                      <a:pt x="1273" y="960"/>
                    </a:lnTo>
                    <a:lnTo>
                      <a:pt x="1276" y="949"/>
                    </a:lnTo>
                    <a:lnTo>
                      <a:pt x="1282" y="940"/>
                    </a:lnTo>
                    <a:lnTo>
                      <a:pt x="1283" y="929"/>
                    </a:lnTo>
                    <a:lnTo>
                      <a:pt x="1286" y="919"/>
                    </a:lnTo>
                    <a:lnTo>
                      <a:pt x="1289" y="907"/>
                    </a:lnTo>
                    <a:lnTo>
                      <a:pt x="1292" y="899"/>
                    </a:lnTo>
                    <a:lnTo>
                      <a:pt x="1293" y="888"/>
                    </a:lnTo>
                    <a:lnTo>
                      <a:pt x="1296" y="879"/>
                    </a:lnTo>
                    <a:lnTo>
                      <a:pt x="1297" y="868"/>
                    </a:lnTo>
                    <a:lnTo>
                      <a:pt x="1299" y="858"/>
                    </a:lnTo>
                    <a:lnTo>
                      <a:pt x="1300" y="848"/>
                    </a:lnTo>
                    <a:lnTo>
                      <a:pt x="1300" y="836"/>
                    </a:lnTo>
                    <a:lnTo>
                      <a:pt x="1302" y="826"/>
                    </a:lnTo>
                    <a:lnTo>
                      <a:pt x="1303" y="816"/>
                    </a:lnTo>
                    <a:lnTo>
                      <a:pt x="1303" y="805"/>
                    </a:lnTo>
                    <a:lnTo>
                      <a:pt x="1303" y="795"/>
                    </a:lnTo>
                    <a:lnTo>
                      <a:pt x="1303" y="784"/>
                    </a:lnTo>
                    <a:lnTo>
                      <a:pt x="1303" y="774"/>
                    </a:lnTo>
                    <a:lnTo>
                      <a:pt x="1303" y="764"/>
                    </a:lnTo>
                    <a:lnTo>
                      <a:pt x="1303" y="752"/>
                    </a:lnTo>
                    <a:lnTo>
                      <a:pt x="1302" y="742"/>
                    </a:lnTo>
                    <a:lnTo>
                      <a:pt x="1302" y="733"/>
                    </a:lnTo>
                    <a:lnTo>
                      <a:pt x="1300" y="721"/>
                    </a:lnTo>
                    <a:lnTo>
                      <a:pt x="1300" y="711"/>
                    </a:lnTo>
                    <a:lnTo>
                      <a:pt x="1299" y="701"/>
                    </a:lnTo>
                    <a:lnTo>
                      <a:pt x="1297" y="691"/>
                    </a:lnTo>
                    <a:lnTo>
                      <a:pt x="1296" y="680"/>
                    </a:lnTo>
                    <a:lnTo>
                      <a:pt x="1294" y="669"/>
                    </a:lnTo>
                    <a:lnTo>
                      <a:pt x="1293" y="659"/>
                    </a:lnTo>
                    <a:lnTo>
                      <a:pt x="1290" y="649"/>
                    </a:lnTo>
                    <a:lnTo>
                      <a:pt x="1289" y="637"/>
                    </a:lnTo>
                    <a:lnTo>
                      <a:pt x="1287" y="627"/>
                    </a:lnTo>
                    <a:lnTo>
                      <a:pt x="1285" y="616"/>
                    </a:lnTo>
                    <a:lnTo>
                      <a:pt x="1283" y="607"/>
                    </a:lnTo>
                    <a:lnTo>
                      <a:pt x="1280" y="596"/>
                    </a:lnTo>
                    <a:lnTo>
                      <a:pt x="1277" y="586"/>
                    </a:lnTo>
                    <a:lnTo>
                      <a:pt x="1275" y="576"/>
                    </a:lnTo>
                    <a:lnTo>
                      <a:pt x="1272" y="566"/>
                    </a:lnTo>
                    <a:lnTo>
                      <a:pt x="1269" y="555"/>
                    </a:lnTo>
                    <a:lnTo>
                      <a:pt x="1266" y="545"/>
                    </a:lnTo>
                    <a:lnTo>
                      <a:pt x="1263" y="533"/>
                    </a:lnTo>
                    <a:lnTo>
                      <a:pt x="1260" y="525"/>
                    </a:lnTo>
                    <a:lnTo>
                      <a:pt x="1256" y="515"/>
                    </a:lnTo>
                    <a:lnTo>
                      <a:pt x="1253" y="504"/>
                    </a:lnTo>
                    <a:lnTo>
                      <a:pt x="1250" y="494"/>
                    </a:lnTo>
                    <a:lnTo>
                      <a:pt x="1246" y="484"/>
                    </a:lnTo>
                    <a:lnTo>
                      <a:pt x="1243" y="474"/>
                    </a:lnTo>
                    <a:lnTo>
                      <a:pt x="1239" y="464"/>
                    </a:lnTo>
                    <a:lnTo>
                      <a:pt x="1236" y="452"/>
                    </a:lnTo>
                    <a:lnTo>
                      <a:pt x="1233" y="442"/>
                    </a:lnTo>
                    <a:lnTo>
                      <a:pt x="1229" y="432"/>
                    </a:lnTo>
                    <a:lnTo>
                      <a:pt x="1226" y="422"/>
                    </a:lnTo>
                    <a:lnTo>
                      <a:pt x="1222" y="413"/>
                    </a:lnTo>
                    <a:lnTo>
                      <a:pt x="1219" y="403"/>
                    </a:lnTo>
                    <a:lnTo>
                      <a:pt x="1213" y="393"/>
                    </a:lnTo>
                    <a:lnTo>
                      <a:pt x="1212" y="383"/>
                    </a:lnTo>
                    <a:lnTo>
                      <a:pt x="1208" y="373"/>
                    </a:lnTo>
                    <a:lnTo>
                      <a:pt x="1205" y="364"/>
                    </a:lnTo>
                    <a:lnTo>
                      <a:pt x="1201" y="354"/>
                    </a:lnTo>
                    <a:lnTo>
                      <a:pt x="1196" y="343"/>
                    </a:lnTo>
                    <a:lnTo>
                      <a:pt x="1192" y="334"/>
                    </a:lnTo>
                    <a:lnTo>
                      <a:pt x="1188" y="326"/>
                    </a:lnTo>
                    <a:lnTo>
                      <a:pt x="1185" y="316"/>
                    </a:lnTo>
                    <a:lnTo>
                      <a:pt x="1181" y="306"/>
                    </a:lnTo>
                    <a:lnTo>
                      <a:pt x="1178" y="297"/>
                    </a:lnTo>
                    <a:lnTo>
                      <a:pt x="1174" y="287"/>
                    </a:lnTo>
                    <a:lnTo>
                      <a:pt x="1169" y="279"/>
                    </a:lnTo>
                    <a:lnTo>
                      <a:pt x="1165" y="270"/>
                    </a:lnTo>
                    <a:lnTo>
                      <a:pt x="1161" y="260"/>
                    </a:lnTo>
                    <a:lnTo>
                      <a:pt x="1157" y="252"/>
                    </a:lnTo>
                    <a:lnTo>
                      <a:pt x="1152" y="243"/>
                    </a:lnTo>
                    <a:lnTo>
                      <a:pt x="1148" y="235"/>
                    </a:lnTo>
                    <a:lnTo>
                      <a:pt x="1144" y="226"/>
                    </a:lnTo>
                    <a:lnTo>
                      <a:pt x="1140" y="219"/>
                    </a:lnTo>
                    <a:lnTo>
                      <a:pt x="1135" y="209"/>
                    </a:lnTo>
                    <a:lnTo>
                      <a:pt x="1131" y="202"/>
                    </a:lnTo>
                    <a:lnTo>
                      <a:pt x="1127" y="193"/>
                    </a:lnTo>
                    <a:lnTo>
                      <a:pt x="1123" y="185"/>
                    </a:lnTo>
                    <a:lnTo>
                      <a:pt x="1117" y="178"/>
                    </a:lnTo>
                    <a:lnTo>
                      <a:pt x="1113" y="171"/>
                    </a:lnTo>
                    <a:lnTo>
                      <a:pt x="1107" y="162"/>
                    </a:lnTo>
                    <a:lnTo>
                      <a:pt x="1103" y="155"/>
                    </a:lnTo>
                    <a:lnTo>
                      <a:pt x="1098" y="148"/>
                    </a:lnTo>
                    <a:lnTo>
                      <a:pt x="1094" y="141"/>
                    </a:lnTo>
                    <a:lnTo>
                      <a:pt x="1088" y="134"/>
                    </a:lnTo>
                    <a:lnTo>
                      <a:pt x="1083" y="127"/>
                    </a:lnTo>
                    <a:lnTo>
                      <a:pt x="1078" y="120"/>
                    </a:lnTo>
                    <a:lnTo>
                      <a:pt x="1073" y="114"/>
                    </a:lnTo>
                    <a:lnTo>
                      <a:pt x="1067" y="107"/>
                    </a:lnTo>
                    <a:lnTo>
                      <a:pt x="1064" y="101"/>
                    </a:lnTo>
                    <a:lnTo>
                      <a:pt x="1057" y="95"/>
                    </a:lnTo>
                    <a:lnTo>
                      <a:pt x="1052" y="90"/>
                    </a:lnTo>
                    <a:lnTo>
                      <a:pt x="1047" y="84"/>
                    </a:lnTo>
                    <a:lnTo>
                      <a:pt x="1042" y="78"/>
                    </a:lnTo>
                    <a:lnTo>
                      <a:pt x="1036" y="73"/>
                    </a:lnTo>
                    <a:lnTo>
                      <a:pt x="1030" y="67"/>
                    </a:lnTo>
                    <a:lnTo>
                      <a:pt x="1025" y="63"/>
                    </a:lnTo>
                    <a:lnTo>
                      <a:pt x="1019" y="57"/>
                    </a:lnTo>
                    <a:lnTo>
                      <a:pt x="1013" y="53"/>
                    </a:lnTo>
                    <a:lnTo>
                      <a:pt x="1007" y="47"/>
                    </a:lnTo>
                    <a:lnTo>
                      <a:pt x="1000" y="44"/>
                    </a:lnTo>
                    <a:lnTo>
                      <a:pt x="995" y="40"/>
                    </a:lnTo>
                    <a:lnTo>
                      <a:pt x="989" y="37"/>
                    </a:lnTo>
                    <a:lnTo>
                      <a:pt x="983" y="33"/>
                    </a:lnTo>
                    <a:lnTo>
                      <a:pt x="978" y="30"/>
                    </a:lnTo>
                    <a:lnTo>
                      <a:pt x="971" y="27"/>
                    </a:lnTo>
                    <a:lnTo>
                      <a:pt x="963" y="23"/>
                    </a:lnTo>
                    <a:lnTo>
                      <a:pt x="958" y="20"/>
                    </a:lnTo>
                    <a:lnTo>
                      <a:pt x="952" y="17"/>
                    </a:lnTo>
                    <a:lnTo>
                      <a:pt x="945" y="14"/>
                    </a:lnTo>
                    <a:lnTo>
                      <a:pt x="939" y="13"/>
                    </a:lnTo>
                    <a:lnTo>
                      <a:pt x="932" y="10"/>
                    </a:lnTo>
                    <a:lnTo>
                      <a:pt x="926" y="9"/>
                    </a:lnTo>
                    <a:lnTo>
                      <a:pt x="922" y="7"/>
                    </a:lnTo>
                    <a:lnTo>
                      <a:pt x="915" y="6"/>
                    </a:lnTo>
                    <a:lnTo>
                      <a:pt x="909" y="4"/>
                    </a:lnTo>
                    <a:lnTo>
                      <a:pt x="904" y="3"/>
                    </a:lnTo>
                    <a:lnTo>
                      <a:pt x="899" y="3"/>
                    </a:lnTo>
                    <a:lnTo>
                      <a:pt x="892" y="0"/>
                    </a:lnTo>
                    <a:lnTo>
                      <a:pt x="887" y="0"/>
                    </a:lnTo>
                    <a:lnTo>
                      <a:pt x="882" y="0"/>
                    </a:lnTo>
                    <a:lnTo>
                      <a:pt x="878" y="0"/>
                    </a:lnTo>
                    <a:lnTo>
                      <a:pt x="872" y="0"/>
                    </a:lnTo>
                    <a:lnTo>
                      <a:pt x="867" y="0"/>
                    </a:lnTo>
                    <a:lnTo>
                      <a:pt x="863" y="0"/>
                    </a:lnTo>
                    <a:lnTo>
                      <a:pt x="858" y="0"/>
                    </a:lnTo>
                    <a:lnTo>
                      <a:pt x="853" y="0"/>
                    </a:lnTo>
                    <a:lnTo>
                      <a:pt x="848" y="1"/>
                    </a:lnTo>
                    <a:lnTo>
                      <a:pt x="845" y="3"/>
                    </a:lnTo>
                    <a:lnTo>
                      <a:pt x="841" y="4"/>
                    </a:lnTo>
                    <a:lnTo>
                      <a:pt x="836" y="4"/>
                    </a:lnTo>
                    <a:lnTo>
                      <a:pt x="831" y="6"/>
                    </a:lnTo>
                    <a:lnTo>
                      <a:pt x="827" y="7"/>
                    </a:lnTo>
                    <a:lnTo>
                      <a:pt x="824" y="9"/>
                    </a:lnTo>
                    <a:lnTo>
                      <a:pt x="818" y="10"/>
                    </a:lnTo>
                    <a:lnTo>
                      <a:pt x="817" y="11"/>
                    </a:lnTo>
                    <a:lnTo>
                      <a:pt x="811" y="13"/>
                    </a:lnTo>
                    <a:lnTo>
                      <a:pt x="809" y="16"/>
                    </a:lnTo>
                    <a:lnTo>
                      <a:pt x="806" y="17"/>
                    </a:lnTo>
                    <a:lnTo>
                      <a:pt x="801" y="20"/>
                    </a:lnTo>
                    <a:lnTo>
                      <a:pt x="799" y="23"/>
                    </a:lnTo>
                    <a:lnTo>
                      <a:pt x="796" y="26"/>
                    </a:lnTo>
                    <a:lnTo>
                      <a:pt x="793" y="29"/>
                    </a:lnTo>
                    <a:lnTo>
                      <a:pt x="789" y="31"/>
                    </a:lnTo>
                    <a:lnTo>
                      <a:pt x="786" y="34"/>
                    </a:lnTo>
                    <a:lnTo>
                      <a:pt x="783" y="37"/>
                    </a:lnTo>
                    <a:lnTo>
                      <a:pt x="780" y="40"/>
                    </a:lnTo>
                    <a:lnTo>
                      <a:pt x="777" y="43"/>
                    </a:lnTo>
                    <a:lnTo>
                      <a:pt x="774" y="46"/>
                    </a:lnTo>
                    <a:lnTo>
                      <a:pt x="773" y="50"/>
                    </a:lnTo>
                    <a:lnTo>
                      <a:pt x="770" y="53"/>
                    </a:lnTo>
                    <a:lnTo>
                      <a:pt x="769" y="57"/>
                    </a:lnTo>
                    <a:lnTo>
                      <a:pt x="767" y="60"/>
                    </a:lnTo>
                    <a:lnTo>
                      <a:pt x="764" y="64"/>
                    </a:lnTo>
                    <a:lnTo>
                      <a:pt x="763" y="68"/>
                    </a:lnTo>
                    <a:lnTo>
                      <a:pt x="762" y="71"/>
                    </a:lnTo>
                    <a:lnTo>
                      <a:pt x="759" y="75"/>
                    </a:lnTo>
                    <a:lnTo>
                      <a:pt x="757" y="80"/>
                    </a:lnTo>
                    <a:lnTo>
                      <a:pt x="756" y="84"/>
                    </a:lnTo>
                    <a:lnTo>
                      <a:pt x="755" y="88"/>
                    </a:lnTo>
                    <a:lnTo>
                      <a:pt x="753" y="91"/>
                    </a:lnTo>
                    <a:lnTo>
                      <a:pt x="753" y="97"/>
                    </a:lnTo>
                    <a:lnTo>
                      <a:pt x="752" y="101"/>
                    </a:lnTo>
                    <a:lnTo>
                      <a:pt x="750" y="107"/>
                    </a:lnTo>
                    <a:lnTo>
                      <a:pt x="749" y="111"/>
                    </a:lnTo>
                    <a:lnTo>
                      <a:pt x="749" y="115"/>
                    </a:lnTo>
                    <a:lnTo>
                      <a:pt x="749" y="120"/>
                    </a:lnTo>
                    <a:lnTo>
                      <a:pt x="749" y="124"/>
                    </a:lnTo>
                    <a:lnTo>
                      <a:pt x="749" y="128"/>
                    </a:lnTo>
                    <a:lnTo>
                      <a:pt x="749" y="135"/>
                    </a:lnTo>
                    <a:lnTo>
                      <a:pt x="747" y="138"/>
                    </a:lnTo>
                    <a:lnTo>
                      <a:pt x="747" y="144"/>
                    </a:lnTo>
                    <a:lnTo>
                      <a:pt x="747" y="148"/>
                    </a:lnTo>
                    <a:lnTo>
                      <a:pt x="747" y="152"/>
                    </a:lnTo>
                    <a:lnTo>
                      <a:pt x="747" y="157"/>
                    </a:lnTo>
                    <a:lnTo>
                      <a:pt x="747" y="162"/>
                    </a:lnTo>
                    <a:lnTo>
                      <a:pt x="747" y="166"/>
                    </a:lnTo>
                    <a:lnTo>
                      <a:pt x="747" y="171"/>
                    </a:lnTo>
                    <a:lnTo>
                      <a:pt x="747" y="175"/>
                    </a:lnTo>
                    <a:lnTo>
                      <a:pt x="747" y="178"/>
                    </a:lnTo>
                    <a:lnTo>
                      <a:pt x="749" y="182"/>
                    </a:lnTo>
                    <a:lnTo>
                      <a:pt x="749" y="188"/>
                    </a:lnTo>
                    <a:lnTo>
                      <a:pt x="749" y="191"/>
                    </a:lnTo>
                    <a:lnTo>
                      <a:pt x="749" y="195"/>
                    </a:lnTo>
                    <a:lnTo>
                      <a:pt x="750" y="199"/>
                    </a:lnTo>
                    <a:lnTo>
                      <a:pt x="750" y="203"/>
                    </a:lnTo>
                    <a:lnTo>
                      <a:pt x="750" y="206"/>
                    </a:lnTo>
                    <a:lnTo>
                      <a:pt x="752" y="209"/>
                    </a:lnTo>
                    <a:lnTo>
                      <a:pt x="752" y="215"/>
                    </a:lnTo>
                    <a:lnTo>
                      <a:pt x="752" y="218"/>
                    </a:lnTo>
                    <a:lnTo>
                      <a:pt x="752" y="221"/>
                    </a:lnTo>
                    <a:lnTo>
                      <a:pt x="752" y="225"/>
                    </a:lnTo>
                    <a:lnTo>
                      <a:pt x="753" y="228"/>
                    </a:lnTo>
                    <a:lnTo>
                      <a:pt x="755" y="232"/>
                    </a:lnTo>
                    <a:lnTo>
                      <a:pt x="755" y="235"/>
                    </a:lnTo>
                    <a:lnTo>
                      <a:pt x="755" y="239"/>
                    </a:lnTo>
                    <a:lnTo>
                      <a:pt x="755" y="243"/>
                    </a:lnTo>
                    <a:lnTo>
                      <a:pt x="756" y="246"/>
                    </a:lnTo>
                    <a:lnTo>
                      <a:pt x="756" y="249"/>
                    </a:lnTo>
                    <a:lnTo>
                      <a:pt x="757" y="252"/>
                    </a:lnTo>
                    <a:lnTo>
                      <a:pt x="757" y="255"/>
                    </a:lnTo>
                    <a:lnTo>
                      <a:pt x="759" y="259"/>
                    </a:lnTo>
                    <a:lnTo>
                      <a:pt x="759" y="260"/>
                    </a:lnTo>
                    <a:lnTo>
                      <a:pt x="760" y="265"/>
                    </a:lnTo>
                    <a:lnTo>
                      <a:pt x="760" y="266"/>
                    </a:lnTo>
                    <a:lnTo>
                      <a:pt x="762" y="270"/>
                    </a:lnTo>
                    <a:lnTo>
                      <a:pt x="762" y="272"/>
                    </a:lnTo>
                    <a:lnTo>
                      <a:pt x="762" y="275"/>
                    </a:lnTo>
                    <a:lnTo>
                      <a:pt x="762" y="277"/>
                    </a:lnTo>
                    <a:lnTo>
                      <a:pt x="763" y="280"/>
                    </a:lnTo>
                    <a:lnTo>
                      <a:pt x="764" y="286"/>
                    </a:lnTo>
                    <a:lnTo>
                      <a:pt x="764" y="290"/>
                    </a:lnTo>
                    <a:lnTo>
                      <a:pt x="766" y="296"/>
                    </a:lnTo>
                    <a:lnTo>
                      <a:pt x="767" y="300"/>
                    </a:lnTo>
                    <a:lnTo>
                      <a:pt x="767" y="304"/>
                    </a:lnTo>
                    <a:lnTo>
                      <a:pt x="767" y="309"/>
                    </a:lnTo>
                    <a:lnTo>
                      <a:pt x="769" y="313"/>
                    </a:lnTo>
                    <a:lnTo>
                      <a:pt x="769" y="317"/>
                    </a:lnTo>
                    <a:lnTo>
                      <a:pt x="769" y="320"/>
                    </a:lnTo>
                    <a:lnTo>
                      <a:pt x="769" y="324"/>
                    </a:lnTo>
                    <a:lnTo>
                      <a:pt x="769" y="327"/>
                    </a:lnTo>
                    <a:lnTo>
                      <a:pt x="770" y="331"/>
                    </a:lnTo>
                    <a:lnTo>
                      <a:pt x="767" y="333"/>
                    </a:lnTo>
                    <a:lnTo>
                      <a:pt x="767" y="337"/>
                    </a:lnTo>
                    <a:lnTo>
                      <a:pt x="764" y="339"/>
                    </a:lnTo>
                    <a:lnTo>
                      <a:pt x="762" y="341"/>
                    </a:lnTo>
                    <a:lnTo>
                      <a:pt x="757" y="344"/>
                    </a:lnTo>
                    <a:lnTo>
                      <a:pt x="753" y="347"/>
                    </a:lnTo>
                    <a:lnTo>
                      <a:pt x="749" y="350"/>
                    </a:lnTo>
                    <a:lnTo>
                      <a:pt x="743" y="354"/>
                    </a:lnTo>
                    <a:lnTo>
                      <a:pt x="740" y="356"/>
                    </a:lnTo>
                    <a:lnTo>
                      <a:pt x="737" y="356"/>
                    </a:lnTo>
                    <a:lnTo>
                      <a:pt x="735" y="358"/>
                    </a:lnTo>
                    <a:lnTo>
                      <a:pt x="730" y="360"/>
                    </a:lnTo>
                    <a:lnTo>
                      <a:pt x="728" y="361"/>
                    </a:lnTo>
                    <a:lnTo>
                      <a:pt x="723" y="363"/>
                    </a:lnTo>
                    <a:lnTo>
                      <a:pt x="720" y="364"/>
                    </a:lnTo>
                    <a:lnTo>
                      <a:pt x="716" y="366"/>
                    </a:lnTo>
                    <a:lnTo>
                      <a:pt x="712" y="367"/>
                    </a:lnTo>
                    <a:lnTo>
                      <a:pt x="709" y="368"/>
                    </a:lnTo>
                    <a:lnTo>
                      <a:pt x="705" y="370"/>
                    </a:lnTo>
                    <a:lnTo>
                      <a:pt x="701" y="371"/>
                    </a:lnTo>
                    <a:lnTo>
                      <a:pt x="696" y="373"/>
                    </a:lnTo>
                    <a:lnTo>
                      <a:pt x="692" y="374"/>
                    </a:lnTo>
                    <a:lnTo>
                      <a:pt x="689" y="376"/>
                    </a:lnTo>
                    <a:lnTo>
                      <a:pt x="683" y="378"/>
                    </a:lnTo>
                    <a:lnTo>
                      <a:pt x="679" y="380"/>
                    </a:lnTo>
                    <a:lnTo>
                      <a:pt x="674" y="381"/>
                    </a:lnTo>
                    <a:lnTo>
                      <a:pt x="669" y="383"/>
                    </a:lnTo>
                    <a:lnTo>
                      <a:pt x="665" y="384"/>
                    </a:lnTo>
                    <a:lnTo>
                      <a:pt x="659" y="385"/>
                    </a:lnTo>
                    <a:lnTo>
                      <a:pt x="655" y="387"/>
                    </a:lnTo>
                    <a:lnTo>
                      <a:pt x="652" y="388"/>
                    </a:lnTo>
                    <a:lnTo>
                      <a:pt x="647" y="390"/>
                    </a:lnTo>
                    <a:lnTo>
                      <a:pt x="642" y="391"/>
                    </a:lnTo>
                    <a:lnTo>
                      <a:pt x="637" y="393"/>
                    </a:lnTo>
                    <a:lnTo>
                      <a:pt x="631" y="394"/>
                    </a:lnTo>
                    <a:lnTo>
                      <a:pt x="628" y="395"/>
                    </a:lnTo>
                    <a:lnTo>
                      <a:pt x="621" y="398"/>
                    </a:lnTo>
                    <a:lnTo>
                      <a:pt x="617" y="400"/>
                    </a:lnTo>
                    <a:lnTo>
                      <a:pt x="612" y="401"/>
                    </a:lnTo>
                    <a:lnTo>
                      <a:pt x="607" y="404"/>
                    </a:lnTo>
                    <a:lnTo>
                      <a:pt x="602" y="405"/>
                    </a:lnTo>
                    <a:lnTo>
                      <a:pt x="598" y="408"/>
                    </a:lnTo>
                    <a:lnTo>
                      <a:pt x="593" y="410"/>
                    </a:lnTo>
                    <a:lnTo>
                      <a:pt x="588" y="411"/>
                    </a:lnTo>
                    <a:lnTo>
                      <a:pt x="583" y="414"/>
                    </a:lnTo>
                    <a:lnTo>
                      <a:pt x="578" y="415"/>
                    </a:lnTo>
                    <a:lnTo>
                      <a:pt x="573" y="417"/>
                    </a:lnTo>
                    <a:lnTo>
                      <a:pt x="568" y="418"/>
                    </a:lnTo>
                    <a:lnTo>
                      <a:pt x="563" y="421"/>
                    </a:lnTo>
                    <a:lnTo>
                      <a:pt x="558" y="422"/>
                    </a:lnTo>
                    <a:lnTo>
                      <a:pt x="554" y="424"/>
                    </a:lnTo>
                    <a:lnTo>
                      <a:pt x="550" y="427"/>
                    </a:lnTo>
                    <a:lnTo>
                      <a:pt x="546" y="430"/>
                    </a:lnTo>
                    <a:lnTo>
                      <a:pt x="541" y="432"/>
                    </a:lnTo>
                    <a:lnTo>
                      <a:pt x="537" y="434"/>
                    </a:lnTo>
                    <a:lnTo>
                      <a:pt x="533" y="437"/>
                    </a:lnTo>
                    <a:lnTo>
                      <a:pt x="529" y="438"/>
                    </a:lnTo>
                    <a:lnTo>
                      <a:pt x="524" y="441"/>
                    </a:lnTo>
                    <a:lnTo>
                      <a:pt x="520" y="442"/>
                    </a:lnTo>
                    <a:lnTo>
                      <a:pt x="516" y="445"/>
                    </a:lnTo>
                    <a:lnTo>
                      <a:pt x="512" y="448"/>
                    </a:lnTo>
                    <a:lnTo>
                      <a:pt x="507" y="449"/>
                    </a:lnTo>
                    <a:lnTo>
                      <a:pt x="503" y="452"/>
                    </a:lnTo>
                    <a:lnTo>
                      <a:pt x="500" y="454"/>
                    </a:lnTo>
                    <a:lnTo>
                      <a:pt x="496" y="455"/>
                    </a:lnTo>
                    <a:lnTo>
                      <a:pt x="492" y="458"/>
                    </a:lnTo>
                    <a:lnTo>
                      <a:pt x="490" y="461"/>
                    </a:lnTo>
                    <a:lnTo>
                      <a:pt x="487" y="464"/>
                    </a:lnTo>
                    <a:lnTo>
                      <a:pt x="482" y="465"/>
                    </a:lnTo>
                    <a:lnTo>
                      <a:pt x="479" y="468"/>
                    </a:lnTo>
                    <a:lnTo>
                      <a:pt x="477" y="471"/>
                    </a:lnTo>
                    <a:lnTo>
                      <a:pt x="475" y="474"/>
                    </a:lnTo>
                    <a:lnTo>
                      <a:pt x="472" y="474"/>
                    </a:lnTo>
                    <a:lnTo>
                      <a:pt x="469" y="477"/>
                    </a:lnTo>
                    <a:lnTo>
                      <a:pt x="466" y="478"/>
                    </a:lnTo>
                    <a:lnTo>
                      <a:pt x="463" y="481"/>
                    </a:lnTo>
                    <a:lnTo>
                      <a:pt x="456" y="485"/>
                    </a:lnTo>
                    <a:lnTo>
                      <a:pt x="452" y="489"/>
                    </a:lnTo>
                    <a:lnTo>
                      <a:pt x="448" y="492"/>
                    </a:lnTo>
                    <a:lnTo>
                      <a:pt x="443" y="496"/>
                    </a:lnTo>
                    <a:lnTo>
                      <a:pt x="438" y="499"/>
                    </a:lnTo>
                    <a:lnTo>
                      <a:pt x="435" y="502"/>
                    </a:lnTo>
                    <a:lnTo>
                      <a:pt x="429" y="505"/>
                    </a:lnTo>
                    <a:lnTo>
                      <a:pt x="425" y="508"/>
                    </a:lnTo>
                    <a:lnTo>
                      <a:pt x="421" y="508"/>
                    </a:lnTo>
                    <a:lnTo>
                      <a:pt x="418" y="511"/>
                    </a:lnTo>
                    <a:lnTo>
                      <a:pt x="414" y="512"/>
                    </a:lnTo>
                    <a:lnTo>
                      <a:pt x="409" y="513"/>
                    </a:lnTo>
                    <a:lnTo>
                      <a:pt x="406" y="515"/>
                    </a:lnTo>
                    <a:lnTo>
                      <a:pt x="401" y="515"/>
                    </a:lnTo>
                    <a:lnTo>
                      <a:pt x="398" y="513"/>
                    </a:lnTo>
                    <a:lnTo>
                      <a:pt x="394" y="513"/>
                    </a:lnTo>
                    <a:lnTo>
                      <a:pt x="389" y="511"/>
                    </a:lnTo>
                    <a:lnTo>
                      <a:pt x="387" y="509"/>
                    </a:lnTo>
                    <a:lnTo>
                      <a:pt x="382" y="506"/>
                    </a:lnTo>
                    <a:lnTo>
                      <a:pt x="378" y="505"/>
                    </a:lnTo>
                    <a:lnTo>
                      <a:pt x="374" y="501"/>
                    </a:lnTo>
                    <a:lnTo>
                      <a:pt x="369" y="498"/>
                    </a:lnTo>
                    <a:lnTo>
                      <a:pt x="367" y="495"/>
                    </a:lnTo>
                    <a:lnTo>
                      <a:pt x="364" y="492"/>
                    </a:lnTo>
                    <a:lnTo>
                      <a:pt x="362" y="489"/>
                    </a:lnTo>
                    <a:lnTo>
                      <a:pt x="360" y="486"/>
                    </a:lnTo>
                    <a:lnTo>
                      <a:pt x="357" y="484"/>
                    </a:lnTo>
                    <a:lnTo>
                      <a:pt x="354" y="479"/>
                    </a:lnTo>
                    <a:lnTo>
                      <a:pt x="351" y="477"/>
                    </a:lnTo>
                    <a:lnTo>
                      <a:pt x="348" y="475"/>
                    </a:lnTo>
                    <a:lnTo>
                      <a:pt x="345" y="471"/>
                    </a:lnTo>
                    <a:lnTo>
                      <a:pt x="342" y="468"/>
                    </a:lnTo>
                    <a:lnTo>
                      <a:pt x="340" y="464"/>
                    </a:lnTo>
                    <a:lnTo>
                      <a:pt x="335" y="461"/>
                    </a:lnTo>
                    <a:lnTo>
                      <a:pt x="333" y="457"/>
                    </a:lnTo>
                    <a:lnTo>
                      <a:pt x="330" y="454"/>
                    </a:lnTo>
                    <a:lnTo>
                      <a:pt x="327" y="451"/>
                    </a:lnTo>
                    <a:lnTo>
                      <a:pt x="324" y="448"/>
                    </a:lnTo>
                    <a:lnTo>
                      <a:pt x="318" y="444"/>
                    </a:lnTo>
                    <a:lnTo>
                      <a:pt x="315" y="440"/>
                    </a:lnTo>
                    <a:lnTo>
                      <a:pt x="311" y="437"/>
                    </a:lnTo>
                    <a:lnTo>
                      <a:pt x="308" y="432"/>
                    </a:lnTo>
                    <a:lnTo>
                      <a:pt x="304" y="428"/>
                    </a:lnTo>
                    <a:lnTo>
                      <a:pt x="300" y="424"/>
                    </a:lnTo>
                    <a:lnTo>
                      <a:pt x="296" y="421"/>
                    </a:lnTo>
                    <a:lnTo>
                      <a:pt x="291" y="418"/>
                    </a:lnTo>
                    <a:lnTo>
                      <a:pt x="287" y="414"/>
                    </a:lnTo>
                    <a:lnTo>
                      <a:pt x="283" y="411"/>
                    </a:lnTo>
                    <a:lnTo>
                      <a:pt x="279" y="408"/>
                    </a:lnTo>
                    <a:lnTo>
                      <a:pt x="276" y="404"/>
                    </a:lnTo>
                    <a:lnTo>
                      <a:pt x="270" y="401"/>
                    </a:lnTo>
                    <a:lnTo>
                      <a:pt x="266" y="397"/>
                    </a:lnTo>
                    <a:lnTo>
                      <a:pt x="261" y="394"/>
                    </a:lnTo>
                    <a:lnTo>
                      <a:pt x="257" y="391"/>
                    </a:lnTo>
                    <a:lnTo>
                      <a:pt x="252" y="387"/>
                    </a:lnTo>
                    <a:lnTo>
                      <a:pt x="247" y="384"/>
                    </a:lnTo>
                    <a:lnTo>
                      <a:pt x="242" y="381"/>
                    </a:lnTo>
                    <a:lnTo>
                      <a:pt x="237" y="380"/>
                    </a:lnTo>
                    <a:lnTo>
                      <a:pt x="232" y="376"/>
                    </a:lnTo>
                    <a:lnTo>
                      <a:pt x="227" y="373"/>
                    </a:lnTo>
                    <a:lnTo>
                      <a:pt x="223" y="371"/>
                    </a:lnTo>
                    <a:lnTo>
                      <a:pt x="217" y="370"/>
                    </a:lnTo>
                    <a:lnTo>
                      <a:pt x="212" y="367"/>
                    </a:lnTo>
                    <a:lnTo>
                      <a:pt x="207" y="364"/>
                    </a:lnTo>
                    <a:lnTo>
                      <a:pt x="202" y="364"/>
                    </a:lnTo>
                    <a:lnTo>
                      <a:pt x="196" y="361"/>
                    </a:lnTo>
                    <a:lnTo>
                      <a:pt x="192" y="361"/>
                    </a:lnTo>
                    <a:lnTo>
                      <a:pt x="185" y="358"/>
                    </a:lnTo>
                    <a:lnTo>
                      <a:pt x="179" y="358"/>
                    </a:lnTo>
                    <a:lnTo>
                      <a:pt x="175" y="357"/>
                    </a:lnTo>
                    <a:lnTo>
                      <a:pt x="168" y="356"/>
                    </a:lnTo>
                    <a:lnTo>
                      <a:pt x="163" y="356"/>
                    </a:lnTo>
                    <a:lnTo>
                      <a:pt x="156" y="356"/>
                    </a:lnTo>
                    <a:lnTo>
                      <a:pt x="151" y="356"/>
                    </a:lnTo>
                    <a:lnTo>
                      <a:pt x="145" y="356"/>
                    </a:lnTo>
                    <a:lnTo>
                      <a:pt x="139" y="356"/>
                    </a:lnTo>
                    <a:lnTo>
                      <a:pt x="134" y="356"/>
                    </a:lnTo>
                    <a:lnTo>
                      <a:pt x="128" y="358"/>
                    </a:lnTo>
                    <a:lnTo>
                      <a:pt x="121" y="358"/>
                    </a:lnTo>
                    <a:lnTo>
                      <a:pt x="117" y="360"/>
                    </a:lnTo>
                    <a:lnTo>
                      <a:pt x="109" y="361"/>
                    </a:lnTo>
                    <a:lnTo>
                      <a:pt x="104" y="364"/>
                    </a:lnTo>
                    <a:lnTo>
                      <a:pt x="98" y="366"/>
                    </a:lnTo>
                    <a:lnTo>
                      <a:pt x="91" y="370"/>
                    </a:lnTo>
                    <a:lnTo>
                      <a:pt x="85" y="371"/>
                    </a:lnTo>
                    <a:lnTo>
                      <a:pt x="80" y="376"/>
                    </a:lnTo>
                    <a:lnTo>
                      <a:pt x="71" y="380"/>
                    </a:lnTo>
                    <a:lnTo>
                      <a:pt x="67" y="383"/>
                    </a:lnTo>
                    <a:lnTo>
                      <a:pt x="61" y="385"/>
                    </a:lnTo>
                    <a:lnTo>
                      <a:pt x="55" y="390"/>
                    </a:lnTo>
                    <a:lnTo>
                      <a:pt x="50" y="394"/>
                    </a:lnTo>
                    <a:lnTo>
                      <a:pt x="46" y="398"/>
                    </a:lnTo>
                    <a:lnTo>
                      <a:pt x="41" y="404"/>
                    </a:lnTo>
                    <a:lnTo>
                      <a:pt x="37" y="410"/>
                    </a:lnTo>
                    <a:lnTo>
                      <a:pt x="33" y="414"/>
                    </a:lnTo>
                    <a:lnTo>
                      <a:pt x="30" y="418"/>
                    </a:lnTo>
                    <a:lnTo>
                      <a:pt x="26" y="424"/>
                    </a:lnTo>
                    <a:lnTo>
                      <a:pt x="23" y="430"/>
                    </a:lnTo>
                    <a:lnTo>
                      <a:pt x="20" y="435"/>
                    </a:lnTo>
                    <a:lnTo>
                      <a:pt x="17" y="441"/>
                    </a:lnTo>
                    <a:lnTo>
                      <a:pt x="14" y="448"/>
                    </a:lnTo>
                    <a:lnTo>
                      <a:pt x="13" y="452"/>
                    </a:lnTo>
                    <a:lnTo>
                      <a:pt x="11" y="458"/>
                    </a:lnTo>
                    <a:lnTo>
                      <a:pt x="9" y="465"/>
                    </a:lnTo>
                    <a:lnTo>
                      <a:pt x="7" y="471"/>
                    </a:lnTo>
                    <a:lnTo>
                      <a:pt x="6" y="478"/>
                    </a:lnTo>
                    <a:lnTo>
                      <a:pt x="4" y="484"/>
                    </a:lnTo>
                    <a:lnTo>
                      <a:pt x="3" y="491"/>
                    </a:lnTo>
                    <a:lnTo>
                      <a:pt x="3" y="498"/>
                    </a:lnTo>
                    <a:lnTo>
                      <a:pt x="3" y="504"/>
                    </a:lnTo>
                    <a:lnTo>
                      <a:pt x="1" y="509"/>
                    </a:lnTo>
                    <a:lnTo>
                      <a:pt x="0" y="516"/>
                    </a:lnTo>
                    <a:lnTo>
                      <a:pt x="0" y="523"/>
                    </a:lnTo>
                    <a:lnTo>
                      <a:pt x="0" y="529"/>
                    </a:lnTo>
                    <a:lnTo>
                      <a:pt x="0" y="535"/>
                    </a:lnTo>
                    <a:lnTo>
                      <a:pt x="0" y="542"/>
                    </a:lnTo>
                    <a:lnTo>
                      <a:pt x="1" y="549"/>
                    </a:lnTo>
                    <a:lnTo>
                      <a:pt x="1" y="555"/>
                    </a:lnTo>
                    <a:lnTo>
                      <a:pt x="1" y="560"/>
                    </a:lnTo>
                    <a:lnTo>
                      <a:pt x="3" y="568"/>
                    </a:lnTo>
                    <a:lnTo>
                      <a:pt x="3" y="573"/>
                    </a:lnTo>
                    <a:lnTo>
                      <a:pt x="4" y="580"/>
                    </a:lnTo>
                    <a:lnTo>
                      <a:pt x="4" y="585"/>
                    </a:lnTo>
                    <a:lnTo>
                      <a:pt x="6" y="590"/>
                    </a:lnTo>
                    <a:lnTo>
                      <a:pt x="6" y="596"/>
                    </a:lnTo>
                    <a:lnTo>
                      <a:pt x="7" y="603"/>
                    </a:lnTo>
                    <a:lnTo>
                      <a:pt x="9" y="607"/>
                    </a:lnTo>
                    <a:lnTo>
                      <a:pt x="9" y="613"/>
                    </a:lnTo>
                    <a:lnTo>
                      <a:pt x="10" y="617"/>
                    </a:lnTo>
                    <a:lnTo>
                      <a:pt x="11" y="624"/>
                    </a:lnTo>
                    <a:lnTo>
                      <a:pt x="13" y="629"/>
                    </a:lnTo>
                    <a:lnTo>
                      <a:pt x="14" y="633"/>
                    </a:lnTo>
                    <a:lnTo>
                      <a:pt x="14" y="637"/>
                    </a:lnTo>
                    <a:lnTo>
                      <a:pt x="16" y="643"/>
                    </a:lnTo>
                    <a:lnTo>
                      <a:pt x="17" y="646"/>
                    </a:lnTo>
                    <a:lnTo>
                      <a:pt x="19" y="651"/>
                    </a:lnTo>
                    <a:lnTo>
                      <a:pt x="19" y="654"/>
                    </a:lnTo>
                    <a:lnTo>
                      <a:pt x="20" y="659"/>
                    </a:lnTo>
                    <a:lnTo>
                      <a:pt x="20" y="661"/>
                    </a:lnTo>
                    <a:lnTo>
                      <a:pt x="23" y="664"/>
                    </a:lnTo>
                    <a:lnTo>
                      <a:pt x="23" y="667"/>
                    </a:lnTo>
                    <a:lnTo>
                      <a:pt x="24" y="670"/>
                    </a:lnTo>
                    <a:lnTo>
                      <a:pt x="26" y="673"/>
                    </a:lnTo>
                    <a:lnTo>
                      <a:pt x="27" y="677"/>
                    </a:lnTo>
                    <a:lnTo>
                      <a:pt x="27" y="680"/>
                    </a:lnTo>
                    <a:lnTo>
                      <a:pt x="28" y="680"/>
                    </a:lnTo>
                    <a:close/>
                  </a:path>
                </a:pathLst>
              </a:custGeom>
              <a:solidFill>
                <a:srgbClr val="2A40E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6" name="Freeform 9"/>
              <p:cNvSpPr>
                <a:spLocks/>
              </p:cNvSpPr>
              <p:nvPr/>
            </p:nvSpPr>
            <p:spPr bwMode="auto">
              <a:xfrm>
                <a:off x="2044" y="1293"/>
                <a:ext cx="95" cy="137"/>
              </a:xfrm>
              <a:custGeom>
                <a:avLst/>
                <a:gdLst>
                  <a:gd name="T0" fmla="*/ 0 w 285"/>
                  <a:gd name="T1" fmla="*/ 0 h 411"/>
                  <a:gd name="T2" fmla="*/ 0 w 285"/>
                  <a:gd name="T3" fmla="*/ 0 h 411"/>
                  <a:gd name="T4" fmla="*/ 0 w 285"/>
                  <a:gd name="T5" fmla="*/ 0 h 411"/>
                  <a:gd name="T6" fmla="*/ 0 w 285"/>
                  <a:gd name="T7" fmla="*/ 0 h 411"/>
                  <a:gd name="T8" fmla="*/ 0 w 285"/>
                  <a:gd name="T9" fmla="*/ 0 h 411"/>
                  <a:gd name="T10" fmla="*/ 0 w 285"/>
                  <a:gd name="T11" fmla="*/ 0 h 411"/>
                  <a:gd name="T12" fmla="*/ 0 w 285"/>
                  <a:gd name="T13" fmla="*/ 0 h 411"/>
                  <a:gd name="T14" fmla="*/ 0 w 285"/>
                  <a:gd name="T15" fmla="*/ 0 h 411"/>
                  <a:gd name="T16" fmla="*/ 0 w 285"/>
                  <a:gd name="T17" fmla="*/ 0 h 411"/>
                  <a:gd name="T18" fmla="*/ 0 w 285"/>
                  <a:gd name="T19" fmla="*/ 0 h 411"/>
                  <a:gd name="T20" fmla="*/ 0 w 285"/>
                  <a:gd name="T21" fmla="*/ 0 h 411"/>
                  <a:gd name="T22" fmla="*/ 0 w 285"/>
                  <a:gd name="T23" fmla="*/ 0 h 411"/>
                  <a:gd name="T24" fmla="*/ 0 w 285"/>
                  <a:gd name="T25" fmla="*/ 0 h 411"/>
                  <a:gd name="T26" fmla="*/ 0 w 285"/>
                  <a:gd name="T27" fmla="*/ 0 h 411"/>
                  <a:gd name="T28" fmla="*/ 0 w 285"/>
                  <a:gd name="T29" fmla="*/ 0 h 411"/>
                  <a:gd name="T30" fmla="*/ 0 w 285"/>
                  <a:gd name="T31" fmla="*/ 0 h 411"/>
                  <a:gd name="T32" fmla="*/ 0 w 285"/>
                  <a:gd name="T33" fmla="*/ 0 h 411"/>
                  <a:gd name="T34" fmla="*/ 0 w 285"/>
                  <a:gd name="T35" fmla="*/ 0 h 411"/>
                  <a:gd name="T36" fmla="*/ 0 w 285"/>
                  <a:gd name="T37" fmla="*/ 0 h 411"/>
                  <a:gd name="T38" fmla="*/ 0 w 285"/>
                  <a:gd name="T39" fmla="*/ 0 h 411"/>
                  <a:gd name="T40" fmla="*/ 0 w 285"/>
                  <a:gd name="T41" fmla="*/ 0 h 411"/>
                  <a:gd name="T42" fmla="*/ 0 w 285"/>
                  <a:gd name="T43" fmla="*/ 0 h 411"/>
                  <a:gd name="T44" fmla="*/ 0 w 285"/>
                  <a:gd name="T45" fmla="*/ 0 h 411"/>
                  <a:gd name="T46" fmla="*/ 0 w 285"/>
                  <a:gd name="T47" fmla="*/ 0 h 411"/>
                  <a:gd name="T48" fmla="*/ 0 w 285"/>
                  <a:gd name="T49" fmla="*/ 0 h 411"/>
                  <a:gd name="T50" fmla="*/ 0 w 285"/>
                  <a:gd name="T51" fmla="*/ 0 h 411"/>
                  <a:gd name="T52" fmla="*/ 0 w 285"/>
                  <a:gd name="T53" fmla="*/ 0 h 411"/>
                  <a:gd name="T54" fmla="*/ 0 w 285"/>
                  <a:gd name="T55" fmla="*/ 0 h 411"/>
                  <a:gd name="T56" fmla="*/ 0 w 285"/>
                  <a:gd name="T57" fmla="*/ 0 h 411"/>
                  <a:gd name="T58" fmla="*/ 0 w 285"/>
                  <a:gd name="T59" fmla="*/ 0 h 411"/>
                  <a:gd name="T60" fmla="*/ 0 w 285"/>
                  <a:gd name="T61" fmla="*/ 0 h 411"/>
                  <a:gd name="T62" fmla="*/ 0 w 285"/>
                  <a:gd name="T63" fmla="*/ 0 h 411"/>
                  <a:gd name="T64" fmla="*/ 0 w 285"/>
                  <a:gd name="T65" fmla="*/ 0 h 411"/>
                  <a:gd name="T66" fmla="*/ 0 w 285"/>
                  <a:gd name="T67" fmla="*/ 0 h 411"/>
                  <a:gd name="T68" fmla="*/ 0 w 285"/>
                  <a:gd name="T69" fmla="*/ 0 h 411"/>
                  <a:gd name="T70" fmla="*/ 0 w 285"/>
                  <a:gd name="T71" fmla="*/ 0 h 411"/>
                  <a:gd name="T72" fmla="*/ 0 w 285"/>
                  <a:gd name="T73" fmla="*/ 0 h 411"/>
                  <a:gd name="T74" fmla="*/ 0 w 285"/>
                  <a:gd name="T75" fmla="*/ 0 h 411"/>
                  <a:gd name="T76" fmla="*/ 0 w 285"/>
                  <a:gd name="T77" fmla="*/ 0 h 411"/>
                  <a:gd name="T78" fmla="*/ 0 w 285"/>
                  <a:gd name="T79" fmla="*/ 0 h 411"/>
                  <a:gd name="T80" fmla="*/ 0 w 285"/>
                  <a:gd name="T81" fmla="*/ 0 h 411"/>
                  <a:gd name="T82" fmla="*/ 0 w 285"/>
                  <a:gd name="T83" fmla="*/ 0 h 411"/>
                  <a:gd name="T84" fmla="*/ 0 w 285"/>
                  <a:gd name="T85" fmla="*/ 0 h 411"/>
                  <a:gd name="T86" fmla="*/ 0 w 285"/>
                  <a:gd name="T87" fmla="*/ 0 h 411"/>
                  <a:gd name="T88" fmla="*/ 0 w 285"/>
                  <a:gd name="T89" fmla="*/ 0 h 411"/>
                  <a:gd name="T90" fmla="*/ 0 w 285"/>
                  <a:gd name="T91" fmla="*/ 0 h 411"/>
                  <a:gd name="T92" fmla="*/ 0 w 285"/>
                  <a:gd name="T93" fmla="*/ 0 h 411"/>
                  <a:gd name="T94" fmla="*/ 0 w 285"/>
                  <a:gd name="T95" fmla="*/ 0 h 411"/>
                  <a:gd name="T96" fmla="*/ 0 w 285"/>
                  <a:gd name="T97" fmla="*/ 0 h 411"/>
                  <a:gd name="T98" fmla="*/ 0 w 285"/>
                  <a:gd name="T99" fmla="*/ 0 h 411"/>
                  <a:gd name="T100" fmla="*/ 0 w 285"/>
                  <a:gd name="T101" fmla="*/ 0 h 411"/>
                  <a:gd name="T102" fmla="*/ 0 w 285"/>
                  <a:gd name="T103" fmla="*/ 0 h 411"/>
                  <a:gd name="T104" fmla="*/ 0 w 285"/>
                  <a:gd name="T105" fmla="*/ 0 h 411"/>
                  <a:gd name="T106" fmla="*/ 0 w 285"/>
                  <a:gd name="T107" fmla="*/ 0 h 411"/>
                  <a:gd name="T108" fmla="*/ 0 w 285"/>
                  <a:gd name="T109" fmla="*/ 0 h 411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285"/>
                  <a:gd name="T166" fmla="*/ 0 h 411"/>
                  <a:gd name="T167" fmla="*/ 285 w 285"/>
                  <a:gd name="T168" fmla="*/ 411 h 411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285" h="411">
                    <a:moveTo>
                      <a:pt x="284" y="330"/>
                    </a:moveTo>
                    <a:lnTo>
                      <a:pt x="283" y="326"/>
                    </a:lnTo>
                    <a:lnTo>
                      <a:pt x="283" y="323"/>
                    </a:lnTo>
                    <a:lnTo>
                      <a:pt x="281" y="319"/>
                    </a:lnTo>
                    <a:lnTo>
                      <a:pt x="280" y="316"/>
                    </a:lnTo>
                    <a:lnTo>
                      <a:pt x="278" y="312"/>
                    </a:lnTo>
                    <a:lnTo>
                      <a:pt x="277" y="307"/>
                    </a:lnTo>
                    <a:lnTo>
                      <a:pt x="275" y="303"/>
                    </a:lnTo>
                    <a:lnTo>
                      <a:pt x="274" y="300"/>
                    </a:lnTo>
                    <a:lnTo>
                      <a:pt x="270" y="294"/>
                    </a:lnTo>
                    <a:lnTo>
                      <a:pt x="268" y="290"/>
                    </a:lnTo>
                    <a:lnTo>
                      <a:pt x="266" y="286"/>
                    </a:lnTo>
                    <a:lnTo>
                      <a:pt x="264" y="282"/>
                    </a:lnTo>
                    <a:lnTo>
                      <a:pt x="261" y="277"/>
                    </a:lnTo>
                    <a:lnTo>
                      <a:pt x="258" y="272"/>
                    </a:lnTo>
                    <a:lnTo>
                      <a:pt x="256" y="267"/>
                    </a:lnTo>
                    <a:lnTo>
                      <a:pt x="254" y="263"/>
                    </a:lnTo>
                    <a:lnTo>
                      <a:pt x="251" y="257"/>
                    </a:lnTo>
                    <a:lnTo>
                      <a:pt x="248" y="253"/>
                    </a:lnTo>
                    <a:lnTo>
                      <a:pt x="246" y="248"/>
                    </a:lnTo>
                    <a:lnTo>
                      <a:pt x="243" y="243"/>
                    </a:lnTo>
                    <a:lnTo>
                      <a:pt x="240" y="239"/>
                    </a:lnTo>
                    <a:lnTo>
                      <a:pt x="239" y="235"/>
                    </a:lnTo>
                    <a:lnTo>
                      <a:pt x="236" y="230"/>
                    </a:lnTo>
                    <a:lnTo>
                      <a:pt x="233" y="226"/>
                    </a:lnTo>
                    <a:lnTo>
                      <a:pt x="231" y="222"/>
                    </a:lnTo>
                    <a:lnTo>
                      <a:pt x="230" y="219"/>
                    </a:lnTo>
                    <a:lnTo>
                      <a:pt x="229" y="213"/>
                    </a:lnTo>
                    <a:lnTo>
                      <a:pt x="227" y="212"/>
                    </a:lnTo>
                    <a:lnTo>
                      <a:pt x="224" y="206"/>
                    </a:lnTo>
                    <a:lnTo>
                      <a:pt x="224" y="203"/>
                    </a:lnTo>
                    <a:lnTo>
                      <a:pt x="224" y="201"/>
                    </a:lnTo>
                    <a:lnTo>
                      <a:pt x="224" y="199"/>
                    </a:lnTo>
                    <a:lnTo>
                      <a:pt x="223" y="196"/>
                    </a:lnTo>
                    <a:lnTo>
                      <a:pt x="223" y="193"/>
                    </a:lnTo>
                    <a:lnTo>
                      <a:pt x="223" y="191"/>
                    </a:lnTo>
                    <a:lnTo>
                      <a:pt x="223" y="188"/>
                    </a:lnTo>
                    <a:lnTo>
                      <a:pt x="223" y="184"/>
                    </a:lnTo>
                    <a:lnTo>
                      <a:pt x="224" y="181"/>
                    </a:lnTo>
                    <a:lnTo>
                      <a:pt x="224" y="175"/>
                    </a:lnTo>
                    <a:lnTo>
                      <a:pt x="226" y="172"/>
                    </a:lnTo>
                    <a:lnTo>
                      <a:pt x="226" y="168"/>
                    </a:lnTo>
                    <a:lnTo>
                      <a:pt x="227" y="164"/>
                    </a:lnTo>
                    <a:lnTo>
                      <a:pt x="229" y="159"/>
                    </a:lnTo>
                    <a:lnTo>
                      <a:pt x="230" y="154"/>
                    </a:lnTo>
                    <a:lnTo>
                      <a:pt x="230" y="148"/>
                    </a:lnTo>
                    <a:lnTo>
                      <a:pt x="230" y="144"/>
                    </a:lnTo>
                    <a:lnTo>
                      <a:pt x="231" y="138"/>
                    </a:lnTo>
                    <a:lnTo>
                      <a:pt x="233" y="134"/>
                    </a:lnTo>
                    <a:lnTo>
                      <a:pt x="233" y="131"/>
                    </a:lnTo>
                    <a:lnTo>
                      <a:pt x="233" y="127"/>
                    </a:lnTo>
                    <a:lnTo>
                      <a:pt x="233" y="124"/>
                    </a:lnTo>
                    <a:lnTo>
                      <a:pt x="233" y="121"/>
                    </a:lnTo>
                    <a:lnTo>
                      <a:pt x="233" y="118"/>
                    </a:lnTo>
                    <a:lnTo>
                      <a:pt x="233" y="115"/>
                    </a:lnTo>
                    <a:lnTo>
                      <a:pt x="233" y="112"/>
                    </a:lnTo>
                    <a:lnTo>
                      <a:pt x="233" y="111"/>
                    </a:lnTo>
                    <a:lnTo>
                      <a:pt x="233" y="107"/>
                    </a:lnTo>
                    <a:lnTo>
                      <a:pt x="233" y="104"/>
                    </a:lnTo>
                    <a:lnTo>
                      <a:pt x="233" y="101"/>
                    </a:lnTo>
                    <a:lnTo>
                      <a:pt x="233" y="98"/>
                    </a:lnTo>
                    <a:lnTo>
                      <a:pt x="233" y="95"/>
                    </a:lnTo>
                    <a:lnTo>
                      <a:pt x="233" y="92"/>
                    </a:lnTo>
                    <a:lnTo>
                      <a:pt x="231" y="90"/>
                    </a:lnTo>
                    <a:lnTo>
                      <a:pt x="231" y="87"/>
                    </a:lnTo>
                    <a:lnTo>
                      <a:pt x="230" y="84"/>
                    </a:lnTo>
                    <a:lnTo>
                      <a:pt x="230" y="81"/>
                    </a:lnTo>
                    <a:lnTo>
                      <a:pt x="230" y="78"/>
                    </a:lnTo>
                    <a:lnTo>
                      <a:pt x="229" y="75"/>
                    </a:lnTo>
                    <a:lnTo>
                      <a:pt x="227" y="71"/>
                    </a:lnTo>
                    <a:lnTo>
                      <a:pt x="226" y="68"/>
                    </a:lnTo>
                    <a:lnTo>
                      <a:pt x="224" y="65"/>
                    </a:lnTo>
                    <a:lnTo>
                      <a:pt x="224" y="63"/>
                    </a:lnTo>
                    <a:lnTo>
                      <a:pt x="223" y="60"/>
                    </a:lnTo>
                    <a:lnTo>
                      <a:pt x="221" y="57"/>
                    </a:lnTo>
                    <a:lnTo>
                      <a:pt x="220" y="54"/>
                    </a:lnTo>
                    <a:lnTo>
                      <a:pt x="219" y="51"/>
                    </a:lnTo>
                    <a:lnTo>
                      <a:pt x="214" y="47"/>
                    </a:lnTo>
                    <a:lnTo>
                      <a:pt x="210" y="40"/>
                    </a:lnTo>
                    <a:lnTo>
                      <a:pt x="207" y="37"/>
                    </a:lnTo>
                    <a:lnTo>
                      <a:pt x="206" y="34"/>
                    </a:lnTo>
                    <a:lnTo>
                      <a:pt x="203" y="31"/>
                    </a:lnTo>
                    <a:lnTo>
                      <a:pt x="202" y="30"/>
                    </a:lnTo>
                    <a:lnTo>
                      <a:pt x="196" y="26"/>
                    </a:lnTo>
                    <a:lnTo>
                      <a:pt x="190" y="21"/>
                    </a:lnTo>
                    <a:lnTo>
                      <a:pt x="186" y="19"/>
                    </a:lnTo>
                    <a:lnTo>
                      <a:pt x="183" y="16"/>
                    </a:lnTo>
                    <a:lnTo>
                      <a:pt x="180" y="16"/>
                    </a:lnTo>
                    <a:lnTo>
                      <a:pt x="177" y="13"/>
                    </a:lnTo>
                    <a:lnTo>
                      <a:pt x="175" y="11"/>
                    </a:lnTo>
                    <a:lnTo>
                      <a:pt x="173" y="10"/>
                    </a:lnTo>
                    <a:lnTo>
                      <a:pt x="170" y="9"/>
                    </a:lnTo>
                    <a:lnTo>
                      <a:pt x="167" y="7"/>
                    </a:lnTo>
                    <a:lnTo>
                      <a:pt x="163" y="7"/>
                    </a:lnTo>
                    <a:lnTo>
                      <a:pt x="160" y="6"/>
                    </a:lnTo>
                    <a:lnTo>
                      <a:pt x="158" y="4"/>
                    </a:lnTo>
                    <a:lnTo>
                      <a:pt x="155" y="4"/>
                    </a:lnTo>
                    <a:lnTo>
                      <a:pt x="150" y="3"/>
                    </a:lnTo>
                    <a:lnTo>
                      <a:pt x="148" y="3"/>
                    </a:lnTo>
                    <a:lnTo>
                      <a:pt x="143" y="1"/>
                    </a:lnTo>
                    <a:lnTo>
                      <a:pt x="140" y="1"/>
                    </a:lnTo>
                    <a:lnTo>
                      <a:pt x="138" y="1"/>
                    </a:lnTo>
                    <a:lnTo>
                      <a:pt x="133" y="0"/>
                    </a:lnTo>
                    <a:lnTo>
                      <a:pt x="131" y="0"/>
                    </a:lnTo>
                    <a:lnTo>
                      <a:pt x="128" y="0"/>
                    </a:lnTo>
                    <a:lnTo>
                      <a:pt x="123" y="0"/>
                    </a:lnTo>
                    <a:lnTo>
                      <a:pt x="121" y="0"/>
                    </a:lnTo>
                    <a:lnTo>
                      <a:pt x="118" y="0"/>
                    </a:lnTo>
                    <a:lnTo>
                      <a:pt x="115" y="1"/>
                    </a:lnTo>
                    <a:lnTo>
                      <a:pt x="111" y="1"/>
                    </a:lnTo>
                    <a:lnTo>
                      <a:pt x="108" y="1"/>
                    </a:lnTo>
                    <a:lnTo>
                      <a:pt x="104" y="1"/>
                    </a:lnTo>
                    <a:lnTo>
                      <a:pt x="101" y="3"/>
                    </a:lnTo>
                    <a:lnTo>
                      <a:pt x="96" y="3"/>
                    </a:lnTo>
                    <a:lnTo>
                      <a:pt x="94" y="3"/>
                    </a:lnTo>
                    <a:lnTo>
                      <a:pt x="91" y="4"/>
                    </a:lnTo>
                    <a:lnTo>
                      <a:pt x="88" y="4"/>
                    </a:lnTo>
                    <a:lnTo>
                      <a:pt x="84" y="6"/>
                    </a:lnTo>
                    <a:lnTo>
                      <a:pt x="81" y="7"/>
                    </a:lnTo>
                    <a:lnTo>
                      <a:pt x="77" y="7"/>
                    </a:lnTo>
                    <a:lnTo>
                      <a:pt x="74" y="9"/>
                    </a:lnTo>
                    <a:lnTo>
                      <a:pt x="71" y="10"/>
                    </a:lnTo>
                    <a:lnTo>
                      <a:pt x="68" y="11"/>
                    </a:lnTo>
                    <a:lnTo>
                      <a:pt x="65" y="13"/>
                    </a:lnTo>
                    <a:lnTo>
                      <a:pt x="62" y="16"/>
                    </a:lnTo>
                    <a:lnTo>
                      <a:pt x="59" y="16"/>
                    </a:lnTo>
                    <a:lnTo>
                      <a:pt x="57" y="19"/>
                    </a:lnTo>
                    <a:lnTo>
                      <a:pt x="52" y="20"/>
                    </a:lnTo>
                    <a:lnTo>
                      <a:pt x="50" y="23"/>
                    </a:lnTo>
                    <a:lnTo>
                      <a:pt x="45" y="26"/>
                    </a:lnTo>
                    <a:lnTo>
                      <a:pt x="40" y="30"/>
                    </a:lnTo>
                    <a:lnTo>
                      <a:pt x="34" y="34"/>
                    </a:lnTo>
                    <a:lnTo>
                      <a:pt x="30" y="38"/>
                    </a:lnTo>
                    <a:lnTo>
                      <a:pt x="25" y="44"/>
                    </a:lnTo>
                    <a:lnTo>
                      <a:pt x="21" y="50"/>
                    </a:lnTo>
                    <a:lnTo>
                      <a:pt x="17" y="54"/>
                    </a:lnTo>
                    <a:lnTo>
                      <a:pt x="14" y="60"/>
                    </a:lnTo>
                    <a:lnTo>
                      <a:pt x="11" y="64"/>
                    </a:lnTo>
                    <a:lnTo>
                      <a:pt x="8" y="70"/>
                    </a:lnTo>
                    <a:lnTo>
                      <a:pt x="7" y="73"/>
                    </a:lnTo>
                    <a:lnTo>
                      <a:pt x="5" y="75"/>
                    </a:lnTo>
                    <a:lnTo>
                      <a:pt x="5" y="78"/>
                    </a:lnTo>
                    <a:lnTo>
                      <a:pt x="5" y="81"/>
                    </a:lnTo>
                    <a:lnTo>
                      <a:pt x="3" y="84"/>
                    </a:lnTo>
                    <a:lnTo>
                      <a:pt x="3" y="85"/>
                    </a:lnTo>
                    <a:lnTo>
                      <a:pt x="3" y="90"/>
                    </a:lnTo>
                    <a:lnTo>
                      <a:pt x="3" y="92"/>
                    </a:lnTo>
                    <a:lnTo>
                      <a:pt x="0" y="97"/>
                    </a:lnTo>
                    <a:lnTo>
                      <a:pt x="0" y="104"/>
                    </a:lnTo>
                    <a:lnTo>
                      <a:pt x="0" y="107"/>
                    </a:lnTo>
                    <a:lnTo>
                      <a:pt x="0" y="110"/>
                    </a:lnTo>
                    <a:lnTo>
                      <a:pt x="0" y="112"/>
                    </a:lnTo>
                    <a:lnTo>
                      <a:pt x="0" y="115"/>
                    </a:lnTo>
                    <a:lnTo>
                      <a:pt x="0" y="120"/>
                    </a:lnTo>
                    <a:lnTo>
                      <a:pt x="1" y="125"/>
                    </a:lnTo>
                    <a:lnTo>
                      <a:pt x="3" y="131"/>
                    </a:lnTo>
                    <a:lnTo>
                      <a:pt x="4" y="135"/>
                    </a:lnTo>
                    <a:lnTo>
                      <a:pt x="5" y="141"/>
                    </a:lnTo>
                    <a:lnTo>
                      <a:pt x="7" y="145"/>
                    </a:lnTo>
                    <a:lnTo>
                      <a:pt x="8" y="149"/>
                    </a:lnTo>
                    <a:lnTo>
                      <a:pt x="11" y="154"/>
                    </a:lnTo>
                    <a:lnTo>
                      <a:pt x="13" y="159"/>
                    </a:lnTo>
                    <a:lnTo>
                      <a:pt x="14" y="165"/>
                    </a:lnTo>
                    <a:lnTo>
                      <a:pt x="17" y="168"/>
                    </a:lnTo>
                    <a:lnTo>
                      <a:pt x="21" y="172"/>
                    </a:lnTo>
                    <a:lnTo>
                      <a:pt x="23" y="176"/>
                    </a:lnTo>
                    <a:lnTo>
                      <a:pt x="27" y="181"/>
                    </a:lnTo>
                    <a:lnTo>
                      <a:pt x="30" y="185"/>
                    </a:lnTo>
                    <a:lnTo>
                      <a:pt x="34" y="188"/>
                    </a:lnTo>
                    <a:lnTo>
                      <a:pt x="37" y="191"/>
                    </a:lnTo>
                    <a:lnTo>
                      <a:pt x="40" y="193"/>
                    </a:lnTo>
                    <a:lnTo>
                      <a:pt x="44" y="196"/>
                    </a:lnTo>
                    <a:lnTo>
                      <a:pt x="47" y="199"/>
                    </a:lnTo>
                    <a:lnTo>
                      <a:pt x="50" y="201"/>
                    </a:lnTo>
                    <a:lnTo>
                      <a:pt x="55" y="203"/>
                    </a:lnTo>
                    <a:lnTo>
                      <a:pt x="58" y="205"/>
                    </a:lnTo>
                    <a:lnTo>
                      <a:pt x="59" y="206"/>
                    </a:lnTo>
                    <a:lnTo>
                      <a:pt x="62" y="209"/>
                    </a:lnTo>
                    <a:lnTo>
                      <a:pt x="65" y="212"/>
                    </a:lnTo>
                    <a:lnTo>
                      <a:pt x="68" y="212"/>
                    </a:lnTo>
                    <a:lnTo>
                      <a:pt x="71" y="213"/>
                    </a:lnTo>
                    <a:lnTo>
                      <a:pt x="75" y="216"/>
                    </a:lnTo>
                    <a:lnTo>
                      <a:pt x="79" y="219"/>
                    </a:lnTo>
                    <a:lnTo>
                      <a:pt x="84" y="220"/>
                    </a:lnTo>
                    <a:lnTo>
                      <a:pt x="86" y="222"/>
                    </a:lnTo>
                    <a:lnTo>
                      <a:pt x="89" y="225"/>
                    </a:lnTo>
                    <a:lnTo>
                      <a:pt x="92" y="228"/>
                    </a:lnTo>
                    <a:lnTo>
                      <a:pt x="95" y="230"/>
                    </a:lnTo>
                    <a:lnTo>
                      <a:pt x="98" y="233"/>
                    </a:lnTo>
                    <a:lnTo>
                      <a:pt x="99" y="238"/>
                    </a:lnTo>
                    <a:lnTo>
                      <a:pt x="102" y="243"/>
                    </a:lnTo>
                    <a:lnTo>
                      <a:pt x="104" y="246"/>
                    </a:lnTo>
                    <a:lnTo>
                      <a:pt x="105" y="249"/>
                    </a:lnTo>
                    <a:lnTo>
                      <a:pt x="105" y="252"/>
                    </a:lnTo>
                    <a:lnTo>
                      <a:pt x="108" y="256"/>
                    </a:lnTo>
                    <a:lnTo>
                      <a:pt x="109" y="259"/>
                    </a:lnTo>
                    <a:lnTo>
                      <a:pt x="109" y="265"/>
                    </a:lnTo>
                    <a:lnTo>
                      <a:pt x="111" y="269"/>
                    </a:lnTo>
                    <a:lnTo>
                      <a:pt x="113" y="275"/>
                    </a:lnTo>
                    <a:lnTo>
                      <a:pt x="115" y="279"/>
                    </a:lnTo>
                    <a:lnTo>
                      <a:pt x="116" y="283"/>
                    </a:lnTo>
                    <a:lnTo>
                      <a:pt x="118" y="286"/>
                    </a:lnTo>
                    <a:lnTo>
                      <a:pt x="118" y="289"/>
                    </a:lnTo>
                    <a:lnTo>
                      <a:pt x="119" y="293"/>
                    </a:lnTo>
                    <a:lnTo>
                      <a:pt x="121" y="296"/>
                    </a:lnTo>
                    <a:lnTo>
                      <a:pt x="122" y="297"/>
                    </a:lnTo>
                    <a:lnTo>
                      <a:pt x="123" y="302"/>
                    </a:lnTo>
                    <a:lnTo>
                      <a:pt x="123" y="304"/>
                    </a:lnTo>
                    <a:lnTo>
                      <a:pt x="125" y="307"/>
                    </a:lnTo>
                    <a:lnTo>
                      <a:pt x="126" y="310"/>
                    </a:lnTo>
                    <a:lnTo>
                      <a:pt x="128" y="313"/>
                    </a:lnTo>
                    <a:lnTo>
                      <a:pt x="129" y="317"/>
                    </a:lnTo>
                    <a:lnTo>
                      <a:pt x="131" y="320"/>
                    </a:lnTo>
                    <a:lnTo>
                      <a:pt x="131" y="324"/>
                    </a:lnTo>
                    <a:lnTo>
                      <a:pt x="133" y="327"/>
                    </a:lnTo>
                    <a:lnTo>
                      <a:pt x="136" y="330"/>
                    </a:lnTo>
                    <a:lnTo>
                      <a:pt x="136" y="331"/>
                    </a:lnTo>
                    <a:lnTo>
                      <a:pt x="139" y="334"/>
                    </a:lnTo>
                    <a:lnTo>
                      <a:pt x="140" y="337"/>
                    </a:lnTo>
                    <a:lnTo>
                      <a:pt x="140" y="341"/>
                    </a:lnTo>
                    <a:lnTo>
                      <a:pt x="143" y="344"/>
                    </a:lnTo>
                    <a:lnTo>
                      <a:pt x="145" y="347"/>
                    </a:lnTo>
                    <a:lnTo>
                      <a:pt x="146" y="350"/>
                    </a:lnTo>
                    <a:lnTo>
                      <a:pt x="148" y="354"/>
                    </a:lnTo>
                    <a:lnTo>
                      <a:pt x="150" y="357"/>
                    </a:lnTo>
                    <a:lnTo>
                      <a:pt x="152" y="358"/>
                    </a:lnTo>
                    <a:lnTo>
                      <a:pt x="153" y="363"/>
                    </a:lnTo>
                    <a:lnTo>
                      <a:pt x="155" y="364"/>
                    </a:lnTo>
                    <a:lnTo>
                      <a:pt x="158" y="367"/>
                    </a:lnTo>
                    <a:lnTo>
                      <a:pt x="160" y="374"/>
                    </a:lnTo>
                    <a:lnTo>
                      <a:pt x="166" y="378"/>
                    </a:lnTo>
                    <a:lnTo>
                      <a:pt x="170" y="384"/>
                    </a:lnTo>
                    <a:lnTo>
                      <a:pt x="175" y="388"/>
                    </a:lnTo>
                    <a:lnTo>
                      <a:pt x="179" y="393"/>
                    </a:lnTo>
                    <a:lnTo>
                      <a:pt x="183" y="395"/>
                    </a:lnTo>
                    <a:lnTo>
                      <a:pt x="187" y="400"/>
                    </a:lnTo>
                    <a:lnTo>
                      <a:pt x="193" y="403"/>
                    </a:lnTo>
                    <a:lnTo>
                      <a:pt x="199" y="405"/>
                    </a:lnTo>
                    <a:lnTo>
                      <a:pt x="204" y="408"/>
                    </a:lnTo>
                    <a:lnTo>
                      <a:pt x="207" y="408"/>
                    </a:lnTo>
                    <a:lnTo>
                      <a:pt x="209" y="410"/>
                    </a:lnTo>
                    <a:lnTo>
                      <a:pt x="212" y="411"/>
                    </a:lnTo>
                    <a:lnTo>
                      <a:pt x="214" y="411"/>
                    </a:lnTo>
                    <a:lnTo>
                      <a:pt x="220" y="411"/>
                    </a:lnTo>
                    <a:lnTo>
                      <a:pt x="224" y="411"/>
                    </a:lnTo>
                    <a:lnTo>
                      <a:pt x="230" y="411"/>
                    </a:lnTo>
                    <a:lnTo>
                      <a:pt x="234" y="411"/>
                    </a:lnTo>
                    <a:lnTo>
                      <a:pt x="239" y="410"/>
                    </a:lnTo>
                    <a:lnTo>
                      <a:pt x="244" y="408"/>
                    </a:lnTo>
                    <a:lnTo>
                      <a:pt x="248" y="408"/>
                    </a:lnTo>
                    <a:lnTo>
                      <a:pt x="251" y="407"/>
                    </a:lnTo>
                    <a:lnTo>
                      <a:pt x="254" y="404"/>
                    </a:lnTo>
                    <a:lnTo>
                      <a:pt x="257" y="403"/>
                    </a:lnTo>
                    <a:lnTo>
                      <a:pt x="261" y="398"/>
                    </a:lnTo>
                    <a:lnTo>
                      <a:pt x="264" y="395"/>
                    </a:lnTo>
                    <a:lnTo>
                      <a:pt x="267" y="393"/>
                    </a:lnTo>
                    <a:lnTo>
                      <a:pt x="268" y="390"/>
                    </a:lnTo>
                    <a:lnTo>
                      <a:pt x="271" y="387"/>
                    </a:lnTo>
                    <a:lnTo>
                      <a:pt x="274" y="384"/>
                    </a:lnTo>
                    <a:lnTo>
                      <a:pt x="275" y="381"/>
                    </a:lnTo>
                    <a:lnTo>
                      <a:pt x="277" y="377"/>
                    </a:lnTo>
                    <a:lnTo>
                      <a:pt x="278" y="374"/>
                    </a:lnTo>
                    <a:lnTo>
                      <a:pt x="280" y="370"/>
                    </a:lnTo>
                    <a:lnTo>
                      <a:pt x="280" y="366"/>
                    </a:lnTo>
                    <a:lnTo>
                      <a:pt x="281" y="363"/>
                    </a:lnTo>
                    <a:lnTo>
                      <a:pt x="283" y="358"/>
                    </a:lnTo>
                    <a:lnTo>
                      <a:pt x="284" y="356"/>
                    </a:lnTo>
                    <a:lnTo>
                      <a:pt x="284" y="351"/>
                    </a:lnTo>
                    <a:lnTo>
                      <a:pt x="284" y="348"/>
                    </a:lnTo>
                    <a:lnTo>
                      <a:pt x="284" y="344"/>
                    </a:lnTo>
                    <a:lnTo>
                      <a:pt x="285" y="341"/>
                    </a:lnTo>
                    <a:lnTo>
                      <a:pt x="284" y="337"/>
                    </a:lnTo>
                    <a:lnTo>
                      <a:pt x="284" y="334"/>
                    </a:lnTo>
                    <a:lnTo>
                      <a:pt x="284" y="331"/>
                    </a:lnTo>
                    <a:lnTo>
                      <a:pt x="284" y="33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7" name="Freeform 10"/>
              <p:cNvSpPr>
                <a:spLocks/>
              </p:cNvSpPr>
              <p:nvPr/>
            </p:nvSpPr>
            <p:spPr bwMode="auto">
              <a:xfrm>
                <a:off x="1776" y="912"/>
                <a:ext cx="314" cy="278"/>
              </a:xfrm>
              <a:custGeom>
                <a:avLst/>
                <a:gdLst>
                  <a:gd name="T0" fmla="*/ 0 w 942"/>
                  <a:gd name="T1" fmla="*/ 0 h 833"/>
                  <a:gd name="T2" fmla="*/ 0 w 942"/>
                  <a:gd name="T3" fmla="*/ 0 h 833"/>
                  <a:gd name="T4" fmla="*/ 0 w 942"/>
                  <a:gd name="T5" fmla="*/ 0 h 833"/>
                  <a:gd name="T6" fmla="*/ 0 w 942"/>
                  <a:gd name="T7" fmla="*/ 0 h 833"/>
                  <a:gd name="T8" fmla="*/ 0 w 942"/>
                  <a:gd name="T9" fmla="*/ 0 h 833"/>
                  <a:gd name="T10" fmla="*/ 0 w 942"/>
                  <a:gd name="T11" fmla="*/ 0 h 833"/>
                  <a:gd name="T12" fmla="*/ 0 w 942"/>
                  <a:gd name="T13" fmla="*/ 0 h 833"/>
                  <a:gd name="T14" fmla="*/ 0 w 942"/>
                  <a:gd name="T15" fmla="*/ 0 h 833"/>
                  <a:gd name="T16" fmla="*/ 0 w 942"/>
                  <a:gd name="T17" fmla="*/ 0 h 833"/>
                  <a:gd name="T18" fmla="*/ 0 w 942"/>
                  <a:gd name="T19" fmla="*/ 0 h 833"/>
                  <a:gd name="T20" fmla="*/ 0 w 942"/>
                  <a:gd name="T21" fmla="*/ 0 h 833"/>
                  <a:gd name="T22" fmla="*/ 0 w 942"/>
                  <a:gd name="T23" fmla="*/ 0 h 833"/>
                  <a:gd name="T24" fmla="*/ 0 w 942"/>
                  <a:gd name="T25" fmla="*/ 0 h 833"/>
                  <a:gd name="T26" fmla="*/ 0 w 942"/>
                  <a:gd name="T27" fmla="*/ 0 h 833"/>
                  <a:gd name="T28" fmla="*/ 0 w 942"/>
                  <a:gd name="T29" fmla="*/ 0 h 833"/>
                  <a:gd name="T30" fmla="*/ 0 w 942"/>
                  <a:gd name="T31" fmla="*/ 0 h 833"/>
                  <a:gd name="T32" fmla="*/ 0 w 942"/>
                  <a:gd name="T33" fmla="*/ 0 h 833"/>
                  <a:gd name="T34" fmla="*/ 0 w 942"/>
                  <a:gd name="T35" fmla="*/ 0 h 833"/>
                  <a:gd name="T36" fmla="*/ 0 w 942"/>
                  <a:gd name="T37" fmla="*/ 0 h 833"/>
                  <a:gd name="T38" fmla="*/ 0 w 942"/>
                  <a:gd name="T39" fmla="*/ 0 h 833"/>
                  <a:gd name="T40" fmla="*/ 0 w 942"/>
                  <a:gd name="T41" fmla="*/ 0 h 833"/>
                  <a:gd name="T42" fmla="*/ 0 w 942"/>
                  <a:gd name="T43" fmla="*/ 0 h 833"/>
                  <a:gd name="T44" fmla="*/ 0 w 942"/>
                  <a:gd name="T45" fmla="*/ 0 h 833"/>
                  <a:gd name="T46" fmla="*/ 0 w 942"/>
                  <a:gd name="T47" fmla="*/ 0 h 833"/>
                  <a:gd name="T48" fmla="*/ 0 w 942"/>
                  <a:gd name="T49" fmla="*/ 0 h 833"/>
                  <a:gd name="T50" fmla="*/ 0 w 942"/>
                  <a:gd name="T51" fmla="*/ 0 h 833"/>
                  <a:gd name="T52" fmla="*/ 0 w 942"/>
                  <a:gd name="T53" fmla="*/ 0 h 833"/>
                  <a:gd name="T54" fmla="*/ 0 w 942"/>
                  <a:gd name="T55" fmla="*/ 0 h 833"/>
                  <a:gd name="T56" fmla="*/ 0 w 942"/>
                  <a:gd name="T57" fmla="*/ 0 h 833"/>
                  <a:gd name="T58" fmla="*/ 0 w 942"/>
                  <a:gd name="T59" fmla="*/ 0 h 833"/>
                  <a:gd name="T60" fmla="*/ 0 w 942"/>
                  <a:gd name="T61" fmla="*/ 0 h 833"/>
                  <a:gd name="T62" fmla="*/ 0 w 942"/>
                  <a:gd name="T63" fmla="*/ 0 h 833"/>
                  <a:gd name="T64" fmla="*/ 0 w 942"/>
                  <a:gd name="T65" fmla="*/ 0 h 833"/>
                  <a:gd name="T66" fmla="*/ 0 w 942"/>
                  <a:gd name="T67" fmla="*/ 0 h 833"/>
                  <a:gd name="T68" fmla="*/ 0 w 942"/>
                  <a:gd name="T69" fmla="*/ 0 h 833"/>
                  <a:gd name="T70" fmla="*/ 0 w 942"/>
                  <a:gd name="T71" fmla="*/ 0 h 833"/>
                  <a:gd name="T72" fmla="*/ 0 w 942"/>
                  <a:gd name="T73" fmla="*/ 0 h 833"/>
                  <a:gd name="T74" fmla="*/ 0 w 942"/>
                  <a:gd name="T75" fmla="*/ 0 h 833"/>
                  <a:gd name="T76" fmla="*/ 0 w 942"/>
                  <a:gd name="T77" fmla="*/ 0 h 833"/>
                  <a:gd name="T78" fmla="*/ 0 w 942"/>
                  <a:gd name="T79" fmla="*/ 0 h 833"/>
                  <a:gd name="T80" fmla="*/ 0 w 942"/>
                  <a:gd name="T81" fmla="*/ 0 h 833"/>
                  <a:gd name="T82" fmla="*/ 0 w 942"/>
                  <a:gd name="T83" fmla="*/ 0 h 833"/>
                  <a:gd name="T84" fmla="*/ 0 w 942"/>
                  <a:gd name="T85" fmla="*/ 0 h 833"/>
                  <a:gd name="T86" fmla="*/ 0 w 942"/>
                  <a:gd name="T87" fmla="*/ 0 h 833"/>
                  <a:gd name="T88" fmla="*/ 0 w 942"/>
                  <a:gd name="T89" fmla="*/ 0 h 833"/>
                  <a:gd name="T90" fmla="*/ 0 w 942"/>
                  <a:gd name="T91" fmla="*/ 0 h 833"/>
                  <a:gd name="T92" fmla="*/ 0 w 942"/>
                  <a:gd name="T93" fmla="*/ 0 h 833"/>
                  <a:gd name="T94" fmla="*/ 0 w 942"/>
                  <a:gd name="T95" fmla="*/ 0 h 833"/>
                  <a:gd name="T96" fmla="*/ 0 w 942"/>
                  <a:gd name="T97" fmla="*/ 0 h 833"/>
                  <a:gd name="T98" fmla="*/ 0 w 942"/>
                  <a:gd name="T99" fmla="*/ 0 h 833"/>
                  <a:gd name="T100" fmla="*/ 0 w 942"/>
                  <a:gd name="T101" fmla="*/ 0 h 833"/>
                  <a:gd name="T102" fmla="*/ 0 w 942"/>
                  <a:gd name="T103" fmla="*/ 0 h 833"/>
                  <a:gd name="T104" fmla="*/ 0 w 942"/>
                  <a:gd name="T105" fmla="*/ 0 h 833"/>
                  <a:gd name="T106" fmla="*/ 0 w 942"/>
                  <a:gd name="T107" fmla="*/ 0 h 833"/>
                  <a:gd name="T108" fmla="*/ 0 w 942"/>
                  <a:gd name="T109" fmla="*/ 0 h 833"/>
                  <a:gd name="T110" fmla="*/ 0 w 942"/>
                  <a:gd name="T111" fmla="*/ 0 h 833"/>
                  <a:gd name="T112" fmla="*/ 0 w 942"/>
                  <a:gd name="T113" fmla="*/ 0 h 833"/>
                  <a:gd name="T114" fmla="*/ 0 w 942"/>
                  <a:gd name="T115" fmla="*/ 0 h 833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942"/>
                  <a:gd name="T175" fmla="*/ 0 h 833"/>
                  <a:gd name="T176" fmla="*/ 942 w 942"/>
                  <a:gd name="T177" fmla="*/ 833 h 833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942" h="833">
                    <a:moveTo>
                      <a:pt x="44" y="304"/>
                    </a:moveTo>
                    <a:lnTo>
                      <a:pt x="47" y="294"/>
                    </a:lnTo>
                    <a:lnTo>
                      <a:pt x="53" y="284"/>
                    </a:lnTo>
                    <a:lnTo>
                      <a:pt x="57" y="274"/>
                    </a:lnTo>
                    <a:lnTo>
                      <a:pt x="61" y="265"/>
                    </a:lnTo>
                    <a:lnTo>
                      <a:pt x="67" y="255"/>
                    </a:lnTo>
                    <a:lnTo>
                      <a:pt x="72" y="246"/>
                    </a:lnTo>
                    <a:lnTo>
                      <a:pt x="77" y="238"/>
                    </a:lnTo>
                    <a:lnTo>
                      <a:pt x="84" y="229"/>
                    </a:lnTo>
                    <a:lnTo>
                      <a:pt x="88" y="220"/>
                    </a:lnTo>
                    <a:lnTo>
                      <a:pt x="94" y="212"/>
                    </a:lnTo>
                    <a:lnTo>
                      <a:pt x="99" y="202"/>
                    </a:lnTo>
                    <a:lnTo>
                      <a:pt x="107" y="195"/>
                    </a:lnTo>
                    <a:lnTo>
                      <a:pt x="112" y="188"/>
                    </a:lnTo>
                    <a:lnTo>
                      <a:pt x="118" y="181"/>
                    </a:lnTo>
                    <a:lnTo>
                      <a:pt x="125" y="172"/>
                    </a:lnTo>
                    <a:lnTo>
                      <a:pt x="131" y="165"/>
                    </a:lnTo>
                    <a:lnTo>
                      <a:pt x="136" y="158"/>
                    </a:lnTo>
                    <a:lnTo>
                      <a:pt x="144" y="152"/>
                    </a:lnTo>
                    <a:lnTo>
                      <a:pt x="149" y="145"/>
                    </a:lnTo>
                    <a:lnTo>
                      <a:pt x="158" y="138"/>
                    </a:lnTo>
                    <a:lnTo>
                      <a:pt x="162" y="132"/>
                    </a:lnTo>
                    <a:lnTo>
                      <a:pt x="171" y="127"/>
                    </a:lnTo>
                    <a:lnTo>
                      <a:pt x="178" y="119"/>
                    </a:lnTo>
                    <a:lnTo>
                      <a:pt x="185" y="114"/>
                    </a:lnTo>
                    <a:lnTo>
                      <a:pt x="192" y="108"/>
                    </a:lnTo>
                    <a:lnTo>
                      <a:pt x="198" y="104"/>
                    </a:lnTo>
                    <a:lnTo>
                      <a:pt x="206" y="98"/>
                    </a:lnTo>
                    <a:lnTo>
                      <a:pt x="212" y="92"/>
                    </a:lnTo>
                    <a:lnTo>
                      <a:pt x="220" y="87"/>
                    </a:lnTo>
                    <a:lnTo>
                      <a:pt x="226" y="82"/>
                    </a:lnTo>
                    <a:lnTo>
                      <a:pt x="234" y="78"/>
                    </a:lnTo>
                    <a:lnTo>
                      <a:pt x="242" y="74"/>
                    </a:lnTo>
                    <a:lnTo>
                      <a:pt x="249" y="70"/>
                    </a:lnTo>
                    <a:lnTo>
                      <a:pt x="256" y="65"/>
                    </a:lnTo>
                    <a:lnTo>
                      <a:pt x="264" y="61"/>
                    </a:lnTo>
                    <a:lnTo>
                      <a:pt x="271" y="57"/>
                    </a:lnTo>
                    <a:lnTo>
                      <a:pt x="278" y="53"/>
                    </a:lnTo>
                    <a:lnTo>
                      <a:pt x="287" y="50"/>
                    </a:lnTo>
                    <a:lnTo>
                      <a:pt x="294" y="47"/>
                    </a:lnTo>
                    <a:lnTo>
                      <a:pt x="301" y="44"/>
                    </a:lnTo>
                    <a:lnTo>
                      <a:pt x="310" y="40"/>
                    </a:lnTo>
                    <a:lnTo>
                      <a:pt x="317" y="37"/>
                    </a:lnTo>
                    <a:lnTo>
                      <a:pt x="324" y="34"/>
                    </a:lnTo>
                    <a:lnTo>
                      <a:pt x="332" y="31"/>
                    </a:lnTo>
                    <a:lnTo>
                      <a:pt x="340" y="28"/>
                    </a:lnTo>
                    <a:lnTo>
                      <a:pt x="348" y="27"/>
                    </a:lnTo>
                    <a:lnTo>
                      <a:pt x="355" y="24"/>
                    </a:lnTo>
                    <a:lnTo>
                      <a:pt x="362" y="21"/>
                    </a:lnTo>
                    <a:lnTo>
                      <a:pt x="371" y="20"/>
                    </a:lnTo>
                    <a:lnTo>
                      <a:pt x="378" y="17"/>
                    </a:lnTo>
                    <a:lnTo>
                      <a:pt x="385" y="16"/>
                    </a:lnTo>
                    <a:lnTo>
                      <a:pt x="394" y="14"/>
                    </a:lnTo>
                    <a:lnTo>
                      <a:pt x="401" y="11"/>
                    </a:lnTo>
                    <a:lnTo>
                      <a:pt x="408" y="10"/>
                    </a:lnTo>
                    <a:lnTo>
                      <a:pt x="415" y="9"/>
                    </a:lnTo>
                    <a:lnTo>
                      <a:pt x="423" y="9"/>
                    </a:lnTo>
                    <a:lnTo>
                      <a:pt x="429" y="6"/>
                    </a:lnTo>
                    <a:lnTo>
                      <a:pt x="438" y="6"/>
                    </a:lnTo>
                    <a:lnTo>
                      <a:pt x="445" y="4"/>
                    </a:lnTo>
                    <a:lnTo>
                      <a:pt x="452" y="4"/>
                    </a:lnTo>
                    <a:lnTo>
                      <a:pt x="459" y="3"/>
                    </a:lnTo>
                    <a:lnTo>
                      <a:pt x="466" y="3"/>
                    </a:lnTo>
                    <a:lnTo>
                      <a:pt x="473" y="1"/>
                    </a:lnTo>
                    <a:lnTo>
                      <a:pt x="482" y="1"/>
                    </a:lnTo>
                    <a:lnTo>
                      <a:pt x="487" y="1"/>
                    </a:lnTo>
                    <a:lnTo>
                      <a:pt x="492" y="0"/>
                    </a:lnTo>
                    <a:lnTo>
                      <a:pt x="497" y="0"/>
                    </a:lnTo>
                    <a:lnTo>
                      <a:pt x="503" y="0"/>
                    </a:lnTo>
                    <a:lnTo>
                      <a:pt x="507" y="0"/>
                    </a:lnTo>
                    <a:lnTo>
                      <a:pt x="514" y="0"/>
                    </a:lnTo>
                    <a:lnTo>
                      <a:pt x="519" y="0"/>
                    </a:lnTo>
                    <a:lnTo>
                      <a:pt x="526" y="0"/>
                    </a:lnTo>
                    <a:lnTo>
                      <a:pt x="531" y="0"/>
                    </a:lnTo>
                    <a:lnTo>
                      <a:pt x="536" y="0"/>
                    </a:lnTo>
                    <a:lnTo>
                      <a:pt x="541" y="1"/>
                    </a:lnTo>
                    <a:lnTo>
                      <a:pt x="547" y="1"/>
                    </a:lnTo>
                    <a:lnTo>
                      <a:pt x="551" y="1"/>
                    </a:lnTo>
                    <a:lnTo>
                      <a:pt x="557" y="3"/>
                    </a:lnTo>
                    <a:lnTo>
                      <a:pt x="563" y="3"/>
                    </a:lnTo>
                    <a:lnTo>
                      <a:pt x="568" y="4"/>
                    </a:lnTo>
                    <a:lnTo>
                      <a:pt x="573" y="4"/>
                    </a:lnTo>
                    <a:lnTo>
                      <a:pt x="578" y="6"/>
                    </a:lnTo>
                    <a:lnTo>
                      <a:pt x="583" y="6"/>
                    </a:lnTo>
                    <a:lnTo>
                      <a:pt x="588" y="6"/>
                    </a:lnTo>
                    <a:lnTo>
                      <a:pt x="594" y="7"/>
                    </a:lnTo>
                    <a:lnTo>
                      <a:pt x="598" y="9"/>
                    </a:lnTo>
                    <a:lnTo>
                      <a:pt x="604" y="9"/>
                    </a:lnTo>
                    <a:lnTo>
                      <a:pt x="608" y="9"/>
                    </a:lnTo>
                    <a:lnTo>
                      <a:pt x="614" y="10"/>
                    </a:lnTo>
                    <a:lnTo>
                      <a:pt x="618" y="11"/>
                    </a:lnTo>
                    <a:lnTo>
                      <a:pt x="622" y="11"/>
                    </a:lnTo>
                    <a:lnTo>
                      <a:pt x="628" y="14"/>
                    </a:lnTo>
                    <a:lnTo>
                      <a:pt x="632" y="16"/>
                    </a:lnTo>
                    <a:lnTo>
                      <a:pt x="637" y="16"/>
                    </a:lnTo>
                    <a:lnTo>
                      <a:pt x="642" y="17"/>
                    </a:lnTo>
                    <a:lnTo>
                      <a:pt x="647" y="18"/>
                    </a:lnTo>
                    <a:lnTo>
                      <a:pt x="651" y="20"/>
                    </a:lnTo>
                    <a:lnTo>
                      <a:pt x="654" y="21"/>
                    </a:lnTo>
                    <a:lnTo>
                      <a:pt x="658" y="21"/>
                    </a:lnTo>
                    <a:lnTo>
                      <a:pt x="662" y="23"/>
                    </a:lnTo>
                    <a:lnTo>
                      <a:pt x="666" y="24"/>
                    </a:lnTo>
                    <a:lnTo>
                      <a:pt x="671" y="24"/>
                    </a:lnTo>
                    <a:lnTo>
                      <a:pt x="675" y="27"/>
                    </a:lnTo>
                    <a:lnTo>
                      <a:pt x="678" y="28"/>
                    </a:lnTo>
                    <a:lnTo>
                      <a:pt x="681" y="30"/>
                    </a:lnTo>
                    <a:lnTo>
                      <a:pt x="685" y="30"/>
                    </a:lnTo>
                    <a:lnTo>
                      <a:pt x="688" y="31"/>
                    </a:lnTo>
                    <a:lnTo>
                      <a:pt x="691" y="33"/>
                    </a:lnTo>
                    <a:lnTo>
                      <a:pt x="695" y="34"/>
                    </a:lnTo>
                    <a:lnTo>
                      <a:pt x="698" y="36"/>
                    </a:lnTo>
                    <a:lnTo>
                      <a:pt x="701" y="37"/>
                    </a:lnTo>
                    <a:lnTo>
                      <a:pt x="703" y="38"/>
                    </a:lnTo>
                    <a:lnTo>
                      <a:pt x="709" y="40"/>
                    </a:lnTo>
                    <a:lnTo>
                      <a:pt x="715" y="44"/>
                    </a:lnTo>
                    <a:lnTo>
                      <a:pt x="718" y="47"/>
                    </a:lnTo>
                    <a:lnTo>
                      <a:pt x="722" y="50"/>
                    </a:lnTo>
                    <a:lnTo>
                      <a:pt x="725" y="51"/>
                    </a:lnTo>
                    <a:lnTo>
                      <a:pt x="729" y="54"/>
                    </a:lnTo>
                    <a:lnTo>
                      <a:pt x="730" y="57"/>
                    </a:lnTo>
                    <a:lnTo>
                      <a:pt x="732" y="58"/>
                    </a:lnTo>
                    <a:lnTo>
                      <a:pt x="732" y="61"/>
                    </a:lnTo>
                    <a:lnTo>
                      <a:pt x="733" y="64"/>
                    </a:lnTo>
                    <a:lnTo>
                      <a:pt x="735" y="67"/>
                    </a:lnTo>
                    <a:lnTo>
                      <a:pt x="736" y="71"/>
                    </a:lnTo>
                    <a:lnTo>
                      <a:pt x="737" y="74"/>
                    </a:lnTo>
                    <a:lnTo>
                      <a:pt x="739" y="78"/>
                    </a:lnTo>
                    <a:lnTo>
                      <a:pt x="740" y="81"/>
                    </a:lnTo>
                    <a:lnTo>
                      <a:pt x="745" y="87"/>
                    </a:lnTo>
                    <a:lnTo>
                      <a:pt x="746" y="90"/>
                    </a:lnTo>
                    <a:lnTo>
                      <a:pt x="750" y="95"/>
                    </a:lnTo>
                    <a:lnTo>
                      <a:pt x="753" y="100"/>
                    </a:lnTo>
                    <a:lnTo>
                      <a:pt x="759" y="104"/>
                    </a:lnTo>
                    <a:lnTo>
                      <a:pt x="762" y="107"/>
                    </a:lnTo>
                    <a:lnTo>
                      <a:pt x="767" y="111"/>
                    </a:lnTo>
                    <a:lnTo>
                      <a:pt x="769" y="112"/>
                    </a:lnTo>
                    <a:lnTo>
                      <a:pt x="772" y="114"/>
                    </a:lnTo>
                    <a:lnTo>
                      <a:pt x="777" y="115"/>
                    </a:lnTo>
                    <a:lnTo>
                      <a:pt x="779" y="117"/>
                    </a:lnTo>
                    <a:lnTo>
                      <a:pt x="784" y="118"/>
                    </a:lnTo>
                    <a:lnTo>
                      <a:pt x="790" y="118"/>
                    </a:lnTo>
                    <a:lnTo>
                      <a:pt x="793" y="118"/>
                    </a:lnTo>
                    <a:lnTo>
                      <a:pt x="796" y="118"/>
                    </a:lnTo>
                    <a:lnTo>
                      <a:pt x="799" y="118"/>
                    </a:lnTo>
                    <a:lnTo>
                      <a:pt x="803" y="117"/>
                    </a:lnTo>
                    <a:lnTo>
                      <a:pt x="806" y="115"/>
                    </a:lnTo>
                    <a:lnTo>
                      <a:pt x="808" y="114"/>
                    </a:lnTo>
                    <a:lnTo>
                      <a:pt x="813" y="114"/>
                    </a:lnTo>
                    <a:lnTo>
                      <a:pt x="816" y="112"/>
                    </a:lnTo>
                    <a:lnTo>
                      <a:pt x="818" y="111"/>
                    </a:lnTo>
                    <a:lnTo>
                      <a:pt x="821" y="110"/>
                    </a:lnTo>
                    <a:lnTo>
                      <a:pt x="824" y="108"/>
                    </a:lnTo>
                    <a:lnTo>
                      <a:pt x="828" y="107"/>
                    </a:lnTo>
                    <a:lnTo>
                      <a:pt x="831" y="105"/>
                    </a:lnTo>
                    <a:lnTo>
                      <a:pt x="834" y="104"/>
                    </a:lnTo>
                    <a:lnTo>
                      <a:pt x="838" y="102"/>
                    </a:lnTo>
                    <a:lnTo>
                      <a:pt x="841" y="100"/>
                    </a:lnTo>
                    <a:lnTo>
                      <a:pt x="845" y="100"/>
                    </a:lnTo>
                    <a:lnTo>
                      <a:pt x="848" y="98"/>
                    </a:lnTo>
                    <a:lnTo>
                      <a:pt x="850" y="97"/>
                    </a:lnTo>
                    <a:lnTo>
                      <a:pt x="854" y="97"/>
                    </a:lnTo>
                    <a:lnTo>
                      <a:pt x="855" y="94"/>
                    </a:lnTo>
                    <a:lnTo>
                      <a:pt x="861" y="92"/>
                    </a:lnTo>
                    <a:lnTo>
                      <a:pt x="862" y="92"/>
                    </a:lnTo>
                    <a:lnTo>
                      <a:pt x="865" y="92"/>
                    </a:lnTo>
                    <a:lnTo>
                      <a:pt x="871" y="92"/>
                    </a:lnTo>
                    <a:lnTo>
                      <a:pt x="875" y="92"/>
                    </a:lnTo>
                    <a:lnTo>
                      <a:pt x="880" y="95"/>
                    </a:lnTo>
                    <a:lnTo>
                      <a:pt x="887" y="97"/>
                    </a:lnTo>
                    <a:lnTo>
                      <a:pt x="892" y="98"/>
                    </a:lnTo>
                    <a:lnTo>
                      <a:pt x="897" y="101"/>
                    </a:lnTo>
                    <a:lnTo>
                      <a:pt x="901" y="102"/>
                    </a:lnTo>
                    <a:lnTo>
                      <a:pt x="905" y="105"/>
                    </a:lnTo>
                    <a:lnTo>
                      <a:pt x="909" y="108"/>
                    </a:lnTo>
                    <a:lnTo>
                      <a:pt x="914" y="111"/>
                    </a:lnTo>
                    <a:lnTo>
                      <a:pt x="916" y="114"/>
                    </a:lnTo>
                    <a:lnTo>
                      <a:pt x="921" y="117"/>
                    </a:lnTo>
                    <a:lnTo>
                      <a:pt x="924" y="119"/>
                    </a:lnTo>
                    <a:lnTo>
                      <a:pt x="926" y="124"/>
                    </a:lnTo>
                    <a:lnTo>
                      <a:pt x="928" y="128"/>
                    </a:lnTo>
                    <a:lnTo>
                      <a:pt x="931" y="131"/>
                    </a:lnTo>
                    <a:lnTo>
                      <a:pt x="932" y="135"/>
                    </a:lnTo>
                    <a:lnTo>
                      <a:pt x="935" y="139"/>
                    </a:lnTo>
                    <a:lnTo>
                      <a:pt x="936" y="144"/>
                    </a:lnTo>
                    <a:lnTo>
                      <a:pt x="939" y="148"/>
                    </a:lnTo>
                    <a:lnTo>
                      <a:pt x="939" y="154"/>
                    </a:lnTo>
                    <a:lnTo>
                      <a:pt x="939" y="158"/>
                    </a:lnTo>
                    <a:lnTo>
                      <a:pt x="941" y="164"/>
                    </a:lnTo>
                    <a:lnTo>
                      <a:pt x="941" y="168"/>
                    </a:lnTo>
                    <a:lnTo>
                      <a:pt x="941" y="171"/>
                    </a:lnTo>
                    <a:lnTo>
                      <a:pt x="941" y="174"/>
                    </a:lnTo>
                    <a:lnTo>
                      <a:pt x="941" y="176"/>
                    </a:lnTo>
                    <a:lnTo>
                      <a:pt x="942" y="181"/>
                    </a:lnTo>
                    <a:lnTo>
                      <a:pt x="941" y="183"/>
                    </a:lnTo>
                    <a:lnTo>
                      <a:pt x="941" y="186"/>
                    </a:lnTo>
                    <a:lnTo>
                      <a:pt x="941" y="189"/>
                    </a:lnTo>
                    <a:lnTo>
                      <a:pt x="941" y="192"/>
                    </a:lnTo>
                    <a:lnTo>
                      <a:pt x="939" y="195"/>
                    </a:lnTo>
                    <a:lnTo>
                      <a:pt x="939" y="198"/>
                    </a:lnTo>
                    <a:lnTo>
                      <a:pt x="939" y="201"/>
                    </a:lnTo>
                    <a:lnTo>
                      <a:pt x="939" y="205"/>
                    </a:lnTo>
                    <a:lnTo>
                      <a:pt x="936" y="208"/>
                    </a:lnTo>
                    <a:lnTo>
                      <a:pt x="936" y="210"/>
                    </a:lnTo>
                    <a:lnTo>
                      <a:pt x="936" y="215"/>
                    </a:lnTo>
                    <a:lnTo>
                      <a:pt x="935" y="218"/>
                    </a:lnTo>
                    <a:lnTo>
                      <a:pt x="934" y="220"/>
                    </a:lnTo>
                    <a:lnTo>
                      <a:pt x="934" y="225"/>
                    </a:lnTo>
                    <a:lnTo>
                      <a:pt x="934" y="228"/>
                    </a:lnTo>
                    <a:lnTo>
                      <a:pt x="934" y="233"/>
                    </a:lnTo>
                    <a:lnTo>
                      <a:pt x="932" y="235"/>
                    </a:lnTo>
                    <a:lnTo>
                      <a:pt x="931" y="238"/>
                    </a:lnTo>
                    <a:lnTo>
                      <a:pt x="931" y="240"/>
                    </a:lnTo>
                    <a:lnTo>
                      <a:pt x="929" y="243"/>
                    </a:lnTo>
                    <a:lnTo>
                      <a:pt x="928" y="246"/>
                    </a:lnTo>
                    <a:lnTo>
                      <a:pt x="926" y="249"/>
                    </a:lnTo>
                    <a:lnTo>
                      <a:pt x="926" y="252"/>
                    </a:lnTo>
                    <a:lnTo>
                      <a:pt x="925" y="255"/>
                    </a:lnTo>
                    <a:lnTo>
                      <a:pt x="924" y="259"/>
                    </a:lnTo>
                    <a:lnTo>
                      <a:pt x="921" y="265"/>
                    </a:lnTo>
                    <a:lnTo>
                      <a:pt x="918" y="270"/>
                    </a:lnTo>
                    <a:lnTo>
                      <a:pt x="915" y="274"/>
                    </a:lnTo>
                    <a:lnTo>
                      <a:pt x="911" y="279"/>
                    </a:lnTo>
                    <a:lnTo>
                      <a:pt x="908" y="283"/>
                    </a:lnTo>
                    <a:lnTo>
                      <a:pt x="904" y="289"/>
                    </a:lnTo>
                    <a:lnTo>
                      <a:pt x="901" y="292"/>
                    </a:lnTo>
                    <a:lnTo>
                      <a:pt x="897" y="296"/>
                    </a:lnTo>
                    <a:lnTo>
                      <a:pt x="892" y="299"/>
                    </a:lnTo>
                    <a:lnTo>
                      <a:pt x="889" y="302"/>
                    </a:lnTo>
                    <a:lnTo>
                      <a:pt x="885" y="306"/>
                    </a:lnTo>
                    <a:lnTo>
                      <a:pt x="880" y="309"/>
                    </a:lnTo>
                    <a:lnTo>
                      <a:pt x="877" y="310"/>
                    </a:lnTo>
                    <a:lnTo>
                      <a:pt x="871" y="313"/>
                    </a:lnTo>
                    <a:lnTo>
                      <a:pt x="867" y="316"/>
                    </a:lnTo>
                    <a:lnTo>
                      <a:pt x="862" y="317"/>
                    </a:lnTo>
                    <a:lnTo>
                      <a:pt x="858" y="319"/>
                    </a:lnTo>
                    <a:lnTo>
                      <a:pt x="853" y="320"/>
                    </a:lnTo>
                    <a:lnTo>
                      <a:pt x="848" y="321"/>
                    </a:lnTo>
                    <a:lnTo>
                      <a:pt x="843" y="321"/>
                    </a:lnTo>
                    <a:lnTo>
                      <a:pt x="837" y="323"/>
                    </a:lnTo>
                    <a:lnTo>
                      <a:pt x="831" y="323"/>
                    </a:lnTo>
                    <a:lnTo>
                      <a:pt x="827" y="323"/>
                    </a:lnTo>
                    <a:lnTo>
                      <a:pt x="821" y="321"/>
                    </a:lnTo>
                    <a:lnTo>
                      <a:pt x="816" y="320"/>
                    </a:lnTo>
                    <a:lnTo>
                      <a:pt x="811" y="320"/>
                    </a:lnTo>
                    <a:lnTo>
                      <a:pt x="807" y="319"/>
                    </a:lnTo>
                    <a:lnTo>
                      <a:pt x="803" y="317"/>
                    </a:lnTo>
                    <a:lnTo>
                      <a:pt x="799" y="313"/>
                    </a:lnTo>
                    <a:lnTo>
                      <a:pt x="794" y="311"/>
                    </a:lnTo>
                    <a:lnTo>
                      <a:pt x="791" y="310"/>
                    </a:lnTo>
                    <a:lnTo>
                      <a:pt x="787" y="304"/>
                    </a:lnTo>
                    <a:lnTo>
                      <a:pt x="784" y="300"/>
                    </a:lnTo>
                    <a:lnTo>
                      <a:pt x="783" y="296"/>
                    </a:lnTo>
                    <a:lnTo>
                      <a:pt x="781" y="293"/>
                    </a:lnTo>
                    <a:lnTo>
                      <a:pt x="780" y="290"/>
                    </a:lnTo>
                    <a:lnTo>
                      <a:pt x="779" y="287"/>
                    </a:lnTo>
                    <a:lnTo>
                      <a:pt x="779" y="283"/>
                    </a:lnTo>
                    <a:lnTo>
                      <a:pt x="779" y="280"/>
                    </a:lnTo>
                    <a:lnTo>
                      <a:pt x="779" y="277"/>
                    </a:lnTo>
                    <a:lnTo>
                      <a:pt x="779" y="274"/>
                    </a:lnTo>
                    <a:lnTo>
                      <a:pt x="779" y="270"/>
                    </a:lnTo>
                    <a:lnTo>
                      <a:pt x="777" y="267"/>
                    </a:lnTo>
                    <a:lnTo>
                      <a:pt x="777" y="265"/>
                    </a:lnTo>
                    <a:lnTo>
                      <a:pt x="777" y="260"/>
                    </a:lnTo>
                    <a:lnTo>
                      <a:pt x="776" y="257"/>
                    </a:lnTo>
                    <a:lnTo>
                      <a:pt x="774" y="255"/>
                    </a:lnTo>
                    <a:lnTo>
                      <a:pt x="773" y="252"/>
                    </a:lnTo>
                    <a:lnTo>
                      <a:pt x="772" y="249"/>
                    </a:lnTo>
                    <a:lnTo>
                      <a:pt x="769" y="243"/>
                    </a:lnTo>
                    <a:lnTo>
                      <a:pt x="766" y="239"/>
                    </a:lnTo>
                    <a:lnTo>
                      <a:pt x="762" y="236"/>
                    </a:lnTo>
                    <a:lnTo>
                      <a:pt x="759" y="235"/>
                    </a:lnTo>
                    <a:lnTo>
                      <a:pt x="756" y="233"/>
                    </a:lnTo>
                    <a:lnTo>
                      <a:pt x="753" y="233"/>
                    </a:lnTo>
                    <a:lnTo>
                      <a:pt x="749" y="230"/>
                    </a:lnTo>
                    <a:lnTo>
                      <a:pt x="746" y="229"/>
                    </a:lnTo>
                    <a:lnTo>
                      <a:pt x="743" y="229"/>
                    </a:lnTo>
                    <a:lnTo>
                      <a:pt x="739" y="229"/>
                    </a:lnTo>
                    <a:lnTo>
                      <a:pt x="735" y="226"/>
                    </a:lnTo>
                    <a:lnTo>
                      <a:pt x="730" y="226"/>
                    </a:lnTo>
                    <a:lnTo>
                      <a:pt x="725" y="226"/>
                    </a:lnTo>
                    <a:lnTo>
                      <a:pt x="722" y="228"/>
                    </a:lnTo>
                    <a:lnTo>
                      <a:pt x="716" y="229"/>
                    </a:lnTo>
                    <a:lnTo>
                      <a:pt x="713" y="229"/>
                    </a:lnTo>
                    <a:lnTo>
                      <a:pt x="709" y="232"/>
                    </a:lnTo>
                    <a:lnTo>
                      <a:pt x="705" y="233"/>
                    </a:lnTo>
                    <a:lnTo>
                      <a:pt x="701" y="235"/>
                    </a:lnTo>
                    <a:lnTo>
                      <a:pt x="696" y="238"/>
                    </a:lnTo>
                    <a:lnTo>
                      <a:pt x="691" y="239"/>
                    </a:lnTo>
                    <a:lnTo>
                      <a:pt x="685" y="242"/>
                    </a:lnTo>
                    <a:lnTo>
                      <a:pt x="683" y="243"/>
                    </a:lnTo>
                    <a:lnTo>
                      <a:pt x="681" y="245"/>
                    </a:lnTo>
                    <a:lnTo>
                      <a:pt x="678" y="246"/>
                    </a:lnTo>
                    <a:lnTo>
                      <a:pt x="675" y="247"/>
                    </a:lnTo>
                    <a:lnTo>
                      <a:pt x="672" y="246"/>
                    </a:lnTo>
                    <a:lnTo>
                      <a:pt x="669" y="246"/>
                    </a:lnTo>
                    <a:lnTo>
                      <a:pt x="666" y="246"/>
                    </a:lnTo>
                    <a:lnTo>
                      <a:pt x="662" y="245"/>
                    </a:lnTo>
                    <a:lnTo>
                      <a:pt x="656" y="243"/>
                    </a:lnTo>
                    <a:lnTo>
                      <a:pt x="651" y="242"/>
                    </a:lnTo>
                    <a:lnTo>
                      <a:pt x="649" y="240"/>
                    </a:lnTo>
                    <a:lnTo>
                      <a:pt x="647" y="239"/>
                    </a:lnTo>
                    <a:lnTo>
                      <a:pt x="644" y="238"/>
                    </a:lnTo>
                    <a:lnTo>
                      <a:pt x="641" y="236"/>
                    </a:lnTo>
                    <a:lnTo>
                      <a:pt x="637" y="236"/>
                    </a:lnTo>
                    <a:lnTo>
                      <a:pt x="632" y="233"/>
                    </a:lnTo>
                    <a:lnTo>
                      <a:pt x="628" y="233"/>
                    </a:lnTo>
                    <a:lnTo>
                      <a:pt x="625" y="230"/>
                    </a:lnTo>
                    <a:lnTo>
                      <a:pt x="621" y="229"/>
                    </a:lnTo>
                    <a:lnTo>
                      <a:pt x="617" y="228"/>
                    </a:lnTo>
                    <a:lnTo>
                      <a:pt x="614" y="226"/>
                    </a:lnTo>
                    <a:lnTo>
                      <a:pt x="610" y="225"/>
                    </a:lnTo>
                    <a:lnTo>
                      <a:pt x="604" y="223"/>
                    </a:lnTo>
                    <a:lnTo>
                      <a:pt x="600" y="220"/>
                    </a:lnTo>
                    <a:lnTo>
                      <a:pt x="597" y="220"/>
                    </a:lnTo>
                    <a:lnTo>
                      <a:pt x="591" y="218"/>
                    </a:lnTo>
                    <a:lnTo>
                      <a:pt x="585" y="218"/>
                    </a:lnTo>
                    <a:lnTo>
                      <a:pt x="581" y="216"/>
                    </a:lnTo>
                    <a:lnTo>
                      <a:pt x="575" y="215"/>
                    </a:lnTo>
                    <a:lnTo>
                      <a:pt x="571" y="213"/>
                    </a:lnTo>
                    <a:lnTo>
                      <a:pt x="566" y="212"/>
                    </a:lnTo>
                    <a:lnTo>
                      <a:pt x="560" y="210"/>
                    </a:lnTo>
                    <a:lnTo>
                      <a:pt x="554" y="210"/>
                    </a:lnTo>
                    <a:lnTo>
                      <a:pt x="550" y="210"/>
                    </a:lnTo>
                    <a:lnTo>
                      <a:pt x="543" y="208"/>
                    </a:lnTo>
                    <a:lnTo>
                      <a:pt x="537" y="208"/>
                    </a:lnTo>
                    <a:lnTo>
                      <a:pt x="531" y="208"/>
                    </a:lnTo>
                    <a:lnTo>
                      <a:pt x="526" y="208"/>
                    </a:lnTo>
                    <a:lnTo>
                      <a:pt x="519" y="206"/>
                    </a:lnTo>
                    <a:lnTo>
                      <a:pt x="513" y="206"/>
                    </a:lnTo>
                    <a:lnTo>
                      <a:pt x="507" y="206"/>
                    </a:lnTo>
                    <a:lnTo>
                      <a:pt x="500" y="206"/>
                    </a:lnTo>
                    <a:lnTo>
                      <a:pt x="494" y="206"/>
                    </a:lnTo>
                    <a:lnTo>
                      <a:pt x="487" y="206"/>
                    </a:lnTo>
                    <a:lnTo>
                      <a:pt x="482" y="208"/>
                    </a:lnTo>
                    <a:lnTo>
                      <a:pt x="475" y="209"/>
                    </a:lnTo>
                    <a:lnTo>
                      <a:pt x="467" y="209"/>
                    </a:lnTo>
                    <a:lnTo>
                      <a:pt x="460" y="210"/>
                    </a:lnTo>
                    <a:lnTo>
                      <a:pt x="453" y="212"/>
                    </a:lnTo>
                    <a:lnTo>
                      <a:pt x="446" y="212"/>
                    </a:lnTo>
                    <a:lnTo>
                      <a:pt x="439" y="215"/>
                    </a:lnTo>
                    <a:lnTo>
                      <a:pt x="432" y="216"/>
                    </a:lnTo>
                    <a:lnTo>
                      <a:pt x="425" y="218"/>
                    </a:lnTo>
                    <a:lnTo>
                      <a:pt x="418" y="220"/>
                    </a:lnTo>
                    <a:lnTo>
                      <a:pt x="411" y="223"/>
                    </a:lnTo>
                    <a:lnTo>
                      <a:pt x="404" y="226"/>
                    </a:lnTo>
                    <a:lnTo>
                      <a:pt x="395" y="229"/>
                    </a:lnTo>
                    <a:lnTo>
                      <a:pt x="388" y="233"/>
                    </a:lnTo>
                    <a:lnTo>
                      <a:pt x="379" y="236"/>
                    </a:lnTo>
                    <a:lnTo>
                      <a:pt x="372" y="242"/>
                    </a:lnTo>
                    <a:lnTo>
                      <a:pt x="364" y="245"/>
                    </a:lnTo>
                    <a:lnTo>
                      <a:pt x="357" y="249"/>
                    </a:lnTo>
                    <a:lnTo>
                      <a:pt x="351" y="252"/>
                    </a:lnTo>
                    <a:lnTo>
                      <a:pt x="344" y="257"/>
                    </a:lnTo>
                    <a:lnTo>
                      <a:pt x="340" y="260"/>
                    </a:lnTo>
                    <a:lnTo>
                      <a:pt x="332" y="265"/>
                    </a:lnTo>
                    <a:lnTo>
                      <a:pt x="327" y="269"/>
                    </a:lnTo>
                    <a:lnTo>
                      <a:pt x="323" y="273"/>
                    </a:lnTo>
                    <a:lnTo>
                      <a:pt x="318" y="277"/>
                    </a:lnTo>
                    <a:lnTo>
                      <a:pt x="314" y="282"/>
                    </a:lnTo>
                    <a:lnTo>
                      <a:pt x="308" y="286"/>
                    </a:lnTo>
                    <a:lnTo>
                      <a:pt x="304" y="292"/>
                    </a:lnTo>
                    <a:lnTo>
                      <a:pt x="300" y="296"/>
                    </a:lnTo>
                    <a:lnTo>
                      <a:pt x="296" y="300"/>
                    </a:lnTo>
                    <a:lnTo>
                      <a:pt x="290" y="304"/>
                    </a:lnTo>
                    <a:lnTo>
                      <a:pt x="288" y="310"/>
                    </a:lnTo>
                    <a:lnTo>
                      <a:pt x="284" y="314"/>
                    </a:lnTo>
                    <a:lnTo>
                      <a:pt x="280" y="320"/>
                    </a:lnTo>
                    <a:lnTo>
                      <a:pt x="277" y="324"/>
                    </a:lnTo>
                    <a:lnTo>
                      <a:pt x="273" y="330"/>
                    </a:lnTo>
                    <a:lnTo>
                      <a:pt x="270" y="334"/>
                    </a:lnTo>
                    <a:lnTo>
                      <a:pt x="269" y="338"/>
                    </a:lnTo>
                    <a:lnTo>
                      <a:pt x="264" y="346"/>
                    </a:lnTo>
                    <a:lnTo>
                      <a:pt x="263" y="350"/>
                    </a:lnTo>
                    <a:lnTo>
                      <a:pt x="260" y="356"/>
                    </a:lnTo>
                    <a:lnTo>
                      <a:pt x="259" y="361"/>
                    </a:lnTo>
                    <a:lnTo>
                      <a:pt x="254" y="366"/>
                    </a:lnTo>
                    <a:lnTo>
                      <a:pt x="253" y="373"/>
                    </a:lnTo>
                    <a:lnTo>
                      <a:pt x="250" y="377"/>
                    </a:lnTo>
                    <a:lnTo>
                      <a:pt x="249" y="383"/>
                    </a:lnTo>
                    <a:lnTo>
                      <a:pt x="247" y="387"/>
                    </a:lnTo>
                    <a:lnTo>
                      <a:pt x="246" y="393"/>
                    </a:lnTo>
                    <a:lnTo>
                      <a:pt x="243" y="398"/>
                    </a:lnTo>
                    <a:lnTo>
                      <a:pt x="243" y="404"/>
                    </a:lnTo>
                    <a:lnTo>
                      <a:pt x="242" y="408"/>
                    </a:lnTo>
                    <a:lnTo>
                      <a:pt x="240" y="414"/>
                    </a:lnTo>
                    <a:lnTo>
                      <a:pt x="239" y="420"/>
                    </a:lnTo>
                    <a:lnTo>
                      <a:pt x="239" y="425"/>
                    </a:lnTo>
                    <a:lnTo>
                      <a:pt x="237" y="431"/>
                    </a:lnTo>
                    <a:lnTo>
                      <a:pt x="236" y="437"/>
                    </a:lnTo>
                    <a:lnTo>
                      <a:pt x="236" y="441"/>
                    </a:lnTo>
                    <a:lnTo>
                      <a:pt x="234" y="447"/>
                    </a:lnTo>
                    <a:lnTo>
                      <a:pt x="233" y="454"/>
                    </a:lnTo>
                    <a:lnTo>
                      <a:pt x="233" y="458"/>
                    </a:lnTo>
                    <a:lnTo>
                      <a:pt x="233" y="464"/>
                    </a:lnTo>
                    <a:lnTo>
                      <a:pt x="233" y="469"/>
                    </a:lnTo>
                    <a:lnTo>
                      <a:pt x="232" y="474"/>
                    </a:lnTo>
                    <a:lnTo>
                      <a:pt x="232" y="479"/>
                    </a:lnTo>
                    <a:lnTo>
                      <a:pt x="232" y="485"/>
                    </a:lnTo>
                    <a:lnTo>
                      <a:pt x="232" y="491"/>
                    </a:lnTo>
                    <a:lnTo>
                      <a:pt x="230" y="495"/>
                    </a:lnTo>
                    <a:lnTo>
                      <a:pt x="230" y="499"/>
                    </a:lnTo>
                    <a:lnTo>
                      <a:pt x="230" y="505"/>
                    </a:lnTo>
                    <a:lnTo>
                      <a:pt x="230" y="511"/>
                    </a:lnTo>
                    <a:lnTo>
                      <a:pt x="230" y="515"/>
                    </a:lnTo>
                    <a:lnTo>
                      <a:pt x="230" y="519"/>
                    </a:lnTo>
                    <a:lnTo>
                      <a:pt x="230" y="525"/>
                    </a:lnTo>
                    <a:lnTo>
                      <a:pt x="232" y="529"/>
                    </a:lnTo>
                    <a:lnTo>
                      <a:pt x="232" y="535"/>
                    </a:lnTo>
                    <a:lnTo>
                      <a:pt x="232" y="539"/>
                    </a:lnTo>
                    <a:lnTo>
                      <a:pt x="232" y="543"/>
                    </a:lnTo>
                    <a:lnTo>
                      <a:pt x="232" y="548"/>
                    </a:lnTo>
                    <a:lnTo>
                      <a:pt x="232" y="552"/>
                    </a:lnTo>
                    <a:lnTo>
                      <a:pt x="233" y="556"/>
                    </a:lnTo>
                    <a:lnTo>
                      <a:pt x="233" y="560"/>
                    </a:lnTo>
                    <a:lnTo>
                      <a:pt x="233" y="566"/>
                    </a:lnTo>
                    <a:lnTo>
                      <a:pt x="233" y="569"/>
                    </a:lnTo>
                    <a:lnTo>
                      <a:pt x="233" y="573"/>
                    </a:lnTo>
                    <a:lnTo>
                      <a:pt x="233" y="576"/>
                    </a:lnTo>
                    <a:lnTo>
                      <a:pt x="234" y="580"/>
                    </a:lnTo>
                    <a:lnTo>
                      <a:pt x="234" y="585"/>
                    </a:lnTo>
                    <a:lnTo>
                      <a:pt x="236" y="589"/>
                    </a:lnTo>
                    <a:lnTo>
                      <a:pt x="236" y="592"/>
                    </a:lnTo>
                    <a:lnTo>
                      <a:pt x="237" y="596"/>
                    </a:lnTo>
                    <a:lnTo>
                      <a:pt x="239" y="599"/>
                    </a:lnTo>
                    <a:lnTo>
                      <a:pt x="239" y="603"/>
                    </a:lnTo>
                    <a:lnTo>
                      <a:pt x="239" y="606"/>
                    </a:lnTo>
                    <a:lnTo>
                      <a:pt x="240" y="610"/>
                    </a:lnTo>
                    <a:lnTo>
                      <a:pt x="242" y="613"/>
                    </a:lnTo>
                    <a:lnTo>
                      <a:pt x="242" y="616"/>
                    </a:lnTo>
                    <a:lnTo>
                      <a:pt x="243" y="620"/>
                    </a:lnTo>
                    <a:lnTo>
                      <a:pt x="244" y="623"/>
                    </a:lnTo>
                    <a:lnTo>
                      <a:pt x="246" y="626"/>
                    </a:lnTo>
                    <a:lnTo>
                      <a:pt x="246" y="629"/>
                    </a:lnTo>
                    <a:lnTo>
                      <a:pt x="247" y="631"/>
                    </a:lnTo>
                    <a:lnTo>
                      <a:pt x="249" y="634"/>
                    </a:lnTo>
                    <a:lnTo>
                      <a:pt x="250" y="637"/>
                    </a:lnTo>
                    <a:lnTo>
                      <a:pt x="251" y="640"/>
                    </a:lnTo>
                    <a:lnTo>
                      <a:pt x="253" y="643"/>
                    </a:lnTo>
                    <a:lnTo>
                      <a:pt x="254" y="646"/>
                    </a:lnTo>
                    <a:lnTo>
                      <a:pt x="257" y="651"/>
                    </a:lnTo>
                    <a:lnTo>
                      <a:pt x="259" y="656"/>
                    </a:lnTo>
                    <a:lnTo>
                      <a:pt x="261" y="660"/>
                    </a:lnTo>
                    <a:lnTo>
                      <a:pt x="264" y="666"/>
                    </a:lnTo>
                    <a:lnTo>
                      <a:pt x="267" y="670"/>
                    </a:lnTo>
                    <a:lnTo>
                      <a:pt x="269" y="674"/>
                    </a:lnTo>
                    <a:lnTo>
                      <a:pt x="270" y="678"/>
                    </a:lnTo>
                    <a:lnTo>
                      <a:pt x="273" y="681"/>
                    </a:lnTo>
                    <a:lnTo>
                      <a:pt x="273" y="684"/>
                    </a:lnTo>
                    <a:lnTo>
                      <a:pt x="276" y="688"/>
                    </a:lnTo>
                    <a:lnTo>
                      <a:pt x="276" y="691"/>
                    </a:lnTo>
                    <a:lnTo>
                      <a:pt x="277" y="694"/>
                    </a:lnTo>
                    <a:lnTo>
                      <a:pt x="277" y="700"/>
                    </a:lnTo>
                    <a:lnTo>
                      <a:pt x="277" y="704"/>
                    </a:lnTo>
                    <a:lnTo>
                      <a:pt x="276" y="707"/>
                    </a:lnTo>
                    <a:lnTo>
                      <a:pt x="271" y="711"/>
                    </a:lnTo>
                    <a:lnTo>
                      <a:pt x="266" y="713"/>
                    </a:lnTo>
                    <a:lnTo>
                      <a:pt x="261" y="714"/>
                    </a:lnTo>
                    <a:lnTo>
                      <a:pt x="257" y="714"/>
                    </a:lnTo>
                    <a:lnTo>
                      <a:pt x="251" y="715"/>
                    </a:lnTo>
                    <a:lnTo>
                      <a:pt x="247" y="715"/>
                    </a:lnTo>
                    <a:lnTo>
                      <a:pt x="242" y="715"/>
                    </a:lnTo>
                    <a:lnTo>
                      <a:pt x="239" y="715"/>
                    </a:lnTo>
                    <a:lnTo>
                      <a:pt x="237" y="715"/>
                    </a:lnTo>
                    <a:lnTo>
                      <a:pt x="233" y="715"/>
                    </a:lnTo>
                    <a:lnTo>
                      <a:pt x="232" y="717"/>
                    </a:lnTo>
                    <a:lnTo>
                      <a:pt x="227" y="717"/>
                    </a:lnTo>
                    <a:lnTo>
                      <a:pt x="223" y="718"/>
                    </a:lnTo>
                    <a:lnTo>
                      <a:pt x="220" y="718"/>
                    </a:lnTo>
                    <a:lnTo>
                      <a:pt x="216" y="720"/>
                    </a:lnTo>
                    <a:lnTo>
                      <a:pt x="212" y="721"/>
                    </a:lnTo>
                    <a:lnTo>
                      <a:pt x="207" y="722"/>
                    </a:lnTo>
                    <a:lnTo>
                      <a:pt x="203" y="725"/>
                    </a:lnTo>
                    <a:lnTo>
                      <a:pt x="199" y="727"/>
                    </a:lnTo>
                    <a:lnTo>
                      <a:pt x="193" y="728"/>
                    </a:lnTo>
                    <a:lnTo>
                      <a:pt x="188" y="731"/>
                    </a:lnTo>
                    <a:lnTo>
                      <a:pt x="185" y="734"/>
                    </a:lnTo>
                    <a:lnTo>
                      <a:pt x="182" y="734"/>
                    </a:lnTo>
                    <a:lnTo>
                      <a:pt x="179" y="735"/>
                    </a:lnTo>
                    <a:lnTo>
                      <a:pt x="176" y="738"/>
                    </a:lnTo>
                    <a:lnTo>
                      <a:pt x="172" y="740"/>
                    </a:lnTo>
                    <a:lnTo>
                      <a:pt x="169" y="741"/>
                    </a:lnTo>
                    <a:lnTo>
                      <a:pt x="165" y="742"/>
                    </a:lnTo>
                    <a:lnTo>
                      <a:pt x="162" y="745"/>
                    </a:lnTo>
                    <a:lnTo>
                      <a:pt x="159" y="747"/>
                    </a:lnTo>
                    <a:lnTo>
                      <a:pt x="155" y="750"/>
                    </a:lnTo>
                    <a:lnTo>
                      <a:pt x="152" y="752"/>
                    </a:lnTo>
                    <a:lnTo>
                      <a:pt x="149" y="757"/>
                    </a:lnTo>
                    <a:lnTo>
                      <a:pt x="144" y="758"/>
                    </a:lnTo>
                    <a:lnTo>
                      <a:pt x="139" y="761"/>
                    </a:lnTo>
                    <a:lnTo>
                      <a:pt x="136" y="762"/>
                    </a:lnTo>
                    <a:lnTo>
                      <a:pt x="134" y="765"/>
                    </a:lnTo>
                    <a:lnTo>
                      <a:pt x="131" y="768"/>
                    </a:lnTo>
                    <a:lnTo>
                      <a:pt x="126" y="771"/>
                    </a:lnTo>
                    <a:lnTo>
                      <a:pt x="125" y="772"/>
                    </a:lnTo>
                    <a:lnTo>
                      <a:pt x="122" y="775"/>
                    </a:lnTo>
                    <a:lnTo>
                      <a:pt x="117" y="779"/>
                    </a:lnTo>
                    <a:lnTo>
                      <a:pt x="114" y="784"/>
                    </a:lnTo>
                    <a:lnTo>
                      <a:pt x="108" y="788"/>
                    </a:lnTo>
                    <a:lnTo>
                      <a:pt x="105" y="792"/>
                    </a:lnTo>
                    <a:lnTo>
                      <a:pt x="102" y="796"/>
                    </a:lnTo>
                    <a:lnTo>
                      <a:pt x="99" y="799"/>
                    </a:lnTo>
                    <a:lnTo>
                      <a:pt x="98" y="802"/>
                    </a:lnTo>
                    <a:lnTo>
                      <a:pt x="97" y="808"/>
                    </a:lnTo>
                    <a:lnTo>
                      <a:pt x="94" y="809"/>
                    </a:lnTo>
                    <a:lnTo>
                      <a:pt x="94" y="812"/>
                    </a:lnTo>
                    <a:lnTo>
                      <a:pt x="92" y="816"/>
                    </a:lnTo>
                    <a:lnTo>
                      <a:pt x="92" y="819"/>
                    </a:lnTo>
                    <a:lnTo>
                      <a:pt x="90" y="822"/>
                    </a:lnTo>
                    <a:lnTo>
                      <a:pt x="90" y="826"/>
                    </a:lnTo>
                    <a:lnTo>
                      <a:pt x="87" y="831"/>
                    </a:lnTo>
                    <a:lnTo>
                      <a:pt x="85" y="832"/>
                    </a:lnTo>
                    <a:lnTo>
                      <a:pt x="82" y="833"/>
                    </a:lnTo>
                    <a:lnTo>
                      <a:pt x="78" y="833"/>
                    </a:lnTo>
                    <a:lnTo>
                      <a:pt x="77" y="833"/>
                    </a:lnTo>
                    <a:lnTo>
                      <a:pt x="74" y="833"/>
                    </a:lnTo>
                    <a:lnTo>
                      <a:pt x="71" y="832"/>
                    </a:lnTo>
                    <a:lnTo>
                      <a:pt x="68" y="832"/>
                    </a:lnTo>
                    <a:lnTo>
                      <a:pt x="64" y="829"/>
                    </a:lnTo>
                    <a:lnTo>
                      <a:pt x="60" y="825"/>
                    </a:lnTo>
                    <a:lnTo>
                      <a:pt x="57" y="822"/>
                    </a:lnTo>
                    <a:lnTo>
                      <a:pt x="55" y="819"/>
                    </a:lnTo>
                    <a:lnTo>
                      <a:pt x="53" y="818"/>
                    </a:lnTo>
                    <a:lnTo>
                      <a:pt x="51" y="815"/>
                    </a:lnTo>
                    <a:lnTo>
                      <a:pt x="48" y="809"/>
                    </a:lnTo>
                    <a:lnTo>
                      <a:pt x="47" y="805"/>
                    </a:lnTo>
                    <a:lnTo>
                      <a:pt x="44" y="799"/>
                    </a:lnTo>
                    <a:lnTo>
                      <a:pt x="43" y="795"/>
                    </a:lnTo>
                    <a:lnTo>
                      <a:pt x="40" y="789"/>
                    </a:lnTo>
                    <a:lnTo>
                      <a:pt x="40" y="785"/>
                    </a:lnTo>
                    <a:lnTo>
                      <a:pt x="36" y="779"/>
                    </a:lnTo>
                    <a:lnTo>
                      <a:pt x="34" y="772"/>
                    </a:lnTo>
                    <a:lnTo>
                      <a:pt x="31" y="765"/>
                    </a:lnTo>
                    <a:lnTo>
                      <a:pt x="30" y="759"/>
                    </a:lnTo>
                    <a:lnTo>
                      <a:pt x="28" y="751"/>
                    </a:lnTo>
                    <a:lnTo>
                      <a:pt x="27" y="744"/>
                    </a:lnTo>
                    <a:lnTo>
                      <a:pt x="24" y="735"/>
                    </a:lnTo>
                    <a:lnTo>
                      <a:pt x="21" y="728"/>
                    </a:lnTo>
                    <a:lnTo>
                      <a:pt x="20" y="721"/>
                    </a:lnTo>
                    <a:lnTo>
                      <a:pt x="18" y="713"/>
                    </a:lnTo>
                    <a:lnTo>
                      <a:pt x="16" y="704"/>
                    </a:lnTo>
                    <a:lnTo>
                      <a:pt x="16" y="694"/>
                    </a:lnTo>
                    <a:lnTo>
                      <a:pt x="13" y="686"/>
                    </a:lnTo>
                    <a:lnTo>
                      <a:pt x="13" y="677"/>
                    </a:lnTo>
                    <a:lnTo>
                      <a:pt x="10" y="667"/>
                    </a:lnTo>
                    <a:lnTo>
                      <a:pt x="9" y="657"/>
                    </a:lnTo>
                    <a:lnTo>
                      <a:pt x="7" y="649"/>
                    </a:lnTo>
                    <a:lnTo>
                      <a:pt x="6" y="639"/>
                    </a:lnTo>
                    <a:lnTo>
                      <a:pt x="6" y="629"/>
                    </a:lnTo>
                    <a:lnTo>
                      <a:pt x="4" y="619"/>
                    </a:lnTo>
                    <a:lnTo>
                      <a:pt x="3" y="607"/>
                    </a:lnTo>
                    <a:lnTo>
                      <a:pt x="3" y="599"/>
                    </a:lnTo>
                    <a:lnTo>
                      <a:pt x="1" y="589"/>
                    </a:lnTo>
                    <a:lnTo>
                      <a:pt x="0" y="577"/>
                    </a:lnTo>
                    <a:lnTo>
                      <a:pt x="0" y="567"/>
                    </a:lnTo>
                    <a:lnTo>
                      <a:pt x="0" y="556"/>
                    </a:lnTo>
                    <a:lnTo>
                      <a:pt x="0" y="545"/>
                    </a:lnTo>
                    <a:lnTo>
                      <a:pt x="0" y="535"/>
                    </a:lnTo>
                    <a:lnTo>
                      <a:pt x="0" y="525"/>
                    </a:lnTo>
                    <a:lnTo>
                      <a:pt x="0" y="513"/>
                    </a:lnTo>
                    <a:lnTo>
                      <a:pt x="0" y="502"/>
                    </a:lnTo>
                    <a:lnTo>
                      <a:pt x="0" y="492"/>
                    </a:lnTo>
                    <a:lnTo>
                      <a:pt x="1" y="482"/>
                    </a:lnTo>
                    <a:lnTo>
                      <a:pt x="3" y="469"/>
                    </a:lnTo>
                    <a:lnTo>
                      <a:pt x="3" y="459"/>
                    </a:lnTo>
                    <a:lnTo>
                      <a:pt x="4" y="448"/>
                    </a:lnTo>
                    <a:lnTo>
                      <a:pt x="6" y="438"/>
                    </a:lnTo>
                    <a:lnTo>
                      <a:pt x="9" y="427"/>
                    </a:lnTo>
                    <a:lnTo>
                      <a:pt x="9" y="415"/>
                    </a:lnTo>
                    <a:lnTo>
                      <a:pt x="11" y="405"/>
                    </a:lnTo>
                    <a:lnTo>
                      <a:pt x="13" y="394"/>
                    </a:lnTo>
                    <a:lnTo>
                      <a:pt x="16" y="384"/>
                    </a:lnTo>
                    <a:lnTo>
                      <a:pt x="18" y="374"/>
                    </a:lnTo>
                    <a:lnTo>
                      <a:pt x="21" y="363"/>
                    </a:lnTo>
                    <a:lnTo>
                      <a:pt x="24" y="354"/>
                    </a:lnTo>
                    <a:lnTo>
                      <a:pt x="27" y="343"/>
                    </a:lnTo>
                    <a:lnTo>
                      <a:pt x="30" y="333"/>
                    </a:lnTo>
                    <a:lnTo>
                      <a:pt x="34" y="324"/>
                    </a:lnTo>
                    <a:lnTo>
                      <a:pt x="40" y="313"/>
                    </a:lnTo>
                    <a:lnTo>
                      <a:pt x="44" y="304"/>
                    </a:lnTo>
                    <a:close/>
                  </a:path>
                </a:pathLst>
              </a:custGeom>
              <a:solidFill>
                <a:srgbClr val="2A40E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8" name="Freeform 11"/>
              <p:cNvSpPr>
                <a:spLocks/>
              </p:cNvSpPr>
              <p:nvPr/>
            </p:nvSpPr>
            <p:spPr bwMode="auto">
              <a:xfrm>
                <a:off x="1923" y="937"/>
                <a:ext cx="81" cy="29"/>
              </a:xfrm>
              <a:custGeom>
                <a:avLst/>
                <a:gdLst>
                  <a:gd name="T0" fmla="*/ 0 w 243"/>
                  <a:gd name="T1" fmla="*/ 0 h 87"/>
                  <a:gd name="T2" fmla="*/ 0 w 243"/>
                  <a:gd name="T3" fmla="*/ 0 h 87"/>
                  <a:gd name="T4" fmla="*/ 0 w 243"/>
                  <a:gd name="T5" fmla="*/ 0 h 87"/>
                  <a:gd name="T6" fmla="*/ 0 w 243"/>
                  <a:gd name="T7" fmla="*/ 0 h 87"/>
                  <a:gd name="T8" fmla="*/ 0 w 243"/>
                  <a:gd name="T9" fmla="*/ 0 h 87"/>
                  <a:gd name="T10" fmla="*/ 0 w 243"/>
                  <a:gd name="T11" fmla="*/ 0 h 87"/>
                  <a:gd name="T12" fmla="*/ 0 w 243"/>
                  <a:gd name="T13" fmla="*/ 0 h 87"/>
                  <a:gd name="T14" fmla="*/ 0 w 243"/>
                  <a:gd name="T15" fmla="*/ 0 h 87"/>
                  <a:gd name="T16" fmla="*/ 0 w 243"/>
                  <a:gd name="T17" fmla="*/ 0 h 87"/>
                  <a:gd name="T18" fmla="*/ 0 w 243"/>
                  <a:gd name="T19" fmla="*/ 0 h 87"/>
                  <a:gd name="T20" fmla="*/ 0 w 243"/>
                  <a:gd name="T21" fmla="*/ 0 h 87"/>
                  <a:gd name="T22" fmla="*/ 0 w 243"/>
                  <a:gd name="T23" fmla="*/ 0 h 87"/>
                  <a:gd name="T24" fmla="*/ 0 w 243"/>
                  <a:gd name="T25" fmla="*/ 0 h 87"/>
                  <a:gd name="T26" fmla="*/ 0 w 243"/>
                  <a:gd name="T27" fmla="*/ 0 h 87"/>
                  <a:gd name="T28" fmla="*/ 0 w 243"/>
                  <a:gd name="T29" fmla="*/ 0 h 87"/>
                  <a:gd name="T30" fmla="*/ 0 w 243"/>
                  <a:gd name="T31" fmla="*/ 0 h 87"/>
                  <a:gd name="T32" fmla="*/ 0 w 243"/>
                  <a:gd name="T33" fmla="*/ 0 h 87"/>
                  <a:gd name="T34" fmla="*/ 0 w 243"/>
                  <a:gd name="T35" fmla="*/ 0 h 87"/>
                  <a:gd name="T36" fmla="*/ 0 w 243"/>
                  <a:gd name="T37" fmla="*/ 0 h 87"/>
                  <a:gd name="T38" fmla="*/ 0 w 243"/>
                  <a:gd name="T39" fmla="*/ 0 h 87"/>
                  <a:gd name="T40" fmla="*/ 0 w 243"/>
                  <a:gd name="T41" fmla="*/ 0 h 87"/>
                  <a:gd name="T42" fmla="*/ 0 w 243"/>
                  <a:gd name="T43" fmla="*/ 0 h 87"/>
                  <a:gd name="T44" fmla="*/ 0 w 243"/>
                  <a:gd name="T45" fmla="*/ 0 h 87"/>
                  <a:gd name="T46" fmla="*/ 0 w 243"/>
                  <a:gd name="T47" fmla="*/ 0 h 87"/>
                  <a:gd name="T48" fmla="*/ 0 w 243"/>
                  <a:gd name="T49" fmla="*/ 0 h 87"/>
                  <a:gd name="T50" fmla="*/ 0 w 243"/>
                  <a:gd name="T51" fmla="*/ 0 h 87"/>
                  <a:gd name="T52" fmla="*/ 0 w 243"/>
                  <a:gd name="T53" fmla="*/ 0 h 87"/>
                  <a:gd name="T54" fmla="*/ 0 w 243"/>
                  <a:gd name="T55" fmla="*/ 0 h 87"/>
                  <a:gd name="T56" fmla="*/ 0 w 243"/>
                  <a:gd name="T57" fmla="*/ 0 h 87"/>
                  <a:gd name="T58" fmla="*/ 0 w 243"/>
                  <a:gd name="T59" fmla="*/ 0 h 87"/>
                  <a:gd name="T60" fmla="*/ 0 w 243"/>
                  <a:gd name="T61" fmla="*/ 0 h 87"/>
                  <a:gd name="T62" fmla="*/ 0 w 243"/>
                  <a:gd name="T63" fmla="*/ 0 h 87"/>
                  <a:gd name="T64" fmla="*/ 0 w 243"/>
                  <a:gd name="T65" fmla="*/ 0 h 87"/>
                  <a:gd name="T66" fmla="*/ 0 w 243"/>
                  <a:gd name="T67" fmla="*/ 0 h 87"/>
                  <a:gd name="T68" fmla="*/ 0 w 243"/>
                  <a:gd name="T69" fmla="*/ 0 h 87"/>
                  <a:gd name="T70" fmla="*/ 0 w 243"/>
                  <a:gd name="T71" fmla="*/ 0 h 87"/>
                  <a:gd name="T72" fmla="*/ 0 w 243"/>
                  <a:gd name="T73" fmla="*/ 0 h 87"/>
                  <a:gd name="T74" fmla="*/ 0 w 243"/>
                  <a:gd name="T75" fmla="*/ 0 h 87"/>
                  <a:gd name="T76" fmla="*/ 0 w 243"/>
                  <a:gd name="T77" fmla="*/ 0 h 87"/>
                  <a:gd name="T78" fmla="*/ 0 w 243"/>
                  <a:gd name="T79" fmla="*/ 0 h 87"/>
                  <a:gd name="T80" fmla="*/ 0 w 243"/>
                  <a:gd name="T81" fmla="*/ 0 h 87"/>
                  <a:gd name="T82" fmla="*/ 0 w 243"/>
                  <a:gd name="T83" fmla="*/ 0 h 87"/>
                  <a:gd name="T84" fmla="*/ 0 w 243"/>
                  <a:gd name="T85" fmla="*/ 0 h 87"/>
                  <a:gd name="T86" fmla="*/ 0 w 243"/>
                  <a:gd name="T87" fmla="*/ 0 h 87"/>
                  <a:gd name="T88" fmla="*/ 0 w 243"/>
                  <a:gd name="T89" fmla="*/ 0 h 87"/>
                  <a:gd name="T90" fmla="*/ 0 w 243"/>
                  <a:gd name="T91" fmla="*/ 0 h 87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243"/>
                  <a:gd name="T139" fmla="*/ 0 h 87"/>
                  <a:gd name="T140" fmla="*/ 243 w 243"/>
                  <a:gd name="T141" fmla="*/ 87 h 87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243" h="87">
                    <a:moveTo>
                      <a:pt x="77" y="6"/>
                    </a:moveTo>
                    <a:lnTo>
                      <a:pt x="80" y="4"/>
                    </a:lnTo>
                    <a:lnTo>
                      <a:pt x="83" y="3"/>
                    </a:lnTo>
                    <a:lnTo>
                      <a:pt x="86" y="3"/>
                    </a:lnTo>
                    <a:lnTo>
                      <a:pt x="90" y="3"/>
                    </a:lnTo>
                    <a:lnTo>
                      <a:pt x="94" y="1"/>
                    </a:lnTo>
                    <a:lnTo>
                      <a:pt x="96" y="0"/>
                    </a:lnTo>
                    <a:lnTo>
                      <a:pt x="100" y="0"/>
                    </a:lnTo>
                    <a:lnTo>
                      <a:pt x="104" y="0"/>
                    </a:lnTo>
                    <a:lnTo>
                      <a:pt x="107" y="0"/>
                    </a:lnTo>
                    <a:lnTo>
                      <a:pt x="111" y="0"/>
                    </a:lnTo>
                    <a:lnTo>
                      <a:pt x="114" y="0"/>
                    </a:lnTo>
                    <a:lnTo>
                      <a:pt x="118" y="0"/>
                    </a:lnTo>
                    <a:lnTo>
                      <a:pt x="123" y="0"/>
                    </a:lnTo>
                    <a:lnTo>
                      <a:pt x="126" y="0"/>
                    </a:lnTo>
                    <a:lnTo>
                      <a:pt x="130" y="0"/>
                    </a:lnTo>
                    <a:lnTo>
                      <a:pt x="134" y="0"/>
                    </a:lnTo>
                    <a:lnTo>
                      <a:pt x="137" y="0"/>
                    </a:lnTo>
                    <a:lnTo>
                      <a:pt x="141" y="0"/>
                    </a:lnTo>
                    <a:lnTo>
                      <a:pt x="145" y="1"/>
                    </a:lnTo>
                    <a:lnTo>
                      <a:pt x="150" y="3"/>
                    </a:lnTo>
                    <a:lnTo>
                      <a:pt x="154" y="3"/>
                    </a:lnTo>
                    <a:lnTo>
                      <a:pt x="157" y="3"/>
                    </a:lnTo>
                    <a:lnTo>
                      <a:pt x="161" y="4"/>
                    </a:lnTo>
                    <a:lnTo>
                      <a:pt x="165" y="6"/>
                    </a:lnTo>
                    <a:lnTo>
                      <a:pt x="170" y="7"/>
                    </a:lnTo>
                    <a:lnTo>
                      <a:pt x="175" y="7"/>
                    </a:lnTo>
                    <a:lnTo>
                      <a:pt x="180" y="10"/>
                    </a:lnTo>
                    <a:lnTo>
                      <a:pt x="182" y="11"/>
                    </a:lnTo>
                    <a:lnTo>
                      <a:pt x="188" y="13"/>
                    </a:lnTo>
                    <a:lnTo>
                      <a:pt x="192" y="16"/>
                    </a:lnTo>
                    <a:lnTo>
                      <a:pt x="197" y="17"/>
                    </a:lnTo>
                    <a:lnTo>
                      <a:pt x="202" y="18"/>
                    </a:lnTo>
                    <a:lnTo>
                      <a:pt x="207" y="21"/>
                    </a:lnTo>
                    <a:lnTo>
                      <a:pt x="211" y="23"/>
                    </a:lnTo>
                    <a:lnTo>
                      <a:pt x="214" y="26"/>
                    </a:lnTo>
                    <a:lnTo>
                      <a:pt x="218" y="27"/>
                    </a:lnTo>
                    <a:lnTo>
                      <a:pt x="221" y="28"/>
                    </a:lnTo>
                    <a:lnTo>
                      <a:pt x="224" y="31"/>
                    </a:lnTo>
                    <a:lnTo>
                      <a:pt x="228" y="33"/>
                    </a:lnTo>
                    <a:lnTo>
                      <a:pt x="231" y="36"/>
                    </a:lnTo>
                    <a:lnTo>
                      <a:pt x="235" y="37"/>
                    </a:lnTo>
                    <a:lnTo>
                      <a:pt x="238" y="40"/>
                    </a:lnTo>
                    <a:lnTo>
                      <a:pt x="241" y="43"/>
                    </a:lnTo>
                    <a:lnTo>
                      <a:pt x="243" y="45"/>
                    </a:lnTo>
                    <a:lnTo>
                      <a:pt x="243" y="50"/>
                    </a:lnTo>
                    <a:lnTo>
                      <a:pt x="241" y="54"/>
                    </a:lnTo>
                    <a:lnTo>
                      <a:pt x="238" y="55"/>
                    </a:lnTo>
                    <a:lnTo>
                      <a:pt x="235" y="57"/>
                    </a:lnTo>
                    <a:lnTo>
                      <a:pt x="232" y="58"/>
                    </a:lnTo>
                    <a:lnTo>
                      <a:pt x="228" y="60"/>
                    </a:lnTo>
                    <a:lnTo>
                      <a:pt x="222" y="60"/>
                    </a:lnTo>
                    <a:lnTo>
                      <a:pt x="216" y="60"/>
                    </a:lnTo>
                    <a:lnTo>
                      <a:pt x="214" y="60"/>
                    </a:lnTo>
                    <a:lnTo>
                      <a:pt x="211" y="60"/>
                    </a:lnTo>
                    <a:lnTo>
                      <a:pt x="208" y="60"/>
                    </a:lnTo>
                    <a:lnTo>
                      <a:pt x="205" y="58"/>
                    </a:lnTo>
                    <a:lnTo>
                      <a:pt x="202" y="57"/>
                    </a:lnTo>
                    <a:lnTo>
                      <a:pt x="198" y="57"/>
                    </a:lnTo>
                    <a:lnTo>
                      <a:pt x="194" y="55"/>
                    </a:lnTo>
                    <a:lnTo>
                      <a:pt x="191" y="54"/>
                    </a:lnTo>
                    <a:lnTo>
                      <a:pt x="188" y="54"/>
                    </a:lnTo>
                    <a:lnTo>
                      <a:pt x="184" y="53"/>
                    </a:lnTo>
                    <a:lnTo>
                      <a:pt x="181" y="53"/>
                    </a:lnTo>
                    <a:lnTo>
                      <a:pt x="177" y="51"/>
                    </a:lnTo>
                    <a:lnTo>
                      <a:pt x="174" y="50"/>
                    </a:lnTo>
                    <a:lnTo>
                      <a:pt x="168" y="50"/>
                    </a:lnTo>
                    <a:lnTo>
                      <a:pt x="164" y="47"/>
                    </a:lnTo>
                    <a:lnTo>
                      <a:pt x="161" y="47"/>
                    </a:lnTo>
                    <a:lnTo>
                      <a:pt x="157" y="47"/>
                    </a:lnTo>
                    <a:lnTo>
                      <a:pt x="151" y="45"/>
                    </a:lnTo>
                    <a:lnTo>
                      <a:pt x="148" y="45"/>
                    </a:lnTo>
                    <a:lnTo>
                      <a:pt x="143" y="47"/>
                    </a:lnTo>
                    <a:lnTo>
                      <a:pt x="138" y="47"/>
                    </a:lnTo>
                    <a:lnTo>
                      <a:pt x="133" y="47"/>
                    </a:lnTo>
                    <a:lnTo>
                      <a:pt x="128" y="47"/>
                    </a:lnTo>
                    <a:lnTo>
                      <a:pt x="124" y="50"/>
                    </a:lnTo>
                    <a:lnTo>
                      <a:pt x="118" y="51"/>
                    </a:lnTo>
                    <a:lnTo>
                      <a:pt x="113" y="53"/>
                    </a:lnTo>
                    <a:lnTo>
                      <a:pt x="108" y="54"/>
                    </a:lnTo>
                    <a:lnTo>
                      <a:pt x="103" y="57"/>
                    </a:lnTo>
                    <a:lnTo>
                      <a:pt x="100" y="58"/>
                    </a:lnTo>
                    <a:lnTo>
                      <a:pt x="97" y="60"/>
                    </a:lnTo>
                    <a:lnTo>
                      <a:pt x="94" y="60"/>
                    </a:lnTo>
                    <a:lnTo>
                      <a:pt x="93" y="63"/>
                    </a:lnTo>
                    <a:lnTo>
                      <a:pt x="86" y="64"/>
                    </a:lnTo>
                    <a:lnTo>
                      <a:pt x="81" y="67"/>
                    </a:lnTo>
                    <a:lnTo>
                      <a:pt x="76" y="68"/>
                    </a:lnTo>
                    <a:lnTo>
                      <a:pt x="72" y="71"/>
                    </a:lnTo>
                    <a:lnTo>
                      <a:pt x="67" y="71"/>
                    </a:lnTo>
                    <a:lnTo>
                      <a:pt x="63" y="74"/>
                    </a:lnTo>
                    <a:lnTo>
                      <a:pt x="57" y="75"/>
                    </a:lnTo>
                    <a:lnTo>
                      <a:pt x="53" y="78"/>
                    </a:lnTo>
                    <a:lnTo>
                      <a:pt x="49" y="78"/>
                    </a:lnTo>
                    <a:lnTo>
                      <a:pt x="46" y="81"/>
                    </a:lnTo>
                    <a:lnTo>
                      <a:pt x="42" y="81"/>
                    </a:lnTo>
                    <a:lnTo>
                      <a:pt x="39" y="84"/>
                    </a:lnTo>
                    <a:lnTo>
                      <a:pt x="36" y="84"/>
                    </a:lnTo>
                    <a:lnTo>
                      <a:pt x="32" y="85"/>
                    </a:lnTo>
                    <a:lnTo>
                      <a:pt x="29" y="85"/>
                    </a:lnTo>
                    <a:lnTo>
                      <a:pt x="26" y="87"/>
                    </a:lnTo>
                    <a:lnTo>
                      <a:pt x="23" y="87"/>
                    </a:lnTo>
                    <a:lnTo>
                      <a:pt x="20" y="87"/>
                    </a:lnTo>
                    <a:lnTo>
                      <a:pt x="15" y="87"/>
                    </a:lnTo>
                    <a:lnTo>
                      <a:pt x="10" y="85"/>
                    </a:lnTo>
                    <a:lnTo>
                      <a:pt x="6" y="82"/>
                    </a:lnTo>
                    <a:lnTo>
                      <a:pt x="3" y="80"/>
                    </a:lnTo>
                    <a:lnTo>
                      <a:pt x="2" y="75"/>
                    </a:lnTo>
                    <a:lnTo>
                      <a:pt x="0" y="71"/>
                    </a:lnTo>
                    <a:lnTo>
                      <a:pt x="0" y="68"/>
                    </a:lnTo>
                    <a:lnTo>
                      <a:pt x="0" y="65"/>
                    </a:lnTo>
                    <a:lnTo>
                      <a:pt x="0" y="63"/>
                    </a:lnTo>
                    <a:lnTo>
                      <a:pt x="0" y="60"/>
                    </a:lnTo>
                    <a:lnTo>
                      <a:pt x="2" y="54"/>
                    </a:lnTo>
                    <a:lnTo>
                      <a:pt x="5" y="50"/>
                    </a:lnTo>
                    <a:lnTo>
                      <a:pt x="9" y="44"/>
                    </a:lnTo>
                    <a:lnTo>
                      <a:pt x="12" y="40"/>
                    </a:lnTo>
                    <a:lnTo>
                      <a:pt x="15" y="37"/>
                    </a:lnTo>
                    <a:lnTo>
                      <a:pt x="18" y="36"/>
                    </a:lnTo>
                    <a:lnTo>
                      <a:pt x="20" y="33"/>
                    </a:lnTo>
                    <a:lnTo>
                      <a:pt x="23" y="31"/>
                    </a:lnTo>
                    <a:lnTo>
                      <a:pt x="26" y="28"/>
                    </a:lnTo>
                    <a:lnTo>
                      <a:pt x="29" y="26"/>
                    </a:lnTo>
                    <a:lnTo>
                      <a:pt x="32" y="24"/>
                    </a:lnTo>
                    <a:lnTo>
                      <a:pt x="36" y="23"/>
                    </a:lnTo>
                    <a:lnTo>
                      <a:pt x="39" y="21"/>
                    </a:lnTo>
                    <a:lnTo>
                      <a:pt x="42" y="18"/>
                    </a:lnTo>
                    <a:lnTo>
                      <a:pt x="46" y="17"/>
                    </a:lnTo>
                    <a:lnTo>
                      <a:pt x="49" y="16"/>
                    </a:lnTo>
                    <a:lnTo>
                      <a:pt x="52" y="14"/>
                    </a:lnTo>
                    <a:lnTo>
                      <a:pt x="56" y="13"/>
                    </a:lnTo>
                    <a:lnTo>
                      <a:pt x="59" y="10"/>
                    </a:lnTo>
                    <a:lnTo>
                      <a:pt x="64" y="10"/>
                    </a:lnTo>
                    <a:lnTo>
                      <a:pt x="67" y="7"/>
                    </a:lnTo>
                    <a:lnTo>
                      <a:pt x="70" y="7"/>
                    </a:lnTo>
                    <a:lnTo>
                      <a:pt x="73" y="6"/>
                    </a:lnTo>
                    <a:lnTo>
                      <a:pt x="77" y="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9" name="Freeform 12"/>
              <p:cNvSpPr>
                <a:spLocks/>
              </p:cNvSpPr>
              <p:nvPr/>
            </p:nvSpPr>
            <p:spPr bwMode="auto">
              <a:xfrm>
                <a:off x="2190" y="1213"/>
                <a:ext cx="34" cy="110"/>
              </a:xfrm>
              <a:custGeom>
                <a:avLst/>
                <a:gdLst>
                  <a:gd name="T0" fmla="*/ 0 w 102"/>
                  <a:gd name="T1" fmla="*/ 0 h 330"/>
                  <a:gd name="T2" fmla="*/ 0 w 102"/>
                  <a:gd name="T3" fmla="*/ 0 h 330"/>
                  <a:gd name="T4" fmla="*/ 0 w 102"/>
                  <a:gd name="T5" fmla="*/ 0 h 330"/>
                  <a:gd name="T6" fmla="*/ 0 w 102"/>
                  <a:gd name="T7" fmla="*/ 0 h 330"/>
                  <a:gd name="T8" fmla="*/ 0 w 102"/>
                  <a:gd name="T9" fmla="*/ 0 h 330"/>
                  <a:gd name="T10" fmla="*/ 0 w 102"/>
                  <a:gd name="T11" fmla="*/ 0 h 330"/>
                  <a:gd name="T12" fmla="*/ 0 w 102"/>
                  <a:gd name="T13" fmla="*/ 0 h 330"/>
                  <a:gd name="T14" fmla="*/ 0 w 102"/>
                  <a:gd name="T15" fmla="*/ 0 h 330"/>
                  <a:gd name="T16" fmla="*/ 0 w 102"/>
                  <a:gd name="T17" fmla="*/ 0 h 330"/>
                  <a:gd name="T18" fmla="*/ 0 w 102"/>
                  <a:gd name="T19" fmla="*/ 0 h 330"/>
                  <a:gd name="T20" fmla="*/ 0 w 102"/>
                  <a:gd name="T21" fmla="*/ 0 h 330"/>
                  <a:gd name="T22" fmla="*/ 0 w 102"/>
                  <a:gd name="T23" fmla="*/ 0 h 330"/>
                  <a:gd name="T24" fmla="*/ 0 w 102"/>
                  <a:gd name="T25" fmla="*/ 0 h 330"/>
                  <a:gd name="T26" fmla="*/ 0 w 102"/>
                  <a:gd name="T27" fmla="*/ 0 h 330"/>
                  <a:gd name="T28" fmla="*/ 0 w 102"/>
                  <a:gd name="T29" fmla="*/ 0 h 330"/>
                  <a:gd name="T30" fmla="*/ 0 w 102"/>
                  <a:gd name="T31" fmla="*/ 0 h 330"/>
                  <a:gd name="T32" fmla="*/ 0 w 102"/>
                  <a:gd name="T33" fmla="*/ 0 h 330"/>
                  <a:gd name="T34" fmla="*/ 0 w 102"/>
                  <a:gd name="T35" fmla="*/ 0 h 330"/>
                  <a:gd name="T36" fmla="*/ 0 w 102"/>
                  <a:gd name="T37" fmla="*/ 0 h 330"/>
                  <a:gd name="T38" fmla="*/ 0 w 102"/>
                  <a:gd name="T39" fmla="*/ 0 h 330"/>
                  <a:gd name="T40" fmla="*/ 0 w 102"/>
                  <a:gd name="T41" fmla="*/ 0 h 330"/>
                  <a:gd name="T42" fmla="*/ 0 w 102"/>
                  <a:gd name="T43" fmla="*/ 0 h 330"/>
                  <a:gd name="T44" fmla="*/ 0 w 102"/>
                  <a:gd name="T45" fmla="*/ 0 h 330"/>
                  <a:gd name="T46" fmla="*/ 0 w 102"/>
                  <a:gd name="T47" fmla="*/ 0 h 330"/>
                  <a:gd name="T48" fmla="*/ 0 w 102"/>
                  <a:gd name="T49" fmla="*/ 0 h 330"/>
                  <a:gd name="T50" fmla="*/ 0 w 102"/>
                  <a:gd name="T51" fmla="*/ 0 h 330"/>
                  <a:gd name="T52" fmla="*/ 0 w 102"/>
                  <a:gd name="T53" fmla="*/ 0 h 330"/>
                  <a:gd name="T54" fmla="*/ 0 w 102"/>
                  <a:gd name="T55" fmla="*/ 0 h 330"/>
                  <a:gd name="T56" fmla="*/ 0 w 102"/>
                  <a:gd name="T57" fmla="*/ 0 h 330"/>
                  <a:gd name="T58" fmla="*/ 0 w 102"/>
                  <a:gd name="T59" fmla="*/ 0 h 330"/>
                  <a:gd name="T60" fmla="*/ 0 w 102"/>
                  <a:gd name="T61" fmla="*/ 0 h 330"/>
                  <a:gd name="T62" fmla="*/ 0 w 102"/>
                  <a:gd name="T63" fmla="*/ 0 h 330"/>
                  <a:gd name="T64" fmla="*/ 0 w 102"/>
                  <a:gd name="T65" fmla="*/ 0 h 330"/>
                  <a:gd name="T66" fmla="*/ 0 w 102"/>
                  <a:gd name="T67" fmla="*/ 0 h 330"/>
                  <a:gd name="T68" fmla="*/ 0 w 102"/>
                  <a:gd name="T69" fmla="*/ 0 h 330"/>
                  <a:gd name="T70" fmla="*/ 0 w 102"/>
                  <a:gd name="T71" fmla="*/ 0 h 330"/>
                  <a:gd name="T72" fmla="*/ 0 w 102"/>
                  <a:gd name="T73" fmla="*/ 0 h 330"/>
                  <a:gd name="T74" fmla="*/ 0 w 102"/>
                  <a:gd name="T75" fmla="*/ 0 h 330"/>
                  <a:gd name="T76" fmla="*/ 0 w 102"/>
                  <a:gd name="T77" fmla="*/ 0 h 330"/>
                  <a:gd name="T78" fmla="*/ 0 w 102"/>
                  <a:gd name="T79" fmla="*/ 0 h 330"/>
                  <a:gd name="T80" fmla="*/ 0 w 102"/>
                  <a:gd name="T81" fmla="*/ 0 h 330"/>
                  <a:gd name="T82" fmla="*/ 0 w 102"/>
                  <a:gd name="T83" fmla="*/ 0 h 330"/>
                  <a:gd name="T84" fmla="*/ 0 w 102"/>
                  <a:gd name="T85" fmla="*/ 0 h 330"/>
                  <a:gd name="T86" fmla="*/ 0 w 102"/>
                  <a:gd name="T87" fmla="*/ 0 h 330"/>
                  <a:gd name="T88" fmla="*/ 0 w 102"/>
                  <a:gd name="T89" fmla="*/ 0 h 330"/>
                  <a:gd name="T90" fmla="*/ 0 w 102"/>
                  <a:gd name="T91" fmla="*/ 0 h 330"/>
                  <a:gd name="T92" fmla="*/ 0 w 102"/>
                  <a:gd name="T93" fmla="*/ 0 h 330"/>
                  <a:gd name="T94" fmla="*/ 0 w 102"/>
                  <a:gd name="T95" fmla="*/ 0 h 330"/>
                  <a:gd name="T96" fmla="*/ 0 w 102"/>
                  <a:gd name="T97" fmla="*/ 0 h 330"/>
                  <a:gd name="T98" fmla="*/ 0 w 102"/>
                  <a:gd name="T99" fmla="*/ 0 h 330"/>
                  <a:gd name="T100" fmla="*/ 0 w 102"/>
                  <a:gd name="T101" fmla="*/ 0 h 330"/>
                  <a:gd name="T102" fmla="*/ 0 w 102"/>
                  <a:gd name="T103" fmla="*/ 0 h 330"/>
                  <a:gd name="T104" fmla="*/ 0 w 102"/>
                  <a:gd name="T105" fmla="*/ 0 h 330"/>
                  <a:gd name="T106" fmla="*/ 0 w 102"/>
                  <a:gd name="T107" fmla="*/ 0 h 330"/>
                  <a:gd name="T108" fmla="*/ 0 w 102"/>
                  <a:gd name="T109" fmla="*/ 0 h 330"/>
                  <a:gd name="T110" fmla="*/ 0 w 102"/>
                  <a:gd name="T111" fmla="*/ 0 h 330"/>
                  <a:gd name="T112" fmla="*/ 0 w 102"/>
                  <a:gd name="T113" fmla="*/ 0 h 330"/>
                  <a:gd name="T114" fmla="*/ 0 w 102"/>
                  <a:gd name="T115" fmla="*/ 0 h 330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102"/>
                  <a:gd name="T175" fmla="*/ 0 h 330"/>
                  <a:gd name="T176" fmla="*/ 102 w 102"/>
                  <a:gd name="T177" fmla="*/ 330 h 330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102" h="330">
                    <a:moveTo>
                      <a:pt x="18" y="99"/>
                    </a:moveTo>
                    <a:lnTo>
                      <a:pt x="18" y="102"/>
                    </a:lnTo>
                    <a:lnTo>
                      <a:pt x="18" y="105"/>
                    </a:lnTo>
                    <a:lnTo>
                      <a:pt x="18" y="109"/>
                    </a:lnTo>
                    <a:lnTo>
                      <a:pt x="20" y="112"/>
                    </a:lnTo>
                    <a:lnTo>
                      <a:pt x="20" y="116"/>
                    </a:lnTo>
                    <a:lnTo>
                      <a:pt x="21" y="119"/>
                    </a:lnTo>
                    <a:lnTo>
                      <a:pt x="21" y="125"/>
                    </a:lnTo>
                    <a:lnTo>
                      <a:pt x="21" y="129"/>
                    </a:lnTo>
                    <a:lnTo>
                      <a:pt x="21" y="132"/>
                    </a:lnTo>
                    <a:lnTo>
                      <a:pt x="21" y="136"/>
                    </a:lnTo>
                    <a:lnTo>
                      <a:pt x="21" y="140"/>
                    </a:lnTo>
                    <a:lnTo>
                      <a:pt x="21" y="145"/>
                    </a:lnTo>
                    <a:lnTo>
                      <a:pt x="21" y="150"/>
                    </a:lnTo>
                    <a:lnTo>
                      <a:pt x="21" y="155"/>
                    </a:lnTo>
                    <a:lnTo>
                      <a:pt x="21" y="159"/>
                    </a:lnTo>
                    <a:lnTo>
                      <a:pt x="23" y="163"/>
                    </a:lnTo>
                    <a:lnTo>
                      <a:pt x="21" y="168"/>
                    </a:lnTo>
                    <a:lnTo>
                      <a:pt x="21" y="172"/>
                    </a:lnTo>
                    <a:lnTo>
                      <a:pt x="21" y="177"/>
                    </a:lnTo>
                    <a:lnTo>
                      <a:pt x="21" y="182"/>
                    </a:lnTo>
                    <a:lnTo>
                      <a:pt x="20" y="187"/>
                    </a:lnTo>
                    <a:lnTo>
                      <a:pt x="20" y="190"/>
                    </a:lnTo>
                    <a:lnTo>
                      <a:pt x="20" y="196"/>
                    </a:lnTo>
                    <a:lnTo>
                      <a:pt x="20" y="200"/>
                    </a:lnTo>
                    <a:lnTo>
                      <a:pt x="18" y="206"/>
                    </a:lnTo>
                    <a:lnTo>
                      <a:pt x="18" y="210"/>
                    </a:lnTo>
                    <a:lnTo>
                      <a:pt x="18" y="214"/>
                    </a:lnTo>
                    <a:lnTo>
                      <a:pt x="18" y="219"/>
                    </a:lnTo>
                    <a:lnTo>
                      <a:pt x="18" y="224"/>
                    </a:lnTo>
                    <a:lnTo>
                      <a:pt x="18" y="227"/>
                    </a:lnTo>
                    <a:lnTo>
                      <a:pt x="18" y="233"/>
                    </a:lnTo>
                    <a:lnTo>
                      <a:pt x="18" y="239"/>
                    </a:lnTo>
                    <a:lnTo>
                      <a:pt x="17" y="243"/>
                    </a:lnTo>
                    <a:lnTo>
                      <a:pt x="17" y="246"/>
                    </a:lnTo>
                    <a:lnTo>
                      <a:pt x="15" y="250"/>
                    </a:lnTo>
                    <a:lnTo>
                      <a:pt x="15" y="254"/>
                    </a:lnTo>
                    <a:lnTo>
                      <a:pt x="15" y="259"/>
                    </a:lnTo>
                    <a:lnTo>
                      <a:pt x="15" y="263"/>
                    </a:lnTo>
                    <a:lnTo>
                      <a:pt x="15" y="267"/>
                    </a:lnTo>
                    <a:lnTo>
                      <a:pt x="17" y="271"/>
                    </a:lnTo>
                    <a:lnTo>
                      <a:pt x="17" y="274"/>
                    </a:lnTo>
                    <a:lnTo>
                      <a:pt x="17" y="278"/>
                    </a:lnTo>
                    <a:lnTo>
                      <a:pt x="17" y="281"/>
                    </a:lnTo>
                    <a:lnTo>
                      <a:pt x="17" y="287"/>
                    </a:lnTo>
                    <a:lnTo>
                      <a:pt x="17" y="290"/>
                    </a:lnTo>
                    <a:lnTo>
                      <a:pt x="18" y="293"/>
                    </a:lnTo>
                    <a:lnTo>
                      <a:pt x="18" y="296"/>
                    </a:lnTo>
                    <a:lnTo>
                      <a:pt x="18" y="300"/>
                    </a:lnTo>
                    <a:lnTo>
                      <a:pt x="18" y="303"/>
                    </a:lnTo>
                    <a:lnTo>
                      <a:pt x="20" y="305"/>
                    </a:lnTo>
                    <a:lnTo>
                      <a:pt x="21" y="308"/>
                    </a:lnTo>
                    <a:lnTo>
                      <a:pt x="23" y="310"/>
                    </a:lnTo>
                    <a:lnTo>
                      <a:pt x="25" y="315"/>
                    </a:lnTo>
                    <a:lnTo>
                      <a:pt x="28" y="320"/>
                    </a:lnTo>
                    <a:lnTo>
                      <a:pt x="31" y="323"/>
                    </a:lnTo>
                    <a:lnTo>
                      <a:pt x="34" y="325"/>
                    </a:lnTo>
                    <a:lnTo>
                      <a:pt x="40" y="327"/>
                    </a:lnTo>
                    <a:lnTo>
                      <a:pt x="44" y="328"/>
                    </a:lnTo>
                    <a:lnTo>
                      <a:pt x="48" y="328"/>
                    </a:lnTo>
                    <a:lnTo>
                      <a:pt x="54" y="330"/>
                    </a:lnTo>
                    <a:lnTo>
                      <a:pt x="58" y="328"/>
                    </a:lnTo>
                    <a:lnTo>
                      <a:pt x="62" y="328"/>
                    </a:lnTo>
                    <a:lnTo>
                      <a:pt x="65" y="327"/>
                    </a:lnTo>
                    <a:lnTo>
                      <a:pt x="69" y="325"/>
                    </a:lnTo>
                    <a:lnTo>
                      <a:pt x="72" y="324"/>
                    </a:lnTo>
                    <a:lnTo>
                      <a:pt x="77" y="323"/>
                    </a:lnTo>
                    <a:lnTo>
                      <a:pt x="79" y="320"/>
                    </a:lnTo>
                    <a:lnTo>
                      <a:pt x="82" y="317"/>
                    </a:lnTo>
                    <a:lnTo>
                      <a:pt x="85" y="314"/>
                    </a:lnTo>
                    <a:lnTo>
                      <a:pt x="87" y="311"/>
                    </a:lnTo>
                    <a:lnTo>
                      <a:pt x="89" y="308"/>
                    </a:lnTo>
                    <a:lnTo>
                      <a:pt x="91" y="304"/>
                    </a:lnTo>
                    <a:lnTo>
                      <a:pt x="92" y="300"/>
                    </a:lnTo>
                    <a:lnTo>
                      <a:pt x="95" y="297"/>
                    </a:lnTo>
                    <a:lnTo>
                      <a:pt x="95" y="293"/>
                    </a:lnTo>
                    <a:lnTo>
                      <a:pt x="96" y="288"/>
                    </a:lnTo>
                    <a:lnTo>
                      <a:pt x="98" y="283"/>
                    </a:lnTo>
                    <a:lnTo>
                      <a:pt x="99" y="278"/>
                    </a:lnTo>
                    <a:lnTo>
                      <a:pt x="99" y="274"/>
                    </a:lnTo>
                    <a:lnTo>
                      <a:pt x="99" y="270"/>
                    </a:lnTo>
                    <a:lnTo>
                      <a:pt x="101" y="266"/>
                    </a:lnTo>
                    <a:lnTo>
                      <a:pt x="102" y="260"/>
                    </a:lnTo>
                    <a:lnTo>
                      <a:pt x="102" y="256"/>
                    </a:lnTo>
                    <a:lnTo>
                      <a:pt x="102" y="250"/>
                    </a:lnTo>
                    <a:lnTo>
                      <a:pt x="102" y="244"/>
                    </a:lnTo>
                    <a:lnTo>
                      <a:pt x="102" y="240"/>
                    </a:lnTo>
                    <a:lnTo>
                      <a:pt x="102" y="236"/>
                    </a:lnTo>
                    <a:lnTo>
                      <a:pt x="102" y="230"/>
                    </a:lnTo>
                    <a:lnTo>
                      <a:pt x="101" y="226"/>
                    </a:lnTo>
                    <a:lnTo>
                      <a:pt x="101" y="222"/>
                    </a:lnTo>
                    <a:lnTo>
                      <a:pt x="99" y="219"/>
                    </a:lnTo>
                    <a:lnTo>
                      <a:pt x="99" y="216"/>
                    </a:lnTo>
                    <a:lnTo>
                      <a:pt x="99" y="213"/>
                    </a:lnTo>
                    <a:lnTo>
                      <a:pt x="99" y="210"/>
                    </a:lnTo>
                    <a:lnTo>
                      <a:pt x="98" y="207"/>
                    </a:lnTo>
                    <a:lnTo>
                      <a:pt x="96" y="204"/>
                    </a:lnTo>
                    <a:lnTo>
                      <a:pt x="96" y="200"/>
                    </a:lnTo>
                    <a:lnTo>
                      <a:pt x="96" y="197"/>
                    </a:lnTo>
                    <a:lnTo>
                      <a:pt x="95" y="193"/>
                    </a:lnTo>
                    <a:lnTo>
                      <a:pt x="95" y="189"/>
                    </a:lnTo>
                    <a:lnTo>
                      <a:pt x="94" y="185"/>
                    </a:lnTo>
                    <a:lnTo>
                      <a:pt x="94" y="182"/>
                    </a:lnTo>
                    <a:lnTo>
                      <a:pt x="92" y="176"/>
                    </a:lnTo>
                    <a:lnTo>
                      <a:pt x="91" y="172"/>
                    </a:lnTo>
                    <a:lnTo>
                      <a:pt x="89" y="168"/>
                    </a:lnTo>
                    <a:lnTo>
                      <a:pt x="89" y="163"/>
                    </a:lnTo>
                    <a:lnTo>
                      <a:pt x="88" y="159"/>
                    </a:lnTo>
                    <a:lnTo>
                      <a:pt x="87" y="153"/>
                    </a:lnTo>
                    <a:lnTo>
                      <a:pt x="85" y="149"/>
                    </a:lnTo>
                    <a:lnTo>
                      <a:pt x="84" y="143"/>
                    </a:lnTo>
                    <a:lnTo>
                      <a:pt x="82" y="139"/>
                    </a:lnTo>
                    <a:lnTo>
                      <a:pt x="81" y="135"/>
                    </a:lnTo>
                    <a:lnTo>
                      <a:pt x="79" y="129"/>
                    </a:lnTo>
                    <a:lnTo>
                      <a:pt x="78" y="125"/>
                    </a:lnTo>
                    <a:lnTo>
                      <a:pt x="77" y="119"/>
                    </a:lnTo>
                    <a:lnTo>
                      <a:pt x="74" y="113"/>
                    </a:lnTo>
                    <a:lnTo>
                      <a:pt x="74" y="109"/>
                    </a:lnTo>
                    <a:lnTo>
                      <a:pt x="71" y="104"/>
                    </a:lnTo>
                    <a:lnTo>
                      <a:pt x="71" y="99"/>
                    </a:lnTo>
                    <a:lnTo>
                      <a:pt x="68" y="94"/>
                    </a:lnTo>
                    <a:lnTo>
                      <a:pt x="67" y="89"/>
                    </a:lnTo>
                    <a:lnTo>
                      <a:pt x="65" y="85"/>
                    </a:lnTo>
                    <a:lnTo>
                      <a:pt x="64" y="79"/>
                    </a:lnTo>
                    <a:lnTo>
                      <a:pt x="62" y="75"/>
                    </a:lnTo>
                    <a:lnTo>
                      <a:pt x="61" y="69"/>
                    </a:lnTo>
                    <a:lnTo>
                      <a:pt x="58" y="65"/>
                    </a:lnTo>
                    <a:lnTo>
                      <a:pt x="57" y="61"/>
                    </a:lnTo>
                    <a:lnTo>
                      <a:pt x="55" y="57"/>
                    </a:lnTo>
                    <a:lnTo>
                      <a:pt x="54" y="52"/>
                    </a:lnTo>
                    <a:lnTo>
                      <a:pt x="52" y="48"/>
                    </a:lnTo>
                    <a:lnTo>
                      <a:pt x="50" y="44"/>
                    </a:lnTo>
                    <a:lnTo>
                      <a:pt x="48" y="38"/>
                    </a:lnTo>
                    <a:lnTo>
                      <a:pt x="45" y="35"/>
                    </a:lnTo>
                    <a:lnTo>
                      <a:pt x="44" y="31"/>
                    </a:lnTo>
                    <a:lnTo>
                      <a:pt x="42" y="28"/>
                    </a:lnTo>
                    <a:lnTo>
                      <a:pt x="41" y="25"/>
                    </a:lnTo>
                    <a:lnTo>
                      <a:pt x="40" y="22"/>
                    </a:lnTo>
                    <a:lnTo>
                      <a:pt x="38" y="20"/>
                    </a:lnTo>
                    <a:lnTo>
                      <a:pt x="37" y="17"/>
                    </a:lnTo>
                    <a:lnTo>
                      <a:pt x="34" y="14"/>
                    </a:lnTo>
                    <a:lnTo>
                      <a:pt x="34" y="10"/>
                    </a:lnTo>
                    <a:lnTo>
                      <a:pt x="31" y="8"/>
                    </a:lnTo>
                    <a:lnTo>
                      <a:pt x="28" y="4"/>
                    </a:lnTo>
                    <a:lnTo>
                      <a:pt x="27" y="3"/>
                    </a:lnTo>
                    <a:lnTo>
                      <a:pt x="20" y="0"/>
                    </a:lnTo>
                    <a:lnTo>
                      <a:pt x="15" y="3"/>
                    </a:lnTo>
                    <a:lnTo>
                      <a:pt x="11" y="5"/>
                    </a:lnTo>
                    <a:lnTo>
                      <a:pt x="8" y="10"/>
                    </a:lnTo>
                    <a:lnTo>
                      <a:pt x="4" y="14"/>
                    </a:lnTo>
                    <a:lnTo>
                      <a:pt x="3" y="17"/>
                    </a:lnTo>
                    <a:lnTo>
                      <a:pt x="0" y="20"/>
                    </a:lnTo>
                    <a:lnTo>
                      <a:pt x="0" y="22"/>
                    </a:lnTo>
                    <a:lnTo>
                      <a:pt x="0" y="28"/>
                    </a:lnTo>
                    <a:lnTo>
                      <a:pt x="0" y="31"/>
                    </a:lnTo>
                    <a:lnTo>
                      <a:pt x="0" y="34"/>
                    </a:lnTo>
                    <a:lnTo>
                      <a:pt x="0" y="35"/>
                    </a:lnTo>
                    <a:lnTo>
                      <a:pt x="0" y="38"/>
                    </a:lnTo>
                    <a:lnTo>
                      <a:pt x="1" y="42"/>
                    </a:lnTo>
                    <a:lnTo>
                      <a:pt x="3" y="45"/>
                    </a:lnTo>
                    <a:lnTo>
                      <a:pt x="3" y="48"/>
                    </a:lnTo>
                    <a:lnTo>
                      <a:pt x="4" y="51"/>
                    </a:lnTo>
                    <a:lnTo>
                      <a:pt x="6" y="57"/>
                    </a:lnTo>
                    <a:lnTo>
                      <a:pt x="7" y="59"/>
                    </a:lnTo>
                    <a:lnTo>
                      <a:pt x="8" y="65"/>
                    </a:lnTo>
                    <a:lnTo>
                      <a:pt x="10" y="69"/>
                    </a:lnTo>
                    <a:lnTo>
                      <a:pt x="11" y="75"/>
                    </a:lnTo>
                    <a:lnTo>
                      <a:pt x="11" y="78"/>
                    </a:lnTo>
                    <a:lnTo>
                      <a:pt x="13" y="79"/>
                    </a:lnTo>
                    <a:lnTo>
                      <a:pt x="13" y="82"/>
                    </a:lnTo>
                    <a:lnTo>
                      <a:pt x="14" y="85"/>
                    </a:lnTo>
                    <a:lnTo>
                      <a:pt x="14" y="88"/>
                    </a:lnTo>
                    <a:lnTo>
                      <a:pt x="15" y="91"/>
                    </a:lnTo>
                    <a:lnTo>
                      <a:pt x="15" y="95"/>
                    </a:lnTo>
                    <a:lnTo>
                      <a:pt x="18" y="9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0" name="Freeform 13"/>
              <p:cNvSpPr>
                <a:spLocks/>
              </p:cNvSpPr>
              <p:nvPr/>
            </p:nvSpPr>
            <p:spPr bwMode="auto">
              <a:xfrm>
                <a:off x="1899" y="1341"/>
                <a:ext cx="50" cy="73"/>
              </a:xfrm>
              <a:custGeom>
                <a:avLst/>
                <a:gdLst>
                  <a:gd name="T0" fmla="*/ 0 w 151"/>
                  <a:gd name="T1" fmla="*/ 0 h 219"/>
                  <a:gd name="T2" fmla="*/ 0 w 151"/>
                  <a:gd name="T3" fmla="*/ 0 h 219"/>
                  <a:gd name="T4" fmla="*/ 0 w 151"/>
                  <a:gd name="T5" fmla="*/ 0 h 219"/>
                  <a:gd name="T6" fmla="*/ 0 w 151"/>
                  <a:gd name="T7" fmla="*/ 0 h 219"/>
                  <a:gd name="T8" fmla="*/ 0 w 151"/>
                  <a:gd name="T9" fmla="*/ 0 h 219"/>
                  <a:gd name="T10" fmla="*/ 0 w 151"/>
                  <a:gd name="T11" fmla="*/ 0 h 219"/>
                  <a:gd name="T12" fmla="*/ 0 w 151"/>
                  <a:gd name="T13" fmla="*/ 0 h 219"/>
                  <a:gd name="T14" fmla="*/ 0 w 151"/>
                  <a:gd name="T15" fmla="*/ 0 h 219"/>
                  <a:gd name="T16" fmla="*/ 0 w 151"/>
                  <a:gd name="T17" fmla="*/ 0 h 219"/>
                  <a:gd name="T18" fmla="*/ 0 w 151"/>
                  <a:gd name="T19" fmla="*/ 0 h 219"/>
                  <a:gd name="T20" fmla="*/ 0 w 151"/>
                  <a:gd name="T21" fmla="*/ 0 h 219"/>
                  <a:gd name="T22" fmla="*/ 0 w 151"/>
                  <a:gd name="T23" fmla="*/ 0 h 219"/>
                  <a:gd name="T24" fmla="*/ 0 w 151"/>
                  <a:gd name="T25" fmla="*/ 0 h 219"/>
                  <a:gd name="T26" fmla="*/ 0 w 151"/>
                  <a:gd name="T27" fmla="*/ 0 h 219"/>
                  <a:gd name="T28" fmla="*/ 0 w 151"/>
                  <a:gd name="T29" fmla="*/ 0 h 219"/>
                  <a:gd name="T30" fmla="*/ 0 w 151"/>
                  <a:gd name="T31" fmla="*/ 0 h 219"/>
                  <a:gd name="T32" fmla="*/ 0 w 151"/>
                  <a:gd name="T33" fmla="*/ 0 h 219"/>
                  <a:gd name="T34" fmla="*/ 0 w 151"/>
                  <a:gd name="T35" fmla="*/ 0 h 219"/>
                  <a:gd name="T36" fmla="*/ 0 w 151"/>
                  <a:gd name="T37" fmla="*/ 0 h 219"/>
                  <a:gd name="T38" fmla="*/ 0 w 151"/>
                  <a:gd name="T39" fmla="*/ 0 h 219"/>
                  <a:gd name="T40" fmla="*/ 0 w 151"/>
                  <a:gd name="T41" fmla="*/ 0 h 219"/>
                  <a:gd name="T42" fmla="*/ 0 w 151"/>
                  <a:gd name="T43" fmla="*/ 0 h 219"/>
                  <a:gd name="T44" fmla="*/ 0 w 151"/>
                  <a:gd name="T45" fmla="*/ 0 h 219"/>
                  <a:gd name="T46" fmla="*/ 0 w 151"/>
                  <a:gd name="T47" fmla="*/ 0 h 219"/>
                  <a:gd name="T48" fmla="*/ 0 w 151"/>
                  <a:gd name="T49" fmla="*/ 0 h 219"/>
                  <a:gd name="T50" fmla="*/ 0 w 151"/>
                  <a:gd name="T51" fmla="*/ 0 h 219"/>
                  <a:gd name="T52" fmla="*/ 0 w 151"/>
                  <a:gd name="T53" fmla="*/ 0 h 219"/>
                  <a:gd name="T54" fmla="*/ 0 w 151"/>
                  <a:gd name="T55" fmla="*/ 0 h 219"/>
                  <a:gd name="T56" fmla="*/ 0 w 151"/>
                  <a:gd name="T57" fmla="*/ 0 h 219"/>
                  <a:gd name="T58" fmla="*/ 0 w 151"/>
                  <a:gd name="T59" fmla="*/ 0 h 219"/>
                  <a:gd name="T60" fmla="*/ 0 w 151"/>
                  <a:gd name="T61" fmla="*/ 0 h 219"/>
                  <a:gd name="T62" fmla="*/ 0 w 151"/>
                  <a:gd name="T63" fmla="*/ 0 h 219"/>
                  <a:gd name="T64" fmla="*/ 0 w 151"/>
                  <a:gd name="T65" fmla="*/ 0 h 219"/>
                  <a:gd name="T66" fmla="*/ 0 w 151"/>
                  <a:gd name="T67" fmla="*/ 0 h 219"/>
                  <a:gd name="T68" fmla="*/ 0 w 151"/>
                  <a:gd name="T69" fmla="*/ 0 h 219"/>
                  <a:gd name="T70" fmla="*/ 0 w 151"/>
                  <a:gd name="T71" fmla="*/ 0 h 219"/>
                  <a:gd name="T72" fmla="*/ 0 w 151"/>
                  <a:gd name="T73" fmla="*/ 0 h 219"/>
                  <a:gd name="T74" fmla="*/ 0 w 151"/>
                  <a:gd name="T75" fmla="*/ 0 h 219"/>
                  <a:gd name="T76" fmla="*/ 0 w 151"/>
                  <a:gd name="T77" fmla="*/ 0 h 219"/>
                  <a:gd name="T78" fmla="*/ 0 w 151"/>
                  <a:gd name="T79" fmla="*/ 0 h 219"/>
                  <a:gd name="T80" fmla="*/ 0 w 151"/>
                  <a:gd name="T81" fmla="*/ 0 h 219"/>
                  <a:gd name="T82" fmla="*/ 0 w 151"/>
                  <a:gd name="T83" fmla="*/ 0 h 219"/>
                  <a:gd name="T84" fmla="*/ 0 w 151"/>
                  <a:gd name="T85" fmla="*/ 0 h 219"/>
                  <a:gd name="T86" fmla="*/ 0 w 151"/>
                  <a:gd name="T87" fmla="*/ 0 h 21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51"/>
                  <a:gd name="T133" fmla="*/ 0 h 219"/>
                  <a:gd name="T134" fmla="*/ 151 w 151"/>
                  <a:gd name="T135" fmla="*/ 219 h 21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51" h="219">
                    <a:moveTo>
                      <a:pt x="2" y="66"/>
                    </a:moveTo>
                    <a:lnTo>
                      <a:pt x="2" y="67"/>
                    </a:lnTo>
                    <a:lnTo>
                      <a:pt x="3" y="70"/>
                    </a:lnTo>
                    <a:lnTo>
                      <a:pt x="5" y="74"/>
                    </a:lnTo>
                    <a:lnTo>
                      <a:pt x="5" y="77"/>
                    </a:lnTo>
                    <a:lnTo>
                      <a:pt x="8" y="80"/>
                    </a:lnTo>
                    <a:lnTo>
                      <a:pt x="9" y="85"/>
                    </a:lnTo>
                    <a:lnTo>
                      <a:pt x="10" y="90"/>
                    </a:lnTo>
                    <a:lnTo>
                      <a:pt x="13" y="94"/>
                    </a:lnTo>
                    <a:lnTo>
                      <a:pt x="13" y="98"/>
                    </a:lnTo>
                    <a:lnTo>
                      <a:pt x="16" y="103"/>
                    </a:lnTo>
                    <a:lnTo>
                      <a:pt x="19" y="108"/>
                    </a:lnTo>
                    <a:lnTo>
                      <a:pt x="22" y="114"/>
                    </a:lnTo>
                    <a:lnTo>
                      <a:pt x="25" y="118"/>
                    </a:lnTo>
                    <a:lnTo>
                      <a:pt x="27" y="124"/>
                    </a:lnTo>
                    <a:lnTo>
                      <a:pt x="29" y="127"/>
                    </a:lnTo>
                    <a:lnTo>
                      <a:pt x="30" y="130"/>
                    </a:lnTo>
                    <a:lnTo>
                      <a:pt x="32" y="132"/>
                    </a:lnTo>
                    <a:lnTo>
                      <a:pt x="33" y="135"/>
                    </a:lnTo>
                    <a:lnTo>
                      <a:pt x="36" y="139"/>
                    </a:lnTo>
                    <a:lnTo>
                      <a:pt x="39" y="145"/>
                    </a:lnTo>
                    <a:lnTo>
                      <a:pt x="42" y="151"/>
                    </a:lnTo>
                    <a:lnTo>
                      <a:pt x="44" y="157"/>
                    </a:lnTo>
                    <a:lnTo>
                      <a:pt x="47" y="161"/>
                    </a:lnTo>
                    <a:lnTo>
                      <a:pt x="52" y="167"/>
                    </a:lnTo>
                    <a:lnTo>
                      <a:pt x="54" y="171"/>
                    </a:lnTo>
                    <a:lnTo>
                      <a:pt x="57" y="176"/>
                    </a:lnTo>
                    <a:lnTo>
                      <a:pt x="60" y="179"/>
                    </a:lnTo>
                    <a:lnTo>
                      <a:pt x="63" y="185"/>
                    </a:lnTo>
                    <a:lnTo>
                      <a:pt x="66" y="188"/>
                    </a:lnTo>
                    <a:lnTo>
                      <a:pt x="70" y="192"/>
                    </a:lnTo>
                    <a:lnTo>
                      <a:pt x="73" y="195"/>
                    </a:lnTo>
                    <a:lnTo>
                      <a:pt x="76" y="198"/>
                    </a:lnTo>
                    <a:lnTo>
                      <a:pt x="80" y="202"/>
                    </a:lnTo>
                    <a:lnTo>
                      <a:pt x="83" y="205"/>
                    </a:lnTo>
                    <a:lnTo>
                      <a:pt x="86" y="205"/>
                    </a:lnTo>
                    <a:lnTo>
                      <a:pt x="89" y="208"/>
                    </a:lnTo>
                    <a:lnTo>
                      <a:pt x="91" y="209"/>
                    </a:lnTo>
                    <a:lnTo>
                      <a:pt x="96" y="211"/>
                    </a:lnTo>
                    <a:lnTo>
                      <a:pt x="98" y="212"/>
                    </a:lnTo>
                    <a:lnTo>
                      <a:pt x="103" y="213"/>
                    </a:lnTo>
                    <a:lnTo>
                      <a:pt x="106" y="215"/>
                    </a:lnTo>
                    <a:lnTo>
                      <a:pt x="110" y="216"/>
                    </a:lnTo>
                    <a:lnTo>
                      <a:pt x="113" y="216"/>
                    </a:lnTo>
                    <a:lnTo>
                      <a:pt x="117" y="218"/>
                    </a:lnTo>
                    <a:lnTo>
                      <a:pt x="120" y="218"/>
                    </a:lnTo>
                    <a:lnTo>
                      <a:pt x="123" y="219"/>
                    </a:lnTo>
                    <a:lnTo>
                      <a:pt x="125" y="219"/>
                    </a:lnTo>
                    <a:lnTo>
                      <a:pt x="128" y="219"/>
                    </a:lnTo>
                    <a:lnTo>
                      <a:pt x="133" y="219"/>
                    </a:lnTo>
                    <a:lnTo>
                      <a:pt x="135" y="219"/>
                    </a:lnTo>
                    <a:lnTo>
                      <a:pt x="141" y="218"/>
                    </a:lnTo>
                    <a:lnTo>
                      <a:pt x="145" y="216"/>
                    </a:lnTo>
                    <a:lnTo>
                      <a:pt x="148" y="213"/>
                    </a:lnTo>
                    <a:lnTo>
                      <a:pt x="150" y="211"/>
                    </a:lnTo>
                    <a:lnTo>
                      <a:pt x="151" y="205"/>
                    </a:lnTo>
                    <a:lnTo>
                      <a:pt x="150" y="202"/>
                    </a:lnTo>
                    <a:lnTo>
                      <a:pt x="150" y="198"/>
                    </a:lnTo>
                    <a:lnTo>
                      <a:pt x="147" y="195"/>
                    </a:lnTo>
                    <a:lnTo>
                      <a:pt x="145" y="192"/>
                    </a:lnTo>
                    <a:lnTo>
                      <a:pt x="144" y="189"/>
                    </a:lnTo>
                    <a:lnTo>
                      <a:pt x="141" y="185"/>
                    </a:lnTo>
                    <a:lnTo>
                      <a:pt x="137" y="181"/>
                    </a:lnTo>
                    <a:lnTo>
                      <a:pt x="135" y="178"/>
                    </a:lnTo>
                    <a:lnTo>
                      <a:pt x="134" y="175"/>
                    </a:lnTo>
                    <a:lnTo>
                      <a:pt x="133" y="172"/>
                    </a:lnTo>
                    <a:lnTo>
                      <a:pt x="131" y="169"/>
                    </a:lnTo>
                    <a:lnTo>
                      <a:pt x="128" y="167"/>
                    </a:lnTo>
                    <a:lnTo>
                      <a:pt x="127" y="164"/>
                    </a:lnTo>
                    <a:lnTo>
                      <a:pt x="125" y="159"/>
                    </a:lnTo>
                    <a:lnTo>
                      <a:pt x="123" y="157"/>
                    </a:lnTo>
                    <a:lnTo>
                      <a:pt x="121" y="152"/>
                    </a:lnTo>
                    <a:lnTo>
                      <a:pt x="120" y="149"/>
                    </a:lnTo>
                    <a:lnTo>
                      <a:pt x="118" y="145"/>
                    </a:lnTo>
                    <a:lnTo>
                      <a:pt x="117" y="141"/>
                    </a:lnTo>
                    <a:lnTo>
                      <a:pt x="114" y="138"/>
                    </a:lnTo>
                    <a:lnTo>
                      <a:pt x="113" y="134"/>
                    </a:lnTo>
                    <a:lnTo>
                      <a:pt x="110" y="130"/>
                    </a:lnTo>
                    <a:lnTo>
                      <a:pt x="108" y="125"/>
                    </a:lnTo>
                    <a:lnTo>
                      <a:pt x="106" y="121"/>
                    </a:lnTo>
                    <a:lnTo>
                      <a:pt x="104" y="117"/>
                    </a:lnTo>
                    <a:lnTo>
                      <a:pt x="101" y="112"/>
                    </a:lnTo>
                    <a:lnTo>
                      <a:pt x="100" y="108"/>
                    </a:lnTo>
                    <a:lnTo>
                      <a:pt x="97" y="104"/>
                    </a:lnTo>
                    <a:lnTo>
                      <a:pt x="96" y="101"/>
                    </a:lnTo>
                    <a:lnTo>
                      <a:pt x="94" y="95"/>
                    </a:lnTo>
                    <a:lnTo>
                      <a:pt x="91" y="93"/>
                    </a:lnTo>
                    <a:lnTo>
                      <a:pt x="89" y="87"/>
                    </a:lnTo>
                    <a:lnTo>
                      <a:pt x="89" y="83"/>
                    </a:lnTo>
                    <a:lnTo>
                      <a:pt x="86" y="78"/>
                    </a:lnTo>
                    <a:lnTo>
                      <a:pt x="83" y="75"/>
                    </a:lnTo>
                    <a:lnTo>
                      <a:pt x="81" y="71"/>
                    </a:lnTo>
                    <a:lnTo>
                      <a:pt x="80" y="67"/>
                    </a:lnTo>
                    <a:lnTo>
                      <a:pt x="76" y="61"/>
                    </a:lnTo>
                    <a:lnTo>
                      <a:pt x="74" y="58"/>
                    </a:lnTo>
                    <a:lnTo>
                      <a:pt x="73" y="54"/>
                    </a:lnTo>
                    <a:lnTo>
                      <a:pt x="71" y="51"/>
                    </a:lnTo>
                    <a:lnTo>
                      <a:pt x="69" y="47"/>
                    </a:lnTo>
                    <a:lnTo>
                      <a:pt x="67" y="44"/>
                    </a:lnTo>
                    <a:lnTo>
                      <a:pt x="64" y="40"/>
                    </a:lnTo>
                    <a:lnTo>
                      <a:pt x="63" y="36"/>
                    </a:lnTo>
                    <a:lnTo>
                      <a:pt x="60" y="33"/>
                    </a:lnTo>
                    <a:lnTo>
                      <a:pt x="59" y="30"/>
                    </a:lnTo>
                    <a:lnTo>
                      <a:pt x="57" y="27"/>
                    </a:lnTo>
                    <a:lnTo>
                      <a:pt x="54" y="24"/>
                    </a:lnTo>
                    <a:lnTo>
                      <a:pt x="53" y="21"/>
                    </a:lnTo>
                    <a:lnTo>
                      <a:pt x="52" y="20"/>
                    </a:lnTo>
                    <a:lnTo>
                      <a:pt x="47" y="14"/>
                    </a:lnTo>
                    <a:lnTo>
                      <a:pt x="44" y="9"/>
                    </a:lnTo>
                    <a:lnTo>
                      <a:pt x="42" y="6"/>
                    </a:lnTo>
                    <a:lnTo>
                      <a:pt x="39" y="3"/>
                    </a:lnTo>
                    <a:lnTo>
                      <a:pt x="36" y="2"/>
                    </a:lnTo>
                    <a:lnTo>
                      <a:pt x="33" y="0"/>
                    </a:lnTo>
                    <a:lnTo>
                      <a:pt x="30" y="0"/>
                    </a:lnTo>
                    <a:lnTo>
                      <a:pt x="29" y="2"/>
                    </a:lnTo>
                    <a:lnTo>
                      <a:pt x="25" y="4"/>
                    </a:lnTo>
                    <a:lnTo>
                      <a:pt x="19" y="7"/>
                    </a:lnTo>
                    <a:lnTo>
                      <a:pt x="16" y="9"/>
                    </a:lnTo>
                    <a:lnTo>
                      <a:pt x="13" y="14"/>
                    </a:lnTo>
                    <a:lnTo>
                      <a:pt x="10" y="17"/>
                    </a:lnTo>
                    <a:lnTo>
                      <a:pt x="8" y="20"/>
                    </a:lnTo>
                    <a:lnTo>
                      <a:pt x="5" y="24"/>
                    </a:lnTo>
                    <a:lnTo>
                      <a:pt x="5" y="29"/>
                    </a:lnTo>
                    <a:lnTo>
                      <a:pt x="2" y="33"/>
                    </a:lnTo>
                    <a:lnTo>
                      <a:pt x="2" y="36"/>
                    </a:lnTo>
                    <a:lnTo>
                      <a:pt x="0" y="41"/>
                    </a:lnTo>
                    <a:lnTo>
                      <a:pt x="0" y="46"/>
                    </a:lnTo>
                    <a:lnTo>
                      <a:pt x="0" y="51"/>
                    </a:lnTo>
                    <a:lnTo>
                      <a:pt x="0" y="54"/>
                    </a:lnTo>
                    <a:lnTo>
                      <a:pt x="2" y="60"/>
                    </a:lnTo>
                    <a:lnTo>
                      <a:pt x="2" y="6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23859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07" grpId="0" build="p"/>
      <p:bldP spid="456709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Locks using test&amp;set vs. Interrupts</a:t>
            </a:r>
          </a:p>
        </p:txBody>
      </p:sp>
      <p:sp>
        <p:nvSpPr>
          <p:cNvPr id="44544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823913"/>
            <a:ext cx="8610600" cy="5500687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25000"/>
              </a:spcBef>
              <a:tabLst>
                <a:tab pos="801688" algn="l"/>
                <a:tab pos="1139825" algn="l"/>
                <a:tab pos="1490663" algn="l"/>
                <a:tab pos="1828800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Compare to “disable interrupt” solution</a:t>
            </a:r>
            <a:endParaRPr lang="en-US" altLang="ko-KR" sz="2200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spcBef>
                <a:spcPct val="25000"/>
              </a:spcBef>
              <a:tabLst>
                <a:tab pos="801688" algn="l"/>
                <a:tab pos="1139825" algn="l"/>
                <a:tab pos="1490663" algn="l"/>
                <a:tab pos="1828800" algn="l"/>
              </a:tabLst>
            </a:pPr>
            <a:endParaRPr lang="en-US" altLang="ko-KR" sz="2200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spcBef>
                <a:spcPct val="25000"/>
              </a:spcBef>
              <a:tabLst>
                <a:tab pos="801688" algn="l"/>
                <a:tab pos="1139825" algn="l"/>
                <a:tab pos="1490663" algn="l"/>
                <a:tab pos="1828800" algn="l"/>
              </a:tabLst>
            </a:pPr>
            <a:endParaRPr lang="en-US" altLang="ko-KR" sz="2200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spcBef>
                <a:spcPct val="25000"/>
              </a:spcBef>
              <a:tabLst>
                <a:tab pos="801688" algn="l"/>
                <a:tab pos="1139825" algn="l"/>
                <a:tab pos="1490663" algn="l"/>
                <a:tab pos="1828800" algn="l"/>
              </a:tabLst>
            </a:pPr>
            <a:endParaRPr lang="en-US" altLang="ko-KR" sz="2200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spcBef>
                <a:spcPct val="25000"/>
              </a:spcBef>
              <a:tabLst>
                <a:tab pos="801688" algn="l"/>
                <a:tab pos="1139825" algn="l"/>
                <a:tab pos="1490663" algn="l"/>
                <a:tab pos="1828800" algn="l"/>
              </a:tabLst>
            </a:pPr>
            <a:endParaRPr lang="en-US" altLang="ko-KR" sz="2200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spcBef>
                <a:spcPct val="25000"/>
              </a:spcBef>
              <a:tabLst>
                <a:tab pos="801688" algn="l"/>
                <a:tab pos="1139825" algn="l"/>
                <a:tab pos="1490663" algn="l"/>
                <a:tab pos="1828800" algn="l"/>
              </a:tabLst>
            </a:pPr>
            <a:endParaRPr lang="en-US" altLang="ko-KR" sz="2200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spcBef>
                <a:spcPct val="25000"/>
              </a:spcBef>
              <a:tabLst>
                <a:tab pos="801688" algn="l"/>
                <a:tab pos="1139825" algn="l"/>
                <a:tab pos="1490663" algn="l"/>
                <a:tab pos="1828800" algn="l"/>
              </a:tabLst>
            </a:pPr>
            <a:endParaRPr lang="en-US" altLang="ko-KR" sz="2200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spcBef>
                <a:spcPct val="25000"/>
              </a:spcBef>
              <a:tabLst>
                <a:tab pos="801688" algn="l"/>
                <a:tab pos="1139825" algn="l"/>
                <a:tab pos="1490663" algn="l"/>
                <a:tab pos="1828800" algn="l"/>
              </a:tabLst>
            </a:pPr>
            <a:endParaRPr lang="en-US" altLang="ko-KR" sz="2200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spcBef>
                <a:spcPct val="25000"/>
              </a:spcBef>
              <a:tabLst>
                <a:tab pos="801688" algn="l"/>
                <a:tab pos="1139825" algn="l"/>
                <a:tab pos="1490663" algn="l"/>
                <a:tab pos="1828800" algn="l"/>
              </a:tabLst>
            </a:pPr>
            <a:endParaRPr lang="en-US" altLang="ko-KR" sz="2200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spcBef>
                <a:spcPct val="25000"/>
              </a:spcBef>
              <a:tabLst>
                <a:tab pos="801688" algn="l"/>
                <a:tab pos="1139825" algn="l"/>
                <a:tab pos="1490663" algn="l"/>
                <a:tab pos="1828800" algn="l"/>
              </a:tabLst>
            </a:pPr>
            <a:endParaRPr lang="en-US" altLang="ko-KR" sz="2200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spcBef>
                <a:spcPct val="25000"/>
              </a:spcBef>
              <a:tabLst>
                <a:tab pos="801688" algn="l"/>
                <a:tab pos="1139825" algn="l"/>
                <a:tab pos="1490663" algn="l"/>
                <a:tab pos="1828800" algn="l"/>
              </a:tabLst>
            </a:pPr>
            <a:endParaRPr lang="en-US" altLang="ko-KR" sz="2200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spcBef>
                <a:spcPct val="25000"/>
              </a:spcBef>
              <a:tabLst>
                <a:tab pos="801688" algn="l"/>
                <a:tab pos="1139825" algn="l"/>
                <a:tab pos="1490663" algn="l"/>
                <a:tab pos="1828800" algn="l"/>
              </a:tabLst>
            </a:pPr>
            <a:endParaRPr lang="en-US" altLang="ko-KR" sz="2200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spcBef>
                <a:spcPct val="25000"/>
              </a:spcBef>
              <a:tabLst>
                <a:tab pos="801688" algn="l"/>
                <a:tab pos="1139825" algn="l"/>
                <a:tab pos="1490663" algn="l"/>
                <a:tab pos="1828800" algn="l"/>
              </a:tabLst>
            </a:pPr>
            <a:r>
              <a:rPr lang="en-US" altLang="ko-KR" sz="2200" dirty="0">
                <a:latin typeface="Helvetica" charset="0"/>
                <a:ea typeface="Gulim" charset="0"/>
                <a:cs typeface="Gulim" charset="0"/>
              </a:rPr>
              <a:t>Basically replace </a:t>
            </a:r>
          </a:p>
          <a:p>
            <a:pPr lvl="1">
              <a:lnSpc>
                <a:spcPct val="80000"/>
              </a:lnSpc>
              <a:spcBef>
                <a:spcPct val="25000"/>
              </a:spcBef>
              <a:tabLst>
                <a:tab pos="801688" algn="l"/>
                <a:tab pos="1139825" algn="l"/>
                <a:tab pos="1490663" algn="l"/>
                <a:tab pos="1828800" algn="l"/>
              </a:tabLst>
            </a:pPr>
            <a:r>
              <a:rPr lang="en-US" sz="2000" b="1" dirty="0">
                <a:solidFill>
                  <a:schemeClr val="hlink"/>
                </a:solidFill>
                <a:latin typeface="Courier New" charset="0"/>
                <a:ea typeface="MS PGothic" charset="0"/>
              </a:rPr>
              <a:t>disable interrupts </a:t>
            </a:r>
            <a:r>
              <a:rPr lang="en-US" sz="2000" b="1" dirty="0">
                <a:solidFill>
                  <a:schemeClr val="hlink"/>
                </a:solidFill>
                <a:latin typeface="Courier New" charset="0"/>
                <a:ea typeface="MS PGothic" charset="0"/>
                <a:sym typeface="Wingdings" charset="0"/>
              </a:rPr>
              <a:t> </a:t>
            </a:r>
            <a:r>
              <a:rPr lang="en-US" sz="2000" b="1" dirty="0">
                <a:solidFill>
                  <a:schemeClr val="hlink"/>
                </a:solidFill>
                <a:latin typeface="Courier New" charset="0"/>
                <a:ea typeface="MS PGothic" charset="0"/>
              </a:rPr>
              <a:t>while (</a:t>
            </a:r>
            <a:r>
              <a:rPr lang="en-US" sz="2000" b="1" dirty="0" err="1">
                <a:solidFill>
                  <a:schemeClr val="hlink"/>
                </a:solidFill>
                <a:latin typeface="Courier New" charset="0"/>
                <a:ea typeface="MS PGothic" charset="0"/>
              </a:rPr>
              <a:t>test&amp;set</a:t>
            </a:r>
            <a:r>
              <a:rPr lang="en-US" sz="2000" b="1" dirty="0">
                <a:solidFill>
                  <a:schemeClr val="hlink"/>
                </a:solidFill>
                <a:latin typeface="Courier New" charset="0"/>
                <a:ea typeface="MS PGothic" charset="0"/>
              </a:rPr>
              <a:t>(guard))</a:t>
            </a:r>
            <a:r>
              <a:rPr lang="en-US" sz="2000" dirty="0">
                <a:solidFill>
                  <a:schemeClr val="hlink"/>
                </a:solidFill>
                <a:latin typeface="Courier New" charset="0"/>
                <a:ea typeface="MS PGothic" charset="0"/>
              </a:rPr>
              <a:t>;</a:t>
            </a:r>
          </a:p>
          <a:p>
            <a:pPr lvl="1">
              <a:lnSpc>
                <a:spcPct val="80000"/>
              </a:lnSpc>
              <a:spcBef>
                <a:spcPct val="25000"/>
              </a:spcBef>
              <a:tabLst>
                <a:tab pos="801688" algn="l"/>
                <a:tab pos="1139825" algn="l"/>
                <a:tab pos="1490663" algn="l"/>
                <a:tab pos="1828800" algn="l"/>
              </a:tabLst>
            </a:pPr>
            <a:r>
              <a:rPr lang="en-US" altLang="ko-KR" sz="2000" b="1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enable interrupts </a:t>
            </a:r>
            <a:r>
              <a:rPr lang="en-US" altLang="ko-KR" sz="2000" b="1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  <a:sym typeface="Wingdings" charset="0"/>
              </a:rPr>
              <a:t> guard = 0;</a:t>
            </a:r>
            <a:endParaRPr lang="en-US" altLang="ko-KR" sz="2000" b="1" dirty="0">
              <a:latin typeface="Helvetica" charset="0"/>
              <a:ea typeface="Gulim" charset="0"/>
              <a:cs typeface="Gulim" charset="0"/>
            </a:endParaRPr>
          </a:p>
          <a:p>
            <a:pPr lvl="1">
              <a:lnSpc>
                <a:spcPct val="80000"/>
              </a:lnSpc>
              <a:spcBef>
                <a:spcPct val="25000"/>
              </a:spcBef>
              <a:tabLst>
                <a:tab pos="801688" algn="l"/>
                <a:tab pos="1139825" algn="l"/>
                <a:tab pos="1490663" algn="l"/>
                <a:tab pos="1828800" algn="l"/>
              </a:tabLst>
            </a:pPr>
            <a:endParaRPr lang="en-US" altLang="ko-KR" sz="2000" dirty="0">
              <a:latin typeface="Courier New" charset="0"/>
              <a:ea typeface="Gulim" charset="0"/>
              <a:cs typeface="Gulim" charset="0"/>
            </a:endParaRPr>
          </a:p>
        </p:txBody>
      </p:sp>
      <p:sp>
        <p:nvSpPr>
          <p:cNvPr id="445445" name="Text Box 5"/>
          <p:cNvSpPr txBox="1">
            <a:spLocks noChangeArrowheads="1"/>
          </p:cNvSpPr>
          <p:nvPr/>
        </p:nvSpPr>
        <p:spPr bwMode="auto">
          <a:xfrm>
            <a:off x="152400" y="1539875"/>
            <a:ext cx="4581525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900">
                <a:solidFill>
                  <a:srgbClr val="233AE1"/>
                </a:solidFill>
                <a:latin typeface="Courier New" charset="0"/>
              </a:rPr>
              <a:t>int value = FREE;</a:t>
            </a:r>
          </a:p>
          <a:p>
            <a:endParaRPr lang="en-US" sz="1900">
              <a:latin typeface="Courier New" charset="0"/>
            </a:endParaRPr>
          </a:p>
          <a:p>
            <a:r>
              <a:rPr lang="en-US" sz="1900">
                <a:latin typeface="Courier New" charset="0"/>
              </a:rPr>
              <a:t>Acquire() {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</a:t>
            </a:r>
            <a:r>
              <a:rPr lang="en-US" sz="1900">
                <a:solidFill>
                  <a:schemeClr val="hlink"/>
                </a:solidFill>
                <a:latin typeface="Courier New" charset="0"/>
              </a:rPr>
              <a:t>disable interrupts;</a:t>
            </a:r>
            <a:br>
              <a:rPr lang="en-US" sz="1900">
                <a:solidFill>
                  <a:schemeClr val="hlink"/>
                </a:solidFill>
                <a:latin typeface="Courier New" charset="0"/>
              </a:rPr>
            </a:br>
            <a:r>
              <a:rPr lang="en-US" sz="1900">
                <a:latin typeface="Courier New" charset="0"/>
              </a:rPr>
              <a:t>	if (value == BUSY) {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	put thread on wait queue;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	Go to sleep();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	// Enable interrupts?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} else {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	</a:t>
            </a:r>
            <a:r>
              <a:rPr lang="en-US" sz="1900">
                <a:solidFill>
                  <a:srgbClr val="233AE1"/>
                </a:solidFill>
                <a:latin typeface="Courier New" charset="0"/>
              </a:rPr>
              <a:t>value = BUSY;</a:t>
            </a:r>
            <a:br>
              <a:rPr lang="en-US" sz="1900">
                <a:solidFill>
                  <a:srgbClr val="233AE1"/>
                </a:solidFill>
                <a:latin typeface="Courier New" charset="0"/>
              </a:rPr>
            </a:br>
            <a:r>
              <a:rPr lang="en-US" sz="1900">
                <a:solidFill>
                  <a:srgbClr val="233AE1"/>
                </a:solidFill>
                <a:latin typeface="Courier New" charset="0"/>
              </a:rPr>
              <a:t>	</a:t>
            </a:r>
            <a:r>
              <a:rPr lang="en-US" sz="1900">
                <a:latin typeface="Courier New" charset="0"/>
              </a:rPr>
              <a:t>}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</a:t>
            </a:r>
            <a:r>
              <a:rPr lang="en-US" sz="1900">
                <a:solidFill>
                  <a:schemeClr val="hlink"/>
                </a:solidFill>
                <a:latin typeface="Courier New" charset="0"/>
              </a:rPr>
              <a:t>enable interrupts;</a:t>
            </a:r>
            <a:br>
              <a:rPr lang="en-US" sz="1900">
                <a:solidFill>
                  <a:schemeClr val="hlink"/>
                </a:solidFill>
                <a:latin typeface="Courier New" charset="0"/>
              </a:rPr>
            </a:br>
            <a:r>
              <a:rPr lang="en-US" sz="1900">
                <a:latin typeface="Courier New" charset="0"/>
              </a:rPr>
              <a:t>}</a:t>
            </a:r>
          </a:p>
        </p:txBody>
      </p:sp>
      <p:sp>
        <p:nvSpPr>
          <p:cNvPr id="445446" name="Text Box 6"/>
          <p:cNvSpPr txBox="1">
            <a:spLocks noChangeArrowheads="1"/>
          </p:cNvSpPr>
          <p:nvPr/>
        </p:nvSpPr>
        <p:spPr bwMode="auto">
          <a:xfrm>
            <a:off x="4495800" y="1616075"/>
            <a:ext cx="4648200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88975" algn="l"/>
                <a:tab pos="102711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pPr>
              <a:lnSpc>
                <a:spcPct val="90000"/>
              </a:lnSpc>
              <a:spcBef>
                <a:spcPct val="10000"/>
              </a:spcBef>
              <a:buSzPct val="100000"/>
            </a:pPr>
            <a:endParaRPr lang="en-US" sz="1900">
              <a:latin typeface="Courier New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SzPct val="100000"/>
            </a:pPr>
            <a:endParaRPr lang="en-US" sz="1900">
              <a:latin typeface="Courier New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SzPct val="100000"/>
            </a:pPr>
            <a:r>
              <a:rPr lang="en-US" sz="1900">
                <a:latin typeface="Courier New" charset="0"/>
              </a:rPr>
              <a:t>Release() {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</a:t>
            </a:r>
            <a:r>
              <a:rPr lang="en-US" sz="1900">
                <a:solidFill>
                  <a:schemeClr val="hlink"/>
                </a:solidFill>
                <a:latin typeface="Courier New" charset="0"/>
              </a:rPr>
              <a:t>disable interrupts;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if (anyone on wait queue) {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	take thread off wait queue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	Place on ready queue;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} else {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	</a:t>
            </a:r>
            <a:r>
              <a:rPr lang="en-US" sz="1900">
                <a:solidFill>
                  <a:srgbClr val="233AE1"/>
                </a:solidFill>
                <a:latin typeface="Courier New" charset="0"/>
              </a:rPr>
              <a:t>value = FREE;</a:t>
            </a:r>
            <a:br>
              <a:rPr lang="en-US" sz="1900">
                <a:solidFill>
                  <a:srgbClr val="233AE1"/>
                </a:solidFill>
                <a:latin typeface="Courier New" charset="0"/>
              </a:rPr>
            </a:br>
            <a:r>
              <a:rPr lang="en-US" sz="1900">
                <a:latin typeface="Courier New" charset="0"/>
              </a:rPr>
              <a:t>	}</a:t>
            </a:r>
            <a:br>
              <a:rPr lang="en-US" sz="1900">
                <a:latin typeface="Courier New" charset="0"/>
              </a:rPr>
            </a:br>
            <a:r>
              <a:rPr lang="en-US" sz="1900">
                <a:latin typeface="Courier New" charset="0"/>
              </a:rPr>
              <a:t>	</a:t>
            </a:r>
            <a:r>
              <a:rPr lang="en-US" sz="1900">
                <a:solidFill>
                  <a:schemeClr val="hlink"/>
                </a:solidFill>
                <a:latin typeface="Courier New" charset="0"/>
              </a:rPr>
              <a:t>enable interrupts;</a:t>
            </a:r>
            <a:br>
              <a:rPr lang="en-US" sz="1900">
                <a:solidFill>
                  <a:schemeClr val="hlink"/>
                </a:solidFill>
                <a:latin typeface="Courier New" charset="0"/>
              </a:rPr>
            </a:br>
            <a:r>
              <a:rPr lang="en-US" sz="1900">
                <a:latin typeface="Courier New" charset="0"/>
              </a:rPr>
              <a:t>}</a:t>
            </a:r>
            <a:br>
              <a:rPr lang="en-US" sz="1900">
                <a:latin typeface="Courier New" charset="0"/>
              </a:rPr>
            </a:br>
            <a:br>
              <a:rPr lang="en-US" sz="1900">
                <a:latin typeface="Courier New" charset="0"/>
              </a:rPr>
            </a:br>
            <a:endParaRPr lang="en-US" sz="1900">
              <a:latin typeface="Courier New" charset="0"/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2895600" y="1387475"/>
            <a:ext cx="609600" cy="685800"/>
            <a:chOff x="1776" y="912"/>
            <a:chExt cx="476" cy="576"/>
          </a:xfrm>
        </p:grpSpPr>
        <p:sp>
          <p:nvSpPr>
            <p:cNvPr id="10247" name="AutoShape 8"/>
            <p:cNvSpPr>
              <a:spLocks noChangeAspect="1" noChangeArrowheads="1" noTextEdit="1"/>
            </p:cNvSpPr>
            <p:nvPr/>
          </p:nvSpPr>
          <p:spPr bwMode="auto">
            <a:xfrm>
              <a:off x="1776" y="912"/>
              <a:ext cx="47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8" name="Freeform 10"/>
            <p:cNvSpPr>
              <a:spLocks/>
            </p:cNvSpPr>
            <p:nvPr/>
          </p:nvSpPr>
          <p:spPr bwMode="auto">
            <a:xfrm>
              <a:off x="1818" y="1046"/>
              <a:ext cx="434" cy="442"/>
            </a:xfrm>
            <a:custGeom>
              <a:avLst/>
              <a:gdLst>
                <a:gd name="T0" fmla="*/ 0 w 1303"/>
                <a:gd name="T1" fmla="*/ 0 h 1327"/>
                <a:gd name="T2" fmla="*/ 0 w 1303"/>
                <a:gd name="T3" fmla="*/ 0 h 1327"/>
                <a:gd name="T4" fmla="*/ 0 w 1303"/>
                <a:gd name="T5" fmla="*/ 0 h 1327"/>
                <a:gd name="T6" fmla="*/ 0 w 1303"/>
                <a:gd name="T7" fmla="*/ 0 h 1327"/>
                <a:gd name="T8" fmla="*/ 0 w 1303"/>
                <a:gd name="T9" fmla="*/ 0 h 1327"/>
                <a:gd name="T10" fmla="*/ 0 w 1303"/>
                <a:gd name="T11" fmla="*/ 0 h 1327"/>
                <a:gd name="T12" fmla="*/ 0 w 1303"/>
                <a:gd name="T13" fmla="*/ 0 h 1327"/>
                <a:gd name="T14" fmla="*/ 0 w 1303"/>
                <a:gd name="T15" fmla="*/ 0 h 1327"/>
                <a:gd name="T16" fmla="*/ 0 w 1303"/>
                <a:gd name="T17" fmla="*/ 0 h 1327"/>
                <a:gd name="T18" fmla="*/ 0 w 1303"/>
                <a:gd name="T19" fmla="*/ 0 h 1327"/>
                <a:gd name="T20" fmla="*/ 0 w 1303"/>
                <a:gd name="T21" fmla="*/ 0 h 1327"/>
                <a:gd name="T22" fmla="*/ 0 w 1303"/>
                <a:gd name="T23" fmla="*/ 0 h 1327"/>
                <a:gd name="T24" fmla="*/ 0 w 1303"/>
                <a:gd name="T25" fmla="*/ 0 h 1327"/>
                <a:gd name="T26" fmla="*/ 0 w 1303"/>
                <a:gd name="T27" fmla="*/ 0 h 1327"/>
                <a:gd name="T28" fmla="*/ 0 w 1303"/>
                <a:gd name="T29" fmla="*/ 0 h 1327"/>
                <a:gd name="T30" fmla="*/ 0 w 1303"/>
                <a:gd name="T31" fmla="*/ 0 h 1327"/>
                <a:gd name="T32" fmla="*/ 0 w 1303"/>
                <a:gd name="T33" fmla="*/ 0 h 1327"/>
                <a:gd name="T34" fmla="*/ 0 w 1303"/>
                <a:gd name="T35" fmla="*/ 0 h 1327"/>
                <a:gd name="T36" fmla="*/ 0 w 1303"/>
                <a:gd name="T37" fmla="*/ 0 h 1327"/>
                <a:gd name="T38" fmla="*/ 0 w 1303"/>
                <a:gd name="T39" fmla="*/ 0 h 1327"/>
                <a:gd name="T40" fmla="*/ 0 w 1303"/>
                <a:gd name="T41" fmla="*/ 0 h 1327"/>
                <a:gd name="T42" fmla="*/ 0 w 1303"/>
                <a:gd name="T43" fmla="*/ 0 h 1327"/>
                <a:gd name="T44" fmla="*/ 0 w 1303"/>
                <a:gd name="T45" fmla="*/ 0 h 1327"/>
                <a:gd name="T46" fmla="*/ 0 w 1303"/>
                <a:gd name="T47" fmla="*/ 0 h 1327"/>
                <a:gd name="T48" fmla="*/ 0 w 1303"/>
                <a:gd name="T49" fmla="*/ 0 h 1327"/>
                <a:gd name="T50" fmla="*/ 0 w 1303"/>
                <a:gd name="T51" fmla="*/ 0 h 1327"/>
                <a:gd name="T52" fmla="*/ 0 w 1303"/>
                <a:gd name="T53" fmla="*/ 0 h 1327"/>
                <a:gd name="T54" fmla="*/ 0 w 1303"/>
                <a:gd name="T55" fmla="*/ 0 h 1327"/>
                <a:gd name="T56" fmla="*/ 0 w 1303"/>
                <a:gd name="T57" fmla="*/ 0 h 1327"/>
                <a:gd name="T58" fmla="*/ 0 w 1303"/>
                <a:gd name="T59" fmla="*/ 0 h 1327"/>
                <a:gd name="T60" fmla="*/ 0 w 1303"/>
                <a:gd name="T61" fmla="*/ 0 h 1327"/>
                <a:gd name="T62" fmla="*/ 0 w 1303"/>
                <a:gd name="T63" fmla="*/ 0 h 1327"/>
                <a:gd name="T64" fmla="*/ 0 w 1303"/>
                <a:gd name="T65" fmla="*/ 0 h 1327"/>
                <a:gd name="T66" fmla="*/ 0 w 1303"/>
                <a:gd name="T67" fmla="*/ 0 h 1327"/>
                <a:gd name="T68" fmla="*/ 0 w 1303"/>
                <a:gd name="T69" fmla="*/ 0 h 1327"/>
                <a:gd name="T70" fmla="*/ 0 w 1303"/>
                <a:gd name="T71" fmla="*/ 0 h 1327"/>
                <a:gd name="T72" fmla="*/ 0 w 1303"/>
                <a:gd name="T73" fmla="*/ 0 h 1327"/>
                <a:gd name="T74" fmla="*/ 0 w 1303"/>
                <a:gd name="T75" fmla="*/ 0 h 1327"/>
                <a:gd name="T76" fmla="*/ 0 w 1303"/>
                <a:gd name="T77" fmla="*/ 0 h 1327"/>
                <a:gd name="T78" fmla="*/ 0 w 1303"/>
                <a:gd name="T79" fmla="*/ 0 h 1327"/>
                <a:gd name="T80" fmla="*/ 0 w 1303"/>
                <a:gd name="T81" fmla="*/ 0 h 1327"/>
                <a:gd name="T82" fmla="*/ 0 w 1303"/>
                <a:gd name="T83" fmla="*/ 0 h 1327"/>
                <a:gd name="T84" fmla="*/ 0 w 1303"/>
                <a:gd name="T85" fmla="*/ 0 h 1327"/>
                <a:gd name="T86" fmla="*/ 0 w 1303"/>
                <a:gd name="T87" fmla="*/ 0 h 1327"/>
                <a:gd name="T88" fmla="*/ 0 w 1303"/>
                <a:gd name="T89" fmla="*/ 0 h 1327"/>
                <a:gd name="T90" fmla="*/ 0 w 1303"/>
                <a:gd name="T91" fmla="*/ 0 h 1327"/>
                <a:gd name="T92" fmla="*/ 0 w 1303"/>
                <a:gd name="T93" fmla="*/ 0 h 1327"/>
                <a:gd name="T94" fmla="*/ 0 w 1303"/>
                <a:gd name="T95" fmla="*/ 0 h 1327"/>
                <a:gd name="T96" fmla="*/ 0 w 1303"/>
                <a:gd name="T97" fmla="*/ 0 h 1327"/>
                <a:gd name="T98" fmla="*/ 0 w 1303"/>
                <a:gd name="T99" fmla="*/ 0 h 1327"/>
                <a:gd name="T100" fmla="*/ 0 w 1303"/>
                <a:gd name="T101" fmla="*/ 0 h 1327"/>
                <a:gd name="T102" fmla="*/ 0 w 1303"/>
                <a:gd name="T103" fmla="*/ 0 h 1327"/>
                <a:gd name="T104" fmla="*/ 0 w 1303"/>
                <a:gd name="T105" fmla="*/ 0 h 1327"/>
                <a:gd name="T106" fmla="*/ 0 w 1303"/>
                <a:gd name="T107" fmla="*/ 0 h 1327"/>
                <a:gd name="T108" fmla="*/ 0 w 1303"/>
                <a:gd name="T109" fmla="*/ 0 h 1327"/>
                <a:gd name="T110" fmla="*/ 0 w 1303"/>
                <a:gd name="T111" fmla="*/ 0 h 1327"/>
                <a:gd name="T112" fmla="*/ 0 w 1303"/>
                <a:gd name="T113" fmla="*/ 0 h 1327"/>
                <a:gd name="T114" fmla="*/ 0 w 1303"/>
                <a:gd name="T115" fmla="*/ 0 h 1327"/>
                <a:gd name="T116" fmla="*/ 0 w 1303"/>
                <a:gd name="T117" fmla="*/ 0 h 132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303"/>
                <a:gd name="T178" fmla="*/ 0 h 1327"/>
                <a:gd name="T179" fmla="*/ 1303 w 1303"/>
                <a:gd name="T180" fmla="*/ 1327 h 132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303" h="1327">
                  <a:moveTo>
                    <a:pt x="28" y="680"/>
                  </a:moveTo>
                  <a:lnTo>
                    <a:pt x="28" y="681"/>
                  </a:lnTo>
                  <a:lnTo>
                    <a:pt x="30" y="684"/>
                  </a:lnTo>
                  <a:lnTo>
                    <a:pt x="30" y="686"/>
                  </a:lnTo>
                  <a:lnTo>
                    <a:pt x="30" y="688"/>
                  </a:lnTo>
                  <a:lnTo>
                    <a:pt x="33" y="691"/>
                  </a:lnTo>
                  <a:lnTo>
                    <a:pt x="34" y="697"/>
                  </a:lnTo>
                  <a:lnTo>
                    <a:pt x="36" y="698"/>
                  </a:lnTo>
                  <a:lnTo>
                    <a:pt x="36" y="704"/>
                  </a:lnTo>
                  <a:lnTo>
                    <a:pt x="37" y="708"/>
                  </a:lnTo>
                  <a:lnTo>
                    <a:pt x="40" y="714"/>
                  </a:lnTo>
                  <a:lnTo>
                    <a:pt x="43" y="720"/>
                  </a:lnTo>
                  <a:lnTo>
                    <a:pt x="44" y="725"/>
                  </a:lnTo>
                  <a:lnTo>
                    <a:pt x="47" y="733"/>
                  </a:lnTo>
                  <a:lnTo>
                    <a:pt x="51" y="740"/>
                  </a:lnTo>
                  <a:lnTo>
                    <a:pt x="53" y="745"/>
                  </a:lnTo>
                  <a:lnTo>
                    <a:pt x="55" y="752"/>
                  </a:lnTo>
                  <a:lnTo>
                    <a:pt x="60" y="761"/>
                  </a:lnTo>
                  <a:lnTo>
                    <a:pt x="64" y="769"/>
                  </a:lnTo>
                  <a:lnTo>
                    <a:pt x="67" y="778"/>
                  </a:lnTo>
                  <a:lnTo>
                    <a:pt x="70" y="785"/>
                  </a:lnTo>
                  <a:lnTo>
                    <a:pt x="74" y="795"/>
                  </a:lnTo>
                  <a:lnTo>
                    <a:pt x="80" y="804"/>
                  </a:lnTo>
                  <a:lnTo>
                    <a:pt x="84" y="812"/>
                  </a:lnTo>
                  <a:lnTo>
                    <a:pt x="87" y="822"/>
                  </a:lnTo>
                  <a:lnTo>
                    <a:pt x="92" y="832"/>
                  </a:lnTo>
                  <a:lnTo>
                    <a:pt x="98" y="842"/>
                  </a:lnTo>
                  <a:lnTo>
                    <a:pt x="101" y="852"/>
                  </a:lnTo>
                  <a:lnTo>
                    <a:pt x="108" y="861"/>
                  </a:lnTo>
                  <a:lnTo>
                    <a:pt x="114" y="872"/>
                  </a:lnTo>
                  <a:lnTo>
                    <a:pt x="118" y="883"/>
                  </a:lnTo>
                  <a:lnTo>
                    <a:pt x="124" y="893"/>
                  </a:lnTo>
                  <a:lnTo>
                    <a:pt x="129" y="903"/>
                  </a:lnTo>
                  <a:lnTo>
                    <a:pt x="136" y="915"/>
                  </a:lnTo>
                  <a:lnTo>
                    <a:pt x="142" y="926"/>
                  </a:lnTo>
                  <a:lnTo>
                    <a:pt x="148" y="936"/>
                  </a:lnTo>
                  <a:lnTo>
                    <a:pt x="153" y="947"/>
                  </a:lnTo>
                  <a:lnTo>
                    <a:pt x="161" y="959"/>
                  </a:lnTo>
                  <a:lnTo>
                    <a:pt x="168" y="969"/>
                  </a:lnTo>
                  <a:lnTo>
                    <a:pt x="173" y="980"/>
                  </a:lnTo>
                  <a:lnTo>
                    <a:pt x="180" y="991"/>
                  </a:lnTo>
                  <a:lnTo>
                    <a:pt x="189" y="1003"/>
                  </a:lnTo>
                  <a:lnTo>
                    <a:pt x="196" y="1014"/>
                  </a:lnTo>
                  <a:lnTo>
                    <a:pt x="202" y="1024"/>
                  </a:lnTo>
                  <a:lnTo>
                    <a:pt x="210" y="1035"/>
                  </a:lnTo>
                  <a:lnTo>
                    <a:pt x="219" y="1047"/>
                  </a:lnTo>
                  <a:lnTo>
                    <a:pt x="226" y="1058"/>
                  </a:lnTo>
                  <a:lnTo>
                    <a:pt x="233" y="1068"/>
                  </a:lnTo>
                  <a:lnTo>
                    <a:pt x="243" y="1078"/>
                  </a:lnTo>
                  <a:lnTo>
                    <a:pt x="250" y="1091"/>
                  </a:lnTo>
                  <a:lnTo>
                    <a:pt x="260" y="1101"/>
                  </a:lnTo>
                  <a:lnTo>
                    <a:pt x="269" y="1111"/>
                  </a:lnTo>
                  <a:lnTo>
                    <a:pt x="277" y="1122"/>
                  </a:lnTo>
                  <a:lnTo>
                    <a:pt x="286" y="1131"/>
                  </a:lnTo>
                  <a:lnTo>
                    <a:pt x="296" y="1141"/>
                  </a:lnTo>
                  <a:lnTo>
                    <a:pt x="304" y="1152"/>
                  </a:lnTo>
                  <a:lnTo>
                    <a:pt x="314" y="1161"/>
                  </a:lnTo>
                  <a:lnTo>
                    <a:pt x="324" y="1171"/>
                  </a:lnTo>
                  <a:lnTo>
                    <a:pt x="333" y="1181"/>
                  </a:lnTo>
                  <a:lnTo>
                    <a:pt x="342" y="1188"/>
                  </a:lnTo>
                  <a:lnTo>
                    <a:pt x="352" y="1199"/>
                  </a:lnTo>
                  <a:lnTo>
                    <a:pt x="362" y="1206"/>
                  </a:lnTo>
                  <a:lnTo>
                    <a:pt x="372" y="1215"/>
                  </a:lnTo>
                  <a:lnTo>
                    <a:pt x="382" y="1222"/>
                  </a:lnTo>
                  <a:lnTo>
                    <a:pt x="394" y="1230"/>
                  </a:lnTo>
                  <a:lnTo>
                    <a:pt x="405" y="1237"/>
                  </a:lnTo>
                  <a:lnTo>
                    <a:pt x="415" y="1245"/>
                  </a:lnTo>
                  <a:lnTo>
                    <a:pt x="425" y="1252"/>
                  </a:lnTo>
                  <a:lnTo>
                    <a:pt x="436" y="1259"/>
                  </a:lnTo>
                  <a:lnTo>
                    <a:pt x="448" y="1264"/>
                  </a:lnTo>
                  <a:lnTo>
                    <a:pt x="459" y="1270"/>
                  </a:lnTo>
                  <a:lnTo>
                    <a:pt x="469" y="1274"/>
                  </a:lnTo>
                  <a:lnTo>
                    <a:pt x="480" y="1281"/>
                  </a:lnTo>
                  <a:lnTo>
                    <a:pt x="492" y="1286"/>
                  </a:lnTo>
                  <a:lnTo>
                    <a:pt x="504" y="1290"/>
                  </a:lnTo>
                  <a:lnTo>
                    <a:pt x="516" y="1294"/>
                  </a:lnTo>
                  <a:lnTo>
                    <a:pt x="527" y="1299"/>
                  </a:lnTo>
                  <a:lnTo>
                    <a:pt x="539" y="1301"/>
                  </a:lnTo>
                  <a:lnTo>
                    <a:pt x="551" y="1307"/>
                  </a:lnTo>
                  <a:lnTo>
                    <a:pt x="563" y="1310"/>
                  </a:lnTo>
                  <a:lnTo>
                    <a:pt x="576" y="1313"/>
                  </a:lnTo>
                  <a:lnTo>
                    <a:pt x="587" y="1316"/>
                  </a:lnTo>
                  <a:lnTo>
                    <a:pt x="600" y="1317"/>
                  </a:lnTo>
                  <a:lnTo>
                    <a:pt x="611" y="1318"/>
                  </a:lnTo>
                  <a:lnTo>
                    <a:pt x="624" y="1321"/>
                  </a:lnTo>
                  <a:lnTo>
                    <a:pt x="637" y="1323"/>
                  </a:lnTo>
                  <a:lnTo>
                    <a:pt x="648" y="1324"/>
                  </a:lnTo>
                  <a:lnTo>
                    <a:pt x="661" y="1324"/>
                  </a:lnTo>
                  <a:lnTo>
                    <a:pt x="674" y="1326"/>
                  </a:lnTo>
                  <a:lnTo>
                    <a:pt x="686" y="1327"/>
                  </a:lnTo>
                  <a:lnTo>
                    <a:pt x="698" y="1327"/>
                  </a:lnTo>
                  <a:lnTo>
                    <a:pt x="710" y="1327"/>
                  </a:lnTo>
                  <a:lnTo>
                    <a:pt x="723" y="1327"/>
                  </a:lnTo>
                  <a:lnTo>
                    <a:pt x="736" y="1326"/>
                  </a:lnTo>
                  <a:lnTo>
                    <a:pt x="749" y="1326"/>
                  </a:lnTo>
                  <a:lnTo>
                    <a:pt x="762" y="1324"/>
                  </a:lnTo>
                  <a:lnTo>
                    <a:pt x="772" y="1323"/>
                  </a:lnTo>
                  <a:lnTo>
                    <a:pt x="786" y="1321"/>
                  </a:lnTo>
                  <a:lnTo>
                    <a:pt x="799" y="1318"/>
                  </a:lnTo>
                  <a:lnTo>
                    <a:pt x="810" y="1317"/>
                  </a:lnTo>
                  <a:lnTo>
                    <a:pt x="823" y="1314"/>
                  </a:lnTo>
                  <a:lnTo>
                    <a:pt x="836" y="1311"/>
                  </a:lnTo>
                  <a:lnTo>
                    <a:pt x="848" y="1310"/>
                  </a:lnTo>
                  <a:lnTo>
                    <a:pt x="860" y="1306"/>
                  </a:lnTo>
                  <a:lnTo>
                    <a:pt x="872" y="1301"/>
                  </a:lnTo>
                  <a:lnTo>
                    <a:pt x="885" y="1299"/>
                  </a:lnTo>
                  <a:lnTo>
                    <a:pt x="897" y="1296"/>
                  </a:lnTo>
                  <a:lnTo>
                    <a:pt x="908" y="1290"/>
                  </a:lnTo>
                  <a:lnTo>
                    <a:pt x="921" y="1287"/>
                  </a:lnTo>
                  <a:lnTo>
                    <a:pt x="934" y="1281"/>
                  </a:lnTo>
                  <a:lnTo>
                    <a:pt x="945" y="1277"/>
                  </a:lnTo>
                  <a:lnTo>
                    <a:pt x="958" y="1272"/>
                  </a:lnTo>
                  <a:lnTo>
                    <a:pt x="969" y="1266"/>
                  </a:lnTo>
                  <a:lnTo>
                    <a:pt x="980" y="1262"/>
                  </a:lnTo>
                  <a:lnTo>
                    <a:pt x="992" y="1256"/>
                  </a:lnTo>
                  <a:lnTo>
                    <a:pt x="1003" y="1249"/>
                  </a:lnTo>
                  <a:lnTo>
                    <a:pt x="1016" y="1242"/>
                  </a:lnTo>
                  <a:lnTo>
                    <a:pt x="1026" y="1235"/>
                  </a:lnTo>
                  <a:lnTo>
                    <a:pt x="1039" y="1230"/>
                  </a:lnTo>
                  <a:lnTo>
                    <a:pt x="1049" y="1222"/>
                  </a:lnTo>
                  <a:lnTo>
                    <a:pt x="1060" y="1215"/>
                  </a:lnTo>
                  <a:lnTo>
                    <a:pt x="1070" y="1206"/>
                  </a:lnTo>
                  <a:lnTo>
                    <a:pt x="1081" y="1200"/>
                  </a:lnTo>
                  <a:lnTo>
                    <a:pt x="1093" y="1190"/>
                  </a:lnTo>
                  <a:lnTo>
                    <a:pt x="1103" y="1183"/>
                  </a:lnTo>
                  <a:lnTo>
                    <a:pt x="1114" y="1175"/>
                  </a:lnTo>
                  <a:lnTo>
                    <a:pt x="1125" y="1168"/>
                  </a:lnTo>
                  <a:lnTo>
                    <a:pt x="1134" y="1158"/>
                  </a:lnTo>
                  <a:lnTo>
                    <a:pt x="1144" y="1149"/>
                  </a:lnTo>
                  <a:lnTo>
                    <a:pt x="1152" y="1139"/>
                  </a:lnTo>
                  <a:lnTo>
                    <a:pt x="1162" y="1131"/>
                  </a:lnTo>
                  <a:lnTo>
                    <a:pt x="1171" y="1122"/>
                  </a:lnTo>
                  <a:lnTo>
                    <a:pt x="1179" y="1112"/>
                  </a:lnTo>
                  <a:lnTo>
                    <a:pt x="1186" y="1104"/>
                  </a:lnTo>
                  <a:lnTo>
                    <a:pt x="1195" y="1095"/>
                  </a:lnTo>
                  <a:lnTo>
                    <a:pt x="1202" y="1084"/>
                  </a:lnTo>
                  <a:lnTo>
                    <a:pt x="1209" y="1075"/>
                  </a:lnTo>
                  <a:lnTo>
                    <a:pt x="1215" y="1067"/>
                  </a:lnTo>
                  <a:lnTo>
                    <a:pt x="1223" y="1057"/>
                  </a:lnTo>
                  <a:lnTo>
                    <a:pt x="1229" y="1047"/>
                  </a:lnTo>
                  <a:lnTo>
                    <a:pt x="1235" y="1038"/>
                  </a:lnTo>
                  <a:lnTo>
                    <a:pt x="1240" y="1028"/>
                  </a:lnTo>
                  <a:lnTo>
                    <a:pt x="1246" y="1018"/>
                  </a:lnTo>
                  <a:lnTo>
                    <a:pt x="1252" y="1008"/>
                  </a:lnTo>
                  <a:lnTo>
                    <a:pt x="1256" y="998"/>
                  </a:lnTo>
                  <a:lnTo>
                    <a:pt x="1260" y="989"/>
                  </a:lnTo>
                  <a:lnTo>
                    <a:pt x="1266" y="979"/>
                  </a:lnTo>
                  <a:lnTo>
                    <a:pt x="1269" y="969"/>
                  </a:lnTo>
                  <a:lnTo>
                    <a:pt x="1273" y="960"/>
                  </a:lnTo>
                  <a:lnTo>
                    <a:pt x="1276" y="949"/>
                  </a:lnTo>
                  <a:lnTo>
                    <a:pt x="1282" y="940"/>
                  </a:lnTo>
                  <a:lnTo>
                    <a:pt x="1283" y="929"/>
                  </a:lnTo>
                  <a:lnTo>
                    <a:pt x="1286" y="919"/>
                  </a:lnTo>
                  <a:lnTo>
                    <a:pt x="1289" y="907"/>
                  </a:lnTo>
                  <a:lnTo>
                    <a:pt x="1292" y="899"/>
                  </a:lnTo>
                  <a:lnTo>
                    <a:pt x="1293" y="888"/>
                  </a:lnTo>
                  <a:lnTo>
                    <a:pt x="1296" y="879"/>
                  </a:lnTo>
                  <a:lnTo>
                    <a:pt x="1297" y="868"/>
                  </a:lnTo>
                  <a:lnTo>
                    <a:pt x="1299" y="858"/>
                  </a:lnTo>
                  <a:lnTo>
                    <a:pt x="1300" y="848"/>
                  </a:lnTo>
                  <a:lnTo>
                    <a:pt x="1300" y="836"/>
                  </a:lnTo>
                  <a:lnTo>
                    <a:pt x="1302" y="826"/>
                  </a:lnTo>
                  <a:lnTo>
                    <a:pt x="1303" y="816"/>
                  </a:lnTo>
                  <a:lnTo>
                    <a:pt x="1303" y="805"/>
                  </a:lnTo>
                  <a:lnTo>
                    <a:pt x="1303" y="795"/>
                  </a:lnTo>
                  <a:lnTo>
                    <a:pt x="1303" y="784"/>
                  </a:lnTo>
                  <a:lnTo>
                    <a:pt x="1303" y="774"/>
                  </a:lnTo>
                  <a:lnTo>
                    <a:pt x="1303" y="764"/>
                  </a:lnTo>
                  <a:lnTo>
                    <a:pt x="1303" y="752"/>
                  </a:lnTo>
                  <a:lnTo>
                    <a:pt x="1302" y="742"/>
                  </a:lnTo>
                  <a:lnTo>
                    <a:pt x="1302" y="733"/>
                  </a:lnTo>
                  <a:lnTo>
                    <a:pt x="1300" y="721"/>
                  </a:lnTo>
                  <a:lnTo>
                    <a:pt x="1300" y="711"/>
                  </a:lnTo>
                  <a:lnTo>
                    <a:pt x="1299" y="701"/>
                  </a:lnTo>
                  <a:lnTo>
                    <a:pt x="1297" y="691"/>
                  </a:lnTo>
                  <a:lnTo>
                    <a:pt x="1296" y="680"/>
                  </a:lnTo>
                  <a:lnTo>
                    <a:pt x="1294" y="669"/>
                  </a:lnTo>
                  <a:lnTo>
                    <a:pt x="1293" y="659"/>
                  </a:lnTo>
                  <a:lnTo>
                    <a:pt x="1290" y="649"/>
                  </a:lnTo>
                  <a:lnTo>
                    <a:pt x="1289" y="637"/>
                  </a:lnTo>
                  <a:lnTo>
                    <a:pt x="1287" y="627"/>
                  </a:lnTo>
                  <a:lnTo>
                    <a:pt x="1285" y="616"/>
                  </a:lnTo>
                  <a:lnTo>
                    <a:pt x="1283" y="607"/>
                  </a:lnTo>
                  <a:lnTo>
                    <a:pt x="1280" y="596"/>
                  </a:lnTo>
                  <a:lnTo>
                    <a:pt x="1277" y="586"/>
                  </a:lnTo>
                  <a:lnTo>
                    <a:pt x="1275" y="576"/>
                  </a:lnTo>
                  <a:lnTo>
                    <a:pt x="1272" y="566"/>
                  </a:lnTo>
                  <a:lnTo>
                    <a:pt x="1269" y="555"/>
                  </a:lnTo>
                  <a:lnTo>
                    <a:pt x="1266" y="545"/>
                  </a:lnTo>
                  <a:lnTo>
                    <a:pt x="1263" y="533"/>
                  </a:lnTo>
                  <a:lnTo>
                    <a:pt x="1260" y="525"/>
                  </a:lnTo>
                  <a:lnTo>
                    <a:pt x="1256" y="515"/>
                  </a:lnTo>
                  <a:lnTo>
                    <a:pt x="1253" y="504"/>
                  </a:lnTo>
                  <a:lnTo>
                    <a:pt x="1250" y="494"/>
                  </a:lnTo>
                  <a:lnTo>
                    <a:pt x="1246" y="484"/>
                  </a:lnTo>
                  <a:lnTo>
                    <a:pt x="1243" y="474"/>
                  </a:lnTo>
                  <a:lnTo>
                    <a:pt x="1239" y="464"/>
                  </a:lnTo>
                  <a:lnTo>
                    <a:pt x="1236" y="452"/>
                  </a:lnTo>
                  <a:lnTo>
                    <a:pt x="1233" y="442"/>
                  </a:lnTo>
                  <a:lnTo>
                    <a:pt x="1229" y="432"/>
                  </a:lnTo>
                  <a:lnTo>
                    <a:pt x="1226" y="422"/>
                  </a:lnTo>
                  <a:lnTo>
                    <a:pt x="1222" y="413"/>
                  </a:lnTo>
                  <a:lnTo>
                    <a:pt x="1219" y="403"/>
                  </a:lnTo>
                  <a:lnTo>
                    <a:pt x="1213" y="393"/>
                  </a:lnTo>
                  <a:lnTo>
                    <a:pt x="1212" y="383"/>
                  </a:lnTo>
                  <a:lnTo>
                    <a:pt x="1208" y="373"/>
                  </a:lnTo>
                  <a:lnTo>
                    <a:pt x="1205" y="364"/>
                  </a:lnTo>
                  <a:lnTo>
                    <a:pt x="1201" y="354"/>
                  </a:lnTo>
                  <a:lnTo>
                    <a:pt x="1196" y="343"/>
                  </a:lnTo>
                  <a:lnTo>
                    <a:pt x="1192" y="334"/>
                  </a:lnTo>
                  <a:lnTo>
                    <a:pt x="1188" y="326"/>
                  </a:lnTo>
                  <a:lnTo>
                    <a:pt x="1185" y="316"/>
                  </a:lnTo>
                  <a:lnTo>
                    <a:pt x="1181" y="306"/>
                  </a:lnTo>
                  <a:lnTo>
                    <a:pt x="1178" y="297"/>
                  </a:lnTo>
                  <a:lnTo>
                    <a:pt x="1174" y="287"/>
                  </a:lnTo>
                  <a:lnTo>
                    <a:pt x="1169" y="279"/>
                  </a:lnTo>
                  <a:lnTo>
                    <a:pt x="1165" y="270"/>
                  </a:lnTo>
                  <a:lnTo>
                    <a:pt x="1161" y="260"/>
                  </a:lnTo>
                  <a:lnTo>
                    <a:pt x="1157" y="252"/>
                  </a:lnTo>
                  <a:lnTo>
                    <a:pt x="1152" y="243"/>
                  </a:lnTo>
                  <a:lnTo>
                    <a:pt x="1148" y="235"/>
                  </a:lnTo>
                  <a:lnTo>
                    <a:pt x="1144" y="226"/>
                  </a:lnTo>
                  <a:lnTo>
                    <a:pt x="1140" y="219"/>
                  </a:lnTo>
                  <a:lnTo>
                    <a:pt x="1135" y="209"/>
                  </a:lnTo>
                  <a:lnTo>
                    <a:pt x="1131" y="202"/>
                  </a:lnTo>
                  <a:lnTo>
                    <a:pt x="1127" y="193"/>
                  </a:lnTo>
                  <a:lnTo>
                    <a:pt x="1123" y="185"/>
                  </a:lnTo>
                  <a:lnTo>
                    <a:pt x="1117" y="178"/>
                  </a:lnTo>
                  <a:lnTo>
                    <a:pt x="1113" y="171"/>
                  </a:lnTo>
                  <a:lnTo>
                    <a:pt x="1107" y="162"/>
                  </a:lnTo>
                  <a:lnTo>
                    <a:pt x="1103" y="155"/>
                  </a:lnTo>
                  <a:lnTo>
                    <a:pt x="1098" y="148"/>
                  </a:lnTo>
                  <a:lnTo>
                    <a:pt x="1094" y="141"/>
                  </a:lnTo>
                  <a:lnTo>
                    <a:pt x="1088" y="134"/>
                  </a:lnTo>
                  <a:lnTo>
                    <a:pt x="1083" y="127"/>
                  </a:lnTo>
                  <a:lnTo>
                    <a:pt x="1078" y="120"/>
                  </a:lnTo>
                  <a:lnTo>
                    <a:pt x="1073" y="114"/>
                  </a:lnTo>
                  <a:lnTo>
                    <a:pt x="1067" y="107"/>
                  </a:lnTo>
                  <a:lnTo>
                    <a:pt x="1064" y="101"/>
                  </a:lnTo>
                  <a:lnTo>
                    <a:pt x="1057" y="95"/>
                  </a:lnTo>
                  <a:lnTo>
                    <a:pt x="1052" y="90"/>
                  </a:lnTo>
                  <a:lnTo>
                    <a:pt x="1047" y="84"/>
                  </a:lnTo>
                  <a:lnTo>
                    <a:pt x="1042" y="78"/>
                  </a:lnTo>
                  <a:lnTo>
                    <a:pt x="1036" y="73"/>
                  </a:lnTo>
                  <a:lnTo>
                    <a:pt x="1030" y="67"/>
                  </a:lnTo>
                  <a:lnTo>
                    <a:pt x="1025" y="63"/>
                  </a:lnTo>
                  <a:lnTo>
                    <a:pt x="1019" y="57"/>
                  </a:lnTo>
                  <a:lnTo>
                    <a:pt x="1013" y="53"/>
                  </a:lnTo>
                  <a:lnTo>
                    <a:pt x="1007" y="47"/>
                  </a:lnTo>
                  <a:lnTo>
                    <a:pt x="1000" y="44"/>
                  </a:lnTo>
                  <a:lnTo>
                    <a:pt x="995" y="40"/>
                  </a:lnTo>
                  <a:lnTo>
                    <a:pt x="989" y="37"/>
                  </a:lnTo>
                  <a:lnTo>
                    <a:pt x="983" y="33"/>
                  </a:lnTo>
                  <a:lnTo>
                    <a:pt x="978" y="30"/>
                  </a:lnTo>
                  <a:lnTo>
                    <a:pt x="971" y="27"/>
                  </a:lnTo>
                  <a:lnTo>
                    <a:pt x="963" y="23"/>
                  </a:lnTo>
                  <a:lnTo>
                    <a:pt x="958" y="20"/>
                  </a:lnTo>
                  <a:lnTo>
                    <a:pt x="952" y="17"/>
                  </a:lnTo>
                  <a:lnTo>
                    <a:pt x="945" y="14"/>
                  </a:lnTo>
                  <a:lnTo>
                    <a:pt x="939" y="13"/>
                  </a:lnTo>
                  <a:lnTo>
                    <a:pt x="932" y="10"/>
                  </a:lnTo>
                  <a:lnTo>
                    <a:pt x="926" y="9"/>
                  </a:lnTo>
                  <a:lnTo>
                    <a:pt x="922" y="7"/>
                  </a:lnTo>
                  <a:lnTo>
                    <a:pt x="915" y="6"/>
                  </a:lnTo>
                  <a:lnTo>
                    <a:pt x="909" y="4"/>
                  </a:lnTo>
                  <a:lnTo>
                    <a:pt x="904" y="3"/>
                  </a:lnTo>
                  <a:lnTo>
                    <a:pt x="899" y="3"/>
                  </a:lnTo>
                  <a:lnTo>
                    <a:pt x="892" y="0"/>
                  </a:lnTo>
                  <a:lnTo>
                    <a:pt x="887" y="0"/>
                  </a:lnTo>
                  <a:lnTo>
                    <a:pt x="882" y="0"/>
                  </a:lnTo>
                  <a:lnTo>
                    <a:pt x="878" y="0"/>
                  </a:lnTo>
                  <a:lnTo>
                    <a:pt x="872" y="0"/>
                  </a:lnTo>
                  <a:lnTo>
                    <a:pt x="867" y="0"/>
                  </a:lnTo>
                  <a:lnTo>
                    <a:pt x="863" y="0"/>
                  </a:lnTo>
                  <a:lnTo>
                    <a:pt x="858" y="0"/>
                  </a:lnTo>
                  <a:lnTo>
                    <a:pt x="853" y="0"/>
                  </a:lnTo>
                  <a:lnTo>
                    <a:pt x="848" y="1"/>
                  </a:lnTo>
                  <a:lnTo>
                    <a:pt x="845" y="3"/>
                  </a:lnTo>
                  <a:lnTo>
                    <a:pt x="841" y="4"/>
                  </a:lnTo>
                  <a:lnTo>
                    <a:pt x="836" y="4"/>
                  </a:lnTo>
                  <a:lnTo>
                    <a:pt x="831" y="6"/>
                  </a:lnTo>
                  <a:lnTo>
                    <a:pt x="827" y="7"/>
                  </a:lnTo>
                  <a:lnTo>
                    <a:pt x="824" y="9"/>
                  </a:lnTo>
                  <a:lnTo>
                    <a:pt x="818" y="10"/>
                  </a:lnTo>
                  <a:lnTo>
                    <a:pt x="817" y="11"/>
                  </a:lnTo>
                  <a:lnTo>
                    <a:pt x="811" y="13"/>
                  </a:lnTo>
                  <a:lnTo>
                    <a:pt x="809" y="16"/>
                  </a:lnTo>
                  <a:lnTo>
                    <a:pt x="806" y="17"/>
                  </a:lnTo>
                  <a:lnTo>
                    <a:pt x="801" y="20"/>
                  </a:lnTo>
                  <a:lnTo>
                    <a:pt x="799" y="23"/>
                  </a:lnTo>
                  <a:lnTo>
                    <a:pt x="796" y="26"/>
                  </a:lnTo>
                  <a:lnTo>
                    <a:pt x="793" y="29"/>
                  </a:lnTo>
                  <a:lnTo>
                    <a:pt x="789" y="31"/>
                  </a:lnTo>
                  <a:lnTo>
                    <a:pt x="786" y="34"/>
                  </a:lnTo>
                  <a:lnTo>
                    <a:pt x="783" y="37"/>
                  </a:lnTo>
                  <a:lnTo>
                    <a:pt x="780" y="40"/>
                  </a:lnTo>
                  <a:lnTo>
                    <a:pt x="777" y="43"/>
                  </a:lnTo>
                  <a:lnTo>
                    <a:pt x="774" y="46"/>
                  </a:lnTo>
                  <a:lnTo>
                    <a:pt x="773" y="50"/>
                  </a:lnTo>
                  <a:lnTo>
                    <a:pt x="770" y="53"/>
                  </a:lnTo>
                  <a:lnTo>
                    <a:pt x="769" y="57"/>
                  </a:lnTo>
                  <a:lnTo>
                    <a:pt x="767" y="60"/>
                  </a:lnTo>
                  <a:lnTo>
                    <a:pt x="764" y="64"/>
                  </a:lnTo>
                  <a:lnTo>
                    <a:pt x="763" y="68"/>
                  </a:lnTo>
                  <a:lnTo>
                    <a:pt x="762" y="71"/>
                  </a:lnTo>
                  <a:lnTo>
                    <a:pt x="759" y="75"/>
                  </a:lnTo>
                  <a:lnTo>
                    <a:pt x="757" y="80"/>
                  </a:lnTo>
                  <a:lnTo>
                    <a:pt x="756" y="84"/>
                  </a:lnTo>
                  <a:lnTo>
                    <a:pt x="755" y="88"/>
                  </a:lnTo>
                  <a:lnTo>
                    <a:pt x="753" y="91"/>
                  </a:lnTo>
                  <a:lnTo>
                    <a:pt x="753" y="97"/>
                  </a:lnTo>
                  <a:lnTo>
                    <a:pt x="752" y="101"/>
                  </a:lnTo>
                  <a:lnTo>
                    <a:pt x="750" y="107"/>
                  </a:lnTo>
                  <a:lnTo>
                    <a:pt x="749" y="111"/>
                  </a:lnTo>
                  <a:lnTo>
                    <a:pt x="749" y="115"/>
                  </a:lnTo>
                  <a:lnTo>
                    <a:pt x="749" y="120"/>
                  </a:lnTo>
                  <a:lnTo>
                    <a:pt x="749" y="124"/>
                  </a:lnTo>
                  <a:lnTo>
                    <a:pt x="749" y="128"/>
                  </a:lnTo>
                  <a:lnTo>
                    <a:pt x="749" y="135"/>
                  </a:lnTo>
                  <a:lnTo>
                    <a:pt x="747" y="138"/>
                  </a:lnTo>
                  <a:lnTo>
                    <a:pt x="747" y="144"/>
                  </a:lnTo>
                  <a:lnTo>
                    <a:pt x="747" y="148"/>
                  </a:lnTo>
                  <a:lnTo>
                    <a:pt x="747" y="152"/>
                  </a:lnTo>
                  <a:lnTo>
                    <a:pt x="747" y="157"/>
                  </a:lnTo>
                  <a:lnTo>
                    <a:pt x="747" y="162"/>
                  </a:lnTo>
                  <a:lnTo>
                    <a:pt x="747" y="166"/>
                  </a:lnTo>
                  <a:lnTo>
                    <a:pt x="747" y="171"/>
                  </a:lnTo>
                  <a:lnTo>
                    <a:pt x="747" y="175"/>
                  </a:lnTo>
                  <a:lnTo>
                    <a:pt x="747" y="178"/>
                  </a:lnTo>
                  <a:lnTo>
                    <a:pt x="749" y="182"/>
                  </a:lnTo>
                  <a:lnTo>
                    <a:pt x="749" y="188"/>
                  </a:lnTo>
                  <a:lnTo>
                    <a:pt x="749" y="191"/>
                  </a:lnTo>
                  <a:lnTo>
                    <a:pt x="749" y="195"/>
                  </a:lnTo>
                  <a:lnTo>
                    <a:pt x="750" y="199"/>
                  </a:lnTo>
                  <a:lnTo>
                    <a:pt x="750" y="203"/>
                  </a:lnTo>
                  <a:lnTo>
                    <a:pt x="750" y="206"/>
                  </a:lnTo>
                  <a:lnTo>
                    <a:pt x="752" y="209"/>
                  </a:lnTo>
                  <a:lnTo>
                    <a:pt x="752" y="215"/>
                  </a:lnTo>
                  <a:lnTo>
                    <a:pt x="752" y="218"/>
                  </a:lnTo>
                  <a:lnTo>
                    <a:pt x="752" y="221"/>
                  </a:lnTo>
                  <a:lnTo>
                    <a:pt x="752" y="225"/>
                  </a:lnTo>
                  <a:lnTo>
                    <a:pt x="753" y="228"/>
                  </a:lnTo>
                  <a:lnTo>
                    <a:pt x="755" y="232"/>
                  </a:lnTo>
                  <a:lnTo>
                    <a:pt x="755" y="235"/>
                  </a:lnTo>
                  <a:lnTo>
                    <a:pt x="755" y="239"/>
                  </a:lnTo>
                  <a:lnTo>
                    <a:pt x="755" y="243"/>
                  </a:lnTo>
                  <a:lnTo>
                    <a:pt x="756" y="246"/>
                  </a:lnTo>
                  <a:lnTo>
                    <a:pt x="756" y="249"/>
                  </a:lnTo>
                  <a:lnTo>
                    <a:pt x="757" y="252"/>
                  </a:lnTo>
                  <a:lnTo>
                    <a:pt x="757" y="255"/>
                  </a:lnTo>
                  <a:lnTo>
                    <a:pt x="759" y="259"/>
                  </a:lnTo>
                  <a:lnTo>
                    <a:pt x="759" y="260"/>
                  </a:lnTo>
                  <a:lnTo>
                    <a:pt x="760" y="265"/>
                  </a:lnTo>
                  <a:lnTo>
                    <a:pt x="760" y="266"/>
                  </a:lnTo>
                  <a:lnTo>
                    <a:pt x="762" y="270"/>
                  </a:lnTo>
                  <a:lnTo>
                    <a:pt x="762" y="272"/>
                  </a:lnTo>
                  <a:lnTo>
                    <a:pt x="762" y="275"/>
                  </a:lnTo>
                  <a:lnTo>
                    <a:pt x="762" y="277"/>
                  </a:lnTo>
                  <a:lnTo>
                    <a:pt x="763" y="280"/>
                  </a:lnTo>
                  <a:lnTo>
                    <a:pt x="764" y="286"/>
                  </a:lnTo>
                  <a:lnTo>
                    <a:pt x="764" y="290"/>
                  </a:lnTo>
                  <a:lnTo>
                    <a:pt x="766" y="296"/>
                  </a:lnTo>
                  <a:lnTo>
                    <a:pt x="767" y="300"/>
                  </a:lnTo>
                  <a:lnTo>
                    <a:pt x="767" y="304"/>
                  </a:lnTo>
                  <a:lnTo>
                    <a:pt x="767" y="309"/>
                  </a:lnTo>
                  <a:lnTo>
                    <a:pt x="769" y="313"/>
                  </a:lnTo>
                  <a:lnTo>
                    <a:pt x="769" y="317"/>
                  </a:lnTo>
                  <a:lnTo>
                    <a:pt x="769" y="320"/>
                  </a:lnTo>
                  <a:lnTo>
                    <a:pt x="769" y="324"/>
                  </a:lnTo>
                  <a:lnTo>
                    <a:pt x="769" y="327"/>
                  </a:lnTo>
                  <a:lnTo>
                    <a:pt x="770" y="331"/>
                  </a:lnTo>
                  <a:lnTo>
                    <a:pt x="767" y="333"/>
                  </a:lnTo>
                  <a:lnTo>
                    <a:pt x="767" y="337"/>
                  </a:lnTo>
                  <a:lnTo>
                    <a:pt x="764" y="339"/>
                  </a:lnTo>
                  <a:lnTo>
                    <a:pt x="762" y="341"/>
                  </a:lnTo>
                  <a:lnTo>
                    <a:pt x="757" y="344"/>
                  </a:lnTo>
                  <a:lnTo>
                    <a:pt x="753" y="347"/>
                  </a:lnTo>
                  <a:lnTo>
                    <a:pt x="749" y="350"/>
                  </a:lnTo>
                  <a:lnTo>
                    <a:pt x="743" y="354"/>
                  </a:lnTo>
                  <a:lnTo>
                    <a:pt x="740" y="356"/>
                  </a:lnTo>
                  <a:lnTo>
                    <a:pt x="737" y="356"/>
                  </a:lnTo>
                  <a:lnTo>
                    <a:pt x="735" y="358"/>
                  </a:lnTo>
                  <a:lnTo>
                    <a:pt x="730" y="360"/>
                  </a:lnTo>
                  <a:lnTo>
                    <a:pt x="728" y="361"/>
                  </a:lnTo>
                  <a:lnTo>
                    <a:pt x="723" y="363"/>
                  </a:lnTo>
                  <a:lnTo>
                    <a:pt x="720" y="364"/>
                  </a:lnTo>
                  <a:lnTo>
                    <a:pt x="716" y="366"/>
                  </a:lnTo>
                  <a:lnTo>
                    <a:pt x="712" y="367"/>
                  </a:lnTo>
                  <a:lnTo>
                    <a:pt x="709" y="368"/>
                  </a:lnTo>
                  <a:lnTo>
                    <a:pt x="705" y="370"/>
                  </a:lnTo>
                  <a:lnTo>
                    <a:pt x="701" y="371"/>
                  </a:lnTo>
                  <a:lnTo>
                    <a:pt x="696" y="373"/>
                  </a:lnTo>
                  <a:lnTo>
                    <a:pt x="692" y="374"/>
                  </a:lnTo>
                  <a:lnTo>
                    <a:pt x="689" y="376"/>
                  </a:lnTo>
                  <a:lnTo>
                    <a:pt x="683" y="378"/>
                  </a:lnTo>
                  <a:lnTo>
                    <a:pt x="679" y="380"/>
                  </a:lnTo>
                  <a:lnTo>
                    <a:pt x="674" y="381"/>
                  </a:lnTo>
                  <a:lnTo>
                    <a:pt x="669" y="383"/>
                  </a:lnTo>
                  <a:lnTo>
                    <a:pt x="665" y="384"/>
                  </a:lnTo>
                  <a:lnTo>
                    <a:pt x="659" y="385"/>
                  </a:lnTo>
                  <a:lnTo>
                    <a:pt x="655" y="387"/>
                  </a:lnTo>
                  <a:lnTo>
                    <a:pt x="652" y="388"/>
                  </a:lnTo>
                  <a:lnTo>
                    <a:pt x="647" y="390"/>
                  </a:lnTo>
                  <a:lnTo>
                    <a:pt x="642" y="391"/>
                  </a:lnTo>
                  <a:lnTo>
                    <a:pt x="637" y="393"/>
                  </a:lnTo>
                  <a:lnTo>
                    <a:pt x="631" y="394"/>
                  </a:lnTo>
                  <a:lnTo>
                    <a:pt x="628" y="395"/>
                  </a:lnTo>
                  <a:lnTo>
                    <a:pt x="621" y="398"/>
                  </a:lnTo>
                  <a:lnTo>
                    <a:pt x="617" y="400"/>
                  </a:lnTo>
                  <a:lnTo>
                    <a:pt x="612" y="401"/>
                  </a:lnTo>
                  <a:lnTo>
                    <a:pt x="607" y="404"/>
                  </a:lnTo>
                  <a:lnTo>
                    <a:pt x="602" y="405"/>
                  </a:lnTo>
                  <a:lnTo>
                    <a:pt x="598" y="408"/>
                  </a:lnTo>
                  <a:lnTo>
                    <a:pt x="593" y="410"/>
                  </a:lnTo>
                  <a:lnTo>
                    <a:pt x="588" y="411"/>
                  </a:lnTo>
                  <a:lnTo>
                    <a:pt x="583" y="414"/>
                  </a:lnTo>
                  <a:lnTo>
                    <a:pt x="578" y="415"/>
                  </a:lnTo>
                  <a:lnTo>
                    <a:pt x="573" y="417"/>
                  </a:lnTo>
                  <a:lnTo>
                    <a:pt x="568" y="418"/>
                  </a:lnTo>
                  <a:lnTo>
                    <a:pt x="563" y="421"/>
                  </a:lnTo>
                  <a:lnTo>
                    <a:pt x="558" y="422"/>
                  </a:lnTo>
                  <a:lnTo>
                    <a:pt x="554" y="424"/>
                  </a:lnTo>
                  <a:lnTo>
                    <a:pt x="550" y="427"/>
                  </a:lnTo>
                  <a:lnTo>
                    <a:pt x="546" y="430"/>
                  </a:lnTo>
                  <a:lnTo>
                    <a:pt x="541" y="432"/>
                  </a:lnTo>
                  <a:lnTo>
                    <a:pt x="537" y="434"/>
                  </a:lnTo>
                  <a:lnTo>
                    <a:pt x="533" y="437"/>
                  </a:lnTo>
                  <a:lnTo>
                    <a:pt x="529" y="438"/>
                  </a:lnTo>
                  <a:lnTo>
                    <a:pt x="524" y="441"/>
                  </a:lnTo>
                  <a:lnTo>
                    <a:pt x="520" y="442"/>
                  </a:lnTo>
                  <a:lnTo>
                    <a:pt x="516" y="445"/>
                  </a:lnTo>
                  <a:lnTo>
                    <a:pt x="512" y="448"/>
                  </a:lnTo>
                  <a:lnTo>
                    <a:pt x="507" y="449"/>
                  </a:lnTo>
                  <a:lnTo>
                    <a:pt x="503" y="452"/>
                  </a:lnTo>
                  <a:lnTo>
                    <a:pt x="500" y="454"/>
                  </a:lnTo>
                  <a:lnTo>
                    <a:pt x="496" y="455"/>
                  </a:lnTo>
                  <a:lnTo>
                    <a:pt x="492" y="458"/>
                  </a:lnTo>
                  <a:lnTo>
                    <a:pt x="490" y="461"/>
                  </a:lnTo>
                  <a:lnTo>
                    <a:pt x="487" y="464"/>
                  </a:lnTo>
                  <a:lnTo>
                    <a:pt x="482" y="465"/>
                  </a:lnTo>
                  <a:lnTo>
                    <a:pt x="479" y="468"/>
                  </a:lnTo>
                  <a:lnTo>
                    <a:pt x="477" y="471"/>
                  </a:lnTo>
                  <a:lnTo>
                    <a:pt x="475" y="474"/>
                  </a:lnTo>
                  <a:lnTo>
                    <a:pt x="472" y="474"/>
                  </a:lnTo>
                  <a:lnTo>
                    <a:pt x="469" y="477"/>
                  </a:lnTo>
                  <a:lnTo>
                    <a:pt x="466" y="478"/>
                  </a:lnTo>
                  <a:lnTo>
                    <a:pt x="463" y="481"/>
                  </a:lnTo>
                  <a:lnTo>
                    <a:pt x="456" y="485"/>
                  </a:lnTo>
                  <a:lnTo>
                    <a:pt x="452" y="489"/>
                  </a:lnTo>
                  <a:lnTo>
                    <a:pt x="448" y="492"/>
                  </a:lnTo>
                  <a:lnTo>
                    <a:pt x="443" y="496"/>
                  </a:lnTo>
                  <a:lnTo>
                    <a:pt x="438" y="499"/>
                  </a:lnTo>
                  <a:lnTo>
                    <a:pt x="435" y="502"/>
                  </a:lnTo>
                  <a:lnTo>
                    <a:pt x="429" y="505"/>
                  </a:lnTo>
                  <a:lnTo>
                    <a:pt x="425" y="508"/>
                  </a:lnTo>
                  <a:lnTo>
                    <a:pt x="421" y="508"/>
                  </a:lnTo>
                  <a:lnTo>
                    <a:pt x="418" y="511"/>
                  </a:lnTo>
                  <a:lnTo>
                    <a:pt x="414" y="512"/>
                  </a:lnTo>
                  <a:lnTo>
                    <a:pt x="409" y="513"/>
                  </a:lnTo>
                  <a:lnTo>
                    <a:pt x="406" y="515"/>
                  </a:lnTo>
                  <a:lnTo>
                    <a:pt x="401" y="515"/>
                  </a:lnTo>
                  <a:lnTo>
                    <a:pt x="398" y="513"/>
                  </a:lnTo>
                  <a:lnTo>
                    <a:pt x="394" y="513"/>
                  </a:lnTo>
                  <a:lnTo>
                    <a:pt x="389" y="511"/>
                  </a:lnTo>
                  <a:lnTo>
                    <a:pt x="387" y="509"/>
                  </a:lnTo>
                  <a:lnTo>
                    <a:pt x="382" y="506"/>
                  </a:lnTo>
                  <a:lnTo>
                    <a:pt x="378" y="505"/>
                  </a:lnTo>
                  <a:lnTo>
                    <a:pt x="374" y="501"/>
                  </a:lnTo>
                  <a:lnTo>
                    <a:pt x="369" y="498"/>
                  </a:lnTo>
                  <a:lnTo>
                    <a:pt x="367" y="495"/>
                  </a:lnTo>
                  <a:lnTo>
                    <a:pt x="364" y="492"/>
                  </a:lnTo>
                  <a:lnTo>
                    <a:pt x="362" y="489"/>
                  </a:lnTo>
                  <a:lnTo>
                    <a:pt x="360" y="486"/>
                  </a:lnTo>
                  <a:lnTo>
                    <a:pt x="357" y="484"/>
                  </a:lnTo>
                  <a:lnTo>
                    <a:pt x="354" y="479"/>
                  </a:lnTo>
                  <a:lnTo>
                    <a:pt x="351" y="477"/>
                  </a:lnTo>
                  <a:lnTo>
                    <a:pt x="348" y="475"/>
                  </a:lnTo>
                  <a:lnTo>
                    <a:pt x="345" y="471"/>
                  </a:lnTo>
                  <a:lnTo>
                    <a:pt x="342" y="468"/>
                  </a:lnTo>
                  <a:lnTo>
                    <a:pt x="340" y="464"/>
                  </a:lnTo>
                  <a:lnTo>
                    <a:pt x="335" y="461"/>
                  </a:lnTo>
                  <a:lnTo>
                    <a:pt x="333" y="457"/>
                  </a:lnTo>
                  <a:lnTo>
                    <a:pt x="330" y="454"/>
                  </a:lnTo>
                  <a:lnTo>
                    <a:pt x="327" y="451"/>
                  </a:lnTo>
                  <a:lnTo>
                    <a:pt x="324" y="448"/>
                  </a:lnTo>
                  <a:lnTo>
                    <a:pt x="318" y="444"/>
                  </a:lnTo>
                  <a:lnTo>
                    <a:pt x="315" y="440"/>
                  </a:lnTo>
                  <a:lnTo>
                    <a:pt x="311" y="437"/>
                  </a:lnTo>
                  <a:lnTo>
                    <a:pt x="308" y="432"/>
                  </a:lnTo>
                  <a:lnTo>
                    <a:pt x="304" y="428"/>
                  </a:lnTo>
                  <a:lnTo>
                    <a:pt x="300" y="424"/>
                  </a:lnTo>
                  <a:lnTo>
                    <a:pt x="296" y="421"/>
                  </a:lnTo>
                  <a:lnTo>
                    <a:pt x="291" y="418"/>
                  </a:lnTo>
                  <a:lnTo>
                    <a:pt x="287" y="414"/>
                  </a:lnTo>
                  <a:lnTo>
                    <a:pt x="283" y="411"/>
                  </a:lnTo>
                  <a:lnTo>
                    <a:pt x="279" y="408"/>
                  </a:lnTo>
                  <a:lnTo>
                    <a:pt x="276" y="404"/>
                  </a:lnTo>
                  <a:lnTo>
                    <a:pt x="270" y="401"/>
                  </a:lnTo>
                  <a:lnTo>
                    <a:pt x="266" y="397"/>
                  </a:lnTo>
                  <a:lnTo>
                    <a:pt x="261" y="394"/>
                  </a:lnTo>
                  <a:lnTo>
                    <a:pt x="257" y="391"/>
                  </a:lnTo>
                  <a:lnTo>
                    <a:pt x="252" y="387"/>
                  </a:lnTo>
                  <a:lnTo>
                    <a:pt x="247" y="384"/>
                  </a:lnTo>
                  <a:lnTo>
                    <a:pt x="242" y="381"/>
                  </a:lnTo>
                  <a:lnTo>
                    <a:pt x="237" y="380"/>
                  </a:lnTo>
                  <a:lnTo>
                    <a:pt x="232" y="376"/>
                  </a:lnTo>
                  <a:lnTo>
                    <a:pt x="227" y="373"/>
                  </a:lnTo>
                  <a:lnTo>
                    <a:pt x="223" y="371"/>
                  </a:lnTo>
                  <a:lnTo>
                    <a:pt x="217" y="370"/>
                  </a:lnTo>
                  <a:lnTo>
                    <a:pt x="212" y="367"/>
                  </a:lnTo>
                  <a:lnTo>
                    <a:pt x="207" y="364"/>
                  </a:lnTo>
                  <a:lnTo>
                    <a:pt x="202" y="364"/>
                  </a:lnTo>
                  <a:lnTo>
                    <a:pt x="196" y="361"/>
                  </a:lnTo>
                  <a:lnTo>
                    <a:pt x="192" y="361"/>
                  </a:lnTo>
                  <a:lnTo>
                    <a:pt x="185" y="358"/>
                  </a:lnTo>
                  <a:lnTo>
                    <a:pt x="179" y="358"/>
                  </a:lnTo>
                  <a:lnTo>
                    <a:pt x="175" y="357"/>
                  </a:lnTo>
                  <a:lnTo>
                    <a:pt x="168" y="356"/>
                  </a:lnTo>
                  <a:lnTo>
                    <a:pt x="163" y="356"/>
                  </a:lnTo>
                  <a:lnTo>
                    <a:pt x="156" y="356"/>
                  </a:lnTo>
                  <a:lnTo>
                    <a:pt x="151" y="356"/>
                  </a:lnTo>
                  <a:lnTo>
                    <a:pt x="145" y="356"/>
                  </a:lnTo>
                  <a:lnTo>
                    <a:pt x="139" y="356"/>
                  </a:lnTo>
                  <a:lnTo>
                    <a:pt x="134" y="356"/>
                  </a:lnTo>
                  <a:lnTo>
                    <a:pt x="128" y="358"/>
                  </a:lnTo>
                  <a:lnTo>
                    <a:pt x="121" y="358"/>
                  </a:lnTo>
                  <a:lnTo>
                    <a:pt x="117" y="360"/>
                  </a:lnTo>
                  <a:lnTo>
                    <a:pt x="109" y="361"/>
                  </a:lnTo>
                  <a:lnTo>
                    <a:pt x="104" y="364"/>
                  </a:lnTo>
                  <a:lnTo>
                    <a:pt x="98" y="366"/>
                  </a:lnTo>
                  <a:lnTo>
                    <a:pt x="91" y="370"/>
                  </a:lnTo>
                  <a:lnTo>
                    <a:pt x="85" y="371"/>
                  </a:lnTo>
                  <a:lnTo>
                    <a:pt x="80" y="376"/>
                  </a:lnTo>
                  <a:lnTo>
                    <a:pt x="71" y="380"/>
                  </a:lnTo>
                  <a:lnTo>
                    <a:pt x="67" y="383"/>
                  </a:lnTo>
                  <a:lnTo>
                    <a:pt x="61" y="385"/>
                  </a:lnTo>
                  <a:lnTo>
                    <a:pt x="55" y="390"/>
                  </a:lnTo>
                  <a:lnTo>
                    <a:pt x="50" y="394"/>
                  </a:lnTo>
                  <a:lnTo>
                    <a:pt x="46" y="398"/>
                  </a:lnTo>
                  <a:lnTo>
                    <a:pt x="41" y="404"/>
                  </a:lnTo>
                  <a:lnTo>
                    <a:pt x="37" y="410"/>
                  </a:lnTo>
                  <a:lnTo>
                    <a:pt x="33" y="414"/>
                  </a:lnTo>
                  <a:lnTo>
                    <a:pt x="30" y="418"/>
                  </a:lnTo>
                  <a:lnTo>
                    <a:pt x="26" y="424"/>
                  </a:lnTo>
                  <a:lnTo>
                    <a:pt x="23" y="430"/>
                  </a:lnTo>
                  <a:lnTo>
                    <a:pt x="20" y="435"/>
                  </a:lnTo>
                  <a:lnTo>
                    <a:pt x="17" y="441"/>
                  </a:lnTo>
                  <a:lnTo>
                    <a:pt x="14" y="448"/>
                  </a:lnTo>
                  <a:lnTo>
                    <a:pt x="13" y="452"/>
                  </a:lnTo>
                  <a:lnTo>
                    <a:pt x="11" y="458"/>
                  </a:lnTo>
                  <a:lnTo>
                    <a:pt x="9" y="465"/>
                  </a:lnTo>
                  <a:lnTo>
                    <a:pt x="7" y="471"/>
                  </a:lnTo>
                  <a:lnTo>
                    <a:pt x="6" y="478"/>
                  </a:lnTo>
                  <a:lnTo>
                    <a:pt x="4" y="484"/>
                  </a:lnTo>
                  <a:lnTo>
                    <a:pt x="3" y="491"/>
                  </a:lnTo>
                  <a:lnTo>
                    <a:pt x="3" y="498"/>
                  </a:lnTo>
                  <a:lnTo>
                    <a:pt x="3" y="504"/>
                  </a:lnTo>
                  <a:lnTo>
                    <a:pt x="1" y="509"/>
                  </a:lnTo>
                  <a:lnTo>
                    <a:pt x="0" y="516"/>
                  </a:lnTo>
                  <a:lnTo>
                    <a:pt x="0" y="523"/>
                  </a:lnTo>
                  <a:lnTo>
                    <a:pt x="0" y="529"/>
                  </a:lnTo>
                  <a:lnTo>
                    <a:pt x="0" y="535"/>
                  </a:lnTo>
                  <a:lnTo>
                    <a:pt x="0" y="542"/>
                  </a:lnTo>
                  <a:lnTo>
                    <a:pt x="1" y="549"/>
                  </a:lnTo>
                  <a:lnTo>
                    <a:pt x="1" y="555"/>
                  </a:lnTo>
                  <a:lnTo>
                    <a:pt x="1" y="560"/>
                  </a:lnTo>
                  <a:lnTo>
                    <a:pt x="3" y="568"/>
                  </a:lnTo>
                  <a:lnTo>
                    <a:pt x="3" y="573"/>
                  </a:lnTo>
                  <a:lnTo>
                    <a:pt x="4" y="580"/>
                  </a:lnTo>
                  <a:lnTo>
                    <a:pt x="4" y="585"/>
                  </a:lnTo>
                  <a:lnTo>
                    <a:pt x="6" y="590"/>
                  </a:lnTo>
                  <a:lnTo>
                    <a:pt x="6" y="596"/>
                  </a:lnTo>
                  <a:lnTo>
                    <a:pt x="7" y="603"/>
                  </a:lnTo>
                  <a:lnTo>
                    <a:pt x="9" y="607"/>
                  </a:lnTo>
                  <a:lnTo>
                    <a:pt x="9" y="613"/>
                  </a:lnTo>
                  <a:lnTo>
                    <a:pt x="10" y="617"/>
                  </a:lnTo>
                  <a:lnTo>
                    <a:pt x="11" y="624"/>
                  </a:lnTo>
                  <a:lnTo>
                    <a:pt x="13" y="629"/>
                  </a:lnTo>
                  <a:lnTo>
                    <a:pt x="14" y="633"/>
                  </a:lnTo>
                  <a:lnTo>
                    <a:pt x="14" y="637"/>
                  </a:lnTo>
                  <a:lnTo>
                    <a:pt x="16" y="643"/>
                  </a:lnTo>
                  <a:lnTo>
                    <a:pt x="17" y="646"/>
                  </a:lnTo>
                  <a:lnTo>
                    <a:pt x="19" y="651"/>
                  </a:lnTo>
                  <a:lnTo>
                    <a:pt x="19" y="654"/>
                  </a:lnTo>
                  <a:lnTo>
                    <a:pt x="20" y="659"/>
                  </a:lnTo>
                  <a:lnTo>
                    <a:pt x="20" y="661"/>
                  </a:lnTo>
                  <a:lnTo>
                    <a:pt x="23" y="664"/>
                  </a:lnTo>
                  <a:lnTo>
                    <a:pt x="23" y="667"/>
                  </a:lnTo>
                  <a:lnTo>
                    <a:pt x="24" y="670"/>
                  </a:lnTo>
                  <a:lnTo>
                    <a:pt x="26" y="673"/>
                  </a:lnTo>
                  <a:lnTo>
                    <a:pt x="27" y="677"/>
                  </a:lnTo>
                  <a:lnTo>
                    <a:pt x="27" y="680"/>
                  </a:lnTo>
                  <a:lnTo>
                    <a:pt x="28" y="680"/>
                  </a:lnTo>
                  <a:close/>
                </a:path>
              </a:pathLst>
            </a:custGeom>
            <a:solidFill>
              <a:srgbClr val="2A40E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9" name="Freeform 11"/>
            <p:cNvSpPr>
              <a:spLocks/>
            </p:cNvSpPr>
            <p:nvPr/>
          </p:nvSpPr>
          <p:spPr bwMode="auto">
            <a:xfrm>
              <a:off x="2044" y="1293"/>
              <a:ext cx="95" cy="137"/>
            </a:xfrm>
            <a:custGeom>
              <a:avLst/>
              <a:gdLst>
                <a:gd name="T0" fmla="*/ 0 w 285"/>
                <a:gd name="T1" fmla="*/ 0 h 411"/>
                <a:gd name="T2" fmla="*/ 0 w 285"/>
                <a:gd name="T3" fmla="*/ 0 h 411"/>
                <a:gd name="T4" fmla="*/ 0 w 285"/>
                <a:gd name="T5" fmla="*/ 0 h 411"/>
                <a:gd name="T6" fmla="*/ 0 w 285"/>
                <a:gd name="T7" fmla="*/ 0 h 411"/>
                <a:gd name="T8" fmla="*/ 0 w 285"/>
                <a:gd name="T9" fmla="*/ 0 h 411"/>
                <a:gd name="T10" fmla="*/ 0 w 285"/>
                <a:gd name="T11" fmla="*/ 0 h 411"/>
                <a:gd name="T12" fmla="*/ 0 w 285"/>
                <a:gd name="T13" fmla="*/ 0 h 411"/>
                <a:gd name="T14" fmla="*/ 0 w 285"/>
                <a:gd name="T15" fmla="*/ 0 h 411"/>
                <a:gd name="T16" fmla="*/ 0 w 285"/>
                <a:gd name="T17" fmla="*/ 0 h 411"/>
                <a:gd name="T18" fmla="*/ 0 w 285"/>
                <a:gd name="T19" fmla="*/ 0 h 411"/>
                <a:gd name="T20" fmla="*/ 0 w 285"/>
                <a:gd name="T21" fmla="*/ 0 h 411"/>
                <a:gd name="T22" fmla="*/ 0 w 285"/>
                <a:gd name="T23" fmla="*/ 0 h 411"/>
                <a:gd name="T24" fmla="*/ 0 w 285"/>
                <a:gd name="T25" fmla="*/ 0 h 411"/>
                <a:gd name="T26" fmla="*/ 0 w 285"/>
                <a:gd name="T27" fmla="*/ 0 h 411"/>
                <a:gd name="T28" fmla="*/ 0 w 285"/>
                <a:gd name="T29" fmla="*/ 0 h 411"/>
                <a:gd name="T30" fmla="*/ 0 w 285"/>
                <a:gd name="T31" fmla="*/ 0 h 411"/>
                <a:gd name="T32" fmla="*/ 0 w 285"/>
                <a:gd name="T33" fmla="*/ 0 h 411"/>
                <a:gd name="T34" fmla="*/ 0 w 285"/>
                <a:gd name="T35" fmla="*/ 0 h 411"/>
                <a:gd name="T36" fmla="*/ 0 w 285"/>
                <a:gd name="T37" fmla="*/ 0 h 411"/>
                <a:gd name="T38" fmla="*/ 0 w 285"/>
                <a:gd name="T39" fmla="*/ 0 h 411"/>
                <a:gd name="T40" fmla="*/ 0 w 285"/>
                <a:gd name="T41" fmla="*/ 0 h 411"/>
                <a:gd name="T42" fmla="*/ 0 w 285"/>
                <a:gd name="T43" fmla="*/ 0 h 411"/>
                <a:gd name="T44" fmla="*/ 0 w 285"/>
                <a:gd name="T45" fmla="*/ 0 h 411"/>
                <a:gd name="T46" fmla="*/ 0 w 285"/>
                <a:gd name="T47" fmla="*/ 0 h 411"/>
                <a:gd name="T48" fmla="*/ 0 w 285"/>
                <a:gd name="T49" fmla="*/ 0 h 411"/>
                <a:gd name="T50" fmla="*/ 0 w 285"/>
                <a:gd name="T51" fmla="*/ 0 h 411"/>
                <a:gd name="T52" fmla="*/ 0 w 285"/>
                <a:gd name="T53" fmla="*/ 0 h 411"/>
                <a:gd name="T54" fmla="*/ 0 w 285"/>
                <a:gd name="T55" fmla="*/ 0 h 411"/>
                <a:gd name="T56" fmla="*/ 0 w 285"/>
                <a:gd name="T57" fmla="*/ 0 h 411"/>
                <a:gd name="T58" fmla="*/ 0 w 285"/>
                <a:gd name="T59" fmla="*/ 0 h 411"/>
                <a:gd name="T60" fmla="*/ 0 w 285"/>
                <a:gd name="T61" fmla="*/ 0 h 411"/>
                <a:gd name="T62" fmla="*/ 0 w 285"/>
                <a:gd name="T63" fmla="*/ 0 h 411"/>
                <a:gd name="T64" fmla="*/ 0 w 285"/>
                <a:gd name="T65" fmla="*/ 0 h 411"/>
                <a:gd name="T66" fmla="*/ 0 w 285"/>
                <a:gd name="T67" fmla="*/ 0 h 411"/>
                <a:gd name="T68" fmla="*/ 0 w 285"/>
                <a:gd name="T69" fmla="*/ 0 h 411"/>
                <a:gd name="T70" fmla="*/ 0 w 285"/>
                <a:gd name="T71" fmla="*/ 0 h 411"/>
                <a:gd name="T72" fmla="*/ 0 w 285"/>
                <a:gd name="T73" fmla="*/ 0 h 411"/>
                <a:gd name="T74" fmla="*/ 0 w 285"/>
                <a:gd name="T75" fmla="*/ 0 h 411"/>
                <a:gd name="T76" fmla="*/ 0 w 285"/>
                <a:gd name="T77" fmla="*/ 0 h 411"/>
                <a:gd name="T78" fmla="*/ 0 w 285"/>
                <a:gd name="T79" fmla="*/ 0 h 411"/>
                <a:gd name="T80" fmla="*/ 0 w 285"/>
                <a:gd name="T81" fmla="*/ 0 h 411"/>
                <a:gd name="T82" fmla="*/ 0 w 285"/>
                <a:gd name="T83" fmla="*/ 0 h 411"/>
                <a:gd name="T84" fmla="*/ 0 w 285"/>
                <a:gd name="T85" fmla="*/ 0 h 411"/>
                <a:gd name="T86" fmla="*/ 0 w 285"/>
                <a:gd name="T87" fmla="*/ 0 h 411"/>
                <a:gd name="T88" fmla="*/ 0 w 285"/>
                <a:gd name="T89" fmla="*/ 0 h 411"/>
                <a:gd name="T90" fmla="*/ 0 w 285"/>
                <a:gd name="T91" fmla="*/ 0 h 411"/>
                <a:gd name="T92" fmla="*/ 0 w 285"/>
                <a:gd name="T93" fmla="*/ 0 h 411"/>
                <a:gd name="T94" fmla="*/ 0 w 285"/>
                <a:gd name="T95" fmla="*/ 0 h 411"/>
                <a:gd name="T96" fmla="*/ 0 w 285"/>
                <a:gd name="T97" fmla="*/ 0 h 411"/>
                <a:gd name="T98" fmla="*/ 0 w 285"/>
                <a:gd name="T99" fmla="*/ 0 h 411"/>
                <a:gd name="T100" fmla="*/ 0 w 285"/>
                <a:gd name="T101" fmla="*/ 0 h 411"/>
                <a:gd name="T102" fmla="*/ 0 w 285"/>
                <a:gd name="T103" fmla="*/ 0 h 411"/>
                <a:gd name="T104" fmla="*/ 0 w 285"/>
                <a:gd name="T105" fmla="*/ 0 h 411"/>
                <a:gd name="T106" fmla="*/ 0 w 285"/>
                <a:gd name="T107" fmla="*/ 0 h 411"/>
                <a:gd name="T108" fmla="*/ 0 w 285"/>
                <a:gd name="T109" fmla="*/ 0 h 411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85"/>
                <a:gd name="T166" fmla="*/ 0 h 411"/>
                <a:gd name="T167" fmla="*/ 285 w 285"/>
                <a:gd name="T168" fmla="*/ 411 h 411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85" h="411">
                  <a:moveTo>
                    <a:pt x="284" y="330"/>
                  </a:moveTo>
                  <a:lnTo>
                    <a:pt x="283" y="326"/>
                  </a:lnTo>
                  <a:lnTo>
                    <a:pt x="283" y="323"/>
                  </a:lnTo>
                  <a:lnTo>
                    <a:pt x="281" y="319"/>
                  </a:lnTo>
                  <a:lnTo>
                    <a:pt x="280" y="316"/>
                  </a:lnTo>
                  <a:lnTo>
                    <a:pt x="278" y="312"/>
                  </a:lnTo>
                  <a:lnTo>
                    <a:pt x="277" y="307"/>
                  </a:lnTo>
                  <a:lnTo>
                    <a:pt x="275" y="303"/>
                  </a:lnTo>
                  <a:lnTo>
                    <a:pt x="274" y="300"/>
                  </a:lnTo>
                  <a:lnTo>
                    <a:pt x="270" y="294"/>
                  </a:lnTo>
                  <a:lnTo>
                    <a:pt x="268" y="290"/>
                  </a:lnTo>
                  <a:lnTo>
                    <a:pt x="266" y="286"/>
                  </a:lnTo>
                  <a:lnTo>
                    <a:pt x="264" y="282"/>
                  </a:lnTo>
                  <a:lnTo>
                    <a:pt x="261" y="277"/>
                  </a:lnTo>
                  <a:lnTo>
                    <a:pt x="258" y="272"/>
                  </a:lnTo>
                  <a:lnTo>
                    <a:pt x="256" y="267"/>
                  </a:lnTo>
                  <a:lnTo>
                    <a:pt x="254" y="263"/>
                  </a:lnTo>
                  <a:lnTo>
                    <a:pt x="251" y="257"/>
                  </a:lnTo>
                  <a:lnTo>
                    <a:pt x="248" y="253"/>
                  </a:lnTo>
                  <a:lnTo>
                    <a:pt x="246" y="248"/>
                  </a:lnTo>
                  <a:lnTo>
                    <a:pt x="243" y="243"/>
                  </a:lnTo>
                  <a:lnTo>
                    <a:pt x="240" y="239"/>
                  </a:lnTo>
                  <a:lnTo>
                    <a:pt x="239" y="235"/>
                  </a:lnTo>
                  <a:lnTo>
                    <a:pt x="236" y="230"/>
                  </a:lnTo>
                  <a:lnTo>
                    <a:pt x="233" y="226"/>
                  </a:lnTo>
                  <a:lnTo>
                    <a:pt x="231" y="222"/>
                  </a:lnTo>
                  <a:lnTo>
                    <a:pt x="230" y="219"/>
                  </a:lnTo>
                  <a:lnTo>
                    <a:pt x="229" y="213"/>
                  </a:lnTo>
                  <a:lnTo>
                    <a:pt x="227" y="212"/>
                  </a:lnTo>
                  <a:lnTo>
                    <a:pt x="224" y="206"/>
                  </a:lnTo>
                  <a:lnTo>
                    <a:pt x="224" y="203"/>
                  </a:lnTo>
                  <a:lnTo>
                    <a:pt x="224" y="201"/>
                  </a:lnTo>
                  <a:lnTo>
                    <a:pt x="224" y="199"/>
                  </a:lnTo>
                  <a:lnTo>
                    <a:pt x="223" y="196"/>
                  </a:lnTo>
                  <a:lnTo>
                    <a:pt x="223" y="193"/>
                  </a:lnTo>
                  <a:lnTo>
                    <a:pt x="223" y="191"/>
                  </a:lnTo>
                  <a:lnTo>
                    <a:pt x="223" y="188"/>
                  </a:lnTo>
                  <a:lnTo>
                    <a:pt x="223" y="184"/>
                  </a:lnTo>
                  <a:lnTo>
                    <a:pt x="224" y="181"/>
                  </a:lnTo>
                  <a:lnTo>
                    <a:pt x="224" y="175"/>
                  </a:lnTo>
                  <a:lnTo>
                    <a:pt x="226" y="172"/>
                  </a:lnTo>
                  <a:lnTo>
                    <a:pt x="226" y="168"/>
                  </a:lnTo>
                  <a:lnTo>
                    <a:pt x="227" y="164"/>
                  </a:lnTo>
                  <a:lnTo>
                    <a:pt x="229" y="159"/>
                  </a:lnTo>
                  <a:lnTo>
                    <a:pt x="230" y="154"/>
                  </a:lnTo>
                  <a:lnTo>
                    <a:pt x="230" y="148"/>
                  </a:lnTo>
                  <a:lnTo>
                    <a:pt x="230" y="144"/>
                  </a:lnTo>
                  <a:lnTo>
                    <a:pt x="231" y="138"/>
                  </a:lnTo>
                  <a:lnTo>
                    <a:pt x="233" y="134"/>
                  </a:lnTo>
                  <a:lnTo>
                    <a:pt x="233" y="131"/>
                  </a:lnTo>
                  <a:lnTo>
                    <a:pt x="233" y="127"/>
                  </a:lnTo>
                  <a:lnTo>
                    <a:pt x="233" y="124"/>
                  </a:lnTo>
                  <a:lnTo>
                    <a:pt x="233" y="121"/>
                  </a:lnTo>
                  <a:lnTo>
                    <a:pt x="233" y="118"/>
                  </a:lnTo>
                  <a:lnTo>
                    <a:pt x="233" y="115"/>
                  </a:lnTo>
                  <a:lnTo>
                    <a:pt x="233" y="112"/>
                  </a:lnTo>
                  <a:lnTo>
                    <a:pt x="233" y="111"/>
                  </a:lnTo>
                  <a:lnTo>
                    <a:pt x="233" y="107"/>
                  </a:lnTo>
                  <a:lnTo>
                    <a:pt x="233" y="104"/>
                  </a:lnTo>
                  <a:lnTo>
                    <a:pt x="233" y="101"/>
                  </a:lnTo>
                  <a:lnTo>
                    <a:pt x="233" y="98"/>
                  </a:lnTo>
                  <a:lnTo>
                    <a:pt x="233" y="95"/>
                  </a:lnTo>
                  <a:lnTo>
                    <a:pt x="233" y="92"/>
                  </a:lnTo>
                  <a:lnTo>
                    <a:pt x="231" y="90"/>
                  </a:lnTo>
                  <a:lnTo>
                    <a:pt x="231" y="87"/>
                  </a:lnTo>
                  <a:lnTo>
                    <a:pt x="230" y="84"/>
                  </a:lnTo>
                  <a:lnTo>
                    <a:pt x="230" y="81"/>
                  </a:lnTo>
                  <a:lnTo>
                    <a:pt x="230" y="78"/>
                  </a:lnTo>
                  <a:lnTo>
                    <a:pt x="229" y="75"/>
                  </a:lnTo>
                  <a:lnTo>
                    <a:pt x="227" y="71"/>
                  </a:lnTo>
                  <a:lnTo>
                    <a:pt x="226" y="68"/>
                  </a:lnTo>
                  <a:lnTo>
                    <a:pt x="224" y="65"/>
                  </a:lnTo>
                  <a:lnTo>
                    <a:pt x="224" y="63"/>
                  </a:lnTo>
                  <a:lnTo>
                    <a:pt x="223" y="60"/>
                  </a:lnTo>
                  <a:lnTo>
                    <a:pt x="221" y="57"/>
                  </a:lnTo>
                  <a:lnTo>
                    <a:pt x="220" y="54"/>
                  </a:lnTo>
                  <a:lnTo>
                    <a:pt x="219" y="51"/>
                  </a:lnTo>
                  <a:lnTo>
                    <a:pt x="214" y="47"/>
                  </a:lnTo>
                  <a:lnTo>
                    <a:pt x="210" y="40"/>
                  </a:lnTo>
                  <a:lnTo>
                    <a:pt x="207" y="37"/>
                  </a:lnTo>
                  <a:lnTo>
                    <a:pt x="206" y="34"/>
                  </a:lnTo>
                  <a:lnTo>
                    <a:pt x="203" y="31"/>
                  </a:lnTo>
                  <a:lnTo>
                    <a:pt x="202" y="30"/>
                  </a:lnTo>
                  <a:lnTo>
                    <a:pt x="196" y="26"/>
                  </a:lnTo>
                  <a:lnTo>
                    <a:pt x="190" y="21"/>
                  </a:lnTo>
                  <a:lnTo>
                    <a:pt x="186" y="19"/>
                  </a:lnTo>
                  <a:lnTo>
                    <a:pt x="183" y="16"/>
                  </a:lnTo>
                  <a:lnTo>
                    <a:pt x="180" y="16"/>
                  </a:lnTo>
                  <a:lnTo>
                    <a:pt x="177" y="13"/>
                  </a:lnTo>
                  <a:lnTo>
                    <a:pt x="175" y="11"/>
                  </a:lnTo>
                  <a:lnTo>
                    <a:pt x="173" y="10"/>
                  </a:lnTo>
                  <a:lnTo>
                    <a:pt x="170" y="9"/>
                  </a:lnTo>
                  <a:lnTo>
                    <a:pt x="167" y="7"/>
                  </a:lnTo>
                  <a:lnTo>
                    <a:pt x="163" y="7"/>
                  </a:lnTo>
                  <a:lnTo>
                    <a:pt x="160" y="6"/>
                  </a:lnTo>
                  <a:lnTo>
                    <a:pt x="158" y="4"/>
                  </a:lnTo>
                  <a:lnTo>
                    <a:pt x="155" y="4"/>
                  </a:lnTo>
                  <a:lnTo>
                    <a:pt x="150" y="3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0" y="1"/>
                  </a:lnTo>
                  <a:lnTo>
                    <a:pt x="138" y="1"/>
                  </a:lnTo>
                  <a:lnTo>
                    <a:pt x="133" y="0"/>
                  </a:lnTo>
                  <a:lnTo>
                    <a:pt x="131" y="0"/>
                  </a:lnTo>
                  <a:lnTo>
                    <a:pt x="128" y="0"/>
                  </a:lnTo>
                  <a:lnTo>
                    <a:pt x="123" y="0"/>
                  </a:lnTo>
                  <a:lnTo>
                    <a:pt x="121" y="0"/>
                  </a:lnTo>
                  <a:lnTo>
                    <a:pt x="118" y="0"/>
                  </a:lnTo>
                  <a:lnTo>
                    <a:pt x="115" y="1"/>
                  </a:lnTo>
                  <a:lnTo>
                    <a:pt x="111" y="1"/>
                  </a:lnTo>
                  <a:lnTo>
                    <a:pt x="108" y="1"/>
                  </a:lnTo>
                  <a:lnTo>
                    <a:pt x="104" y="1"/>
                  </a:lnTo>
                  <a:lnTo>
                    <a:pt x="101" y="3"/>
                  </a:lnTo>
                  <a:lnTo>
                    <a:pt x="96" y="3"/>
                  </a:lnTo>
                  <a:lnTo>
                    <a:pt x="94" y="3"/>
                  </a:lnTo>
                  <a:lnTo>
                    <a:pt x="91" y="4"/>
                  </a:lnTo>
                  <a:lnTo>
                    <a:pt x="88" y="4"/>
                  </a:lnTo>
                  <a:lnTo>
                    <a:pt x="84" y="6"/>
                  </a:lnTo>
                  <a:lnTo>
                    <a:pt x="81" y="7"/>
                  </a:lnTo>
                  <a:lnTo>
                    <a:pt x="77" y="7"/>
                  </a:lnTo>
                  <a:lnTo>
                    <a:pt x="74" y="9"/>
                  </a:lnTo>
                  <a:lnTo>
                    <a:pt x="71" y="10"/>
                  </a:lnTo>
                  <a:lnTo>
                    <a:pt x="68" y="11"/>
                  </a:lnTo>
                  <a:lnTo>
                    <a:pt x="65" y="13"/>
                  </a:lnTo>
                  <a:lnTo>
                    <a:pt x="62" y="16"/>
                  </a:lnTo>
                  <a:lnTo>
                    <a:pt x="59" y="16"/>
                  </a:lnTo>
                  <a:lnTo>
                    <a:pt x="57" y="19"/>
                  </a:lnTo>
                  <a:lnTo>
                    <a:pt x="52" y="20"/>
                  </a:lnTo>
                  <a:lnTo>
                    <a:pt x="50" y="23"/>
                  </a:lnTo>
                  <a:lnTo>
                    <a:pt x="45" y="26"/>
                  </a:lnTo>
                  <a:lnTo>
                    <a:pt x="40" y="30"/>
                  </a:lnTo>
                  <a:lnTo>
                    <a:pt x="34" y="34"/>
                  </a:lnTo>
                  <a:lnTo>
                    <a:pt x="30" y="38"/>
                  </a:lnTo>
                  <a:lnTo>
                    <a:pt x="25" y="44"/>
                  </a:lnTo>
                  <a:lnTo>
                    <a:pt x="21" y="50"/>
                  </a:lnTo>
                  <a:lnTo>
                    <a:pt x="17" y="54"/>
                  </a:lnTo>
                  <a:lnTo>
                    <a:pt x="14" y="60"/>
                  </a:lnTo>
                  <a:lnTo>
                    <a:pt x="11" y="64"/>
                  </a:lnTo>
                  <a:lnTo>
                    <a:pt x="8" y="70"/>
                  </a:lnTo>
                  <a:lnTo>
                    <a:pt x="7" y="73"/>
                  </a:lnTo>
                  <a:lnTo>
                    <a:pt x="5" y="75"/>
                  </a:lnTo>
                  <a:lnTo>
                    <a:pt x="5" y="78"/>
                  </a:lnTo>
                  <a:lnTo>
                    <a:pt x="5" y="81"/>
                  </a:lnTo>
                  <a:lnTo>
                    <a:pt x="3" y="84"/>
                  </a:lnTo>
                  <a:lnTo>
                    <a:pt x="3" y="85"/>
                  </a:lnTo>
                  <a:lnTo>
                    <a:pt x="3" y="90"/>
                  </a:lnTo>
                  <a:lnTo>
                    <a:pt x="3" y="92"/>
                  </a:lnTo>
                  <a:lnTo>
                    <a:pt x="0" y="97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5"/>
                  </a:lnTo>
                  <a:lnTo>
                    <a:pt x="0" y="120"/>
                  </a:lnTo>
                  <a:lnTo>
                    <a:pt x="1" y="125"/>
                  </a:lnTo>
                  <a:lnTo>
                    <a:pt x="3" y="131"/>
                  </a:lnTo>
                  <a:lnTo>
                    <a:pt x="4" y="135"/>
                  </a:lnTo>
                  <a:lnTo>
                    <a:pt x="5" y="141"/>
                  </a:lnTo>
                  <a:lnTo>
                    <a:pt x="7" y="145"/>
                  </a:lnTo>
                  <a:lnTo>
                    <a:pt x="8" y="149"/>
                  </a:lnTo>
                  <a:lnTo>
                    <a:pt x="11" y="154"/>
                  </a:lnTo>
                  <a:lnTo>
                    <a:pt x="13" y="159"/>
                  </a:lnTo>
                  <a:lnTo>
                    <a:pt x="14" y="165"/>
                  </a:lnTo>
                  <a:lnTo>
                    <a:pt x="17" y="168"/>
                  </a:lnTo>
                  <a:lnTo>
                    <a:pt x="21" y="172"/>
                  </a:lnTo>
                  <a:lnTo>
                    <a:pt x="23" y="176"/>
                  </a:lnTo>
                  <a:lnTo>
                    <a:pt x="27" y="181"/>
                  </a:lnTo>
                  <a:lnTo>
                    <a:pt x="30" y="185"/>
                  </a:lnTo>
                  <a:lnTo>
                    <a:pt x="34" y="188"/>
                  </a:lnTo>
                  <a:lnTo>
                    <a:pt x="37" y="191"/>
                  </a:lnTo>
                  <a:lnTo>
                    <a:pt x="40" y="193"/>
                  </a:lnTo>
                  <a:lnTo>
                    <a:pt x="44" y="196"/>
                  </a:lnTo>
                  <a:lnTo>
                    <a:pt x="47" y="199"/>
                  </a:lnTo>
                  <a:lnTo>
                    <a:pt x="50" y="201"/>
                  </a:lnTo>
                  <a:lnTo>
                    <a:pt x="55" y="203"/>
                  </a:lnTo>
                  <a:lnTo>
                    <a:pt x="58" y="205"/>
                  </a:lnTo>
                  <a:lnTo>
                    <a:pt x="59" y="206"/>
                  </a:lnTo>
                  <a:lnTo>
                    <a:pt x="62" y="209"/>
                  </a:lnTo>
                  <a:lnTo>
                    <a:pt x="65" y="212"/>
                  </a:lnTo>
                  <a:lnTo>
                    <a:pt x="68" y="212"/>
                  </a:lnTo>
                  <a:lnTo>
                    <a:pt x="71" y="213"/>
                  </a:lnTo>
                  <a:lnTo>
                    <a:pt x="75" y="216"/>
                  </a:lnTo>
                  <a:lnTo>
                    <a:pt x="79" y="219"/>
                  </a:lnTo>
                  <a:lnTo>
                    <a:pt x="84" y="220"/>
                  </a:lnTo>
                  <a:lnTo>
                    <a:pt x="86" y="222"/>
                  </a:lnTo>
                  <a:lnTo>
                    <a:pt x="89" y="225"/>
                  </a:lnTo>
                  <a:lnTo>
                    <a:pt x="92" y="228"/>
                  </a:lnTo>
                  <a:lnTo>
                    <a:pt x="95" y="230"/>
                  </a:lnTo>
                  <a:lnTo>
                    <a:pt x="98" y="233"/>
                  </a:lnTo>
                  <a:lnTo>
                    <a:pt x="99" y="238"/>
                  </a:lnTo>
                  <a:lnTo>
                    <a:pt x="102" y="243"/>
                  </a:lnTo>
                  <a:lnTo>
                    <a:pt x="104" y="246"/>
                  </a:lnTo>
                  <a:lnTo>
                    <a:pt x="105" y="249"/>
                  </a:lnTo>
                  <a:lnTo>
                    <a:pt x="105" y="252"/>
                  </a:lnTo>
                  <a:lnTo>
                    <a:pt x="108" y="256"/>
                  </a:lnTo>
                  <a:lnTo>
                    <a:pt x="109" y="259"/>
                  </a:lnTo>
                  <a:lnTo>
                    <a:pt x="109" y="265"/>
                  </a:lnTo>
                  <a:lnTo>
                    <a:pt x="111" y="269"/>
                  </a:lnTo>
                  <a:lnTo>
                    <a:pt x="113" y="275"/>
                  </a:lnTo>
                  <a:lnTo>
                    <a:pt x="115" y="279"/>
                  </a:lnTo>
                  <a:lnTo>
                    <a:pt x="116" y="283"/>
                  </a:lnTo>
                  <a:lnTo>
                    <a:pt x="118" y="286"/>
                  </a:lnTo>
                  <a:lnTo>
                    <a:pt x="118" y="289"/>
                  </a:lnTo>
                  <a:lnTo>
                    <a:pt x="119" y="293"/>
                  </a:lnTo>
                  <a:lnTo>
                    <a:pt x="121" y="296"/>
                  </a:lnTo>
                  <a:lnTo>
                    <a:pt x="122" y="297"/>
                  </a:lnTo>
                  <a:lnTo>
                    <a:pt x="123" y="302"/>
                  </a:lnTo>
                  <a:lnTo>
                    <a:pt x="123" y="304"/>
                  </a:lnTo>
                  <a:lnTo>
                    <a:pt x="125" y="307"/>
                  </a:lnTo>
                  <a:lnTo>
                    <a:pt x="126" y="310"/>
                  </a:lnTo>
                  <a:lnTo>
                    <a:pt x="128" y="313"/>
                  </a:lnTo>
                  <a:lnTo>
                    <a:pt x="129" y="317"/>
                  </a:lnTo>
                  <a:lnTo>
                    <a:pt x="131" y="320"/>
                  </a:lnTo>
                  <a:lnTo>
                    <a:pt x="131" y="324"/>
                  </a:lnTo>
                  <a:lnTo>
                    <a:pt x="133" y="327"/>
                  </a:lnTo>
                  <a:lnTo>
                    <a:pt x="136" y="330"/>
                  </a:lnTo>
                  <a:lnTo>
                    <a:pt x="136" y="331"/>
                  </a:lnTo>
                  <a:lnTo>
                    <a:pt x="139" y="334"/>
                  </a:lnTo>
                  <a:lnTo>
                    <a:pt x="140" y="337"/>
                  </a:lnTo>
                  <a:lnTo>
                    <a:pt x="140" y="341"/>
                  </a:lnTo>
                  <a:lnTo>
                    <a:pt x="143" y="344"/>
                  </a:lnTo>
                  <a:lnTo>
                    <a:pt x="145" y="347"/>
                  </a:lnTo>
                  <a:lnTo>
                    <a:pt x="146" y="350"/>
                  </a:lnTo>
                  <a:lnTo>
                    <a:pt x="148" y="354"/>
                  </a:lnTo>
                  <a:lnTo>
                    <a:pt x="150" y="357"/>
                  </a:lnTo>
                  <a:lnTo>
                    <a:pt x="152" y="358"/>
                  </a:lnTo>
                  <a:lnTo>
                    <a:pt x="153" y="363"/>
                  </a:lnTo>
                  <a:lnTo>
                    <a:pt x="155" y="364"/>
                  </a:lnTo>
                  <a:lnTo>
                    <a:pt x="158" y="367"/>
                  </a:lnTo>
                  <a:lnTo>
                    <a:pt x="160" y="374"/>
                  </a:lnTo>
                  <a:lnTo>
                    <a:pt x="166" y="378"/>
                  </a:lnTo>
                  <a:lnTo>
                    <a:pt x="170" y="384"/>
                  </a:lnTo>
                  <a:lnTo>
                    <a:pt x="175" y="388"/>
                  </a:lnTo>
                  <a:lnTo>
                    <a:pt x="179" y="393"/>
                  </a:lnTo>
                  <a:lnTo>
                    <a:pt x="183" y="395"/>
                  </a:lnTo>
                  <a:lnTo>
                    <a:pt x="187" y="400"/>
                  </a:lnTo>
                  <a:lnTo>
                    <a:pt x="193" y="403"/>
                  </a:lnTo>
                  <a:lnTo>
                    <a:pt x="199" y="405"/>
                  </a:lnTo>
                  <a:lnTo>
                    <a:pt x="204" y="408"/>
                  </a:lnTo>
                  <a:lnTo>
                    <a:pt x="207" y="408"/>
                  </a:lnTo>
                  <a:lnTo>
                    <a:pt x="209" y="410"/>
                  </a:lnTo>
                  <a:lnTo>
                    <a:pt x="212" y="411"/>
                  </a:lnTo>
                  <a:lnTo>
                    <a:pt x="214" y="411"/>
                  </a:lnTo>
                  <a:lnTo>
                    <a:pt x="220" y="411"/>
                  </a:lnTo>
                  <a:lnTo>
                    <a:pt x="224" y="411"/>
                  </a:lnTo>
                  <a:lnTo>
                    <a:pt x="230" y="411"/>
                  </a:lnTo>
                  <a:lnTo>
                    <a:pt x="234" y="411"/>
                  </a:lnTo>
                  <a:lnTo>
                    <a:pt x="239" y="410"/>
                  </a:lnTo>
                  <a:lnTo>
                    <a:pt x="244" y="408"/>
                  </a:lnTo>
                  <a:lnTo>
                    <a:pt x="248" y="408"/>
                  </a:lnTo>
                  <a:lnTo>
                    <a:pt x="251" y="407"/>
                  </a:lnTo>
                  <a:lnTo>
                    <a:pt x="254" y="404"/>
                  </a:lnTo>
                  <a:lnTo>
                    <a:pt x="257" y="403"/>
                  </a:lnTo>
                  <a:lnTo>
                    <a:pt x="261" y="398"/>
                  </a:lnTo>
                  <a:lnTo>
                    <a:pt x="264" y="395"/>
                  </a:lnTo>
                  <a:lnTo>
                    <a:pt x="267" y="393"/>
                  </a:lnTo>
                  <a:lnTo>
                    <a:pt x="268" y="390"/>
                  </a:lnTo>
                  <a:lnTo>
                    <a:pt x="271" y="387"/>
                  </a:lnTo>
                  <a:lnTo>
                    <a:pt x="274" y="384"/>
                  </a:lnTo>
                  <a:lnTo>
                    <a:pt x="275" y="381"/>
                  </a:lnTo>
                  <a:lnTo>
                    <a:pt x="277" y="377"/>
                  </a:lnTo>
                  <a:lnTo>
                    <a:pt x="278" y="374"/>
                  </a:lnTo>
                  <a:lnTo>
                    <a:pt x="280" y="370"/>
                  </a:lnTo>
                  <a:lnTo>
                    <a:pt x="280" y="366"/>
                  </a:lnTo>
                  <a:lnTo>
                    <a:pt x="281" y="363"/>
                  </a:lnTo>
                  <a:lnTo>
                    <a:pt x="283" y="358"/>
                  </a:lnTo>
                  <a:lnTo>
                    <a:pt x="284" y="356"/>
                  </a:lnTo>
                  <a:lnTo>
                    <a:pt x="284" y="351"/>
                  </a:lnTo>
                  <a:lnTo>
                    <a:pt x="284" y="348"/>
                  </a:lnTo>
                  <a:lnTo>
                    <a:pt x="284" y="344"/>
                  </a:lnTo>
                  <a:lnTo>
                    <a:pt x="285" y="341"/>
                  </a:lnTo>
                  <a:lnTo>
                    <a:pt x="284" y="337"/>
                  </a:lnTo>
                  <a:lnTo>
                    <a:pt x="284" y="334"/>
                  </a:lnTo>
                  <a:lnTo>
                    <a:pt x="284" y="331"/>
                  </a:lnTo>
                  <a:lnTo>
                    <a:pt x="284" y="33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0" name="Freeform 12"/>
            <p:cNvSpPr>
              <a:spLocks/>
            </p:cNvSpPr>
            <p:nvPr/>
          </p:nvSpPr>
          <p:spPr bwMode="auto">
            <a:xfrm>
              <a:off x="1776" y="912"/>
              <a:ext cx="314" cy="278"/>
            </a:xfrm>
            <a:custGeom>
              <a:avLst/>
              <a:gdLst>
                <a:gd name="T0" fmla="*/ 0 w 942"/>
                <a:gd name="T1" fmla="*/ 0 h 833"/>
                <a:gd name="T2" fmla="*/ 0 w 942"/>
                <a:gd name="T3" fmla="*/ 0 h 833"/>
                <a:gd name="T4" fmla="*/ 0 w 942"/>
                <a:gd name="T5" fmla="*/ 0 h 833"/>
                <a:gd name="T6" fmla="*/ 0 w 942"/>
                <a:gd name="T7" fmla="*/ 0 h 833"/>
                <a:gd name="T8" fmla="*/ 0 w 942"/>
                <a:gd name="T9" fmla="*/ 0 h 833"/>
                <a:gd name="T10" fmla="*/ 0 w 942"/>
                <a:gd name="T11" fmla="*/ 0 h 833"/>
                <a:gd name="T12" fmla="*/ 0 w 942"/>
                <a:gd name="T13" fmla="*/ 0 h 833"/>
                <a:gd name="T14" fmla="*/ 0 w 942"/>
                <a:gd name="T15" fmla="*/ 0 h 833"/>
                <a:gd name="T16" fmla="*/ 0 w 942"/>
                <a:gd name="T17" fmla="*/ 0 h 833"/>
                <a:gd name="T18" fmla="*/ 0 w 942"/>
                <a:gd name="T19" fmla="*/ 0 h 833"/>
                <a:gd name="T20" fmla="*/ 0 w 942"/>
                <a:gd name="T21" fmla="*/ 0 h 833"/>
                <a:gd name="T22" fmla="*/ 0 w 942"/>
                <a:gd name="T23" fmla="*/ 0 h 833"/>
                <a:gd name="T24" fmla="*/ 0 w 942"/>
                <a:gd name="T25" fmla="*/ 0 h 833"/>
                <a:gd name="T26" fmla="*/ 0 w 942"/>
                <a:gd name="T27" fmla="*/ 0 h 833"/>
                <a:gd name="T28" fmla="*/ 0 w 942"/>
                <a:gd name="T29" fmla="*/ 0 h 833"/>
                <a:gd name="T30" fmla="*/ 0 w 942"/>
                <a:gd name="T31" fmla="*/ 0 h 833"/>
                <a:gd name="T32" fmla="*/ 0 w 942"/>
                <a:gd name="T33" fmla="*/ 0 h 833"/>
                <a:gd name="T34" fmla="*/ 0 w 942"/>
                <a:gd name="T35" fmla="*/ 0 h 833"/>
                <a:gd name="T36" fmla="*/ 0 w 942"/>
                <a:gd name="T37" fmla="*/ 0 h 833"/>
                <a:gd name="T38" fmla="*/ 0 w 942"/>
                <a:gd name="T39" fmla="*/ 0 h 833"/>
                <a:gd name="T40" fmla="*/ 0 w 942"/>
                <a:gd name="T41" fmla="*/ 0 h 833"/>
                <a:gd name="T42" fmla="*/ 0 w 942"/>
                <a:gd name="T43" fmla="*/ 0 h 833"/>
                <a:gd name="T44" fmla="*/ 0 w 942"/>
                <a:gd name="T45" fmla="*/ 0 h 833"/>
                <a:gd name="T46" fmla="*/ 0 w 942"/>
                <a:gd name="T47" fmla="*/ 0 h 833"/>
                <a:gd name="T48" fmla="*/ 0 w 942"/>
                <a:gd name="T49" fmla="*/ 0 h 833"/>
                <a:gd name="T50" fmla="*/ 0 w 942"/>
                <a:gd name="T51" fmla="*/ 0 h 833"/>
                <a:gd name="T52" fmla="*/ 0 w 942"/>
                <a:gd name="T53" fmla="*/ 0 h 833"/>
                <a:gd name="T54" fmla="*/ 0 w 942"/>
                <a:gd name="T55" fmla="*/ 0 h 833"/>
                <a:gd name="T56" fmla="*/ 0 w 942"/>
                <a:gd name="T57" fmla="*/ 0 h 833"/>
                <a:gd name="T58" fmla="*/ 0 w 942"/>
                <a:gd name="T59" fmla="*/ 0 h 833"/>
                <a:gd name="T60" fmla="*/ 0 w 942"/>
                <a:gd name="T61" fmla="*/ 0 h 833"/>
                <a:gd name="T62" fmla="*/ 0 w 942"/>
                <a:gd name="T63" fmla="*/ 0 h 833"/>
                <a:gd name="T64" fmla="*/ 0 w 942"/>
                <a:gd name="T65" fmla="*/ 0 h 833"/>
                <a:gd name="T66" fmla="*/ 0 w 942"/>
                <a:gd name="T67" fmla="*/ 0 h 833"/>
                <a:gd name="T68" fmla="*/ 0 w 942"/>
                <a:gd name="T69" fmla="*/ 0 h 833"/>
                <a:gd name="T70" fmla="*/ 0 w 942"/>
                <a:gd name="T71" fmla="*/ 0 h 833"/>
                <a:gd name="T72" fmla="*/ 0 w 942"/>
                <a:gd name="T73" fmla="*/ 0 h 833"/>
                <a:gd name="T74" fmla="*/ 0 w 942"/>
                <a:gd name="T75" fmla="*/ 0 h 833"/>
                <a:gd name="T76" fmla="*/ 0 w 942"/>
                <a:gd name="T77" fmla="*/ 0 h 833"/>
                <a:gd name="T78" fmla="*/ 0 w 942"/>
                <a:gd name="T79" fmla="*/ 0 h 833"/>
                <a:gd name="T80" fmla="*/ 0 w 942"/>
                <a:gd name="T81" fmla="*/ 0 h 833"/>
                <a:gd name="T82" fmla="*/ 0 w 942"/>
                <a:gd name="T83" fmla="*/ 0 h 833"/>
                <a:gd name="T84" fmla="*/ 0 w 942"/>
                <a:gd name="T85" fmla="*/ 0 h 833"/>
                <a:gd name="T86" fmla="*/ 0 w 942"/>
                <a:gd name="T87" fmla="*/ 0 h 833"/>
                <a:gd name="T88" fmla="*/ 0 w 942"/>
                <a:gd name="T89" fmla="*/ 0 h 833"/>
                <a:gd name="T90" fmla="*/ 0 w 942"/>
                <a:gd name="T91" fmla="*/ 0 h 833"/>
                <a:gd name="T92" fmla="*/ 0 w 942"/>
                <a:gd name="T93" fmla="*/ 0 h 833"/>
                <a:gd name="T94" fmla="*/ 0 w 942"/>
                <a:gd name="T95" fmla="*/ 0 h 833"/>
                <a:gd name="T96" fmla="*/ 0 w 942"/>
                <a:gd name="T97" fmla="*/ 0 h 833"/>
                <a:gd name="T98" fmla="*/ 0 w 942"/>
                <a:gd name="T99" fmla="*/ 0 h 833"/>
                <a:gd name="T100" fmla="*/ 0 w 942"/>
                <a:gd name="T101" fmla="*/ 0 h 833"/>
                <a:gd name="T102" fmla="*/ 0 w 942"/>
                <a:gd name="T103" fmla="*/ 0 h 833"/>
                <a:gd name="T104" fmla="*/ 0 w 942"/>
                <a:gd name="T105" fmla="*/ 0 h 833"/>
                <a:gd name="T106" fmla="*/ 0 w 942"/>
                <a:gd name="T107" fmla="*/ 0 h 833"/>
                <a:gd name="T108" fmla="*/ 0 w 942"/>
                <a:gd name="T109" fmla="*/ 0 h 833"/>
                <a:gd name="T110" fmla="*/ 0 w 942"/>
                <a:gd name="T111" fmla="*/ 0 h 833"/>
                <a:gd name="T112" fmla="*/ 0 w 942"/>
                <a:gd name="T113" fmla="*/ 0 h 833"/>
                <a:gd name="T114" fmla="*/ 0 w 942"/>
                <a:gd name="T115" fmla="*/ 0 h 833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942"/>
                <a:gd name="T175" fmla="*/ 0 h 833"/>
                <a:gd name="T176" fmla="*/ 942 w 942"/>
                <a:gd name="T177" fmla="*/ 833 h 833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942" h="833">
                  <a:moveTo>
                    <a:pt x="44" y="304"/>
                  </a:moveTo>
                  <a:lnTo>
                    <a:pt x="47" y="294"/>
                  </a:lnTo>
                  <a:lnTo>
                    <a:pt x="53" y="284"/>
                  </a:lnTo>
                  <a:lnTo>
                    <a:pt x="57" y="274"/>
                  </a:lnTo>
                  <a:lnTo>
                    <a:pt x="61" y="265"/>
                  </a:lnTo>
                  <a:lnTo>
                    <a:pt x="67" y="255"/>
                  </a:lnTo>
                  <a:lnTo>
                    <a:pt x="72" y="246"/>
                  </a:lnTo>
                  <a:lnTo>
                    <a:pt x="77" y="238"/>
                  </a:lnTo>
                  <a:lnTo>
                    <a:pt x="84" y="229"/>
                  </a:lnTo>
                  <a:lnTo>
                    <a:pt x="88" y="220"/>
                  </a:lnTo>
                  <a:lnTo>
                    <a:pt x="94" y="212"/>
                  </a:lnTo>
                  <a:lnTo>
                    <a:pt x="99" y="202"/>
                  </a:lnTo>
                  <a:lnTo>
                    <a:pt x="107" y="195"/>
                  </a:lnTo>
                  <a:lnTo>
                    <a:pt x="112" y="188"/>
                  </a:lnTo>
                  <a:lnTo>
                    <a:pt x="118" y="181"/>
                  </a:lnTo>
                  <a:lnTo>
                    <a:pt x="125" y="172"/>
                  </a:lnTo>
                  <a:lnTo>
                    <a:pt x="131" y="165"/>
                  </a:lnTo>
                  <a:lnTo>
                    <a:pt x="136" y="158"/>
                  </a:lnTo>
                  <a:lnTo>
                    <a:pt x="144" y="152"/>
                  </a:lnTo>
                  <a:lnTo>
                    <a:pt x="149" y="145"/>
                  </a:lnTo>
                  <a:lnTo>
                    <a:pt x="158" y="138"/>
                  </a:lnTo>
                  <a:lnTo>
                    <a:pt x="162" y="132"/>
                  </a:lnTo>
                  <a:lnTo>
                    <a:pt x="171" y="127"/>
                  </a:lnTo>
                  <a:lnTo>
                    <a:pt x="178" y="119"/>
                  </a:lnTo>
                  <a:lnTo>
                    <a:pt x="185" y="114"/>
                  </a:lnTo>
                  <a:lnTo>
                    <a:pt x="192" y="108"/>
                  </a:lnTo>
                  <a:lnTo>
                    <a:pt x="198" y="104"/>
                  </a:lnTo>
                  <a:lnTo>
                    <a:pt x="206" y="98"/>
                  </a:lnTo>
                  <a:lnTo>
                    <a:pt x="212" y="92"/>
                  </a:lnTo>
                  <a:lnTo>
                    <a:pt x="220" y="87"/>
                  </a:lnTo>
                  <a:lnTo>
                    <a:pt x="226" y="82"/>
                  </a:lnTo>
                  <a:lnTo>
                    <a:pt x="234" y="78"/>
                  </a:lnTo>
                  <a:lnTo>
                    <a:pt x="242" y="74"/>
                  </a:lnTo>
                  <a:lnTo>
                    <a:pt x="249" y="70"/>
                  </a:lnTo>
                  <a:lnTo>
                    <a:pt x="256" y="65"/>
                  </a:lnTo>
                  <a:lnTo>
                    <a:pt x="264" y="61"/>
                  </a:lnTo>
                  <a:lnTo>
                    <a:pt x="271" y="57"/>
                  </a:lnTo>
                  <a:lnTo>
                    <a:pt x="278" y="53"/>
                  </a:lnTo>
                  <a:lnTo>
                    <a:pt x="287" y="50"/>
                  </a:lnTo>
                  <a:lnTo>
                    <a:pt x="294" y="47"/>
                  </a:lnTo>
                  <a:lnTo>
                    <a:pt x="301" y="44"/>
                  </a:lnTo>
                  <a:lnTo>
                    <a:pt x="310" y="40"/>
                  </a:lnTo>
                  <a:lnTo>
                    <a:pt x="317" y="37"/>
                  </a:lnTo>
                  <a:lnTo>
                    <a:pt x="324" y="34"/>
                  </a:lnTo>
                  <a:lnTo>
                    <a:pt x="332" y="31"/>
                  </a:lnTo>
                  <a:lnTo>
                    <a:pt x="340" y="28"/>
                  </a:lnTo>
                  <a:lnTo>
                    <a:pt x="348" y="27"/>
                  </a:lnTo>
                  <a:lnTo>
                    <a:pt x="355" y="24"/>
                  </a:lnTo>
                  <a:lnTo>
                    <a:pt x="362" y="21"/>
                  </a:lnTo>
                  <a:lnTo>
                    <a:pt x="371" y="20"/>
                  </a:lnTo>
                  <a:lnTo>
                    <a:pt x="378" y="17"/>
                  </a:lnTo>
                  <a:lnTo>
                    <a:pt x="385" y="16"/>
                  </a:lnTo>
                  <a:lnTo>
                    <a:pt x="394" y="14"/>
                  </a:lnTo>
                  <a:lnTo>
                    <a:pt x="401" y="11"/>
                  </a:lnTo>
                  <a:lnTo>
                    <a:pt x="408" y="10"/>
                  </a:lnTo>
                  <a:lnTo>
                    <a:pt x="415" y="9"/>
                  </a:lnTo>
                  <a:lnTo>
                    <a:pt x="423" y="9"/>
                  </a:lnTo>
                  <a:lnTo>
                    <a:pt x="429" y="6"/>
                  </a:lnTo>
                  <a:lnTo>
                    <a:pt x="438" y="6"/>
                  </a:lnTo>
                  <a:lnTo>
                    <a:pt x="445" y="4"/>
                  </a:lnTo>
                  <a:lnTo>
                    <a:pt x="452" y="4"/>
                  </a:lnTo>
                  <a:lnTo>
                    <a:pt x="459" y="3"/>
                  </a:lnTo>
                  <a:lnTo>
                    <a:pt x="466" y="3"/>
                  </a:lnTo>
                  <a:lnTo>
                    <a:pt x="473" y="1"/>
                  </a:lnTo>
                  <a:lnTo>
                    <a:pt x="482" y="1"/>
                  </a:lnTo>
                  <a:lnTo>
                    <a:pt x="487" y="1"/>
                  </a:lnTo>
                  <a:lnTo>
                    <a:pt x="492" y="0"/>
                  </a:lnTo>
                  <a:lnTo>
                    <a:pt x="497" y="0"/>
                  </a:lnTo>
                  <a:lnTo>
                    <a:pt x="503" y="0"/>
                  </a:lnTo>
                  <a:lnTo>
                    <a:pt x="507" y="0"/>
                  </a:lnTo>
                  <a:lnTo>
                    <a:pt x="514" y="0"/>
                  </a:lnTo>
                  <a:lnTo>
                    <a:pt x="519" y="0"/>
                  </a:lnTo>
                  <a:lnTo>
                    <a:pt x="526" y="0"/>
                  </a:lnTo>
                  <a:lnTo>
                    <a:pt x="531" y="0"/>
                  </a:lnTo>
                  <a:lnTo>
                    <a:pt x="536" y="0"/>
                  </a:lnTo>
                  <a:lnTo>
                    <a:pt x="541" y="1"/>
                  </a:lnTo>
                  <a:lnTo>
                    <a:pt x="547" y="1"/>
                  </a:lnTo>
                  <a:lnTo>
                    <a:pt x="551" y="1"/>
                  </a:lnTo>
                  <a:lnTo>
                    <a:pt x="557" y="3"/>
                  </a:lnTo>
                  <a:lnTo>
                    <a:pt x="563" y="3"/>
                  </a:lnTo>
                  <a:lnTo>
                    <a:pt x="568" y="4"/>
                  </a:lnTo>
                  <a:lnTo>
                    <a:pt x="573" y="4"/>
                  </a:lnTo>
                  <a:lnTo>
                    <a:pt x="578" y="6"/>
                  </a:lnTo>
                  <a:lnTo>
                    <a:pt x="583" y="6"/>
                  </a:lnTo>
                  <a:lnTo>
                    <a:pt x="588" y="6"/>
                  </a:lnTo>
                  <a:lnTo>
                    <a:pt x="594" y="7"/>
                  </a:lnTo>
                  <a:lnTo>
                    <a:pt x="598" y="9"/>
                  </a:lnTo>
                  <a:lnTo>
                    <a:pt x="604" y="9"/>
                  </a:lnTo>
                  <a:lnTo>
                    <a:pt x="608" y="9"/>
                  </a:lnTo>
                  <a:lnTo>
                    <a:pt x="614" y="10"/>
                  </a:lnTo>
                  <a:lnTo>
                    <a:pt x="618" y="11"/>
                  </a:lnTo>
                  <a:lnTo>
                    <a:pt x="622" y="11"/>
                  </a:lnTo>
                  <a:lnTo>
                    <a:pt x="628" y="14"/>
                  </a:lnTo>
                  <a:lnTo>
                    <a:pt x="632" y="16"/>
                  </a:lnTo>
                  <a:lnTo>
                    <a:pt x="637" y="16"/>
                  </a:lnTo>
                  <a:lnTo>
                    <a:pt x="642" y="17"/>
                  </a:lnTo>
                  <a:lnTo>
                    <a:pt x="647" y="18"/>
                  </a:lnTo>
                  <a:lnTo>
                    <a:pt x="651" y="20"/>
                  </a:lnTo>
                  <a:lnTo>
                    <a:pt x="654" y="21"/>
                  </a:lnTo>
                  <a:lnTo>
                    <a:pt x="658" y="21"/>
                  </a:lnTo>
                  <a:lnTo>
                    <a:pt x="662" y="23"/>
                  </a:lnTo>
                  <a:lnTo>
                    <a:pt x="666" y="24"/>
                  </a:lnTo>
                  <a:lnTo>
                    <a:pt x="671" y="24"/>
                  </a:lnTo>
                  <a:lnTo>
                    <a:pt x="675" y="27"/>
                  </a:lnTo>
                  <a:lnTo>
                    <a:pt x="678" y="28"/>
                  </a:lnTo>
                  <a:lnTo>
                    <a:pt x="681" y="30"/>
                  </a:lnTo>
                  <a:lnTo>
                    <a:pt x="685" y="30"/>
                  </a:lnTo>
                  <a:lnTo>
                    <a:pt x="688" y="31"/>
                  </a:lnTo>
                  <a:lnTo>
                    <a:pt x="691" y="33"/>
                  </a:lnTo>
                  <a:lnTo>
                    <a:pt x="695" y="34"/>
                  </a:lnTo>
                  <a:lnTo>
                    <a:pt x="698" y="36"/>
                  </a:lnTo>
                  <a:lnTo>
                    <a:pt x="701" y="37"/>
                  </a:lnTo>
                  <a:lnTo>
                    <a:pt x="703" y="38"/>
                  </a:lnTo>
                  <a:lnTo>
                    <a:pt x="709" y="40"/>
                  </a:lnTo>
                  <a:lnTo>
                    <a:pt x="715" y="44"/>
                  </a:lnTo>
                  <a:lnTo>
                    <a:pt x="718" y="47"/>
                  </a:lnTo>
                  <a:lnTo>
                    <a:pt x="722" y="50"/>
                  </a:lnTo>
                  <a:lnTo>
                    <a:pt x="725" y="51"/>
                  </a:lnTo>
                  <a:lnTo>
                    <a:pt x="729" y="54"/>
                  </a:lnTo>
                  <a:lnTo>
                    <a:pt x="730" y="57"/>
                  </a:lnTo>
                  <a:lnTo>
                    <a:pt x="732" y="58"/>
                  </a:lnTo>
                  <a:lnTo>
                    <a:pt x="732" y="61"/>
                  </a:lnTo>
                  <a:lnTo>
                    <a:pt x="733" y="64"/>
                  </a:lnTo>
                  <a:lnTo>
                    <a:pt x="735" y="67"/>
                  </a:lnTo>
                  <a:lnTo>
                    <a:pt x="736" y="71"/>
                  </a:lnTo>
                  <a:lnTo>
                    <a:pt x="737" y="74"/>
                  </a:lnTo>
                  <a:lnTo>
                    <a:pt x="739" y="78"/>
                  </a:lnTo>
                  <a:lnTo>
                    <a:pt x="740" y="81"/>
                  </a:lnTo>
                  <a:lnTo>
                    <a:pt x="745" y="87"/>
                  </a:lnTo>
                  <a:lnTo>
                    <a:pt x="746" y="90"/>
                  </a:lnTo>
                  <a:lnTo>
                    <a:pt x="750" y="95"/>
                  </a:lnTo>
                  <a:lnTo>
                    <a:pt x="753" y="100"/>
                  </a:lnTo>
                  <a:lnTo>
                    <a:pt x="759" y="104"/>
                  </a:lnTo>
                  <a:lnTo>
                    <a:pt x="762" y="107"/>
                  </a:lnTo>
                  <a:lnTo>
                    <a:pt x="767" y="111"/>
                  </a:lnTo>
                  <a:lnTo>
                    <a:pt x="769" y="112"/>
                  </a:lnTo>
                  <a:lnTo>
                    <a:pt x="772" y="114"/>
                  </a:lnTo>
                  <a:lnTo>
                    <a:pt x="777" y="115"/>
                  </a:lnTo>
                  <a:lnTo>
                    <a:pt x="779" y="117"/>
                  </a:lnTo>
                  <a:lnTo>
                    <a:pt x="784" y="118"/>
                  </a:lnTo>
                  <a:lnTo>
                    <a:pt x="790" y="118"/>
                  </a:lnTo>
                  <a:lnTo>
                    <a:pt x="793" y="118"/>
                  </a:lnTo>
                  <a:lnTo>
                    <a:pt x="796" y="118"/>
                  </a:lnTo>
                  <a:lnTo>
                    <a:pt x="799" y="118"/>
                  </a:lnTo>
                  <a:lnTo>
                    <a:pt x="803" y="117"/>
                  </a:lnTo>
                  <a:lnTo>
                    <a:pt x="806" y="115"/>
                  </a:lnTo>
                  <a:lnTo>
                    <a:pt x="808" y="114"/>
                  </a:lnTo>
                  <a:lnTo>
                    <a:pt x="813" y="114"/>
                  </a:lnTo>
                  <a:lnTo>
                    <a:pt x="816" y="112"/>
                  </a:lnTo>
                  <a:lnTo>
                    <a:pt x="818" y="111"/>
                  </a:lnTo>
                  <a:lnTo>
                    <a:pt x="821" y="110"/>
                  </a:lnTo>
                  <a:lnTo>
                    <a:pt x="824" y="108"/>
                  </a:lnTo>
                  <a:lnTo>
                    <a:pt x="828" y="107"/>
                  </a:lnTo>
                  <a:lnTo>
                    <a:pt x="831" y="105"/>
                  </a:lnTo>
                  <a:lnTo>
                    <a:pt x="834" y="104"/>
                  </a:lnTo>
                  <a:lnTo>
                    <a:pt x="838" y="102"/>
                  </a:lnTo>
                  <a:lnTo>
                    <a:pt x="841" y="100"/>
                  </a:lnTo>
                  <a:lnTo>
                    <a:pt x="845" y="100"/>
                  </a:lnTo>
                  <a:lnTo>
                    <a:pt x="848" y="98"/>
                  </a:lnTo>
                  <a:lnTo>
                    <a:pt x="850" y="97"/>
                  </a:lnTo>
                  <a:lnTo>
                    <a:pt x="854" y="97"/>
                  </a:lnTo>
                  <a:lnTo>
                    <a:pt x="855" y="94"/>
                  </a:lnTo>
                  <a:lnTo>
                    <a:pt x="861" y="92"/>
                  </a:lnTo>
                  <a:lnTo>
                    <a:pt x="862" y="92"/>
                  </a:lnTo>
                  <a:lnTo>
                    <a:pt x="865" y="92"/>
                  </a:lnTo>
                  <a:lnTo>
                    <a:pt x="871" y="92"/>
                  </a:lnTo>
                  <a:lnTo>
                    <a:pt x="875" y="92"/>
                  </a:lnTo>
                  <a:lnTo>
                    <a:pt x="880" y="95"/>
                  </a:lnTo>
                  <a:lnTo>
                    <a:pt x="887" y="97"/>
                  </a:lnTo>
                  <a:lnTo>
                    <a:pt x="892" y="98"/>
                  </a:lnTo>
                  <a:lnTo>
                    <a:pt x="897" y="101"/>
                  </a:lnTo>
                  <a:lnTo>
                    <a:pt x="901" y="102"/>
                  </a:lnTo>
                  <a:lnTo>
                    <a:pt x="905" y="105"/>
                  </a:lnTo>
                  <a:lnTo>
                    <a:pt x="909" y="108"/>
                  </a:lnTo>
                  <a:lnTo>
                    <a:pt x="914" y="111"/>
                  </a:lnTo>
                  <a:lnTo>
                    <a:pt x="916" y="114"/>
                  </a:lnTo>
                  <a:lnTo>
                    <a:pt x="921" y="117"/>
                  </a:lnTo>
                  <a:lnTo>
                    <a:pt x="924" y="119"/>
                  </a:lnTo>
                  <a:lnTo>
                    <a:pt x="926" y="124"/>
                  </a:lnTo>
                  <a:lnTo>
                    <a:pt x="928" y="128"/>
                  </a:lnTo>
                  <a:lnTo>
                    <a:pt x="931" y="131"/>
                  </a:lnTo>
                  <a:lnTo>
                    <a:pt x="932" y="135"/>
                  </a:lnTo>
                  <a:lnTo>
                    <a:pt x="935" y="139"/>
                  </a:lnTo>
                  <a:lnTo>
                    <a:pt x="936" y="144"/>
                  </a:lnTo>
                  <a:lnTo>
                    <a:pt x="939" y="148"/>
                  </a:lnTo>
                  <a:lnTo>
                    <a:pt x="939" y="154"/>
                  </a:lnTo>
                  <a:lnTo>
                    <a:pt x="939" y="158"/>
                  </a:lnTo>
                  <a:lnTo>
                    <a:pt x="941" y="164"/>
                  </a:lnTo>
                  <a:lnTo>
                    <a:pt x="941" y="168"/>
                  </a:lnTo>
                  <a:lnTo>
                    <a:pt x="941" y="171"/>
                  </a:lnTo>
                  <a:lnTo>
                    <a:pt x="941" y="174"/>
                  </a:lnTo>
                  <a:lnTo>
                    <a:pt x="941" y="176"/>
                  </a:lnTo>
                  <a:lnTo>
                    <a:pt x="942" y="181"/>
                  </a:lnTo>
                  <a:lnTo>
                    <a:pt x="941" y="183"/>
                  </a:lnTo>
                  <a:lnTo>
                    <a:pt x="941" y="186"/>
                  </a:lnTo>
                  <a:lnTo>
                    <a:pt x="941" y="189"/>
                  </a:lnTo>
                  <a:lnTo>
                    <a:pt x="941" y="192"/>
                  </a:lnTo>
                  <a:lnTo>
                    <a:pt x="939" y="195"/>
                  </a:lnTo>
                  <a:lnTo>
                    <a:pt x="939" y="198"/>
                  </a:lnTo>
                  <a:lnTo>
                    <a:pt x="939" y="201"/>
                  </a:lnTo>
                  <a:lnTo>
                    <a:pt x="939" y="205"/>
                  </a:lnTo>
                  <a:lnTo>
                    <a:pt x="936" y="208"/>
                  </a:lnTo>
                  <a:lnTo>
                    <a:pt x="936" y="210"/>
                  </a:lnTo>
                  <a:lnTo>
                    <a:pt x="936" y="215"/>
                  </a:lnTo>
                  <a:lnTo>
                    <a:pt x="935" y="218"/>
                  </a:lnTo>
                  <a:lnTo>
                    <a:pt x="934" y="220"/>
                  </a:lnTo>
                  <a:lnTo>
                    <a:pt x="934" y="225"/>
                  </a:lnTo>
                  <a:lnTo>
                    <a:pt x="934" y="228"/>
                  </a:lnTo>
                  <a:lnTo>
                    <a:pt x="934" y="233"/>
                  </a:lnTo>
                  <a:lnTo>
                    <a:pt x="932" y="235"/>
                  </a:lnTo>
                  <a:lnTo>
                    <a:pt x="931" y="238"/>
                  </a:lnTo>
                  <a:lnTo>
                    <a:pt x="931" y="240"/>
                  </a:lnTo>
                  <a:lnTo>
                    <a:pt x="929" y="243"/>
                  </a:lnTo>
                  <a:lnTo>
                    <a:pt x="928" y="246"/>
                  </a:lnTo>
                  <a:lnTo>
                    <a:pt x="926" y="249"/>
                  </a:lnTo>
                  <a:lnTo>
                    <a:pt x="926" y="252"/>
                  </a:lnTo>
                  <a:lnTo>
                    <a:pt x="925" y="255"/>
                  </a:lnTo>
                  <a:lnTo>
                    <a:pt x="924" y="259"/>
                  </a:lnTo>
                  <a:lnTo>
                    <a:pt x="921" y="265"/>
                  </a:lnTo>
                  <a:lnTo>
                    <a:pt x="918" y="270"/>
                  </a:lnTo>
                  <a:lnTo>
                    <a:pt x="915" y="274"/>
                  </a:lnTo>
                  <a:lnTo>
                    <a:pt x="911" y="279"/>
                  </a:lnTo>
                  <a:lnTo>
                    <a:pt x="908" y="283"/>
                  </a:lnTo>
                  <a:lnTo>
                    <a:pt x="904" y="289"/>
                  </a:lnTo>
                  <a:lnTo>
                    <a:pt x="901" y="292"/>
                  </a:lnTo>
                  <a:lnTo>
                    <a:pt x="897" y="296"/>
                  </a:lnTo>
                  <a:lnTo>
                    <a:pt x="892" y="299"/>
                  </a:lnTo>
                  <a:lnTo>
                    <a:pt x="889" y="302"/>
                  </a:lnTo>
                  <a:lnTo>
                    <a:pt x="885" y="306"/>
                  </a:lnTo>
                  <a:lnTo>
                    <a:pt x="880" y="309"/>
                  </a:lnTo>
                  <a:lnTo>
                    <a:pt x="877" y="310"/>
                  </a:lnTo>
                  <a:lnTo>
                    <a:pt x="871" y="313"/>
                  </a:lnTo>
                  <a:lnTo>
                    <a:pt x="867" y="316"/>
                  </a:lnTo>
                  <a:lnTo>
                    <a:pt x="862" y="317"/>
                  </a:lnTo>
                  <a:lnTo>
                    <a:pt x="858" y="319"/>
                  </a:lnTo>
                  <a:lnTo>
                    <a:pt x="853" y="320"/>
                  </a:lnTo>
                  <a:lnTo>
                    <a:pt x="848" y="321"/>
                  </a:lnTo>
                  <a:lnTo>
                    <a:pt x="843" y="321"/>
                  </a:lnTo>
                  <a:lnTo>
                    <a:pt x="837" y="323"/>
                  </a:lnTo>
                  <a:lnTo>
                    <a:pt x="831" y="323"/>
                  </a:lnTo>
                  <a:lnTo>
                    <a:pt x="827" y="323"/>
                  </a:lnTo>
                  <a:lnTo>
                    <a:pt x="821" y="321"/>
                  </a:lnTo>
                  <a:lnTo>
                    <a:pt x="816" y="320"/>
                  </a:lnTo>
                  <a:lnTo>
                    <a:pt x="811" y="320"/>
                  </a:lnTo>
                  <a:lnTo>
                    <a:pt x="807" y="319"/>
                  </a:lnTo>
                  <a:lnTo>
                    <a:pt x="803" y="317"/>
                  </a:lnTo>
                  <a:lnTo>
                    <a:pt x="799" y="313"/>
                  </a:lnTo>
                  <a:lnTo>
                    <a:pt x="794" y="311"/>
                  </a:lnTo>
                  <a:lnTo>
                    <a:pt x="791" y="310"/>
                  </a:lnTo>
                  <a:lnTo>
                    <a:pt x="787" y="304"/>
                  </a:lnTo>
                  <a:lnTo>
                    <a:pt x="784" y="300"/>
                  </a:lnTo>
                  <a:lnTo>
                    <a:pt x="783" y="296"/>
                  </a:lnTo>
                  <a:lnTo>
                    <a:pt x="781" y="293"/>
                  </a:lnTo>
                  <a:lnTo>
                    <a:pt x="780" y="290"/>
                  </a:lnTo>
                  <a:lnTo>
                    <a:pt x="779" y="287"/>
                  </a:lnTo>
                  <a:lnTo>
                    <a:pt x="779" y="283"/>
                  </a:lnTo>
                  <a:lnTo>
                    <a:pt x="779" y="280"/>
                  </a:lnTo>
                  <a:lnTo>
                    <a:pt x="779" y="277"/>
                  </a:lnTo>
                  <a:lnTo>
                    <a:pt x="779" y="274"/>
                  </a:lnTo>
                  <a:lnTo>
                    <a:pt x="779" y="270"/>
                  </a:lnTo>
                  <a:lnTo>
                    <a:pt x="777" y="267"/>
                  </a:lnTo>
                  <a:lnTo>
                    <a:pt x="777" y="265"/>
                  </a:lnTo>
                  <a:lnTo>
                    <a:pt x="777" y="260"/>
                  </a:lnTo>
                  <a:lnTo>
                    <a:pt x="776" y="257"/>
                  </a:lnTo>
                  <a:lnTo>
                    <a:pt x="774" y="255"/>
                  </a:lnTo>
                  <a:lnTo>
                    <a:pt x="773" y="252"/>
                  </a:lnTo>
                  <a:lnTo>
                    <a:pt x="772" y="249"/>
                  </a:lnTo>
                  <a:lnTo>
                    <a:pt x="769" y="243"/>
                  </a:lnTo>
                  <a:lnTo>
                    <a:pt x="766" y="239"/>
                  </a:lnTo>
                  <a:lnTo>
                    <a:pt x="762" y="236"/>
                  </a:lnTo>
                  <a:lnTo>
                    <a:pt x="759" y="235"/>
                  </a:lnTo>
                  <a:lnTo>
                    <a:pt x="756" y="233"/>
                  </a:lnTo>
                  <a:lnTo>
                    <a:pt x="753" y="233"/>
                  </a:lnTo>
                  <a:lnTo>
                    <a:pt x="749" y="230"/>
                  </a:lnTo>
                  <a:lnTo>
                    <a:pt x="746" y="229"/>
                  </a:lnTo>
                  <a:lnTo>
                    <a:pt x="743" y="229"/>
                  </a:lnTo>
                  <a:lnTo>
                    <a:pt x="739" y="229"/>
                  </a:lnTo>
                  <a:lnTo>
                    <a:pt x="735" y="226"/>
                  </a:lnTo>
                  <a:lnTo>
                    <a:pt x="730" y="226"/>
                  </a:lnTo>
                  <a:lnTo>
                    <a:pt x="725" y="226"/>
                  </a:lnTo>
                  <a:lnTo>
                    <a:pt x="722" y="228"/>
                  </a:lnTo>
                  <a:lnTo>
                    <a:pt x="716" y="229"/>
                  </a:lnTo>
                  <a:lnTo>
                    <a:pt x="713" y="229"/>
                  </a:lnTo>
                  <a:lnTo>
                    <a:pt x="709" y="232"/>
                  </a:lnTo>
                  <a:lnTo>
                    <a:pt x="705" y="233"/>
                  </a:lnTo>
                  <a:lnTo>
                    <a:pt x="701" y="235"/>
                  </a:lnTo>
                  <a:lnTo>
                    <a:pt x="696" y="238"/>
                  </a:lnTo>
                  <a:lnTo>
                    <a:pt x="691" y="239"/>
                  </a:lnTo>
                  <a:lnTo>
                    <a:pt x="685" y="242"/>
                  </a:lnTo>
                  <a:lnTo>
                    <a:pt x="683" y="243"/>
                  </a:lnTo>
                  <a:lnTo>
                    <a:pt x="681" y="245"/>
                  </a:lnTo>
                  <a:lnTo>
                    <a:pt x="678" y="246"/>
                  </a:lnTo>
                  <a:lnTo>
                    <a:pt x="675" y="247"/>
                  </a:lnTo>
                  <a:lnTo>
                    <a:pt x="672" y="246"/>
                  </a:lnTo>
                  <a:lnTo>
                    <a:pt x="669" y="246"/>
                  </a:lnTo>
                  <a:lnTo>
                    <a:pt x="666" y="246"/>
                  </a:lnTo>
                  <a:lnTo>
                    <a:pt x="662" y="245"/>
                  </a:lnTo>
                  <a:lnTo>
                    <a:pt x="656" y="243"/>
                  </a:lnTo>
                  <a:lnTo>
                    <a:pt x="651" y="242"/>
                  </a:lnTo>
                  <a:lnTo>
                    <a:pt x="649" y="240"/>
                  </a:lnTo>
                  <a:lnTo>
                    <a:pt x="647" y="239"/>
                  </a:lnTo>
                  <a:lnTo>
                    <a:pt x="644" y="238"/>
                  </a:lnTo>
                  <a:lnTo>
                    <a:pt x="641" y="236"/>
                  </a:lnTo>
                  <a:lnTo>
                    <a:pt x="637" y="236"/>
                  </a:lnTo>
                  <a:lnTo>
                    <a:pt x="632" y="233"/>
                  </a:lnTo>
                  <a:lnTo>
                    <a:pt x="628" y="233"/>
                  </a:lnTo>
                  <a:lnTo>
                    <a:pt x="625" y="230"/>
                  </a:lnTo>
                  <a:lnTo>
                    <a:pt x="621" y="229"/>
                  </a:lnTo>
                  <a:lnTo>
                    <a:pt x="617" y="228"/>
                  </a:lnTo>
                  <a:lnTo>
                    <a:pt x="614" y="226"/>
                  </a:lnTo>
                  <a:lnTo>
                    <a:pt x="610" y="225"/>
                  </a:lnTo>
                  <a:lnTo>
                    <a:pt x="604" y="223"/>
                  </a:lnTo>
                  <a:lnTo>
                    <a:pt x="600" y="220"/>
                  </a:lnTo>
                  <a:lnTo>
                    <a:pt x="597" y="220"/>
                  </a:lnTo>
                  <a:lnTo>
                    <a:pt x="591" y="218"/>
                  </a:lnTo>
                  <a:lnTo>
                    <a:pt x="585" y="218"/>
                  </a:lnTo>
                  <a:lnTo>
                    <a:pt x="581" y="216"/>
                  </a:lnTo>
                  <a:lnTo>
                    <a:pt x="575" y="215"/>
                  </a:lnTo>
                  <a:lnTo>
                    <a:pt x="571" y="213"/>
                  </a:lnTo>
                  <a:lnTo>
                    <a:pt x="566" y="212"/>
                  </a:lnTo>
                  <a:lnTo>
                    <a:pt x="560" y="210"/>
                  </a:lnTo>
                  <a:lnTo>
                    <a:pt x="554" y="210"/>
                  </a:lnTo>
                  <a:lnTo>
                    <a:pt x="550" y="210"/>
                  </a:lnTo>
                  <a:lnTo>
                    <a:pt x="543" y="208"/>
                  </a:lnTo>
                  <a:lnTo>
                    <a:pt x="537" y="208"/>
                  </a:lnTo>
                  <a:lnTo>
                    <a:pt x="531" y="208"/>
                  </a:lnTo>
                  <a:lnTo>
                    <a:pt x="526" y="208"/>
                  </a:lnTo>
                  <a:lnTo>
                    <a:pt x="519" y="206"/>
                  </a:lnTo>
                  <a:lnTo>
                    <a:pt x="513" y="206"/>
                  </a:lnTo>
                  <a:lnTo>
                    <a:pt x="507" y="206"/>
                  </a:lnTo>
                  <a:lnTo>
                    <a:pt x="500" y="206"/>
                  </a:lnTo>
                  <a:lnTo>
                    <a:pt x="494" y="206"/>
                  </a:lnTo>
                  <a:lnTo>
                    <a:pt x="487" y="206"/>
                  </a:lnTo>
                  <a:lnTo>
                    <a:pt x="482" y="208"/>
                  </a:lnTo>
                  <a:lnTo>
                    <a:pt x="475" y="209"/>
                  </a:lnTo>
                  <a:lnTo>
                    <a:pt x="467" y="209"/>
                  </a:lnTo>
                  <a:lnTo>
                    <a:pt x="460" y="210"/>
                  </a:lnTo>
                  <a:lnTo>
                    <a:pt x="453" y="212"/>
                  </a:lnTo>
                  <a:lnTo>
                    <a:pt x="446" y="212"/>
                  </a:lnTo>
                  <a:lnTo>
                    <a:pt x="439" y="215"/>
                  </a:lnTo>
                  <a:lnTo>
                    <a:pt x="432" y="216"/>
                  </a:lnTo>
                  <a:lnTo>
                    <a:pt x="425" y="218"/>
                  </a:lnTo>
                  <a:lnTo>
                    <a:pt x="418" y="220"/>
                  </a:lnTo>
                  <a:lnTo>
                    <a:pt x="411" y="223"/>
                  </a:lnTo>
                  <a:lnTo>
                    <a:pt x="404" y="226"/>
                  </a:lnTo>
                  <a:lnTo>
                    <a:pt x="395" y="229"/>
                  </a:lnTo>
                  <a:lnTo>
                    <a:pt x="388" y="233"/>
                  </a:lnTo>
                  <a:lnTo>
                    <a:pt x="379" y="236"/>
                  </a:lnTo>
                  <a:lnTo>
                    <a:pt x="372" y="242"/>
                  </a:lnTo>
                  <a:lnTo>
                    <a:pt x="364" y="245"/>
                  </a:lnTo>
                  <a:lnTo>
                    <a:pt x="357" y="249"/>
                  </a:lnTo>
                  <a:lnTo>
                    <a:pt x="351" y="252"/>
                  </a:lnTo>
                  <a:lnTo>
                    <a:pt x="344" y="257"/>
                  </a:lnTo>
                  <a:lnTo>
                    <a:pt x="340" y="260"/>
                  </a:lnTo>
                  <a:lnTo>
                    <a:pt x="332" y="265"/>
                  </a:lnTo>
                  <a:lnTo>
                    <a:pt x="327" y="269"/>
                  </a:lnTo>
                  <a:lnTo>
                    <a:pt x="323" y="273"/>
                  </a:lnTo>
                  <a:lnTo>
                    <a:pt x="318" y="277"/>
                  </a:lnTo>
                  <a:lnTo>
                    <a:pt x="314" y="282"/>
                  </a:lnTo>
                  <a:lnTo>
                    <a:pt x="308" y="286"/>
                  </a:lnTo>
                  <a:lnTo>
                    <a:pt x="304" y="292"/>
                  </a:lnTo>
                  <a:lnTo>
                    <a:pt x="300" y="296"/>
                  </a:lnTo>
                  <a:lnTo>
                    <a:pt x="296" y="300"/>
                  </a:lnTo>
                  <a:lnTo>
                    <a:pt x="290" y="304"/>
                  </a:lnTo>
                  <a:lnTo>
                    <a:pt x="288" y="310"/>
                  </a:lnTo>
                  <a:lnTo>
                    <a:pt x="284" y="314"/>
                  </a:lnTo>
                  <a:lnTo>
                    <a:pt x="280" y="320"/>
                  </a:lnTo>
                  <a:lnTo>
                    <a:pt x="277" y="324"/>
                  </a:lnTo>
                  <a:lnTo>
                    <a:pt x="273" y="330"/>
                  </a:lnTo>
                  <a:lnTo>
                    <a:pt x="270" y="334"/>
                  </a:lnTo>
                  <a:lnTo>
                    <a:pt x="269" y="338"/>
                  </a:lnTo>
                  <a:lnTo>
                    <a:pt x="264" y="346"/>
                  </a:lnTo>
                  <a:lnTo>
                    <a:pt x="263" y="350"/>
                  </a:lnTo>
                  <a:lnTo>
                    <a:pt x="260" y="356"/>
                  </a:lnTo>
                  <a:lnTo>
                    <a:pt x="259" y="361"/>
                  </a:lnTo>
                  <a:lnTo>
                    <a:pt x="254" y="366"/>
                  </a:lnTo>
                  <a:lnTo>
                    <a:pt x="253" y="373"/>
                  </a:lnTo>
                  <a:lnTo>
                    <a:pt x="250" y="377"/>
                  </a:lnTo>
                  <a:lnTo>
                    <a:pt x="249" y="383"/>
                  </a:lnTo>
                  <a:lnTo>
                    <a:pt x="247" y="387"/>
                  </a:lnTo>
                  <a:lnTo>
                    <a:pt x="246" y="393"/>
                  </a:lnTo>
                  <a:lnTo>
                    <a:pt x="243" y="398"/>
                  </a:lnTo>
                  <a:lnTo>
                    <a:pt x="243" y="404"/>
                  </a:lnTo>
                  <a:lnTo>
                    <a:pt x="242" y="408"/>
                  </a:lnTo>
                  <a:lnTo>
                    <a:pt x="240" y="414"/>
                  </a:lnTo>
                  <a:lnTo>
                    <a:pt x="239" y="420"/>
                  </a:lnTo>
                  <a:lnTo>
                    <a:pt x="239" y="425"/>
                  </a:lnTo>
                  <a:lnTo>
                    <a:pt x="237" y="431"/>
                  </a:lnTo>
                  <a:lnTo>
                    <a:pt x="236" y="437"/>
                  </a:lnTo>
                  <a:lnTo>
                    <a:pt x="236" y="441"/>
                  </a:lnTo>
                  <a:lnTo>
                    <a:pt x="234" y="447"/>
                  </a:lnTo>
                  <a:lnTo>
                    <a:pt x="233" y="454"/>
                  </a:lnTo>
                  <a:lnTo>
                    <a:pt x="233" y="458"/>
                  </a:lnTo>
                  <a:lnTo>
                    <a:pt x="233" y="464"/>
                  </a:lnTo>
                  <a:lnTo>
                    <a:pt x="233" y="469"/>
                  </a:lnTo>
                  <a:lnTo>
                    <a:pt x="232" y="474"/>
                  </a:lnTo>
                  <a:lnTo>
                    <a:pt x="232" y="479"/>
                  </a:lnTo>
                  <a:lnTo>
                    <a:pt x="232" y="485"/>
                  </a:lnTo>
                  <a:lnTo>
                    <a:pt x="232" y="491"/>
                  </a:lnTo>
                  <a:lnTo>
                    <a:pt x="230" y="495"/>
                  </a:lnTo>
                  <a:lnTo>
                    <a:pt x="230" y="499"/>
                  </a:lnTo>
                  <a:lnTo>
                    <a:pt x="230" y="505"/>
                  </a:lnTo>
                  <a:lnTo>
                    <a:pt x="230" y="511"/>
                  </a:lnTo>
                  <a:lnTo>
                    <a:pt x="230" y="515"/>
                  </a:lnTo>
                  <a:lnTo>
                    <a:pt x="230" y="519"/>
                  </a:lnTo>
                  <a:lnTo>
                    <a:pt x="230" y="525"/>
                  </a:lnTo>
                  <a:lnTo>
                    <a:pt x="232" y="529"/>
                  </a:lnTo>
                  <a:lnTo>
                    <a:pt x="232" y="535"/>
                  </a:lnTo>
                  <a:lnTo>
                    <a:pt x="232" y="539"/>
                  </a:lnTo>
                  <a:lnTo>
                    <a:pt x="232" y="543"/>
                  </a:lnTo>
                  <a:lnTo>
                    <a:pt x="232" y="548"/>
                  </a:lnTo>
                  <a:lnTo>
                    <a:pt x="232" y="552"/>
                  </a:lnTo>
                  <a:lnTo>
                    <a:pt x="233" y="556"/>
                  </a:lnTo>
                  <a:lnTo>
                    <a:pt x="233" y="560"/>
                  </a:lnTo>
                  <a:lnTo>
                    <a:pt x="233" y="566"/>
                  </a:lnTo>
                  <a:lnTo>
                    <a:pt x="233" y="569"/>
                  </a:lnTo>
                  <a:lnTo>
                    <a:pt x="233" y="573"/>
                  </a:lnTo>
                  <a:lnTo>
                    <a:pt x="233" y="576"/>
                  </a:lnTo>
                  <a:lnTo>
                    <a:pt x="234" y="580"/>
                  </a:lnTo>
                  <a:lnTo>
                    <a:pt x="234" y="585"/>
                  </a:lnTo>
                  <a:lnTo>
                    <a:pt x="236" y="589"/>
                  </a:lnTo>
                  <a:lnTo>
                    <a:pt x="236" y="592"/>
                  </a:lnTo>
                  <a:lnTo>
                    <a:pt x="237" y="596"/>
                  </a:lnTo>
                  <a:lnTo>
                    <a:pt x="239" y="599"/>
                  </a:lnTo>
                  <a:lnTo>
                    <a:pt x="239" y="603"/>
                  </a:lnTo>
                  <a:lnTo>
                    <a:pt x="239" y="606"/>
                  </a:lnTo>
                  <a:lnTo>
                    <a:pt x="240" y="610"/>
                  </a:lnTo>
                  <a:lnTo>
                    <a:pt x="242" y="613"/>
                  </a:lnTo>
                  <a:lnTo>
                    <a:pt x="242" y="616"/>
                  </a:lnTo>
                  <a:lnTo>
                    <a:pt x="243" y="620"/>
                  </a:lnTo>
                  <a:lnTo>
                    <a:pt x="244" y="623"/>
                  </a:lnTo>
                  <a:lnTo>
                    <a:pt x="246" y="626"/>
                  </a:lnTo>
                  <a:lnTo>
                    <a:pt x="246" y="629"/>
                  </a:lnTo>
                  <a:lnTo>
                    <a:pt x="247" y="631"/>
                  </a:lnTo>
                  <a:lnTo>
                    <a:pt x="249" y="634"/>
                  </a:lnTo>
                  <a:lnTo>
                    <a:pt x="250" y="637"/>
                  </a:lnTo>
                  <a:lnTo>
                    <a:pt x="251" y="640"/>
                  </a:lnTo>
                  <a:lnTo>
                    <a:pt x="253" y="643"/>
                  </a:lnTo>
                  <a:lnTo>
                    <a:pt x="254" y="646"/>
                  </a:lnTo>
                  <a:lnTo>
                    <a:pt x="257" y="651"/>
                  </a:lnTo>
                  <a:lnTo>
                    <a:pt x="259" y="656"/>
                  </a:lnTo>
                  <a:lnTo>
                    <a:pt x="261" y="660"/>
                  </a:lnTo>
                  <a:lnTo>
                    <a:pt x="264" y="666"/>
                  </a:lnTo>
                  <a:lnTo>
                    <a:pt x="267" y="670"/>
                  </a:lnTo>
                  <a:lnTo>
                    <a:pt x="269" y="674"/>
                  </a:lnTo>
                  <a:lnTo>
                    <a:pt x="270" y="678"/>
                  </a:lnTo>
                  <a:lnTo>
                    <a:pt x="273" y="681"/>
                  </a:lnTo>
                  <a:lnTo>
                    <a:pt x="273" y="684"/>
                  </a:lnTo>
                  <a:lnTo>
                    <a:pt x="276" y="688"/>
                  </a:lnTo>
                  <a:lnTo>
                    <a:pt x="276" y="691"/>
                  </a:lnTo>
                  <a:lnTo>
                    <a:pt x="277" y="694"/>
                  </a:lnTo>
                  <a:lnTo>
                    <a:pt x="277" y="700"/>
                  </a:lnTo>
                  <a:lnTo>
                    <a:pt x="277" y="704"/>
                  </a:lnTo>
                  <a:lnTo>
                    <a:pt x="276" y="707"/>
                  </a:lnTo>
                  <a:lnTo>
                    <a:pt x="271" y="711"/>
                  </a:lnTo>
                  <a:lnTo>
                    <a:pt x="266" y="713"/>
                  </a:lnTo>
                  <a:lnTo>
                    <a:pt x="261" y="714"/>
                  </a:lnTo>
                  <a:lnTo>
                    <a:pt x="257" y="714"/>
                  </a:lnTo>
                  <a:lnTo>
                    <a:pt x="251" y="715"/>
                  </a:lnTo>
                  <a:lnTo>
                    <a:pt x="247" y="715"/>
                  </a:lnTo>
                  <a:lnTo>
                    <a:pt x="242" y="715"/>
                  </a:lnTo>
                  <a:lnTo>
                    <a:pt x="239" y="715"/>
                  </a:lnTo>
                  <a:lnTo>
                    <a:pt x="237" y="715"/>
                  </a:lnTo>
                  <a:lnTo>
                    <a:pt x="233" y="715"/>
                  </a:lnTo>
                  <a:lnTo>
                    <a:pt x="232" y="717"/>
                  </a:lnTo>
                  <a:lnTo>
                    <a:pt x="227" y="717"/>
                  </a:lnTo>
                  <a:lnTo>
                    <a:pt x="223" y="718"/>
                  </a:lnTo>
                  <a:lnTo>
                    <a:pt x="220" y="718"/>
                  </a:lnTo>
                  <a:lnTo>
                    <a:pt x="216" y="720"/>
                  </a:lnTo>
                  <a:lnTo>
                    <a:pt x="212" y="721"/>
                  </a:lnTo>
                  <a:lnTo>
                    <a:pt x="207" y="722"/>
                  </a:lnTo>
                  <a:lnTo>
                    <a:pt x="203" y="725"/>
                  </a:lnTo>
                  <a:lnTo>
                    <a:pt x="199" y="727"/>
                  </a:lnTo>
                  <a:lnTo>
                    <a:pt x="193" y="728"/>
                  </a:lnTo>
                  <a:lnTo>
                    <a:pt x="188" y="731"/>
                  </a:lnTo>
                  <a:lnTo>
                    <a:pt x="185" y="734"/>
                  </a:lnTo>
                  <a:lnTo>
                    <a:pt x="182" y="734"/>
                  </a:lnTo>
                  <a:lnTo>
                    <a:pt x="179" y="735"/>
                  </a:lnTo>
                  <a:lnTo>
                    <a:pt x="176" y="738"/>
                  </a:lnTo>
                  <a:lnTo>
                    <a:pt x="172" y="740"/>
                  </a:lnTo>
                  <a:lnTo>
                    <a:pt x="169" y="741"/>
                  </a:lnTo>
                  <a:lnTo>
                    <a:pt x="165" y="742"/>
                  </a:lnTo>
                  <a:lnTo>
                    <a:pt x="162" y="745"/>
                  </a:lnTo>
                  <a:lnTo>
                    <a:pt x="159" y="747"/>
                  </a:lnTo>
                  <a:lnTo>
                    <a:pt x="155" y="750"/>
                  </a:lnTo>
                  <a:lnTo>
                    <a:pt x="152" y="752"/>
                  </a:lnTo>
                  <a:lnTo>
                    <a:pt x="149" y="757"/>
                  </a:lnTo>
                  <a:lnTo>
                    <a:pt x="144" y="758"/>
                  </a:lnTo>
                  <a:lnTo>
                    <a:pt x="139" y="761"/>
                  </a:lnTo>
                  <a:lnTo>
                    <a:pt x="136" y="762"/>
                  </a:lnTo>
                  <a:lnTo>
                    <a:pt x="134" y="765"/>
                  </a:lnTo>
                  <a:lnTo>
                    <a:pt x="131" y="768"/>
                  </a:lnTo>
                  <a:lnTo>
                    <a:pt x="126" y="771"/>
                  </a:lnTo>
                  <a:lnTo>
                    <a:pt x="125" y="772"/>
                  </a:lnTo>
                  <a:lnTo>
                    <a:pt x="122" y="775"/>
                  </a:lnTo>
                  <a:lnTo>
                    <a:pt x="117" y="779"/>
                  </a:lnTo>
                  <a:lnTo>
                    <a:pt x="114" y="784"/>
                  </a:lnTo>
                  <a:lnTo>
                    <a:pt x="108" y="788"/>
                  </a:lnTo>
                  <a:lnTo>
                    <a:pt x="105" y="792"/>
                  </a:lnTo>
                  <a:lnTo>
                    <a:pt x="102" y="796"/>
                  </a:lnTo>
                  <a:lnTo>
                    <a:pt x="99" y="799"/>
                  </a:lnTo>
                  <a:lnTo>
                    <a:pt x="98" y="802"/>
                  </a:lnTo>
                  <a:lnTo>
                    <a:pt x="97" y="808"/>
                  </a:lnTo>
                  <a:lnTo>
                    <a:pt x="94" y="809"/>
                  </a:lnTo>
                  <a:lnTo>
                    <a:pt x="94" y="812"/>
                  </a:lnTo>
                  <a:lnTo>
                    <a:pt x="92" y="816"/>
                  </a:lnTo>
                  <a:lnTo>
                    <a:pt x="92" y="819"/>
                  </a:lnTo>
                  <a:lnTo>
                    <a:pt x="90" y="822"/>
                  </a:lnTo>
                  <a:lnTo>
                    <a:pt x="90" y="826"/>
                  </a:lnTo>
                  <a:lnTo>
                    <a:pt x="87" y="831"/>
                  </a:lnTo>
                  <a:lnTo>
                    <a:pt x="85" y="832"/>
                  </a:lnTo>
                  <a:lnTo>
                    <a:pt x="82" y="833"/>
                  </a:lnTo>
                  <a:lnTo>
                    <a:pt x="78" y="833"/>
                  </a:lnTo>
                  <a:lnTo>
                    <a:pt x="77" y="833"/>
                  </a:lnTo>
                  <a:lnTo>
                    <a:pt x="74" y="833"/>
                  </a:lnTo>
                  <a:lnTo>
                    <a:pt x="71" y="832"/>
                  </a:lnTo>
                  <a:lnTo>
                    <a:pt x="68" y="832"/>
                  </a:lnTo>
                  <a:lnTo>
                    <a:pt x="64" y="829"/>
                  </a:lnTo>
                  <a:lnTo>
                    <a:pt x="60" y="825"/>
                  </a:lnTo>
                  <a:lnTo>
                    <a:pt x="57" y="822"/>
                  </a:lnTo>
                  <a:lnTo>
                    <a:pt x="55" y="819"/>
                  </a:lnTo>
                  <a:lnTo>
                    <a:pt x="53" y="818"/>
                  </a:lnTo>
                  <a:lnTo>
                    <a:pt x="51" y="815"/>
                  </a:lnTo>
                  <a:lnTo>
                    <a:pt x="48" y="809"/>
                  </a:lnTo>
                  <a:lnTo>
                    <a:pt x="47" y="805"/>
                  </a:lnTo>
                  <a:lnTo>
                    <a:pt x="44" y="799"/>
                  </a:lnTo>
                  <a:lnTo>
                    <a:pt x="43" y="795"/>
                  </a:lnTo>
                  <a:lnTo>
                    <a:pt x="40" y="789"/>
                  </a:lnTo>
                  <a:lnTo>
                    <a:pt x="40" y="785"/>
                  </a:lnTo>
                  <a:lnTo>
                    <a:pt x="36" y="779"/>
                  </a:lnTo>
                  <a:lnTo>
                    <a:pt x="34" y="772"/>
                  </a:lnTo>
                  <a:lnTo>
                    <a:pt x="31" y="765"/>
                  </a:lnTo>
                  <a:lnTo>
                    <a:pt x="30" y="759"/>
                  </a:lnTo>
                  <a:lnTo>
                    <a:pt x="28" y="751"/>
                  </a:lnTo>
                  <a:lnTo>
                    <a:pt x="27" y="744"/>
                  </a:lnTo>
                  <a:lnTo>
                    <a:pt x="24" y="735"/>
                  </a:lnTo>
                  <a:lnTo>
                    <a:pt x="21" y="728"/>
                  </a:lnTo>
                  <a:lnTo>
                    <a:pt x="20" y="721"/>
                  </a:lnTo>
                  <a:lnTo>
                    <a:pt x="18" y="713"/>
                  </a:lnTo>
                  <a:lnTo>
                    <a:pt x="16" y="704"/>
                  </a:lnTo>
                  <a:lnTo>
                    <a:pt x="16" y="694"/>
                  </a:lnTo>
                  <a:lnTo>
                    <a:pt x="13" y="686"/>
                  </a:lnTo>
                  <a:lnTo>
                    <a:pt x="13" y="677"/>
                  </a:lnTo>
                  <a:lnTo>
                    <a:pt x="10" y="667"/>
                  </a:lnTo>
                  <a:lnTo>
                    <a:pt x="9" y="657"/>
                  </a:lnTo>
                  <a:lnTo>
                    <a:pt x="7" y="649"/>
                  </a:lnTo>
                  <a:lnTo>
                    <a:pt x="6" y="639"/>
                  </a:lnTo>
                  <a:lnTo>
                    <a:pt x="6" y="629"/>
                  </a:lnTo>
                  <a:lnTo>
                    <a:pt x="4" y="619"/>
                  </a:lnTo>
                  <a:lnTo>
                    <a:pt x="3" y="607"/>
                  </a:lnTo>
                  <a:lnTo>
                    <a:pt x="3" y="599"/>
                  </a:lnTo>
                  <a:lnTo>
                    <a:pt x="1" y="589"/>
                  </a:lnTo>
                  <a:lnTo>
                    <a:pt x="0" y="577"/>
                  </a:lnTo>
                  <a:lnTo>
                    <a:pt x="0" y="567"/>
                  </a:lnTo>
                  <a:lnTo>
                    <a:pt x="0" y="556"/>
                  </a:lnTo>
                  <a:lnTo>
                    <a:pt x="0" y="545"/>
                  </a:lnTo>
                  <a:lnTo>
                    <a:pt x="0" y="535"/>
                  </a:lnTo>
                  <a:lnTo>
                    <a:pt x="0" y="525"/>
                  </a:lnTo>
                  <a:lnTo>
                    <a:pt x="0" y="513"/>
                  </a:lnTo>
                  <a:lnTo>
                    <a:pt x="0" y="502"/>
                  </a:lnTo>
                  <a:lnTo>
                    <a:pt x="0" y="492"/>
                  </a:lnTo>
                  <a:lnTo>
                    <a:pt x="1" y="482"/>
                  </a:lnTo>
                  <a:lnTo>
                    <a:pt x="3" y="469"/>
                  </a:lnTo>
                  <a:lnTo>
                    <a:pt x="3" y="459"/>
                  </a:lnTo>
                  <a:lnTo>
                    <a:pt x="4" y="448"/>
                  </a:lnTo>
                  <a:lnTo>
                    <a:pt x="6" y="438"/>
                  </a:lnTo>
                  <a:lnTo>
                    <a:pt x="9" y="427"/>
                  </a:lnTo>
                  <a:lnTo>
                    <a:pt x="9" y="415"/>
                  </a:lnTo>
                  <a:lnTo>
                    <a:pt x="11" y="405"/>
                  </a:lnTo>
                  <a:lnTo>
                    <a:pt x="13" y="394"/>
                  </a:lnTo>
                  <a:lnTo>
                    <a:pt x="16" y="384"/>
                  </a:lnTo>
                  <a:lnTo>
                    <a:pt x="18" y="374"/>
                  </a:lnTo>
                  <a:lnTo>
                    <a:pt x="21" y="363"/>
                  </a:lnTo>
                  <a:lnTo>
                    <a:pt x="24" y="354"/>
                  </a:lnTo>
                  <a:lnTo>
                    <a:pt x="27" y="343"/>
                  </a:lnTo>
                  <a:lnTo>
                    <a:pt x="30" y="333"/>
                  </a:lnTo>
                  <a:lnTo>
                    <a:pt x="34" y="324"/>
                  </a:lnTo>
                  <a:lnTo>
                    <a:pt x="40" y="313"/>
                  </a:lnTo>
                  <a:lnTo>
                    <a:pt x="44" y="304"/>
                  </a:lnTo>
                  <a:close/>
                </a:path>
              </a:pathLst>
            </a:custGeom>
            <a:solidFill>
              <a:srgbClr val="2A40E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1" name="Freeform 13"/>
            <p:cNvSpPr>
              <a:spLocks/>
            </p:cNvSpPr>
            <p:nvPr/>
          </p:nvSpPr>
          <p:spPr bwMode="auto">
            <a:xfrm>
              <a:off x="1923" y="937"/>
              <a:ext cx="81" cy="29"/>
            </a:xfrm>
            <a:custGeom>
              <a:avLst/>
              <a:gdLst>
                <a:gd name="T0" fmla="*/ 0 w 243"/>
                <a:gd name="T1" fmla="*/ 0 h 87"/>
                <a:gd name="T2" fmla="*/ 0 w 243"/>
                <a:gd name="T3" fmla="*/ 0 h 87"/>
                <a:gd name="T4" fmla="*/ 0 w 243"/>
                <a:gd name="T5" fmla="*/ 0 h 87"/>
                <a:gd name="T6" fmla="*/ 0 w 243"/>
                <a:gd name="T7" fmla="*/ 0 h 87"/>
                <a:gd name="T8" fmla="*/ 0 w 243"/>
                <a:gd name="T9" fmla="*/ 0 h 87"/>
                <a:gd name="T10" fmla="*/ 0 w 243"/>
                <a:gd name="T11" fmla="*/ 0 h 87"/>
                <a:gd name="T12" fmla="*/ 0 w 243"/>
                <a:gd name="T13" fmla="*/ 0 h 87"/>
                <a:gd name="T14" fmla="*/ 0 w 243"/>
                <a:gd name="T15" fmla="*/ 0 h 87"/>
                <a:gd name="T16" fmla="*/ 0 w 243"/>
                <a:gd name="T17" fmla="*/ 0 h 87"/>
                <a:gd name="T18" fmla="*/ 0 w 243"/>
                <a:gd name="T19" fmla="*/ 0 h 87"/>
                <a:gd name="T20" fmla="*/ 0 w 243"/>
                <a:gd name="T21" fmla="*/ 0 h 87"/>
                <a:gd name="T22" fmla="*/ 0 w 243"/>
                <a:gd name="T23" fmla="*/ 0 h 87"/>
                <a:gd name="T24" fmla="*/ 0 w 243"/>
                <a:gd name="T25" fmla="*/ 0 h 87"/>
                <a:gd name="T26" fmla="*/ 0 w 243"/>
                <a:gd name="T27" fmla="*/ 0 h 87"/>
                <a:gd name="T28" fmla="*/ 0 w 243"/>
                <a:gd name="T29" fmla="*/ 0 h 87"/>
                <a:gd name="T30" fmla="*/ 0 w 243"/>
                <a:gd name="T31" fmla="*/ 0 h 87"/>
                <a:gd name="T32" fmla="*/ 0 w 243"/>
                <a:gd name="T33" fmla="*/ 0 h 87"/>
                <a:gd name="T34" fmla="*/ 0 w 243"/>
                <a:gd name="T35" fmla="*/ 0 h 87"/>
                <a:gd name="T36" fmla="*/ 0 w 243"/>
                <a:gd name="T37" fmla="*/ 0 h 87"/>
                <a:gd name="T38" fmla="*/ 0 w 243"/>
                <a:gd name="T39" fmla="*/ 0 h 87"/>
                <a:gd name="T40" fmla="*/ 0 w 243"/>
                <a:gd name="T41" fmla="*/ 0 h 87"/>
                <a:gd name="T42" fmla="*/ 0 w 243"/>
                <a:gd name="T43" fmla="*/ 0 h 87"/>
                <a:gd name="T44" fmla="*/ 0 w 243"/>
                <a:gd name="T45" fmla="*/ 0 h 87"/>
                <a:gd name="T46" fmla="*/ 0 w 243"/>
                <a:gd name="T47" fmla="*/ 0 h 87"/>
                <a:gd name="T48" fmla="*/ 0 w 243"/>
                <a:gd name="T49" fmla="*/ 0 h 87"/>
                <a:gd name="T50" fmla="*/ 0 w 243"/>
                <a:gd name="T51" fmla="*/ 0 h 87"/>
                <a:gd name="T52" fmla="*/ 0 w 243"/>
                <a:gd name="T53" fmla="*/ 0 h 87"/>
                <a:gd name="T54" fmla="*/ 0 w 243"/>
                <a:gd name="T55" fmla="*/ 0 h 87"/>
                <a:gd name="T56" fmla="*/ 0 w 243"/>
                <a:gd name="T57" fmla="*/ 0 h 87"/>
                <a:gd name="T58" fmla="*/ 0 w 243"/>
                <a:gd name="T59" fmla="*/ 0 h 87"/>
                <a:gd name="T60" fmla="*/ 0 w 243"/>
                <a:gd name="T61" fmla="*/ 0 h 87"/>
                <a:gd name="T62" fmla="*/ 0 w 243"/>
                <a:gd name="T63" fmla="*/ 0 h 87"/>
                <a:gd name="T64" fmla="*/ 0 w 243"/>
                <a:gd name="T65" fmla="*/ 0 h 87"/>
                <a:gd name="T66" fmla="*/ 0 w 243"/>
                <a:gd name="T67" fmla="*/ 0 h 87"/>
                <a:gd name="T68" fmla="*/ 0 w 243"/>
                <a:gd name="T69" fmla="*/ 0 h 87"/>
                <a:gd name="T70" fmla="*/ 0 w 243"/>
                <a:gd name="T71" fmla="*/ 0 h 87"/>
                <a:gd name="T72" fmla="*/ 0 w 243"/>
                <a:gd name="T73" fmla="*/ 0 h 87"/>
                <a:gd name="T74" fmla="*/ 0 w 243"/>
                <a:gd name="T75" fmla="*/ 0 h 87"/>
                <a:gd name="T76" fmla="*/ 0 w 243"/>
                <a:gd name="T77" fmla="*/ 0 h 87"/>
                <a:gd name="T78" fmla="*/ 0 w 243"/>
                <a:gd name="T79" fmla="*/ 0 h 87"/>
                <a:gd name="T80" fmla="*/ 0 w 243"/>
                <a:gd name="T81" fmla="*/ 0 h 87"/>
                <a:gd name="T82" fmla="*/ 0 w 243"/>
                <a:gd name="T83" fmla="*/ 0 h 87"/>
                <a:gd name="T84" fmla="*/ 0 w 243"/>
                <a:gd name="T85" fmla="*/ 0 h 87"/>
                <a:gd name="T86" fmla="*/ 0 w 243"/>
                <a:gd name="T87" fmla="*/ 0 h 87"/>
                <a:gd name="T88" fmla="*/ 0 w 243"/>
                <a:gd name="T89" fmla="*/ 0 h 87"/>
                <a:gd name="T90" fmla="*/ 0 w 243"/>
                <a:gd name="T91" fmla="*/ 0 h 8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243"/>
                <a:gd name="T139" fmla="*/ 0 h 87"/>
                <a:gd name="T140" fmla="*/ 243 w 243"/>
                <a:gd name="T141" fmla="*/ 87 h 8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243" h="87">
                  <a:moveTo>
                    <a:pt x="77" y="6"/>
                  </a:moveTo>
                  <a:lnTo>
                    <a:pt x="80" y="4"/>
                  </a:lnTo>
                  <a:lnTo>
                    <a:pt x="83" y="3"/>
                  </a:lnTo>
                  <a:lnTo>
                    <a:pt x="86" y="3"/>
                  </a:lnTo>
                  <a:lnTo>
                    <a:pt x="90" y="3"/>
                  </a:lnTo>
                  <a:lnTo>
                    <a:pt x="94" y="1"/>
                  </a:lnTo>
                  <a:lnTo>
                    <a:pt x="96" y="0"/>
                  </a:lnTo>
                  <a:lnTo>
                    <a:pt x="100" y="0"/>
                  </a:lnTo>
                  <a:lnTo>
                    <a:pt x="104" y="0"/>
                  </a:lnTo>
                  <a:lnTo>
                    <a:pt x="107" y="0"/>
                  </a:lnTo>
                  <a:lnTo>
                    <a:pt x="111" y="0"/>
                  </a:lnTo>
                  <a:lnTo>
                    <a:pt x="114" y="0"/>
                  </a:lnTo>
                  <a:lnTo>
                    <a:pt x="118" y="0"/>
                  </a:lnTo>
                  <a:lnTo>
                    <a:pt x="123" y="0"/>
                  </a:lnTo>
                  <a:lnTo>
                    <a:pt x="126" y="0"/>
                  </a:lnTo>
                  <a:lnTo>
                    <a:pt x="130" y="0"/>
                  </a:lnTo>
                  <a:lnTo>
                    <a:pt x="134" y="0"/>
                  </a:lnTo>
                  <a:lnTo>
                    <a:pt x="137" y="0"/>
                  </a:lnTo>
                  <a:lnTo>
                    <a:pt x="141" y="0"/>
                  </a:lnTo>
                  <a:lnTo>
                    <a:pt x="145" y="1"/>
                  </a:lnTo>
                  <a:lnTo>
                    <a:pt x="150" y="3"/>
                  </a:lnTo>
                  <a:lnTo>
                    <a:pt x="154" y="3"/>
                  </a:lnTo>
                  <a:lnTo>
                    <a:pt x="157" y="3"/>
                  </a:lnTo>
                  <a:lnTo>
                    <a:pt x="161" y="4"/>
                  </a:lnTo>
                  <a:lnTo>
                    <a:pt x="165" y="6"/>
                  </a:lnTo>
                  <a:lnTo>
                    <a:pt x="170" y="7"/>
                  </a:lnTo>
                  <a:lnTo>
                    <a:pt x="175" y="7"/>
                  </a:lnTo>
                  <a:lnTo>
                    <a:pt x="180" y="10"/>
                  </a:lnTo>
                  <a:lnTo>
                    <a:pt x="182" y="11"/>
                  </a:lnTo>
                  <a:lnTo>
                    <a:pt x="188" y="13"/>
                  </a:lnTo>
                  <a:lnTo>
                    <a:pt x="192" y="16"/>
                  </a:lnTo>
                  <a:lnTo>
                    <a:pt x="197" y="17"/>
                  </a:lnTo>
                  <a:lnTo>
                    <a:pt x="202" y="18"/>
                  </a:lnTo>
                  <a:lnTo>
                    <a:pt x="207" y="21"/>
                  </a:lnTo>
                  <a:lnTo>
                    <a:pt x="211" y="23"/>
                  </a:lnTo>
                  <a:lnTo>
                    <a:pt x="214" y="26"/>
                  </a:lnTo>
                  <a:lnTo>
                    <a:pt x="218" y="27"/>
                  </a:lnTo>
                  <a:lnTo>
                    <a:pt x="221" y="28"/>
                  </a:lnTo>
                  <a:lnTo>
                    <a:pt x="224" y="31"/>
                  </a:lnTo>
                  <a:lnTo>
                    <a:pt x="228" y="33"/>
                  </a:lnTo>
                  <a:lnTo>
                    <a:pt x="231" y="36"/>
                  </a:lnTo>
                  <a:lnTo>
                    <a:pt x="235" y="37"/>
                  </a:lnTo>
                  <a:lnTo>
                    <a:pt x="238" y="40"/>
                  </a:lnTo>
                  <a:lnTo>
                    <a:pt x="241" y="43"/>
                  </a:lnTo>
                  <a:lnTo>
                    <a:pt x="243" y="45"/>
                  </a:lnTo>
                  <a:lnTo>
                    <a:pt x="243" y="50"/>
                  </a:lnTo>
                  <a:lnTo>
                    <a:pt x="241" y="54"/>
                  </a:lnTo>
                  <a:lnTo>
                    <a:pt x="238" y="55"/>
                  </a:lnTo>
                  <a:lnTo>
                    <a:pt x="235" y="57"/>
                  </a:lnTo>
                  <a:lnTo>
                    <a:pt x="232" y="58"/>
                  </a:lnTo>
                  <a:lnTo>
                    <a:pt x="228" y="60"/>
                  </a:lnTo>
                  <a:lnTo>
                    <a:pt x="222" y="60"/>
                  </a:lnTo>
                  <a:lnTo>
                    <a:pt x="216" y="60"/>
                  </a:lnTo>
                  <a:lnTo>
                    <a:pt x="214" y="60"/>
                  </a:lnTo>
                  <a:lnTo>
                    <a:pt x="211" y="60"/>
                  </a:lnTo>
                  <a:lnTo>
                    <a:pt x="208" y="60"/>
                  </a:lnTo>
                  <a:lnTo>
                    <a:pt x="205" y="58"/>
                  </a:lnTo>
                  <a:lnTo>
                    <a:pt x="202" y="57"/>
                  </a:lnTo>
                  <a:lnTo>
                    <a:pt x="198" y="57"/>
                  </a:lnTo>
                  <a:lnTo>
                    <a:pt x="194" y="55"/>
                  </a:lnTo>
                  <a:lnTo>
                    <a:pt x="191" y="54"/>
                  </a:lnTo>
                  <a:lnTo>
                    <a:pt x="188" y="54"/>
                  </a:lnTo>
                  <a:lnTo>
                    <a:pt x="184" y="53"/>
                  </a:lnTo>
                  <a:lnTo>
                    <a:pt x="181" y="53"/>
                  </a:lnTo>
                  <a:lnTo>
                    <a:pt x="177" y="51"/>
                  </a:lnTo>
                  <a:lnTo>
                    <a:pt x="174" y="50"/>
                  </a:lnTo>
                  <a:lnTo>
                    <a:pt x="168" y="50"/>
                  </a:lnTo>
                  <a:lnTo>
                    <a:pt x="164" y="47"/>
                  </a:lnTo>
                  <a:lnTo>
                    <a:pt x="161" y="47"/>
                  </a:lnTo>
                  <a:lnTo>
                    <a:pt x="157" y="47"/>
                  </a:lnTo>
                  <a:lnTo>
                    <a:pt x="151" y="45"/>
                  </a:lnTo>
                  <a:lnTo>
                    <a:pt x="148" y="45"/>
                  </a:lnTo>
                  <a:lnTo>
                    <a:pt x="143" y="47"/>
                  </a:lnTo>
                  <a:lnTo>
                    <a:pt x="138" y="47"/>
                  </a:lnTo>
                  <a:lnTo>
                    <a:pt x="133" y="47"/>
                  </a:lnTo>
                  <a:lnTo>
                    <a:pt x="128" y="47"/>
                  </a:lnTo>
                  <a:lnTo>
                    <a:pt x="124" y="50"/>
                  </a:lnTo>
                  <a:lnTo>
                    <a:pt x="118" y="51"/>
                  </a:lnTo>
                  <a:lnTo>
                    <a:pt x="113" y="53"/>
                  </a:lnTo>
                  <a:lnTo>
                    <a:pt x="108" y="54"/>
                  </a:lnTo>
                  <a:lnTo>
                    <a:pt x="103" y="57"/>
                  </a:lnTo>
                  <a:lnTo>
                    <a:pt x="100" y="58"/>
                  </a:lnTo>
                  <a:lnTo>
                    <a:pt x="97" y="60"/>
                  </a:lnTo>
                  <a:lnTo>
                    <a:pt x="94" y="60"/>
                  </a:lnTo>
                  <a:lnTo>
                    <a:pt x="93" y="63"/>
                  </a:lnTo>
                  <a:lnTo>
                    <a:pt x="86" y="64"/>
                  </a:lnTo>
                  <a:lnTo>
                    <a:pt x="81" y="67"/>
                  </a:lnTo>
                  <a:lnTo>
                    <a:pt x="76" y="68"/>
                  </a:lnTo>
                  <a:lnTo>
                    <a:pt x="72" y="71"/>
                  </a:lnTo>
                  <a:lnTo>
                    <a:pt x="67" y="71"/>
                  </a:lnTo>
                  <a:lnTo>
                    <a:pt x="63" y="74"/>
                  </a:lnTo>
                  <a:lnTo>
                    <a:pt x="57" y="75"/>
                  </a:lnTo>
                  <a:lnTo>
                    <a:pt x="53" y="78"/>
                  </a:lnTo>
                  <a:lnTo>
                    <a:pt x="49" y="78"/>
                  </a:lnTo>
                  <a:lnTo>
                    <a:pt x="46" y="81"/>
                  </a:lnTo>
                  <a:lnTo>
                    <a:pt x="42" y="81"/>
                  </a:lnTo>
                  <a:lnTo>
                    <a:pt x="39" y="84"/>
                  </a:lnTo>
                  <a:lnTo>
                    <a:pt x="36" y="84"/>
                  </a:lnTo>
                  <a:lnTo>
                    <a:pt x="32" y="85"/>
                  </a:lnTo>
                  <a:lnTo>
                    <a:pt x="29" y="85"/>
                  </a:lnTo>
                  <a:lnTo>
                    <a:pt x="26" y="87"/>
                  </a:lnTo>
                  <a:lnTo>
                    <a:pt x="23" y="87"/>
                  </a:lnTo>
                  <a:lnTo>
                    <a:pt x="20" y="87"/>
                  </a:lnTo>
                  <a:lnTo>
                    <a:pt x="15" y="87"/>
                  </a:lnTo>
                  <a:lnTo>
                    <a:pt x="10" y="85"/>
                  </a:lnTo>
                  <a:lnTo>
                    <a:pt x="6" y="82"/>
                  </a:lnTo>
                  <a:lnTo>
                    <a:pt x="3" y="80"/>
                  </a:lnTo>
                  <a:lnTo>
                    <a:pt x="2" y="75"/>
                  </a:lnTo>
                  <a:lnTo>
                    <a:pt x="0" y="71"/>
                  </a:lnTo>
                  <a:lnTo>
                    <a:pt x="0" y="68"/>
                  </a:lnTo>
                  <a:lnTo>
                    <a:pt x="0" y="65"/>
                  </a:lnTo>
                  <a:lnTo>
                    <a:pt x="0" y="63"/>
                  </a:lnTo>
                  <a:lnTo>
                    <a:pt x="0" y="60"/>
                  </a:lnTo>
                  <a:lnTo>
                    <a:pt x="2" y="54"/>
                  </a:lnTo>
                  <a:lnTo>
                    <a:pt x="5" y="50"/>
                  </a:lnTo>
                  <a:lnTo>
                    <a:pt x="9" y="44"/>
                  </a:lnTo>
                  <a:lnTo>
                    <a:pt x="12" y="40"/>
                  </a:lnTo>
                  <a:lnTo>
                    <a:pt x="15" y="37"/>
                  </a:lnTo>
                  <a:lnTo>
                    <a:pt x="18" y="36"/>
                  </a:lnTo>
                  <a:lnTo>
                    <a:pt x="20" y="33"/>
                  </a:lnTo>
                  <a:lnTo>
                    <a:pt x="23" y="31"/>
                  </a:lnTo>
                  <a:lnTo>
                    <a:pt x="26" y="28"/>
                  </a:lnTo>
                  <a:lnTo>
                    <a:pt x="29" y="26"/>
                  </a:lnTo>
                  <a:lnTo>
                    <a:pt x="32" y="24"/>
                  </a:lnTo>
                  <a:lnTo>
                    <a:pt x="36" y="23"/>
                  </a:lnTo>
                  <a:lnTo>
                    <a:pt x="39" y="21"/>
                  </a:lnTo>
                  <a:lnTo>
                    <a:pt x="42" y="18"/>
                  </a:lnTo>
                  <a:lnTo>
                    <a:pt x="46" y="17"/>
                  </a:lnTo>
                  <a:lnTo>
                    <a:pt x="49" y="16"/>
                  </a:lnTo>
                  <a:lnTo>
                    <a:pt x="52" y="14"/>
                  </a:lnTo>
                  <a:lnTo>
                    <a:pt x="56" y="13"/>
                  </a:lnTo>
                  <a:lnTo>
                    <a:pt x="59" y="10"/>
                  </a:lnTo>
                  <a:lnTo>
                    <a:pt x="64" y="10"/>
                  </a:lnTo>
                  <a:lnTo>
                    <a:pt x="67" y="7"/>
                  </a:lnTo>
                  <a:lnTo>
                    <a:pt x="70" y="7"/>
                  </a:lnTo>
                  <a:lnTo>
                    <a:pt x="73" y="6"/>
                  </a:lnTo>
                  <a:lnTo>
                    <a:pt x="77" y="6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2" name="Freeform 14"/>
            <p:cNvSpPr>
              <a:spLocks/>
            </p:cNvSpPr>
            <p:nvPr/>
          </p:nvSpPr>
          <p:spPr bwMode="auto">
            <a:xfrm>
              <a:off x="2190" y="1213"/>
              <a:ext cx="34" cy="110"/>
            </a:xfrm>
            <a:custGeom>
              <a:avLst/>
              <a:gdLst>
                <a:gd name="T0" fmla="*/ 0 w 102"/>
                <a:gd name="T1" fmla="*/ 0 h 330"/>
                <a:gd name="T2" fmla="*/ 0 w 102"/>
                <a:gd name="T3" fmla="*/ 0 h 330"/>
                <a:gd name="T4" fmla="*/ 0 w 102"/>
                <a:gd name="T5" fmla="*/ 0 h 330"/>
                <a:gd name="T6" fmla="*/ 0 w 102"/>
                <a:gd name="T7" fmla="*/ 0 h 330"/>
                <a:gd name="T8" fmla="*/ 0 w 102"/>
                <a:gd name="T9" fmla="*/ 0 h 330"/>
                <a:gd name="T10" fmla="*/ 0 w 102"/>
                <a:gd name="T11" fmla="*/ 0 h 330"/>
                <a:gd name="T12" fmla="*/ 0 w 102"/>
                <a:gd name="T13" fmla="*/ 0 h 330"/>
                <a:gd name="T14" fmla="*/ 0 w 102"/>
                <a:gd name="T15" fmla="*/ 0 h 330"/>
                <a:gd name="T16" fmla="*/ 0 w 102"/>
                <a:gd name="T17" fmla="*/ 0 h 330"/>
                <a:gd name="T18" fmla="*/ 0 w 102"/>
                <a:gd name="T19" fmla="*/ 0 h 330"/>
                <a:gd name="T20" fmla="*/ 0 w 102"/>
                <a:gd name="T21" fmla="*/ 0 h 330"/>
                <a:gd name="T22" fmla="*/ 0 w 102"/>
                <a:gd name="T23" fmla="*/ 0 h 330"/>
                <a:gd name="T24" fmla="*/ 0 w 102"/>
                <a:gd name="T25" fmla="*/ 0 h 330"/>
                <a:gd name="T26" fmla="*/ 0 w 102"/>
                <a:gd name="T27" fmla="*/ 0 h 330"/>
                <a:gd name="T28" fmla="*/ 0 w 102"/>
                <a:gd name="T29" fmla="*/ 0 h 330"/>
                <a:gd name="T30" fmla="*/ 0 w 102"/>
                <a:gd name="T31" fmla="*/ 0 h 330"/>
                <a:gd name="T32" fmla="*/ 0 w 102"/>
                <a:gd name="T33" fmla="*/ 0 h 330"/>
                <a:gd name="T34" fmla="*/ 0 w 102"/>
                <a:gd name="T35" fmla="*/ 0 h 330"/>
                <a:gd name="T36" fmla="*/ 0 w 102"/>
                <a:gd name="T37" fmla="*/ 0 h 330"/>
                <a:gd name="T38" fmla="*/ 0 w 102"/>
                <a:gd name="T39" fmla="*/ 0 h 330"/>
                <a:gd name="T40" fmla="*/ 0 w 102"/>
                <a:gd name="T41" fmla="*/ 0 h 330"/>
                <a:gd name="T42" fmla="*/ 0 w 102"/>
                <a:gd name="T43" fmla="*/ 0 h 330"/>
                <a:gd name="T44" fmla="*/ 0 w 102"/>
                <a:gd name="T45" fmla="*/ 0 h 330"/>
                <a:gd name="T46" fmla="*/ 0 w 102"/>
                <a:gd name="T47" fmla="*/ 0 h 330"/>
                <a:gd name="T48" fmla="*/ 0 w 102"/>
                <a:gd name="T49" fmla="*/ 0 h 330"/>
                <a:gd name="T50" fmla="*/ 0 w 102"/>
                <a:gd name="T51" fmla="*/ 0 h 330"/>
                <a:gd name="T52" fmla="*/ 0 w 102"/>
                <a:gd name="T53" fmla="*/ 0 h 330"/>
                <a:gd name="T54" fmla="*/ 0 w 102"/>
                <a:gd name="T55" fmla="*/ 0 h 330"/>
                <a:gd name="T56" fmla="*/ 0 w 102"/>
                <a:gd name="T57" fmla="*/ 0 h 330"/>
                <a:gd name="T58" fmla="*/ 0 w 102"/>
                <a:gd name="T59" fmla="*/ 0 h 330"/>
                <a:gd name="T60" fmla="*/ 0 w 102"/>
                <a:gd name="T61" fmla="*/ 0 h 330"/>
                <a:gd name="T62" fmla="*/ 0 w 102"/>
                <a:gd name="T63" fmla="*/ 0 h 330"/>
                <a:gd name="T64" fmla="*/ 0 w 102"/>
                <a:gd name="T65" fmla="*/ 0 h 330"/>
                <a:gd name="T66" fmla="*/ 0 w 102"/>
                <a:gd name="T67" fmla="*/ 0 h 330"/>
                <a:gd name="T68" fmla="*/ 0 w 102"/>
                <a:gd name="T69" fmla="*/ 0 h 330"/>
                <a:gd name="T70" fmla="*/ 0 w 102"/>
                <a:gd name="T71" fmla="*/ 0 h 330"/>
                <a:gd name="T72" fmla="*/ 0 w 102"/>
                <a:gd name="T73" fmla="*/ 0 h 330"/>
                <a:gd name="T74" fmla="*/ 0 w 102"/>
                <a:gd name="T75" fmla="*/ 0 h 330"/>
                <a:gd name="T76" fmla="*/ 0 w 102"/>
                <a:gd name="T77" fmla="*/ 0 h 330"/>
                <a:gd name="T78" fmla="*/ 0 w 102"/>
                <a:gd name="T79" fmla="*/ 0 h 330"/>
                <a:gd name="T80" fmla="*/ 0 w 102"/>
                <a:gd name="T81" fmla="*/ 0 h 330"/>
                <a:gd name="T82" fmla="*/ 0 w 102"/>
                <a:gd name="T83" fmla="*/ 0 h 330"/>
                <a:gd name="T84" fmla="*/ 0 w 102"/>
                <a:gd name="T85" fmla="*/ 0 h 330"/>
                <a:gd name="T86" fmla="*/ 0 w 102"/>
                <a:gd name="T87" fmla="*/ 0 h 330"/>
                <a:gd name="T88" fmla="*/ 0 w 102"/>
                <a:gd name="T89" fmla="*/ 0 h 330"/>
                <a:gd name="T90" fmla="*/ 0 w 102"/>
                <a:gd name="T91" fmla="*/ 0 h 330"/>
                <a:gd name="T92" fmla="*/ 0 w 102"/>
                <a:gd name="T93" fmla="*/ 0 h 330"/>
                <a:gd name="T94" fmla="*/ 0 w 102"/>
                <a:gd name="T95" fmla="*/ 0 h 330"/>
                <a:gd name="T96" fmla="*/ 0 w 102"/>
                <a:gd name="T97" fmla="*/ 0 h 330"/>
                <a:gd name="T98" fmla="*/ 0 w 102"/>
                <a:gd name="T99" fmla="*/ 0 h 330"/>
                <a:gd name="T100" fmla="*/ 0 w 102"/>
                <a:gd name="T101" fmla="*/ 0 h 330"/>
                <a:gd name="T102" fmla="*/ 0 w 102"/>
                <a:gd name="T103" fmla="*/ 0 h 330"/>
                <a:gd name="T104" fmla="*/ 0 w 102"/>
                <a:gd name="T105" fmla="*/ 0 h 330"/>
                <a:gd name="T106" fmla="*/ 0 w 102"/>
                <a:gd name="T107" fmla="*/ 0 h 330"/>
                <a:gd name="T108" fmla="*/ 0 w 102"/>
                <a:gd name="T109" fmla="*/ 0 h 330"/>
                <a:gd name="T110" fmla="*/ 0 w 102"/>
                <a:gd name="T111" fmla="*/ 0 h 330"/>
                <a:gd name="T112" fmla="*/ 0 w 102"/>
                <a:gd name="T113" fmla="*/ 0 h 330"/>
                <a:gd name="T114" fmla="*/ 0 w 102"/>
                <a:gd name="T115" fmla="*/ 0 h 33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02"/>
                <a:gd name="T175" fmla="*/ 0 h 330"/>
                <a:gd name="T176" fmla="*/ 102 w 102"/>
                <a:gd name="T177" fmla="*/ 330 h 33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02" h="330">
                  <a:moveTo>
                    <a:pt x="18" y="99"/>
                  </a:moveTo>
                  <a:lnTo>
                    <a:pt x="18" y="102"/>
                  </a:lnTo>
                  <a:lnTo>
                    <a:pt x="18" y="105"/>
                  </a:lnTo>
                  <a:lnTo>
                    <a:pt x="18" y="109"/>
                  </a:lnTo>
                  <a:lnTo>
                    <a:pt x="20" y="112"/>
                  </a:lnTo>
                  <a:lnTo>
                    <a:pt x="20" y="116"/>
                  </a:lnTo>
                  <a:lnTo>
                    <a:pt x="21" y="119"/>
                  </a:lnTo>
                  <a:lnTo>
                    <a:pt x="21" y="125"/>
                  </a:lnTo>
                  <a:lnTo>
                    <a:pt x="21" y="129"/>
                  </a:lnTo>
                  <a:lnTo>
                    <a:pt x="21" y="132"/>
                  </a:lnTo>
                  <a:lnTo>
                    <a:pt x="21" y="136"/>
                  </a:lnTo>
                  <a:lnTo>
                    <a:pt x="21" y="140"/>
                  </a:lnTo>
                  <a:lnTo>
                    <a:pt x="21" y="145"/>
                  </a:lnTo>
                  <a:lnTo>
                    <a:pt x="21" y="150"/>
                  </a:lnTo>
                  <a:lnTo>
                    <a:pt x="21" y="155"/>
                  </a:lnTo>
                  <a:lnTo>
                    <a:pt x="21" y="159"/>
                  </a:lnTo>
                  <a:lnTo>
                    <a:pt x="23" y="163"/>
                  </a:lnTo>
                  <a:lnTo>
                    <a:pt x="21" y="168"/>
                  </a:lnTo>
                  <a:lnTo>
                    <a:pt x="21" y="172"/>
                  </a:lnTo>
                  <a:lnTo>
                    <a:pt x="21" y="177"/>
                  </a:lnTo>
                  <a:lnTo>
                    <a:pt x="21" y="182"/>
                  </a:lnTo>
                  <a:lnTo>
                    <a:pt x="20" y="187"/>
                  </a:lnTo>
                  <a:lnTo>
                    <a:pt x="20" y="190"/>
                  </a:lnTo>
                  <a:lnTo>
                    <a:pt x="20" y="196"/>
                  </a:lnTo>
                  <a:lnTo>
                    <a:pt x="20" y="200"/>
                  </a:lnTo>
                  <a:lnTo>
                    <a:pt x="18" y="206"/>
                  </a:lnTo>
                  <a:lnTo>
                    <a:pt x="18" y="210"/>
                  </a:lnTo>
                  <a:lnTo>
                    <a:pt x="18" y="214"/>
                  </a:lnTo>
                  <a:lnTo>
                    <a:pt x="18" y="219"/>
                  </a:lnTo>
                  <a:lnTo>
                    <a:pt x="18" y="224"/>
                  </a:lnTo>
                  <a:lnTo>
                    <a:pt x="18" y="227"/>
                  </a:lnTo>
                  <a:lnTo>
                    <a:pt x="18" y="233"/>
                  </a:lnTo>
                  <a:lnTo>
                    <a:pt x="18" y="239"/>
                  </a:lnTo>
                  <a:lnTo>
                    <a:pt x="17" y="243"/>
                  </a:lnTo>
                  <a:lnTo>
                    <a:pt x="17" y="246"/>
                  </a:lnTo>
                  <a:lnTo>
                    <a:pt x="15" y="250"/>
                  </a:lnTo>
                  <a:lnTo>
                    <a:pt x="15" y="254"/>
                  </a:lnTo>
                  <a:lnTo>
                    <a:pt x="15" y="259"/>
                  </a:lnTo>
                  <a:lnTo>
                    <a:pt x="15" y="263"/>
                  </a:lnTo>
                  <a:lnTo>
                    <a:pt x="15" y="267"/>
                  </a:lnTo>
                  <a:lnTo>
                    <a:pt x="17" y="271"/>
                  </a:lnTo>
                  <a:lnTo>
                    <a:pt x="17" y="274"/>
                  </a:lnTo>
                  <a:lnTo>
                    <a:pt x="17" y="278"/>
                  </a:lnTo>
                  <a:lnTo>
                    <a:pt x="17" y="281"/>
                  </a:lnTo>
                  <a:lnTo>
                    <a:pt x="17" y="287"/>
                  </a:lnTo>
                  <a:lnTo>
                    <a:pt x="17" y="290"/>
                  </a:lnTo>
                  <a:lnTo>
                    <a:pt x="18" y="293"/>
                  </a:lnTo>
                  <a:lnTo>
                    <a:pt x="18" y="296"/>
                  </a:lnTo>
                  <a:lnTo>
                    <a:pt x="18" y="300"/>
                  </a:lnTo>
                  <a:lnTo>
                    <a:pt x="18" y="303"/>
                  </a:lnTo>
                  <a:lnTo>
                    <a:pt x="20" y="305"/>
                  </a:lnTo>
                  <a:lnTo>
                    <a:pt x="21" y="308"/>
                  </a:lnTo>
                  <a:lnTo>
                    <a:pt x="23" y="310"/>
                  </a:lnTo>
                  <a:lnTo>
                    <a:pt x="25" y="315"/>
                  </a:lnTo>
                  <a:lnTo>
                    <a:pt x="28" y="320"/>
                  </a:lnTo>
                  <a:lnTo>
                    <a:pt x="31" y="323"/>
                  </a:lnTo>
                  <a:lnTo>
                    <a:pt x="34" y="325"/>
                  </a:lnTo>
                  <a:lnTo>
                    <a:pt x="40" y="327"/>
                  </a:lnTo>
                  <a:lnTo>
                    <a:pt x="44" y="328"/>
                  </a:lnTo>
                  <a:lnTo>
                    <a:pt x="48" y="328"/>
                  </a:lnTo>
                  <a:lnTo>
                    <a:pt x="54" y="330"/>
                  </a:lnTo>
                  <a:lnTo>
                    <a:pt x="58" y="328"/>
                  </a:lnTo>
                  <a:lnTo>
                    <a:pt x="62" y="328"/>
                  </a:lnTo>
                  <a:lnTo>
                    <a:pt x="65" y="327"/>
                  </a:lnTo>
                  <a:lnTo>
                    <a:pt x="69" y="325"/>
                  </a:lnTo>
                  <a:lnTo>
                    <a:pt x="72" y="324"/>
                  </a:lnTo>
                  <a:lnTo>
                    <a:pt x="77" y="323"/>
                  </a:lnTo>
                  <a:lnTo>
                    <a:pt x="79" y="320"/>
                  </a:lnTo>
                  <a:lnTo>
                    <a:pt x="82" y="317"/>
                  </a:lnTo>
                  <a:lnTo>
                    <a:pt x="85" y="314"/>
                  </a:lnTo>
                  <a:lnTo>
                    <a:pt x="87" y="311"/>
                  </a:lnTo>
                  <a:lnTo>
                    <a:pt x="89" y="308"/>
                  </a:lnTo>
                  <a:lnTo>
                    <a:pt x="91" y="304"/>
                  </a:lnTo>
                  <a:lnTo>
                    <a:pt x="92" y="300"/>
                  </a:lnTo>
                  <a:lnTo>
                    <a:pt x="95" y="297"/>
                  </a:lnTo>
                  <a:lnTo>
                    <a:pt x="95" y="293"/>
                  </a:lnTo>
                  <a:lnTo>
                    <a:pt x="96" y="288"/>
                  </a:lnTo>
                  <a:lnTo>
                    <a:pt x="98" y="283"/>
                  </a:lnTo>
                  <a:lnTo>
                    <a:pt x="99" y="278"/>
                  </a:lnTo>
                  <a:lnTo>
                    <a:pt x="99" y="274"/>
                  </a:lnTo>
                  <a:lnTo>
                    <a:pt x="99" y="270"/>
                  </a:lnTo>
                  <a:lnTo>
                    <a:pt x="101" y="266"/>
                  </a:lnTo>
                  <a:lnTo>
                    <a:pt x="102" y="260"/>
                  </a:lnTo>
                  <a:lnTo>
                    <a:pt x="102" y="256"/>
                  </a:lnTo>
                  <a:lnTo>
                    <a:pt x="102" y="250"/>
                  </a:lnTo>
                  <a:lnTo>
                    <a:pt x="102" y="244"/>
                  </a:lnTo>
                  <a:lnTo>
                    <a:pt x="102" y="240"/>
                  </a:lnTo>
                  <a:lnTo>
                    <a:pt x="102" y="236"/>
                  </a:lnTo>
                  <a:lnTo>
                    <a:pt x="102" y="230"/>
                  </a:lnTo>
                  <a:lnTo>
                    <a:pt x="101" y="226"/>
                  </a:lnTo>
                  <a:lnTo>
                    <a:pt x="101" y="222"/>
                  </a:lnTo>
                  <a:lnTo>
                    <a:pt x="99" y="219"/>
                  </a:lnTo>
                  <a:lnTo>
                    <a:pt x="99" y="216"/>
                  </a:lnTo>
                  <a:lnTo>
                    <a:pt x="99" y="213"/>
                  </a:lnTo>
                  <a:lnTo>
                    <a:pt x="99" y="210"/>
                  </a:lnTo>
                  <a:lnTo>
                    <a:pt x="98" y="207"/>
                  </a:lnTo>
                  <a:lnTo>
                    <a:pt x="96" y="204"/>
                  </a:lnTo>
                  <a:lnTo>
                    <a:pt x="96" y="200"/>
                  </a:lnTo>
                  <a:lnTo>
                    <a:pt x="96" y="197"/>
                  </a:lnTo>
                  <a:lnTo>
                    <a:pt x="95" y="193"/>
                  </a:lnTo>
                  <a:lnTo>
                    <a:pt x="95" y="189"/>
                  </a:lnTo>
                  <a:lnTo>
                    <a:pt x="94" y="185"/>
                  </a:lnTo>
                  <a:lnTo>
                    <a:pt x="94" y="182"/>
                  </a:lnTo>
                  <a:lnTo>
                    <a:pt x="92" y="176"/>
                  </a:lnTo>
                  <a:lnTo>
                    <a:pt x="91" y="172"/>
                  </a:lnTo>
                  <a:lnTo>
                    <a:pt x="89" y="168"/>
                  </a:lnTo>
                  <a:lnTo>
                    <a:pt x="89" y="163"/>
                  </a:lnTo>
                  <a:lnTo>
                    <a:pt x="88" y="159"/>
                  </a:lnTo>
                  <a:lnTo>
                    <a:pt x="87" y="153"/>
                  </a:lnTo>
                  <a:lnTo>
                    <a:pt x="85" y="149"/>
                  </a:lnTo>
                  <a:lnTo>
                    <a:pt x="84" y="143"/>
                  </a:lnTo>
                  <a:lnTo>
                    <a:pt x="82" y="139"/>
                  </a:lnTo>
                  <a:lnTo>
                    <a:pt x="81" y="135"/>
                  </a:lnTo>
                  <a:lnTo>
                    <a:pt x="79" y="129"/>
                  </a:lnTo>
                  <a:lnTo>
                    <a:pt x="78" y="125"/>
                  </a:lnTo>
                  <a:lnTo>
                    <a:pt x="77" y="119"/>
                  </a:lnTo>
                  <a:lnTo>
                    <a:pt x="74" y="113"/>
                  </a:lnTo>
                  <a:lnTo>
                    <a:pt x="74" y="109"/>
                  </a:lnTo>
                  <a:lnTo>
                    <a:pt x="71" y="104"/>
                  </a:lnTo>
                  <a:lnTo>
                    <a:pt x="71" y="99"/>
                  </a:lnTo>
                  <a:lnTo>
                    <a:pt x="68" y="94"/>
                  </a:lnTo>
                  <a:lnTo>
                    <a:pt x="67" y="89"/>
                  </a:lnTo>
                  <a:lnTo>
                    <a:pt x="65" y="85"/>
                  </a:lnTo>
                  <a:lnTo>
                    <a:pt x="64" y="79"/>
                  </a:lnTo>
                  <a:lnTo>
                    <a:pt x="62" y="75"/>
                  </a:lnTo>
                  <a:lnTo>
                    <a:pt x="61" y="69"/>
                  </a:lnTo>
                  <a:lnTo>
                    <a:pt x="58" y="65"/>
                  </a:lnTo>
                  <a:lnTo>
                    <a:pt x="57" y="61"/>
                  </a:lnTo>
                  <a:lnTo>
                    <a:pt x="55" y="57"/>
                  </a:lnTo>
                  <a:lnTo>
                    <a:pt x="54" y="52"/>
                  </a:lnTo>
                  <a:lnTo>
                    <a:pt x="52" y="48"/>
                  </a:lnTo>
                  <a:lnTo>
                    <a:pt x="50" y="44"/>
                  </a:lnTo>
                  <a:lnTo>
                    <a:pt x="48" y="38"/>
                  </a:lnTo>
                  <a:lnTo>
                    <a:pt x="45" y="35"/>
                  </a:lnTo>
                  <a:lnTo>
                    <a:pt x="44" y="31"/>
                  </a:lnTo>
                  <a:lnTo>
                    <a:pt x="42" y="28"/>
                  </a:lnTo>
                  <a:lnTo>
                    <a:pt x="41" y="25"/>
                  </a:lnTo>
                  <a:lnTo>
                    <a:pt x="40" y="22"/>
                  </a:lnTo>
                  <a:lnTo>
                    <a:pt x="38" y="20"/>
                  </a:lnTo>
                  <a:lnTo>
                    <a:pt x="37" y="17"/>
                  </a:lnTo>
                  <a:lnTo>
                    <a:pt x="34" y="14"/>
                  </a:lnTo>
                  <a:lnTo>
                    <a:pt x="34" y="10"/>
                  </a:lnTo>
                  <a:lnTo>
                    <a:pt x="31" y="8"/>
                  </a:lnTo>
                  <a:lnTo>
                    <a:pt x="28" y="4"/>
                  </a:lnTo>
                  <a:lnTo>
                    <a:pt x="27" y="3"/>
                  </a:lnTo>
                  <a:lnTo>
                    <a:pt x="20" y="0"/>
                  </a:lnTo>
                  <a:lnTo>
                    <a:pt x="15" y="3"/>
                  </a:lnTo>
                  <a:lnTo>
                    <a:pt x="11" y="5"/>
                  </a:lnTo>
                  <a:lnTo>
                    <a:pt x="8" y="10"/>
                  </a:lnTo>
                  <a:lnTo>
                    <a:pt x="4" y="14"/>
                  </a:lnTo>
                  <a:lnTo>
                    <a:pt x="3" y="17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8"/>
                  </a:lnTo>
                  <a:lnTo>
                    <a:pt x="1" y="42"/>
                  </a:lnTo>
                  <a:lnTo>
                    <a:pt x="3" y="45"/>
                  </a:lnTo>
                  <a:lnTo>
                    <a:pt x="3" y="48"/>
                  </a:lnTo>
                  <a:lnTo>
                    <a:pt x="4" y="51"/>
                  </a:lnTo>
                  <a:lnTo>
                    <a:pt x="6" y="57"/>
                  </a:lnTo>
                  <a:lnTo>
                    <a:pt x="7" y="59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1" y="75"/>
                  </a:lnTo>
                  <a:lnTo>
                    <a:pt x="11" y="78"/>
                  </a:lnTo>
                  <a:lnTo>
                    <a:pt x="13" y="79"/>
                  </a:lnTo>
                  <a:lnTo>
                    <a:pt x="13" y="82"/>
                  </a:lnTo>
                  <a:lnTo>
                    <a:pt x="14" y="85"/>
                  </a:lnTo>
                  <a:lnTo>
                    <a:pt x="14" y="88"/>
                  </a:lnTo>
                  <a:lnTo>
                    <a:pt x="15" y="91"/>
                  </a:lnTo>
                  <a:lnTo>
                    <a:pt x="15" y="95"/>
                  </a:lnTo>
                  <a:lnTo>
                    <a:pt x="18" y="99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3" name="Freeform 15"/>
            <p:cNvSpPr>
              <a:spLocks/>
            </p:cNvSpPr>
            <p:nvPr/>
          </p:nvSpPr>
          <p:spPr bwMode="auto">
            <a:xfrm>
              <a:off x="1899" y="1341"/>
              <a:ext cx="50" cy="73"/>
            </a:xfrm>
            <a:custGeom>
              <a:avLst/>
              <a:gdLst>
                <a:gd name="T0" fmla="*/ 0 w 151"/>
                <a:gd name="T1" fmla="*/ 0 h 219"/>
                <a:gd name="T2" fmla="*/ 0 w 151"/>
                <a:gd name="T3" fmla="*/ 0 h 219"/>
                <a:gd name="T4" fmla="*/ 0 w 151"/>
                <a:gd name="T5" fmla="*/ 0 h 219"/>
                <a:gd name="T6" fmla="*/ 0 w 151"/>
                <a:gd name="T7" fmla="*/ 0 h 219"/>
                <a:gd name="T8" fmla="*/ 0 w 151"/>
                <a:gd name="T9" fmla="*/ 0 h 219"/>
                <a:gd name="T10" fmla="*/ 0 w 151"/>
                <a:gd name="T11" fmla="*/ 0 h 219"/>
                <a:gd name="T12" fmla="*/ 0 w 151"/>
                <a:gd name="T13" fmla="*/ 0 h 219"/>
                <a:gd name="T14" fmla="*/ 0 w 151"/>
                <a:gd name="T15" fmla="*/ 0 h 219"/>
                <a:gd name="T16" fmla="*/ 0 w 151"/>
                <a:gd name="T17" fmla="*/ 0 h 219"/>
                <a:gd name="T18" fmla="*/ 0 w 151"/>
                <a:gd name="T19" fmla="*/ 0 h 219"/>
                <a:gd name="T20" fmla="*/ 0 w 151"/>
                <a:gd name="T21" fmla="*/ 0 h 219"/>
                <a:gd name="T22" fmla="*/ 0 w 151"/>
                <a:gd name="T23" fmla="*/ 0 h 219"/>
                <a:gd name="T24" fmla="*/ 0 w 151"/>
                <a:gd name="T25" fmla="*/ 0 h 219"/>
                <a:gd name="T26" fmla="*/ 0 w 151"/>
                <a:gd name="T27" fmla="*/ 0 h 219"/>
                <a:gd name="T28" fmla="*/ 0 w 151"/>
                <a:gd name="T29" fmla="*/ 0 h 219"/>
                <a:gd name="T30" fmla="*/ 0 w 151"/>
                <a:gd name="T31" fmla="*/ 0 h 219"/>
                <a:gd name="T32" fmla="*/ 0 w 151"/>
                <a:gd name="T33" fmla="*/ 0 h 219"/>
                <a:gd name="T34" fmla="*/ 0 w 151"/>
                <a:gd name="T35" fmla="*/ 0 h 219"/>
                <a:gd name="T36" fmla="*/ 0 w 151"/>
                <a:gd name="T37" fmla="*/ 0 h 219"/>
                <a:gd name="T38" fmla="*/ 0 w 151"/>
                <a:gd name="T39" fmla="*/ 0 h 219"/>
                <a:gd name="T40" fmla="*/ 0 w 151"/>
                <a:gd name="T41" fmla="*/ 0 h 219"/>
                <a:gd name="T42" fmla="*/ 0 w 151"/>
                <a:gd name="T43" fmla="*/ 0 h 219"/>
                <a:gd name="T44" fmla="*/ 0 w 151"/>
                <a:gd name="T45" fmla="*/ 0 h 219"/>
                <a:gd name="T46" fmla="*/ 0 w 151"/>
                <a:gd name="T47" fmla="*/ 0 h 219"/>
                <a:gd name="T48" fmla="*/ 0 w 151"/>
                <a:gd name="T49" fmla="*/ 0 h 219"/>
                <a:gd name="T50" fmla="*/ 0 w 151"/>
                <a:gd name="T51" fmla="*/ 0 h 219"/>
                <a:gd name="T52" fmla="*/ 0 w 151"/>
                <a:gd name="T53" fmla="*/ 0 h 219"/>
                <a:gd name="T54" fmla="*/ 0 w 151"/>
                <a:gd name="T55" fmla="*/ 0 h 219"/>
                <a:gd name="T56" fmla="*/ 0 w 151"/>
                <a:gd name="T57" fmla="*/ 0 h 219"/>
                <a:gd name="T58" fmla="*/ 0 w 151"/>
                <a:gd name="T59" fmla="*/ 0 h 219"/>
                <a:gd name="T60" fmla="*/ 0 w 151"/>
                <a:gd name="T61" fmla="*/ 0 h 219"/>
                <a:gd name="T62" fmla="*/ 0 w 151"/>
                <a:gd name="T63" fmla="*/ 0 h 219"/>
                <a:gd name="T64" fmla="*/ 0 w 151"/>
                <a:gd name="T65" fmla="*/ 0 h 219"/>
                <a:gd name="T66" fmla="*/ 0 w 151"/>
                <a:gd name="T67" fmla="*/ 0 h 219"/>
                <a:gd name="T68" fmla="*/ 0 w 151"/>
                <a:gd name="T69" fmla="*/ 0 h 219"/>
                <a:gd name="T70" fmla="*/ 0 w 151"/>
                <a:gd name="T71" fmla="*/ 0 h 219"/>
                <a:gd name="T72" fmla="*/ 0 w 151"/>
                <a:gd name="T73" fmla="*/ 0 h 219"/>
                <a:gd name="T74" fmla="*/ 0 w 151"/>
                <a:gd name="T75" fmla="*/ 0 h 219"/>
                <a:gd name="T76" fmla="*/ 0 w 151"/>
                <a:gd name="T77" fmla="*/ 0 h 219"/>
                <a:gd name="T78" fmla="*/ 0 w 151"/>
                <a:gd name="T79" fmla="*/ 0 h 219"/>
                <a:gd name="T80" fmla="*/ 0 w 151"/>
                <a:gd name="T81" fmla="*/ 0 h 219"/>
                <a:gd name="T82" fmla="*/ 0 w 151"/>
                <a:gd name="T83" fmla="*/ 0 h 219"/>
                <a:gd name="T84" fmla="*/ 0 w 151"/>
                <a:gd name="T85" fmla="*/ 0 h 219"/>
                <a:gd name="T86" fmla="*/ 0 w 151"/>
                <a:gd name="T87" fmla="*/ 0 h 21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1"/>
                <a:gd name="T133" fmla="*/ 0 h 219"/>
                <a:gd name="T134" fmla="*/ 151 w 151"/>
                <a:gd name="T135" fmla="*/ 219 h 21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1" h="219">
                  <a:moveTo>
                    <a:pt x="2" y="66"/>
                  </a:moveTo>
                  <a:lnTo>
                    <a:pt x="2" y="67"/>
                  </a:lnTo>
                  <a:lnTo>
                    <a:pt x="3" y="70"/>
                  </a:lnTo>
                  <a:lnTo>
                    <a:pt x="5" y="74"/>
                  </a:lnTo>
                  <a:lnTo>
                    <a:pt x="5" y="77"/>
                  </a:lnTo>
                  <a:lnTo>
                    <a:pt x="8" y="80"/>
                  </a:lnTo>
                  <a:lnTo>
                    <a:pt x="9" y="85"/>
                  </a:lnTo>
                  <a:lnTo>
                    <a:pt x="10" y="90"/>
                  </a:lnTo>
                  <a:lnTo>
                    <a:pt x="13" y="94"/>
                  </a:lnTo>
                  <a:lnTo>
                    <a:pt x="13" y="98"/>
                  </a:lnTo>
                  <a:lnTo>
                    <a:pt x="16" y="103"/>
                  </a:lnTo>
                  <a:lnTo>
                    <a:pt x="19" y="108"/>
                  </a:lnTo>
                  <a:lnTo>
                    <a:pt x="22" y="114"/>
                  </a:lnTo>
                  <a:lnTo>
                    <a:pt x="25" y="118"/>
                  </a:lnTo>
                  <a:lnTo>
                    <a:pt x="27" y="124"/>
                  </a:lnTo>
                  <a:lnTo>
                    <a:pt x="29" y="127"/>
                  </a:lnTo>
                  <a:lnTo>
                    <a:pt x="30" y="130"/>
                  </a:lnTo>
                  <a:lnTo>
                    <a:pt x="32" y="132"/>
                  </a:lnTo>
                  <a:lnTo>
                    <a:pt x="33" y="135"/>
                  </a:lnTo>
                  <a:lnTo>
                    <a:pt x="36" y="139"/>
                  </a:lnTo>
                  <a:lnTo>
                    <a:pt x="39" y="145"/>
                  </a:lnTo>
                  <a:lnTo>
                    <a:pt x="42" y="151"/>
                  </a:lnTo>
                  <a:lnTo>
                    <a:pt x="44" y="157"/>
                  </a:lnTo>
                  <a:lnTo>
                    <a:pt x="47" y="161"/>
                  </a:lnTo>
                  <a:lnTo>
                    <a:pt x="52" y="167"/>
                  </a:lnTo>
                  <a:lnTo>
                    <a:pt x="54" y="171"/>
                  </a:lnTo>
                  <a:lnTo>
                    <a:pt x="57" y="176"/>
                  </a:lnTo>
                  <a:lnTo>
                    <a:pt x="60" y="179"/>
                  </a:lnTo>
                  <a:lnTo>
                    <a:pt x="63" y="185"/>
                  </a:lnTo>
                  <a:lnTo>
                    <a:pt x="66" y="188"/>
                  </a:lnTo>
                  <a:lnTo>
                    <a:pt x="70" y="192"/>
                  </a:lnTo>
                  <a:lnTo>
                    <a:pt x="73" y="195"/>
                  </a:lnTo>
                  <a:lnTo>
                    <a:pt x="76" y="198"/>
                  </a:lnTo>
                  <a:lnTo>
                    <a:pt x="80" y="202"/>
                  </a:lnTo>
                  <a:lnTo>
                    <a:pt x="83" y="205"/>
                  </a:lnTo>
                  <a:lnTo>
                    <a:pt x="86" y="205"/>
                  </a:lnTo>
                  <a:lnTo>
                    <a:pt x="89" y="208"/>
                  </a:lnTo>
                  <a:lnTo>
                    <a:pt x="91" y="209"/>
                  </a:lnTo>
                  <a:lnTo>
                    <a:pt x="96" y="211"/>
                  </a:lnTo>
                  <a:lnTo>
                    <a:pt x="98" y="212"/>
                  </a:lnTo>
                  <a:lnTo>
                    <a:pt x="103" y="213"/>
                  </a:lnTo>
                  <a:lnTo>
                    <a:pt x="106" y="215"/>
                  </a:lnTo>
                  <a:lnTo>
                    <a:pt x="110" y="216"/>
                  </a:lnTo>
                  <a:lnTo>
                    <a:pt x="113" y="216"/>
                  </a:lnTo>
                  <a:lnTo>
                    <a:pt x="117" y="218"/>
                  </a:lnTo>
                  <a:lnTo>
                    <a:pt x="120" y="218"/>
                  </a:lnTo>
                  <a:lnTo>
                    <a:pt x="123" y="219"/>
                  </a:lnTo>
                  <a:lnTo>
                    <a:pt x="125" y="219"/>
                  </a:lnTo>
                  <a:lnTo>
                    <a:pt x="128" y="219"/>
                  </a:lnTo>
                  <a:lnTo>
                    <a:pt x="133" y="219"/>
                  </a:lnTo>
                  <a:lnTo>
                    <a:pt x="135" y="219"/>
                  </a:lnTo>
                  <a:lnTo>
                    <a:pt x="141" y="218"/>
                  </a:lnTo>
                  <a:lnTo>
                    <a:pt x="145" y="216"/>
                  </a:lnTo>
                  <a:lnTo>
                    <a:pt x="148" y="213"/>
                  </a:lnTo>
                  <a:lnTo>
                    <a:pt x="150" y="211"/>
                  </a:lnTo>
                  <a:lnTo>
                    <a:pt x="151" y="205"/>
                  </a:lnTo>
                  <a:lnTo>
                    <a:pt x="150" y="202"/>
                  </a:lnTo>
                  <a:lnTo>
                    <a:pt x="150" y="198"/>
                  </a:lnTo>
                  <a:lnTo>
                    <a:pt x="147" y="195"/>
                  </a:lnTo>
                  <a:lnTo>
                    <a:pt x="145" y="192"/>
                  </a:lnTo>
                  <a:lnTo>
                    <a:pt x="144" y="189"/>
                  </a:lnTo>
                  <a:lnTo>
                    <a:pt x="141" y="185"/>
                  </a:lnTo>
                  <a:lnTo>
                    <a:pt x="137" y="181"/>
                  </a:lnTo>
                  <a:lnTo>
                    <a:pt x="135" y="178"/>
                  </a:lnTo>
                  <a:lnTo>
                    <a:pt x="134" y="175"/>
                  </a:lnTo>
                  <a:lnTo>
                    <a:pt x="133" y="172"/>
                  </a:lnTo>
                  <a:lnTo>
                    <a:pt x="131" y="169"/>
                  </a:lnTo>
                  <a:lnTo>
                    <a:pt x="128" y="167"/>
                  </a:lnTo>
                  <a:lnTo>
                    <a:pt x="127" y="164"/>
                  </a:lnTo>
                  <a:lnTo>
                    <a:pt x="125" y="159"/>
                  </a:lnTo>
                  <a:lnTo>
                    <a:pt x="123" y="157"/>
                  </a:lnTo>
                  <a:lnTo>
                    <a:pt x="121" y="152"/>
                  </a:lnTo>
                  <a:lnTo>
                    <a:pt x="120" y="149"/>
                  </a:lnTo>
                  <a:lnTo>
                    <a:pt x="118" y="145"/>
                  </a:lnTo>
                  <a:lnTo>
                    <a:pt x="117" y="141"/>
                  </a:lnTo>
                  <a:lnTo>
                    <a:pt x="114" y="138"/>
                  </a:lnTo>
                  <a:lnTo>
                    <a:pt x="113" y="134"/>
                  </a:lnTo>
                  <a:lnTo>
                    <a:pt x="110" y="130"/>
                  </a:lnTo>
                  <a:lnTo>
                    <a:pt x="108" y="125"/>
                  </a:lnTo>
                  <a:lnTo>
                    <a:pt x="106" y="121"/>
                  </a:lnTo>
                  <a:lnTo>
                    <a:pt x="104" y="117"/>
                  </a:lnTo>
                  <a:lnTo>
                    <a:pt x="101" y="112"/>
                  </a:lnTo>
                  <a:lnTo>
                    <a:pt x="100" y="108"/>
                  </a:lnTo>
                  <a:lnTo>
                    <a:pt x="97" y="104"/>
                  </a:lnTo>
                  <a:lnTo>
                    <a:pt x="96" y="101"/>
                  </a:lnTo>
                  <a:lnTo>
                    <a:pt x="94" y="95"/>
                  </a:lnTo>
                  <a:lnTo>
                    <a:pt x="91" y="93"/>
                  </a:lnTo>
                  <a:lnTo>
                    <a:pt x="89" y="87"/>
                  </a:lnTo>
                  <a:lnTo>
                    <a:pt x="89" y="83"/>
                  </a:lnTo>
                  <a:lnTo>
                    <a:pt x="86" y="78"/>
                  </a:lnTo>
                  <a:lnTo>
                    <a:pt x="83" y="75"/>
                  </a:lnTo>
                  <a:lnTo>
                    <a:pt x="81" y="71"/>
                  </a:lnTo>
                  <a:lnTo>
                    <a:pt x="80" y="67"/>
                  </a:lnTo>
                  <a:lnTo>
                    <a:pt x="76" y="61"/>
                  </a:lnTo>
                  <a:lnTo>
                    <a:pt x="74" y="58"/>
                  </a:lnTo>
                  <a:lnTo>
                    <a:pt x="73" y="54"/>
                  </a:lnTo>
                  <a:lnTo>
                    <a:pt x="71" y="51"/>
                  </a:lnTo>
                  <a:lnTo>
                    <a:pt x="69" y="47"/>
                  </a:lnTo>
                  <a:lnTo>
                    <a:pt x="67" y="44"/>
                  </a:lnTo>
                  <a:lnTo>
                    <a:pt x="64" y="40"/>
                  </a:lnTo>
                  <a:lnTo>
                    <a:pt x="63" y="36"/>
                  </a:lnTo>
                  <a:lnTo>
                    <a:pt x="60" y="33"/>
                  </a:lnTo>
                  <a:lnTo>
                    <a:pt x="59" y="30"/>
                  </a:lnTo>
                  <a:lnTo>
                    <a:pt x="57" y="27"/>
                  </a:lnTo>
                  <a:lnTo>
                    <a:pt x="54" y="24"/>
                  </a:lnTo>
                  <a:lnTo>
                    <a:pt x="53" y="21"/>
                  </a:lnTo>
                  <a:lnTo>
                    <a:pt x="52" y="20"/>
                  </a:lnTo>
                  <a:lnTo>
                    <a:pt x="47" y="14"/>
                  </a:lnTo>
                  <a:lnTo>
                    <a:pt x="44" y="9"/>
                  </a:lnTo>
                  <a:lnTo>
                    <a:pt x="42" y="6"/>
                  </a:lnTo>
                  <a:lnTo>
                    <a:pt x="39" y="3"/>
                  </a:lnTo>
                  <a:lnTo>
                    <a:pt x="36" y="2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5" y="4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4"/>
                  </a:lnTo>
                  <a:lnTo>
                    <a:pt x="10" y="17"/>
                  </a:lnTo>
                  <a:lnTo>
                    <a:pt x="8" y="20"/>
                  </a:lnTo>
                  <a:lnTo>
                    <a:pt x="5" y="24"/>
                  </a:lnTo>
                  <a:lnTo>
                    <a:pt x="5" y="29"/>
                  </a:lnTo>
                  <a:lnTo>
                    <a:pt x="2" y="33"/>
                  </a:lnTo>
                  <a:lnTo>
                    <a:pt x="2" y="36"/>
                  </a:lnTo>
                  <a:lnTo>
                    <a:pt x="0" y="41"/>
                  </a:lnTo>
                  <a:lnTo>
                    <a:pt x="0" y="46"/>
                  </a:lnTo>
                  <a:lnTo>
                    <a:pt x="0" y="51"/>
                  </a:lnTo>
                  <a:lnTo>
                    <a:pt x="0" y="54"/>
                  </a:lnTo>
                  <a:lnTo>
                    <a:pt x="2" y="60"/>
                  </a:lnTo>
                  <a:lnTo>
                    <a:pt x="2" y="66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09587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3" grpId="0" build="p"/>
      <p:bldP spid="445445" grpId="0"/>
      <p:bldP spid="445446" grpId="0"/>
    </p:bldLst>
  </p:timing>
</p:sld>
</file>

<file path=ppt/theme/theme1.xml><?xml version="1.0" encoding="utf-8"?>
<a:theme xmlns:a="http://schemas.openxmlformats.org/drawingml/2006/main" name="iiis-os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AA"/>
        </a:solidFill>
        <a:ln w="25400" cap="flat" cmpd="sng" algn="ctr">
          <a:solidFill>
            <a:schemeClr val="tx1"/>
          </a:solidFill>
          <a:prstDash val="solid"/>
          <a:round/>
          <a:headEnd type="triangle" w="med" len="med"/>
          <a:tailEnd type="none" w="med" len="med"/>
        </a:ln>
        <a:effectLst/>
      </a:spPr>
      <a:bodyPr rtlCol="0" anchor="ctr"/>
      <a:lstStyle>
        <a:defPPr algn="ctr">
          <a:defRPr b="0" dirty="0" smtClean="0">
            <a:latin typeface="Helvetica"/>
            <a:cs typeface="Helvetica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2000" b="0" dirty="0" smtClean="0">
            <a:latin typeface="Helvetica"/>
            <a:cs typeface="Helvetica"/>
          </a:defRPr>
        </a:defPPr>
      </a:lstStyle>
    </a:txDef>
  </a:objectDefaults>
  <a:extraClrSchemeLst>
    <a:extraClrScheme>
      <a:clrScheme name="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iiis-os.thmx</Template>
  <TotalTime>51211</TotalTime>
  <Pages>60</Pages>
  <Words>13071</Words>
  <Application>Microsoft Macintosh PowerPoint</Application>
  <PresentationFormat>全屏显示(4:3)</PresentationFormat>
  <Paragraphs>944</Paragraphs>
  <Slides>95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95</vt:i4>
      </vt:variant>
    </vt:vector>
  </HeadingPairs>
  <TitlesOfParts>
    <vt:vector size="106" baseType="lpstr">
      <vt:lpstr>Gulim</vt:lpstr>
      <vt:lpstr>Gulim</vt:lpstr>
      <vt:lpstr>MS PGothic</vt:lpstr>
      <vt:lpstr>MS PGothic</vt:lpstr>
      <vt:lpstr>Arial</vt:lpstr>
      <vt:lpstr>Arial Black</vt:lpstr>
      <vt:lpstr>Comic Sans MS</vt:lpstr>
      <vt:lpstr>Consolas</vt:lpstr>
      <vt:lpstr>Courier New</vt:lpstr>
      <vt:lpstr>Helvetica</vt:lpstr>
      <vt:lpstr>iiis-os</vt:lpstr>
      <vt:lpstr> Introduction to Computer Systems   Lecture 7  Concurrency and Synchronization (2)</vt:lpstr>
      <vt:lpstr>Agenda for today</vt:lpstr>
      <vt:lpstr>Recap: Basic Concepts</vt:lpstr>
      <vt:lpstr>Recap: Semaphores</vt:lpstr>
      <vt:lpstr>Recap: two uses of semaphores</vt:lpstr>
      <vt:lpstr>Recap: monitors</vt:lpstr>
      <vt:lpstr>Reader / writer problem</vt:lpstr>
      <vt:lpstr>Readers/Writers Problem</vt:lpstr>
      <vt:lpstr>Basic Readers/Writers Solution</vt:lpstr>
      <vt:lpstr>Basic Readers/Writers Solution</vt:lpstr>
      <vt:lpstr>Code for a Reader</vt:lpstr>
      <vt:lpstr>Code for a Writer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Simulation of Readers/Writers Solution</vt:lpstr>
      <vt:lpstr>Read/Writer Questions</vt:lpstr>
      <vt:lpstr>Read/Writer Questions</vt:lpstr>
      <vt:lpstr>Read/Writer Questions</vt:lpstr>
      <vt:lpstr>Read/Writer Questions</vt:lpstr>
      <vt:lpstr>Read/Writer Questions</vt:lpstr>
      <vt:lpstr>Simple Performance Model</vt:lpstr>
      <vt:lpstr>Announcement</vt:lpstr>
      <vt:lpstr>Language support for synchronization</vt:lpstr>
      <vt:lpstr>What is wrong with this code?</vt:lpstr>
      <vt:lpstr>C-Language Support for Synchronization</vt:lpstr>
      <vt:lpstr>What is wrong? (C++ code)</vt:lpstr>
      <vt:lpstr>C++ Language Support for Synchronization</vt:lpstr>
      <vt:lpstr>C++ Language Support for Synchronization (cont’d)</vt:lpstr>
      <vt:lpstr>C++ Language Support for Synchronization (cont’d)</vt:lpstr>
      <vt:lpstr>Why do we need even a higher-level synchronization?</vt:lpstr>
      <vt:lpstr>Java Language High-level Synchronization</vt:lpstr>
      <vt:lpstr>A different way of sharing resources</vt:lpstr>
      <vt:lpstr>Example Go Channels</vt:lpstr>
      <vt:lpstr>Observations about Concurrency Bugs  (Lu et al. 2008)</vt:lpstr>
      <vt:lpstr>Resource contention and deadlocks</vt:lpstr>
      <vt:lpstr>Definition: Preemptive / non-preemptive resources</vt:lpstr>
      <vt:lpstr>Starvation vs Deadlock</vt:lpstr>
      <vt:lpstr>When do deadlocks happen?</vt:lpstr>
      <vt:lpstr>Four requirements for Deadlock</vt:lpstr>
      <vt:lpstr>Bridge Crossing Example</vt:lpstr>
      <vt:lpstr>A more complicated case of deadlock</vt:lpstr>
      <vt:lpstr>Dining Philosophers Problem</vt:lpstr>
      <vt:lpstr>Methods for Handling Deadlocks</vt:lpstr>
      <vt:lpstr>Techniques for Preventing Deadlock</vt:lpstr>
      <vt:lpstr>Techniques for Preventing Deadlock  (cont’d)</vt:lpstr>
      <vt:lpstr>Behind the scenes: Implementing a lock</vt:lpstr>
      <vt:lpstr>Naïve use of Interrupt Enable/Disable</vt:lpstr>
      <vt:lpstr>Naïve use of Interrupt Enable/Disable: Problems</vt:lpstr>
      <vt:lpstr>Better Implementation of Locks  by Disabling Interrupts</vt:lpstr>
      <vt:lpstr>New Lock Implementation: Discussion</vt:lpstr>
      <vt:lpstr>Atomic Read-Modify-Write instructions</vt:lpstr>
      <vt:lpstr>Examples of Read-Modify-Write </vt:lpstr>
      <vt:lpstr>Idea behind these instructions…</vt:lpstr>
      <vt:lpstr>Implementing Locks with test&amp;set</vt:lpstr>
      <vt:lpstr>Better Locks using test&amp;set</vt:lpstr>
      <vt:lpstr>Locks using test&amp;set vs. Interrupts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Course Introduction and Overview</dc:title>
  <dc:subject/>
  <dc:creator>John D. Kubiatowicz</dc:creator>
  <cp:keywords/>
  <dc:description>Imported some pictures from Silbershatz (c) 2005</dc:description>
  <cp:lastModifiedBy>Xuwei</cp:lastModifiedBy>
  <cp:revision>1159</cp:revision>
  <cp:lastPrinted>2013-02-13T21:05:41Z</cp:lastPrinted>
  <dcterms:created xsi:type="dcterms:W3CDTF">2011-09-18T00:11:31Z</dcterms:created>
  <dcterms:modified xsi:type="dcterms:W3CDTF">2026-04-10T01:46:05Z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Joseph</vt:lpwstr>
  </property>
  <property fmtid="{D5CDD505-2E9C-101B-9397-08002B2CF9AE}" pid="3" name="Semester">
    <vt:lpwstr>Spring 2006</vt:lpwstr>
  </property>
</Properties>
</file>