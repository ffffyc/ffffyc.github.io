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155" r:id="rId1"/>
  </p:sldMasterIdLst>
  <p:notesMasterIdLst>
    <p:notesMasterId r:id="rId79"/>
  </p:notesMasterIdLst>
  <p:handoutMasterIdLst>
    <p:handoutMasterId r:id="rId80"/>
  </p:handoutMasterIdLst>
  <p:sldIdLst>
    <p:sldId id="866" r:id="rId2"/>
    <p:sldId id="1636" r:id="rId3"/>
    <p:sldId id="1592" r:id="rId4"/>
    <p:sldId id="1593" r:id="rId5"/>
    <p:sldId id="1594" r:id="rId6"/>
    <p:sldId id="1595" r:id="rId7"/>
    <p:sldId id="1218" r:id="rId8"/>
    <p:sldId id="1223" r:id="rId9"/>
    <p:sldId id="1225" r:id="rId10"/>
    <p:sldId id="1082" r:id="rId11"/>
    <p:sldId id="548" r:id="rId12"/>
    <p:sldId id="1091" r:id="rId13"/>
    <p:sldId id="549" r:id="rId14"/>
    <p:sldId id="550" r:id="rId15"/>
    <p:sldId id="651" r:id="rId16"/>
    <p:sldId id="652" r:id="rId17"/>
    <p:sldId id="653" r:id="rId18"/>
    <p:sldId id="669" r:id="rId19"/>
    <p:sldId id="576" r:id="rId20"/>
    <p:sldId id="1224" r:id="rId21"/>
    <p:sldId id="1092" r:id="rId22"/>
    <p:sldId id="1061" r:id="rId23"/>
    <p:sldId id="671" r:id="rId24"/>
    <p:sldId id="1064" r:id="rId25"/>
    <p:sldId id="1062" r:id="rId26"/>
    <p:sldId id="672" r:id="rId27"/>
    <p:sldId id="1063" r:id="rId28"/>
    <p:sldId id="1065" r:id="rId29"/>
    <p:sldId id="1066" r:id="rId30"/>
    <p:sldId id="1067" r:id="rId31"/>
    <p:sldId id="1068" r:id="rId32"/>
    <p:sldId id="1069" r:id="rId33"/>
    <p:sldId id="1070" r:id="rId34"/>
    <p:sldId id="1071" r:id="rId35"/>
    <p:sldId id="1073" r:id="rId36"/>
    <p:sldId id="1074" r:id="rId37"/>
    <p:sldId id="1166" r:id="rId38"/>
    <p:sldId id="869" r:id="rId39"/>
    <p:sldId id="751" r:id="rId40"/>
    <p:sldId id="752" r:id="rId41"/>
    <p:sldId id="1055" r:id="rId42"/>
    <p:sldId id="753" r:id="rId43"/>
    <p:sldId id="638" r:id="rId44"/>
    <p:sldId id="639" r:id="rId45"/>
    <p:sldId id="640" r:id="rId46"/>
    <p:sldId id="774" r:id="rId47"/>
    <p:sldId id="870" r:id="rId48"/>
    <p:sldId id="642" r:id="rId49"/>
    <p:sldId id="666" r:id="rId50"/>
    <p:sldId id="643" r:id="rId51"/>
    <p:sldId id="614" r:id="rId52"/>
    <p:sldId id="688" r:id="rId53"/>
    <p:sldId id="689" r:id="rId54"/>
    <p:sldId id="690" r:id="rId55"/>
    <p:sldId id="691" r:id="rId56"/>
    <p:sldId id="692" r:id="rId57"/>
    <p:sldId id="890" r:id="rId58"/>
    <p:sldId id="873" r:id="rId59"/>
    <p:sldId id="1129" r:id="rId60"/>
    <p:sldId id="875" r:id="rId61"/>
    <p:sldId id="1130" r:id="rId62"/>
    <p:sldId id="877" r:id="rId63"/>
    <p:sldId id="1131" r:id="rId64"/>
    <p:sldId id="879" r:id="rId65"/>
    <p:sldId id="1132" r:id="rId66"/>
    <p:sldId id="881" r:id="rId67"/>
    <p:sldId id="882" r:id="rId68"/>
    <p:sldId id="883" r:id="rId69"/>
    <p:sldId id="884" r:id="rId70"/>
    <p:sldId id="885" r:id="rId71"/>
    <p:sldId id="886" r:id="rId72"/>
    <p:sldId id="887" r:id="rId73"/>
    <p:sldId id="1133" r:id="rId74"/>
    <p:sldId id="1134" r:id="rId75"/>
    <p:sldId id="1135" r:id="rId76"/>
    <p:sldId id="1136" r:id="rId77"/>
    <p:sldId id="655" r:id="rId78"/>
  </p:sldIdLst>
  <p:sldSz cx="9144000" cy="6858000" type="screen4x3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MS PGothic" charset="0"/>
        <a:cs typeface="MS PGothic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scaleToFitPaper="1" frameSlides="1"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2A40E2"/>
    <a:srgbClr val="233AE1"/>
    <a:srgbClr val="1C31CA"/>
    <a:srgbClr val="7281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82945" autoAdjust="0"/>
  </p:normalViewPr>
  <p:slideViewPr>
    <p:cSldViewPr>
      <p:cViewPr varScale="1">
        <p:scale>
          <a:sx n="104" d="100"/>
          <a:sy n="104" d="100"/>
        </p:scale>
        <p:origin x="2416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ChangeArrowheads="1"/>
          </p:cNvSpPr>
          <p:nvPr/>
        </p:nvSpPr>
        <p:spPr bwMode="auto">
          <a:xfrm>
            <a:off x="4405313" y="6956425"/>
            <a:ext cx="79216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315" tIns="46997" rIns="92315" bIns="46997">
            <a:spAutoFit/>
          </a:bodyPr>
          <a:lstStyle/>
          <a:p>
            <a:pPr algn="ctr" defTabSz="917575">
              <a:lnSpc>
                <a:spcPct val="90000"/>
              </a:lnSpc>
            </a:pPr>
            <a:r>
              <a:rPr lang="en-US" sz="1300" b="0"/>
              <a:t>Page </a:t>
            </a:r>
            <a:fld id="{46FDFA25-3437-1145-B581-27D3295A648E}" type="slidenum">
              <a:rPr lang="en-US" sz="1300" b="0"/>
              <a:pPr algn="ctr" defTabSz="917575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</p:spTree>
    <p:extLst>
      <p:ext uri="{BB962C8B-B14F-4D97-AF65-F5344CB8AC3E}">
        <p14:creationId xmlns:p14="http://schemas.microsoft.com/office/powerpoint/2010/main" val="25452750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4405313" y="6956425"/>
            <a:ext cx="792162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315" tIns="46997" rIns="92315" bIns="46997">
            <a:spAutoFit/>
          </a:bodyPr>
          <a:lstStyle/>
          <a:p>
            <a:pPr algn="ctr" defTabSz="917575">
              <a:lnSpc>
                <a:spcPct val="90000"/>
              </a:lnSpc>
            </a:pPr>
            <a:r>
              <a:rPr lang="en-US" sz="1300" b="0"/>
              <a:t>Page </a:t>
            </a:r>
            <a:fld id="{9761E7E8-0E77-2945-BDD2-370F9CC38115}" type="slidenum">
              <a:rPr lang="en-US" sz="1300" b="0"/>
              <a:pPr algn="ctr" defTabSz="917575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3789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71800" y="547688"/>
            <a:ext cx="3659188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3" y="3475038"/>
            <a:ext cx="7038975" cy="3292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672" tIns="46997" rIns="95672" bIns="469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80302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charset="0"/>
        <a:ea typeface="MS PGothic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34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EEBB10-3599-DC4C-9A3C-A644FB75ABE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15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9640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7792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MS PGothic" charset="0"/>
              </a:rPr>
              <a:t>Collaboration allows faults to propagate…</a:t>
            </a:r>
          </a:p>
        </p:txBody>
      </p:sp>
    </p:spTree>
    <p:extLst>
      <p:ext uri="{BB962C8B-B14F-4D97-AF65-F5344CB8AC3E}">
        <p14:creationId xmlns:p14="http://schemas.microsoft.com/office/powerpoint/2010/main" val="28138993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85104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22675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a typeface="MS PGothic" charset="-128"/>
              </a:rPr>
              <a:t>X could be (13, 5, 3)</a:t>
            </a:r>
          </a:p>
          <a:p>
            <a:endParaRPr lang="en-US" altLang="zh-CN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99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a typeface="MS PGothic" charset="-128"/>
              </a:rPr>
              <a:t>X could be (13, 5, 3)</a:t>
            </a:r>
          </a:p>
          <a:p>
            <a:endParaRPr lang="en-US" altLang="zh-CN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5908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a typeface="MS PGothic" charset="-128"/>
              </a:rPr>
              <a:t>X could be (13, 5, 3)</a:t>
            </a:r>
          </a:p>
          <a:p>
            <a:endParaRPr lang="en-US" altLang="zh-CN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7493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8619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zh-CN" altLang="zh-CN"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24555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ea typeface="ＭＳ Ｐゴシック" charset="-128"/>
              </a:rPr>
              <a:t>You</a:t>
            </a:r>
            <a:r>
              <a:rPr lang="ja-JP" altLang="en-US">
                <a:ea typeface="ＭＳ Ｐゴシック" charset="-128"/>
              </a:rPr>
              <a:t>’</a:t>
            </a:r>
            <a:r>
              <a:rPr lang="en-US" altLang="ja-JP">
                <a:ea typeface="ＭＳ Ｐゴシック" charset="-128"/>
              </a:rPr>
              <a:t>re sitting in class, hot day, milk does a body good. Go home, no milk, so go to store</a:t>
            </a:r>
          </a:p>
          <a:p>
            <a:r>
              <a:rPr lang="en-US" altLang="zh-CN">
                <a:ea typeface="ＭＳ Ｐゴシック" charset="-128"/>
              </a:rPr>
              <a:t>Roommate leaves class late because prof is more long-winded than I am. Has same idea, but result is too much milk!</a:t>
            </a:r>
          </a:p>
          <a:p>
            <a:r>
              <a:rPr lang="en-US" altLang="zh-CN">
                <a:ea typeface="ＭＳ Ｐゴシック" charset="-128"/>
              </a:rPr>
              <a:t>Problem: two cooperating threads, not cooperating properly</a:t>
            </a:r>
          </a:p>
        </p:txBody>
      </p:sp>
    </p:spTree>
    <p:extLst>
      <p:ext uri="{BB962C8B-B14F-4D97-AF65-F5344CB8AC3E}">
        <p14:creationId xmlns:p14="http://schemas.microsoft.com/office/powerpoint/2010/main" val="3673860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907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1655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560841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93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1262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62251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5450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30206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70624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957360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007560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853839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zh-CN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55158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060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9741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435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255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627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1626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08169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ea typeface="MS PGothic" charset="0"/>
              </a:rPr>
              <a:t>????</a:t>
            </a:r>
          </a:p>
        </p:txBody>
      </p:sp>
    </p:spTree>
    <p:extLst>
      <p:ext uri="{BB962C8B-B14F-4D97-AF65-F5344CB8AC3E}">
        <p14:creationId xmlns:p14="http://schemas.microsoft.com/office/powerpoint/2010/main" val="27507921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zh-CN" dirty="0">
                <a:ea typeface="MS PGothic" charset="0"/>
              </a:rPr>
              <a:t>2</a:t>
            </a:r>
            <a:r>
              <a:rPr lang="zh-CN" altLang="en-US" dirty="0">
                <a:ea typeface="MS PGothic" charset="0"/>
              </a:rPr>
              <a:t> </a:t>
            </a:r>
            <a:r>
              <a:rPr lang="en-US" altLang="zh-CN" dirty="0">
                <a:ea typeface="MS PGothic" charset="0"/>
              </a:rPr>
              <a:t>types</a:t>
            </a:r>
            <a:r>
              <a:rPr lang="zh-CN" altLang="en-US" dirty="0">
                <a:ea typeface="MS PGothic" charset="0"/>
              </a:rPr>
              <a:t> </a:t>
            </a:r>
            <a:r>
              <a:rPr lang="en-US" altLang="zh-CN" dirty="0">
                <a:ea typeface="MS PGothic" charset="0"/>
              </a:rPr>
              <a:t>of</a:t>
            </a:r>
            <a:r>
              <a:rPr lang="zh-CN" altLang="en-US" dirty="0">
                <a:ea typeface="MS PGothic" charset="0"/>
              </a:rPr>
              <a:t> </a:t>
            </a:r>
            <a:r>
              <a:rPr lang="en-US" altLang="zh-CN" dirty="0">
                <a:ea typeface="MS PGothic" charset="0"/>
              </a:rPr>
              <a:t>constraints:</a:t>
            </a:r>
          </a:p>
          <a:p>
            <a:r>
              <a:rPr lang="en-US" altLang="zh-CN" dirty="0">
                <a:ea typeface="MS PGothic" charset="0"/>
              </a:rPr>
              <a:t>Mutual</a:t>
            </a:r>
            <a:r>
              <a:rPr lang="zh-CN" altLang="en-US" dirty="0">
                <a:ea typeface="MS PGothic" charset="0"/>
              </a:rPr>
              <a:t> </a:t>
            </a:r>
            <a:r>
              <a:rPr lang="en-US" altLang="zh-CN" dirty="0">
                <a:ea typeface="MS PGothic" charset="0"/>
              </a:rPr>
              <a:t>exclusions</a:t>
            </a:r>
            <a:r>
              <a:rPr lang="zh-CN" altLang="en-US" dirty="0">
                <a:ea typeface="MS PGothic" charset="0"/>
              </a:rPr>
              <a:t> </a:t>
            </a:r>
            <a:endParaRPr lang="en-US" altLang="zh-CN" dirty="0">
              <a:ea typeface="MS PGothic" charset="0"/>
            </a:endParaRPr>
          </a:p>
          <a:p>
            <a:r>
              <a:rPr lang="en-US" altLang="zh-CN" dirty="0">
                <a:ea typeface="MS PGothic" charset="0"/>
              </a:rPr>
              <a:t>Scheduling</a:t>
            </a:r>
            <a:r>
              <a:rPr lang="zh-CN" altLang="en-US" dirty="0">
                <a:ea typeface="MS PGothic" charset="0"/>
              </a:rPr>
              <a:t> </a:t>
            </a:r>
            <a:r>
              <a:rPr lang="en-US" altLang="zh-CN" dirty="0">
                <a:ea typeface="MS PGothic" charset="0"/>
              </a:rPr>
              <a:t>constraints</a:t>
            </a:r>
          </a:p>
          <a:p>
            <a:endParaRPr lang="en-US" altLang="zh-CN" dirty="0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8821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9491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2653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1387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48213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944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7778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8567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3709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ea typeface="굴림" charset="0"/>
                <a:cs typeface="굴림" charset="0"/>
              </a:rPr>
              <a:t>Hoare problem: priority</a:t>
            </a:r>
            <a:r>
              <a:rPr lang="en-US" altLang="ko-KR" baseline="0" dirty="0">
                <a:ea typeface="굴림" charset="0"/>
                <a:cs typeface="굴림" charset="0"/>
              </a:rPr>
              <a:t> inversion</a:t>
            </a:r>
            <a:endParaRPr lang="en-US" altLang="ko-KR" dirty="0">
              <a:ea typeface="굴림" charset="0"/>
              <a:cs typeface="굴림" charset="0"/>
            </a:endParaRPr>
          </a:p>
          <a:p>
            <a:endParaRPr lang="ko-KR" altLang="en-US" dirty="0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60616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5759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5774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3382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35247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5918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76559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68054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69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8805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84969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305930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88760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7411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8343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3811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1911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dirty="0">
                <a:ea typeface="굴림" charset="0"/>
                <a:cs typeface="굴림" charset="0"/>
              </a:rPr>
              <a:t>Potential Problem: Starvation</a:t>
            </a:r>
          </a:p>
          <a:p>
            <a:endParaRPr lang="ko-KR" altLang="en-US" dirty="0">
              <a:ea typeface="굴림" charset="0"/>
              <a:cs typeface="굴림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04090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891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  <a:endParaRPr lang="en-US"/>
          </a:p>
        </p:txBody>
      </p:sp>
      <p:pic>
        <p:nvPicPr>
          <p:cNvPr id="4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270000" cy="97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566750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10917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536246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82875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1356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0994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6605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650003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58345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1597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152400"/>
            <a:ext cx="1981200" cy="5867400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52400"/>
            <a:ext cx="5791200" cy="5867400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8488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448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152400"/>
            <a:ext cx="7162800" cy="533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914400"/>
            <a:ext cx="7924800" cy="5105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8034081" y="6397625"/>
            <a:ext cx="402147" cy="305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fld id="{223A0746-0397-CE44-BE95-6B0EE6063BB3}" type="slidenum">
              <a:rPr lang="en-US" sz="1400" b="0" smtClean="0">
                <a:solidFill>
                  <a:srgbClr val="2A40E2"/>
                </a:solidFill>
                <a:latin typeface="Helvetica" charset="0"/>
              </a:rPr>
              <a:pPr algn="ctr"/>
              <a:t>‹#›</a:t>
            </a:fld>
            <a:endParaRPr lang="en-US" sz="1400" b="0" dirty="0">
              <a:solidFill>
                <a:srgbClr val="2A40E2"/>
              </a:solidFill>
              <a:latin typeface="Helvetica" charset="0"/>
            </a:endParaRP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25" r="75185"/>
          <a:stretch>
            <a:fillRect/>
          </a:stretch>
        </p:blipFill>
        <p:spPr bwMode="auto">
          <a:xfrm>
            <a:off x="38100" y="76200"/>
            <a:ext cx="79426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4"/>
          <p:cNvSpPr>
            <a:spLocks noChangeArrowheads="1"/>
          </p:cNvSpPr>
          <p:nvPr userDrawn="1"/>
        </p:nvSpPr>
        <p:spPr bwMode="auto">
          <a:xfrm>
            <a:off x="8034081" y="6397625"/>
            <a:ext cx="402147" cy="305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fld id="{693DCFC9-F88D-CD4E-9296-FD84C7521306}" type="slidenum">
              <a:rPr lang="en-US" sz="1400" b="0" smtClean="0">
                <a:solidFill>
                  <a:srgbClr val="2A40E2"/>
                </a:solidFill>
                <a:latin typeface="Helvetica" charset="0"/>
              </a:rPr>
              <a:pPr algn="ctr"/>
              <a:t>‹#›</a:t>
            </a:fld>
            <a:endParaRPr lang="en-US" sz="1400" b="0" dirty="0">
              <a:solidFill>
                <a:srgbClr val="2A40E2"/>
              </a:solidFill>
              <a:latin typeface="Helvetica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</p:sldLayoutIdLst>
  <p:transition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/>
          <a:ea typeface="ＭＳ Ｐゴシック" charset="-128"/>
          <a:cs typeface="ＭＳ Ｐゴシック" charset="-128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A40E2"/>
          </a:solidFill>
          <a:latin typeface="Helvetica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charset="0"/>
        </a:defRPr>
      </a:lvl9pPr>
    </p:titleStyle>
    <p:bodyStyle>
      <a:lvl1pPr marL="285750" indent="-2857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Helvetica"/>
          <a:ea typeface="ＭＳ Ｐゴシック" charset="-128"/>
          <a:cs typeface="ＭＳ Ｐゴシック" charset="-128"/>
        </a:defRPr>
      </a:lvl1pPr>
      <a:lvl2pPr marL="6858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Helvetica"/>
          <a:ea typeface="ＭＳ Ｐゴシック" charset="-128"/>
        </a:defRPr>
      </a:lvl2pPr>
      <a:lvl3pPr marL="1143000" indent="-22860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Helvetica"/>
          <a:ea typeface="ＭＳ Ｐゴシック" charset="-128"/>
        </a:defRPr>
      </a:lvl3pPr>
      <a:lvl4pPr marL="15430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Helvetica"/>
          <a:ea typeface="ＭＳ Ｐゴシック" charset="-128"/>
        </a:defRPr>
      </a:lvl4pPr>
      <a:lvl5pPr marL="20002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Helvetica"/>
          <a:ea typeface="ＭＳ Ｐゴシック" charset="-128"/>
        </a:defRPr>
      </a:lvl5pPr>
      <a:lvl6pPr marL="24574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6pPr>
      <a:lvl7pPr marL="29146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7pPr>
      <a:lvl8pPr marL="33718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8pPr>
      <a:lvl9pPr marL="3829050" indent="-171450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microsoft.com/en-us/um/people/blampson/23-processesinmesa/Acrobat.pdf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295400"/>
            <a:ext cx="7848600" cy="2057400"/>
          </a:xfrm>
          <a:noFill/>
        </p:spPr>
        <p:txBody>
          <a:bodyPr/>
          <a:lstStyle/>
          <a:p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Introduction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to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Computer</a:t>
            </a:r>
            <a: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  <a:t> Systems </a:t>
            </a:r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  <a:t>Lecture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6</a:t>
            </a:r>
            <a:b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br>
              <a:rPr lang="en-US" sz="3000" dirty="0">
                <a:latin typeface="Helvetica" charset="0"/>
                <a:ea typeface="ＭＳ Ｐゴシック" charset="0"/>
                <a:cs typeface="ＭＳ Ｐゴシック" charset="0"/>
              </a:rPr>
            </a:b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Concurrency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and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Synchronization</a:t>
            </a:r>
            <a:r>
              <a:rPr lang="zh-CN" altLang="en-US" sz="3000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3000" dirty="0">
                <a:latin typeface="Helvetica" charset="0"/>
                <a:ea typeface="ＭＳ Ｐゴシック" charset="0"/>
                <a:cs typeface="ＭＳ Ｐゴシック" charset="0"/>
              </a:rPr>
              <a:t>(1)</a:t>
            </a:r>
            <a:endParaRPr lang="en-US" sz="3000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4419600"/>
            <a:ext cx="8001000" cy="1219200"/>
          </a:xfrm>
          <a:noFill/>
        </p:spPr>
        <p:txBody>
          <a:bodyPr/>
          <a:lstStyle/>
          <a:p>
            <a:pPr marL="285750" indent="-285750"/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Wei</a:t>
            </a:r>
            <a:r>
              <a:rPr lang="zh-CN" altLang="en-US" dirty="0">
                <a:latin typeface="Helvetica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Helvetica" charset="0"/>
                <a:ea typeface="ＭＳ Ｐゴシック" charset="0"/>
                <a:cs typeface="ＭＳ Ｐゴシック" charset="0"/>
              </a:rPr>
              <a:t>Xu</a:t>
            </a:r>
          </a:p>
          <a:p>
            <a:pPr marL="285750" indent="-285750"/>
            <a:endParaRPr lang="en-US" altLang="zh-CN" dirty="0">
              <a:latin typeface="Helvetica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81000" y="5791200"/>
            <a:ext cx="8382000" cy="738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9" tIns="45714" rIns="91429" bIns="45714">
            <a:spAutoFit/>
          </a:bodyPr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b="0" dirty="0">
                <a:latin typeface="Helvetica" charset="0"/>
                <a:cs typeface="Helvetica" charset="0"/>
              </a:rPr>
              <a:t>Note: Some slides and/or pictures in the following are adapted from slides ©2005 </a:t>
            </a:r>
            <a:r>
              <a:rPr lang="en-US" sz="1400" b="0" dirty="0" err="1">
                <a:latin typeface="Helvetica" charset="0"/>
                <a:cs typeface="Helvetica" charset="0"/>
              </a:rPr>
              <a:t>Silberschatz</a:t>
            </a:r>
            <a:r>
              <a:rPr lang="en-US" sz="1400" b="0" dirty="0">
                <a:latin typeface="Helvetica" charset="0"/>
                <a:cs typeface="Helvetica" charset="0"/>
              </a:rPr>
              <a:t>, Galvin, and Gagne. Slides courtesy of Anthony D. Joseph, John </a:t>
            </a:r>
            <a:r>
              <a:rPr lang="en-US" sz="1400" b="0" dirty="0" err="1">
                <a:latin typeface="Helvetica" charset="0"/>
                <a:cs typeface="Helvetica" charset="0"/>
              </a:rPr>
              <a:t>Kubiatowicz</a:t>
            </a:r>
            <a:r>
              <a:rPr lang="en-US" sz="1400" b="0" dirty="0">
                <a:latin typeface="Helvetica" charset="0"/>
                <a:cs typeface="Helvetica" charset="0"/>
              </a:rPr>
              <a:t>, AJ Shankar, George </a:t>
            </a:r>
            <a:r>
              <a:rPr lang="en-US" sz="1400" b="0" dirty="0" err="1">
                <a:latin typeface="Helvetica" charset="0"/>
                <a:cs typeface="Helvetica" charset="0"/>
              </a:rPr>
              <a:t>Necula</a:t>
            </a:r>
            <a:r>
              <a:rPr lang="en-US" sz="1400" b="0" dirty="0">
                <a:latin typeface="Helvetica" charset="0"/>
                <a:cs typeface="Helvetica" charset="0"/>
              </a:rPr>
              <a:t>, Alex Aiken, Eric Brewer, </a:t>
            </a:r>
            <a:r>
              <a:rPr lang="en-US" sz="1400" b="0" dirty="0" err="1">
                <a:latin typeface="Helvetica" charset="0"/>
                <a:cs typeface="Helvetica" charset="0"/>
              </a:rPr>
              <a:t>Ras</a:t>
            </a:r>
            <a:r>
              <a:rPr lang="en-US" sz="1400" b="0" dirty="0">
                <a:latin typeface="Helvetica" charset="0"/>
                <a:cs typeface="Helvetica" charset="0"/>
              </a:rPr>
              <a:t> </a:t>
            </a:r>
            <a:r>
              <a:rPr lang="en-US" sz="1400" b="0" dirty="0" err="1">
                <a:latin typeface="Helvetica" charset="0"/>
                <a:cs typeface="Helvetica" charset="0"/>
              </a:rPr>
              <a:t>Bodik</a:t>
            </a:r>
            <a:r>
              <a:rPr lang="en-US" sz="1400" b="0" dirty="0">
                <a:latin typeface="Helvetica" charset="0"/>
                <a:cs typeface="Helvetica" charset="0"/>
              </a:rPr>
              <a:t>, Ion </a:t>
            </a:r>
            <a:r>
              <a:rPr lang="en-US" sz="1400" b="0" dirty="0" err="1">
                <a:latin typeface="Helvetica" charset="0"/>
                <a:cs typeface="Helvetica" charset="0"/>
              </a:rPr>
              <a:t>Stoica</a:t>
            </a:r>
            <a:r>
              <a:rPr lang="en-US" sz="1400" b="0" dirty="0">
                <a:latin typeface="Helvetica" charset="0"/>
                <a:cs typeface="Helvetica" charset="0"/>
              </a:rPr>
              <a:t>, Doug </a:t>
            </a:r>
            <a:r>
              <a:rPr lang="en-US" sz="1400" b="0" dirty="0" err="1">
                <a:latin typeface="Helvetica" charset="0"/>
                <a:cs typeface="Helvetica" charset="0"/>
              </a:rPr>
              <a:t>Tygar</a:t>
            </a:r>
            <a:r>
              <a:rPr lang="en-US" sz="1400" b="0" dirty="0">
                <a:latin typeface="Helvetica" charset="0"/>
                <a:cs typeface="Helvetica" charset="0"/>
              </a:rPr>
              <a:t>, and David Wagner.</a:t>
            </a:r>
          </a:p>
        </p:txBody>
      </p:sp>
    </p:spTree>
    <p:extLst>
      <p:ext uri="{BB962C8B-B14F-4D97-AF65-F5344CB8AC3E}">
        <p14:creationId xmlns:p14="http://schemas.microsoft.com/office/powerpoint/2010/main" val="321126405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2F43B-545F-0534-208C-839EE4926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 multiple commands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70A189-C9A4-DD8F-21E8-336C577DB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Checking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 </a:t>
            </a:r>
            <a:r>
              <a:rPr kumimoji="1" lang="en-US" altLang="zh-CN" dirty="0"/>
              <a:t>value</a:t>
            </a:r>
          </a:p>
          <a:p>
            <a:pPr lvl="1"/>
            <a:r>
              <a:rPr kumimoji="1" lang="en-US" altLang="zh-CN" dirty="0"/>
              <a:t>||</a:t>
            </a:r>
            <a:r>
              <a:rPr kumimoji="1" lang="zh-CN" altLang="en-US" dirty="0"/>
              <a:t> </a:t>
            </a:r>
            <a:r>
              <a:rPr kumimoji="1" lang="en-US" altLang="zh-CN" dirty="0"/>
              <a:t>(or)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&amp;&amp;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(and)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;</a:t>
            </a:r>
            <a:r>
              <a:rPr kumimoji="1" lang="zh-CN" altLang="en-US" dirty="0"/>
              <a:t> </a:t>
            </a:r>
            <a:r>
              <a:rPr kumimoji="1" lang="en-US" altLang="zh-CN" dirty="0"/>
              <a:t>(no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check)</a:t>
            </a:r>
          </a:p>
          <a:p>
            <a:pPr marL="457200" lvl="1" indent="0">
              <a:buNone/>
            </a:pP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Common</a:t>
            </a:r>
            <a:r>
              <a:rPr kumimoji="1" lang="zh-CN" altLang="en-US" dirty="0"/>
              <a:t> </a:t>
            </a:r>
            <a:r>
              <a:rPr kumimoji="1" lang="en-US" altLang="zh-CN" dirty="0"/>
              <a:t>use: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execute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second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if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successful, we should use …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&amp;&amp;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    </a:t>
            </a:r>
            <a:r>
              <a:rPr kumimoji="1" lang="en-US" altLang="zh-CN" dirty="0">
                <a:latin typeface="Optima" panose="02000503060000020004" pitchFamily="2" charset="0"/>
              </a:rPr>
              <a:t>ping -c 1 </a:t>
            </a:r>
            <a:r>
              <a:rPr kumimoji="1" lang="en-US" altLang="zh-CN" dirty="0" err="1">
                <a:latin typeface="Optima" panose="02000503060000020004" pitchFamily="2" charset="0"/>
              </a:rPr>
              <a:t>google.com</a:t>
            </a:r>
            <a:r>
              <a:rPr kumimoji="1" lang="en-US" altLang="zh-CN" dirty="0">
                <a:latin typeface="Optima" panose="02000503060000020004" pitchFamily="2" charset="0"/>
              </a:rPr>
              <a:t> &amp;&amp; </a:t>
            </a:r>
            <a:r>
              <a:rPr kumimoji="1" lang="en-US" altLang="zh-CN" dirty="0" err="1">
                <a:latin typeface="Optima" panose="02000503060000020004" pitchFamily="2" charset="0"/>
              </a:rPr>
              <a:t>wget</a:t>
            </a:r>
            <a:r>
              <a:rPr kumimoji="1" lang="en-US" altLang="zh-CN" dirty="0">
                <a:latin typeface="Optima" panose="02000503060000020004" pitchFamily="2" charset="0"/>
              </a:rPr>
              <a:t> https://</a:t>
            </a:r>
            <a:r>
              <a:rPr kumimoji="1" lang="en-US" altLang="zh-CN" dirty="0" err="1">
                <a:latin typeface="Optima" panose="02000503060000020004" pitchFamily="2" charset="0"/>
              </a:rPr>
              <a:t>example.com</a:t>
            </a:r>
            <a:r>
              <a:rPr kumimoji="1" lang="en-US" altLang="zh-CN" dirty="0">
                <a:latin typeface="Optima" panose="02000503060000020004" pitchFamily="2" charset="0"/>
              </a:rPr>
              <a:t>/</a:t>
            </a:r>
            <a:r>
              <a:rPr kumimoji="1" lang="en-US" altLang="zh-CN" dirty="0" err="1">
                <a:latin typeface="Optima" panose="02000503060000020004" pitchFamily="2" charset="0"/>
              </a:rPr>
              <a:t>file.zip</a:t>
            </a:r>
            <a:endParaRPr kumimoji="1" lang="en-US" altLang="zh-CN" dirty="0">
              <a:latin typeface="Optima" panose="02000503060000020004" pitchFamily="2" charset="0"/>
            </a:endParaRPr>
          </a:p>
          <a:p>
            <a:r>
              <a:rPr kumimoji="1" lang="en-US" altLang="zh-CN" dirty="0"/>
              <a:t>||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marL="0" indent="0">
              <a:buNone/>
            </a:pPr>
            <a:r>
              <a:rPr lang="zh-CN" altLang="en-US" dirty="0">
                <a:latin typeface="Optima" panose="02000503060000020004" pitchFamily="2" charset="0"/>
              </a:rPr>
              <a:t>     </a:t>
            </a:r>
            <a:r>
              <a:rPr lang="en-US" altLang="zh-CN" dirty="0">
                <a:latin typeface="Optima" panose="02000503060000020004" pitchFamily="2" charset="0"/>
              </a:rPr>
              <a:t>make || echo "build failed”</a:t>
            </a:r>
          </a:p>
          <a:p>
            <a:pPr marL="0" indent="0">
              <a:buNone/>
            </a:pPr>
            <a:r>
              <a:rPr kumimoji="1" lang="zh-CN" altLang="en-US" dirty="0"/>
              <a:t>    </a:t>
            </a:r>
            <a:r>
              <a:rPr kumimoji="1" lang="en-US" altLang="zh-CN" dirty="0"/>
              <a:t>(AI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particularly</a:t>
            </a:r>
            <a:r>
              <a:rPr kumimoji="1" lang="zh-CN" altLang="en-US" dirty="0"/>
              <a:t> </a:t>
            </a:r>
            <a:r>
              <a:rPr kumimoji="1" lang="en-US" altLang="zh-CN" dirty="0"/>
              <a:t>like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this</a:t>
            </a:r>
            <a:r>
              <a:rPr kumimoji="1" lang="zh-CN" altLang="en-US" dirty="0"/>
              <a:t> 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17984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AF410-872B-E547-9DFE-3AE9CFE62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Makefile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6F25DD-6A21-B44F-9B9D-F65260149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477773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3ADC0-A619-AE4C-BD7D-370724D6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Building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Software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7F4811-E87A-D745-9390-B562D3B3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Building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compiling</a:t>
            </a:r>
          </a:p>
          <a:p>
            <a:r>
              <a:rPr kumimoji="1" lang="en-US" altLang="zh-CN" dirty="0"/>
              <a:t>Compiler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focus</a:t>
            </a:r>
            <a:r>
              <a:rPr kumimoji="1" lang="zh-CN" altLang="en-US" dirty="0"/>
              <a:t> </a:t>
            </a:r>
            <a:r>
              <a:rPr kumimoji="1" lang="en-US" altLang="zh-CN" dirty="0"/>
              <a:t>on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single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</a:p>
          <a:p>
            <a:r>
              <a:rPr kumimoji="1" lang="en-US" altLang="zh-CN" dirty="0"/>
              <a:t>Building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describe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dependencies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among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files</a:t>
            </a:r>
          </a:p>
          <a:p>
            <a:pPr lvl="1"/>
            <a:r>
              <a:rPr kumimoji="1" lang="en-US" altLang="zh-CN" dirty="0"/>
              <a:t>Which</a:t>
            </a:r>
            <a:r>
              <a:rPr kumimoji="1" lang="zh-CN" altLang="en-US" dirty="0"/>
              <a:t> </a:t>
            </a:r>
            <a:r>
              <a:rPr kumimoji="1" lang="en-US" altLang="zh-CN" dirty="0"/>
              <a:t>one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should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</a:p>
          <a:p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build</a:t>
            </a:r>
            <a:r>
              <a:rPr kumimoji="1" lang="zh-CN" altLang="en-US" dirty="0"/>
              <a:t> </a:t>
            </a:r>
            <a:r>
              <a:rPr kumimoji="1" lang="en-US" altLang="zh-CN" dirty="0"/>
              <a:t>those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files</a:t>
            </a:r>
            <a:r>
              <a:rPr kumimoji="1" lang="zh-CN" altLang="en-US" dirty="0"/>
              <a:t> </a:t>
            </a:r>
            <a:r>
              <a:rPr kumimoji="1" lang="en-US" altLang="zh-CN" dirty="0"/>
              <a:t>that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has</a:t>
            </a:r>
            <a:r>
              <a:rPr kumimoji="1" lang="zh-CN" altLang="en-US" dirty="0"/>
              <a:t> </a:t>
            </a:r>
            <a:r>
              <a:rPr kumimoji="1" lang="en-US" altLang="zh-CN" dirty="0"/>
              <a:t>changed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Include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Makefile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project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directory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75115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30364-75F6-5A4D-AC33-9B6C577D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file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3562E4A-8114-2B48-8A2B-46F5205C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86067"/>
            <a:ext cx="5635053" cy="1794978"/>
          </a:xfrm>
          <a:prstGeom prst="rect">
            <a:avLst/>
          </a:prstGeom>
        </p:spPr>
      </p:pic>
      <p:sp>
        <p:nvSpPr>
          <p:cNvPr id="5" name="矩形标注 4">
            <a:extLst>
              <a:ext uri="{FF2B5EF4-FFF2-40B4-BE49-F238E27FC236}">
                <a16:creationId xmlns:a16="http://schemas.microsoft.com/office/drawing/2014/main" id="{AE65FF39-BE25-FB47-BF95-38838FFF4257}"/>
              </a:ext>
            </a:extLst>
          </p:cNvPr>
          <p:cNvSpPr/>
          <p:nvPr/>
        </p:nvSpPr>
        <p:spPr bwMode="auto">
          <a:xfrm>
            <a:off x="381000" y="1657290"/>
            <a:ext cx="1447800" cy="612648"/>
          </a:xfrm>
          <a:prstGeom prst="wedgeRectCallout">
            <a:avLst>
              <a:gd name="adj1" fmla="val 126672"/>
              <a:gd name="adj2" fmla="val 30382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It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is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a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TAB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!!</a:t>
            </a:r>
            <a:endParaRPr kumimoji="1" lang="zh-CN" altLang="en-US" b="0" dirty="0">
              <a:latin typeface="Helvetica"/>
              <a:cs typeface="Helvetic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4DE3FFA-0D7A-6D4B-8B52-17207CC69D40}"/>
              </a:ext>
            </a:extLst>
          </p:cNvPr>
          <p:cNvGrpSpPr/>
          <p:nvPr/>
        </p:nvGrpSpPr>
        <p:grpSpPr>
          <a:xfrm>
            <a:off x="2667000" y="2876490"/>
            <a:ext cx="1295400" cy="2000310"/>
            <a:chOff x="2667000" y="2514600"/>
            <a:chExt cx="1295400" cy="2000310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66D033BA-4965-A840-B7E8-AE3C5C66281E}"/>
                </a:ext>
              </a:extLst>
            </p:cNvPr>
            <p:cNvSpPr txBox="1"/>
            <p:nvPr/>
          </p:nvSpPr>
          <p:spPr>
            <a:xfrm>
              <a:off x="2667000" y="4114800"/>
              <a:ext cx="11528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latin typeface="Helvetica"/>
                  <a:cs typeface="Helvetica"/>
                </a:rPr>
                <a:t>Matches</a:t>
              </a:r>
              <a:endParaRPr kumimoji="1" lang="zh-CN" altLang="en-US" sz="2000" b="0" dirty="0">
                <a:latin typeface="Helvetica"/>
                <a:cs typeface="Helvetica"/>
              </a:endParaRPr>
            </a:p>
          </p:txBody>
        </p:sp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207FB937-E3EC-7B4B-8760-3052CC9C3694}"/>
                </a:ext>
              </a:extLst>
            </p:cNvPr>
            <p:cNvCxnSpPr/>
            <p:nvPr/>
          </p:nvCxnSpPr>
          <p:spPr bwMode="auto">
            <a:xfrm flipH="1" flipV="1">
              <a:off x="3048000" y="2514600"/>
              <a:ext cx="76200" cy="1600200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线箭头连接符 8">
              <a:extLst>
                <a:ext uri="{FF2B5EF4-FFF2-40B4-BE49-F238E27FC236}">
                  <a16:creationId xmlns:a16="http://schemas.microsoft.com/office/drawing/2014/main" id="{8278C9AA-4260-9E45-95E7-9D3CE0FDCB0A}"/>
                </a:ext>
              </a:extLst>
            </p:cNvPr>
            <p:cNvCxnSpPr>
              <a:cxnSpLocks/>
              <a:stCxn id="6" idx="0"/>
            </p:cNvCxnSpPr>
            <p:nvPr/>
          </p:nvCxnSpPr>
          <p:spPr bwMode="auto">
            <a:xfrm flipV="1">
              <a:off x="3243440" y="2514600"/>
              <a:ext cx="718960" cy="1600200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B0513ED1-709B-4944-8F7A-3BC5984AF11D}"/>
              </a:ext>
            </a:extLst>
          </p:cNvPr>
          <p:cNvCxnSpPr/>
          <p:nvPr/>
        </p:nvCxnSpPr>
        <p:spPr bwMode="auto">
          <a:xfrm flipV="1">
            <a:off x="3048000" y="1885890"/>
            <a:ext cx="2286000" cy="838200"/>
          </a:xfrm>
          <a:prstGeom prst="straightConnector1">
            <a:avLst/>
          </a:prstGeom>
          <a:solidFill>
            <a:schemeClr val="bg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6" name="矩形标注 15">
            <a:extLst>
              <a:ext uri="{FF2B5EF4-FFF2-40B4-BE49-F238E27FC236}">
                <a16:creationId xmlns:a16="http://schemas.microsoft.com/office/drawing/2014/main" id="{699B0B1E-0E82-9A40-BF18-FF5C58817BC7}"/>
              </a:ext>
            </a:extLst>
          </p:cNvPr>
          <p:cNvSpPr/>
          <p:nvPr/>
        </p:nvSpPr>
        <p:spPr bwMode="auto">
          <a:xfrm>
            <a:off x="6400800" y="3476956"/>
            <a:ext cx="2057400" cy="612648"/>
          </a:xfrm>
          <a:prstGeom prst="wedgeRectCallout">
            <a:avLst>
              <a:gd name="adj1" fmla="val -39639"/>
              <a:gd name="adj2" fmla="val -86754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Target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Name</a:t>
            </a:r>
          </a:p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(plot-%.</a:t>
            </a:r>
            <a:r>
              <a:rPr kumimoji="1" lang="en-US" altLang="zh-CN" b="0" dirty="0" err="1">
                <a:latin typeface="Helvetica"/>
                <a:cs typeface="Helvetica"/>
              </a:rPr>
              <a:t>png</a:t>
            </a:r>
            <a:r>
              <a:rPr kumimoji="1" lang="en-US" altLang="zh-CN" b="0" dirty="0">
                <a:latin typeface="Helvetica"/>
                <a:cs typeface="Helvetica"/>
              </a:rPr>
              <a:t>)</a:t>
            </a:r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17" name="矩形标注 16">
            <a:extLst>
              <a:ext uri="{FF2B5EF4-FFF2-40B4-BE49-F238E27FC236}">
                <a16:creationId xmlns:a16="http://schemas.microsoft.com/office/drawing/2014/main" id="{63406B9F-ED29-0B48-8EDC-0947EA599F29}"/>
              </a:ext>
            </a:extLst>
          </p:cNvPr>
          <p:cNvSpPr/>
          <p:nvPr/>
        </p:nvSpPr>
        <p:spPr bwMode="auto">
          <a:xfrm>
            <a:off x="3789014" y="3676590"/>
            <a:ext cx="2383186" cy="612648"/>
          </a:xfrm>
          <a:prstGeom prst="wedgeRectCallout">
            <a:avLst>
              <a:gd name="adj1" fmla="val 9804"/>
              <a:gd name="adj2" fmla="val -128318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Stem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of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pattern</a:t>
            </a:r>
          </a:p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(plot-%)</a:t>
            </a:r>
            <a:endParaRPr kumimoji="1" lang="zh-CN" altLang="en-US" b="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302117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FE834BE4-A9E1-004D-813D-79CC8B751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85800"/>
            <a:ext cx="5981700" cy="588010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57D51BC-2437-6847-8D35-4BF5213E6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complete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Makefile</a:t>
            </a:r>
            <a:endParaRPr kumimoji="1"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5D27ED6-CEE9-A246-BACC-B2EB22F1C2CB}"/>
              </a:ext>
            </a:extLst>
          </p:cNvPr>
          <p:cNvGrpSpPr/>
          <p:nvPr/>
        </p:nvGrpSpPr>
        <p:grpSpPr>
          <a:xfrm>
            <a:off x="1219200" y="685800"/>
            <a:ext cx="6359448" cy="1399639"/>
            <a:chOff x="1219200" y="685800"/>
            <a:chExt cx="6359448" cy="1399639"/>
          </a:xfrm>
        </p:grpSpPr>
        <p:cxnSp>
          <p:nvCxnSpPr>
            <p:cNvPr id="8" name="直线箭头连接符 7">
              <a:extLst>
                <a:ext uri="{FF2B5EF4-FFF2-40B4-BE49-F238E27FC236}">
                  <a16:creationId xmlns:a16="http://schemas.microsoft.com/office/drawing/2014/main" id="{D04A2749-16F5-EF4B-ABD5-62601F9F5D25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219200" y="685800"/>
              <a:ext cx="1219200" cy="152400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0" name="直线箭头连接符 9">
              <a:extLst>
                <a:ext uri="{FF2B5EF4-FFF2-40B4-BE49-F238E27FC236}">
                  <a16:creationId xmlns:a16="http://schemas.microsoft.com/office/drawing/2014/main" id="{0C312A33-11B4-1049-AD90-B4810B8B994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00200" y="990600"/>
              <a:ext cx="838200" cy="133350"/>
            </a:xfrm>
            <a:prstGeom prst="straightConnector1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09157ED-EB67-A74E-B9A6-89C20FB119EF}"/>
                </a:ext>
              </a:extLst>
            </p:cNvPr>
            <p:cNvSpPr txBox="1"/>
            <p:nvPr/>
          </p:nvSpPr>
          <p:spPr>
            <a:xfrm>
              <a:off x="2613506" y="762000"/>
              <a:ext cx="4965142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000" b="0" dirty="0">
                  <a:latin typeface="Helvetica"/>
                  <a:cs typeface="Helvetica"/>
                </a:rPr>
                <a:t>Variable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(should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really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use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:=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instead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of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=)</a:t>
              </a:r>
            </a:p>
            <a:p>
              <a:endParaRPr kumimoji="1" lang="en-US" altLang="zh-CN" sz="2000" b="0" dirty="0">
                <a:latin typeface="Helvetica"/>
                <a:cs typeface="Helvetica"/>
              </a:endParaRPr>
            </a:p>
            <a:p>
              <a:r>
                <a:rPr kumimoji="1" lang="en-US" altLang="zh-CN" sz="2000" b="0" dirty="0">
                  <a:latin typeface="Helvetica"/>
                  <a:cs typeface="Helvetica"/>
                </a:rPr>
                <a:t>:=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assign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only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once</a:t>
              </a:r>
            </a:p>
            <a:p>
              <a:r>
                <a:rPr kumimoji="1" lang="en-US" altLang="zh-CN" sz="2000" b="0" dirty="0">
                  <a:latin typeface="Helvetica"/>
                  <a:cs typeface="Helvetica"/>
                </a:rPr>
                <a:t>=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assign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each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time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it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is</a:t>
              </a:r>
              <a:r>
                <a:rPr kumimoji="1" lang="zh-CN" altLang="en-US" sz="2000" b="0" dirty="0">
                  <a:latin typeface="Helvetica"/>
                  <a:cs typeface="Helvetica"/>
                </a:rPr>
                <a:t> </a:t>
              </a:r>
              <a:r>
                <a:rPr kumimoji="1" lang="en-US" altLang="zh-CN" sz="2000" b="0" dirty="0">
                  <a:latin typeface="Helvetica"/>
                  <a:cs typeface="Helvetica"/>
                </a:rPr>
                <a:t>called</a:t>
              </a:r>
              <a:endParaRPr kumimoji="1" lang="zh-CN" altLang="en-US" sz="2000" b="0" dirty="0">
                <a:latin typeface="Helvetica"/>
                <a:cs typeface="Helvetica"/>
              </a:endParaRPr>
            </a:p>
          </p:txBody>
        </p:sp>
      </p:grpSp>
      <p:sp>
        <p:nvSpPr>
          <p:cNvPr id="15" name="矩形标注 14">
            <a:extLst>
              <a:ext uri="{FF2B5EF4-FFF2-40B4-BE49-F238E27FC236}">
                <a16:creationId xmlns:a16="http://schemas.microsoft.com/office/drawing/2014/main" id="{3C1E27D7-ABA4-1E49-B731-B28BBBC88F7A}"/>
              </a:ext>
            </a:extLst>
          </p:cNvPr>
          <p:cNvSpPr/>
          <p:nvPr/>
        </p:nvSpPr>
        <p:spPr bwMode="auto">
          <a:xfrm>
            <a:off x="5583944" y="4466238"/>
            <a:ext cx="2645656" cy="612648"/>
          </a:xfrm>
          <a:prstGeom prst="wedgeRectCallout">
            <a:avLst>
              <a:gd name="adj1" fmla="val -100088"/>
              <a:gd name="adj2" fmla="val 41717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First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requirement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name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%.obj</a:t>
            </a:r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16" name="矩形标注 15">
            <a:extLst>
              <a:ext uri="{FF2B5EF4-FFF2-40B4-BE49-F238E27FC236}">
                <a16:creationId xmlns:a16="http://schemas.microsoft.com/office/drawing/2014/main" id="{AD6EAA42-778B-3C41-A226-462BCAC6E511}"/>
              </a:ext>
            </a:extLst>
          </p:cNvPr>
          <p:cNvSpPr/>
          <p:nvPr/>
        </p:nvSpPr>
        <p:spPr bwMode="auto">
          <a:xfrm>
            <a:off x="6906772" y="5419443"/>
            <a:ext cx="1676400" cy="765387"/>
          </a:xfrm>
          <a:prstGeom prst="wedgeRectCallout">
            <a:avLst>
              <a:gd name="adj1" fmla="val -100088"/>
              <a:gd name="adj2" fmla="val 41717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Line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breaks</a:t>
            </a:r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17" name="矩形标注 16">
            <a:extLst>
              <a:ext uri="{FF2B5EF4-FFF2-40B4-BE49-F238E27FC236}">
                <a16:creationId xmlns:a16="http://schemas.microsoft.com/office/drawing/2014/main" id="{329E16DB-EC0F-0948-8A53-B1DF6A51807C}"/>
              </a:ext>
            </a:extLst>
          </p:cNvPr>
          <p:cNvSpPr/>
          <p:nvPr/>
        </p:nvSpPr>
        <p:spPr bwMode="auto">
          <a:xfrm>
            <a:off x="2019300" y="5181600"/>
            <a:ext cx="2095500" cy="841587"/>
          </a:xfrm>
          <a:prstGeom prst="wedgeRectCallout">
            <a:avLst>
              <a:gd name="adj1" fmla="val -92631"/>
              <a:gd name="adj2" fmla="val 41990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Good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habit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to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provide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the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clean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target</a:t>
            </a:r>
            <a:endParaRPr kumimoji="1" lang="zh-CN" altLang="en-US" b="0" dirty="0">
              <a:latin typeface="Helvetica"/>
              <a:cs typeface="Helvetica"/>
            </a:endParaRPr>
          </a:p>
        </p:txBody>
      </p:sp>
      <p:sp>
        <p:nvSpPr>
          <p:cNvPr id="18" name="矩形标注 17">
            <a:extLst>
              <a:ext uri="{FF2B5EF4-FFF2-40B4-BE49-F238E27FC236}">
                <a16:creationId xmlns:a16="http://schemas.microsoft.com/office/drawing/2014/main" id="{1A6B0953-6DB7-8C4A-B243-D547A59D5736}"/>
              </a:ext>
            </a:extLst>
          </p:cNvPr>
          <p:cNvSpPr/>
          <p:nvPr/>
        </p:nvSpPr>
        <p:spPr bwMode="auto">
          <a:xfrm>
            <a:off x="5273808" y="2816352"/>
            <a:ext cx="3108192" cy="612648"/>
          </a:xfrm>
          <a:prstGeom prst="wedgeRectCallout">
            <a:avLst>
              <a:gd name="adj1" fmla="val -88713"/>
              <a:gd name="adj2" fmla="val 30381"/>
            </a:avLst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kumimoji="1" lang="en-US" altLang="zh-CN" b="0" dirty="0">
                <a:latin typeface="Helvetica"/>
                <a:cs typeface="Helvetica"/>
              </a:rPr>
              <a:t>Q: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Why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run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it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multiple</a:t>
            </a:r>
            <a:r>
              <a:rPr kumimoji="1" lang="zh-CN" altLang="en-US" b="0" dirty="0">
                <a:latin typeface="Helvetica"/>
                <a:cs typeface="Helvetica"/>
              </a:rPr>
              <a:t> </a:t>
            </a:r>
            <a:r>
              <a:rPr kumimoji="1" lang="en-US" altLang="zh-CN" b="0" dirty="0">
                <a:latin typeface="Helvetica"/>
                <a:cs typeface="Helvetica"/>
              </a:rPr>
              <a:t>times?</a:t>
            </a:r>
            <a:endParaRPr kumimoji="1" lang="zh-CN" altLang="en-US" b="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4786866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31ABF-C6FB-0B42-B59B-179FAE1B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59806"/>
            <a:ext cx="7924800" cy="533400"/>
          </a:xfrm>
        </p:spPr>
        <p:txBody>
          <a:bodyPr/>
          <a:lstStyle/>
          <a:p>
            <a:r>
              <a:rPr lang="en-US" altLang="zh-CN" dirty="0"/>
              <a:t>Recap:</a:t>
            </a:r>
            <a:r>
              <a:rPr lang="zh-CN" altLang="en-US" dirty="0"/>
              <a:t> </a:t>
            </a:r>
            <a:r>
              <a:rPr lang="en-US" altLang="zh-CN" dirty="0"/>
              <a:t>Multiprocessing: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7F96E-F19B-3F4F-89E9-74B36CBD3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7700" y="1349843"/>
            <a:ext cx="3156204" cy="4114800"/>
          </a:xfrm>
        </p:spPr>
        <p:txBody>
          <a:bodyPr/>
          <a:lstStyle/>
          <a:p>
            <a:r>
              <a:rPr lang="en-US" altLang="zh-CN" sz="2000" dirty="0"/>
              <a:t>Process</a:t>
            </a:r>
            <a:r>
              <a:rPr lang="zh-CN" altLang="en-US" sz="2000" dirty="0"/>
              <a:t> </a:t>
            </a:r>
            <a:r>
              <a:rPr lang="en-US" altLang="zh-CN" sz="2000" dirty="0"/>
              <a:t>executions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time-interleaved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on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the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processor</a:t>
            </a:r>
          </a:p>
          <a:p>
            <a:r>
              <a:rPr lang="en-US" altLang="zh-CN" sz="2000" dirty="0"/>
              <a:t>Address</a:t>
            </a:r>
            <a:r>
              <a:rPr lang="zh-CN" altLang="en-US" sz="2000" dirty="0"/>
              <a:t> </a:t>
            </a:r>
            <a:r>
              <a:rPr lang="en-US" altLang="zh-CN" sz="2000" dirty="0"/>
              <a:t>spaces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all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mapped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to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the</a:t>
            </a:r>
            <a:r>
              <a:rPr lang="zh-CN" altLang="en-US" sz="2000" dirty="0">
                <a:solidFill>
                  <a:schemeClr val="accent1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memory</a:t>
            </a:r>
          </a:p>
          <a:p>
            <a:r>
              <a:rPr lang="en-US" altLang="zh-CN" sz="2000" dirty="0"/>
              <a:t>States</a:t>
            </a:r>
            <a:r>
              <a:rPr lang="zh-CN" altLang="en-US" sz="2000" dirty="0"/>
              <a:t> </a:t>
            </a:r>
            <a:r>
              <a:rPr lang="en-US" altLang="zh-CN" sz="2000" dirty="0"/>
              <a:t>(PC,</a:t>
            </a:r>
            <a:r>
              <a:rPr lang="zh-CN" altLang="en-US" sz="2000" dirty="0"/>
              <a:t> </a:t>
            </a:r>
            <a:r>
              <a:rPr lang="en-US" altLang="zh-CN" sz="2000" dirty="0"/>
              <a:t>registers,</a:t>
            </a:r>
            <a:r>
              <a:rPr lang="zh-CN" altLang="en-US" sz="2000" dirty="0"/>
              <a:t> </a:t>
            </a:r>
            <a:r>
              <a:rPr lang="en-US" altLang="zh-CN" sz="2000" dirty="0"/>
              <a:t>etc.)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non-executing</a:t>
            </a:r>
            <a:r>
              <a:rPr lang="zh-CN" altLang="en-US" sz="2000" dirty="0"/>
              <a:t> </a:t>
            </a:r>
            <a:r>
              <a:rPr lang="en-US" altLang="zh-CN" sz="2000" dirty="0"/>
              <a:t>processes</a:t>
            </a:r>
            <a:r>
              <a:rPr lang="zh-CN" altLang="en-US" sz="2000" dirty="0"/>
              <a:t> </a:t>
            </a:r>
            <a:r>
              <a:rPr lang="en-US" altLang="zh-CN" sz="2000" dirty="0"/>
              <a:t>are</a:t>
            </a:r>
            <a:r>
              <a:rPr lang="zh-CN" altLang="en-US" sz="2000" dirty="0"/>
              <a:t> </a:t>
            </a:r>
            <a:r>
              <a:rPr lang="en-US" altLang="zh-CN" sz="2000" dirty="0"/>
              <a:t>saved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memory</a:t>
            </a:r>
          </a:p>
          <a:p>
            <a:pPr lvl="1"/>
            <a:r>
              <a:rPr lang="en-US" altLang="zh-CN" sz="2000" dirty="0">
                <a:solidFill>
                  <a:schemeClr val="accent1"/>
                </a:solidFill>
              </a:rPr>
              <a:t>Saved</a:t>
            </a:r>
            <a:r>
              <a:rPr lang="zh-CN" altLang="en-US" sz="2000" dirty="0"/>
              <a:t> </a:t>
            </a:r>
            <a:r>
              <a:rPr lang="en-US" altLang="zh-CN" sz="2000" dirty="0"/>
              <a:t>before</a:t>
            </a:r>
            <a:r>
              <a:rPr lang="zh-CN" altLang="en-US" sz="2000" dirty="0"/>
              <a:t> </a:t>
            </a:r>
            <a:r>
              <a:rPr lang="en-US" altLang="zh-CN" sz="2000" dirty="0" err="1"/>
              <a:t>descheduled</a:t>
            </a:r>
            <a:endParaRPr lang="en-US" altLang="zh-CN" sz="2000" dirty="0"/>
          </a:p>
          <a:p>
            <a:pPr lvl="1"/>
            <a:r>
              <a:rPr lang="en-US" altLang="zh-CN" sz="2000" dirty="0">
                <a:solidFill>
                  <a:schemeClr val="accent1"/>
                </a:solidFill>
              </a:rPr>
              <a:t>Restored</a:t>
            </a:r>
            <a:r>
              <a:rPr lang="zh-CN" altLang="en-US" sz="2000" dirty="0"/>
              <a:t> </a:t>
            </a:r>
            <a:r>
              <a:rPr lang="en-US" altLang="zh-CN" sz="2000" dirty="0"/>
              <a:t>before</a:t>
            </a:r>
            <a:r>
              <a:rPr lang="zh-CN" altLang="en-US" sz="2000" dirty="0"/>
              <a:t> </a:t>
            </a:r>
            <a:r>
              <a:rPr lang="en-US" altLang="zh-CN" sz="2000" dirty="0"/>
              <a:t>continue</a:t>
            </a:r>
          </a:p>
          <a:p>
            <a:r>
              <a:rPr lang="en-US" altLang="zh-CN" sz="2000" dirty="0"/>
              <a:t>Multi-core</a:t>
            </a:r>
            <a:r>
              <a:rPr lang="zh-CN" altLang="en-US" sz="2000" dirty="0"/>
              <a:t> </a:t>
            </a:r>
            <a:r>
              <a:rPr lang="en-US" altLang="zh-CN" sz="2000" dirty="0"/>
              <a:t>supports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concurrent</a:t>
            </a:r>
            <a:r>
              <a:rPr lang="zh-CN" altLang="en-US" sz="2000" dirty="0"/>
              <a:t> </a:t>
            </a:r>
            <a:r>
              <a:rPr lang="en-US" altLang="zh-CN" sz="2000" dirty="0"/>
              <a:t>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97F84-556B-0142-959B-5F4A8AB6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6309995"/>
            <a:ext cx="612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E7C094-772A-D449-9237-B16FEB9051CB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C6BE17E-DF68-F942-A182-D8831D19895B}"/>
              </a:ext>
            </a:extLst>
          </p:cNvPr>
          <p:cNvGrpSpPr/>
          <p:nvPr/>
        </p:nvGrpSpPr>
        <p:grpSpPr>
          <a:xfrm>
            <a:off x="554163" y="2068930"/>
            <a:ext cx="4717797" cy="2236370"/>
            <a:chOff x="738884" y="1615573"/>
            <a:chExt cx="6290396" cy="298182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B0F788-BF69-5A41-86D6-DB7F366E3B46}"/>
                </a:ext>
              </a:extLst>
            </p:cNvPr>
            <p:cNvSpPr/>
            <p:nvPr/>
          </p:nvSpPr>
          <p:spPr>
            <a:xfrm>
              <a:off x="738884" y="1615573"/>
              <a:ext cx="6290396" cy="2981827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Memory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1C40A6-5695-7245-B174-99627953E3D8}"/>
                </a:ext>
              </a:extLst>
            </p:cNvPr>
            <p:cNvSpPr/>
            <p:nvPr/>
          </p:nvSpPr>
          <p:spPr>
            <a:xfrm>
              <a:off x="873240" y="3489343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Code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73A0106-D135-7643-87BA-4EE672AFDF1B}"/>
                </a:ext>
              </a:extLst>
            </p:cNvPr>
            <p:cNvSpPr/>
            <p:nvPr/>
          </p:nvSpPr>
          <p:spPr>
            <a:xfrm>
              <a:off x="878849" y="3034230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F7C6E72-3BFA-424C-8703-BFF4A7E15303}"/>
                </a:ext>
              </a:extLst>
            </p:cNvPr>
            <p:cNvSpPr/>
            <p:nvPr/>
          </p:nvSpPr>
          <p:spPr>
            <a:xfrm>
              <a:off x="885684" y="2573612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Heap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1B1B139-02C0-9B4A-B07F-A6AB1435215C}"/>
                </a:ext>
              </a:extLst>
            </p:cNvPr>
            <p:cNvSpPr/>
            <p:nvPr/>
          </p:nvSpPr>
          <p:spPr>
            <a:xfrm>
              <a:off x="891293" y="2112994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Stack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7EA620-695D-6748-8860-2BC9F5073276}"/>
                </a:ext>
              </a:extLst>
            </p:cNvPr>
            <p:cNvSpPr/>
            <p:nvPr/>
          </p:nvSpPr>
          <p:spPr>
            <a:xfrm>
              <a:off x="2780423" y="3489343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Code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C27EFC-2BE2-3B47-9D43-65F4547FE38B}"/>
                </a:ext>
              </a:extLst>
            </p:cNvPr>
            <p:cNvSpPr/>
            <p:nvPr/>
          </p:nvSpPr>
          <p:spPr>
            <a:xfrm>
              <a:off x="2786032" y="3034230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C1A85C-4072-AD46-9454-A93C6889ACA5}"/>
                </a:ext>
              </a:extLst>
            </p:cNvPr>
            <p:cNvSpPr/>
            <p:nvPr/>
          </p:nvSpPr>
          <p:spPr>
            <a:xfrm>
              <a:off x="2792867" y="2573612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Heap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CF41C10-7BBC-9045-9B08-98FE7EA3A605}"/>
                </a:ext>
              </a:extLst>
            </p:cNvPr>
            <p:cNvSpPr/>
            <p:nvPr/>
          </p:nvSpPr>
          <p:spPr>
            <a:xfrm>
              <a:off x="2798476" y="2112994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Stack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296E89-A056-7749-A6E7-DA6EA31FB0A1}"/>
                </a:ext>
              </a:extLst>
            </p:cNvPr>
            <p:cNvSpPr/>
            <p:nvPr/>
          </p:nvSpPr>
          <p:spPr>
            <a:xfrm>
              <a:off x="5525080" y="3489343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Code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EA90F51-0055-CB4B-9AF4-4E2BE49E7229}"/>
                </a:ext>
              </a:extLst>
            </p:cNvPr>
            <p:cNvSpPr/>
            <p:nvPr/>
          </p:nvSpPr>
          <p:spPr>
            <a:xfrm>
              <a:off x="5530689" y="3034230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01620D0-461E-D647-84E5-38ADB2DCC75D}"/>
                </a:ext>
              </a:extLst>
            </p:cNvPr>
            <p:cNvSpPr/>
            <p:nvPr/>
          </p:nvSpPr>
          <p:spPr>
            <a:xfrm>
              <a:off x="5537524" y="2573612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Heap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9E20928-BF64-EB45-9991-5124908CD51C}"/>
                </a:ext>
              </a:extLst>
            </p:cNvPr>
            <p:cNvSpPr/>
            <p:nvPr/>
          </p:nvSpPr>
          <p:spPr>
            <a:xfrm>
              <a:off x="5543133" y="2112994"/>
              <a:ext cx="1371600" cy="36576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Stack</a:t>
              </a:r>
              <a:endPara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880CE7-CA67-C140-8F64-FC0480239660}"/>
                </a:ext>
              </a:extLst>
            </p:cNvPr>
            <p:cNvSpPr txBox="1"/>
            <p:nvPr/>
          </p:nvSpPr>
          <p:spPr>
            <a:xfrm>
              <a:off x="4426343" y="2939372"/>
              <a:ext cx="904521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700" dirty="0">
                  <a:latin typeface="Calibri" panose="020F0502020204030204" pitchFamily="34" charset="0"/>
                  <a:cs typeface="Calibri" panose="020F0502020204030204" pitchFamily="34" charset="0"/>
                </a:rPr>
                <a:t>……</a:t>
              </a:r>
              <a:endParaRPr lang="en-US" sz="27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1D9D79F-FE47-814D-8189-7CD15DAE8567}"/>
              </a:ext>
            </a:extLst>
          </p:cNvPr>
          <p:cNvSpPr/>
          <p:nvPr/>
        </p:nvSpPr>
        <p:spPr>
          <a:xfrm>
            <a:off x="654930" y="3924960"/>
            <a:ext cx="102870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Saved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E07165-835C-864D-B115-329AE1F6897F}"/>
              </a:ext>
            </a:extLst>
          </p:cNvPr>
          <p:cNvSpPr/>
          <p:nvPr/>
        </p:nvSpPr>
        <p:spPr>
          <a:xfrm>
            <a:off x="2094650" y="3924960"/>
            <a:ext cx="102870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Saved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B600892-0BEE-D546-838E-5ECEE27EFA8E}"/>
              </a:ext>
            </a:extLst>
          </p:cNvPr>
          <p:cNvSpPr/>
          <p:nvPr/>
        </p:nvSpPr>
        <p:spPr>
          <a:xfrm>
            <a:off x="4143810" y="3924960"/>
            <a:ext cx="1028700" cy="274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Saved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States</a:t>
            </a:r>
            <a:endParaRPr 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B89EF4-FE0F-C346-A96A-9C606B4C0B65}"/>
              </a:ext>
            </a:extLst>
          </p:cNvPr>
          <p:cNvGrpSpPr/>
          <p:nvPr/>
        </p:nvGrpSpPr>
        <p:grpSpPr>
          <a:xfrm>
            <a:off x="428660" y="2381249"/>
            <a:ext cx="1481240" cy="3396344"/>
            <a:chOff x="2463800" y="2031998"/>
            <a:chExt cx="1974987" cy="452845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4894667-442B-4741-AEE8-446B7B41D7C5}"/>
                </a:ext>
              </a:extLst>
            </p:cNvPr>
            <p:cNvGrpSpPr/>
            <p:nvPr/>
          </p:nvGrpSpPr>
          <p:grpSpPr>
            <a:xfrm>
              <a:off x="2638703" y="4970411"/>
              <a:ext cx="1645920" cy="1466533"/>
              <a:chOff x="2238590" y="1941179"/>
              <a:chExt cx="1645920" cy="146653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6E42C46-C499-C34E-8B7A-B4FF9E463705}"/>
                  </a:ext>
                </a:extLst>
              </p:cNvPr>
              <p:cNvSpPr/>
              <p:nvPr/>
            </p:nvSpPr>
            <p:spPr>
              <a:xfrm>
                <a:off x="2238590" y="1941179"/>
                <a:ext cx="1645920" cy="146653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Processor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0B0DC56-B988-164B-84E6-76ACD5C1E2E7}"/>
                  </a:ext>
                </a:extLst>
              </p:cNvPr>
              <p:cNvSpPr/>
              <p:nvPr/>
            </p:nvSpPr>
            <p:spPr>
              <a:xfrm>
                <a:off x="2372946" y="2894757"/>
                <a:ext cx="1511564" cy="3657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Registers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056AFE5-56AA-124D-AA07-7D5CAE3F48FF}"/>
                  </a:ext>
                </a:extLst>
              </p:cNvPr>
              <p:cNvSpPr/>
              <p:nvPr/>
            </p:nvSpPr>
            <p:spPr>
              <a:xfrm>
                <a:off x="2378555" y="2434174"/>
                <a:ext cx="1371600" cy="3657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PC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5814911-3A36-E947-AA61-B0DD2268DCCB}"/>
                </a:ext>
              </a:extLst>
            </p:cNvPr>
            <p:cNvSpPr/>
            <p:nvPr/>
          </p:nvSpPr>
          <p:spPr>
            <a:xfrm>
              <a:off x="2463800" y="2031998"/>
              <a:ext cx="1974987" cy="452845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2" name="Up Arrow 41">
            <a:extLst>
              <a:ext uri="{FF2B5EF4-FFF2-40B4-BE49-F238E27FC236}">
                <a16:creationId xmlns:a16="http://schemas.microsoft.com/office/drawing/2014/main" id="{2076F057-D3B1-9849-9E3D-30C55F103F24}"/>
              </a:ext>
            </a:extLst>
          </p:cNvPr>
          <p:cNvSpPr/>
          <p:nvPr/>
        </p:nvSpPr>
        <p:spPr>
          <a:xfrm>
            <a:off x="2475467" y="4218292"/>
            <a:ext cx="248400" cy="331208"/>
          </a:xfrm>
          <a:prstGeom prst="upArrow">
            <a:avLst>
              <a:gd name="adj1" fmla="val 50000"/>
              <a:gd name="adj2" fmla="val 82609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Up Arrow 42">
            <a:extLst>
              <a:ext uri="{FF2B5EF4-FFF2-40B4-BE49-F238E27FC236}">
                <a16:creationId xmlns:a16="http://schemas.microsoft.com/office/drawing/2014/main" id="{D657B035-80B0-3442-9AF9-8E77E3982085}"/>
              </a:ext>
            </a:extLst>
          </p:cNvPr>
          <p:cNvSpPr/>
          <p:nvPr/>
        </p:nvSpPr>
        <p:spPr>
          <a:xfrm rot="10800000">
            <a:off x="4543293" y="4199281"/>
            <a:ext cx="248400" cy="331208"/>
          </a:xfrm>
          <a:prstGeom prst="upArrow">
            <a:avLst>
              <a:gd name="adj1" fmla="val 50000"/>
              <a:gd name="adj2" fmla="val 82609"/>
            </a:avLst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0E0D261-9A8F-4048-A009-5F63B64842F8}"/>
              </a:ext>
            </a:extLst>
          </p:cNvPr>
          <p:cNvGrpSpPr/>
          <p:nvPr/>
        </p:nvGrpSpPr>
        <p:grpSpPr>
          <a:xfrm>
            <a:off x="428660" y="2381249"/>
            <a:ext cx="1481240" cy="3396344"/>
            <a:chOff x="2463800" y="2031998"/>
            <a:chExt cx="1974987" cy="4528459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4223FDD-082E-6647-AE26-D0CA4315BA82}"/>
                </a:ext>
              </a:extLst>
            </p:cNvPr>
            <p:cNvGrpSpPr/>
            <p:nvPr/>
          </p:nvGrpSpPr>
          <p:grpSpPr>
            <a:xfrm>
              <a:off x="2638703" y="4970411"/>
              <a:ext cx="1780276" cy="1466533"/>
              <a:chOff x="2238590" y="1941179"/>
              <a:chExt cx="1780276" cy="1466533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A06A0CB-DC6B-304F-AB48-CA86562C0765}"/>
                  </a:ext>
                </a:extLst>
              </p:cNvPr>
              <p:cNvSpPr/>
              <p:nvPr/>
            </p:nvSpPr>
            <p:spPr>
              <a:xfrm>
                <a:off x="2238590" y="1941179"/>
                <a:ext cx="1645920" cy="146653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Processor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D5A30C06-4B02-C444-BC83-4CDB37792472}"/>
                  </a:ext>
                </a:extLst>
              </p:cNvPr>
              <p:cNvSpPr/>
              <p:nvPr/>
            </p:nvSpPr>
            <p:spPr>
              <a:xfrm>
                <a:off x="2378555" y="2892989"/>
                <a:ext cx="1640311" cy="39993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Registers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F6C87E0-076C-F44A-BF32-54128786BB2E}"/>
                  </a:ext>
                </a:extLst>
              </p:cNvPr>
              <p:cNvSpPr/>
              <p:nvPr/>
            </p:nvSpPr>
            <p:spPr>
              <a:xfrm>
                <a:off x="2378555" y="2434174"/>
                <a:ext cx="1371600" cy="36576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PC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CF672EB-5E57-4946-BCDD-012A5C61E663}"/>
                </a:ext>
              </a:extLst>
            </p:cNvPr>
            <p:cNvSpPr/>
            <p:nvPr/>
          </p:nvSpPr>
          <p:spPr>
            <a:xfrm>
              <a:off x="2463800" y="2031998"/>
              <a:ext cx="1974987" cy="452845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5891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11111E-6 L 0.15638 1.11111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638 1.11111E-6 L 0.38308 -0.0027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2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38" grpId="0" animBg="1"/>
      <p:bldP spid="42" grpId="0" animBg="1"/>
      <p:bldP spid="42" grpId="1" animBg="1"/>
      <p:bldP spid="43" grpId="0" animBg="1"/>
      <p:bldP spid="43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4332-250C-004D-91BE-F77ACFB4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</a:t>
            </a:r>
            <a:r>
              <a:rPr lang="zh-CN" altLang="en-US" dirty="0"/>
              <a:t> </a:t>
            </a:r>
            <a:r>
              <a:rPr lang="en-US" altLang="zh-CN" dirty="0"/>
              <a:t>Execution</a:t>
            </a:r>
            <a:r>
              <a:rPr lang="zh-CN" altLang="en-US" dirty="0"/>
              <a:t> </a:t>
            </a:r>
            <a:r>
              <a:rPr lang="en-US" altLang="zh-CN" dirty="0"/>
              <a:t>Context: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DF099-A897-804A-8C95-6D9E68DDC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thread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unique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execution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context</a:t>
            </a:r>
          </a:p>
          <a:p>
            <a:pPr lvl="1"/>
            <a:r>
              <a:rPr lang="en-US" altLang="zh-CN" dirty="0"/>
              <a:t>Including</a:t>
            </a:r>
            <a:r>
              <a:rPr lang="zh-CN" altLang="en-US" dirty="0"/>
              <a:t> </a:t>
            </a:r>
            <a:r>
              <a:rPr lang="en-US" altLang="zh-CN" dirty="0"/>
              <a:t>registers,</a:t>
            </a:r>
            <a:r>
              <a:rPr lang="zh-CN" altLang="en-US" dirty="0"/>
              <a:t> </a:t>
            </a:r>
            <a:r>
              <a:rPr lang="en-US" altLang="zh-CN" dirty="0"/>
              <a:t>PC,</a:t>
            </a:r>
            <a:r>
              <a:rPr lang="zh-CN" altLang="en-US" dirty="0"/>
              <a:t> </a:t>
            </a:r>
            <a:r>
              <a:rPr lang="en-US" altLang="zh-CN" dirty="0"/>
              <a:t>stack</a:t>
            </a:r>
            <a:r>
              <a:rPr lang="zh-CN" altLang="en-US" dirty="0"/>
              <a:t> </a:t>
            </a:r>
            <a:r>
              <a:rPr lang="en-US" altLang="zh-CN" dirty="0"/>
              <a:t>pointer,</a:t>
            </a:r>
            <a:r>
              <a:rPr lang="zh-CN" altLang="en-US" dirty="0"/>
              <a:t> </a:t>
            </a:r>
            <a:r>
              <a:rPr lang="en-US" altLang="zh-CN" dirty="0"/>
              <a:t>memory,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A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process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can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have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one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or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multiple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threads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/>
              <a:t>(multi-threading</a:t>
            </a:r>
            <a:r>
              <a:rPr lang="zh-CN" altLang="en-US" dirty="0"/>
              <a:t> </a:t>
            </a:r>
            <a:r>
              <a:rPr lang="en-US" altLang="zh-CN" dirty="0"/>
              <a:t>programs)</a:t>
            </a:r>
            <a:endParaRPr lang="en-US" dirty="0"/>
          </a:p>
          <a:p>
            <a:pPr lvl="1"/>
            <a:endParaRPr lang="en-US" dirty="0"/>
          </a:p>
          <a:p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executing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i.e.,</a:t>
            </a:r>
            <a:r>
              <a:rPr lang="zh-CN" altLang="en-US" dirty="0"/>
              <a:t> </a:t>
            </a:r>
            <a:r>
              <a:rPr lang="en-US" altLang="zh-CN" dirty="0"/>
              <a:t>occupying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processor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running</a:t>
            </a:r>
            <a:r>
              <a:rPr lang="zh-CN" altLang="en-US" dirty="0"/>
              <a:t> 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suspended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i.e.,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executing</a:t>
            </a:r>
          </a:p>
          <a:p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switch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 </a:t>
            </a:r>
            <a:r>
              <a:rPr lang="en-US" altLang="zh-CN" dirty="0"/>
              <a:t>involves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/>
                </a:solidFill>
              </a:rPr>
              <a:t>swapping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processor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states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(registers,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PC,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stack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pointer,</a:t>
            </a:r>
            <a:r>
              <a:rPr lang="zh-CN" altLang="en-US" dirty="0">
                <a:solidFill>
                  <a:schemeClr val="accent1"/>
                </a:solidFill>
              </a:rPr>
              <a:t> </a:t>
            </a:r>
            <a:r>
              <a:rPr lang="en-US" altLang="zh-CN" dirty="0">
                <a:solidFill>
                  <a:schemeClr val="accent1"/>
                </a:solidFill>
              </a:rPr>
              <a:t>etc.)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remain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</a:p>
          <a:p>
            <a:pPr lvl="1"/>
            <a:r>
              <a:rPr lang="en-US" altLang="zh-CN" dirty="0"/>
              <a:t>Save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current</a:t>
            </a:r>
            <a:r>
              <a:rPr lang="zh-CN" altLang="en-US" dirty="0"/>
              <a:t> </a:t>
            </a:r>
            <a:r>
              <a:rPr lang="en-US" altLang="zh-CN" dirty="0"/>
              <a:t>executing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</a:p>
          <a:p>
            <a:pPr lvl="1"/>
            <a:r>
              <a:rPr lang="en-US" altLang="zh-CN" dirty="0"/>
              <a:t>Restore</a:t>
            </a:r>
            <a:r>
              <a:rPr lang="zh-CN" altLang="en-US" dirty="0"/>
              <a:t> </a:t>
            </a:r>
            <a:r>
              <a:rPr lang="en-US" altLang="zh-CN" dirty="0"/>
              <a:t>those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executing</a:t>
            </a:r>
            <a:r>
              <a:rPr lang="zh-CN" altLang="en-US" dirty="0"/>
              <a:t> </a:t>
            </a:r>
            <a:r>
              <a:rPr lang="en-US" altLang="zh-CN" dirty="0"/>
              <a:t>thread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memory</a:t>
            </a:r>
          </a:p>
          <a:p>
            <a:r>
              <a:rPr lang="en-US" altLang="zh-CN" dirty="0"/>
              <a:t>Context</a:t>
            </a:r>
            <a:r>
              <a:rPr lang="zh-CN" altLang="en-US" dirty="0"/>
              <a:t> </a:t>
            </a:r>
            <a:r>
              <a:rPr lang="en-US" altLang="zh-CN" dirty="0"/>
              <a:t>switch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coordinated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C39D4-50AD-8B4B-A5C4-411E15CB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6309995"/>
            <a:ext cx="612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1E7C094-772A-D449-9237-B16FEB9051C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290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C7539-D4D3-4BD7-9788-FAD3CCBD4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00"/>
            <a:ext cx="7696200" cy="2667000"/>
          </a:xfrm>
        </p:spPr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key</a:t>
            </a:r>
            <a:r>
              <a:rPr kumimoji="1" lang="zh-CN" altLang="en-US" dirty="0"/>
              <a:t> </a:t>
            </a:r>
            <a:r>
              <a:rPr kumimoji="1" lang="en-US" altLang="zh-CN" dirty="0"/>
              <a:t>take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away: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Threads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are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independently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scheduled</a:t>
            </a:r>
            <a:r>
              <a:rPr kumimoji="1" lang="zh-CN" altLang="en-US" dirty="0"/>
              <a:t> </a:t>
            </a:r>
            <a:r>
              <a:rPr kumimoji="1" lang="en-US" altLang="zh-CN" dirty="0"/>
              <a:t>by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OS.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They</a:t>
            </a:r>
            <a:r>
              <a:rPr kumimoji="1" lang="zh-CN" altLang="en-US" dirty="0"/>
              <a:t> </a:t>
            </a: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start</a:t>
            </a:r>
            <a:r>
              <a:rPr kumimoji="1" lang="zh-CN" altLang="en-US" dirty="0"/>
              <a:t> 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stop</a:t>
            </a:r>
            <a:r>
              <a:rPr kumimoji="1" lang="zh-CN" altLang="en-US" dirty="0"/>
              <a:t> </a:t>
            </a:r>
            <a:r>
              <a:rPr kumimoji="1" lang="en-US" altLang="zh-CN" dirty="0"/>
              <a:t>at</a:t>
            </a:r>
            <a:r>
              <a:rPr kumimoji="1" lang="zh-CN" altLang="en-US" dirty="0"/>
              <a:t> </a:t>
            </a:r>
            <a:r>
              <a:rPr kumimoji="1" lang="en-US" altLang="zh-CN" dirty="0"/>
              <a:t>any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time.</a:t>
            </a:r>
            <a:br>
              <a:rPr kumimoji="1" lang="en-US" altLang="zh-CN" dirty="0"/>
            </a:b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en-US" altLang="zh-CN" dirty="0"/>
              <a:t>Can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less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arbitrary?</a:t>
            </a:r>
            <a:r>
              <a:rPr kumimoji="1" lang="zh-CN" altLang="en-US" dirty="0"/>
              <a:t> </a:t>
            </a:r>
            <a:r>
              <a:rPr kumimoji="1" lang="en-US" altLang="zh-CN" dirty="0"/>
              <a:t>i.e.</a:t>
            </a:r>
            <a:r>
              <a:rPr kumimoji="1" lang="zh-CN" altLang="en-US" dirty="0"/>
              <a:t> </a:t>
            </a:r>
            <a:r>
              <a:rPr kumimoji="1" lang="en-US" altLang="zh-CN" dirty="0"/>
              <a:t>make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threads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cooperate?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769158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Cooperating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5516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534400" cy="533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Gulim" charset="-127"/>
              </a:rPr>
              <a:t>Why allow cooperating threads?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90600"/>
            <a:ext cx="8928100" cy="55245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People cooperate; computers help/enhance people’s lives, so computers must cooperate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Advantage 1: Share resources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One computer, many users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One bank balance, many ATMs</a:t>
            </a:r>
          </a:p>
          <a:p>
            <a:pPr lvl="2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What if ATMs were only updated at night?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Embedded systems (robot control: coordinate arm &amp; hand)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Advantage 2: Speedup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Overlap I/O and computation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Multiprocessors – chop up program into parallel pieces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Advantage 3: Modularity </a:t>
            </a:r>
          </a:p>
          <a:p>
            <a:pPr lvl="1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Chop large problem up into simpler pieces</a:t>
            </a:r>
          </a:p>
          <a:p>
            <a:pPr lvl="2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To compile, for instance, </a:t>
            </a:r>
            <a:r>
              <a:rPr lang="en-US" altLang="ko-KR" dirty="0" err="1">
                <a:latin typeface="Helvetica" charset="0"/>
                <a:ea typeface="Gulim" charset="-127"/>
              </a:rPr>
              <a:t>gcc</a:t>
            </a:r>
            <a:r>
              <a:rPr lang="en-US" altLang="ko-KR" dirty="0">
                <a:latin typeface="Helvetica" charset="0"/>
                <a:ea typeface="Gulim" charset="-127"/>
              </a:rPr>
              <a:t> calls </a:t>
            </a:r>
            <a:r>
              <a:rPr lang="en-US" altLang="ko-KR" dirty="0" err="1">
                <a:latin typeface="Helvetica" charset="0"/>
                <a:ea typeface="Gulim" charset="-127"/>
              </a:rPr>
              <a:t>cpp</a:t>
            </a:r>
            <a:r>
              <a:rPr lang="en-US" altLang="ko-KR" dirty="0">
                <a:latin typeface="Helvetica" charset="0"/>
                <a:ea typeface="Gulim" charset="-127"/>
              </a:rPr>
              <a:t> | cc1 | cc2 | as | </a:t>
            </a:r>
            <a:r>
              <a:rPr lang="en-US" altLang="ko-KR" dirty="0" err="1">
                <a:latin typeface="Helvetica" charset="0"/>
                <a:ea typeface="Gulim" charset="-127"/>
              </a:rPr>
              <a:t>ld</a:t>
            </a:r>
            <a:endParaRPr lang="en-US" altLang="ko-KR" dirty="0">
              <a:latin typeface="Helvetica" charset="0"/>
              <a:ea typeface="Gulim" charset="-127"/>
            </a:endParaRPr>
          </a:p>
          <a:p>
            <a:pPr lvl="2" eaLnBrk="1" hangingPunct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Makes system easier to extend</a:t>
            </a:r>
          </a:p>
        </p:txBody>
      </p:sp>
    </p:spTree>
    <p:extLst>
      <p:ext uri="{BB962C8B-B14F-4D97-AF65-F5344CB8AC3E}">
        <p14:creationId xmlns:p14="http://schemas.microsoft.com/office/powerpoint/2010/main" val="22815463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95300" y="304800"/>
            <a:ext cx="8229600" cy="5334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Multiple Processes</a:t>
            </a:r>
            <a:r>
              <a:rPr lang="zh-CN" altLang="en-US" dirty="0">
                <a:latin typeface="Helvetica" charset="0"/>
                <a:ea typeface="MS PGothic" charset="0"/>
              </a:rPr>
              <a:t> </a:t>
            </a:r>
            <a:r>
              <a:rPr lang="en-US" altLang="zh-CN" dirty="0">
                <a:latin typeface="Helvetica" charset="0"/>
                <a:ea typeface="MS PGothic" charset="0"/>
              </a:rPr>
              <a:t>/</a:t>
            </a:r>
            <a:r>
              <a:rPr lang="zh-CN" altLang="en-US" dirty="0">
                <a:latin typeface="Helvetica" charset="0"/>
                <a:ea typeface="MS PGothic" charset="0"/>
              </a:rPr>
              <a:t> </a:t>
            </a:r>
            <a:r>
              <a:rPr lang="en-US" altLang="zh-CN" dirty="0">
                <a:latin typeface="Helvetica" charset="0"/>
                <a:ea typeface="MS PGothic" charset="0"/>
              </a:rPr>
              <a:t>Threads</a:t>
            </a:r>
            <a:r>
              <a:rPr lang="en-US" dirty="0">
                <a:latin typeface="Helvetica" charset="0"/>
                <a:ea typeface="MS PGothic" charset="0"/>
              </a:rPr>
              <a:t> </a:t>
            </a:r>
            <a:br>
              <a:rPr lang="en-US" dirty="0">
                <a:latin typeface="Helvetica" charset="0"/>
                <a:ea typeface="MS PGothic" charset="0"/>
              </a:rPr>
            </a:br>
            <a:r>
              <a:rPr lang="en-US" dirty="0">
                <a:latin typeface="Helvetica" charset="0"/>
                <a:ea typeface="MS PGothic" charset="0"/>
              </a:rPr>
              <a:t>Collaborate on a Task</a:t>
            </a:r>
            <a:r>
              <a:rPr lang="zh-CN" altLang="en-US" dirty="0">
                <a:latin typeface="Helvetica" charset="0"/>
                <a:ea typeface="MS PGothic" charset="0"/>
              </a:rPr>
              <a:t> </a:t>
            </a:r>
            <a:endParaRPr lang="en-US" dirty="0">
              <a:latin typeface="Helvetica" charset="0"/>
              <a:ea typeface="MS PGothic" charset="0"/>
            </a:endParaRPr>
          </a:p>
        </p:txBody>
      </p:sp>
      <p:sp>
        <p:nvSpPr>
          <p:cNvPr id="32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048000"/>
            <a:ext cx="8458200" cy="32908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>
                <a:latin typeface="Helvetica" charset="0"/>
                <a:ea typeface="MS PGothic" charset="0"/>
              </a:rPr>
              <a:t>Need Communication mechanism: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Helvetica" charset="0"/>
                <a:ea typeface="MS PGothic" charset="0"/>
              </a:rPr>
              <a:t>Separate address spaces isolates processes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Helvetica" charset="0"/>
                <a:ea typeface="MS PGothic" charset="0"/>
              </a:rPr>
              <a:t>Shared-Memory Mapping</a:t>
            </a:r>
          </a:p>
          <a:p>
            <a:pPr lvl="2">
              <a:lnSpc>
                <a:spcPct val="80000"/>
              </a:lnSpc>
            </a:pPr>
            <a:r>
              <a:rPr lang="en-US">
                <a:latin typeface="Helvetica" charset="0"/>
                <a:ea typeface="MS PGothic" charset="0"/>
              </a:rPr>
              <a:t>Accomplished by mapping addresses to common DRAM</a:t>
            </a:r>
          </a:p>
          <a:p>
            <a:pPr lvl="2">
              <a:lnSpc>
                <a:spcPct val="80000"/>
              </a:lnSpc>
            </a:pPr>
            <a:r>
              <a:rPr lang="en-US">
                <a:latin typeface="Helvetica" charset="0"/>
                <a:ea typeface="MS PGothic" charset="0"/>
              </a:rPr>
              <a:t>Read and Write through memory</a:t>
            </a:r>
          </a:p>
          <a:p>
            <a:pPr lvl="1">
              <a:lnSpc>
                <a:spcPct val="80000"/>
              </a:lnSpc>
            </a:pPr>
            <a:r>
              <a:rPr lang="en-US">
                <a:latin typeface="Helvetica" charset="0"/>
                <a:ea typeface="MS PGothic" charset="0"/>
              </a:rPr>
              <a:t>Message Passing</a:t>
            </a:r>
          </a:p>
          <a:p>
            <a:pPr lvl="2">
              <a:lnSpc>
                <a:spcPct val="80000"/>
              </a:lnSpc>
            </a:pPr>
            <a:r>
              <a:rPr lang="en-US">
                <a:latin typeface="Courier New" charset="0"/>
                <a:ea typeface="MS PGothic" charset="0"/>
              </a:rPr>
              <a:t>send()</a:t>
            </a:r>
            <a:r>
              <a:rPr lang="en-US">
                <a:latin typeface="Helvetica" charset="0"/>
                <a:ea typeface="MS PGothic" charset="0"/>
              </a:rPr>
              <a:t> and </a:t>
            </a:r>
            <a:r>
              <a:rPr lang="en-US">
                <a:latin typeface="Courier New" charset="0"/>
                <a:ea typeface="MS PGothic" charset="0"/>
              </a:rPr>
              <a:t>receive()</a:t>
            </a:r>
            <a:r>
              <a:rPr lang="en-US">
                <a:latin typeface="Helvetica" charset="0"/>
                <a:ea typeface="MS PGothic" charset="0"/>
              </a:rPr>
              <a:t> messages</a:t>
            </a:r>
          </a:p>
          <a:p>
            <a:pPr lvl="2">
              <a:lnSpc>
                <a:spcPct val="80000"/>
              </a:lnSpc>
            </a:pPr>
            <a:r>
              <a:rPr lang="en-US">
                <a:latin typeface="Helvetica" charset="0"/>
                <a:ea typeface="MS PGothic" charset="0"/>
              </a:rPr>
              <a:t>Works across network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1676400" y="1143000"/>
            <a:ext cx="1219200" cy="1600200"/>
          </a:xfrm>
          <a:prstGeom prst="rect">
            <a:avLst/>
          </a:prstGeom>
          <a:solidFill>
            <a:srgbClr val="FF66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Helvetica" charset="0"/>
              </a:rPr>
              <a:t>Proc 1</a:t>
            </a: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3962400" y="1143000"/>
            <a:ext cx="1219200" cy="1600200"/>
          </a:xfrm>
          <a:prstGeom prst="rect">
            <a:avLst/>
          </a:prstGeom>
          <a:solidFill>
            <a:srgbClr val="FF66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Helvetica" charset="0"/>
              </a:rPr>
              <a:t>Proc 2</a:t>
            </a:r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6248400" y="1143000"/>
            <a:ext cx="1219200" cy="1600200"/>
          </a:xfrm>
          <a:prstGeom prst="rect">
            <a:avLst/>
          </a:prstGeom>
          <a:solidFill>
            <a:srgbClr val="FF66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latin typeface="Helvetica" charset="0"/>
              </a:rPr>
              <a:t>Proc 3</a:t>
            </a:r>
          </a:p>
        </p:txBody>
      </p:sp>
      <p:sp>
        <p:nvSpPr>
          <p:cNvPr id="39943" name="AutoShape 7"/>
          <p:cNvSpPr>
            <a:spLocks noChangeArrowheads="1"/>
          </p:cNvSpPr>
          <p:nvPr/>
        </p:nvSpPr>
        <p:spPr bwMode="auto">
          <a:xfrm>
            <a:off x="2895600" y="1600200"/>
            <a:ext cx="1066800" cy="685800"/>
          </a:xfrm>
          <a:prstGeom prst="leftRightArrow">
            <a:avLst>
              <a:gd name="adj1" fmla="val 50000"/>
              <a:gd name="adj2" fmla="val 31111"/>
            </a:avLst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39944" name="AutoShape 8"/>
          <p:cNvSpPr>
            <a:spLocks noChangeArrowheads="1"/>
          </p:cNvSpPr>
          <p:nvPr/>
        </p:nvSpPr>
        <p:spPr bwMode="auto">
          <a:xfrm>
            <a:off x="5181600" y="1600200"/>
            <a:ext cx="1066800" cy="685800"/>
          </a:xfrm>
          <a:prstGeom prst="leftRightArrow">
            <a:avLst>
              <a:gd name="adj1" fmla="val 50000"/>
              <a:gd name="adj2" fmla="val 31111"/>
            </a:avLst>
          </a:prstGeom>
          <a:solidFill>
            <a:schemeClr val="bg1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Helvetica" charset="0"/>
            </a:endParaRPr>
          </a:p>
        </p:txBody>
      </p:sp>
      <p:sp>
        <p:nvSpPr>
          <p:cNvPr id="2" name="右箭头 1">
            <a:extLst>
              <a:ext uri="{FF2B5EF4-FFF2-40B4-BE49-F238E27FC236}">
                <a16:creationId xmlns:a16="http://schemas.microsoft.com/office/drawing/2014/main" id="{954C7207-ECEA-3398-FBE2-E095F967F72A}"/>
              </a:ext>
            </a:extLst>
          </p:cNvPr>
          <p:cNvSpPr/>
          <p:nvPr/>
        </p:nvSpPr>
        <p:spPr bwMode="auto">
          <a:xfrm>
            <a:off x="228600" y="3733800"/>
            <a:ext cx="533400" cy="762000"/>
          </a:xfrm>
          <a:prstGeom prst="rightArrow">
            <a:avLst/>
          </a:prstGeom>
          <a:solidFill>
            <a:srgbClr val="FFFFAA"/>
          </a:solidFill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kumimoji="1" lang="zh-CN" altLang="en-US" b="0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2331739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2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2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2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2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2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2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2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2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3" grpId="0" build="p" bldLvl="2"/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Helvetica" charset="0"/>
                <a:ea typeface="Gulim" charset="-127"/>
              </a:rPr>
              <a:t>Thread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Example: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ko-KR" dirty="0">
                <a:latin typeface="Helvetica" charset="0"/>
                <a:ea typeface="Gulim" charset="-127"/>
              </a:rPr>
              <a:t>Web Server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2514600"/>
            <a:ext cx="8607425" cy="41910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Multithreaded version: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FontTx/>
              <a:buNone/>
            </a:pPr>
            <a:r>
              <a:rPr lang="en-US" altLang="ko-KR" sz="2000" dirty="0" err="1">
                <a:latin typeface="Courier New" charset="0"/>
                <a:ea typeface="Gulim" charset="-127"/>
              </a:rPr>
              <a:t>serverLoop</a:t>
            </a:r>
            <a:r>
              <a:rPr lang="en-US" altLang="ko-KR" sz="2000" dirty="0">
                <a:latin typeface="Courier New" charset="0"/>
                <a:ea typeface="Gulim" charset="-127"/>
              </a:rPr>
              <a:t>() {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FontTx/>
              <a:buNone/>
            </a:pPr>
            <a:r>
              <a:rPr lang="en-US" altLang="ko-KR" sz="2000" dirty="0">
                <a:latin typeface="Courier New" charset="0"/>
                <a:ea typeface="Gulim" charset="-127"/>
              </a:rPr>
              <a:t>		  connection = </a:t>
            </a:r>
            <a:r>
              <a:rPr lang="en-US" altLang="ko-KR" sz="2000" dirty="0" err="1">
                <a:latin typeface="Courier New" charset="0"/>
                <a:ea typeface="Gulim" charset="-127"/>
              </a:rPr>
              <a:t>AcceptCon</a:t>
            </a:r>
            <a:r>
              <a:rPr lang="en-US" altLang="ko-KR" sz="2000" dirty="0">
                <a:latin typeface="Courier New" charset="0"/>
                <a:ea typeface="Gulim" charset="-127"/>
              </a:rPr>
              <a:t>();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FontTx/>
              <a:buNone/>
            </a:pPr>
            <a:r>
              <a:rPr lang="en-US" altLang="ko-KR" sz="2000" dirty="0">
                <a:latin typeface="Courier New" charset="0"/>
                <a:ea typeface="Gulim" charset="-127"/>
              </a:rPr>
              <a:t>		  </a:t>
            </a:r>
            <a:r>
              <a:rPr lang="en-US" altLang="ko-KR" sz="2000" dirty="0" err="1">
                <a:latin typeface="Courier New" charset="0"/>
                <a:ea typeface="Gulim" charset="-127"/>
              </a:rPr>
              <a:t>ThreadCreate</a:t>
            </a:r>
            <a:r>
              <a:rPr lang="en-US" altLang="ko-KR" sz="2000" dirty="0">
                <a:latin typeface="Courier New" charset="0"/>
                <a:ea typeface="Gulim" charset="-127"/>
              </a:rPr>
              <a:t>(</a:t>
            </a:r>
            <a:r>
              <a:rPr lang="en-US" altLang="ko-KR" sz="2000" dirty="0" err="1">
                <a:latin typeface="Courier New" charset="0"/>
                <a:ea typeface="Gulim" charset="-127"/>
              </a:rPr>
              <a:t>ServiceWebPage</a:t>
            </a:r>
            <a:r>
              <a:rPr lang="en-US" altLang="ko-KR" sz="2000" dirty="0">
                <a:latin typeface="Courier New" charset="0"/>
                <a:ea typeface="Gulim" charset="-127"/>
              </a:rPr>
              <a:t>(),connection);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buFontTx/>
              <a:buNone/>
            </a:pPr>
            <a:r>
              <a:rPr lang="en-US" altLang="ko-KR" sz="2000" dirty="0">
                <a:latin typeface="Courier New" charset="0"/>
                <a:ea typeface="Gulim" charset="-127"/>
              </a:rPr>
              <a:t>	}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Advantages of threaded version: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Can share file caches kept in memory, results of CGI scripts, other things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Threads are </a:t>
            </a:r>
            <a:r>
              <a:rPr lang="en-US" altLang="ko-KR" i="1" dirty="0">
                <a:latin typeface="Helvetica" charset="0"/>
                <a:ea typeface="Gulim" charset="-127"/>
              </a:rPr>
              <a:t>much</a:t>
            </a:r>
            <a:r>
              <a:rPr lang="en-US" altLang="ko-KR" dirty="0">
                <a:latin typeface="Helvetica" charset="0"/>
                <a:ea typeface="Gulim" charset="-127"/>
              </a:rPr>
              <a:t> cheaper to create than processes, so this has a lower per-request overhead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What if too many requests come in at once?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throughput sinks</a:t>
            </a:r>
          </a:p>
          <a:p>
            <a:pPr marL="457200" lvl="1" indent="0">
              <a:lnSpc>
                <a:spcPct val="85000"/>
              </a:lnSpc>
              <a:spcBef>
                <a:spcPct val="20000"/>
              </a:spcBef>
              <a:buNone/>
            </a:pPr>
            <a:endParaRPr lang="en-US" altLang="ko-KR" dirty="0">
              <a:latin typeface="Helvetica" charset="0"/>
              <a:ea typeface="Gulim" charset="-127"/>
            </a:endParaRPr>
          </a:p>
        </p:txBody>
      </p:sp>
      <p:grpSp>
        <p:nvGrpSpPr>
          <p:cNvPr id="101379" name="Group 5"/>
          <p:cNvGrpSpPr>
            <a:grpSpLocks/>
          </p:cNvGrpSpPr>
          <p:nvPr/>
        </p:nvGrpSpPr>
        <p:grpSpPr bwMode="auto">
          <a:xfrm>
            <a:off x="2338388" y="685800"/>
            <a:ext cx="4595812" cy="2514600"/>
            <a:chOff x="1056" y="480"/>
            <a:chExt cx="3690" cy="1866"/>
          </a:xfrm>
        </p:grpSpPr>
        <p:sp>
          <p:nvSpPr>
            <p:cNvPr id="101380" name="tower"/>
            <p:cNvSpPr>
              <a:spLocks noEditPoints="1" noChangeArrowheads="1"/>
            </p:cNvSpPr>
            <p:nvPr/>
          </p:nvSpPr>
          <p:spPr bwMode="auto">
            <a:xfrm>
              <a:off x="4176" y="480"/>
              <a:ext cx="570" cy="11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455 w 21600"/>
                <a:gd name="T31" fmla="*/ 22547 h 21600"/>
                <a:gd name="T32" fmla="*/ 21486 w 21600"/>
                <a:gd name="T33" fmla="*/ 27000 h 2160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1600" h="21600" extrusionOk="0">
                  <a:moveTo>
                    <a:pt x="0" y="2184"/>
                  </a:moveTo>
                  <a:lnTo>
                    <a:pt x="6664" y="0"/>
                  </a:lnTo>
                  <a:lnTo>
                    <a:pt x="10800" y="0"/>
                  </a:lnTo>
                  <a:lnTo>
                    <a:pt x="21600" y="0"/>
                  </a:lnTo>
                  <a:lnTo>
                    <a:pt x="21600" y="11649"/>
                  </a:lnTo>
                  <a:lnTo>
                    <a:pt x="21600" y="19416"/>
                  </a:lnTo>
                  <a:lnTo>
                    <a:pt x="15166" y="21600"/>
                  </a:lnTo>
                  <a:lnTo>
                    <a:pt x="10570" y="21600"/>
                  </a:lnTo>
                  <a:lnTo>
                    <a:pt x="0" y="21600"/>
                  </a:lnTo>
                  <a:lnTo>
                    <a:pt x="0" y="11528"/>
                  </a:lnTo>
                  <a:lnTo>
                    <a:pt x="0" y="2184"/>
                  </a:lnTo>
                  <a:close/>
                </a:path>
                <a:path w="21600" h="21600" extrusionOk="0">
                  <a:moveTo>
                    <a:pt x="0" y="2184"/>
                  </a:moveTo>
                  <a:lnTo>
                    <a:pt x="0" y="2184"/>
                  </a:lnTo>
                  <a:lnTo>
                    <a:pt x="14706" y="2184"/>
                  </a:lnTo>
                  <a:lnTo>
                    <a:pt x="21600" y="0"/>
                  </a:lnTo>
                  <a:moveTo>
                    <a:pt x="0" y="2184"/>
                  </a:moveTo>
                  <a:lnTo>
                    <a:pt x="14706" y="2184"/>
                  </a:lnTo>
                  <a:lnTo>
                    <a:pt x="14706" y="5339"/>
                  </a:lnTo>
                  <a:lnTo>
                    <a:pt x="14706" y="17474"/>
                  </a:lnTo>
                  <a:lnTo>
                    <a:pt x="14706" y="21600"/>
                  </a:lnTo>
                  <a:moveTo>
                    <a:pt x="1149" y="3034"/>
                  </a:moveTo>
                  <a:lnTo>
                    <a:pt x="13328" y="3034"/>
                  </a:lnTo>
                  <a:lnTo>
                    <a:pt x="13328" y="3519"/>
                  </a:lnTo>
                  <a:lnTo>
                    <a:pt x="1149" y="3519"/>
                  </a:lnTo>
                  <a:lnTo>
                    <a:pt x="1149" y="3034"/>
                  </a:lnTo>
                  <a:moveTo>
                    <a:pt x="1149" y="4490"/>
                  </a:moveTo>
                  <a:lnTo>
                    <a:pt x="13328" y="4490"/>
                  </a:lnTo>
                  <a:lnTo>
                    <a:pt x="13328" y="4854"/>
                  </a:lnTo>
                  <a:lnTo>
                    <a:pt x="1149" y="4854"/>
                  </a:lnTo>
                  <a:lnTo>
                    <a:pt x="1149" y="4490"/>
                  </a:lnTo>
                  <a:moveTo>
                    <a:pt x="1149" y="5946"/>
                  </a:moveTo>
                  <a:lnTo>
                    <a:pt x="13328" y="5946"/>
                  </a:lnTo>
                  <a:lnTo>
                    <a:pt x="13328" y="6310"/>
                  </a:lnTo>
                  <a:lnTo>
                    <a:pt x="1149" y="6310"/>
                  </a:lnTo>
                  <a:lnTo>
                    <a:pt x="1149" y="5946"/>
                  </a:lnTo>
                </a:path>
              </a:pathLst>
            </a:custGeom>
            <a:solidFill>
              <a:srgbClr val="FF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1" name="laptop"/>
            <p:cNvSpPr>
              <a:spLocks noEditPoints="1" noChangeArrowheads="1"/>
            </p:cNvSpPr>
            <p:nvPr/>
          </p:nvSpPr>
          <p:spPr bwMode="auto">
            <a:xfrm>
              <a:off x="1056" y="672"/>
              <a:ext cx="912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4453 w 21600"/>
                <a:gd name="T25" fmla="*/ 1864 h 21600"/>
                <a:gd name="T26" fmla="*/ 17313 w 21600"/>
                <a:gd name="T27" fmla="*/ 1231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2" name="Freeform 8"/>
            <p:cNvSpPr>
              <a:spLocks/>
            </p:cNvSpPr>
            <p:nvPr/>
          </p:nvSpPr>
          <p:spPr bwMode="auto">
            <a:xfrm>
              <a:off x="2064" y="768"/>
              <a:ext cx="2112" cy="152"/>
            </a:xfrm>
            <a:custGeom>
              <a:avLst/>
              <a:gdLst>
                <a:gd name="T0" fmla="*/ 0 w 1824"/>
                <a:gd name="T1" fmla="*/ 1 h 296"/>
                <a:gd name="T2" fmla="*/ 219377 w 1824"/>
                <a:gd name="T3" fmla="*/ 1 h 296"/>
                <a:gd name="T4" fmla="*/ 554603 w 1824"/>
                <a:gd name="T5" fmla="*/ 1 h 296"/>
                <a:gd name="T6" fmla="*/ 0 60000 65536"/>
                <a:gd name="T7" fmla="*/ 0 60000 65536"/>
                <a:gd name="T8" fmla="*/ 0 60000 65536"/>
                <a:gd name="T9" fmla="*/ 0 w 1824"/>
                <a:gd name="T10" fmla="*/ 0 h 296"/>
                <a:gd name="T11" fmla="*/ 1824 w 182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4" h="296">
                  <a:moveTo>
                    <a:pt x="0" y="248"/>
                  </a:moveTo>
                  <a:cubicBezTo>
                    <a:pt x="208" y="124"/>
                    <a:pt x="416" y="0"/>
                    <a:pt x="720" y="8"/>
                  </a:cubicBezTo>
                  <a:cubicBezTo>
                    <a:pt x="1024" y="16"/>
                    <a:pt x="1424" y="156"/>
                    <a:pt x="1824" y="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06537" name="Document"/>
            <p:cNvSpPr>
              <a:spLocks noEditPoints="1" noChangeArrowheads="1"/>
            </p:cNvSpPr>
            <p:nvPr/>
          </p:nvSpPr>
          <p:spPr bwMode="auto">
            <a:xfrm>
              <a:off x="2111" y="912"/>
              <a:ext cx="427" cy="666"/>
            </a:xfrm>
            <a:custGeom>
              <a:avLst/>
              <a:gdLst>
                <a:gd name="T0" fmla="*/ 4 w 21600"/>
                <a:gd name="T1" fmla="*/ 21 h 21600"/>
                <a:gd name="T2" fmla="*/ 0 w 21600"/>
                <a:gd name="T3" fmla="*/ 10 h 21600"/>
                <a:gd name="T4" fmla="*/ 4 w 21600"/>
                <a:gd name="T5" fmla="*/ 0 h 21600"/>
                <a:gd name="T6" fmla="*/ 8 w 21600"/>
                <a:gd name="T7" fmla="*/ 10 h 21600"/>
                <a:gd name="T8" fmla="*/ 4 w 21600"/>
                <a:gd name="T9" fmla="*/ 21 h 21600"/>
                <a:gd name="T10" fmla="*/ 0 w 21600"/>
                <a:gd name="T11" fmla="*/ 0 h 21600"/>
                <a:gd name="T12" fmla="*/ 8 w 21600"/>
                <a:gd name="T13" fmla="*/ 0 h 21600"/>
                <a:gd name="T14" fmla="*/ 8 w 21600"/>
                <a:gd name="T15" fmla="*/ 21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961 w 21600"/>
                <a:gd name="T25" fmla="*/ 811 h 21600"/>
                <a:gd name="T26" fmla="*/ 20639 w 21600"/>
                <a:gd name="T27" fmla="*/ 16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rgbClr val="000000">
                  <a:alpha val="74997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ea typeface="MS PGothic" charset="0"/>
                <a:cs typeface="MS PGothic" charset="0"/>
              </a:endParaRPr>
            </a:p>
          </p:txBody>
        </p:sp>
        <p:sp>
          <p:nvSpPr>
            <p:cNvPr id="101384" name="laptop"/>
            <p:cNvSpPr>
              <a:spLocks noEditPoints="1" noChangeArrowheads="1"/>
            </p:cNvSpPr>
            <p:nvPr/>
          </p:nvSpPr>
          <p:spPr bwMode="auto">
            <a:xfrm>
              <a:off x="2976" y="1632"/>
              <a:ext cx="912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4453 w 21600"/>
                <a:gd name="T25" fmla="*/ 1864 h 21600"/>
                <a:gd name="T26" fmla="*/ 17313 w 21600"/>
                <a:gd name="T27" fmla="*/ 1231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385" name="Freeform 11"/>
            <p:cNvSpPr>
              <a:spLocks/>
            </p:cNvSpPr>
            <p:nvPr/>
          </p:nvSpPr>
          <p:spPr bwMode="auto">
            <a:xfrm>
              <a:off x="3744" y="1296"/>
              <a:ext cx="432" cy="384"/>
            </a:xfrm>
            <a:custGeom>
              <a:avLst/>
              <a:gdLst>
                <a:gd name="T0" fmla="*/ 0 w 432"/>
                <a:gd name="T1" fmla="*/ 384 h 384"/>
                <a:gd name="T2" fmla="*/ 144 w 432"/>
                <a:gd name="T3" fmla="*/ 96 h 384"/>
                <a:gd name="T4" fmla="*/ 432 w 432"/>
                <a:gd name="T5" fmla="*/ 0 h 384"/>
                <a:gd name="T6" fmla="*/ 0 60000 65536"/>
                <a:gd name="T7" fmla="*/ 0 60000 65536"/>
                <a:gd name="T8" fmla="*/ 0 60000 65536"/>
                <a:gd name="T9" fmla="*/ 0 w 432"/>
                <a:gd name="T10" fmla="*/ 0 h 384"/>
                <a:gd name="T11" fmla="*/ 432 w 43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384">
                  <a:moveTo>
                    <a:pt x="0" y="384"/>
                  </a:moveTo>
                  <a:cubicBezTo>
                    <a:pt x="36" y="272"/>
                    <a:pt x="72" y="160"/>
                    <a:pt x="144" y="96"/>
                  </a:cubicBezTo>
                  <a:cubicBezTo>
                    <a:pt x="216" y="32"/>
                    <a:pt x="324" y="16"/>
                    <a:pt x="43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406540" name="Document"/>
            <p:cNvSpPr>
              <a:spLocks noEditPoints="1" noChangeArrowheads="1"/>
            </p:cNvSpPr>
            <p:nvPr/>
          </p:nvSpPr>
          <p:spPr bwMode="auto">
            <a:xfrm>
              <a:off x="3840" y="1680"/>
              <a:ext cx="426" cy="666"/>
            </a:xfrm>
            <a:custGeom>
              <a:avLst/>
              <a:gdLst>
                <a:gd name="T0" fmla="*/ 4 w 21600"/>
                <a:gd name="T1" fmla="*/ 21 h 21600"/>
                <a:gd name="T2" fmla="*/ 0 w 21600"/>
                <a:gd name="T3" fmla="*/ 10 h 21600"/>
                <a:gd name="T4" fmla="*/ 4 w 21600"/>
                <a:gd name="T5" fmla="*/ 0 h 21600"/>
                <a:gd name="T6" fmla="*/ 8 w 21600"/>
                <a:gd name="T7" fmla="*/ 10 h 21600"/>
                <a:gd name="T8" fmla="*/ 4 w 21600"/>
                <a:gd name="T9" fmla="*/ 21 h 21600"/>
                <a:gd name="T10" fmla="*/ 0 w 21600"/>
                <a:gd name="T11" fmla="*/ 0 h 21600"/>
                <a:gd name="T12" fmla="*/ 8 w 21600"/>
                <a:gd name="T13" fmla="*/ 0 h 21600"/>
                <a:gd name="T14" fmla="*/ 8 w 21600"/>
                <a:gd name="T15" fmla="*/ 21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963 w 21600"/>
                <a:gd name="T25" fmla="*/ 811 h 21600"/>
                <a:gd name="T26" fmla="*/ 20637 w 21600"/>
                <a:gd name="T27" fmla="*/ 16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757" y="21632"/>
                  </a:moveTo>
                  <a:lnTo>
                    <a:pt x="5187" y="21632"/>
                  </a:lnTo>
                  <a:lnTo>
                    <a:pt x="85" y="17509"/>
                  </a:lnTo>
                  <a:lnTo>
                    <a:pt x="85" y="10849"/>
                  </a:lnTo>
                  <a:lnTo>
                    <a:pt x="85" y="81"/>
                  </a:lnTo>
                  <a:lnTo>
                    <a:pt x="10757" y="81"/>
                  </a:lnTo>
                  <a:lnTo>
                    <a:pt x="21706" y="81"/>
                  </a:lnTo>
                  <a:lnTo>
                    <a:pt x="21706" y="10652"/>
                  </a:lnTo>
                  <a:lnTo>
                    <a:pt x="21706" y="21632"/>
                  </a:lnTo>
                  <a:lnTo>
                    <a:pt x="10757" y="21632"/>
                  </a:lnTo>
                  <a:close/>
                </a:path>
                <a:path w="21600" h="21600">
                  <a:moveTo>
                    <a:pt x="85" y="17509"/>
                  </a:moveTo>
                  <a:lnTo>
                    <a:pt x="5187" y="17509"/>
                  </a:lnTo>
                  <a:lnTo>
                    <a:pt x="5187" y="21632"/>
                  </a:lnTo>
                  <a:lnTo>
                    <a:pt x="85" y="17509"/>
                  </a:lnTo>
                  <a:close/>
                </a:path>
              </a:pathLst>
            </a:custGeom>
            <a:solidFill>
              <a:srgbClr val="D8EBB3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63500" dist="107763" dir="2700000" algn="ctr" rotWithShape="0">
                <a:srgbClr val="000000">
                  <a:alpha val="74997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ea typeface="MS PGothic" charset="0"/>
                <a:cs typeface="MS PGothic" charset="0"/>
              </a:endParaRPr>
            </a:p>
          </p:txBody>
        </p:sp>
        <p:sp>
          <p:nvSpPr>
            <p:cNvPr id="101387" name="Freeform 13"/>
            <p:cNvSpPr>
              <a:spLocks/>
            </p:cNvSpPr>
            <p:nvPr/>
          </p:nvSpPr>
          <p:spPr bwMode="auto">
            <a:xfrm rot="10800000">
              <a:off x="3744" y="1392"/>
              <a:ext cx="432" cy="384"/>
            </a:xfrm>
            <a:custGeom>
              <a:avLst/>
              <a:gdLst>
                <a:gd name="T0" fmla="*/ 0 w 432"/>
                <a:gd name="T1" fmla="*/ 384 h 384"/>
                <a:gd name="T2" fmla="*/ 144 w 432"/>
                <a:gd name="T3" fmla="*/ 96 h 384"/>
                <a:gd name="T4" fmla="*/ 432 w 432"/>
                <a:gd name="T5" fmla="*/ 0 h 384"/>
                <a:gd name="T6" fmla="*/ 0 60000 65536"/>
                <a:gd name="T7" fmla="*/ 0 60000 65536"/>
                <a:gd name="T8" fmla="*/ 0 60000 65536"/>
                <a:gd name="T9" fmla="*/ 0 w 432"/>
                <a:gd name="T10" fmla="*/ 0 h 384"/>
                <a:gd name="T11" fmla="*/ 432 w 432"/>
                <a:gd name="T12" fmla="*/ 384 h 3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" h="384">
                  <a:moveTo>
                    <a:pt x="0" y="384"/>
                  </a:moveTo>
                  <a:cubicBezTo>
                    <a:pt x="36" y="272"/>
                    <a:pt x="72" y="160"/>
                    <a:pt x="144" y="96"/>
                  </a:cubicBezTo>
                  <a:cubicBezTo>
                    <a:pt x="216" y="32"/>
                    <a:pt x="324" y="16"/>
                    <a:pt x="432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01388" name="Freeform 14"/>
            <p:cNvSpPr>
              <a:spLocks/>
            </p:cNvSpPr>
            <p:nvPr/>
          </p:nvSpPr>
          <p:spPr bwMode="auto">
            <a:xfrm rot="10800000">
              <a:off x="2016" y="1008"/>
              <a:ext cx="2112" cy="144"/>
            </a:xfrm>
            <a:custGeom>
              <a:avLst/>
              <a:gdLst>
                <a:gd name="T0" fmla="*/ 0 w 1824"/>
                <a:gd name="T1" fmla="*/ 0 h 296"/>
                <a:gd name="T2" fmla="*/ 219377 w 1824"/>
                <a:gd name="T3" fmla="*/ 0 h 296"/>
                <a:gd name="T4" fmla="*/ 554603 w 1824"/>
                <a:gd name="T5" fmla="*/ 0 h 296"/>
                <a:gd name="T6" fmla="*/ 0 60000 65536"/>
                <a:gd name="T7" fmla="*/ 0 60000 65536"/>
                <a:gd name="T8" fmla="*/ 0 60000 65536"/>
                <a:gd name="T9" fmla="*/ 0 w 1824"/>
                <a:gd name="T10" fmla="*/ 0 h 296"/>
                <a:gd name="T11" fmla="*/ 1824 w 1824"/>
                <a:gd name="T12" fmla="*/ 296 h 2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4" h="296">
                  <a:moveTo>
                    <a:pt x="0" y="248"/>
                  </a:moveTo>
                  <a:cubicBezTo>
                    <a:pt x="208" y="124"/>
                    <a:pt x="416" y="0"/>
                    <a:pt x="720" y="8"/>
                  </a:cubicBezTo>
                  <a:cubicBezTo>
                    <a:pt x="1024" y="16"/>
                    <a:pt x="1424" y="156"/>
                    <a:pt x="1824" y="29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26097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3152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Helvetica" charset="0"/>
                <a:ea typeface="Gulim" charset="-127"/>
              </a:rPr>
              <a:t>Thread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Example: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br>
              <a:rPr lang="en-US" altLang="zh-CN" dirty="0">
                <a:latin typeface="Helvetica" charset="0"/>
                <a:ea typeface="Gulim" charset="-127"/>
              </a:rPr>
            </a:br>
            <a:r>
              <a:rPr lang="en-US" altLang="zh-CN" dirty="0">
                <a:latin typeface="Helvetica" charset="0"/>
                <a:ea typeface="Gulim" charset="-127"/>
              </a:rPr>
              <a:t>Web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server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with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ko-KR" dirty="0">
                <a:latin typeface="Helvetica" charset="0"/>
                <a:ea typeface="Gulim" charset="-127"/>
              </a:rPr>
              <a:t>Thread Pools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683625" cy="28956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Problem with previous version: Unbounded Threads</a:t>
            </a:r>
          </a:p>
          <a:p>
            <a:pPr eaLnBrk="1" hangingPunct="1">
              <a:lnSpc>
                <a:spcPct val="85000"/>
              </a:lnSpc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-127"/>
              </a:rPr>
              <a:t>Instead, allocate a bounded “pool” of threads, representing the maximum level of multiprogramming</a:t>
            </a:r>
          </a:p>
          <a:p>
            <a:pPr eaLnBrk="1" hangingPunct="1">
              <a:lnSpc>
                <a:spcPct val="85000"/>
              </a:lnSpc>
              <a:spcBef>
                <a:spcPct val="25000"/>
              </a:spcBef>
              <a:buFontTx/>
              <a:buNone/>
            </a:pPr>
            <a:r>
              <a:rPr lang="en-US" altLang="ko-KR" sz="2000" dirty="0">
                <a:latin typeface="Courier New" charset="0"/>
                <a:ea typeface="Gulim" charset="-127"/>
              </a:rPr>
              <a:t>		</a:t>
            </a:r>
          </a:p>
        </p:txBody>
      </p:sp>
      <p:sp>
        <p:nvSpPr>
          <p:cNvPr id="103427" name="Text Box 23"/>
          <p:cNvSpPr txBox="1">
            <a:spLocks noChangeArrowheads="1"/>
          </p:cNvSpPr>
          <p:nvPr/>
        </p:nvSpPr>
        <p:spPr bwMode="auto">
          <a:xfrm>
            <a:off x="152400" y="1447800"/>
            <a:ext cx="518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>
              <a:spcBef>
                <a:spcPct val="50000"/>
              </a:spcBef>
            </a:pPr>
            <a:endParaRPr lang="zh-CN" altLang="zh-CN" sz="1800"/>
          </a:p>
        </p:txBody>
      </p:sp>
      <p:sp>
        <p:nvSpPr>
          <p:cNvPr id="408600" name="Text Box 24"/>
          <p:cNvSpPr txBox="1">
            <a:spLocks noChangeArrowheads="1"/>
          </p:cNvSpPr>
          <p:nvPr/>
        </p:nvSpPr>
        <p:spPr bwMode="auto">
          <a:xfrm>
            <a:off x="457200" y="4267200"/>
            <a:ext cx="4267200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Courier New" charset="0"/>
              </a:rPr>
              <a:t>master() {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allocThreads(slave,queue);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while(TRUE) {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con=AcceptCon();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Enqueue(queue,con);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wakeUp(queue);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}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}</a:t>
            </a:r>
          </a:p>
        </p:txBody>
      </p:sp>
      <p:sp>
        <p:nvSpPr>
          <p:cNvPr id="408601" name="Text Box 25"/>
          <p:cNvSpPr txBox="1">
            <a:spLocks noChangeArrowheads="1"/>
          </p:cNvSpPr>
          <p:nvPr/>
        </p:nvSpPr>
        <p:spPr bwMode="auto">
          <a:xfrm>
            <a:off x="4724400" y="4152900"/>
            <a:ext cx="4267200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1800">
                <a:latin typeface="Courier New" charset="0"/>
              </a:rPr>
              <a:t>slave(queue) {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while(TRUE) {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con=Dequeue(queue);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if (con==null)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   sleepOn(queue);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else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      ServiceWebPage(con);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   }</a:t>
            </a:r>
            <a:br>
              <a:rPr lang="en-US" altLang="zh-CN" sz="1800">
                <a:latin typeface="Courier New" charset="0"/>
              </a:rPr>
            </a:br>
            <a:r>
              <a:rPr lang="en-US" altLang="zh-CN" sz="1800">
                <a:latin typeface="Courier New" charset="0"/>
              </a:rPr>
              <a:t>}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1219200" y="2209800"/>
            <a:ext cx="6172200" cy="1893888"/>
            <a:chOff x="624" y="1392"/>
            <a:chExt cx="3888" cy="1193"/>
          </a:xfrm>
        </p:grpSpPr>
        <p:sp>
          <p:nvSpPr>
            <p:cNvPr id="103431" name="Rectangle 14"/>
            <p:cNvSpPr>
              <a:spLocks noChangeArrowheads="1"/>
            </p:cNvSpPr>
            <p:nvPr/>
          </p:nvSpPr>
          <p:spPr bwMode="auto">
            <a:xfrm>
              <a:off x="2496" y="1488"/>
              <a:ext cx="528" cy="672"/>
            </a:xfrm>
            <a:prstGeom prst="rect">
              <a:avLst/>
            </a:prstGeom>
            <a:solidFill>
              <a:srgbClr val="00FF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r>
                <a:rPr lang="en-US" altLang="zh-CN" sz="1800">
                  <a:latin typeface="Helvetica Light" charset="0"/>
                </a:rPr>
                <a:t>Master</a:t>
              </a:r>
            </a:p>
            <a:p>
              <a:r>
                <a:rPr lang="en-US" altLang="zh-CN" sz="1800">
                  <a:latin typeface="Helvetica Light" charset="0"/>
                </a:rPr>
                <a:t>Thread</a:t>
              </a:r>
            </a:p>
          </p:txBody>
        </p:sp>
        <p:sp>
          <p:nvSpPr>
            <p:cNvPr id="103432" name="Text Box 15"/>
            <p:cNvSpPr txBox="1">
              <a:spLocks noChangeArrowheads="1"/>
            </p:cNvSpPr>
            <p:nvPr/>
          </p:nvSpPr>
          <p:spPr bwMode="auto">
            <a:xfrm>
              <a:off x="3552" y="2352"/>
              <a:ext cx="89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r>
                <a:rPr lang="en-US" altLang="zh-CN" sz="1800">
                  <a:latin typeface="Helvetica Light" charset="0"/>
                </a:rPr>
                <a:t>Thread Pool</a:t>
              </a:r>
            </a:p>
          </p:txBody>
        </p:sp>
        <p:sp>
          <p:nvSpPr>
            <p:cNvPr id="103433" name="laptop"/>
            <p:cNvSpPr>
              <a:spLocks noEditPoints="1" noChangeArrowheads="1"/>
            </p:cNvSpPr>
            <p:nvPr/>
          </p:nvSpPr>
          <p:spPr bwMode="auto">
            <a:xfrm>
              <a:off x="624" y="1728"/>
              <a:ext cx="912" cy="6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4453 w 21600"/>
                <a:gd name="T25" fmla="*/ 1864 h 21600"/>
                <a:gd name="T26" fmla="*/ 17313 w 21600"/>
                <a:gd name="T27" fmla="*/ 12311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solidFill>
              <a:srgbClr val="00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4" name="Freeform 19"/>
            <p:cNvSpPr>
              <a:spLocks/>
            </p:cNvSpPr>
            <p:nvPr/>
          </p:nvSpPr>
          <p:spPr bwMode="auto">
            <a:xfrm>
              <a:off x="1488" y="2064"/>
              <a:ext cx="2304" cy="416"/>
            </a:xfrm>
            <a:custGeom>
              <a:avLst/>
              <a:gdLst>
                <a:gd name="T0" fmla="*/ 62855 w 2112"/>
                <a:gd name="T1" fmla="*/ 0 h 416"/>
                <a:gd name="T2" fmla="*/ 52851 w 2112"/>
                <a:gd name="T3" fmla="*/ 336 h 416"/>
                <a:gd name="T4" fmla="*/ 28567 w 2112"/>
                <a:gd name="T5" fmla="*/ 384 h 416"/>
                <a:gd name="T6" fmla="*/ 0 w 2112"/>
                <a:gd name="T7" fmla="*/ 144 h 4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2"/>
                <a:gd name="T13" fmla="*/ 0 h 416"/>
                <a:gd name="T14" fmla="*/ 2112 w 2112"/>
                <a:gd name="T15" fmla="*/ 416 h 4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2" h="416">
                  <a:moveTo>
                    <a:pt x="2112" y="0"/>
                  </a:moveTo>
                  <a:cubicBezTo>
                    <a:pt x="2040" y="136"/>
                    <a:pt x="1968" y="272"/>
                    <a:pt x="1776" y="336"/>
                  </a:cubicBezTo>
                  <a:cubicBezTo>
                    <a:pt x="1584" y="400"/>
                    <a:pt x="1256" y="416"/>
                    <a:pt x="960" y="384"/>
                  </a:cubicBezTo>
                  <a:cubicBezTo>
                    <a:pt x="664" y="352"/>
                    <a:pt x="332" y="248"/>
                    <a:pt x="0" y="144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03435" name="Freeform 20"/>
            <p:cNvSpPr>
              <a:spLocks/>
            </p:cNvSpPr>
            <p:nvPr/>
          </p:nvSpPr>
          <p:spPr bwMode="auto">
            <a:xfrm>
              <a:off x="1488" y="1680"/>
              <a:ext cx="1008" cy="256"/>
            </a:xfrm>
            <a:custGeom>
              <a:avLst/>
              <a:gdLst>
                <a:gd name="T0" fmla="*/ 0 w 1008"/>
                <a:gd name="T1" fmla="*/ 256 h 256"/>
                <a:gd name="T2" fmla="*/ 336 w 1008"/>
                <a:gd name="T3" fmla="*/ 16 h 256"/>
                <a:gd name="T4" fmla="*/ 1008 w 1008"/>
                <a:gd name="T5" fmla="*/ 160 h 256"/>
                <a:gd name="T6" fmla="*/ 0 60000 65536"/>
                <a:gd name="T7" fmla="*/ 0 60000 65536"/>
                <a:gd name="T8" fmla="*/ 0 60000 65536"/>
                <a:gd name="T9" fmla="*/ 0 w 1008"/>
                <a:gd name="T10" fmla="*/ 0 h 256"/>
                <a:gd name="T11" fmla="*/ 1008 w 1008"/>
                <a:gd name="T12" fmla="*/ 256 h 2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08" h="256">
                  <a:moveTo>
                    <a:pt x="0" y="256"/>
                  </a:moveTo>
                  <a:cubicBezTo>
                    <a:pt x="84" y="144"/>
                    <a:pt x="168" y="32"/>
                    <a:pt x="336" y="16"/>
                  </a:cubicBezTo>
                  <a:cubicBezTo>
                    <a:pt x="504" y="0"/>
                    <a:pt x="756" y="80"/>
                    <a:pt x="1008" y="16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03436" name="Line 21"/>
            <p:cNvSpPr>
              <a:spLocks noChangeShapeType="1"/>
            </p:cNvSpPr>
            <p:nvPr/>
          </p:nvSpPr>
          <p:spPr bwMode="auto">
            <a:xfrm>
              <a:off x="3024" y="1824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03437" name="Rectangle 26"/>
            <p:cNvSpPr>
              <a:spLocks noChangeArrowheads="1"/>
            </p:cNvSpPr>
            <p:nvPr/>
          </p:nvSpPr>
          <p:spPr bwMode="auto">
            <a:xfrm flipV="1">
              <a:off x="3312" y="1584"/>
              <a:ext cx="192" cy="528"/>
            </a:xfrm>
            <a:prstGeom prst="rect">
              <a:avLst/>
            </a:prstGeom>
            <a:solidFill>
              <a:srgbClr val="FF66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r>
                <a:rPr lang="en-US" altLang="zh-CN" sz="1800">
                  <a:latin typeface="Helvetica Light" charset="0"/>
                </a:rPr>
                <a:t>queue</a:t>
              </a:r>
            </a:p>
          </p:txBody>
        </p:sp>
        <p:grpSp>
          <p:nvGrpSpPr>
            <p:cNvPr id="103438" name="Group 16"/>
            <p:cNvGrpSpPr>
              <a:grpSpLocks/>
            </p:cNvGrpSpPr>
            <p:nvPr/>
          </p:nvGrpSpPr>
          <p:grpSpPr bwMode="auto">
            <a:xfrm>
              <a:off x="3504" y="1392"/>
              <a:ext cx="1008" cy="960"/>
              <a:chOff x="2784" y="624"/>
              <a:chExt cx="1008" cy="960"/>
            </a:xfrm>
          </p:grpSpPr>
          <p:sp>
            <p:nvSpPr>
              <p:cNvPr id="103439" name="Oval 4"/>
              <p:cNvSpPr>
                <a:spLocks noChangeArrowheads="1"/>
              </p:cNvSpPr>
              <p:nvPr/>
            </p:nvSpPr>
            <p:spPr bwMode="auto">
              <a:xfrm>
                <a:off x="2784" y="624"/>
                <a:ext cx="1008" cy="960"/>
              </a:xfrm>
              <a:prstGeom prst="ellipse">
                <a:avLst/>
              </a:prstGeom>
              <a:solidFill>
                <a:srgbClr val="FF66CC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eaVert" wrap="none" anchor="ctr"/>
              <a:lstStyle>
                <a:lvl1pPr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1pPr>
                <a:lvl2pPr marL="742950" indent="-28575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2pPr>
                <a:lvl3pPr marL="11430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3pPr>
                <a:lvl4pPr marL="16002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4pPr>
                <a:lvl5pPr marL="2057400" indent="-228600"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Comic Sans MS" charset="0"/>
                    <a:ea typeface="MS PGothic" charset="-128"/>
                  </a:defRPr>
                </a:lvl9pPr>
              </a:lstStyle>
              <a:p>
                <a:endParaRPr lang="zh-CN" altLang="zh-CN" sz="1800">
                  <a:latin typeface="Helvetica Light" charset="0"/>
                </a:endParaRPr>
              </a:p>
            </p:txBody>
          </p:sp>
          <p:sp>
            <p:nvSpPr>
              <p:cNvPr id="103440" name="Freeform 6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3043" y="837"/>
                <a:ext cx="121" cy="173"/>
              </a:xfrm>
              <a:custGeom>
                <a:avLst/>
                <a:gdLst>
                  <a:gd name="T0" fmla="*/ 0 w 535"/>
                  <a:gd name="T1" fmla="*/ 0 h 765"/>
                  <a:gd name="T2" fmla="*/ 0 w 535"/>
                  <a:gd name="T3" fmla="*/ 0 h 765"/>
                  <a:gd name="T4" fmla="*/ 0 w 535"/>
                  <a:gd name="T5" fmla="*/ 0 h 765"/>
                  <a:gd name="T6" fmla="*/ 0 w 535"/>
                  <a:gd name="T7" fmla="*/ 0 h 765"/>
                  <a:gd name="T8" fmla="*/ 0 w 535"/>
                  <a:gd name="T9" fmla="*/ 0 h 765"/>
                  <a:gd name="T10" fmla="*/ 0 w 535"/>
                  <a:gd name="T11" fmla="*/ 0 h 765"/>
                  <a:gd name="T12" fmla="*/ 0 w 535"/>
                  <a:gd name="T13" fmla="*/ 0 h 765"/>
                  <a:gd name="T14" fmla="*/ 0 w 535"/>
                  <a:gd name="T15" fmla="*/ 0 h 765"/>
                  <a:gd name="T16" fmla="*/ 0 w 535"/>
                  <a:gd name="T17" fmla="*/ 0 h 765"/>
                  <a:gd name="T18" fmla="*/ 0 w 535"/>
                  <a:gd name="T19" fmla="*/ 0 h 765"/>
                  <a:gd name="T20" fmla="*/ 0 w 535"/>
                  <a:gd name="T21" fmla="*/ 0 h 765"/>
                  <a:gd name="T22" fmla="*/ 0 w 535"/>
                  <a:gd name="T23" fmla="*/ 0 h 765"/>
                  <a:gd name="T24" fmla="*/ 0 w 535"/>
                  <a:gd name="T25" fmla="*/ 0 h 765"/>
                  <a:gd name="T26" fmla="*/ 0 w 535"/>
                  <a:gd name="T27" fmla="*/ 0 h 765"/>
                  <a:gd name="T28" fmla="*/ 0 w 535"/>
                  <a:gd name="T29" fmla="*/ 0 h 765"/>
                  <a:gd name="T30" fmla="*/ 0 w 535"/>
                  <a:gd name="T31" fmla="*/ 0 h 76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35"/>
                  <a:gd name="T49" fmla="*/ 0 h 765"/>
                  <a:gd name="T50" fmla="*/ 535 w 535"/>
                  <a:gd name="T51" fmla="*/ 765 h 76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35" h="765" extrusionOk="0">
                    <a:moveTo>
                      <a:pt x="534" y="86"/>
                    </a:moveTo>
                    <a:cubicBezTo>
                      <a:pt x="512" y="70"/>
                      <a:pt x="490" y="51"/>
                      <a:pt x="461" y="41"/>
                    </a:cubicBezTo>
                    <a:cubicBezTo>
                      <a:pt x="428" y="30"/>
                      <a:pt x="389" y="20"/>
                      <a:pt x="355" y="14"/>
                    </a:cubicBezTo>
                    <a:cubicBezTo>
                      <a:pt x="311" y="6"/>
                      <a:pt x="266" y="5"/>
                      <a:pt x="221" y="2"/>
                    </a:cubicBezTo>
                    <a:cubicBezTo>
                      <a:pt x="164" y="-2"/>
                      <a:pt x="103" y="-2"/>
                      <a:pt x="47" y="9"/>
                    </a:cubicBezTo>
                    <a:cubicBezTo>
                      <a:pt x="29" y="12"/>
                      <a:pt x="17" y="19"/>
                      <a:pt x="0" y="25"/>
                    </a:cubicBezTo>
                    <a:cubicBezTo>
                      <a:pt x="18" y="55"/>
                      <a:pt x="40" y="67"/>
                      <a:pt x="67" y="89"/>
                    </a:cubicBezTo>
                    <a:cubicBezTo>
                      <a:pt x="108" y="122"/>
                      <a:pt x="145" y="157"/>
                      <a:pt x="182" y="195"/>
                    </a:cubicBezTo>
                    <a:cubicBezTo>
                      <a:pt x="211" y="224"/>
                      <a:pt x="233" y="256"/>
                      <a:pt x="255" y="290"/>
                    </a:cubicBezTo>
                    <a:cubicBezTo>
                      <a:pt x="267" y="309"/>
                      <a:pt x="286" y="337"/>
                      <a:pt x="283" y="361"/>
                    </a:cubicBezTo>
                    <a:cubicBezTo>
                      <a:pt x="277" y="404"/>
                      <a:pt x="244" y="409"/>
                      <a:pt x="209" y="422"/>
                    </a:cubicBezTo>
                    <a:cubicBezTo>
                      <a:pt x="218" y="456"/>
                      <a:pt x="236" y="479"/>
                      <a:pt x="257" y="509"/>
                    </a:cubicBezTo>
                    <a:cubicBezTo>
                      <a:pt x="277" y="537"/>
                      <a:pt x="289" y="562"/>
                      <a:pt x="294" y="596"/>
                    </a:cubicBezTo>
                    <a:cubicBezTo>
                      <a:pt x="298" y="622"/>
                      <a:pt x="289" y="648"/>
                      <a:pt x="277" y="671"/>
                    </a:cubicBezTo>
                    <a:cubicBezTo>
                      <a:pt x="261" y="702"/>
                      <a:pt x="237" y="742"/>
                      <a:pt x="204" y="755"/>
                    </a:cubicBezTo>
                    <a:cubicBezTo>
                      <a:pt x="179" y="765"/>
                      <a:pt x="172" y="761"/>
                      <a:pt x="145" y="761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1" name="Freeform 7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3338" y="957"/>
                <a:ext cx="68" cy="193"/>
              </a:xfrm>
              <a:custGeom>
                <a:avLst/>
                <a:gdLst>
                  <a:gd name="T0" fmla="*/ 0 w 298"/>
                  <a:gd name="T1" fmla="*/ 0 h 851"/>
                  <a:gd name="T2" fmla="*/ 0 w 298"/>
                  <a:gd name="T3" fmla="*/ 0 h 851"/>
                  <a:gd name="T4" fmla="*/ 0 w 298"/>
                  <a:gd name="T5" fmla="*/ 0 h 851"/>
                  <a:gd name="T6" fmla="*/ 0 w 298"/>
                  <a:gd name="T7" fmla="*/ 0 h 851"/>
                  <a:gd name="T8" fmla="*/ 0 w 298"/>
                  <a:gd name="T9" fmla="*/ 0 h 851"/>
                  <a:gd name="T10" fmla="*/ 0 w 298"/>
                  <a:gd name="T11" fmla="*/ 0 h 851"/>
                  <a:gd name="T12" fmla="*/ 0 w 298"/>
                  <a:gd name="T13" fmla="*/ 0 h 851"/>
                  <a:gd name="T14" fmla="*/ 0 w 298"/>
                  <a:gd name="T15" fmla="*/ 0 h 851"/>
                  <a:gd name="T16" fmla="*/ 0 w 298"/>
                  <a:gd name="T17" fmla="*/ 0 h 851"/>
                  <a:gd name="T18" fmla="*/ 0 w 298"/>
                  <a:gd name="T19" fmla="*/ 0 h 851"/>
                  <a:gd name="T20" fmla="*/ 0 w 298"/>
                  <a:gd name="T21" fmla="*/ 0 h 851"/>
                  <a:gd name="T22" fmla="*/ 0 w 298"/>
                  <a:gd name="T23" fmla="*/ 0 h 851"/>
                  <a:gd name="T24" fmla="*/ 0 w 298"/>
                  <a:gd name="T25" fmla="*/ 0 h 8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98"/>
                  <a:gd name="T40" fmla="*/ 0 h 851"/>
                  <a:gd name="T41" fmla="*/ 298 w 298"/>
                  <a:gd name="T42" fmla="*/ 851 h 8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98" h="851" extrusionOk="0">
                    <a:moveTo>
                      <a:pt x="287" y="41"/>
                    </a:moveTo>
                    <a:cubicBezTo>
                      <a:pt x="294" y="5"/>
                      <a:pt x="280" y="4"/>
                      <a:pt x="241" y="2"/>
                    </a:cubicBezTo>
                    <a:cubicBezTo>
                      <a:pt x="210" y="0"/>
                      <a:pt x="183" y="9"/>
                      <a:pt x="154" y="21"/>
                    </a:cubicBezTo>
                    <a:cubicBezTo>
                      <a:pt x="122" y="34"/>
                      <a:pt x="92" y="51"/>
                      <a:pt x="62" y="67"/>
                    </a:cubicBezTo>
                    <a:cubicBezTo>
                      <a:pt x="41" y="79"/>
                      <a:pt x="-2" y="105"/>
                      <a:pt x="0" y="134"/>
                    </a:cubicBezTo>
                    <a:cubicBezTo>
                      <a:pt x="2" y="159"/>
                      <a:pt x="40" y="190"/>
                      <a:pt x="56" y="209"/>
                    </a:cubicBezTo>
                    <a:cubicBezTo>
                      <a:pt x="98" y="259"/>
                      <a:pt x="147" y="326"/>
                      <a:pt x="156" y="393"/>
                    </a:cubicBezTo>
                    <a:cubicBezTo>
                      <a:pt x="160" y="421"/>
                      <a:pt x="156" y="449"/>
                      <a:pt x="142" y="474"/>
                    </a:cubicBezTo>
                    <a:cubicBezTo>
                      <a:pt x="128" y="500"/>
                      <a:pt x="100" y="516"/>
                      <a:pt x="100" y="547"/>
                    </a:cubicBezTo>
                    <a:cubicBezTo>
                      <a:pt x="100" y="568"/>
                      <a:pt x="127" y="606"/>
                      <a:pt x="137" y="623"/>
                    </a:cubicBezTo>
                    <a:cubicBezTo>
                      <a:pt x="158" y="659"/>
                      <a:pt x="172" y="693"/>
                      <a:pt x="173" y="735"/>
                    </a:cubicBezTo>
                    <a:cubicBezTo>
                      <a:pt x="174" y="761"/>
                      <a:pt x="168" y="780"/>
                      <a:pt x="159" y="804"/>
                    </a:cubicBezTo>
                    <a:cubicBezTo>
                      <a:pt x="153" y="820"/>
                      <a:pt x="147" y="835"/>
                      <a:pt x="140" y="850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2" name="Freeform 8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2897" y="1205"/>
                <a:ext cx="355" cy="137"/>
              </a:xfrm>
              <a:custGeom>
                <a:avLst/>
                <a:gdLst>
                  <a:gd name="T0" fmla="*/ 0 w 1566"/>
                  <a:gd name="T1" fmla="*/ 0 h 606"/>
                  <a:gd name="T2" fmla="*/ 0 w 1566"/>
                  <a:gd name="T3" fmla="*/ 0 h 606"/>
                  <a:gd name="T4" fmla="*/ 0 w 1566"/>
                  <a:gd name="T5" fmla="*/ 0 h 606"/>
                  <a:gd name="T6" fmla="*/ 0 w 1566"/>
                  <a:gd name="T7" fmla="*/ 0 h 606"/>
                  <a:gd name="T8" fmla="*/ 0 w 1566"/>
                  <a:gd name="T9" fmla="*/ 0 h 606"/>
                  <a:gd name="T10" fmla="*/ 0 w 1566"/>
                  <a:gd name="T11" fmla="*/ 0 h 606"/>
                  <a:gd name="T12" fmla="*/ 0 w 1566"/>
                  <a:gd name="T13" fmla="*/ 0 h 606"/>
                  <a:gd name="T14" fmla="*/ 0 w 1566"/>
                  <a:gd name="T15" fmla="*/ 0 h 606"/>
                  <a:gd name="T16" fmla="*/ 0 w 1566"/>
                  <a:gd name="T17" fmla="*/ 0 h 606"/>
                  <a:gd name="T18" fmla="*/ 0 w 1566"/>
                  <a:gd name="T19" fmla="*/ 0 h 606"/>
                  <a:gd name="T20" fmla="*/ 0 w 1566"/>
                  <a:gd name="T21" fmla="*/ 0 h 606"/>
                  <a:gd name="T22" fmla="*/ 0 w 1566"/>
                  <a:gd name="T23" fmla="*/ 0 h 606"/>
                  <a:gd name="T24" fmla="*/ 0 w 1566"/>
                  <a:gd name="T25" fmla="*/ 0 h 606"/>
                  <a:gd name="T26" fmla="*/ 0 w 1566"/>
                  <a:gd name="T27" fmla="*/ 0 h 606"/>
                  <a:gd name="T28" fmla="*/ 0 w 1566"/>
                  <a:gd name="T29" fmla="*/ 0 h 606"/>
                  <a:gd name="T30" fmla="*/ 0 w 1566"/>
                  <a:gd name="T31" fmla="*/ 0 h 606"/>
                  <a:gd name="T32" fmla="*/ 0 w 1566"/>
                  <a:gd name="T33" fmla="*/ 0 h 60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566"/>
                  <a:gd name="T52" fmla="*/ 0 h 606"/>
                  <a:gd name="T53" fmla="*/ 1566 w 1566"/>
                  <a:gd name="T54" fmla="*/ 606 h 60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566" h="606" extrusionOk="0">
                    <a:moveTo>
                      <a:pt x="1565" y="236"/>
                    </a:moveTo>
                    <a:cubicBezTo>
                      <a:pt x="1549" y="207"/>
                      <a:pt x="1541" y="195"/>
                      <a:pt x="1512" y="171"/>
                    </a:cubicBezTo>
                    <a:cubicBezTo>
                      <a:pt x="1488" y="151"/>
                      <a:pt x="1458" y="129"/>
                      <a:pt x="1432" y="112"/>
                    </a:cubicBezTo>
                    <a:cubicBezTo>
                      <a:pt x="1380" y="79"/>
                      <a:pt x="1334" y="43"/>
                      <a:pt x="1284" y="8"/>
                    </a:cubicBezTo>
                    <a:cubicBezTo>
                      <a:pt x="1279" y="5"/>
                      <a:pt x="1273" y="3"/>
                      <a:pt x="1268" y="0"/>
                    </a:cubicBezTo>
                    <a:cubicBezTo>
                      <a:pt x="1251" y="21"/>
                      <a:pt x="1234" y="37"/>
                      <a:pt x="1223" y="65"/>
                    </a:cubicBezTo>
                    <a:cubicBezTo>
                      <a:pt x="1202" y="120"/>
                      <a:pt x="1203" y="191"/>
                      <a:pt x="1172" y="241"/>
                    </a:cubicBezTo>
                    <a:cubicBezTo>
                      <a:pt x="1136" y="300"/>
                      <a:pt x="1088" y="286"/>
                      <a:pt x="1038" y="254"/>
                    </a:cubicBezTo>
                    <a:cubicBezTo>
                      <a:pt x="1020" y="243"/>
                      <a:pt x="1003" y="229"/>
                      <a:pt x="985" y="218"/>
                    </a:cubicBezTo>
                    <a:cubicBezTo>
                      <a:pt x="974" y="241"/>
                      <a:pt x="964" y="260"/>
                      <a:pt x="957" y="286"/>
                    </a:cubicBezTo>
                    <a:cubicBezTo>
                      <a:pt x="949" y="316"/>
                      <a:pt x="942" y="344"/>
                      <a:pt x="932" y="373"/>
                    </a:cubicBezTo>
                    <a:cubicBezTo>
                      <a:pt x="917" y="417"/>
                      <a:pt x="902" y="460"/>
                      <a:pt x="876" y="499"/>
                    </a:cubicBezTo>
                    <a:cubicBezTo>
                      <a:pt x="811" y="597"/>
                      <a:pt x="707" y="618"/>
                      <a:pt x="594" y="602"/>
                    </a:cubicBezTo>
                    <a:cubicBezTo>
                      <a:pt x="500" y="588"/>
                      <a:pt x="408" y="558"/>
                      <a:pt x="320" y="523"/>
                    </a:cubicBezTo>
                    <a:cubicBezTo>
                      <a:pt x="240" y="491"/>
                      <a:pt x="161" y="455"/>
                      <a:pt x="85" y="414"/>
                    </a:cubicBezTo>
                    <a:cubicBezTo>
                      <a:pt x="57" y="399"/>
                      <a:pt x="29" y="384"/>
                      <a:pt x="0" y="369"/>
                    </a:cubicBezTo>
                    <a:cubicBezTo>
                      <a:pt x="24" y="379"/>
                      <a:pt x="31" y="382"/>
                      <a:pt x="43" y="395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3" name="Freeform 9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2882" y="1027"/>
                <a:ext cx="172" cy="195"/>
              </a:xfrm>
              <a:custGeom>
                <a:avLst/>
                <a:gdLst>
                  <a:gd name="T0" fmla="*/ 0 w 756"/>
                  <a:gd name="T1" fmla="*/ 0 h 859"/>
                  <a:gd name="T2" fmla="*/ 0 w 756"/>
                  <a:gd name="T3" fmla="*/ 0 h 859"/>
                  <a:gd name="T4" fmla="*/ 0 w 756"/>
                  <a:gd name="T5" fmla="*/ 0 h 859"/>
                  <a:gd name="T6" fmla="*/ 0 w 756"/>
                  <a:gd name="T7" fmla="*/ 0 h 859"/>
                  <a:gd name="T8" fmla="*/ 0 w 756"/>
                  <a:gd name="T9" fmla="*/ 0 h 859"/>
                  <a:gd name="T10" fmla="*/ 0 w 756"/>
                  <a:gd name="T11" fmla="*/ 0 h 859"/>
                  <a:gd name="T12" fmla="*/ 0 w 756"/>
                  <a:gd name="T13" fmla="*/ 0 h 859"/>
                  <a:gd name="T14" fmla="*/ 0 w 756"/>
                  <a:gd name="T15" fmla="*/ 0 h 859"/>
                  <a:gd name="T16" fmla="*/ 0 w 756"/>
                  <a:gd name="T17" fmla="*/ 0 h 859"/>
                  <a:gd name="T18" fmla="*/ 0 w 756"/>
                  <a:gd name="T19" fmla="*/ 0 h 859"/>
                  <a:gd name="T20" fmla="*/ 0 w 756"/>
                  <a:gd name="T21" fmla="*/ 0 h 859"/>
                  <a:gd name="T22" fmla="*/ 0 w 756"/>
                  <a:gd name="T23" fmla="*/ 0 h 859"/>
                  <a:gd name="T24" fmla="*/ 0 w 756"/>
                  <a:gd name="T25" fmla="*/ 0 h 859"/>
                  <a:gd name="T26" fmla="*/ 0 w 756"/>
                  <a:gd name="T27" fmla="*/ 0 h 859"/>
                  <a:gd name="T28" fmla="*/ 0 w 756"/>
                  <a:gd name="T29" fmla="*/ 0 h 859"/>
                  <a:gd name="T30" fmla="*/ 0 w 756"/>
                  <a:gd name="T31" fmla="*/ 0 h 859"/>
                  <a:gd name="T32" fmla="*/ 0 w 756"/>
                  <a:gd name="T33" fmla="*/ 0 h 8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56"/>
                  <a:gd name="T52" fmla="*/ 0 h 859"/>
                  <a:gd name="T53" fmla="*/ 756 w 756"/>
                  <a:gd name="T54" fmla="*/ 859 h 8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56" h="859" extrusionOk="0">
                    <a:moveTo>
                      <a:pt x="8" y="30"/>
                    </a:moveTo>
                    <a:cubicBezTo>
                      <a:pt x="5" y="25"/>
                      <a:pt x="3" y="19"/>
                      <a:pt x="0" y="14"/>
                    </a:cubicBezTo>
                    <a:cubicBezTo>
                      <a:pt x="29" y="6"/>
                      <a:pt x="35" y="1"/>
                      <a:pt x="68" y="6"/>
                    </a:cubicBezTo>
                    <a:cubicBezTo>
                      <a:pt x="107" y="12"/>
                      <a:pt x="151" y="24"/>
                      <a:pt x="188" y="37"/>
                    </a:cubicBezTo>
                    <a:cubicBezTo>
                      <a:pt x="224" y="49"/>
                      <a:pt x="264" y="61"/>
                      <a:pt x="299" y="76"/>
                    </a:cubicBezTo>
                    <a:cubicBezTo>
                      <a:pt x="325" y="88"/>
                      <a:pt x="348" y="98"/>
                      <a:pt x="350" y="128"/>
                    </a:cubicBezTo>
                    <a:cubicBezTo>
                      <a:pt x="352" y="148"/>
                      <a:pt x="302" y="191"/>
                      <a:pt x="292" y="207"/>
                    </a:cubicBezTo>
                    <a:cubicBezTo>
                      <a:pt x="275" y="232"/>
                      <a:pt x="255" y="264"/>
                      <a:pt x="246" y="293"/>
                    </a:cubicBezTo>
                    <a:cubicBezTo>
                      <a:pt x="238" y="321"/>
                      <a:pt x="236" y="344"/>
                      <a:pt x="247" y="372"/>
                    </a:cubicBezTo>
                    <a:cubicBezTo>
                      <a:pt x="258" y="401"/>
                      <a:pt x="282" y="423"/>
                      <a:pt x="306" y="440"/>
                    </a:cubicBezTo>
                    <a:cubicBezTo>
                      <a:pt x="363" y="480"/>
                      <a:pt x="429" y="483"/>
                      <a:pt x="495" y="483"/>
                    </a:cubicBezTo>
                    <a:cubicBezTo>
                      <a:pt x="501" y="483"/>
                      <a:pt x="507" y="483"/>
                      <a:pt x="513" y="483"/>
                    </a:cubicBezTo>
                    <a:cubicBezTo>
                      <a:pt x="515" y="508"/>
                      <a:pt x="517" y="534"/>
                      <a:pt x="515" y="562"/>
                    </a:cubicBezTo>
                    <a:cubicBezTo>
                      <a:pt x="513" y="596"/>
                      <a:pt x="510" y="625"/>
                      <a:pt x="526" y="657"/>
                    </a:cubicBezTo>
                    <a:cubicBezTo>
                      <a:pt x="548" y="699"/>
                      <a:pt x="587" y="730"/>
                      <a:pt x="622" y="760"/>
                    </a:cubicBezTo>
                    <a:cubicBezTo>
                      <a:pt x="655" y="787"/>
                      <a:pt x="690" y="809"/>
                      <a:pt x="727" y="831"/>
                    </a:cubicBezTo>
                    <a:cubicBezTo>
                      <a:pt x="768" y="855"/>
                      <a:pt x="731" y="839"/>
                      <a:pt x="736" y="858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4" name="Freeform 10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3445" y="1284"/>
                <a:ext cx="145" cy="176"/>
              </a:xfrm>
              <a:custGeom>
                <a:avLst/>
                <a:gdLst>
                  <a:gd name="T0" fmla="*/ 0 w 642"/>
                  <a:gd name="T1" fmla="*/ 0 h 779"/>
                  <a:gd name="T2" fmla="*/ 0 w 642"/>
                  <a:gd name="T3" fmla="*/ 0 h 779"/>
                  <a:gd name="T4" fmla="*/ 0 w 642"/>
                  <a:gd name="T5" fmla="*/ 0 h 779"/>
                  <a:gd name="T6" fmla="*/ 0 w 642"/>
                  <a:gd name="T7" fmla="*/ 0 h 779"/>
                  <a:gd name="T8" fmla="*/ 0 w 642"/>
                  <a:gd name="T9" fmla="*/ 0 h 779"/>
                  <a:gd name="T10" fmla="*/ 0 w 642"/>
                  <a:gd name="T11" fmla="*/ 0 h 779"/>
                  <a:gd name="T12" fmla="*/ 0 w 642"/>
                  <a:gd name="T13" fmla="*/ 0 h 779"/>
                  <a:gd name="T14" fmla="*/ 0 w 642"/>
                  <a:gd name="T15" fmla="*/ 0 h 779"/>
                  <a:gd name="T16" fmla="*/ 0 w 642"/>
                  <a:gd name="T17" fmla="*/ 0 h 779"/>
                  <a:gd name="T18" fmla="*/ 0 w 642"/>
                  <a:gd name="T19" fmla="*/ 0 h 779"/>
                  <a:gd name="T20" fmla="*/ 0 w 642"/>
                  <a:gd name="T21" fmla="*/ 0 h 779"/>
                  <a:gd name="T22" fmla="*/ 0 w 642"/>
                  <a:gd name="T23" fmla="*/ 0 h 779"/>
                  <a:gd name="T24" fmla="*/ 0 w 642"/>
                  <a:gd name="T25" fmla="*/ 0 h 779"/>
                  <a:gd name="T26" fmla="*/ 0 w 642"/>
                  <a:gd name="T27" fmla="*/ 0 h 77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642"/>
                  <a:gd name="T43" fmla="*/ 0 h 779"/>
                  <a:gd name="T44" fmla="*/ 642 w 642"/>
                  <a:gd name="T45" fmla="*/ 779 h 77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642" h="779" extrusionOk="0">
                    <a:moveTo>
                      <a:pt x="641" y="343"/>
                    </a:moveTo>
                    <a:cubicBezTo>
                      <a:pt x="624" y="309"/>
                      <a:pt x="604" y="283"/>
                      <a:pt x="578" y="255"/>
                    </a:cubicBezTo>
                    <a:cubicBezTo>
                      <a:pt x="549" y="224"/>
                      <a:pt x="516" y="203"/>
                      <a:pt x="483" y="177"/>
                    </a:cubicBezTo>
                    <a:cubicBezTo>
                      <a:pt x="436" y="140"/>
                      <a:pt x="386" y="111"/>
                      <a:pt x="332" y="84"/>
                    </a:cubicBezTo>
                    <a:cubicBezTo>
                      <a:pt x="281" y="58"/>
                      <a:pt x="229" y="36"/>
                      <a:pt x="175" y="17"/>
                    </a:cubicBezTo>
                    <a:cubicBezTo>
                      <a:pt x="153" y="9"/>
                      <a:pt x="111" y="-8"/>
                      <a:pt x="86" y="3"/>
                    </a:cubicBezTo>
                    <a:cubicBezTo>
                      <a:pt x="57" y="16"/>
                      <a:pt x="79" y="63"/>
                      <a:pt x="86" y="80"/>
                    </a:cubicBezTo>
                    <a:cubicBezTo>
                      <a:pt x="107" y="131"/>
                      <a:pt x="137" y="179"/>
                      <a:pt x="164" y="227"/>
                    </a:cubicBezTo>
                    <a:cubicBezTo>
                      <a:pt x="195" y="282"/>
                      <a:pt x="287" y="405"/>
                      <a:pt x="252" y="473"/>
                    </a:cubicBezTo>
                    <a:cubicBezTo>
                      <a:pt x="235" y="506"/>
                      <a:pt x="202" y="489"/>
                      <a:pt x="176" y="488"/>
                    </a:cubicBezTo>
                    <a:cubicBezTo>
                      <a:pt x="144" y="487"/>
                      <a:pt x="112" y="479"/>
                      <a:pt x="81" y="477"/>
                    </a:cubicBezTo>
                    <a:cubicBezTo>
                      <a:pt x="77" y="506"/>
                      <a:pt x="81" y="527"/>
                      <a:pt x="83" y="557"/>
                    </a:cubicBezTo>
                    <a:cubicBezTo>
                      <a:pt x="85" y="589"/>
                      <a:pt x="84" y="621"/>
                      <a:pt x="78" y="653"/>
                    </a:cubicBezTo>
                    <a:cubicBezTo>
                      <a:pt x="69" y="704"/>
                      <a:pt x="32" y="740"/>
                      <a:pt x="0" y="778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5" name="Freeform 11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3148" y="1362"/>
                <a:ext cx="156" cy="134"/>
              </a:xfrm>
              <a:custGeom>
                <a:avLst/>
                <a:gdLst>
                  <a:gd name="T0" fmla="*/ 0 w 689"/>
                  <a:gd name="T1" fmla="*/ 0 h 593"/>
                  <a:gd name="T2" fmla="*/ 0 w 689"/>
                  <a:gd name="T3" fmla="*/ 0 h 593"/>
                  <a:gd name="T4" fmla="*/ 0 w 689"/>
                  <a:gd name="T5" fmla="*/ 0 h 593"/>
                  <a:gd name="T6" fmla="*/ 0 w 689"/>
                  <a:gd name="T7" fmla="*/ 0 h 593"/>
                  <a:gd name="T8" fmla="*/ 0 w 689"/>
                  <a:gd name="T9" fmla="*/ 0 h 593"/>
                  <a:gd name="T10" fmla="*/ 0 w 689"/>
                  <a:gd name="T11" fmla="*/ 0 h 593"/>
                  <a:gd name="T12" fmla="*/ 0 w 689"/>
                  <a:gd name="T13" fmla="*/ 0 h 593"/>
                  <a:gd name="T14" fmla="*/ 0 w 689"/>
                  <a:gd name="T15" fmla="*/ 0 h 593"/>
                  <a:gd name="T16" fmla="*/ 0 w 689"/>
                  <a:gd name="T17" fmla="*/ 0 h 593"/>
                  <a:gd name="T18" fmla="*/ 0 w 689"/>
                  <a:gd name="T19" fmla="*/ 0 h 593"/>
                  <a:gd name="T20" fmla="*/ 0 w 689"/>
                  <a:gd name="T21" fmla="*/ 0 h 593"/>
                  <a:gd name="T22" fmla="*/ 0 w 689"/>
                  <a:gd name="T23" fmla="*/ 0 h 593"/>
                  <a:gd name="T24" fmla="*/ 0 w 689"/>
                  <a:gd name="T25" fmla="*/ 0 h 5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89"/>
                  <a:gd name="T40" fmla="*/ 0 h 593"/>
                  <a:gd name="T41" fmla="*/ 689 w 689"/>
                  <a:gd name="T42" fmla="*/ 593 h 59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89" h="593" extrusionOk="0">
                    <a:moveTo>
                      <a:pt x="0" y="592"/>
                    </a:moveTo>
                    <a:cubicBezTo>
                      <a:pt x="38" y="561"/>
                      <a:pt x="63" y="543"/>
                      <a:pt x="111" y="528"/>
                    </a:cubicBezTo>
                    <a:cubicBezTo>
                      <a:pt x="151" y="515"/>
                      <a:pt x="196" y="510"/>
                      <a:pt x="237" y="503"/>
                    </a:cubicBezTo>
                    <a:cubicBezTo>
                      <a:pt x="273" y="497"/>
                      <a:pt x="308" y="490"/>
                      <a:pt x="344" y="483"/>
                    </a:cubicBezTo>
                    <a:cubicBezTo>
                      <a:pt x="365" y="479"/>
                      <a:pt x="379" y="473"/>
                      <a:pt x="399" y="466"/>
                    </a:cubicBezTo>
                    <a:cubicBezTo>
                      <a:pt x="389" y="440"/>
                      <a:pt x="379" y="414"/>
                      <a:pt x="357" y="388"/>
                    </a:cubicBezTo>
                    <a:cubicBezTo>
                      <a:pt x="321" y="346"/>
                      <a:pt x="305" y="320"/>
                      <a:pt x="293" y="268"/>
                    </a:cubicBezTo>
                    <a:cubicBezTo>
                      <a:pt x="326" y="264"/>
                      <a:pt x="348" y="264"/>
                      <a:pt x="382" y="267"/>
                    </a:cubicBezTo>
                    <a:cubicBezTo>
                      <a:pt x="423" y="270"/>
                      <a:pt x="470" y="279"/>
                      <a:pt x="511" y="268"/>
                    </a:cubicBezTo>
                    <a:cubicBezTo>
                      <a:pt x="547" y="258"/>
                      <a:pt x="560" y="222"/>
                      <a:pt x="571" y="190"/>
                    </a:cubicBezTo>
                    <a:cubicBezTo>
                      <a:pt x="581" y="158"/>
                      <a:pt x="584" y="125"/>
                      <a:pt x="598" y="94"/>
                    </a:cubicBezTo>
                    <a:cubicBezTo>
                      <a:pt x="613" y="61"/>
                      <a:pt x="636" y="38"/>
                      <a:pt x="665" y="16"/>
                    </a:cubicBezTo>
                    <a:cubicBezTo>
                      <a:pt x="684" y="2"/>
                      <a:pt x="696" y="-3"/>
                      <a:pt x="673" y="0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6" name="Freeform 12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3216" y="720"/>
                <a:ext cx="108" cy="267"/>
              </a:xfrm>
              <a:custGeom>
                <a:avLst/>
                <a:gdLst>
                  <a:gd name="T0" fmla="*/ 0 w 477"/>
                  <a:gd name="T1" fmla="*/ 0 h 1177"/>
                  <a:gd name="T2" fmla="*/ 0 w 477"/>
                  <a:gd name="T3" fmla="*/ 0 h 1177"/>
                  <a:gd name="T4" fmla="*/ 0 w 477"/>
                  <a:gd name="T5" fmla="*/ 0 h 1177"/>
                  <a:gd name="T6" fmla="*/ 0 w 477"/>
                  <a:gd name="T7" fmla="*/ 0 h 1177"/>
                  <a:gd name="T8" fmla="*/ 0 w 477"/>
                  <a:gd name="T9" fmla="*/ 0 h 1177"/>
                  <a:gd name="T10" fmla="*/ 0 w 477"/>
                  <a:gd name="T11" fmla="*/ 0 h 1177"/>
                  <a:gd name="T12" fmla="*/ 0 w 477"/>
                  <a:gd name="T13" fmla="*/ 0 h 1177"/>
                  <a:gd name="T14" fmla="*/ 0 w 477"/>
                  <a:gd name="T15" fmla="*/ 0 h 1177"/>
                  <a:gd name="T16" fmla="*/ 0 w 477"/>
                  <a:gd name="T17" fmla="*/ 0 h 1177"/>
                  <a:gd name="T18" fmla="*/ 0 w 477"/>
                  <a:gd name="T19" fmla="*/ 0 h 1177"/>
                  <a:gd name="T20" fmla="*/ 0 w 477"/>
                  <a:gd name="T21" fmla="*/ 0 h 1177"/>
                  <a:gd name="T22" fmla="*/ 0 w 477"/>
                  <a:gd name="T23" fmla="*/ 0 h 1177"/>
                  <a:gd name="T24" fmla="*/ 0 w 477"/>
                  <a:gd name="T25" fmla="*/ 0 h 1177"/>
                  <a:gd name="T26" fmla="*/ 0 w 477"/>
                  <a:gd name="T27" fmla="*/ 0 h 1177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77"/>
                  <a:gd name="T43" fmla="*/ 0 h 1177"/>
                  <a:gd name="T44" fmla="*/ 477 w 477"/>
                  <a:gd name="T45" fmla="*/ 1177 h 1177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77" h="1177" extrusionOk="0">
                    <a:moveTo>
                      <a:pt x="441" y="18"/>
                    </a:moveTo>
                    <a:cubicBezTo>
                      <a:pt x="409" y="12"/>
                      <a:pt x="394" y="-19"/>
                      <a:pt x="369" y="21"/>
                    </a:cubicBezTo>
                    <a:cubicBezTo>
                      <a:pt x="358" y="39"/>
                      <a:pt x="357" y="71"/>
                      <a:pt x="355" y="91"/>
                    </a:cubicBezTo>
                    <a:cubicBezTo>
                      <a:pt x="353" y="117"/>
                      <a:pt x="358" y="139"/>
                      <a:pt x="361" y="165"/>
                    </a:cubicBezTo>
                    <a:cubicBezTo>
                      <a:pt x="364" y="197"/>
                      <a:pt x="375" y="219"/>
                      <a:pt x="389" y="248"/>
                    </a:cubicBezTo>
                    <a:cubicBezTo>
                      <a:pt x="403" y="277"/>
                      <a:pt x="421" y="304"/>
                      <a:pt x="437" y="332"/>
                    </a:cubicBezTo>
                    <a:cubicBezTo>
                      <a:pt x="451" y="357"/>
                      <a:pt x="465" y="382"/>
                      <a:pt x="472" y="410"/>
                    </a:cubicBezTo>
                    <a:cubicBezTo>
                      <a:pt x="481" y="446"/>
                      <a:pt x="475" y="475"/>
                      <a:pt x="441" y="495"/>
                    </a:cubicBezTo>
                    <a:cubicBezTo>
                      <a:pt x="415" y="510"/>
                      <a:pt x="387" y="516"/>
                      <a:pt x="358" y="522"/>
                    </a:cubicBezTo>
                    <a:cubicBezTo>
                      <a:pt x="308" y="533"/>
                      <a:pt x="256" y="530"/>
                      <a:pt x="207" y="542"/>
                    </a:cubicBezTo>
                    <a:cubicBezTo>
                      <a:pt x="177" y="549"/>
                      <a:pt x="157" y="561"/>
                      <a:pt x="153" y="593"/>
                    </a:cubicBezTo>
                    <a:cubicBezTo>
                      <a:pt x="143" y="685"/>
                      <a:pt x="240" y="759"/>
                      <a:pt x="196" y="858"/>
                    </a:cubicBezTo>
                    <a:cubicBezTo>
                      <a:pt x="166" y="924"/>
                      <a:pt x="98" y="968"/>
                      <a:pt x="56" y="1025"/>
                    </a:cubicBezTo>
                    <a:cubicBezTo>
                      <a:pt x="21" y="1073"/>
                      <a:pt x="12" y="1121"/>
                      <a:pt x="0" y="1176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447" name="Freeform 13"/>
              <p:cNvSpPr>
                <a:spLocks noRot="1" noChangeAspect="1" noEditPoints="1" noChangeArrowheads="1" noChangeShapeType="1" noTextEdit="1"/>
              </p:cNvSpPr>
              <p:nvPr/>
            </p:nvSpPr>
            <p:spPr bwMode="auto">
              <a:xfrm>
                <a:off x="3486" y="892"/>
                <a:ext cx="160" cy="323"/>
              </a:xfrm>
              <a:custGeom>
                <a:avLst/>
                <a:gdLst>
                  <a:gd name="T0" fmla="*/ 0 w 706"/>
                  <a:gd name="T1" fmla="*/ 0 h 1425"/>
                  <a:gd name="T2" fmla="*/ 0 w 706"/>
                  <a:gd name="T3" fmla="*/ 0 h 1425"/>
                  <a:gd name="T4" fmla="*/ 0 w 706"/>
                  <a:gd name="T5" fmla="*/ 0 h 1425"/>
                  <a:gd name="T6" fmla="*/ 0 w 706"/>
                  <a:gd name="T7" fmla="*/ 0 h 1425"/>
                  <a:gd name="T8" fmla="*/ 0 w 706"/>
                  <a:gd name="T9" fmla="*/ 0 h 1425"/>
                  <a:gd name="T10" fmla="*/ 0 w 706"/>
                  <a:gd name="T11" fmla="*/ 0 h 1425"/>
                  <a:gd name="T12" fmla="*/ 0 w 706"/>
                  <a:gd name="T13" fmla="*/ 0 h 1425"/>
                  <a:gd name="T14" fmla="*/ 0 w 706"/>
                  <a:gd name="T15" fmla="*/ 0 h 1425"/>
                  <a:gd name="T16" fmla="*/ 0 w 706"/>
                  <a:gd name="T17" fmla="*/ 0 h 1425"/>
                  <a:gd name="T18" fmla="*/ 0 w 706"/>
                  <a:gd name="T19" fmla="*/ 0 h 1425"/>
                  <a:gd name="T20" fmla="*/ 0 w 706"/>
                  <a:gd name="T21" fmla="*/ 0 h 1425"/>
                  <a:gd name="T22" fmla="*/ 0 w 706"/>
                  <a:gd name="T23" fmla="*/ 0 h 1425"/>
                  <a:gd name="T24" fmla="*/ 0 w 706"/>
                  <a:gd name="T25" fmla="*/ 0 h 1425"/>
                  <a:gd name="T26" fmla="*/ 0 w 706"/>
                  <a:gd name="T27" fmla="*/ 0 h 1425"/>
                  <a:gd name="T28" fmla="*/ 0 w 706"/>
                  <a:gd name="T29" fmla="*/ 0 h 142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706"/>
                  <a:gd name="T46" fmla="*/ 0 h 1425"/>
                  <a:gd name="T47" fmla="*/ 706 w 706"/>
                  <a:gd name="T48" fmla="*/ 1425 h 1425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706" h="1425" extrusionOk="0">
                    <a:moveTo>
                      <a:pt x="0" y="31"/>
                    </a:moveTo>
                    <a:cubicBezTo>
                      <a:pt x="45" y="12"/>
                      <a:pt x="67" y="5"/>
                      <a:pt x="116" y="3"/>
                    </a:cubicBezTo>
                    <a:cubicBezTo>
                      <a:pt x="160" y="2"/>
                      <a:pt x="203" y="12"/>
                      <a:pt x="246" y="20"/>
                    </a:cubicBezTo>
                    <a:cubicBezTo>
                      <a:pt x="283" y="27"/>
                      <a:pt x="322" y="37"/>
                      <a:pt x="358" y="50"/>
                    </a:cubicBezTo>
                    <a:cubicBezTo>
                      <a:pt x="381" y="58"/>
                      <a:pt x="416" y="72"/>
                      <a:pt x="417" y="100"/>
                    </a:cubicBezTo>
                    <a:cubicBezTo>
                      <a:pt x="418" y="131"/>
                      <a:pt x="381" y="158"/>
                      <a:pt x="365" y="180"/>
                    </a:cubicBezTo>
                    <a:cubicBezTo>
                      <a:pt x="337" y="220"/>
                      <a:pt x="302" y="263"/>
                      <a:pt x="288" y="310"/>
                    </a:cubicBezTo>
                    <a:cubicBezTo>
                      <a:pt x="276" y="351"/>
                      <a:pt x="277" y="390"/>
                      <a:pt x="295" y="428"/>
                    </a:cubicBezTo>
                    <a:cubicBezTo>
                      <a:pt x="309" y="457"/>
                      <a:pt x="335" y="480"/>
                      <a:pt x="359" y="501"/>
                    </a:cubicBezTo>
                    <a:cubicBezTo>
                      <a:pt x="394" y="532"/>
                      <a:pt x="438" y="556"/>
                      <a:pt x="465" y="596"/>
                    </a:cubicBezTo>
                    <a:cubicBezTo>
                      <a:pt x="497" y="643"/>
                      <a:pt x="482" y="693"/>
                      <a:pt x="470" y="744"/>
                    </a:cubicBezTo>
                    <a:cubicBezTo>
                      <a:pt x="460" y="786"/>
                      <a:pt x="454" y="817"/>
                      <a:pt x="465" y="861"/>
                    </a:cubicBezTo>
                    <a:cubicBezTo>
                      <a:pt x="487" y="950"/>
                      <a:pt x="549" y="1038"/>
                      <a:pt x="594" y="1117"/>
                    </a:cubicBezTo>
                    <a:cubicBezTo>
                      <a:pt x="638" y="1194"/>
                      <a:pt x="688" y="1281"/>
                      <a:pt x="702" y="1370"/>
                    </a:cubicBezTo>
                    <a:cubicBezTo>
                      <a:pt x="705" y="1388"/>
                      <a:pt x="704" y="1406"/>
                      <a:pt x="705" y="1424"/>
                    </a:cubicBezTo>
                  </a:path>
                </a:pathLst>
              </a:custGeom>
              <a:noFill/>
              <a:ln w="1905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4679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9" grpId="0" build="p"/>
      <p:bldP spid="408600" grpId="0"/>
      <p:bldP spid="40860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Helvetica" charset="0"/>
                <a:ea typeface="Gulim" charset="-127"/>
              </a:rPr>
              <a:t>Accessing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shared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data: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ko-KR" dirty="0">
                <a:latin typeface="Helvetica" charset="0"/>
                <a:ea typeface="Gulim" charset="-127"/>
              </a:rPr>
              <a:t>Problem is at the lowest level</a:t>
            </a:r>
          </a:p>
        </p:txBody>
      </p:sp>
      <p:sp>
        <p:nvSpPr>
          <p:cNvPr id="409603" name="Rectangle 3"/>
          <p:cNvSpPr>
            <a:spLocks noGrp="1" noChangeArrowheads="1"/>
          </p:cNvSpPr>
          <p:nvPr>
            <p:ph idx="1"/>
          </p:nvPr>
        </p:nvSpPr>
        <p:spPr>
          <a:xfrm>
            <a:off x="230188" y="684213"/>
            <a:ext cx="8913812" cy="1601787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Most of the time, threads are working on separate data, so </a:t>
            </a:r>
            <a:r>
              <a:rPr lang="en-US" altLang="zh-CN" dirty="0">
                <a:latin typeface="Helvetica" charset="0"/>
                <a:ea typeface="Gulim" charset="-127"/>
              </a:rPr>
              <a:t>cooperation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is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simple</a:t>
            </a:r>
            <a:r>
              <a:rPr lang="en-US" altLang="ko-KR" dirty="0">
                <a:latin typeface="Helvetica" charset="0"/>
                <a:ea typeface="Gulim" charset="-127"/>
              </a:rPr>
              <a:t>: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x = 1;	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2;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endParaRPr lang="en-US" altLang="ko-KR" dirty="0">
              <a:latin typeface="Helvetica" charset="0"/>
              <a:ea typeface="Gulim" charset="-127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endParaRPr lang="en-US" altLang="ko-KR" dirty="0">
              <a:latin typeface="Helvetica" charset="0"/>
              <a:ea typeface="Gulim" charset="-127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However, What about (Initially, y = 12):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x = 1;	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2;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    x = y+1;	   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y*2;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What are the possible values of x?   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                     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x = 1;	</a:t>
            </a:r>
            <a:endParaRPr lang="en-US" altLang="ko-KR" sz="2000" dirty="0">
              <a:solidFill>
                <a:srgbClr val="233AE1"/>
              </a:solidFill>
              <a:latin typeface="Helvetica" charset="0"/>
              <a:ea typeface="Gulim" charset="-127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    x = y+1;	</a:t>
            </a:r>
            <a:endParaRPr lang="en-US" altLang="ko-KR" sz="2000" dirty="0">
              <a:latin typeface="Helvetica" charset="0"/>
              <a:ea typeface="Gulim" charset="-127"/>
            </a:endParaRPr>
          </a:p>
          <a:p>
            <a:pPr lvl="2"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                                                             </a:t>
            </a:r>
            <a:r>
              <a:rPr lang="en-US" altLang="ko-KR" dirty="0">
                <a:solidFill>
                  <a:srgbClr val="0B52FC"/>
                </a:solidFill>
                <a:latin typeface="Helvetica" charset="0"/>
                <a:ea typeface="Gulim" charset="-127"/>
              </a:rPr>
              <a:t>y = 2;</a:t>
            </a:r>
          </a:p>
          <a:p>
            <a:pPr lvl="2"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solidFill>
                  <a:srgbClr val="0B52FC"/>
                </a:solidFill>
                <a:latin typeface="Helvetica" charset="0"/>
                <a:ea typeface="Gulim" charset="-127"/>
              </a:rPr>
              <a:t>                                                             y = y*2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408958" y="5295900"/>
            <a:ext cx="990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  <a:effectLst>
            <a:outerShdw blurRad="50800" dist="38100" dir="2700000" algn="tl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 err="1">
                <a:latin typeface="Helvetica"/>
                <a:ea typeface="+mn-ea"/>
                <a:cs typeface="Helvetica"/>
              </a:rPr>
              <a:t>x</a:t>
            </a:r>
            <a:r>
              <a:rPr lang="en-US" dirty="0">
                <a:latin typeface="Helvetica"/>
                <a:ea typeface="+mn-ea"/>
                <a:cs typeface="Helvetica"/>
              </a:rPr>
              <a:t>=13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52600" y="4800600"/>
            <a:ext cx="5029200" cy="685800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 type="triangle" w="med" len="med"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 algn="ctr"/>
            <a:endParaRPr lang="zh-CN" altLang="zh-CN" sz="1800" b="0">
              <a:latin typeface="Helvetica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752600" y="5486400"/>
            <a:ext cx="5029200" cy="685800"/>
          </a:xfrm>
          <a:prstGeom prst="rect">
            <a:avLst/>
          </a:prstGeom>
          <a:solidFill>
            <a:schemeClr val="accent1">
              <a:lumMod val="50000"/>
              <a:alpha val="25000"/>
            </a:schemeClr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ea typeface="+mn-e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1868037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3" grpId="0" build="p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1752600" y="4876800"/>
            <a:ext cx="5029200" cy="609600"/>
          </a:xfrm>
          <a:prstGeom prst="rect">
            <a:avLst/>
          </a:prstGeom>
          <a:solidFill>
            <a:schemeClr val="accent1">
              <a:lumMod val="50000"/>
              <a:alpha val="25000"/>
            </a:schemeClr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ea typeface="+mn-ea"/>
              <a:cs typeface="Helvetica"/>
            </a:endParaRPr>
          </a:p>
        </p:txBody>
      </p:sp>
      <p:sp>
        <p:nvSpPr>
          <p:cNvPr id="113666" name="Rectangle 4"/>
          <p:cNvSpPr>
            <a:spLocks noChangeArrowheads="1"/>
          </p:cNvSpPr>
          <p:nvPr/>
        </p:nvSpPr>
        <p:spPr bwMode="auto">
          <a:xfrm>
            <a:off x="1752600" y="5486400"/>
            <a:ext cx="5029200" cy="685800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 type="triangle" w="med" len="med"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 algn="ctr"/>
            <a:endParaRPr lang="zh-CN" altLang="zh-CN" sz="1800" b="0">
              <a:latin typeface="Helvetica" charset="0"/>
            </a:endParaRPr>
          </a:p>
        </p:txBody>
      </p:sp>
      <p:sp>
        <p:nvSpPr>
          <p:cNvPr id="1136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elvetica" charset="0"/>
                <a:ea typeface="Gulim" charset="-127"/>
              </a:rPr>
              <a:t>Accessing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shared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data: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ko-KR" dirty="0">
                <a:latin typeface="Helvetica" charset="0"/>
                <a:ea typeface="Gulim" charset="-127"/>
              </a:rPr>
              <a:t>Problem is at the lowest level</a:t>
            </a:r>
          </a:p>
        </p:txBody>
      </p:sp>
      <p:sp>
        <p:nvSpPr>
          <p:cNvPr id="113668" name="Rectangle 3"/>
          <p:cNvSpPr>
            <a:spLocks noGrp="1" noChangeArrowheads="1"/>
          </p:cNvSpPr>
          <p:nvPr>
            <p:ph idx="1"/>
          </p:nvPr>
        </p:nvSpPr>
        <p:spPr>
          <a:xfrm>
            <a:off x="230188" y="684213"/>
            <a:ext cx="8913812" cy="1677987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Most of the time, threads are working on separate data, so </a:t>
            </a:r>
            <a:r>
              <a:rPr lang="en-US" altLang="zh-CN" dirty="0">
                <a:latin typeface="Helvetica" charset="0"/>
                <a:ea typeface="Gulim" charset="-127"/>
              </a:rPr>
              <a:t>cooperation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is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simple</a:t>
            </a:r>
            <a:r>
              <a:rPr lang="en-US" altLang="ko-KR" dirty="0">
                <a:latin typeface="Helvetica" charset="0"/>
                <a:ea typeface="Gulim" charset="-127"/>
              </a:rPr>
              <a:t>: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x = 1;	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2;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</a:p>
          <a:p>
            <a:pPr marL="0" indent="0" eaLnBrk="1" hangingPunct="1">
              <a:lnSpc>
                <a:spcPct val="85000"/>
              </a:lnSpc>
              <a:spcBef>
                <a:spcPct val="20000"/>
              </a:spcBef>
              <a:buNone/>
              <a:tabLst>
                <a:tab pos="2228850" algn="ctr"/>
                <a:tab pos="5548313" algn="ctr"/>
              </a:tabLst>
            </a:pPr>
            <a:endParaRPr lang="en-US" altLang="ko-KR" dirty="0">
              <a:latin typeface="Helvetica" charset="0"/>
              <a:ea typeface="Gulim" charset="-127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endParaRPr lang="en-US" altLang="ko-KR" dirty="0">
              <a:latin typeface="Helvetica" charset="0"/>
              <a:ea typeface="Gulim" charset="-127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However, What about (Initially, y = 12):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x = 1;	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2;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    x = y+1;	   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y*2;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What are the possible values of x?   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                     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</a:t>
            </a:r>
            <a:r>
              <a:rPr lang="en-US" altLang="ko-KR" sz="2000" dirty="0">
                <a:solidFill>
                  <a:srgbClr val="2A40E2"/>
                </a:solidFill>
                <a:latin typeface="Helvetica" charset="0"/>
                <a:ea typeface="Gulim" charset="-127"/>
              </a:rPr>
              <a:t>                                                                      y = 2;	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rgbClr val="2A40E2"/>
                </a:solidFill>
                <a:latin typeface="Helvetica" charset="0"/>
                <a:ea typeface="Gulim" charset="-127"/>
              </a:rPr>
              <a:t>		                                                                      y = y*2;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endParaRPr lang="en-US" altLang="ko-KR" sz="2000" dirty="0">
              <a:latin typeface="Helvetica" charset="0"/>
              <a:ea typeface="Gulim" charset="-127"/>
            </a:endParaRPr>
          </a:p>
          <a:p>
            <a:pPr lvl="2"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              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-127"/>
              </a:rPr>
              <a:t>x = 1;</a:t>
            </a:r>
          </a:p>
          <a:p>
            <a:pPr lvl="2"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-127"/>
              </a:rPr>
              <a:t>               x = y+1;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771900" y="6324600"/>
            <a:ext cx="990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  <a:effectLst>
            <a:outerShdw blurRad="50800" dist="38100" dir="2700000" algn="tl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 err="1">
                <a:latin typeface="Helvetica"/>
                <a:ea typeface="+mn-ea"/>
                <a:cs typeface="Helvetica"/>
              </a:rPr>
              <a:t>x</a:t>
            </a:r>
            <a:r>
              <a:rPr lang="en-US" dirty="0">
                <a:latin typeface="Helvetica"/>
                <a:ea typeface="+mn-ea"/>
                <a:cs typeface="Helvetica"/>
              </a:rPr>
              <a:t>=5</a:t>
            </a:r>
          </a:p>
        </p:txBody>
      </p:sp>
    </p:spTree>
    <p:extLst>
      <p:ext uri="{BB962C8B-B14F-4D97-AF65-F5344CB8AC3E}">
        <p14:creationId xmlns:p14="http://schemas.microsoft.com/office/powerpoint/2010/main" val="17777282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/>
          <p:cNvSpPr>
            <a:spLocks noChangeArrowheads="1"/>
          </p:cNvSpPr>
          <p:nvPr/>
        </p:nvSpPr>
        <p:spPr bwMode="auto">
          <a:xfrm>
            <a:off x="1752600" y="5486400"/>
            <a:ext cx="5029200" cy="304800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 type="triangle" w="med" len="med"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 algn="ctr"/>
            <a:endParaRPr lang="zh-CN" altLang="zh-CN" sz="1800" b="0">
              <a:latin typeface="Helvetica" charset="0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1752600" y="5791200"/>
            <a:ext cx="5029200" cy="304800"/>
          </a:xfrm>
          <a:prstGeom prst="rect">
            <a:avLst/>
          </a:prstGeom>
          <a:solidFill>
            <a:schemeClr val="accent1">
              <a:lumMod val="50000"/>
              <a:alpha val="25000"/>
            </a:schemeClr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ea typeface="+mn-ea"/>
              <a:cs typeface="Helvetica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752600" y="4876800"/>
            <a:ext cx="5029200" cy="304800"/>
          </a:xfrm>
          <a:prstGeom prst="rect">
            <a:avLst/>
          </a:prstGeom>
          <a:solidFill>
            <a:schemeClr val="accent1">
              <a:lumMod val="50000"/>
              <a:alpha val="25000"/>
            </a:schemeClr>
          </a:solidFill>
          <a:ln w="25400" cap="flat" cmpd="sng" algn="ctr">
            <a:noFill/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ea typeface="+mn-ea"/>
              <a:cs typeface="Helvetica"/>
            </a:endParaRPr>
          </a:p>
        </p:txBody>
      </p:sp>
      <p:sp>
        <p:nvSpPr>
          <p:cNvPr id="115716" name="Rectangle 4"/>
          <p:cNvSpPr>
            <a:spLocks noChangeArrowheads="1"/>
          </p:cNvSpPr>
          <p:nvPr/>
        </p:nvSpPr>
        <p:spPr bwMode="auto">
          <a:xfrm>
            <a:off x="1752600" y="5181600"/>
            <a:ext cx="5029200" cy="304800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 type="triangle" w="med" len="med"/>
                <a:tailEnd/>
              </a14:hiddenLine>
            </a:ext>
          </a:extLst>
        </p:spPr>
        <p:txBody>
          <a:bodyPr anchor="ctr"/>
          <a:lstStyle>
            <a:lvl1pPr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MS PGothic" charset="-128"/>
              </a:defRPr>
            </a:lvl9pPr>
          </a:lstStyle>
          <a:p>
            <a:pPr algn="ctr"/>
            <a:endParaRPr lang="zh-CN" altLang="zh-CN" sz="1800" b="0">
              <a:latin typeface="Helvetica" charset="0"/>
            </a:endParaRPr>
          </a:p>
        </p:txBody>
      </p:sp>
      <p:sp>
        <p:nvSpPr>
          <p:cNvPr id="1157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elvetica" charset="0"/>
                <a:ea typeface="Gulim" charset="-127"/>
              </a:rPr>
              <a:t>Accessing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shared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data: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ko-KR" dirty="0">
                <a:latin typeface="Helvetica" charset="0"/>
                <a:ea typeface="Gulim" charset="-127"/>
              </a:rPr>
              <a:t>Problem is at the lowest level</a:t>
            </a:r>
          </a:p>
        </p:txBody>
      </p:sp>
      <p:sp>
        <p:nvSpPr>
          <p:cNvPr id="115718" name="Rectangle 3"/>
          <p:cNvSpPr>
            <a:spLocks noGrp="1" noChangeArrowheads="1"/>
          </p:cNvSpPr>
          <p:nvPr>
            <p:ph idx="1"/>
          </p:nvPr>
        </p:nvSpPr>
        <p:spPr>
          <a:xfrm>
            <a:off x="230188" y="684213"/>
            <a:ext cx="8913812" cy="4802187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Most of the time, threads are working on separate data, so </a:t>
            </a:r>
            <a:r>
              <a:rPr lang="en-US" altLang="zh-CN" dirty="0">
                <a:latin typeface="Helvetica" charset="0"/>
                <a:ea typeface="Gulim" charset="-127"/>
              </a:rPr>
              <a:t>cooperation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is</a:t>
            </a:r>
            <a:r>
              <a:rPr lang="zh-CN" altLang="en-US" dirty="0">
                <a:latin typeface="Helvetica" charset="0"/>
                <a:ea typeface="Gulim" charset="-127"/>
              </a:rPr>
              <a:t> </a:t>
            </a:r>
            <a:r>
              <a:rPr lang="en-US" altLang="zh-CN" dirty="0">
                <a:latin typeface="Helvetica" charset="0"/>
                <a:ea typeface="Gulim" charset="-127"/>
              </a:rPr>
              <a:t>simple</a:t>
            </a:r>
            <a:r>
              <a:rPr lang="en-US" altLang="ko-KR" dirty="0">
                <a:latin typeface="Helvetica" charset="0"/>
                <a:ea typeface="Gulim" charset="-127"/>
              </a:rPr>
              <a:t>: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x = 1;	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2;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endParaRPr lang="en-US" altLang="ko-KR" dirty="0">
              <a:latin typeface="Helvetica" charset="0"/>
              <a:ea typeface="Gulim" charset="-127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endParaRPr lang="en-US" altLang="ko-KR" dirty="0">
              <a:latin typeface="Helvetica" charset="0"/>
              <a:ea typeface="Gulim" charset="-127"/>
            </a:endParaRP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However, What about (Initially, y = 12):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x = 1;	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2;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    x = y+1;	   </a:t>
            </a:r>
            <a:r>
              <a:rPr lang="en-US" altLang="ko-KR" sz="2000" dirty="0">
                <a:solidFill>
                  <a:srgbClr val="233AE1"/>
                </a:solidFill>
                <a:latin typeface="Helvetica" charset="0"/>
                <a:ea typeface="Gulim" charset="-127"/>
              </a:rPr>
              <a:t>y = y*2;</a:t>
            </a:r>
          </a:p>
          <a:p>
            <a:pPr lvl="1" eaLnBrk="1" hangingPunct="1">
              <a:lnSpc>
                <a:spcPct val="85000"/>
              </a:lnSpc>
              <a:spcBef>
                <a:spcPct val="20000"/>
              </a:spcBef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What are the possible values of x?   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latin typeface="Helvetica" charset="0"/>
                <a:ea typeface="Gulim" charset="-127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                     </a:t>
            </a:r>
            <a:r>
              <a:rPr lang="en-US" altLang="ko-KR" sz="2000" u="sng" dirty="0">
                <a:solidFill>
                  <a:schemeClr val="hlink"/>
                </a:solidFill>
                <a:latin typeface="Helvetica" charset="0"/>
                <a:ea typeface="Gulim" charset="-127"/>
              </a:rPr>
              <a:t>Thread A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r>
              <a:rPr lang="en-US" altLang="ko-KR" sz="2000" u="sng" dirty="0">
                <a:solidFill>
                  <a:srgbClr val="233AE1"/>
                </a:solidFill>
                <a:latin typeface="Helvetica" charset="0"/>
                <a:ea typeface="Gulim" charset="-127"/>
              </a:rPr>
              <a:t>Thread B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	</a:t>
            </a:r>
            <a:r>
              <a:rPr lang="en-US" altLang="ko-KR" sz="2000" dirty="0">
                <a:solidFill>
                  <a:srgbClr val="2A40E2"/>
                </a:solidFill>
                <a:latin typeface="Helvetica" charset="0"/>
                <a:ea typeface="Gulim" charset="-127"/>
              </a:rPr>
              <a:t>                                                                      y = 2;	</a:t>
            </a:r>
          </a:p>
          <a:p>
            <a:pPr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sz="2000" dirty="0">
                <a:solidFill>
                  <a:srgbClr val="2A40E2"/>
                </a:solidFill>
                <a:latin typeface="Helvetica" charset="0"/>
                <a:ea typeface="Gulim" charset="-127"/>
              </a:rPr>
              <a:t>		  </a:t>
            </a:r>
            <a:r>
              <a:rPr lang="en-US" altLang="ko-KR" sz="2000" dirty="0">
                <a:solidFill>
                  <a:srgbClr val="FF0000"/>
                </a:solidFill>
                <a:latin typeface="Helvetica" charset="0"/>
                <a:ea typeface="Gulim" charset="-127"/>
              </a:rPr>
              <a:t>x = 1;</a:t>
            </a:r>
            <a:r>
              <a:rPr lang="en-US" altLang="ko-KR" sz="2000" dirty="0">
                <a:solidFill>
                  <a:schemeClr val="hlink"/>
                </a:solidFill>
                <a:latin typeface="Helvetica" charset="0"/>
                <a:ea typeface="Gulim" charset="-127"/>
              </a:rPr>
              <a:t>	</a:t>
            </a:r>
            <a:endParaRPr lang="en-US" altLang="ko-KR" sz="2000" dirty="0">
              <a:latin typeface="Helvetica" charset="0"/>
              <a:ea typeface="Gulim" charset="-127"/>
            </a:endParaRPr>
          </a:p>
          <a:p>
            <a:pPr lvl="2"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latin typeface="Helvetica" charset="0"/>
                <a:ea typeface="Gulim" charset="-127"/>
              </a:rPr>
              <a:t>             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-127"/>
              </a:rPr>
              <a:t> x = y+1;</a:t>
            </a:r>
          </a:p>
          <a:p>
            <a:pPr lvl="2" eaLnBrk="1" hangingPunct="1">
              <a:lnSpc>
                <a:spcPct val="85000"/>
              </a:lnSpc>
              <a:spcBef>
                <a:spcPct val="20000"/>
              </a:spcBef>
              <a:buFontTx/>
              <a:buNone/>
              <a:tabLst>
                <a:tab pos="2228850" algn="ctr"/>
                <a:tab pos="5548313" algn="ctr"/>
              </a:tabLst>
            </a:pP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-127"/>
              </a:rPr>
              <a:t>                                                             </a:t>
            </a:r>
            <a:r>
              <a:rPr lang="en-US" altLang="ko-KR" dirty="0">
                <a:solidFill>
                  <a:srgbClr val="0000FF"/>
                </a:solidFill>
                <a:latin typeface="Helvetica" charset="0"/>
                <a:ea typeface="Gulim" charset="-127"/>
              </a:rPr>
              <a:t>y= y*2;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076700" y="6324600"/>
            <a:ext cx="990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  <a:effectLst>
            <a:outerShdw blurRad="50800" dist="38100" dir="2700000" algn="tl" rotWithShape="0">
              <a:srgbClr val="000000">
                <a:alpha val="42998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r>
              <a:rPr lang="en-US" dirty="0" err="1">
                <a:latin typeface="Helvetica"/>
                <a:ea typeface="+mn-ea"/>
                <a:cs typeface="Helvetica"/>
              </a:rPr>
              <a:t>x</a:t>
            </a:r>
            <a:r>
              <a:rPr lang="en-US" dirty="0">
                <a:latin typeface="Helvetica"/>
                <a:ea typeface="+mn-ea"/>
                <a:cs typeface="Helvetica"/>
              </a:rPr>
              <a:t>=3</a:t>
            </a:r>
          </a:p>
        </p:txBody>
      </p:sp>
    </p:spTree>
    <p:extLst>
      <p:ext uri="{BB962C8B-B14F-4D97-AF65-F5344CB8AC3E}">
        <p14:creationId xmlns:p14="http://schemas.microsoft.com/office/powerpoint/2010/main" val="2091566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856" name="Picture 4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06650"/>
            <a:ext cx="3989388" cy="292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088" y="688975"/>
            <a:ext cx="8648700" cy="6132513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Threaded programs must work for all </a:t>
            </a:r>
            <a:r>
              <a:rPr lang="en-US" altLang="ko-KR" dirty="0" err="1">
                <a:latin typeface="Helvetica" charset="0"/>
                <a:ea typeface="굴림" charset="-127"/>
              </a:rPr>
              <a:t>interleavings</a:t>
            </a:r>
            <a:r>
              <a:rPr lang="en-US" altLang="ko-KR" dirty="0">
                <a:latin typeface="Helvetica" charset="0"/>
                <a:ea typeface="굴림" charset="-127"/>
              </a:rPr>
              <a:t> of thread instruction sequences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Cooperating threads inherently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굴림" charset="-127"/>
              </a:rPr>
              <a:t>non-deterministic</a:t>
            </a:r>
            <a:r>
              <a:rPr lang="en-US" altLang="ko-KR" dirty="0">
                <a:latin typeface="Helvetica" charset="0"/>
                <a:ea typeface="굴림" charset="-127"/>
              </a:rPr>
              <a:t> and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굴림" charset="-127"/>
              </a:rPr>
              <a:t>non-reproducible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Really hard to debug unless carefully designed!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Example: Therac-25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Machine for radiation therapy</a:t>
            </a: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Software control of electron</a:t>
            </a:r>
            <a:br>
              <a:rPr lang="en-US" altLang="ko-KR" dirty="0">
                <a:latin typeface="Helvetica" charset="0"/>
                <a:ea typeface="굴림" charset="-127"/>
              </a:rPr>
            </a:br>
            <a:r>
              <a:rPr lang="en-US" altLang="ko-KR" dirty="0">
                <a:latin typeface="Helvetica" charset="0"/>
                <a:ea typeface="굴림" charset="-127"/>
              </a:rPr>
              <a:t>accelerator and electron beam</a:t>
            </a:r>
            <a:r>
              <a:rPr lang="en-US" altLang="ko-KR" dirty="0">
                <a:latin typeface="Helvetica" charset="0"/>
                <a:ea typeface="굴림" charset="-127"/>
                <a:sym typeface="Symbol" charset="2"/>
              </a:rPr>
              <a:t>/</a:t>
            </a:r>
            <a:br>
              <a:rPr lang="en-US" altLang="ko-KR" dirty="0">
                <a:latin typeface="Helvetica" charset="0"/>
                <a:ea typeface="굴림" charset="-127"/>
                <a:sym typeface="Symbol" charset="2"/>
              </a:rPr>
            </a:br>
            <a:r>
              <a:rPr lang="en-US" altLang="ko-KR" dirty="0">
                <a:latin typeface="Helvetica" charset="0"/>
                <a:ea typeface="굴림" charset="-127"/>
                <a:sym typeface="Symbol" charset="2"/>
              </a:rPr>
              <a:t>Xray production</a:t>
            </a: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  <a:sym typeface="Symbol" charset="2"/>
              </a:rPr>
              <a:t>Software control of dosage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  <a:sym typeface="Symbol" charset="2"/>
              </a:rPr>
              <a:t>Software errors caused </a:t>
            </a:r>
            <a:br>
              <a:rPr lang="en-US" altLang="ko-KR" dirty="0">
                <a:latin typeface="Helvetica" charset="0"/>
                <a:ea typeface="굴림" charset="-127"/>
                <a:sym typeface="Symbol" charset="2"/>
              </a:rPr>
            </a:br>
            <a:r>
              <a:rPr lang="en-US" altLang="ko-KR" dirty="0">
                <a:latin typeface="Helvetica" charset="0"/>
                <a:ea typeface="굴림" charset="-127"/>
                <a:sym typeface="Symbol" charset="2"/>
              </a:rPr>
              <a:t>overdoses and the death of </a:t>
            </a:r>
            <a:br>
              <a:rPr lang="en-US" altLang="ko-KR" dirty="0">
                <a:latin typeface="Helvetica" charset="0"/>
                <a:ea typeface="굴림" charset="-127"/>
                <a:sym typeface="Symbol" charset="2"/>
              </a:rPr>
            </a:br>
            <a:r>
              <a:rPr lang="en-US" altLang="ko-KR" dirty="0">
                <a:latin typeface="Helvetica" charset="0"/>
                <a:ea typeface="굴림" charset="-127"/>
                <a:sym typeface="Symbol" charset="2"/>
              </a:rPr>
              <a:t>several patients</a:t>
            </a:r>
            <a:endParaRPr lang="en-US" altLang="ko-KR" dirty="0">
              <a:latin typeface="Helvetica" charset="0"/>
              <a:ea typeface="굴림" charset="-127"/>
            </a:endParaRP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A series of race conditions on </a:t>
            </a:r>
            <a:br>
              <a:rPr lang="en-US" altLang="ko-KR" dirty="0">
                <a:latin typeface="Helvetica" charset="0"/>
                <a:ea typeface="굴림" charset="-127"/>
              </a:rPr>
            </a:br>
            <a:r>
              <a:rPr lang="en-US" altLang="ko-KR" dirty="0">
                <a:latin typeface="Helvetica" charset="0"/>
                <a:ea typeface="굴림" charset="-127"/>
              </a:rPr>
              <a:t>shared variables and poor </a:t>
            </a:r>
            <a:br>
              <a:rPr lang="en-US" altLang="ko-KR" dirty="0">
                <a:latin typeface="Helvetica" charset="0"/>
                <a:ea typeface="굴림" charset="-127"/>
              </a:rPr>
            </a:br>
            <a:r>
              <a:rPr lang="en-US" altLang="ko-KR" dirty="0">
                <a:latin typeface="Helvetica" charset="0"/>
                <a:ea typeface="굴림" charset="-127"/>
              </a:rPr>
              <a:t>software design</a:t>
            </a:r>
          </a:p>
          <a:p>
            <a:pPr lvl="2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“They determined that data entry speed during editing was the key factor in producing the error condition: If the prescription data was edited at a fast pace, the overdose occurred.”</a:t>
            </a:r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Helvetica" charset="0"/>
                <a:ea typeface="굴림" charset="-127"/>
              </a:rPr>
              <a:t>Correctness </a:t>
            </a:r>
            <a:r>
              <a:rPr lang="en-US" altLang="zh-CN" dirty="0">
                <a:latin typeface="Helvetica" charset="0"/>
                <a:ea typeface="굴림" charset="-127"/>
              </a:rPr>
              <a:t>Problems</a:t>
            </a:r>
            <a:endParaRPr lang="en-US" altLang="ko-KR" dirty="0">
              <a:latin typeface="Helvetica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82652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9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Gulim" charset="-127"/>
              </a:rPr>
              <a:t>Summary</a:t>
            </a:r>
          </a:p>
        </p:txBody>
      </p:sp>
      <p:sp>
        <p:nvSpPr>
          <p:cNvPr id="117762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686800" cy="5486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Gulim" charset="-127"/>
              </a:rPr>
              <a:t>Concurrent threads are a very useful abstraction</a:t>
            </a:r>
          </a:p>
          <a:p>
            <a:pPr lvl="1" eaLnBrk="1" hangingPunct="1"/>
            <a:r>
              <a:rPr lang="en-US" altLang="ko-KR">
                <a:latin typeface="Helvetica" charset="0"/>
                <a:ea typeface="Gulim" charset="-127"/>
              </a:rPr>
              <a:t>Allow transparent overlapping of computation and I/O</a:t>
            </a:r>
          </a:p>
          <a:p>
            <a:pPr lvl="1" eaLnBrk="1" hangingPunct="1"/>
            <a:r>
              <a:rPr lang="en-US" altLang="ko-KR">
                <a:latin typeface="Helvetica" charset="0"/>
                <a:ea typeface="Gulim" charset="-127"/>
              </a:rPr>
              <a:t>Allow use of parallel processing when available</a:t>
            </a:r>
          </a:p>
          <a:p>
            <a:pPr eaLnBrk="1" hangingPunct="1"/>
            <a:endParaRPr lang="en-US" altLang="ko-KR">
              <a:latin typeface="Helvetica" charset="0"/>
              <a:ea typeface="Gulim" charset="-127"/>
            </a:endParaRPr>
          </a:p>
          <a:p>
            <a:pPr eaLnBrk="1" hangingPunct="1"/>
            <a:r>
              <a:rPr lang="en-US" altLang="ko-KR">
                <a:latin typeface="Helvetica" charset="0"/>
                <a:ea typeface="Gulim" charset="-127"/>
              </a:rPr>
              <a:t>Concurrent threads introduce problems when accessing shared data</a:t>
            </a:r>
          </a:p>
          <a:p>
            <a:pPr lvl="1" eaLnBrk="1" hangingPunct="1"/>
            <a:r>
              <a:rPr lang="en-US" altLang="ko-KR">
                <a:latin typeface="Helvetica" charset="0"/>
                <a:ea typeface="Gulim" charset="-127"/>
              </a:rPr>
              <a:t>Programs must be insensitive to arbitrary interleavings</a:t>
            </a:r>
          </a:p>
          <a:p>
            <a:pPr lvl="1" eaLnBrk="1" hangingPunct="1"/>
            <a:r>
              <a:rPr lang="en-US" altLang="ko-KR">
                <a:latin typeface="Helvetica" charset="0"/>
                <a:ea typeface="Gulim" charset="-127"/>
              </a:rPr>
              <a:t>Without careful design, shared variables can become completely inconsistent</a:t>
            </a:r>
          </a:p>
          <a:p>
            <a:pPr eaLnBrk="1" hangingPunct="1"/>
            <a:endParaRPr lang="en-US" altLang="ko-KR">
              <a:latin typeface="Helvetica" charset="0"/>
              <a:ea typeface="Gulim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727289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00ECB-EC90-B230-F51F-1446FA4C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Midterm</a:t>
            </a:r>
            <a:r>
              <a:rPr kumimoji="1" lang="zh-CN" altLang="en-US" dirty="0"/>
              <a:t> </a:t>
            </a:r>
            <a:r>
              <a:rPr kumimoji="1" lang="en-US" altLang="zh-CN" dirty="0"/>
              <a:t>Announcement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101D15-5088-40C7-6067-D549EB4A3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Apr</a:t>
            </a:r>
            <a:r>
              <a:rPr kumimoji="1" lang="zh-CN" altLang="en-US" dirty="0"/>
              <a:t> </a:t>
            </a:r>
            <a:r>
              <a:rPr kumimoji="1" lang="en-US" altLang="zh-CN" dirty="0"/>
              <a:t>17</a:t>
            </a:r>
            <a:r>
              <a:rPr kumimoji="1" lang="zh-CN" altLang="en-US" dirty="0"/>
              <a:t> </a:t>
            </a:r>
            <a:r>
              <a:rPr kumimoji="1" lang="en-US" altLang="zh-CN" dirty="0"/>
              <a:t>(the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week</a:t>
            </a:r>
            <a:r>
              <a:rPr kumimoji="1" lang="zh-CN" altLang="en-US" dirty="0"/>
              <a:t> </a:t>
            </a:r>
            <a:r>
              <a:rPr kumimoji="1" lang="en-US" altLang="zh-CN" dirty="0"/>
              <a:t>after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next),</a:t>
            </a:r>
            <a:r>
              <a:rPr kumimoji="1" lang="zh-CN" altLang="en-US" dirty="0"/>
              <a:t> </a:t>
            </a:r>
            <a:r>
              <a:rPr kumimoji="1" lang="en-US" altLang="zh-CN" dirty="0"/>
              <a:t>in-class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midterm</a:t>
            </a:r>
          </a:p>
          <a:p>
            <a:r>
              <a:rPr kumimoji="1" lang="en-US" altLang="zh-CN" dirty="0"/>
              <a:t>Place</a:t>
            </a:r>
            <a:r>
              <a:rPr kumimoji="1" lang="zh-CN" altLang="en-US" dirty="0"/>
              <a:t> </a:t>
            </a:r>
            <a:r>
              <a:rPr kumimoji="1" lang="en-US" altLang="zh-CN" dirty="0"/>
              <a:t>TBD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Covers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materials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upto</a:t>
            </a:r>
            <a:r>
              <a:rPr kumimoji="1" lang="en-US" altLang="zh-CN" dirty="0"/>
              <a:t> 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end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next</a:t>
            </a:r>
            <a:r>
              <a:rPr kumimoji="1" lang="zh-CN" altLang="en-US" dirty="0"/>
              <a:t> </a:t>
            </a:r>
            <a:r>
              <a:rPr kumimoji="1" lang="en-US" altLang="zh-CN" dirty="0"/>
              <a:t>lecture</a:t>
            </a:r>
          </a:p>
          <a:p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bash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commands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only</a:t>
            </a:r>
            <a:r>
              <a:rPr kumimoji="1" lang="zh-CN" altLang="en-US" dirty="0"/>
              <a:t> </a:t>
            </a:r>
            <a:r>
              <a:rPr kumimoji="1" lang="en-US" altLang="zh-CN" dirty="0"/>
              <a:t>covers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what</a:t>
            </a:r>
            <a:r>
              <a:rPr kumimoji="1" lang="zh-CN" altLang="en-US" dirty="0"/>
              <a:t> </a:t>
            </a:r>
            <a:r>
              <a:rPr kumimoji="1" lang="en-US" altLang="zh-CN" dirty="0"/>
              <a:t>we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discussed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/>
              <a:t>lecture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 </a:t>
            </a:r>
            <a:r>
              <a:rPr kumimoji="1" lang="en-US" altLang="zh-CN" dirty="0"/>
              <a:t>page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A4-size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cheat</a:t>
            </a:r>
            <a:r>
              <a:rPr kumimoji="1" lang="zh-CN" altLang="en-US" dirty="0"/>
              <a:t> </a:t>
            </a:r>
            <a:r>
              <a:rPr kumimoji="1" lang="en-US" altLang="zh-CN" dirty="0"/>
              <a:t>sheet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allowed</a:t>
            </a:r>
          </a:p>
          <a:p>
            <a:pPr lvl="1"/>
            <a:r>
              <a:rPr kumimoji="1" lang="en-US" altLang="zh-CN" dirty="0"/>
              <a:t>Must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be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readable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bare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eyes</a:t>
            </a:r>
            <a:r>
              <a:rPr kumimoji="1" lang="zh-CN" altLang="en-US" dirty="0"/>
              <a:t> </a:t>
            </a:r>
            <a:r>
              <a:rPr kumimoji="1" lang="en-US" altLang="zh-CN" dirty="0"/>
              <a:t>(and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destroying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your</a:t>
            </a:r>
            <a:r>
              <a:rPr kumimoji="1" lang="zh-CN" altLang="en-US" dirty="0"/>
              <a:t> </a:t>
            </a:r>
            <a:r>
              <a:rPr kumimoji="1" lang="en-US" altLang="zh-CN" dirty="0"/>
              <a:t>eyes)</a:t>
            </a:r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Non-programmable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calculator</a:t>
            </a:r>
            <a:r>
              <a:rPr kumimoji="1" lang="zh-CN" altLang="en-US" dirty="0"/>
              <a:t> </a:t>
            </a:r>
            <a:r>
              <a:rPr kumimoji="1" lang="en-US" altLang="zh-CN" dirty="0"/>
              <a:t>allowed,</a:t>
            </a:r>
            <a:r>
              <a:rPr kumimoji="1" lang="zh-CN" altLang="en-US" dirty="0"/>
              <a:t> </a:t>
            </a:r>
            <a:r>
              <a:rPr kumimoji="1" lang="en-US" altLang="zh-CN" dirty="0"/>
              <a:t>but</a:t>
            </a:r>
            <a:r>
              <a:rPr kumimoji="1" lang="zh-CN" altLang="en-US" dirty="0"/>
              <a:t> </a:t>
            </a:r>
            <a:r>
              <a:rPr kumimoji="1" lang="en-US" altLang="zh-CN" dirty="0"/>
              <a:t>not</a:t>
            </a:r>
            <a:r>
              <a:rPr kumimoji="1" lang="zh-CN" altLang="en-US" dirty="0"/>
              <a:t> </a:t>
            </a:r>
            <a:r>
              <a:rPr kumimoji="1" lang="en-US" altLang="zh-CN" dirty="0"/>
              <a:t>necessary</a:t>
            </a:r>
          </a:p>
          <a:p>
            <a:pPr lvl="1"/>
            <a:r>
              <a:rPr kumimoji="1" lang="en-US" altLang="zh-CN" dirty="0"/>
              <a:t>Following the normal definition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“calculator”</a:t>
            </a:r>
          </a:p>
        </p:txBody>
      </p:sp>
    </p:spTree>
    <p:extLst>
      <p:ext uri="{BB962C8B-B14F-4D97-AF65-F5344CB8AC3E}">
        <p14:creationId xmlns:p14="http://schemas.microsoft.com/office/powerpoint/2010/main" val="3341957165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78DE2-D4F8-D944-B05D-FDE7E4DF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Problems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6CC2AC-7716-9846-8D92-F2701FCF4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43640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6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Motivation: “Too much milk”</a:t>
            </a:r>
          </a:p>
        </p:txBody>
      </p:sp>
      <p:sp>
        <p:nvSpPr>
          <p:cNvPr id="422976" name="Rectangle 64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7315200" cy="52578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Great thing about OS’s – analogy between problems in OS and problems in real life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Help you understand real life problems better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But, computers are much stupider than people</a:t>
            </a:r>
          </a:p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Example: People need to coordinate:</a:t>
            </a:r>
          </a:p>
          <a:p>
            <a:pPr eaLnBrk="1" hangingPunct="1"/>
            <a:endParaRPr lang="ko-KR" altLang="en-US">
              <a:latin typeface="Helvetica" charset="0"/>
              <a:ea typeface="굴림" charset="-127"/>
            </a:endParaRPr>
          </a:p>
        </p:txBody>
      </p:sp>
      <p:grpSp>
        <p:nvGrpSpPr>
          <p:cNvPr id="2" name="Group 72"/>
          <p:cNvGrpSpPr>
            <a:grpSpLocks/>
          </p:cNvGrpSpPr>
          <p:nvPr/>
        </p:nvGrpSpPr>
        <p:grpSpPr bwMode="auto">
          <a:xfrm>
            <a:off x="304800" y="5530850"/>
            <a:ext cx="8610600" cy="365125"/>
            <a:chOff x="192" y="3484"/>
            <a:chExt cx="5424" cy="230"/>
          </a:xfrm>
        </p:grpSpPr>
        <p:sp>
          <p:nvSpPr>
            <p:cNvPr id="128046" name="Rectangle 28"/>
            <p:cNvSpPr>
              <a:spLocks noChangeArrowheads="1"/>
            </p:cNvSpPr>
            <p:nvPr/>
          </p:nvSpPr>
          <p:spPr bwMode="auto">
            <a:xfrm>
              <a:off x="3264" y="348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Arrive home, put milk away</a:t>
              </a:r>
            </a:p>
          </p:txBody>
        </p:sp>
        <p:sp>
          <p:nvSpPr>
            <p:cNvPr id="128047" name="Rectangle 27"/>
            <p:cNvSpPr>
              <a:spLocks noChangeArrowheads="1"/>
            </p:cNvSpPr>
            <p:nvPr/>
          </p:nvSpPr>
          <p:spPr bwMode="auto">
            <a:xfrm>
              <a:off x="1008" y="348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zh-CN" altLang="zh-CN" sz="2000">
                <a:latin typeface="Helvetica" charset="0"/>
              </a:endParaRPr>
            </a:p>
          </p:txBody>
        </p:sp>
        <p:sp>
          <p:nvSpPr>
            <p:cNvPr id="128048" name="Rectangle 26"/>
            <p:cNvSpPr>
              <a:spLocks noChangeArrowheads="1"/>
            </p:cNvSpPr>
            <p:nvPr/>
          </p:nvSpPr>
          <p:spPr bwMode="auto">
            <a:xfrm>
              <a:off x="192" y="348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3:30</a:t>
              </a:r>
            </a:p>
          </p:txBody>
        </p:sp>
      </p:grpSp>
      <p:grpSp>
        <p:nvGrpSpPr>
          <p:cNvPr id="3" name="Group 71"/>
          <p:cNvGrpSpPr>
            <a:grpSpLocks/>
          </p:cNvGrpSpPr>
          <p:nvPr/>
        </p:nvGrpSpPr>
        <p:grpSpPr bwMode="auto">
          <a:xfrm>
            <a:off x="304800" y="5165725"/>
            <a:ext cx="8610600" cy="365125"/>
            <a:chOff x="192" y="3254"/>
            <a:chExt cx="5424" cy="230"/>
          </a:xfrm>
        </p:grpSpPr>
        <p:sp>
          <p:nvSpPr>
            <p:cNvPr id="128043" name="Rectangle 25"/>
            <p:cNvSpPr>
              <a:spLocks noChangeArrowheads="1"/>
            </p:cNvSpPr>
            <p:nvPr/>
          </p:nvSpPr>
          <p:spPr bwMode="auto">
            <a:xfrm>
              <a:off x="3264" y="325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Buy milk</a:t>
              </a:r>
            </a:p>
          </p:txBody>
        </p:sp>
        <p:sp>
          <p:nvSpPr>
            <p:cNvPr id="128044" name="Rectangle 24"/>
            <p:cNvSpPr>
              <a:spLocks noChangeArrowheads="1"/>
            </p:cNvSpPr>
            <p:nvPr/>
          </p:nvSpPr>
          <p:spPr bwMode="auto">
            <a:xfrm>
              <a:off x="1008" y="325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zh-CN" altLang="zh-CN" sz="2000">
                <a:latin typeface="Helvetica" charset="0"/>
              </a:endParaRPr>
            </a:p>
          </p:txBody>
        </p:sp>
        <p:sp>
          <p:nvSpPr>
            <p:cNvPr id="128045" name="Rectangle 23"/>
            <p:cNvSpPr>
              <a:spLocks noChangeArrowheads="1"/>
            </p:cNvSpPr>
            <p:nvPr/>
          </p:nvSpPr>
          <p:spPr bwMode="auto">
            <a:xfrm>
              <a:off x="192" y="325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3:25</a:t>
              </a:r>
            </a:p>
          </p:txBody>
        </p:sp>
      </p:grp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304800" y="4800600"/>
            <a:ext cx="8610600" cy="365125"/>
            <a:chOff x="192" y="3024"/>
            <a:chExt cx="5424" cy="230"/>
          </a:xfrm>
        </p:grpSpPr>
        <p:sp>
          <p:nvSpPr>
            <p:cNvPr id="128040" name="Rectangle 22"/>
            <p:cNvSpPr>
              <a:spLocks noChangeArrowheads="1"/>
            </p:cNvSpPr>
            <p:nvPr/>
          </p:nvSpPr>
          <p:spPr bwMode="auto">
            <a:xfrm>
              <a:off x="3264" y="302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Arrive at store</a:t>
              </a:r>
            </a:p>
          </p:txBody>
        </p:sp>
        <p:sp>
          <p:nvSpPr>
            <p:cNvPr id="128041" name="Rectangle 21"/>
            <p:cNvSpPr>
              <a:spLocks noChangeArrowheads="1"/>
            </p:cNvSpPr>
            <p:nvPr/>
          </p:nvSpPr>
          <p:spPr bwMode="auto">
            <a:xfrm>
              <a:off x="1008" y="302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Arrive home, put milk away</a:t>
              </a:r>
            </a:p>
          </p:txBody>
        </p:sp>
        <p:sp>
          <p:nvSpPr>
            <p:cNvPr id="128042" name="Rectangle 20"/>
            <p:cNvSpPr>
              <a:spLocks noChangeArrowheads="1"/>
            </p:cNvSpPr>
            <p:nvPr/>
          </p:nvSpPr>
          <p:spPr bwMode="auto">
            <a:xfrm>
              <a:off x="192" y="302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3:20</a:t>
              </a:r>
            </a:p>
          </p:txBody>
        </p:sp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304800" y="4435475"/>
            <a:ext cx="8610600" cy="365125"/>
            <a:chOff x="192" y="2794"/>
            <a:chExt cx="5424" cy="230"/>
          </a:xfrm>
        </p:grpSpPr>
        <p:sp>
          <p:nvSpPr>
            <p:cNvPr id="128037" name="Rectangle 19"/>
            <p:cNvSpPr>
              <a:spLocks noChangeArrowheads="1"/>
            </p:cNvSpPr>
            <p:nvPr/>
          </p:nvSpPr>
          <p:spPr bwMode="auto">
            <a:xfrm>
              <a:off x="3264" y="279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Leave for store</a:t>
              </a:r>
            </a:p>
          </p:txBody>
        </p:sp>
        <p:sp>
          <p:nvSpPr>
            <p:cNvPr id="128038" name="Rectangle 18"/>
            <p:cNvSpPr>
              <a:spLocks noChangeArrowheads="1"/>
            </p:cNvSpPr>
            <p:nvPr/>
          </p:nvSpPr>
          <p:spPr bwMode="auto">
            <a:xfrm>
              <a:off x="1008" y="279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Buy milk</a:t>
              </a:r>
            </a:p>
          </p:txBody>
        </p:sp>
        <p:sp>
          <p:nvSpPr>
            <p:cNvPr id="128039" name="Rectangle 17"/>
            <p:cNvSpPr>
              <a:spLocks noChangeArrowheads="1"/>
            </p:cNvSpPr>
            <p:nvPr/>
          </p:nvSpPr>
          <p:spPr bwMode="auto">
            <a:xfrm>
              <a:off x="192" y="279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3:15</a:t>
              </a:r>
            </a:p>
          </p:txBody>
        </p:sp>
      </p:grpSp>
      <p:grpSp>
        <p:nvGrpSpPr>
          <p:cNvPr id="6" name="Group 74"/>
          <p:cNvGrpSpPr>
            <a:grpSpLocks/>
          </p:cNvGrpSpPr>
          <p:nvPr/>
        </p:nvGrpSpPr>
        <p:grpSpPr bwMode="auto">
          <a:xfrm>
            <a:off x="304800" y="3705225"/>
            <a:ext cx="8610600" cy="365125"/>
            <a:chOff x="192" y="2334"/>
            <a:chExt cx="5424" cy="230"/>
          </a:xfrm>
        </p:grpSpPr>
        <p:sp>
          <p:nvSpPr>
            <p:cNvPr id="128034" name="Rectangle 13"/>
            <p:cNvSpPr>
              <a:spLocks noChangeArrowheads="1"/>
            </p:cNvSpPr>
            <p:nvPr/>
          </p:nvSpPr>
          <p:spPr bwMode="auto">
            <a:xfrm>
              <a:off x="3264" y="233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zh-CN" altLang="zh-CN" sz="2000">
                <a:latin typeface="Helvetica" charset="0"/>
              </a:endParaRPr>
            </a:p>
          </p:txBody>
        </p:sp>
        <p:sp>
          <p:nvSpPr>
            <p:cNvPr id="128035" name="Rectangle 12"/>
            <p:cNvSpPr>
              <a:spLocks noChangeArrowheads="1"/>
            </p:cNvSpPr>
            <p:nvPr/>
          </p:nvSpPr>
          <p:spPr bwMode="auto">
            <a:xfrm>
              <a:off x="1008" y="233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Leave for store</a:t>
              </a:r>
            </a:p>
          </p:txBody>
        </p:sp>
        <p:sp>
          <p:nvSpPr>
            <p:cNvPr id="128036" name="Rectangle 11"/>
            <p:cNvSpPr>
              <a:spLocks noChangeArrowheads="1"/>
            </p:cNvSpPr>
            <p:nvPr/>
          </p:nvSpPr>
          <p:spPr bwMode="auto">
            <a:xfrm>
              <a:off x="192" y="233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3:05</a:t>
              </a:r>
            </a:p>
          </p:txBody>
        </p:sp>
      </p:grpSp>
      <p:grpSp>
        <p:nvGrpSpPr>
          <p:cNvPr id="7" name="Group 73"/>
          <p:cNvGrpSpPr>
            <a:grpSpLocks/>
          </p:cNvGrpSpPr>
          <p:nvPr/>
        </p:nvGrpSpPr>
        <p:grpSpPr bwMode="auto">
          <a:xfrm>
            <a:off x="304800" y="3340100"/>
            <a:ext cx="8610600" cy="365125"/>
            <a:chOff x="192" y="2104"/>
            <a:chExt cx="5424" cy="230"/>
          </a:xfrm>
        </p:grpSpPr>
        <p:sp>
          <p:nvSpPr>
            <p:cNvPr id="128031" name="Rectangle 10"/>
            <p:cNvSpPr>
              <a:spLocks noChangeArrowheads="1"/>
            </p:cNvSpPr>
            <p:nvPr/>
          </p:nvSpPr>
          <p:spPr bwMode="auto">
            <a:xfrm>
              <a:off x="3264" y="210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endParaRPr lang="zh-CN" altLang="zh-CN" sz="2000">
                <a:latin typeface="Helvetica" charset="0"/>
              </a:endParaRPr>
            </a:p>
          </p:txBody>
        </p:sp>
        <p:sp>
          <p:nvSpPr>
            <p:cNvPr id="128032" name="Rectangle 9"/>
            <p:cNvSpPr>
              <a:spLocks noChangeArrowheads="1"/>
            </p:cNvSpPr>
            <p:nvPr/>
          </p:nvSpPr>
          <p:spPr bwMode="auto">
            <a:xfrm>
              <a:off x="1008" y="210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Look in Fridge. Out of milk</a:t>
              </a:r>
            </a:p>
          </p:txBody>
        </p:sp>
        <p:sp>
          <p:nvSpPr>
            <p:cNvPr id="128033" name="Rectangle 8"/>
            <p:cNvSpPr>
              <a:spLocks noChangeArrowheads="1"/>
            </p:cNvSpPr>
            <p:nvPr/>
          </p:nvSpPr>
          <p:spPr bwMode="auto">
            <a:xfrm>
              <a:off x="192" y="210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3:00</a:t>
              </a:r>
            </a:p>
          </p:txBody>
        </p: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304800" y="4070350"/>
            <a:ext cx="8610600" cy="365125"/>
            <a:chOff x="192" y="2564"/>
            <a:chExt cx="5424" cy="230"/>
          </a:xfrm>
        </p:grpSpPr>
        <p:sp>
          <p:nvSpPr>
            <p:cNvPr id="128027" name="Rectangle 16"/>
            <p:cNvSpPr>
              <a:spLocks noChangeArrowheads="1"/>
            </p:cNvSpPr>
            <p:nvPr/>
          </p:nvSpPr>
          <p:spPr bwMode="auto">
            <a:xfrm>
              <a:off x="3264" y="256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Look in Fridge. Out of milk</a:t>
              </a:r>
            </a:p>
          </p:txBody>
        </p:sp>
        <p:sp>
          <p:nvSpPr>
            <p:cNvPr id="128028" name="Rectangle 15"/>
            <p:cNvSpPr>
              <a:spLocks noChangeArrowheads="1"/>
            </p:cNvSpPr>
            <p:nvPr/>
          </p:nvSpPr>
          <p:spPr bwMode="auto">
            <a:xfrm>
              <a:off x="1008" y="256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Arrive at store</a:t>
              </a:r>
            </a:p>
          </p:txBody>
        </p:sp>
        <p:sp>
          <p:nvSpPr>
            <p:cNvPr id="128029" name="Rectangle 14"/>
            <p:cNvSpPr>
              <a:spLocks noChangeArrowheads="1"/>
            </p:cNvSpPr>
            <p:nvPr/>
          </p:nvSpPr>
          <p:spPr bwMode="auto">
            <a:xfrm>
              <a:off x="192" y="256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3:10</a:t>
              </a:r>
            </a:p>
          </p:txBody>
        </p:sp>
        <p:sp>
          <p:nvSpPr>
            <p:cNvPr id="128030" name="Line 33"/>
            <p:cNvSpPr>
              <a:spLocks noChangeShapeType="1"/>
            </p:cNvSpPr>
            <p:nvPr/>
          </p:nvSpPr>
          <p:spPr bwMode="auto">
            <a:xfrm>
              <a:off x="192" y="2794"/>
              <a:ext cx="5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75"/>
          <p:cNvGrpSpPr>
            <a:grpSpLocks/>
          </p:cNvGrpSpPr>
          <p:nvPr/>
        </p:nvGrpSpPr>
        <p:grpSpPr bwMode="auto">
          <a:xfrm>
            <a:off x="304800" y="2974975"/>
            <a:ext cx="8610600" cy="2921000"/>
            <a:chOff x="192" y="1874"/>
            <a:chExt cx="5424" cy="1840"/>
          </a:xfrm>
        </p:grpSpPr>
        <p:sp>
          <p:nvSpPr>
            <p:cNvPr id="128012" name="Rectangle 7"/>
            <p:cNvSpPr>
              <a:spLocks noChangeArrowheads="1"/>
            </p:cNvSpPr>
            <p:nvPr/>
          </p:nvSpPr>
          <p:spPr bwMode="auto">
            <a:xfrm>
              <a:off x="3264" y="1874"/>
              <a:ext cx="23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Person B</a:t>
              </a:r>
            </a:p>
          </p:txBody>
        </p:sp>
        <p:sp>
          <p:nvSpPr>
            <p:cNvPr id="128013" name="Rectangle 6"/>
            <p:cNvSpPr>
              <a:spLocks noChangeArrowheads="1"/>
            </p:cNvSpPr>
            <p:nvPr/>
          </p:nvSpPr>
          <p:spPr bwMode="auto">
            <a:xfrm>
              <a:off x="1008" y="1874"/>
              <a:ext cx="225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Person A</a:t>
              </a:r>
            </a:p>
          </p:txBody>
        </p:sp>
        <p:sp>
          <p:nvSpPr>
            <p:cNvPr id="128014" name="Rectangle 5"/>
            <p:cNvSpPr>
              <a:spLocks noChangeArrowheads="1"/>
            </p:cNvSpPr>
            <p:nvPr/>
          </p:nvSpPr>
          <p:spPr bwMode="auto">
            <a:xfrm>
              <a:off x="192" y="1874"/>
              <a:ext cx="81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30000"/>
                </a:spcBef>
                <a:buSzPct val="100000"/>
              </a:pPr>
              <a:r>
                <a:rPr lang="en-US" altLang="zh-CN" sz="2000">
                  <a:latin typeface="Helvetica" charset="0"/>
                </a:rPr>
                <a:t>Time</a:t>
              </a:r>
            </a:p>
          </p:txBody>
        </p:sp>
        <p:sp>
          <p:nvSpPr>
            <p:cNvPr id="128015" name="Line 29"/>
            <p:cNvSpPr>
              <a:spLocks noChangeShapeType="1"/>
            </p:cNvSpPr>
            <p:nvPr/>
          </p:nvSpPr>
          <p:spPr bwMode="auto">
            <a:xfrm>
              <a:off x="192" y="1874"/>
              <a:ext cx="542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16" name="Line 30"/>
            <p:cNvSpPr>
              <a:spLocks noChangeShapeType="1"/>
            </p:cNvSpPr>
            <p:nvPr/>
          </p:nvSpPr>
          <p:spPr bwMode="auto">
            <a:xfrm>
              <a:off x="192" y="2104"/>
              <a:ext cx="542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17" name="Line 31"/>
            <p:cNvSpPr>
              <a:spLocks noChangeShapeType="1"/>
            </p:cNvSpPr>
            <p:nvPr/>
          </p:nvSpPr>
          <p:spPr bwMode="auto">
            <a:xfrm>
              <a:off x="192" y="2334"/>
              <a:ext cx="5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18" name="Line 32"/>
            <p:cNvSpPr>
              <a:spLocks noChangeShapeType="1"/>
            </p:cNvSpPr>
            <p:nvPr/>
          </p:nvSpPr>
          <p:spPr bwMode="auto">
            <a:xfrm>
              <a:off x="192" y="2564"/>
              <a:ext cx="5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19" name="Line 34"/>
            <p:cNvSpPr>
              <a:spLocks noChangeShapeType="1"/>
            </p:cNvSpPr>
            <p:nvPr/>
          </p:nvSpPr>
          <p:spPr bwMode="auto">
            <a:xfrm>
              <a:off x="192" y="3024"/>
              <a:ext cx="5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20" name="Line 35"/>
            <p:cNvSpPr>
              <a:spLocks noChangeShapeType="1"/>
            </p:cNvSpPr>
            <p:nvPr/>
          </p:nvSpPr>
          <p:spPr bwMode="auto">
            <a:xfrm>
              <a:off x="192" y="3254"/>
              <a:ext cx="5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21" name="Line 36"/>
            <p:cNvSpPr>
              <a:spLocks noChangeShapeType="1"/>
            </p:cNvSpPr>
            <p:nvPr/>
          </p:nvSpPr>
          <p:spPr bwMode="auto">
            <a:xfrm>
              <a:off x="192" y="3484"/>
              <a:ext cx="5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22" name="Line 37"/>
            <p:cNvSpPr>
              <a:spLocks noChangeShapeType="1"/>
            </p:cNvSpPr>
            <p:nvPr/>
          </p:nvSpPr>
          <p:spPr bwMode="auto">
            <a:xfrm>
              <a:off x="192" y="3714"/>
              <a:ext cx="542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23" name="Line 38"/>
            <p:cNvSpPr>
              <a:spLocks noChangeShapeType="1"/>
            </p:cNvSpPr>
            <p:nvPr/>
          </p:nvSpPr>
          <p:spPr bwMode="auto">
            <a:xfrm>
              <a:off x="192" y="1874"/>
              <a:ext cx="0" cy="18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24" name="Line 39"/>
            <p:cNvSpPr>
              <a:spLocks noChangeShapeType="1"/>
            </p:cNvSpPr>
            <p:nvPr/>
          </p:nvSpPr>
          <p:spPr bwMode="auto">
            <a:xfrm>
              <a:off x="1008" y="1874"/>
              <a:ext cx="0" cy="1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25" name="Line 40"/>
            <p:cNvSpPr>
              <a:spLocks noChangeShapeType="1"/>
            </p:cNvSpPr>
            <p:nvPr/>
          </p:nvSpPr>
          <p:spPr bwMode="auto">
            <a:xfrm>
              <a:off x="3264" y="1874"/>
              <a:ext cx="0" cy="18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  <p:sp>
          <p:nvSpPr>
            <p:cNvPr id="128026" name="Line 41"/>
            <p:cNvSpPr>
              <a:spLocks noChangeShapeType="1"/>
            </p:cNvSpPr>
            <p:nvPr/>
          </p:nvSpPr>
          <p:spPr bwMode="auto">
            <a:xfrm>
              <a:off x="5616" y="1874"/>
              <a:ext cx="0" cy="18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pic>
        <p:nvPicPr>
          <p:cNvPr id="128011" name="Picture 65" descr="MCj0250767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838200"/>
            <a:ext cx="137953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84191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7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Atomic Operations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3988" y="914400"/>
            <a:ext cx="8915400" cy="556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To understand a concurrent program, we need to know what the underlying atomic operations are!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b="1" dirty="0">
                <a:solidFill>
                  <a:schemeClr val="hlink"/>
                </a:solidFill>
                <a:latin typeface="Helvetica" charset="0"/>
                <a:ea typeface="굴림" charset="-127"/>
              </a:rPr>
              <a:t>Atomic Operation</a:t>
            </a:r>
            <a:r>
              <a:rPr lang="en-US" altLang="ko-KR" dirty="0">
                <a:latin typeface="Helvetica" charset="0"/>
                <a:ea typeface="굴림" charset="-127"/>
              </a:rPr>
              <a:t>: an operation that always runs to completion or not at all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It is </a:t>
            </a:r>
            <a:r>
              <a:rPr lang="en-US" altLang="ko-KR" i="1" dirty="0">
                <a:latin typeface="Helvetica" charset="0"/>
                <a:ea typeface="굴림" charset="-127"/>
              </a:rPr>
              <a:t>indivisible: </a:t>
            </a:r>
            <a:r>
              <a:rPr lang="en-US" altLang="ko-KR" dirty="0">
                <a:latin typeface="Helvetica" charset="0"/>
                <a:ea typeface="굴림" charset="-127"/>
              </a:rPr>
              <a:t>it cannot be stopped in the middle and state cannot be modified by someone else in the middle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Fundamental building block – if no atomic operations, then have no way for threads to work together</a:t>
            </a:r>
          </a:p>
          <a:p>
            <a:pPr eaLnBrk="1" hangingPunct="1">
              <a:lnSpc>
                <a:spcPct val="80000"/>
              </a:lnSpc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On most machines, memory references and assignments (i.e. loads and stores) of </a:t>
            </a:r>
            <a:r>
              <a:rPr lang="en-US" altLang="zh-CN" dirty="0">
                <a:latin typeface="Helvetica" charset="0"/>
                <a:ea typeface="굴림" charset="-127"/>
              </a:rPr>
              <a:t>a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single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ko-KR" dirty="0">
                <a:latin typeface="Helvetica" charset="0"/>
                <a:ea typeface="굴림" charset="-127"/>
              </a:rPr>
              <a:t>word are atomic</a:t>
            </a:r>
          </a:p>
          <a:p>
            <a:pPr lvl="1">
              <a:lnSpc>
                <a:spcPct val="80000"/>
              </a:lnSpc>
            </a:pPr>
            <a:r>
              <a:rPr lang="en-US" altLang="zh-CN" dirty="0">
                <a:latin typeface="Helvetica" charset="0"/>
                <a:ea typeface="굴림" charset="-127"/>
              </a:rPr>
              <a:t>More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than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a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word,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usually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need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to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be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zh-CN" dirty="0">
                <a:latin typeface="Helvetica" charset="0"/>
                <a:ea typeface="굴림" charset="-127"/>
              </a:rPr>
              <a:t>careful</a:t>
            </a:r>
            <a:endParaRPr lang="en-US" altLang="ko-KR" dirty="0">
              <a:latin typeface="Helvetica" charset="0"/>
              <a:ea typeface="굴림" charset="-127"/>
            </a:endParaRPr>
          </a:p>
          <a:p>
            <a:pPr lvl="2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Double-precision floating point store often not atomic</a:t>
            </a:r>
          </a:p>
          <a:p>
            <a:pPr lvl="2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VAX and IBM 360 had an instruction to copy a whole array</a:t>
            </a:r>
          </a:p>
          <a:p>
            <a:pPr eaLnBrk="1" hangingPunct="1">
              <a:lnSpc>
                <a:spcPct val="80000"/>
              </a:lnSpc>
            </a:pPr>
            <a:endParaRPr lang="ko-KR" altLang="en-US" dirty="0">
              <a:latin typeface="Helvetica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76893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52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Milk: Correctness Properties</a:t>
            </a:r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914400"/>
            <a:ext cx="7924800" cy="56388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Need to be careful about correctness of concurrent programs, since non-deterministic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Always write down </a:t>
            </a:r>
            <a:r>
              <a:rPr lang="en-US" altLang="ko-KR" b="1">
                <a:latin typeface="Helvetica" charset="0"/>
                <a:ea typeface="굴림" charset="-127"/>
              </a:rPr>
              <a:t>desired</a:t>
            </a:r>
            <a:r>
              <a:rPr lang="en-US" altLang="ko-KR">
                <a:latin typeface="Helvetica" charset="0"/>
                <a:ea typeface="굴림" charset="-127"/>
              </a:rPr>
              <a:t> behavior first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Impulse is to start coding first, then when it doesn’t work, pull hair out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Instead, think first, then code</a:t>
            </a:r>
          </a:p>
          <a:p>
            <a:pPr lvl="2" eaLnBrk="1" hangingPunct="1"/>
            <a:endParaRPr lang="en-US" altLang="ko-KR">
              <a:latin typeface="Helvetica" charset="0"/>
              <a:ea typeface="굴림" charset="-127"/>
            </a:endParaRPr>
          </a:p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What are the correctness properties for the “Too much milk” problem?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Never more than one person buys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Someone buys if needed</a:t>
            </a:r>
          </a:p>
          <a:p>
            <a:pPr lvl="2" eaLnBrk="1" hangingPunct="1"/>
            <a:endParaRPr lang="en-US" altLang="ko-KR">
              <a:latin typeface="Helvetica" charset="0"/>
              <a:ea typeface="굴림" charset="-127"/>
            </a:endParaRPr>
          </a:p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Restrict ourselves to use only atomic load and store operations as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963073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Definitions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458200" cy="556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Synchronization</a:t>
            </a:r>
            <a:r>
              <a:rPr lang="en-US" altLang="ko-KR" dirty="0">
                <a:latin typeface="Helvetica" charset="0"/>
                <a:ea typeface="굴림" charset="-127"/>
              </a:rPr>
              <a:t>: using atomic operations to ensure cooperation between threads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For now, only loads and stores are atomic</a:t>
            </a:r>
          </a:p>
          <a:p>
            <a:pPr eaLnBrk="1" hangingPunct="1">
              <a:lnSpc>
                <a:spcPct val="80000"/>
              </a:lnSpc>
            </a:pPr>
            <a:endParaRPr lang="en-US" altLang="ko-KR" dirty="0">
              <a:solidFill>
                <a:schemeClr val="hlink"/>
              </a:solidFill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Critical Section</a:t>
            </a:r>
            <a:r>
              <a:rPr lang="en-US" altLang="ko-KR" dirty="0">
                <a:latin typeface="Helvetica" charset="0"/>
                <a:ea typeface="굴림" charset="-127"/>
              </a:rPr>
              <a:t>: piece of code that only one thread can execute at once</a:t>
            </a:r>
          </a:p>
          <a:p>
            <a:pPr eaLnBrk="1" hangingPunct="1">
              <a:lnSpc>
                <a:spcPct val="80000"/>
              </a:lnSpc>
            </a:pPr>
            <a:endParaRPr lang="en-US" altLang="ko-KR" dirty="0">
              <a:solidFill>
                <a:schemeClr val="hlink"/>
              </a:solidFill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Mutual Exclusion</a:t>
            </a:r>
            <a:r>
              <a:rPr lang="en-US" altLang="ko-KR" dirty="0">
                <a:latin typeface="Helvetica" charset="0"/>
                <a:ea typeface="굴림" charset="-127"/>
              </a:rPr>
              <a:t>: ensuring that only one thread executes critical section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굴림" charset="-127"/>
              </a:rPr>
              <a:t>One thread </a:t>
            </a:r>
            <a:r>
              <a:rPr lang="en-US" altLang="ko-KR" i="1" dirty="0">
                <a:latin typeface="Helvetica" charset="0"/>
                <a:ea typeface="굴림" charset="-127"/>
              </a:rPr>
              <a:t>excludes</a:t>
            </a:r>
            <a:r>
              <a:rPr lang="en-US" altLang="ko-KR" dirty="0">
                <a:latin typeface="Helvetica" charset="0"/>
                <a:ea typeface="굴림" charset="-127"/>
              </a:rPr>
              <a:t> the other while doing its task</a:t>
            </a:r>
          </a:p>
          <a:p>
            <a:pPr>
              <a:lnSpc>
                <a:spcPct val="80000"/>
              </a:lnSpc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>
              <a:lnSpc>
                <a:spcPct val="80000"/>
              </a:lnSpc>
            </a:pPr>
            <a:r>
              <a:rPr lang="en-US" altLang="ko-KR" dirty="0">
                <a:solidFill>
                  <a:srgbClr val="FF0000"/>
                </a:solidFill>
                <a:latin typeface="Helvetica" charset="0"/>
                <a:ea typeface="굴림" charset="-127"/>
              </a:rPr>
              <a:t>Critical section </a:t>
            </a:r>
            <a:r>
              <a:rPr lang="en-US" altLang="ko-KR" dirty="0">
                <a:latin typeface="Helvetica" charset="0"/>
                <a:ea typeface="굴림" charset="-127"/>
              </a:rPr>
              <a:t>and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굴림" charset="-127"/>
              </a:rPr>
              <a:t>mutual exclusion </a:t>
            </a:r>
            <a:r>
              <a:rPr lang="en-US" altLang="ko-KR" dirty="0">
                <a:latin typeface="Helvetica" charset="0"/>
                <a:ea typeface="굴림" charset="-127"/>
              </a:rPr>
              <a:t>are two ways of describing the same thing</a:t>
            </a:r>
          </a:p>
        </p:txBody>
      </p:sp>
    </p:spTree>
    <p:extLst>
      <p:ext uri="{BB962C8B-B14F-4D97-AF65-F5344CB8AC3E}">
        <p14:creationId xmlns:p14="http://schemas.microsoft.com/office/powerpoint/2010/main" val="6421765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Helvetica" charset="0"/>
              </a:rPr>
              <a:t>Concurrency Challenges</a:t>
            </a:r>
          </a:p>
        </p:txBody>
      </p:sp>
      <p:sp>
        <p:nvSpPr>
          <p:cNvPr id="75778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7150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dirty="0">
                <a:latin typeface="Helvetica" charset="0"/>
                <a:ea typeface="ＭＳ Ｐゴシック" charset="0"/>
                <a:cs typeface="ＭＳ Ｐゴシック" charset="0"/>
              </a:rPr>
              <a:t>Multiple computations (threads) executing in parallel</a:t>
            </a:r>
          </a:p>
          <a:p>
            <a:pPr marL="285750" lvl="1" indent="-285750" eaLnBrk="1" hangingPunct="1">
              <a:lnSpc>
                <a:spcPct val="110000"/>
              </a:lnSpc>
              <a:buFontTx/>
              <a:buChar char="•"/>
              <a:defRPr/>
            </a:pPr>
            <a:r>
              <a:rPr lang="en-US" dirty="0"/>
              <a:t>Fine grain sharing: </a:t>
            </a:r>
          </a:p>
          <a:p>
            <a:pPr marL="800100" lvl="2" indent="-342900" eaLnBrk="1" hangingPunct="1">
              <a:lnSpc>
                <a:spcPct val="110000"/>
              </a:lnSpc>
              <a:buFont typeface="Wingdings" charset="2"/>
              <a:buChar char="⇑"/>
              <a:defRPr/>
            </a:pPr>
            <a:r>
              <a:rPr lang="en-US" dirty="0"/>
              <a:t>increase concurrency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better performance</a:t>
            </a:r>
          </a:p>
          <a:p>
            <a:pPr marL="800100" lvl="2" indent="-342900" eaLnBrk="1" hangingPunct="1">
              <a:lnSpc>
                <a:spcPct val="110000"/>
              </a:lnSpc>
              <a:buFont typeface="Lucida Grande"/>
              <a:buChar char="⇓"/>
              <a:defRPr/>
            </a:pPr>
            <a:r>
              <a:rPr lang="en-US" dirty="0"/>
              <a:t>more complex</a:t>
            </a:r>
          </a:p>
          <a:p>
            <a:pPr marL="285750" lvl="1" indent="-285750" eaLnBrk="1" hangingPunct="1">
              <a:lnSpc>
                <a:spcPct val="110000"/>
              </a:lnSpc>
              <a:buFontTx/>
              <a:buChar char="•"/>
              <a:defRPr/>
            </a:pPr>
            <a:r>
              <a:rPr lang="en-US" dirty="0"/>
              <a:t>Coarse grain sharing:</a:t>
            </a:r>
          </a:p>
          <a:p>
            <a:pPr marL="800100" lvl="2" indent="-342900" eaLnBrk="1" hangingPunct="1">
              <a:lnSpc>
                <a:spcPct val="110000"/>
              </a:lnSpc>
              <a:buFont typeface="Lucida Grande"/>
              <a:buChar char="⇑"/>
              <a:defRPr/>
            </a:pPr>
            <a:r>
              <a:rPr lang="en-US" dirty="0"/>
              <a:t>Simpler to implement</a:t>
            </a:r>
          </a:p>
          <a:p>
            <a:pPr marL="800100" lvl="2" indent="-342900" eaLnBrk="1" hangingPunct="1">
              <a:lnSpc>
                <a:spcPct val="110000"/>
              </a:lnSpc>
              <a:buFont typeface="Lucida Grande"/>
              <a:buChar char="⇓"/>
              <a:defRPr/>
            </a:pPr>
            <a:r>
              <a:rPr lang="en-US" dirty="0"/>
              <a:t>Lower performance</a:t>
            </a:r>
          </a:p>
          <a:p>
            <a:pPr marL="285750" lvl="1" indent="-285750" eaLnBrk="1" hangingPunct="1">
              <a:lnSpc>
                <a:spcPct val="110000"/>
              </a:lnSpc>
              <a:buFontTx/>
              <a:buChar char="•"/>
              <a:defRPr/>
            </a:pPr>
            <a:r>
              <a:rPr lang="en-US" dirty="0"/>
              <a:t>Examples:</a:t>
            </a:r>
          </a:p>
          <a:p>
            <a:pPr marL="742950" lvl="2" indent="-285750" eaLnBrk="1" hangingPunct="1">
              <a:lnSpc>
                <a:spcPct val="110000"/>
              </a:lnSpc>
              <a:buFontTx/>
              <a:buChar char="•"/>
              <a:defRPr/>
            </a:pPr>
            <a:r>
              <a:rPr lang="en-US" dirty="0"/>
              <a:t>Sharing CPU for 10ms vs. 1min</a:t>
            </a:r>
          </a:p>
          <a:p>
            <a:pPr marL="742950" lvl="2" indent="-285750" eaLnBrk="1" hangingPunct="1">
              <a:lnSpc>
                <a:spcPct val="110000"/>
              </a:lnSpc>
              <a:buFontTx/>
              <a:buChar char="•"/>
              <a:defRPr/>
            </a:pPr>
            <a:r>
              <a:rPr lang="en-US" dirty="0"/>
              <a:t>Sharing a database at the row vs. table granularity</a:t>
            </a:r>
          </a:p>
        </p:txBody>
      </p:sp>
    </p:spTree>
    <p:extLst>
      <p:ext uri="{BB962C8B-B14F-4D97-AF65-F5344CB8AC3E}">
        <p14:creationId xmlns:p14="http://schemas.microsoft.com/office/powerpoint/2010/main" val="1896937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More Definitions</a:t>
            </a:r>
          </a:p>
        </p:txBody>
      </p:sp>
      <p:sp>
        <p:nvSpPr>
          <p:cNvPr id="427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839200" cy="5943600"/>
          </a:xfrm>
        </p:spPr>
        <p:txBody>
          <a:bodyPr/>
          <a:lstStyle/>
          <a:p>
            <a:pPr eaLnBrk="1" hangingPunct="1">
              <a:spcBef>
                <a:spcPct val="25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Lock</a:t>
            </a:r>
            <a:r>
              <a:rPr lang="en-US" altLang="ko-KR" dirty="0">
                <a:latin typeface="Helvetica" charset="0"/>
                <a:ea typeface="굴림" charset="-127"/>
              </a:rPr>
              <a:t>: prevents someone from doing something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Lock before entering critical section and </a:t>
            </a:r>
            <a:br>
              <a:rPr lang="en-US" altLang="ko-KR" dirty="0">
                <a:latin typeface="Helvetica" charset="0"/>
                <a:ea typeface="굴림" charset="-127"/>
              </a:rPr>
            </a:br>
            <a:r>
              <a:rPr lang="en-US" altLang="ko-KR" dirty="0">
                <a:latin typeface="Helvetica" charset="0"/>
                <a:ea typeface="굴림" charset="-127"/>
              </a:rPr>
              <a:t>before accessing shared data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Unlock when leaving, after accessing shared data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ko-KR" b="1" dirty="0">
                <a:latin typeface="Helvetica" charset="0"/>
                <a:ea typeface="굴림" charset="-127"/>
              </a:rPr>
              <a:t>Wait if locked</a:t>
            </a:r>
          </a:p>
          <a:p>
            <a:pPr lvl="2" eaLnBrk="1" hangingPunct="1">
              <a:spcBef>
                <a:spcPct val="25000"/>
              </a:spcBef>
            </a:pPr>
            <a:r>
              <a:rPr lang="en-US" altLang="ko-KR" b="1" dirty="0">
                <a:solidFill>
                  <a:schemeClr val="hlink"/>
                </a:solidFill>
                <a:latin typeface="Helvetica" charset="0"/>
                <a:ea typeface="굴림" charset="-127"/>
              </a:rPr>
              <a:t>Important idea: all synchronization involves waiting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Example: fix the milk problem by putting a lock on refrigerator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Lock it and take key if you are going to go buy milk</a:t>
            </a:r>
          </a:p>
          <a:p>
            <a:pPr lvl="1" eaLnBrk="1" hangingPunct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Fixes too much (coarse granularity): roommate angry if only wants orange juice</a:t>
            </a:r>
          </a:p>
          <a:p>
            <a:pPr lvl="1" eaLnBrk="1" hangingPunct="1">
              <a:spcBef>
                <a:spcPct val="25000"/>
              </a:spcBef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lvl="1" eaLnBrk="1" hangingPunct="1">
              <a:spcBef>
                <a:spcPct val="25000"/>
              </a:spcBef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lvl="1" eaLnBrk="1" hangingPunct="1">
              <a:spcBef>
                <a:spcPct val="25000"/>
              </a:spcBef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lvl="1" eaLnBrk="1" hangingPunct="1">
              <a:spcBef>
                <a:spcPct val="25000"/>
              </a:spcBef>
              <a:buFontTx/>
              <a:buNone/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lvl="1" eaLnBrk="1" hangingPunct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Of Course – We don’t know how to make a lock yet</a:t>
            </a:r>
          </a:p>
        </p:txBody>
      </p:sp>
      <p:pic>
        <p:nvPicPr>
          <p:cNvPr id="427017" name="Picture 9" descr="MCj0307832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914400"/>
            <a:ext cx="947738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297113" y="4419600"/>
            <a:ext cx="4648200" cy="1524000"/>
            <a:chOff x="1536" y="3024"/>
            <a:chExt cx="3216" cy="1148"/>
          </a:xfrm>
        </p:grpSpPr>
        <p:grpSp>
          <p:nvGrpSpPr>
            <p:cNvPr id="132101" name="Group 6"/>
            <p:cNvGrpSpPr>
              <a:grpSpLocks/>
            </p:cNvGrpSpPr>
            <p:nvPr/>
          </p:nvGrpSpPr>
          <p:grpSpPr bwMode="auto">
            <a:xfrm>
              <a:off x="1536" y="3072"/>
              <a:ext cx="826" cy="1075"/>
              <a:chOff x="3852" y="3024"/>
              <a:chExt cx="826" cy="1075"/>
            </a:xfrm>
          </p:grpSpPr>
          <p:pic>
            <p:nvPicPr>
              <p:cNvPr id="132104" name="Picture 4" descr="MCHH01153_0000[1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36" y="3024"/>
                <a:ext cx="742" cy="1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2105" name="Picture 5" descr="MCj03078320000[1]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3184148">
                <a:off x="3893" y="3213"/>
                <a:ext cx="545" cy="6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32102" name="Picture 7" descr="MCj02392010000[1]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48" y="3024"/>
              <a:ext cx="827" cy="1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2103" name="AutoShape 10"/>
            <p:cNvSpPr>
              <a:spLocks noChangeArrowheads="1"/>
            </p:cNvSpPr>
            <p:nvPr/>
          </p:nvSpPr>
          <p:spPr bwMode="auto">
            <a:xfrm rot="596657">
              <a:off x="3072" y="3120"/>
              <a:ext cx="1680" cy="624"/>
            </a:xfrm>
            <a:prstGeom prst="wedgeEllipseCallout">
              <a:avLst>
                <a:gd name="adj1" fmla="val -43750"/>
                <a:gd name="adj2" fmla="val 70000"/>
              </a:avLst>
            </a:prstGeom>
            <a:solidFill>
              <a:srgbClr val="FF66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MS PGothic" charset="-128"/>
                </a:defRPr>
              </a:lvl9pPr>
            </a:lstStyle>
            <a:p>
              <a:r>
                <a:rPr lang="en-US" altLang="zh-CN" sz="1800"/>
                <a:t>#$@%@#$@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837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1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019800" y="3525838"/>
            <a:ext cx="1676400" cy="1503362"/>
            <a:chOff x="3504" y="1584"/>
            <a:chExt cx="1056" cy="947"/>
          </a:xfrm>
        </p:grpSpPr>
        <p:pic>
          <p:nvPicPr>
            <p:cNvPr id="136196" name="Picture 8" descr="MCHH01153_0000[1]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1632"/>
              <a:ext cx="676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6197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584"/>
              <a:ext cx="384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61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Milk: Solution #1</a:t>
            </a:r>
          </a:p>
        </p:txBody>
      </p:sp>
      <p:sp>
        <p:nvSpPr>
          <p:cNvPr id="4290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915400" cy="5694363"/>
          </a:xfrm>
        </p:spPr>
        <p:txBody>
          <a:bodyPr/>
          <a:lstStyle/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Use a note to avoid buying too much milk: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Leave a note before buying (kind of “lock”)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Remove note after buying (kind of “unlock”)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Don’t buy if note (wait)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Suppose a computer tries this (remember, only memory read/write are atomic):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endParaRPr lang="en-US" altLang="ko-KR" dirty="0">
              <a:latin typeface="Courier New" charset="0"/>
              <a:ea typeface="굴림" charset="-127"/>
            </a:endParaRP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dirty="0">
                <a:latin typeface="Courier New" charset="0"/>
                <a:ea typeface="굴림" charset="-127"/>
              </a:rPr>
              <a:t>			if (</a:t>
            </a:r>
            <a:r>
              <a:rPr lang="en-US" altLang="ko-KR" dirty="0" err="1">
                <a:latin typeface="Courier New" charset="0"/>
                <a:ea typeface="굴림" charset="-127"/>
              </a:rPr>
              <a:t>noMilk</a:t>
            </a:r>
            <a:r>
              <a:rPr lang="en-US" altLang="ko-KR" dirty="0">
                <a:latin typeface="Courier New" charset="0"/>
                <a:ea typeface="굴림" charset="-127"/>
              </a:rPr>
              <a:t>) {</a:t>
            </a:r>
            <a:br>
              <a:rPr lang="en-US" altLang="ko-KR" dirty="0">
                <a:latin typeface="Courier New" charset="0"/>
                <a:ea typeface="굴림" charset="-127"/>
              </a:rPr>
            </a:br>
            <a:r>
              <a:rPr lang="en-US" altLang="ko-KR" dirty="0">
                <a:latin typeface="Courier New" charset="0"/>
                <a:ea typeface="굴림" charset="-127"/>
              </a:rPr>
              <a:t> 		   if (</a:t>
            </a:r>
            <a:r>
              <a:rPr lang="en-US" altLang="ko-KR" dirty="0" err="1">
                <a:latin typeface="Courier New" charset="0"/>
                <a:ea typeface="굴림" charset="-127"/>
              </a:rPr>
              <a:t>noNote</a:t>
            </a:r>
            <a:r>
              <a:rPr lang="en-US" altLang="ko-KR" dirty="0">
                <a:latin typeface="Courier New" charset="0"/>
                <a:ea typeface="굴림" charset="-127"/>
              </a:rPr>
              <a:t>) {</a:t>
            </a:r>
            <a:br>
              <a:rPr lang="en-US" altLang="ko-KR" dirty="0">
                <a:latin typeface="Courier New" charset="0"/>
                <a:ea typeface="굴림" charset="-127"/>
              </a:rPr>
            </a:br>
            <a:r>
              <a:rPr lang="en-US" altLang="ko-KR" dirty="0">
                <a:latin typeface="Courier New" charset="0"/>
                <a:ea typeface="굴림" charset="-127"/>
              </a:rPr>
              <a:t> 		      leave Note;</a:t>
            </a:r>
            <a:br>
              <a:rPr lang="en-US" altLang="ko-KR" dirty="0">
                <a:latin typeface="Courier New" charset="0"/>
                <a:ea typeface="굴림" charset="-127"/>
              </a:rPr>
            </a:br>
            <a:r>
              <a:rPr lang="en-US" altLang="ko-KR" dirty="0">
                <a:latin typeface="Courier New" charset="0"/>
                <a:ea typeface="굴림" charset="-127"/>
              </a:rPr>
              <a:t> 		      buy milk;</a:t>
            </a:r>
            <a:br>
              <a:rPr lang="en-US" altLang="ko-KR" dirty="0">
                <a:latin typeface="Courier New" charset="0"/>
                <a:ea typeface="굴림" charset="-127"/>
              </a:rPr>
            </a:br>
            <a:r>
              <a:rPr lang="en-US" altLang="ko-KR" dirty="0">
                <a:latin typeface="Courier New" charset="0"/>
                <a:ea typeface="굴림" charset="-127"/>
              </a:rPr>
              <a:t> 		      remove note;</a:t>
            </a:r>
            <a:br>
              <a:rPr lang="en-US" altLang="ko-KR" dirty="0">
                <a:latin typeface="Courier New" charset="0"/>
                <a:ea typeface="굴림" charset="-127"/>
              </a:rPr>
            </a:br>
            <a:r>
              <a:rPr lang="en-US" altLang="ko-KR" dirty="0">
                <a:latin typeface="Courier New" charset="0"/>
                <a:ea typeface="굴림" charset="-127"/>
              </a:rPr>
              <a:t> 		   }</a:t>
            </a:r>
            <a:br>
              <a:rPr lang="en-US" altLang="ko-KR" dirty="0">
                <a:latin typeface="Courier New" charset="0"/>
                <a:ea typeface="굴림" charset="-127"/>
              </a:rPr>
            </a:br>
            <a:r>
              <a:rPr lang="en-US" altLang="ko-KR" dirty="0">
                <a:latin typeface="Courier New" charset="0"/>
                <a:ea typeface="굴림" charset="-127"/>
              </a:rPr>
              <a:t>		}</a:t>
            </a:r>
          </a:p>
          <a:p>
            <a:pPr eaLnBrk="1" hangingPunct="1">
              <a:lnSpc>
                <a:spcPct val="55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55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굴림" charset="-127"/>
              </a:rPr>
              <a:t>Result?  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endParaRPr lang="ko-KR" altLang="en-US" dirty="0">
              <a:latin typeface="Courier New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85487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906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304800" y="2514600"/>
            <a:ext cx="6781800" cy="1447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 cap="flat" cmpd="sng" algn="ctr">
            <a:noFill/>
            <a:prstDash val="solid"/>
            <a:round/>
            <a:headEnd type="stealth" w="med" len="med"/>
            <a:tailEnd type="stealth" w="med" len="med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304800" y="1371600"/>
            <a:ext cx="67818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 cap="flat" cmpd="sng" algn="ctr">
            <a:noFill/>
            <a:prstDash val="solid"/>
            <a:round/>
            <a:headEnd type="stealth" w="med" len="med"/>
            <a:tailEnd type="stealth" w="med" len="med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38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Milk: Solution #1</a:t>
            </a:r>
          </a:p>
        </p:txBody>
      </p:sp>
      <p:sp>
        <p:nvSpPr>
          <p:cNvPr id="42906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381000"/>
            <a:ext cx="8915400" cy="6035675"/>
          </a:xfrm>
        </p:spPr>
        <p:txBody>
          <a:bodyPr/>
          <a:lstStyle/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>
                <a:latin typeface="Courier New" charset="0"/>
                <a:ea typeface="굴림" charset="-127"/>
              </a:rPr>
              <a:t>			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Still too much milk </a:t>
            </a:r>
            <a:r>
              <a:rPr lang="en-US" altLang="ko-KR">
                <a:solidFill>
                  <a:schemeClr val="hlink"/>
                </a:solidFill>
                <a:latin typeface="Helvetica" charset="0"/>
                <a:ea typeface="굴림" charset="-127"/>
              </a:rPr>
              <a:t>but only occasionally!</a:t>
            </a:r>
            <a:endParaRPr lang="en-US" altLang="ko-KR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</a:t>
            </a:r>
            <a:r>
              <a:rPr lang="en-US" altLang="ko-KR" sz="2000" u="sng">
                <a:latin typeface="Courier New" charset="0"/>
                <a:ea typeface="굴림" charset="-127"/>
              </a:rPr>
              <a:t>Thread A</a:t>
            </a:r>
            <a:r>
              <a:rPr lang="en-US" altLang="ko-KR" sz="2000">
                <a:latin typeface="Courier New" charset="0"/>
                <a:ea typeface="굴림" charset="-127"/>
              </a:rPr>
              <a:t>               </a:t>
            </a:r>
            <a:r>
              <a:rPr lang="en-US" altLang="ko-KR" sz="2000" u="sng">
                <a:latin typeface="Courier New" charset="0"/>
                <a:ea typeface="굴림" charset="-127"/>
              </a:rPr>
              <a:t>Thread B</a:t>
            </a:r>
            <a:r>
              <a:rPr lang="en-US" altLang="ko-KR" sz="2000">
                <a:latin typeface="Courier New" charset="0"/>
                <a:ea typeface="굴림" charset="-127"/>
              </a:rPr>
              <a:t>  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if (noMilk)          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if (noNote) {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                     if (noMilk)          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                       if (noNote) {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  leave Note;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buy milk;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  remove note;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}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}</a:t>
            </a:r>
            <a:endParaRPr lang="en-US" altLang="ko-KR" sz="200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                         leave Note;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                       buy milk;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                             …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Thread can get context switched after checking milk and note but before leaving note!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Solution makes problem worse since fails </a:t>
            </a:r>
            <a:r>
              <a:rPr lang="en-US" altLang="ko-KR">
                <a:solidFill>
                  <a:schemeClr val="hlink"/>
                </a:solidFill>
                <a:latin typeface="Helvetica" charset="0"/>
                <a:ea typeface="굴림" charset="-127"/>
              </a:rPr>
              <a:t>intermittently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Makes it really hard to debug…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Must work despite what the thread dispatcher does!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endParaRPr lang="ko-KR" altLang="en-US">
              <a:latin typeface="Courier New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56353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29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29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9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29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9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90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90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90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90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906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90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290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90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906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290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4290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290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2906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290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290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906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906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06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906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906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42906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Milk: Solution #1½ </a:t>
            </a:r>
          </a:p>
        </p:txBody>
      </p:sp>
      <p:sp>
        <p:nvSpPr>
          <p:cNvPr id="432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8915400" cy="5959475"/>
          </a:xfrm>
        </p:spPr>
        <p:txBody>
          <a:bodyPr/>
          <a:lstStyle/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Clearly the Note is not quite blocking enough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Let’s try to fix this by placing note first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Another try at previous solution:</a:t>
            </a:r>
          </a:p>
          <a:p>
            <a:pPr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endParaRPr lang="en-US" altLang="ko-KR">
              <a:latin typeface="Helvetica" charset="0"/>
              <a:ea typeface="굴림" charset="-127"/>
            </a:endParaRP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>
                <a:latin typeface="Courier New" charset="0"/>
                <a:ea typeface="굴림" charset="-127"/>
              </a:rPr>
              <a:t>			leave Note;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>
                <a:latin typeface="Courier New" charset="0"/>
                <a:ea typeface="굴림" charset="-127"/>
              </a:rPr>
              <a:t>			if (noMilk) {</a:t>
            </a:r>
            <a:br>
              <a:rPr lang="en-US" altLang="ko-KR">
                <a:latin typeface="Courier New" charset="0"/>
                <a:ea typeface="굴림" charset="-127"/>
              </a:rPr>
            </a:br>
            <a:r>
              <a:rPr lang="en-US" altLang="ko-KR">
                <a:latin typeface="Courier New" charset="0"/>
                <a:ea typeface="굴림" charset="-127"/>
              </a:rPr>
              <a:t> 		   if (noNote) {</a:t>
            </a:r>
            <a:br>
              <a:rPr lang="en-US" altLang="ko-KR">
                <a:latin typeface="Courier New" charset="0"/>
                <a:ea typeface="굴림" charset="-127"/>
              </a:rPr>
            </a:br>
            <a:r>
              <a:rPr lang="en-US" altLang="ko-KR">
                <a:latin typeface="Courier New" charset="0"/>
                <a:ea typeface="굴림" charset="-127"/>
              </a:rPr>
              <a:t> 		      buy milk;</a:t>
            </a:r>
            <a:br>
              <a:rPr lang="en-US" altLang="ko-KR">
                <a:latin typeface="Courier New" charset="0"/>
                <a:ea typeface="굴림" charset="-127"/>
              </a:rPr>
            </a:br>
            <a:r>
              <a:rPr lang="en-US" altLang="ko-KR">
                <a:latin typeface="Courier New" charset="0"/>
                <a:ea typeface="굴림" charset="-127"/>
              </a:rPr>
              <a:t> 		   }</a:t>
            </a:r>
            <a:br>
              <a:rPr lang="en-US" altLang="ko-KR">
                <a:latin typeface="Courier New" charset="0"/>
                <a:ea typeface="굴림" charset="-127"/>
              </a:rPr>
            </a:br>
            <a:r>
              <a:rPr lang="en-US" altLang="ko-KR">
                <a:latin typeface="Courier New" charset="0"/>
                <a:ea typeface="굴림" charset="-127"/>
              </a:rPr>
              <a:t>		}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  <a:buFontTx/>
              <a:buNone/>
            </a:pPr>
            <a:r>
              <a:rPr lang="en-US" altLang="ko-KR">
                <a:latin typeface="Courier New" charset="0"/>
                <a:ea typeface="굴림" charset="-127"/>
              </a:rPr>
              <a:t>			remove Note;</a:t>
            </a:r>
            <a:br>
              <a:rPr lang="en-US" altLang="ko-KR">
                <a:latin typeface="Courier New" charset="0"/>
                <a:ea typeface="굴림" charset="-127"/>
              </a:rPr>
            </a:br>
            <a:endParaRPr lang="en-US" altLang="ko-KR">
              <a:latin typeface="Courier New" charset="0"/>
              <a:ea typeface="굴림" charset="-127"/>
            </a:endParaRPr>
          </a:p>
          <a:p>
            <a:pPr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What happens here?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Well, with human, probably nothing bad</a:t>
            </a:r>
          </a:p>
          <a:p>
            <a:pPr lvl="1" eaLnBrk="1" hangingPunct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With computer: no one ever buys milk</a:t>
            </a:r>
          </a:p>
        </p:txBody>
      </p:sp>
      <p:pic>
        <p:nvPicPr>
          <p:cNvPr id="43213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3124200"/>
            <a:ext cx="2227263" cy="301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2483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2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1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 Solution #2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888" y="914400"/>
            <a:ext cx="8534400" cy="5410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>
                <a:latin typeface="Helvetica" charset="0"/>
                <a:ea typeface="굴림" charset="-127"/>
              </a:rPr>
              <a:t>How about labeled notes? 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>
                <a:latin typeface="Helvetica" charset="0"/>
                <a:ea typeface="굴림" charset="-127"/>
              </a:rPr>
              <a:t>Now we can leave note before checking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endParaRPr lang="en-US" altLang="ko-KR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>
                <a:latin typeface="Helvetica" charset="0"/>
                <a:ea typeface="굴림" charset="-127"/>
              </a:rPr>
              <a:t>Algorithm looks like this: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>
                <a:latin typeface="Helvetica" charset="0"/>
                <a:ea typeface="굴림" charset="-127"/>
              </a:rPr>
              <a:t>	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>
                <a:latin typeface="Helvetica" charset="0"/>
                <a:ea typeface="굴림" charset="-127"/>
              </a:rPr>
              <a:t>		</a:t>
            </a:r>
            <a:r>
              <a:rPr lang="en-US" altLang="ko-KR" sz="2000" u="sng">
                <a:latin typeface="Helvetica" charset="0"/>
                <a:ea typeface="굴림" charset="-127"/>
              </a:rPr>
              <a:t>Thread A</a:t>
            </a:r>
            <a:r>
              <a:rPr lang="en-US" altLang="ko-KR" sz="2000">
                <a:latin typeface="Helvetica" charset="0"/>
                <a:ea typeface="굴림" charset="-127"/>
              </a:rPr>
              <a:t>		</a:t>
            </a:r>
            <a:r>
              <a:rPr lang="en-US" altLang="ko-KR" sz="2000" u="sng">
                <a:latin typeface="Helvetica" charset="0"/>
                <a:ea typeface="굴림" charset="-127"/>
              </a:rPr>
              <a:t>Thread B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>
                <a:latin typeface="Courier New" charset="0"/>
                <a:ea typeface="굴림" charset="-127"/>
              </a:rPr>
              <a:t>		leave note A;	leave note B;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if (noNote B) {	if (noNote A) {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   if (noMilk) {	   if (noMilk) {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      buy Milk;	      buy Milk;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   }		   }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}		}</a:t>
            </a:r>
            <a:br>
              <a:rPr lang="en-US" altLang="ko-KR" sz="2000">
                <a:latin typeface="Courier New" charset="0"/>
                <a:ea typeface="굴림" charset="-127"/>
              </a:rPr>
            </a:br>
            <a:r>
              <a:rPr lang="en-US" altLang="ko-KR" sz="2000">
                <a:latin typeface="Courier New" charset="0"/>
                <a:ea typeface="굴림" charset="-127"/>
              </a:rPr>
              <a:t>	remove note A;	remove note B;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endParaRPr lang="en-US" altLang="ko-KR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>
                <a:latin typeface="Helvetica" charset="0"/>
                <a:ea typeface="굴림" charset="-127"/>
              </a:rPr>
              <a:t>Does this work?</a:t>
            </a:r>
          </a:p>
        </p:txBody>
      </p:sp>
    </p:spTree>
    <p:extLst>
      <p:ext uri="{BB962C8B-B14F-4D97-AF65-F5344CB8AC3E}">
        <p14:creationId xmlns:p14="http://schemas.microsoft.com/office/powerpoint/2010/main" val="21119350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04800" y="1371600"/>
            <a:ext cx="83820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 cap="flat" cmpd="sng" algn="ctr">
            <a:noFill/>
            <a:prstDash val="solid"/>
            <a:round/>
            <a:headEnd type="stealth" w="med" len="med"/>
            <a:tailEnd type="stealth" w="med" len="med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304800" y="3276600"/>
            <a:ext cx="8382000" cy="1143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 cap="flat" cmpd="sng" algn="ctr">
            <a:noFill/>
            <a:prstDash val="solid"/>
            <a:round/>
            <a:headEnd type="stealth" w="med" len="med"/>
            <a:tailEnd type="stealth" w="med" len="med"/>
          </a:ln>
          <a:effectLst/>
        </p:spPr>
        <p:txBody>
          <a:bodyPr vert="eaVert" wrap="none" anchor="ctr"/>
          <a:lstStyle/>
          <a:p>
            <a:pPr>
              <a:defRPr/>
            </a:pPr>
            <a:endParaRPr lang="en-US">
              <a:ea typeface="+mn-ea"/>
            </a:endParaRP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 Solution #2</a:t>
            </a: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2888" y="685800"/>
            <a:ext cx="85344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Possible for neither thread to buy milk!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	</a:t>
            </a:r>
            <a:r>
              <a:rPr lang="en-US" altLang="ko-KR" sz="2000" dirty="0">
                <a:latin typeface="Helvetica" charset="0"/>
                <a:ea typeface="굴림" charset="-127"/>
              </a:rPr>
              <a:t>		</a:t>
            </a:r>
            <a:r>
              <a:rPr lang="en-US" altLang="ko-KR" sz="2000" u="sng" dirty="0">
                <a:latin typeface="Helvetica" charset="0"/>
                <a:ea typeface="굴림" charset="-127"/>
              </a:rPr>
              <a:t>Thread A</a:t>
            </a:r>
            <a:r>
              <a:rPr lang="en-US" altLang="ko-KR" sz="2000" dirty="0">
                <a:latin typeface="Helvetica" charset="0"/>
                <a:ea typeface="굴림" charset="-127"/>
              </a:rPr>
              <a:t>		</a:t>
            </a:r>
            <a:r>
              <a:rPr lang="en-US" altLang="ko-KR" sz="2000" u="sng" dirty="0">
                <a:latin typeface="Helvetica" charset="0"/>
                <a:ea typeface="굴림" charset="-127"/>
              </a:rPr>
              <a:t>Thread B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		leave note A;	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                                  leave note B;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	                         if (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noNote</a:t>
            </a:r>
            <a:r>
              <a:rPr lang="en-US" altLang="ko-KR" sz="2000" dirty="0">
                <a:latin typeface="Courier New" charset="0"/>
                <a:ea typeface="굴림" charset="-127"/>
              </a:rPr>
              <a:t> A) {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	                            if (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noMilk</a:t>
            </a:r>
            <a:r>
              <a:rPr lang="en-US" altLang="ko-KR" sz="2000" dirty="0">
                <a:latin typeface="Courier New" charset="0"/>
                <a:ea typeface="굴림" charset="-127"/>
              </a:rPr>
              <a:t>) {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	                              buy Milk;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		   }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		}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         if (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noNote</a:t>
            </a:r>
            <a:r>
              <a:rPr lang="en-US" altLang="ko-KR" sz="2000" dirty="0">
                <a:latin typeface="Courier New" charset="0"/>
                <a:ea typeface="굴림" charset="-127"/>
              </a:rPr>
              <a:t> B)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            if (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noMilk</a:t>
            </a:r>
            <a:r>
              <a:rPr lang="en-US" altLang="ko-KR" sz="2000" dirty="0">
                <a:latin typeface="Courier New" charset="0"/>
                <a:ea typeface="굴림" charset="-127"/>
              </a:rPr>
              <a:t>) {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              buy Milk;            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              …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                                  remove note B;</a:t>
            </a:r>
            <a:endParaRPr lang="en-US" altLang="ko-KR" sz="2000" dirty="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Really insidious: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굴림" charset="-127"/>
              </a:rPr>
              <a:t>Unlikely</a:t>
            </a:r>
            <a:r>
              <a:rPr lang="en-US" altLang="ko-KR" dirty="0">
                <a:latin typeface="Helvetica" charset="0"/>
                <a:ea typeface="굴림" charset="-127"/>
              </a:rPr>
              <a:t> that this would happen, but will at worse possible time</a:t>
            </a:r>
          </a:p>
        </p:txBody>
      </p:sp>
    </p:spTree>
    <p:extLst>
      <p:ext uri="{BB962C8B-B14F-4D97-AF65-F5344CB8AC3E}">
        <p14:creationId xmlns:p14="http://schemas.microsoft.com/office/powerpoint/2010/main" val="20214709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43008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 Solution #3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300" y="668338"/>
            <a:ext cx="8686800" cy="5961062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Here is a possible two-note solution: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	</a:t>
            </a:r>
            <a:r>
              <a:rPr lang="en-US" altLang="ko-KR" sz="2000" dirty="0">
                <a:latin typeface="Helvetica" charset="0"/>
                <a:ea typeface="굴림" charset="-127"/>
              </a:rPr>
              <a:t>		</a:t>
            </a:r>
            <a:r>
              <a:rPr lang="en-US" altLang="ko-KR" sz="2000" u="sng" dirty="0">
                <a:latin typeface="Helvetica" charset="0"/>
                <a:ea typeface="굴림" charset="-127"/>
              </a:rPr>
              <a:t>Thread A</a:t>
            </a:r>
            <a:r>
              <a:rPr lang="en-US" altLang="ko-KR" sz="2000" dirty="0">
                <a:latin typeface="Helvetica" charset="0"/>
                <a:ea typeface="굴림" charset="-127"/>
              </a:rPr>
              <a:t>		</a:t>
            </a:r>
            <a:r>
              <a:rPr lang="en-US" altLang="ko-KR" sz="2000" u="sng" dirty="0">
                <a:latin typeface="Helvetica" charset="0"/>
                <a:ea typeface="굴림" charset="-127"/>
              </a:rPr>
              <a:t>Thread B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sz="2000" dirty="0">
                <a:latin typeface="Courier New" charset="0"/>
                <a:ea typeface="굴림" charset="-127"/>
              </a:rPr>
              <a:t>		leave note A;	leave note B;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while (note B) {\\X 	if (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noNote</a:t>
            </a:r>
            <a:r>
              <a:rPr lang="en-US" altLang="ko-KR" sz="2000" dirty="0">
                <a:latin typeface="Courier New" charset="0"/>
                <a:ea typeface="굴림" charset="-127"/>
              </a:rPr>
              <a:t> A) {\\Y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   do nothing;	   if (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noMilk</a:t>
            </a:r>
            <a:r>
              <a:rPr lang="en-US" altLang="ko-KR" sz="2000" dirty="0">
                <a:latin typeface="Courier New" charset="0"/>
                <a:ea typeface="굴림" charset="-127"/>
              </a:rPr>
              <a:t>) {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}		      buy milk;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if (</a:t>
            </a:r>
            <a:r>
              <a:rPr lang="en-US" altLang="ko-KR" sz="2000" dirty="0" err="1">
                <a:latin typeface="Courier New" charset="0"/>
                <a:ea typeface="굴림" charset="-127"/>
              </a:rPr>
              <a:t>noMilk</a:t>
            </a:r>
            <a:r>
              <a:rPr lang="en-US" altLang="ko-KR" sz="2000" dirty="0">
                <a:latin typeface="Courier New" charset="0"/>
                <a:ea typeface="굴림" charset="-127"/>
              </a:rPr>
              <a:t>) {	   }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   buy milk;	}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}		remove note B;</a:t>
            </a:r>
            <a:br>
              <a:rPr lang="en-US" altLang="ko-KR" sz="2000" dirty="0">
                <a:latin typeface="Courier New" charset="0"/>
                <a:ea typeface="굴림" charset="-127"/>
              </a:rPr>
            </a:br>
            <a:r>
              <a:rPr lang="en-US" altLang="ko-KR" sz="2000" dirty="0">
                <a:latin typeface="Courier New" charset="0"/>
                <a:ea typeface="굴림" charset="-127"/>
              </a:rPr>
              <a:t>	remove note A;</a:t>
            </a:r>
            <a:endParaRPr lang="en-US" altLang="ko-KR" dirty="0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Does this work? 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Yes. Both can guarantee that: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It is safe to buy, or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Other will buy, ok to quit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At </a:t>
            </a:r>
            <a:r>
              <a:rPr lang="en-US" altLang="zh-CN" dirty="0">
                <a:latin typeface="Helvetica" charset="0"/>
                <a:ea typeface="굴림" charset="-127"/>
              </a:rPr>
              <a:t>line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ko-KR" dirty="0">
                <a:latin typeface="Helvetica" charset="0"/>
                <a:ea typeface="굴림" charset="-127"/>
              </a:rPr>
              <a:t>X: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if no note B, safe for A to buy,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otherwise wait to find out what will happen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At </a:t>
            </a:r>
            <a:r>
              <a:rPr lang="en-US" altLang="zh-CN" dirty="0">
                <a:latin typeface="Helvetica" charset="0"/>
                <a:ea typeface="굴림" charset="-127"/>
              </a:rPr>
              <a:t>line</a:t>
            </a:r>
            <a:r>
              <a:rPr lang="zh-CN" altLang="en-US" dirty="0">
                <a:latin typeface="Helvetica" charset="0"/>
                <a:ea typeface="굴림" charset="-127"/>
              </a:rPr>
              <a:t> </a:t>
            </a:r>
            <a:r>
              <a:rPr lang="en-US" altLang="ko-KR" dirty="0">
                <a:latin typeface="Helvetica" charset="0"/>
                <a:ea typeface="굴림" charset="-127"/>
              </a:rPr>
              <a:t>Y: 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if no note A, safe for B to buy</a:t>
            </a:r>
          </a:p>
          <a:p>
            <a:pPr lvl="1" eaLnBrk="1" hangingPunct="1">
              <a:lnSpc>
                <a:spcPct val="80000"/>
              </a:lnSpc>
              <a:spcBef>
                <a:spcPct val="20000"/>
              </a:spcBef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ko-KR" dirty="0">
                <a:latin typeface="Helvetica" charset="0"/>
                <a:ea typeface="굴림" charset="-127"/>
              </a:rPr>
              <a:t>Otherwise, A is either buying or waiting for B to quit</a:t>
            </a:r>
          </a:p>
        </p:txBody>
      </p:sp>
    </p:spTree>
    <p:extLst>
      <p:ext uri="{BB962C8B-B14F-4D97-AF65-F5344CB8AC3E}">
        <p14:creationId xmlns:p14="http://schemas.microsoft.com/office/powerpoint/2010/main" val="1992669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Solution #3 discussion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775" y="736600"/>
            <a:ext cx="8839200" cy="6121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Our solution protects a single “Critical-Section” piece of code for each thread: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			</a:t>
            </a: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-127"/>
              </a:rPr>
              <a:t>if (noMilk) {	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-127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-127"/>
              </a:rPr>
              <a:t>   		   buy milk;	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-127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-127"/>
              </a:rPr>
              <a:t>		}	</a:t>
            </a:r>
            <a:r>
              <a:rPr lang="en-US" altLang="ko-KR" sz="2000">
                <a:latin typeface="Courier New" charset="0"/>
                <a:ea typeface="굴림" charset="-127"/>
              </a:rPr>
              <a:t>	</a:t>
            </a:r>
            <a:endParaRPr lang="en-US" altLang="ko-KR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Solution #3 works, but it’s really unsatisfactory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Really complex – even for this simple an example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Hard to convince yourself that this really works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A’s code is different from B’s – what if lots of threads?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Code would have to be slightly different for each thread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While A is waiting, it is consuming CPU time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굴림" charset="-127"/>
              </a:rPr>
              <a:t>This is called “busy-waiting”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There’s a better way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Have hardware provide better (higher-level) primitives than atomic load and store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>
                <a:latin typeface="Helvetica" charset="0"/>
                <a:ea typeface="굴림" charset="-127"/>
              </a:rPr>
              <a:t>Build even higher-level programming abstractions on this new hardware support</a:t>
            </a:r>
          </a:p>
        </p:txBody>
      </p:sp>
    </p:spTree>
    <p:extLst>
      <p:ext uri="{BB962C8B-B14F-4D97-AF65-F5344CB8AC3E}">
        <p14:creationId xmlns:p14="http://schemas.microsoft.com/office/powerpoint/2010/main" val="1554601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>
                <a:latin typeface="Helvetica" charset="0"/>
                <a:ea typeface="굴림" charset="-127"/>
              </a:rPr>
              <a:t>Synchronization: High-Level Picture</a:t>
            </a:r>
          </a:p>
        </p:txBody>
      </p:sp>
      <p:sp>
        <p:nvSpPr>
          <p:cNvPr id="155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175" y="725488"/>
            <a:ext cx="8686800" cy="5105400"/>
          </a:xfrm>
        </p:spPr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The abstraction of threads is good: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Maintains sequential execution model 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Allows simple parallelism to overlap I/O and computation</a:t>
            </a:r>
          </a:p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Unfortunately, still too complicated to access state shared between threads 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Consider “too much milk” example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Implementing a concurrent program with only loads and stores would be tricky and error-prone</a:t>
            </a:r>
          </a:p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We’ll implement higher-level operations on top of atomic operations provided by hardware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Develop a “synchronization toolbox”</a:t>
            </a:r>
          </a:p>
          <a:p>
            <a:pPr lvl="1" eaLnBrk="1" hangingPunct="1"/>
            <a:r>
              <a:rPr lang="en-US" altLang="ko-KR">
                <a:latin typeface="Helvetica" charset="0"/>
                <a:ea typeface="굴림" charset="-127"/>
              </a:rPr>
              <a:t>Explore some common programming paradigms</a:t>
            </a:r>
          </a:p>
        </p:txBody>
      </p:sp>
      <p:pic>
        <p:nvPicPr>
          <p:cNvPr id="443396" name="Picture 4" descr="MCj0237769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4343400"/>
            <a:ext cx="1503363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5412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>
                <a:latin typeface="Helvetica" charset="0"/>
                <a:ea typeface="굴림" charset="-127"/>
              </a:rPr>
              <a:t>Too Much Milk: Solution #4</a:t>
            </a:r>
          </a:p>
        </p:txBody>
      </p:sp>
      <p:sp>
        <p:nvSpPr>
          <p:cNvPr id="516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788" y="660400"/>
            <a:ext cx="8710612" cy="6197600"/>
          </a:xfrm>
        </p:spPr>
        <p:txBody>
          <a:bodyPr/>
          <a:lstStyle/>
          <a:p>
            <a:pPr eaLnBrk="1" hangingPunct="1">
              <a:lnSpc>
                <a:spcPct val="100000"/>
              </a:lnSpc>
              <a:spcBef>
                <a:spcPct val="25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Suppose we have some sort of implementation of a lock (more in a moment)</a:t>
            </a:r>
          </a:p>
          <a:p>
            <a:pPr lvl="1" eaLnBrk="1" hangingPunct="1">
              <a:lnSpc>
                <a:spcPct val="100000"/>
              </a:lnSpc>
              <a:spcBef>
                <a:spcPct val="25000"/>
              </a:spcBef>
            </a:pPr>
            <a:r>
              <a:rPr lang="en-US" altLang="ko-KR">
                <a:solidFill>
                  <a:schemeClr val="hlink"/>
                </a:solidFill>
                <a:latin typeface="Courier New" charset="0"/>
                <a:ea typeface="굴림" charset="-127"/>
              </a:rPr>
              <a:t>Lock.Acquire()</a:t>
            </a:r>
            <a:r>
              <a:rPr lang="en-US" altLang="ko-KR">
                <a:latin typeface="Helvetica" charset="0"/>
                <a:ea typeface="굴림" charset="-127"/>
              </a:rPr>
              <a:t> – wait until lock is free, then grab</a:t>
            </a:r>
          </a:p>
          <a:p>
            <a:pPr lvl="1" eaLnBrk="1" hangingPunct="1">
              <a:lnSpc>
                <a:spcPct val="100000"/>
              </a:lnSpc>
              <a:spcBef>
                <a:spcPct val="25000"/>
              </a:spcBef>
            </a:pPr>
            <a:r>
              <a:rPr lang="en-US" altLang="ko-KR">
                <a:solidFill>
                  <a:schemeClr val="hlink"/>
                </a:solidFill>
                <a:latin typeface="Courier New" charset="0"/>
                <a:ea typeface="굴림" charset="-127"/>
              </a:rPr>
              <a:t>Lock.Release()</a:t>
            </a:r>
            <a:r>
              <a:rPr lang="en-US" altLang="ko-KR">
                <a:latin typeface="Helvetica" charset="0"/>
                <a:ea typeface="굴림" charset="-127"/>
              </a:rPr>
              <a:t> – unlock, waking up anyone waiting</a:t>
            </a:r>
          </a:p>
          <a:p>
            <a:pPr lvl="1" eaLnBrk="1" hangingPunct="1">
              <a:lnSpc>
                <a:spcPct val="100000"/>
              </a:lnSpc>
              <a:spcBef>
                <a:spcPct val="25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These must be atomic operations – if two threads are waiting for the lock, only one succeeds to grab the lock</a:t>
            </a:r>
          </a:p>
          <a:p>
            <a:pPr lvl="2" eaLnBrk="1" hangingPunct="1">
              <a:lnSpc>
                <a:spcPct val="100000"/>
              </a:lnSpc>
              <a:spcBef>
                <a:spcPct val="25000"/>
              </a:spcBef>
            </a:pPr>
            <a:endParaRPr lang="en-US" altLang="ko-KR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100000"/>
              </a:lnSpc>
              <a:spcBef>
                <a:spcPct val="25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Then, our milk problem is easy:</a:t>
            </a:r>
          </a:p>
          <a:p>
            <a:pPr eaLnBrk="1" hangingPunct="1">
              <a:lnSpc>
                <a:spcPct val="80000"/>
              </a:lnSpc>
              <a:spcBef>
                <a:spcPct val="25000"/>
              </a:spcBef>
              <a:buFontTx/>
              <a:buNone/>
            </a:pPr>
            <a:r>
              <a:rPr lang="en-US" altLang="ko-KR">
                <a:latin typeface="Helvetica" charset="0"/>
                <a:ea typeface="굴림" charset="-127"/>
              </a:rPr>
              <a:t>	</a:t>
            </a:r>
            <a:r>
              <a:rPr lang="en-US" altLang="ko-KR" sz="2000">
                <a:latin typeface="Courier New" charset="0"/>
                <a:ea typeface="굴림" charset="-127"/>
              </a:rPr>
              <a:t>	milklock.Acquire();</a:t>
            </a:r>
          </a:p>
          <a:p>
            <a:pPr eaLnBrk="1" hangingPunct="1">
              <a:lnSpc>
                <a:spcPct val="80000"/>
              </a:lnSpc>
              <a:spcBef>
                <a:spcPct val="25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		if (nomilk)</a:t>
            </a:r>
          </a:p>
          <a:p>
            <a:pPr eaLnBrk="1" hangingPunct="1">
              <a:lnSpc>
                <a:spcPct val="80000"/>
              </a:lnSpc>
              <a:spcBef>
                <a:spcPct val="25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		   buy milk;</a:t>
            </a:r>
          </a:p>
          <a:p>
            <a:pPr eaLnBrk="1" hangingPunct="1">
              <a:lnSpc>
                <a:spcPct val="80000"/>
              </a:lnSpc>
              <a:spcBef>
                <a:spcPct val="25000"/>
              </a:spcBef>
              <a:buFontTx/>
              <a:buNone/>
            </a:pPr>
            <a:r>
              <a:rPr lang="en-US" altLang="ko-KR" sz="2000">
                <a:latin typeface="Courier New" charset="0"/>
                <a:ea typeface="굴림" charset="-127"/>
              </a:rPr>
              <a:t>		milklock.Release();</a:t>
            </a:r>
          </a:p>
          <a:p>
            <a:pPr lvl="2" eaLnBrk="1" hangingPunct="1">
              <a:lnSpc>
                <a:spcPct val="100000"/>
              </a:lnSpc>
              <a:spcBef>
                <a:spcPct val="25000"/>
              </a:spcBef>
            </a:pPr>
            <a:endParaRPr lang="en-US" altLang="ko-KR">
              <a:latin typeface="Helvetica" charset="0"/>
              <a:ea typeface="굴림" charset="-127"/>
            </a:endParaRPr>
          </a:p>
          <a:p>
            <a:pPr eaLnBrk="1" hangingPunct="1">
              <a:lnSpc>
                <a:spcPct val="100000"/>
              </a:lnSpc>
              <a:spcBef>
                <a:spcPct val="25000"/>
              </a:spcBef>
            </a:pPr>
            <a:r>
              <a:rPr lang="en-US" altLang="ko-KR">
                <a:latin typeface="Helvetica" charset="0"/>
                <a:ea typeface="굴림" charset="-127"/>
              </a:rPr>
              <a:t>Once again, section of code between </a:t>
            </a:r>
            <a:r>
              <a:rPr lang="en-US" altLang="ko-KR">
                <a:latin typeface="Courier New" charset="0"/>
                <a:ea typeface="굴림" charset="-127"/>
              </a:rPr>
              <a:t>Acquire()</a:t>
            </a:r>
            <a:r>
              <a:rPr lang="en-US" altLang="ko-KR">
                <a:latin typeface="Helvetica" charset="0"/>
                <a:ea typeface="굴림" charset="-127"/>
              </a:rPr>
              <a:t> and </a:t>
            </a:r>
            <a:r>
              <a:rPr lang="en-US" altLang="ko-KR">
                <a:latin typeface="Courier New" charset="0"/>
                <a:ea typeface="굴림" charset="-127"/>
              </a:rPr>
              <a:t>Release()</a:t>
            </a:r>
            <a:r>
              <a:rPr lang="en-US" altLang="ko-KR">
                <a:latin typeface="Helvetica" charset="0"/>
                <a:ea typeface="굴림" charset="-127"/>
              </a:rPr>
              <a:t> called a “</a:t>
            </a:r>
            <a:r>
              <a:rPr lang="en-US" altLang="ko-KR">
                <a:solidFill>
                  <a:schemeClr val="hlink"/>
                </a:solidFill>
                <a:latin typeface="Helvetica" charset="0"/>
                <a:ea typeface="굴림" charset="-127"/>
              </a:rPr>
              <a:t>Critical Section</a:t>
            </a:r>
            <a:r>
              <a:rPr lang="en-US" altLang="ko-KR">
                <a:latin typeface="Helvetica" charset="0"/>
                <a:ea typeface="굴림" charset="-127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15821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6099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The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big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picture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of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synchronization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13315" name="Rectangle 36"/>
          <p:cNvSpPr>
            <a:spLocks noGrp="1" noChangeArrowheads="1"/>
          </p:cNvSpPr>
          <p:nvPr>
            <p:ph idx="1"/>
          </p:nvPr>
        </p:nvSpPr>
        <p:spPr>
          <a:xfrm>
            <a:off x="228600" y="4343400"/>
            <a:ext cx="8610600" cy="21336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We are going to implement various higher-level synchronization primitives using atomic operations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Everything is pretty painful if only atomic primitives are load and store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Need to provide primitives useful at user-level</a:t>
            </a:r>
          </a:p>
        </p:txBody>
      </p:sp>
      <p:sp>
        <p:nvSpPr>
          <p:cNvPr id="436234" name="Rectangle 10"/>
          <p:cNvSpPr>
            <a:spLocks noChangeArrowheads="1"/>
          </p:cNvSpPr>
          <p:nvPr/>
        </p:nvSpPr>
        <p:spPr bwMode="auto">
          <a:xfrm>
            <a:off x="1752600" y="3276600"/>
            <a:ext cx="7162800" cy="685800"/>
          </a:xfrm>
          <a:prstGeom prst="rect">
            <a:avLst/>
          </a:prstGeom>
          <a:solidFill>
            <a:srgbClr val="00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Helvetica" charset="0"/>
              </a:rPr>
              <a:t>Load/Store    Disable Ints   Test&amp;Set   Comp&amp;Swap</a:t>
            </a:r>
          </a:p>
        </p:txBody>
      </p:sp>
      <p:sp>
        <p:nvSpPr>
          <p:cNvPr id="436232" name="Rectangle 8"/>
          <p:cNvSpPr>
            <a:spLocks noChangeArrowheads="1"/>
          </p:cNvSpPr>
          <p:nvPr/>
        </p:nvSpPr>
        <p:spPr bwMode="auto">
          <a:xfrm>
            <a:off x="1752600" y="1828800"/>
            <a:ext cx="7162800" cy="1447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Helvetica" charset="0"/>
              </a:rPr>
              <a:t>Locks   Semaphores   Monitors   Send/Receive</a:t>
            </a:r>
          </a:p>
        </p:txBody>
      </p:sp>
      <p:sp>
        <p:nvSpPr>
          <p:cNvPr id="436230" name="Rectangle 6"/>
          <p:cNvSpPr>
            <a:spLocks noChangeArrowheads="1"/>
          </p:cNvSpPr>
          <p:nvPr/>
        </p:nvSpPr>
        <p:spPr bwMode="auto">
          <a:xfrm>
            <a:off x="1752600" y="990600"/>
            <a:ext cx="7162800" cy="838200"/>
          </a:xfrm>
          <a:prstGeom prst="rect">
            <a:avLst/>
          </a:prstGeom>
          <a:solidFill>
            <a:srgbClr val="53FB25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000">
                <a:latin typeface="Helvetica" charset="0"/>
              </a:rPr>
              <a:t>Shared Programs</a:t>
            </a: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228600" y="990600"/>
            <a:ext cx="8686800" cy="2971800"/>
            <a:chOff x="144" y="480"/>
            <a:chExt cx="5472" cy="1872"/>
          </a:xfrm>
        </p:grpSpPr>
        <p:grpSp>
          <p:nvGrpSpPr>
            <p:cNvPr id="13320" name="Group 35"/>
            <p:cNvGrpSpPr>
              <a:grpSpLocks/>
            </p:cNvGrpSpPr>
            <p:nvPr/>
          </p:nvGrpSpPr>
          <p:grpSpPr bwMode="auto">
            <a:xfrm>
              <a:off x="144" y="480"/>
              <a:ext cx="960" cy="1872"/>
              <a:chOff x="144" y="768"/>
              <a:chExt cx="960" cy="1872"/>
            </a:xfrm>
          </p:grpSpPr>
          <p:sp>
            <p:nvSpPr>
              <p:cNvPr id="13328" name="Rectangle 9"/>
              <p:cNvSpPr>
                <a:spLocks noChangeArrowheads="1"/>
              </p:cNvSpPr>
              <p:nvPr/>
            </p:nvSpPr>
            <p:spPr bwMode="auto">
              <a:xfrm>
                <a:off x="144" y="2208"/>
                <a:ext cx="960" cy="432"/>
              </a:xfrm>
              <a:prstGeom prst="rect">
                <a:avLst/>
              </a:prstGeom>
              <a:solidFill>
                <a:srgbClr val="FF66CC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100000"/>
                </a:pPr>
                <a:r>
                  <a:rPr lang="en-US" sz="2000">
                    <a:latin typeface="Helvetica" charset="0"/>
                  </a:rPr>
                  <a:t>Hardware</a:t>
                </a:r>
              </a:p>
            </p:txBody>
          </p:sp>
          <p:sp>
            <p:nvSpPr>
              <p:cNvPr id="13329" name="Rectangle 7"/>
              <p:cNvSpPr>
                <a:spLocks noChangeArrowheads="1"/>
              </p:cNvSpPr>
              <p:nvPr/>
            </p:nvSpPr>
            <p:spPr bwMode="auto">
              <a:xfrm>
                <a:off x="144" y="1296"/>
                <a:ext cx="960" cy="912"/>
              </a:xfrm>
              <a:prstGeom prst="rect">
                <a:avLst/>
              </a:prstGeom>
              <a:solidFill>
                <a:srgbClr val="FF66CC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100000"/>
                </a:pPr>
                <a:r>
                  <a:rPr lang="en-US" sz="2000">
                    <a:latin typeface="Helvetica" charset="0"/>
                  </a:rPr>
                  <a:t>Higher-level </a:t>
                </a:r>
              </a:p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100000"/>
                </a:pPr>
                <a:r>
                  <a:rPr lang="en-US" sz="2000">
                    <a:latin typeface="Helvetica" charset="0"/>
                  </a:rPr>
                  <a:t>API</a:t>
                </a:r>
              </a:p>
            </p:txBody>
          </p:sp>
          <p:sp>
            <p:nvSpPr>
              <p:cNvPr id="13330" name="Rectangle 5"/>
              <p:cNvSpPr>
                <a:spLocks noChangeArrowheads="1"/>
              </p:cNvSpPr>
              <p:nvPr/>
            </p:nvSpPr>
            <p:spPr bwMode="auto">
              <a:xfrm>
                <a:off x="144" y="768"/>
                <a:ext cx="960" cy="528"/>
              </a:xfrm>
              <a:prstGeom prst="rect">
                <a:avLst/>
              </a:prstGeom>
              <a:solidFill>
                <a:srgbClr val="FF66CC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>
                  <a:lnSpc>
                    <a:spcPct val="90000"/>
                  </a:lnSpc>
                  <a:spcBef>
                    <a:spcPct val="30000"/>
                  </a:spcBef>
                  <a:buSzPct val="100000"/>
                </a:pPr>
                <a:r>
                  <a:rPr lang="en-US" sz="2000">
                    <a:latin typeface="Helvetica" charset="0"/>
                  </a:rPr>
                  <a:t>Programs</a:t>
                </a:r>
              </a:p>
            </p:txBody>
          </p:sp>
        </p:grpSp>
        <p:sp>
          <p:nvSpPr>
            <p:cNvPr id="13321" name="Line 11"/>
            <p:cNvSpPr>
              <a:spLocks noChangeShapeType="1"/>
            </p:cNvSpPr>
            <p:nvPr/>
          </p:nvSpPr>
          <p:spPr bwMode="auto">
            <a:xfrm>
              <a:off x="144" y="480"/>
              <a:ext cx="54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322" name="Line 12"/>
            <p:cNvSpPr>
              <a:spLocks noChangeShapeType="1"/>
            </p:cNvSpPr>
            <p:nvPr/>
          </p:nvSpPr>
          <p:spPr bwMode="auto">
            <a:xfrm>
              <a:off x="144" y="1008"/>
              <a:ext cx="54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323" name="Line 13"/>
            <p:cNvSpPr>
              <a:spLocks noChangeShapeType="1"/>
            </p:cNvSpPr>
            <p:nvPr/>
          </p:nvSpPr>
          <p:spPr bwMode="auto">
            <a:xfrm>
              <a:off x="144" y="1920"/>
              <a:ext cx="54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324" name="Line 14"/>
            <p:cNvSpPr>
              <a:spLocks noChangeShapeType="1"/>
            </p:cNvSpPr>
            <p:nvPr/>
          </p:nvSpPr>
          <p:spPr bwMode="auto">
            <a:xfrm>
              <a:off x="144" y="2352"/>
              <a:ext cx="547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325" name="Line 15"/>
            <p:cNvSpPr>
              <a:spLocks noChangeShapeType="1"/>
            </p:cNvSpPr>
            <p:nvPr/>
          </p:nvSpPr>
          <p:spPr bwMode="auto">
            <a:xfrm>
              <a:off x="144" y="480"/>
              <a:ext cx="0" cy="18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326" name="Line 16"/>
            <p:cNvSpPr>
              <a:spLocks noChangeShapeType="1"/>
            </p:cNvSpPr>
            <p:nvPr/>
          </p:nvSpPr>
          <p:spPr bwMode="auto">
            <a:xfrm>
              <a:off x="1104" y="480"/>
              <a:ext cx="0" cy="18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3327" name="Line 17"/>
            <p:cNvSpPr>
              <a:spLocks noChangeShapeType="1"/>
            </p:cNvSpPr>
            <p:nvPr/>
          </p:nvSpPr>
          <p:spPr bwMode="auto">
            <a:xfrm>
              <a:off x="5616" y="480"/>
              <a:ext cx="0" cy="18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19495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6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6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4" grpId="0" animBg="1"/>
      <p:bldP spid="436232" grpId="0" animBg="1"/>
      <p:bldP spid="43623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level synchronization primitives</a:t>
            </a:r>
          </a:p>
        </p:txBody>
      </p:sp>
    </p:spTree>
    <p:extLst>
      <p:ext uri="{BB962C8B-B14F-4D97-AF65-F5344CB8AC3E}">
        <p14:creationId xmlns:p14="http://schemas.microsoft.com/office/powerpoint/2010/main" val="63406033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Semaphores</a:t>
            </a:r>
          </a:p>
        </p:txBody>
      </p:sp>
      <p:sp>
        <p:nvSpPr>
          <p:cNvPr id="459779" name="Rectangle 3"/>
          <p:cNvSpPr>
            <a:spLocks noGrp="1" noChangeArrowheads="1"/>
          </p:cNvSpPr>
          <p:nvPr>
            <p:ph idx="1"/>
          </p:nvPr>
        </p:nvSpPr>
        <p:spPr>
          <a:xfrm>
            <a:off x="192088" y="762000"/>
            <a:ext cx="8610600" cy="5729288"/>
          </a:xfrm>
        </p:spPr>
        <p:txBody>
          <a:bodyPr/>
          <a:lstStyle/>
          <a:p>
            <a:pPr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Semaphores are a kind of generalized locks</a:t>
            </a:r>
          </a:p>
          <a:p>
            <a:pPr lvl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First defined by Dijkstra in late 60s</a:t>
            </a:r>
          </a:p>
          <a:p>
            <a:pPr lvl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Main synchronization primitive used in original UNIX</a:t>
            </a:r>
          </a:p>
          <a:p>
            <a:pPr>
              <a:spcBef>
                <a:spcPct val="25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Definition: a Semaphore has a non-negative integer value and supports the following two operations:</a:t>
            </a:r>
          </a:p>
          <a:p>
            <a:pPr lvl="1">
              <a:spcBef>
                <a:spcPct val="25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P():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an atomic operation that waits for semaphore to become positive, then decrements it by 1 </a:t>
            </a:r>
          </a:p>
          <a:p>
            <a:pPr lvl="1">
              <a:spcBef>
                <a:spcPct val="25000"/>
              </a:spcBef>
            </a:pPr>
            <a:endParaRPr lang="en-US" altLang="ko-KR" dirty="0">
              <a:solidFill>
                <a:schemeClr val="hlink"/>
              </a:solidFill>
              <a:latin typeface="Helvetica" charset="0"/>
              <a:ea typeface="Gulim" charset="0"/>
              <a:cs typeface="Gulim" charset="0"/>
            </a:endParaRPr>
          </a:p>
          <a:p>
            <a:pPr lvl="1">
              <a:spcBef>
                <a:spcPct val="25000"/>
              </a:spcBef>
            </a:pP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V():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an atomic operation that increments the semaphore by 1, waking up a waiting P, if any</a:t>
            </a:r>
          </a:p>
          <a:p>
            <a:pPr lvl="1">
              <a:spcBef>
                <a:spcPct val="25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spcBef>
                <a:spcPct val="25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Note that </a:t>
            </a: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P()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stands for “</a:t>
            </a:r>
            <a:r>
              <a:rPr lang="en-US" altLang="ko-KR" i="1" dirty="0" err="1">
                <a:latin typeface="Helvetica" charset="0"/>
                <a:ea typeface="Gulim" charset="0"/>
                <a:cs typeface="Gulim" charset="0"/>
              </a:rPr>
              <a:t>proberen</a:t>
            </a:r>
            <a:r>
              <a:rPr lang="en-US" altLang="ko-KR" i="1" dirty="0">
                <a:latin typeface="Helvetica" charset="0"/>
                <a:ea typeface="Gulim" charset="0"/>
                <a:cs typeface="Gulim" charset="0"/>
              </a:rPr>
              <a:t>” 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(to test) and </a:t>
            </a: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V()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stands for “</a:t>
            </a:r>
            <a:r>
              <a:rPr lang="en-US" altLang="ko-KR" i="1" dirty="0" err="1">
                <a:latin typeface="Helvetica" charset="0"/>
                <a:ea typeface="Gulim" charset="0"/>
                <a:cs typeface="Gulim" charset="0"/>
              </a:rPr>
              <a:t>verhogen</a:t>
            </a:r>
            <a:r>
              <a:rPr lang="en-US" altLang="ko-KR" i="1" dirty="0">
                <a:latin typeface="Helvetica" charset="0"/>
                <a:ea typeface="Gulim" charset="0"/>
                <a:cs typeface="Gulim" charset="0"/>
              </a:rPr>
              <a:t>”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(to increment) in Dutch</a:t>
            </a:r>
          </a:p>
        </p:txBody>
      </p:sp>
      <p:pic>
        <p:nvPicPr>
          <p:cNvPr id="14340" name="Picture 20" descr="MCj0364166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28600"/>
            <a:ext cx="4730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49485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7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977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 2"/>
          <p:cNvSpPr>
            <a:spLocks noChangeArrowheads="1"/>
          </p:cNvSpPr>
          <p:nvPr/>
        </p:nvSpPr>
        <p:spPr bwMode="auto">
          <a:xfrm>
            <a:off x="1676400" y="4953000"/>
            <a:ext cx="1219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12003" name="Text Box 3"/>
          <p:cNvSpPr txBox="1">
            <a:spLocks noChangeArrowheads="1"/>
          </p:cNvSpPr>
          <p:nvPr/>
        </p:nvSpPr>
        <p:spPr bwMode="auto">
          <a:xfrm>
            <a:off x="2476500" y="5943600"/>
            <a:ext cx="10541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Value=2</a:t>
            </a:r>
          </a:p>
        </p:txBody>
      </p:sp>
      <p:sp>
        <p:nvSpPr>
          <p:cNvPr id="512004" name="Text Box 4"/>
          <p:cNvSpPr txBox="1">
            <a:spLocks noChangeArrowheads="1"/>
          </p:cNvSpPr>
          <p:nvPr/>
        </p:nvSpPr>
        <p:spPr bwMode="auto">
          <a:xfrm>
            <a:off x="2476500" y="5943600"/>
            <a:ext cx="10541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Value=1</a:t>
            </a:r>
          </a:p>
        </p:txBody>
      </p:sp>
      <p:sp>
        <p:nvSpPr>
          <p:cNvPr id="512005" name="Text Box 5"/>
          <p:cNvSpPr txBox="1">
            <a:spLocks noChangeArrowheads="1"/>
          </p:cNvSpPr>
          <p:nvPr/>
        </p:nvSpPr>
        <p:spPr bwMode="auto">
          <a:xfrm>
            <a:off x="2476500" y="5943600"/>
            <a:ext cx="10541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Value=0</a:t>
            </a:r>
          </a:p>
        </p:txBody>
      </p:sp>
      <p:pic>
        <p:nvPicPr>
          <p:cNvPr id="512006" name="Picture 6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Semaphores Like Integers Except</a:t>
            </a:r>
          </a:p>
        </p:txBody>
      </p:sp>
      <p:sp>
        <p:nvSpPr>
          <p:cNvPr id="512008" name="Rectangle 8"/>
          <p:cNvSpPr>
            <a:spLocks noGrp="1" noChangeArrowheads="1"/>
          </p:cNvSpPr>
          <p:nvPr>
            <p:ph idx="1"/>
          </p:nvPr>
        </p:nvSpPr>
        <p:spPr>
          <a:xfrm>
            <a:off x="63500" y="774700"/>
            <a:ext cx="8763000" cy="44831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Semaphores are like integers, except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No negative values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Only operations allowed are P and V – can’t read or write value, except to set it initially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Operations must be atomic</a:t>
            </a:r>
          </a:p>
          <a:p>
            <a:pPr lvl="2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Two P’s together can’t decrement value below zero</a:t>
            </a:r>
          </a:p>
          <a:p>
            <a:pPr lvl="2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Similarly, thread going to sleep in P won’t miss wakeup from V – even if they both happen at same time</a:t>
            </a:r>
          </a:p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Semaphore from railway analogy</a:t>
            </a:r>
          </a:p>
          <a:p>
            <a:pPr lvl="1"/>
            <a:r>
              <a:rPr lang="en-US" altLang="ko-KR">
                <a:latin typeface="Helvetica" charset="0"/>
                <a:ea typeface="Gulim" charset="0"/>
                <a:cs typeface="Gulim" charset="0"/>
              </a:rPr>
              <a:t>Here is a semaphore initialized to 2 for resource control:</a:t>
            </a:r>
          </a:p>
          <a:p>
            <a:endParaRPr lang="ko-KR" altLang="en-US">
              <a:latin typeface="Helvetica" charset="0"/>
              <a:ea typeface="Gulim" charset="0"/>
              <a:cs typeface="Gulim" charset="0"/>
            </a:endParaRPr>
          </a:p>
        </p:txBody>
      </p:sp>
      <p:pic>
        <p:nvPicPr>
          <p:cNvPr id="512009" name="Picture 9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010" name="Picture 10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990600" y="4800600"/>
            <a:ext cx="7391400" cy="1447800"/>
            <a:chOff x="624" y="3024"/>
            <a:chExt cx="4656" cy="912"/>
          </a:xfrm>
        </p:grpSpPr>
        <p:sp>
          <p:nvSpPr>
            <p:cNvPr id="15381" name="Line 12"/>
            <p:cNvSpPr>
              <a:spLocks noChangeShapeType="1"/>
            </p:cNvSpPr>
            <p:nvPr/>
          </p:nvSpPr>
          <p:spPr bwMode="auto">
            <a:xfrm>
              <a:off x="624" y="3648"/>
              <a:ext cx="13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382" name="Line 13"/>
            <p:cNvSpPr>
              <a:spLocks noChangeShapeType="1"/>
            </p:cNvSpPr>
            <p:nvPr/>
          </p:nvSpPr>
          <p:spPr bwMode="auto">
            <a:xfrm>
              <a:off x="2496" y="3408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383" name="Line 14"/>
            <p:cNvSpPr>
              <a:spLocks noChangeShapeType="1"/>
            </p:cNvSpPr>
            <p:nvPr/>
          </p:nvSpPr>
          <p:spPr bwMode="auto">
            <a:xfrm>
              <a:off x="2496" y="3936"/>
              <a:ext cx="1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384" name="Freeform 15"/>
            <p:cNvSpPr>
              <a:spLocks/>
            </p:cNvSpPr>
            <p:nvPr/>
          </p:nvSpPr>
          <p:spPr bwMode="auto">
            <a:xfrm>
              <a:off x="2016" y="3408"/>
              <a:ext cx="480" cy="240"/>
            </a:xfrm>
            <a:custGeom>
              <a:avLst/>
              <a:gdLst>
                <a:gd name="T0" fmla="*/ 0 w 480"/>
                <a:gd name="T1" fmla="*/ 18 h 272"/>
                <a:gd name="T2" fmla="*/ 144 w 480"/>
                <a:gd name="T3" fmla="*/ 18 h 272"/>
                <a:gd name="T4" fmla="*/ 336 w 480"/>
                <a:gd name="T5" fmla="*/ 4 h 272"/>
                <a:gd name="T6" fmla="*/ 480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385" name="Freeform 16"/>
            <p:cNvSpPr>
              <a:spLocks/>
            </p:cNvSpPr>
            <p:nvPr/>
          </p:nvSpPr>
          <p:spPr bwMode="auto">
            <a:xfrm flipV="1">
              <a:off x="2016" y="3648"/>
              <a:ext cx="528" cy="288"/>
            </a:xfrm>
            <a:custGeom>
              <a:avLst/>
              <a:gdLst>
                <a:gd name="T0" fmla="*/ 0 w 480"/>
                <a:gd name="T1" fmla="*/ 799 h 272"/>
                <a:gd name="T2" fmla="*/ 1064 w 480"/>
                <a:gd name="T3" fmla="*/ 799 h 272"/>
                <a:gd name="T4" fmla="*/ 2492 w 480"/>
                <a:gd name="T5" fmla="*/ 159 h 272"/>
                <a:gd name="T6" fmla="*/ 3555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386" name="Freeform 17"/>
            <p:cNvSpPr>
              <a:spLocks/>
            </p:cNvSpPr>
            <p:nvPr/>
          </p:nvSpPr>
          <p:spPr bwMode="auto">
            <a:xfrm flipH="1">
              <a:off x="3888" y="3408"/>
              <a:ext cx="480" cy="240"/>
            </a:xfrm>
            <a:custGeom>
              <a:avLst/>
              <a:gdLst>
                <a:gd name="T0" fmla="*/ 0 w 480"/>
                <a:gd name="T1" fmla="*/ 18 h 272"/>
                <a:gd name="T2" fmla="*/ 144 w 480"/>
                <a:gd name="T3" fmla="*/ 18 h 272"/>
                <a:gd name="T4" fmla="*/ 336 w 480"/>
                <a:gd name="T5" fmla="*/ 4 h 272"/>
                <a:gd name="T6" fmla="*/ 480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387" name="Freeform 18"/>
            <p:cNvSpPr>
              <a:spLocks/>
            </p:cNvSpPr>
            <p:nvPr/>
          </p:nvSpPr>
          <p:spPr bwMode="auto">
            <a:xfrm flipH="1" flipV="1">
              <a:off x="3888" y="3648"/>
              <a:ext cx="528" cy="288"/>
            </a:xfrm>
            <a:custGeom>
              <a:avLst/>
              <a:gdLst>
                <a:gd name="T0" fmla="*/ 0 w 480"/>
                <a:gd name="T1" fmla="*/ 799 h 272"/>
                <a:gd name="T2" fmla="*/ 1064 w 480"/>
                <a:gd name="T3" fmla="*/ 799 h 272"/>
                <a:gd name="T4" fmla="*/ 2492 w 480"/>
                <a:gd name="T5" fmla="*/ 159 h 272"/>
                <a:gd name="T6" fmla="*/ 3555 w 480"/>
                <a:gd name="T7" fmla="*/ 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272"/>
                <a:gd name="T14" fmla="*/ 480 w 480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272">
                  <a:moveTo>
                    <a:pt x="0" y="240"/>
                  </a:moveTo>
                  <a:cubicBezTo>
                    <a:pt x="44" y="256"/>
                    <a:pt x="88" y="272"/>
                    <a:pt x="144" y="240"/>
                  </a:cubicBezTo>
                  <a:cubicBezTo>
                    <a:pt x="200" y="208"/>
                    <a:pt x="280" y="88"/>
                    <a:pt x="336" y="48"/>
                  </a:cubicBezTo>
                  <a:cubicBezTo>
                    <a:pt x="392" y="8"/>
                    <a:pt x="436" y="4"/>
                    <a:pt x="480" y="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5388" name="Line 19"/>
            <p:cNvSpPr>
              <a:spLocks noChangeShapeType="1"/>
            </p:cNvSpPr>
            <p:nvPr/>
          </p:nvSpPr>
          <p:spPr bwMode="auto">
            <a:xfrm>
              <a:off x="4368" y="3648"/>
              <a:ext cx="91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15389" name="Picture 20" descr="MCj03641660000[1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3024"/>
              <a:ext cx="298" cy="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2021" name="Rectangle 21"/>
          <p:cNvSpPr>
            <a:spLocks noChangeArrowheads="1"/>
          </p:cNvSpPr>
          <p:nvPr/>
        </p:nvSpPr>
        <p:spPr bwMode="auto">
          <a:xfrm>
            <a:off x="4191000" y="4572000"/>
            <a:ext cx="12192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pic>
        <p:nvPicPr>
          <p:cNvPr id="512022" name="Picture 22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23" name="Text Box 23"/>
          <p:cNvSpPr txBox="1">
            <a:spLocks noChangeArrowheads="1"/>
          </p:cNvSpPr>
          <p:nvPr/>
        </p:nvSpPr>
        <p:spPr bwMode="auto">
          <a:xfrm>
            <a:off x="2476500" y="5943600"/>
            <a:ext cx="10541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Value=1</a:t>
            </a:r>
          </a:p>
        </p:txBody>
      </p:sp>
      <p:sp>
        <p:nvSpPr>
          <p:cNvPr id="512024" name="Rectangle 24"/>
          <p:cNvSpPr>
            <a:spLocks noChangeArrowheads="1"/>
          </p:cNvSpPr>
          <p:nvPr/>
        </p:nvSpPr>
        <p:spPr bwMode="auto">
          <a:xfrm>
            <a:off x="1981200" y="4800600"/>
            <a:ext cx="990600" cy="914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pic>
        <p:nvPicPr>
          <p:cNvPr id="512025" name="Picture 25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26" name="Text Box 26"/>
          <p:cNvSpPr txBox="1">
            <a:spLocks noChangeArrowheads="1"/>
          </p:cNvSpPr>
          <p:nvPr/>
        </p:nvSpPr>
        <p:spPr bwMode="auto">
          <a:xfrm>
            <a:off x="2476500" y="5943600"/>
            <a:ext cx="10541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Value=0</a:t>
            </a:r>
          </a:p>
        </p:txBody>
      </p:sp>
      <p:pic>
        <p:nvPicPr>
          <p:cNvPr id="512027" name="Picture 27" descr="MCj030735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10200"/>
            <a:ext cx="9906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9" name="Rectangle 28"/>
          <p:cNvSpPr>
            <a:spLocks noChangeArrowheads="1"/>
          </p:cNvSpPr>
          <p:nvPr/>
        </p:nvSpPr>
        <p:spPr bwMode="auto">
          <a:xfrm>
            <a:off x="0" y="5257800"/>
            <a:ext cx="9906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512030" name="Text Box 30"/>
          <p:cNvSpPr txBox="1">
            <a:spLocks noChangeArrowheads="1"/>
          </p:cNvSpPr>
          <p:nvPr/>
        </p:nvSpPr>
        <p:spPr bwMode="auto">
          <a:xfrm>
            <a:off x="2476500" y="5943600"/>
            <a:ext cx="10541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r>
              <a:rPr lang="en-US"/>
              <a:t>Value=2</a:t>
            </a:r>
          </a:p>
        </p:txBody>
      </p:sp>
    </p:spTree>
    <p:extLst>
      <p:ext uri="{BB962C8B-B14F-4D97-AF65-F5344CB8AC3E}">
        <p14:creationId xmlns:p14="http://schemas.microsoft.com/office/powerpoint/2010/main" val="9194547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989 -0.03422 C 0.1394 -0.02983 0.21909 -0.0252 0.26406 -0.03422 C 0.30902 -0.04324 0.29461 -0.07978 0.32985 -0.0888 C 0.36492 -0.09782 0.41996 -0.09343 0.47499 -0.0888 " pathEditMode="fixed" ptsTypes="aaaA">
                                      <p:cBhvr>
                                        <p:cTn id="40" dur="500" fill="hold"/>
                                        <p:tgtEl>
                                          <p:spTgt spid="5120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99 -0.03076 C 0.13749 -0.0296 0.20398 -0.02822 0.24894 -0.02706 C 0.29391 -0.0259 0.31769 -0.03377 0.34078 -0.02336 C 0.36387 -0.01295 0.36353 0.02544 0.38731 0.03492 C 0.4111 0.0444 0.44721 0.03885 0.48333 0.0333 " pathEditMode="fixed" ptsTypes="aaaaA">
                                      <p:cBhvr>
                                        <p:cTn id="46" dur="500" fill="hold"/>
                                        <p:tgtEl>
                                          <p:spTgt spid="5120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21 -0.03515 C 0.06321 -0.03515 0.13994 -0.03423 0.21667 -0.03329 " pathEditMode="fixed" rAng="0" ptsTypes="aA">
                                      <p:cBhvr>
                                        <p:cTn id="52" dur="1000" fill="hold"/>
                                        <p:tgtEl>
                                          <p:spTgt spid="5120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75 -0.08881 C 0.54583 -0.0932 0.61666 -0.09737 0.65451 -0.09066 C 0.69236 -0.08395 0.68455 -0.05736 0.70243 -0.0488 C 0.72031 -0.04024 0.71267 -0.04047 0.76232 -0.03955 C 0.81198 -0.03862 0.95104 -0.04256 1.00069 -0.04325 " pathEditMode="fixed" rAng="0" ptsTypes="aaaaa">
                                      <p:cBhvr>
                                        <p:cTn id="56" dur="500" fill="hold"/>
                                        <p:tgtEl>
                                          <p:spTgt spid="5120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85" y="208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7 -0.0333 C 0.23803 -0.02844 0.25938 -0.02336 0.27969 -0.0333 C 0.30001 -0.04324 0.30521 -0.08349 0.33855 -0.09343 C 0.37188 -0.10337 0.4257 -0.09852 0.47969 -0.09343 " pathEditMode="fixed" rAng="0" ptsTypes="aaaA">
                                      <p:cBhvr>
                                        <p:cTn id="63" dur="500" fill="hold"/>
                                        <p:tgtEl>
                                          <p:spTgt spid="512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0" presetClass="path" presetSubtype="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21 -0.03515 C 0.06321 -0.03515 0.13994 -0.03423 0.21667 -0.03329 " pathEditMode="fixed" rAng="0" ptsTypes="aA">
                                      <p:cBhvr>
                                        <p:cTn id="73" dur="500" fill="hold"/>
                                        <p:tgtEl>
                                          <p:spTgt spid="5120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02" grpId="0" animBg="1"/>
      <p:bldP spid="512003" grpId="0" animBg="1"/>
      <p:bldP spid="512004" grpId="0" animBg="1"/>
      <p:bldP spid="512005" grpId="0" animBg="1"/>
      <p:bldP spid="512008" grpId="0" build="p" bldLvl="2"/>
      <p:bldP spid="512021" grpId="0" animBg="1"/>
      <p:bldP spid="512023" grpId="0" animBg="1"/>
      <p:bldP spid="512024" grpId="0" animBg="1"/>
      <p:bldP spid="512026" grpId="0" animBg="1"/>
      <p:bldP spid="51203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semaphores</a:t>
            </a:r>
            <a:r>
              <a:rPr kumimoji="1" lang="zh-CN" altLang="en-US" dirty="0"/>
              <a:t> </a:t>
            </a:r>
            <a:r>
              <a:rPr kumimoji="1" lang="en-US" altLang="zh-CN" dirty="0"/>
              <a:t>(1)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717589"/>
            <a:ext cx="79248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Mutual Exclusion (initial value = 1)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Also called “Binary Semaphore”.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Can be used for mutual exclusion: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semaphore.P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// Critical section goes here</a:t>
            </a:r>
            <a:br>
              <a:rPr lang="en-US" altLang="ko-KR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semaphore.V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();</a:t>
            </a:r>
          </a:p>
          <a:p>
            <a:pPr lvl="2">
              <a:lnSpc>
                <a:spcPct val="80000"/>
              </a:lnSpc>
              <a:buFontTx/>
              <a:buNone/>
            </a:pPr>
            <a:endParaRPr lang="en-US" altLang="ko-KR" dirty="0">
              <a:latin typeface="Courier New" charset="0"/>
              <a:ea typeface="Gulim" charset="0"/>
              <a:cs typeface="Gulim" charset="0"/>
            </a:endParaRPr>
          </a:p>
          <a:p>
            <a:pPr marL="400050" indent="-342900">
              <a:lnSpc>
                <a:spcPct val="80000"/>
              </a:lnSpc>
            </a:pPr>
            <a:r>
              <a:rPr lang="en-US" altLang="zh-CN" dirty="0">
                <a:latin typeface="Helvetica" charset="0"/>
                <a:ea typeface="Gulim" charset="0"/>
              </a:rPr>
              <a:t>Difference</a:t>
            </a:r>
            <a:r>
              <a:rPr lang="zh-CN" altLang="en-US" dirty="0">
                <a:latin typeface="Helvetica" charset="0"/>
                <a:ea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</a:rPr>
              <a:t>from</a:t>
            </a:r>
            <a:r>
              <a:rPr lang="zh-CN" altLang="en-US" dirty="0">
                <a:latin typeface="Helvetica" charset="0"/>
                <a:ea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</a:rPr>
              <a:t>a</a:t>
            </a:r>
            <a:r>
              <a:rPr lang="zh-CN" altLang="en-US" dirty="0">
                <a:latin typeface="Helvetica" charset="0"/>
                <a:ea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</a:rPr>
              <a:t>lock?</a:t>
            </a:r>
            <a:endParaRPr lang="en-US" altLang="ko-KR" dirty="0">
              <a:latin typeface="Helvetica" charset="0"/>
              <a:ea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28933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Use of Semaphores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(2)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4618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534400" cy="53340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Scheduling Constraints (initial value = 0)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Allow thread 1 to wait for a signal from thread 2, i.e., thread 2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0"/>
                <a:cs typeface="Gulim" charset="0"/>
              </a:rPr>
              <a:t>schedules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thread 1 when a given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0"/>
                <a:cs typeface="Gulim" charset="0"/>
              </a:rPr>
              <a:t>constrained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is satisfied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Example: suppose you had to implement </a:t>
            </a:r>
            <a:r>
              <a:rPr lang="en-US" altLang="ko-KR" dirty="0" err="1">
                <a:latin typeface="Helvetica" charset="0"/>
                <a:ea typeface="Gulim" charset="0"/>
                <a:cs typeface="Gulim" charset="0"/>
              </a:rPr>
              <a:t>ThreadJoin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which must wait for thread 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to terminate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		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Initial value of semaphore = 0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ThreadJoin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 {</a:t>
            </a:r>
            <a:br>
              <a:rPr lang="en-US" altLang="ko-KR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   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semaphore.P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}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ThreadFinish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 {</a:t>
            </a:r>
            <a:br>
              <a:rPr lang="en-US" altLang="ko-KR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   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semaphore.V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	}</a:t>
            </a:r>
          </a:p>
        </p:txBody>
      </p:sp>
      <p:sp>
        <p:nvSpPr>
          <p:cNvPr id="2" name="Curved Right Arrow 1"/>
          <p:cNvSpPr>
            <a:spLocks noChangeArrowheads="1"/>
          </p:cNvSpPr>
          <p:nvPr/>
        </p:nvSpPr>
        <p:spPr bwMode="auto">
          <a:xfrm flipH="1" flipV="1">
            <a:off x="5257800" y="3810000"/>
            <a:ext cx="533400" cy="990600"/>
          </a:xfrm>
          <a:prstGeom prst="curvedRightArrow">
            <a:avLst>
              <a:gd name="adj1" fmla="val 24994"/>
              <a:gd name="adj2" fmla="val 49997"/>
              <a:gd name="adj3" fmla="val 25000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9742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7" grpId="0" build="p"/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763000" cy="533400"/>
          </a:xfrm>
        </p:spPr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Producer-consumer with a bounded buffer</a:t>
            </a:r>
          </a:p>
        </p:txBody>
      </p:sp>
      <p:sp>
        <p:nvSpPr>
          <p:cNvPr id="462851" name="Rectangle 3"/>
          <p:cNvSpPr>
            <a:spLocks noGrp="1" noChangeArrowheads="1"/>
          </p:cNvSpPr>
          <p:nvPr>
            <p:ph idx="1"/>
          </p:nvPr>
        </p:nvSpPr>
        <p:spPr>
          <a:xfrm>
            <a:off x="38101" y="1219200"/>
            <a:ext cx="8763000" cy="487680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Problem Definition</a:t>
            </a:r>
          </a:p>
          <a:p>
            <a:pPr lvl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Producer puts things into a shared buffer</a:t>
            </a:r>
          </a:p>
          <a:p>
            <a:pPr lvl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Consumer takes them out</a:t>
            </a:r>
          </a:p>
          <a:p>
            <a:pPr lvl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Need synchronization to coordinate producer/consumer</a:t>
            </a:r>
          </a:p>
          <a:p>
            <a:pPr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Don’t want producer and consumer to have to work in lockstep, so put a fixed-size buffer between them</a:t>
            </a:r>
          </a:p>
          <a:p>
            <a:pPr lvl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Need to synchronize access to this buffer</a:t>
            </a:r>
          </a:p>
          <a:p>
            <a:pPr lvl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Producer needs to wait if buffer is full</a:t>
            </a:r>
          </a:p>
          <a:p>
            <a:pPr lvl="1"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Consumer needs to wait if buffer is empty</a:t>
            </a:r>
          </a:p>
          <a:p>
            <a:pPr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ea typeface="굴림" panose="020B0600000101010101" pitchFamily="34" charset="-127"/>
              </a:rPr>
              <a:t>Example 1: GCC compiler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 err="1">
                <a:latin typeface="Consolas" charset="0"/>
                <a:ea typeface="Consolas" charset="0"/>
                <a:cs typeface="Consolas" charset="0"/>
              </a:rPr>
              <a:t>cpp</a:t>
            </a:r>
            <a:r>
              <a:rPr lang="en-US" altLang="ko-KR" dirty="0">
                <a:latin typeface="Consolas" charset="0"/>
                <a:ea typeface="Consolas" charset="0"/>
                <a:cs typeface="Consolas" charset="0"/>
              </a:rPr>
              <a:t> | cc1 | cc2 | as | </a:t>
            </a:r>
            <a:r>
              <a:rPr lang="en-US" altLang="ko-KR" dirty="0" err="1">
                <a:latin typeface="Consolas" charset="0"/>
                <a:ea typeface="Consolas" charset="0"/>
                <a:cs typeface="Consolas" charset="0"/>
              </a:rPr>
              <a:t>ld</a:t>
            </a:r>
            <a:endParaRPr lang="en-US" altLang="ko-KR" dirty="0">
              <a:latin typeface="Consolas" charset="0"/>
              <a:ea typeface="Consolas" charset="0"/>
              <a:cs typeface="Consolas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ea typeface="굴림" panose="020B0600000101010101" pitchFamily="34" charset="-127"/>
              </a:rPr>
              <a:t>Example 2: Coke machine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ea typeface="굴림" panose="020B0600000101010101" pitchFamily="34" charset="-127"/>
              </a:rPr>
              <a:t>Producer can put limited number of Cokes in machine</a:t>
            </a:r>
          </a:p>
          <a:p>
            <a:pPr lvl="1">
              <a:lnSpc>
                <a:spcPct val="80000"/>
              </a:lnSpc>
              <a:spcBef>
                <a:spcPct val="20000"/>
              </a:spcBef>
            </a:pPr>
            <a:r>
              <a:rPr lang="en-US" altLang="ko-KR" dirty="0">
                <a:ea typeface="굴림" panose="020B0600000101010101" pitchFamily="34" charset="-127"/>
              </a:rPr>
              <a:t>Consumer can’t take Cokes out if machine is empty</a:t>
            </a:r>
          </a:p>
          <a:p>
            <a:pPr lvl="1">
              <a:spcBef>
                <a:spcPct val="20000"/>
              </a:spcBef>
            </a:pPr>
            <a:endParaRPr lang="ko-KR" altLang="en-US" dirty="0">
              <a:latin typeface="Helvetica" charset="0"/>
              <a:ea typeface="Gulim" charset="0"/>
              <a:cs typeface="Gulim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352800" y="762000"/>
            <a:ext cx="4724400" cy="838200"/>
            <a:chOff x="1392" y="624"/>
            <a:chExt cx="2976" cy="528"/>
          </a:xfrm>
        </p:grpSpPr>
        <p:sp>
          <p:nvSpPr>
            <p:cNvPr id="17414" name="Rectangle 4"/>
            <p:cNvSpPr>
              <a:spLocks noChangeArrowheads="1"/>
            </p:cNvSpPr>
            <p:nvPr/>
          </p:nvSpPr>
          <p:spPr bwMode="auto">
            <a:xfrm>
              <a:off x="1392" y="624"/>
              <a:ext cx="864" cy="528"/>
            </a:xfrm>
            <a:prstGeom prst="rect">
              <a:avLst/>
            </a:prstGeom>
            <a:solidFill>
              <a:srgbClr val="FF66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Producer</a:t>
              </a:r>
            </a:p>
          </p:txBody>
        </p:sp>
        <p:sp>
          <p:nvSpPr>
            <p:cNvPr id="17415" name="Rectangle 5"/>
            <p:cNvSpPr>
              <a:spLocks noChangeArrowheads="1"/>
            </p:cNvSpPr>
            <p:nvPr/>
          </p:nvSpPr>
          <p:spPr bwMode="auto">
            <a:xfrm>
              <a:off x="3504" y="624"/>
              <a:ext cx="864" cy="528"/>
            </a:xfrm>
            <a:prstGeom prst="rect">
              <a:avLst/>
            </a:prstGeom>
            <a:solidFill>
              <a:srgbClr val="FF66CC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Consumer</a:t>
              </a:r>
            </a:p>
          </p:txBody>
        </p:sp>
        <p:sp>
          <p:nvSpPr>
            <p:cNvPr id="17416" name="Rectangle 7"/>
            <p:cNvSpPr>
              <a:spLocks noChangeArrowheads="1"/>
            </p:cNvSpPr>
            <p:nvPr/>
          </p:nvSpPr>
          <p:spPr bwMode="auto">
            <a:xfrm>
              <a:off x="2592" y="720"/>
              <a:ext cx="576" cy="336"/>
            </a:xfrm>
            <a:prstGeom prst="rect">
              <a:avLst/>
            </a:prstGeom>
            <a:solidFill>
              <a:schemeClr val="accent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r>
                <a:rPr lang="en-US"/>
                <a:t>Buffer</a:t>
              </a:r>
            </a:p>
          </p:txBody>
        </p:sp>
        <p:sp>
          <p:nvSpPr>
            <p:cNvPr id="17417" name="Line 8"/>
            <p:cNvSpPr>
              <a:spLocks noChangeShapeType="1"/>
            </p:cNvSpPr>
            <p:nvPr/>
          </p:nvSpPr>
          <p:spPr bwMode="auto">
            <a:xfrm>
              <a:off x="2256" y="888"/>
              <a:ext cx="33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7418" name="Line 9"/>
            <p:cNvSpPr>
              <a:spLocks noChangeShapeType="1"/>
            </p:cNvSpPr>
            <p:nvPr/>
          </p:nvSpPr>
          <p:spPr bwMode="auto">
            <a:xfrm>
              <a:off x="3168" y="888"/>
              <a:ext cx="33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</p:grpSp>
      <p:pic>
        <p:nvPicPr>
          <p:cNvPr id="46285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629025"/>
            <a:ext cx="1409700" cy="147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908213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2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2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2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2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2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2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62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62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2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2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62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62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2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2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62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62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62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62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628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628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62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1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763000" cy="533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Correctness constraints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103188" y="990600"/>
            <a:ext cx="8915400" cy="28956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Correctness Constraints: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Consumer must wait for producer to fill slots, if empty (scheduling constraint)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Producer must wait for consumer to make room in buffer, if all full (scheduling constraint)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Only one thread can manipulate buffer queue at a time (mutual exclusion)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--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necessary?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100000"/>
              </a:lnSpc>
              <a:buFontTx/>
              <a:buNone/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General rule of thumb: </a:t>
            </a:r>
            <a:br>
              <a:rPr lang="en-US" altLang="ko-KR" dirty="0">
                <a:latin typeface="Helvetica" charset="0"/>
                <a:ea typeface="Gulim" charset="0"/>
                <a:cs typeface="Gulim" charset="0"/>
              </a:rPr>
            </a:b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Use a separate semaphore for each constraint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Semaphore 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fullSlots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; // consumer’s constraint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Semaphore 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emptySlots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;// producer’s constraint</a:t>
            </a:r>
          </a:p>
          <a:p>
            <a:pPr lvl="1">
              <a:lnSpc>
                <a:spcPct val="80000"/>
              </a:lnSpc>
            </a:pP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Semaphore </a:t>
            </a:r>
            <a:r>
              <a:rPr lang="en-US" altLang="ko-KR" dirty="0" err="1">
                <a:latin typeface="Courier New" charset="0"/>
                <a:ea typeface="Gulim" charset="0"/>
                <a:cs typeface="Gulim" charset="0"/>
              </a:rPr>
              <a:t>mutex</a:t>
            </a:r>
            <a:r>
              <a:rPr lang="en-US" altLang="ko-KR" dirty="0">
                <a:latin typeface="Courier New" charset="0"/>
                <a:ea typeface="Gulim" charset="0"/>
                <a:cs typeface="Gulim" charset="0"/>
              </a:rPr>
              <a:t>;       // mutual exclusion</a:t>
            </a:r>
          </a:p>
        </p:txBody>
      </p:sp>
    </p:spTree>
    <p:extLst>
      <p:ext uri="{BB962C8B-B14F-4D97-AF65-F5344CB8AC3E}">
        <p14:creationId xmlns:p14="http://schemas.microsoft.com/office/powerpoint/2010/main" val="3581773584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Full Solution to Bounded Buffer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65100" y="738188"/>
            <a:ext cx="8915400" cy="6119812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  Semaphore fullSlots = 0; 	// Initially, no coke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Semaphore emptySlots = bufSize;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		// Initially, num empty slots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Semaphore mutex = 1;	// No one using machine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Producer(item) {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emptySlots.P();	// Wait until space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mutex.P();	// Wait until machine free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Enqueue(item);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mutex.V();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fullSlots.V();	// Tell consumers there is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		// more coke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}</a:t>
            </a:r>
          </a:p>
          <a:p>
            <a:pPr>
              <a:lnSpc>
                <a:spcPct val="80000"/>
              </a:lnSpc>
              <a:buFontTx/>
              <a:buNone/>
              <a:tabLst>
                <a:tab pos="801688" algn="l"/>
                <a:tab pos="1139825" algn="l"/>
                <a:tab pos="1541463" algn="l"/>
                <a:tab pos="4284663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Consumer() {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fullSlots.P();	// Check if there’s a coke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mutex.P();	// Wait until machine free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item = Dequeue();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mutex.V();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emptySlots.V();	// tell producer need more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return item;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}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endParaRPr lang="en-US" altLang="ko-KR" sz="2000">
              <a:latin typeface="Courier New" charset="0"/>
              <a:ea typeface="Gulim" charset="0"/>
              <a:cs typeface="Gulim" charset="0"/>
            </a:endParaRPr>
          </a:p>
        </p:txBody>
      </p:sp>
      <p:sp>
        <p:nvSpPr>
          <p:cNvPr id="2" name="Curved Right Arrow 1"/>
          <p:cNvSpPr>
            <a:spLocks noChangeArrowheads="1"/>
          </p:cNvSpPr>
          <p:nvPr/>
        </p:nvSpPr>
        <p:spPr bwMode="auto">
          <a:xfrm flipH="1">
            <a:off x="3276600" y="3657600"/>
            <a:ext cx="381000" cy="11430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  <p:sp>
        <p:nvSpPr>
          <p:cNvPr id="5" name="Curved Right Arrow 4"/>
          <p:cNvSpPr>
            <a:spLocks noChangeArrowheads="1"/>
          </p:cNvSpPr>
          <p:nvPr/>
        </p:nvSpPr>
        <p:spPr bwMode="auto">
          <a:xfrm flipV="1">
            <a:off x="228600" y="2514600"/>
            <a:ext cx="723900" cy="3251200"/>
          </a:xfrm>
          <a:prstGeom prst="curvedRightArrow">
            <a:avLst>
              <a:gd name="adj1" fmla="val 25014"/>
              <a:gd name="adj2" fmla="val 50006"/>
              <a:gd name="adj3" fmla="val 25000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0128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  <p:bldP spid="2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Discussion about Solution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4267200" cy="5257800"/>
          </a:xfrm>
        </p:spPr>
        <p:txBody>
          <a:bodyPr anchor="ctr" anchorCtr="0">
            <a:normAutofit/>
          </a:bodyPr>
          <a:lstStyle/>
          <a:p>
            <a:r>
              <a:rPr lang="en-US" altLang="ko-KR" dirty="0">
                <a:latin typeface="Calibri" panose="020F0502020204030204" pitchFamily="34" charset="0"/>
                <a:ea typeface="Gulim" charset="0"/>
                <a:cs typeface="Calibri" panose="020F0502020204030204" pitchFamily="34" charset="0"/>
              </a:rPr>
              <a:t>Is order of P’s important?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Gulim" charset="0"/>
                <a:cs typeface="Calibri" panose="020F0502020204030204" pitchFamily="34" charset="0"/>
              </a:rPr>
              <a:t>Yes!  Can cause deadlock</a:t>
            </a:r>
          </a:p>
          <a:p>
            <a:endParaRPr lang="en-US" altLang="ko-KR" dirty="0">
              <a:latin typeface="Calibri" panose="020F0502020204030204" pitchFamily="34" charset="0"/>
              <a:ea typeface="Gulim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Gulim" charset="0"/>
                <a:cs typeface="Calibri" panose="020F0502020204030204" pitchFamily="34" charset="0"/>
              </a:rPr>
              <a:t>Is order of V’s important?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Gulim" charset="0"/>
                <a:cs typeface="Calibri" panose="020F0502020204030204" pitchFamily="34" charset="0"/>
              </a:rPr>
              <a:t>No, except that it might affect scheduling efficiency</a:t>
            </a:r>
          </a:p>
          <a:p>
            <a:endParaRPr lang="en-US" altLang="ko-KR" dirty="0">
              <a:latin typeface="Calibri" panose="020F0502020204030204" pitchFamily="34" charset="0"/>
              <a:ea typeface="Gulim" charset="0"/>
              <a:cs typeface="Calibri" panose="020F0502020204030204" pitchFamily="34" charset="0"/>
            </a:endParaRPr>
          </a:p>
          <a:p>
            <a:r>
              <a:rPr lang="en-US" altLang="ko-KR" dirty="0">
                <a:latin typeface="Calibri" panose="020F0502020204030204" pitchFamily="34" charset="0"/>
                <a:ea typeface="Gulim" charset="0"/>
                <a:cs typeface="Calibri" panose="020F0502020204030204" pitchFamily="34" charset="0"/>
              </a:rPr>
              <a:t>What if we have 2 producers or 2 consumers?</a:t>
            </a:r>
          </a:p>
          <a:p>
            <a:pPr lvl="1"/>
            <a:r>
              <a:rPr lang="en-US" altLang="ko-KR" dirty="0">
                <a:latin typeface="Calibri" panose="020F0502020204030204" pitchFamily="34" charset="0"/>
                <a:ea typeface="Gulim" charset="0"/>
                <a:cs typeface="Calibri" panose="020F0502020204030204" pitchFamily="34" charset="0"/>
              </a:rPr>
              <a:t>Do we need to change anything?</a:t>
            </a:r>
          </a:p>
          <a:p>
            <a:pPr lvl="1"/>
            <a:endParaRPr lang="ko-KR" altLang="en-US" dirty="0">
              <a:latin typeface="Calibri" panose="020F0502020204030204" pitchFamily="34" charset="0"/>
              <a:ea typeface="Gulim" charset="0"/>
              <a:cs typeface="Calibri" panose="020F0502020204030204" pitchFamily="34" charset="0"/>
            </a:endParaRPr>
          </a:p>
        </p:txBody>
      </p:sp>
      <p:sp>
        <p:nvSpPr>
          <p:cNvPr id="21510" name="Rectangle 3"/>
          <p:cNvSpPr txBox="1">
            <a:spLocks noChangeArrowheads="1"/>
          </p:cNvSpPr>
          <p:nvPr/>
        </p:nvSpPr>
        <p:spPr bwMode="auto">
          <a:xfrm>
            <a:off x="5257800" y="762000"/>
            <a:ext cx="3886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1pPr>
            <a:lvl2pPr marL="742950" indent="-285750"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2pPr>
            <a:lvl3pPr marL="1143000" indent="-228600"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3pPr>
            <a:lvl4pPr marL="1600200" indent="-228600"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4pPr>
            <a:lvl5pPr marL="2057400" indent="-228600"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01688" algn="l"/>
                <a:tab pos="1139825" algn="l"/>
                <a:tab pos="1541463" algn="l"/>
                <a:tab pos="4284663" algn="l"/>
              </a:tabLst>
              <a:defRPr b="1">
                <a:solidFill>
                  <a:schemeClr val="tx1"/>
                </a:solidFill>
                <a:latin typeface="Comic Sans MS" charset="0"/>
                <a:ea typeface="MS PGothic" charset="0"/>
                <a:cs typeface="MS PGothic" charset="0"/>
              </a:defRPr>
            </a:lvl9pPr>
          </a:lstStyle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Producer(item) {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FF0000"/>
                </a:solidFill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FF0000"/>
                </a:solidFill>
                <a:latin typeface="Courier New" charset="0"/>
                <a:ea typeface="Gulim" charset="0"/>
                <a:cs typeface="Gulim" charset="0"/>
              </a:rPr>
              <a:t>mutex.P</a:t>
            </a:r>
            <a:r>
              <a:rPr lang="en-US" altLang="ko-KR" sz="2000" dirty="0">
                <a:solidFill>
                  <a:srgbClr val="FF0000"/>
                </a:solidFill>
                <a:latin typeface="Courier New" charset="0"/>
                <a:ea typeface="Gulim" charset="0"/>
                <a:cs typeface="Gulim" charset="0"/>
              </a:rPr>
              <a:t>(); 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FF0000"/>
                </a:solidFill>
                <a:latin typeface="Courier New" charset="0"/>
                <a:ea typeface="Gulim" charset="0"/>
                <a:cs typeface="Gulim" charset="0"/>
              </a:rPr>
              <a:t>emptySlots.P</a:t>
            </a:r>
            <a:r>
              <a:rPr lang="en-US" altLang="ko-KR" sz="2000" dirty="0">
                <a:solidFill>
                  <a:srgbClr val="FF0000"/>
                </a:solidFill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sz="2000" dirty="0">
                <a:solidFill>
                  <a:srgbClr val="FF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Enqueue(item);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mutex.V</a:t>
            </a: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fullSlots.V</a:t>
            </a: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();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 }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Consumer() {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fullSlots.P</a:t>
            </a: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mutex.P</a:t>
            </a: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();	item = Dequeue();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mutex.V</a:t>
            </a: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 err="1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emptySlots.V</a:t>
            </a: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();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	return item;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}</a:t>
            </a:r>
            <a:br>
              <a:rPr lang="en-US" altLang="ko-KR" sz="2000" dirty="0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</a:br>
            <a:endParaRPr lang="en-US" altLang="ko-KR" sz="2000" dirty="0">
              <a:solidFill>
                <a:srgbClr val="000000"/>
              </a:solidFill>
              <a:latin typeface="Courier New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314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5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5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5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5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5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Monitors and conditional variables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Higher level synchronization primitives</a:t>
            </a:r>
          </a:p>
        </p:txBody>
      </p:sp>
    </p:spTree>
    <p:extLst>
      <p:ext uri="{BB962C8B-B14F-4D97-AF65-F5344CB8AC3E}">
        <p14:creationId xmlns:p14="http://schemas.microsoft.com/office/powerpoint/2010/main" val="1127046081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533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Motivation for Monitors and Condition Variables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458200" cy="5029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Semaphores are a huge step up; just think of trying to do the bounded buffer with only loads and stores</a:t>
            </a:r>
          </a:p>
          <a:p>
            <a:pPr lvl="1">
              <a:lnSpc>
                <a:spcPct val="100000"/>
              </a:lnSpc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Problem is that semaphores are dual purpose:</a:t>
            </a: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They are used for both mutex and scheduling constraints</a:t>
            </a:r>
          </a:p>
          <a:p>
            <a:pPr lvl="1">
              <a:lnSpc>
                <a:spcPct val="100000"/>
              </a:lnSpc>
            </a:pP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You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hold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the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lock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(mutex)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even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if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you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block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on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scheduling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>
                <a:latin typeface="Helvetica" charset="0"/>
                <a:ea typeface="Gulim" charset="0"/>
                <a:cs typeface="Gulim" charset="0"/>
              </a:rPr>
              <a:t>constraints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100000"/>
              </a:lnSpc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Example: the fact that flipping of P’s in bounded buffer gives deadlock is not immediately obvious.  How do you prove correctness to someone?</a:t>
            </a:r>
          </a:p>
          <a:p>
            <a:pPr>
              <a:lnSpc>
                <a:spcPct val="100000"/>
              </a:lnSpc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8661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" y="228600"/>
            <a:ext cx="8382000" cy="5334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Motivation for Monitors and Condition Variables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458200" cy="4876800"/>
          </a:xfrm>
        </p:spPr>
        <p:txBody>
          <a:bodyPr/>
          <a:lstStyle/>
          <a:p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Cleaner idea: Use </a:t>
            </a:r>
            <a:r>
              <a:rPr lang="en-US" altLang="ko-KR" i="1" dirty="0">
                <a:latin typeface="Helvetica" charset="0"/>
                <a:ea typeface="Gulim" charset="0"/>
                <a:cs typeface="Gulim" charset="0"/>
              </a:rPr>
              <a:t>locks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for mutual exclusion and </a:t>
            </a:r>
            <a:r>
              <a:rPr lang="en-US" altLang="ko-KR" i="1" dirty="0">
                <a:latin typeface="Helvetica" charset="0"/>
                <a:ea typeface="Gulim" charset="0"/>
                <a:cs typeface="Gulim" charset="0"/>
              </a:rPr>
              <a:t>condition variables 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for scheduling constraints</a:t>
            </a:r>
          </a:p>
          <a:p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Monitor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: a lock and zero or more condition variables for managing concurrent access to shared data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Some languages like Java provide this natively</a:t>
            </a:r>
          </a:p>
          <a:p>
            <a:pPr lvl="1"/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Most others use actual locks and condition variables</a:t>
            </a:r>
          </a:p>
        </p:txBody>
      </p:sp>
    </p:spTree>
    <p:extLst>
      <p:ext uri="{BB962C8B-B14F-4D97-AF65-F5344CB8AC3E}">
        <p14:creationId xmlns:p14="http://schemas.microsoft.com/office/powerpoint/2010/main" val="336617429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Monitor with Condition Variables</a:t>
            </a:r>
          </a:p>
        </p:txBody>
      </p:sp>
      <p:sp>
        <p:nvSpPr>
          <p:cNvPr id="466948" name="Rectangle 4"/>
          <p:cNvSpPr>
            <a:spLocks noGrp="1" noChangeArrowheads="1"/>
          </p:cNvSpPr>
          <p:nvPr>
            <p:ph idx="1"/>
          </p:nvPr>
        </p:nvSpPr>
        <p:spPr>
          <a:xfrm>
            <a:off x="155575" y="3657600"/>
            <a:ext cx="8988425" cy="29718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Lock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: the lock provides mutual exclusion to shared data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Always acquire before accessing shared data structure</a:t>
            </a:r>
          </a:p>
          <a:p>
            <a:pPr lvl="1">
              <a:lnSpc>
                <a:spcPct val="7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Always release after finishing with shared data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Lock initially free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Condition Variable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: a queue of threads waiting for something </a:t>
            </a: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inside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 a critical section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Key idea: make it possible to go to sleep inside critical section by atomically releasing lock at time we go to sleep</a:t>
            </a:r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" t="4802" r="1059" b="4802"/>
          <a:stretch>
            <a:fillRect/>
          </a:stretch>
        </p:blipFill>
        <p:spPr bwMode="auto">
          <a:xfrm>
            <a:off x="1752600" y="914400"/>
            <a:ext cx="5562600" cy="2743200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6949" name="Oval 5"/>
          <p:cNvSpPr>
            <a:spLocks noChangeArrowheads="1"/>
          </p:cNvSpPr>
          <p:nvPr/>
        </p:nvSpPr>
        <p:spPr bwMode="auto">
          <a:xfrm>
            <a:off x="1447800" y="1447800"/>
            <a:ext cx="3429000" cy="6096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  <p:sp>
        <p:nvSpPr>
          <p:cNvPr id="466950" name="Oval 6"/>
          <p:cNvSpPr>
            <a:spLocks noChangeArrowheads="1"/>
          </p:cNvSpPr>
          <p:nvPr/>
        </p:nvSpPr>
        <p:spPr bwMode="auto">
          <a:xfrm rot="-912955">
            <a:off x="5105400" y="773113"/>
            <a:ext cx="2362200" cy="914400"/>
          </a:xfrm>
          <a:prstGeom prst="ellips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2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6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6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66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6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6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6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6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6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6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6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6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6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6948" grpId="0" build="p"/>
      <p:bldP spid="466949" grpId="0" animBg="1"/>
      <p:bldP spid="46695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Simple Monitor Example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85800"/>
            <a:ext cx="8839200" cy="5715000"/>
          </a:xfrm>
        </p:spPr>
        <p:txBody>
          <a:bodyPr/>
          <a:lstStyle/>
          <a:p>
            <a:pPr>
              <a:lnSpc>
                <a:spcPct val="80000"/>
              </a:lnSpc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Here is an (infinite) synchronized queue</a:t>
            </a: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	</a:t>
            </a: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Lock lock;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Queue queue;</a:t>
            </a: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endParaRPr lang="en-US" altLang="ko-KR" sz="2000">
              <a:latin typeface="Courier New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AddToQueue(item) {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lock.Acquire();	// Lock shared data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queue.enqueue(item);	// Add item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lock.Release();	// Release Lock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}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endParaRPr lang="en-US" altLang="ko-KR" sz="2000">
              <a:latin typeface="Courier New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RemoveFromQueue() {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lock.Acquire();	// Lock shared data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item = queue.dequeue();// Get next item or null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lock.Release();	// Release Lock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return(item);	// Might return null</a:t>
            </a:r>
            <a:br>
              <a:rPr lang="en-US" altLang="ko-KR" sz="200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}</a:t>
            </a:r>
          </a:p>
          <a:p>
            <a:pPr>
              <a:lnSpc>
                <a:spcPct val="80000"/>
              </a:lnSpc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Not very interesting use of “Monitor”</a:t>
            </a:r>
          </a:p>
          <a:p>
            <a:pPr lvl="1">
              <a:lnSpc>
                <a:spcPct val="80000"/>
              </a:lnSpc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r>
              <a:rPr lang="en-US" altLang="ko-KR" sz="2400">
                <a:latin typeface="Helvetica" charset="0"/>
                <a:ea typeface="Gulim" charset="0"/>
                <a:cs typeface="Gulim" charset="0"/>
              </a:rPr>
              <a:t>It only uses a lock with no condition variables</a:t>
            </a:r>
          </a:p>
          <a:p>
            <a:pPr lvl="1">
              <a:lnSpc>
                <a:spcPct val="80000"/>
              </a:lnSpc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r>
              <a:rPr lang="en-US" altLang="ko-KR" sz="2400">
                <a:latin typeface="Helvetica" charset="0"/>
                <a:ea typeface="Gulim" charset="0"/>
                <a:cs typeface="Gulim" charset="0"/>
              </a:rPr>
              <a:t>Cannot put consumer to sleep if no work!</a:t>
            </a: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4684713" algn="l"/>
              </a:tabLst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949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Condition Variables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19200"/>
            <a:ext cx="8763000" cy="4724400"/>
          </a:xfrm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Condition Variable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: a queue of threads waiting for something </a:t>
            </a:r>
            <a:r>
              <a:rPr lang="en-US" altLang="ko-KR" i="1">
                <a:latin typeface="Helvetica" charset="0"/>
                <a:ea typeface="Gulim" charset="0"/>
                <a:cs typeface="Gulim" charset="0"/>
              </a:rPr>
              <a:t>inside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 a critical section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Key idea: allow sleeping inside critical section by atomically releasing lock at time we go to sleep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Contrast to semaphores: Can’t wait inside critical section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Operations: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Wait(&amp;lock)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: Atomically release lock and go to sleep. Re-acquire lock later, before returning. 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Signal()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: Wake up one waiter, if any</a:t>
            </a:r>
          </a:p>
          <a:p>
            <a:pPr lvl="1"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Broadcast()</a:t>
            </a: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: Wake up all waiters</a:t>
            </a:r>
          </a:p>
          <a:p>
            <a:pPr>
              <a:lnSpc>
                <a:spcPct val="85000"/>
              </a:lnSpc>
              <a:spcBef>
                <a:spcPct val="20000"/>
              </a:spcBef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5000"/>
              </a:lnSpc>
              <a:spcBef>
                <a:spcPct val="20000"/>
              </a:spcBef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Rule: Must hold lock when doing condition variable ops!</a:t>
            </a:r>
          </a:p>
          <a:p>
            <a:pPr lvl="1">
              <a:lnSpc>
                <a:spcPct val="85000"/>
              </a:lnSpc>
              <a:spcBef>
                <a:spcPct val="20000"/>
              </a:spcBef>
              <a:buFontTx/>
              <a:buNone/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897848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533400"/>
          </a:xfrm>
        </p:spPr>
        <p:txBody>
          <a:bodyPr/>
          <a:lstStyle/>
          <a:p>
            <a:r>
              <a:rPr lang="en-US" altLang="ko-KR" sz="2800" dirty="0">
                <a:latin typeface="Helvetica" charset="0"/>
                <a:ea typeface="Gulim" charset="0"/>
                <a:cs typeface="Gulim" charset="0"/>
              </a:rPr>
              <a:t>Complete Monitor Example </a:t>
            </a:r>
            <a:br>
              <a:rPr lang="en-US" altLang="ko-KR" sz="2800" dirty="0">
                <a:latin typeface="Helvetica" charset="0"/>
                <a:ea typeface="Gulim" charset="0"/>
                <a:cs typeface="Gulim" charset="0"/>
              </a:rPr>
            </a:br>
            <a:r>
              <a:rPr lang="en-US" altLang="ko-KR" sz="2800" dirty="0">
                <a:latin typeface="Helvetica" charset="0"/>
                <a:ea typeface="Gulim" charset="0"/>
                <a:cs typeface="Gulim" charset="0"/>
              </a:rPr>
              <a:t>(with condition variable)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534400" cy="5715000"/>
          </a:xfrm>
        </p:spPr>
        <p:txBody>
          <a:bodyPr/>
          <a:lstStyle/>
          <a:p>
            <a:pPr>
              <a:lnSpc>
                <a:spcPct val="80000"/>
              </a:lnSpc>
              <a:tabLst>
                <a:tab pos="852488" algn="l"/>
                <a:tab pos="1252538" algn="l"/>
                <a:tab pos="1654175" algn="l"/>
                <a:tab pos="50863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Here is an (infinite) synchronized queue</a:t>
            </a: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50863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	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Lock lock;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Condition </a:t>
            </a:r>
            <a:r>
              <a:rPr lang="en-US" altLang="ko-KR" sz="2000" dirty="0" err="1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dataready</a:t>
            </a: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;</a:t>
            </a:r>
            <a:b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Queue queue;</a:t>
            </a: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5086350" algn="l"/>
              </a:tabLst>
            </a:pPr>
            <a:endParaRPr lang="en-US" altLang="ko-KR" sz="2000" dirty="0">
              <a:latin typeface="Courier New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5086350" algn="l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AddToQueue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(item) {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lock.Acquire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// Get Lock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queue.enqueue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(item);	// Add item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dataready.signal</a:t>
            </a: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();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</a:t>
            </a: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// Signal any waiters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lock.Release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// Release Lock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}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endParaRPr lang="en-US" altLang="ko-KR" sz="2000" dirty="0">
              <a:latin typeface="Courier New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buFontTx/>
              <a:buNone/>
              <a:tabLst>
                <a:tab pos="852488" algn="l"/>
                <a:tab pos="1252538" algn="l"/>
                <a:tab pos="1654175" algn="l"/>
                <a:tab pos="5086350" algn="l"/>
              </a:tabLst>
            </a:pP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RemoveFromQueue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 {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lock.Acquire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// Get Lock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while (</a:t>
            </a:r>
            <a:r>
              <a:rPr lang="en-US" altLang="ko-KR" sz="2000" dirty="0" err="1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queue.isEmpty</a:t>
            </a: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()) {</a:t>
            </a:r>
            <a:b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			</a:t>
            </a:r>
            <a:r>
              <a:rPr lang="en-US" altLang="ko-KR" sz="2000" dirty="0" err="1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dataready.wait</a:t>
            </a: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(&amp;lock); // If nothing, sleep</a:t>
            </a:r>
            <a:b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		}</a:t>
            </a:r>
            <a:br>
              <a:rPr lang="en-US" altLang="ko-KR" sz="2000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item = 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queue.dequeue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// Get next item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</a:t>
            </a:r>
            <a:r>
              <a:rPr lang="en-US" altLang="ko-KR" sz="2000" dirty="0" err="1">
                <a:latin typeface="Courier New" charset="0"/>
                <a:ea typeface="Gulim" charset="0"/>
                <a:cs typeface="Gulim" charset="0"/>
              </a:rPr>
              <a:t>lock.Release</a:t>
            </a: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();	// Release Lock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	return(item);</a:t>
            </a:r>
            <a:br>
              <a:rPr lang="en-US" altLang="ko-KR" sz="2000" dirty="0"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 dirty="0">
                <a:latin typeface="Courier New" charset="0"/>
                <a:ea typeface="Gulim" charset="0"/>
                <a:cs typeface="Gulim" charset="0"/>
              </a:rPr>
              <a:t>	}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2" name="Curved Right Arrow 1"/>
          <p:cNvSpPr>
            <a:spLocks noChangeArrowheads="1"/>
          </p:cNvSpPr>
          <p:nvPr/>
        </p:nvSpPr>
        <p:spPr bwMode="auto">
          <a:xfrm>
            <a:off x="685800" y="3352800"/>
            <a:ext cx="914400" cy="1828800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8369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Mesa vs. Hoare monitors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>
          <a:xfrm>
            <a:off x="292100" y="1219200"/>
            <a:ext cx="8839200" cy="5449888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Need to be careful about precise definition of signal and wait.  Consider a piece of our dequeue code: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	</a:t>
            </a: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while (queue.isEmpty()) {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			dataready.wait(&amp;lock); // If nothing, sleep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		}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item = queue.dequeue();	// Get next item</a:t>
            </a: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Why didn’t we do this?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	</a:t>
            </a: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if (queue.isEmpty()) {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			dataready.wait(&amp;lock); // If nothing, sleep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		}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 sz="2000">
                <a:latin typeface="Courier New" charset="0"/>
                <a:ea typeface="Gulim" charset="0"/>
                <a:cs typeface="Gulim" charset="0"/>
              </a:rPr>
              <a:t>		item = queue.dequeue();	// Get next item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Answer: depends on the type of scheduling</a:t>
            </a: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Hoare-style</a:t>
            </a: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Mesa-style</a:t>
            </a:r>
          </a:p>
        </p:txBody>
      </p:sp>
    </p:spTree>
    <p:extLst>
      <p:ext uri="{BB962C8B-B14F-4D97-AF65-F5344CB8AC3E}">
        <p14:creationId xmlns:p14="http://schemas.microsoft.com/office/powerpoint/2010/main" val="37733324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8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8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8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8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8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8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8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8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8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8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8211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Hoare monitors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292100" y="990600"/>
            <a:ext cx="8839200" cy="1905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Signaler gives up lock</a:t>
            </a:r>
            <a:r>
              <a:rPr lang="zh-CN" altLang="en-US" dirty="0"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zh-CN" dirty="0">
                <a:latin typeface="Helvetica" charset="0"/>
                <a:ea typeface="Gulim" charset="0"/>
                <a:cs typeface="Gulim" charset="0"/>
              </a:rPr>
              <a:t>and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 CPU to waiter; waiter runs immediately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Waiter gives up lock, processor back to signaler when it exits critical section or if it waits again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Most textbooks</a:t>
            </a: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5334000" y="2971800"/>
            <a:ext cx="35052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Lock.Acquire()</a:t>
            </a:r>
          </a:p>
          <a:p>
            <a:r>
              <a:rPr lang="en-US" altLang="ko-KR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if (queue.isEmpty()) {</a:t>
            </a:r>
            <a:b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  dataready.wait(&amp;lock); </a:t>
            </a:r>
            <a:b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}</a:t>
            </a:r>
            <a:b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lock.Release();</a:t>
            </a:r>
            <a:endParaRPr lang="en-US">
              <a:ea typeface="Gulim" charset="0"/>
              <a:cs typeface="Gulim" charset="0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609600" y="2970213"/>
            <a:ext cx="35052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lock.Acquire()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… </a:t>
            </a:r>
            <a:endParaRPr lang="en-US" altLang="ko-KR">
              <a:solidFill>
                <a:schemeClr val="hlink"/>
              </a:solidFill>
              <a:latin typeface="Courier New" charset="0"/>
              <a:ea typeface="Gulim" charset="0"/>
              <a:cs typeface="Gulim" charset="0"/>
            </a:endParaRPr>
          </a:p>
          <a:p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dataready.signal();</a:t>
            </a:r>
            <a:endParaRPr lang="en-US" altLang="ko-KR">
              <a:latin typeface="Courier New" charset="0"/>
              <a:ea typeface="Gulim" charset="0"/>
              <a:cs typeface="Gulim" charset="0"/>
            </a:endParaRP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lock.Release();</a:t>
            </a:r>
            <a:endParaRPr lang="en-US">
              <a:ea typeface="Gulim" charset="0"/>
              <a:cs typeface="Gulim" charset="0"/>
            </a:endParaRP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3429000" y="3581400"/>
            <a:ext cx="1905000" cy="406400"/>
            <a:chOff x="3429000" y="3581400"/>
            <a:chExt cx="1905000" cy="406400"/>
          </a:xfrm>
        </p:grpSpPr>
        <p:cxnSp>
          <p:nvCxnSpPr>
            <p:cNvPr id="30733" name="Straight Arrow Connector 6"/>
            <p:cNvCxnSpPr>
              <a:cxnSpLocks noChangeShapeType="1"/>
              <a:endCxn id="30724" idx="1"/>
            </p:cNvCxnSpPr>
            <p:nvPr/>
          </p:nvCxnSpPr>
          <p:spPr bwMode="auto">
            <a:xfrm>
              <a:off x="3429000" y="3962400"/>
              <a:ext cx="1905000" cy="254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4" name="Rectangle 18"/>
            <p:cNvSpPr>
              <a:spLocks noChangeArrowheads="1"/>
            </p:cNvSpPr>
            <p:nvPr/>
          </p:nvSpPr>
          <p:spPr bwMode="auto">
            <a:xfrm>
              <a:off x="3657600" y="3581400"/>
              <a:ext cx="15240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>
                  <a:latin typeface="Courier New" charset="0"/>
                  <a:ea typeface="Gulim" charset="0"/>
                  <a:cs typeface="Gulim" charset="0"/>
                </a:rPr>
                <a:t>Lock, CPU</a:t>
              </a:r>
              <a:endParaRPr lang="en-US">
                <a:ea typeface="Gulim" charset="0"/>
                <a:cs typeface="Gulim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3429000" y="4114800"/>
            <a:ext cx="1905000" cy="685800"/>
            <a:chOff x="3429000" y="4114800"/>
            <a:chExt cx="1905000" cy="685800"/>
          </a:xfrm>
        </p:grpSpPr>
        <p:cxnSp>
          <p:nvCxnSpPr>
            <p:cNvPr id="30731" name="Straight Arrow Connector 7"/>
            <p:cNvCxnSpPr>
              <a:cxnSpLocks noChangeShapeType="1"/>
            </p:cNvCxnSpPr>
            <p:nvPr/>
          </p:nvCxnSpPr>
          <p:spPr bwMode="auto">
            <a:xfrm rot="10800000">
              <a:off x="3429000" y="4114800"/>
              <a:ext cx="1905000" cy="6858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0732" name="Rectangle 19"/>
            <p:cNvSpPr>
              <a:spLocks noChangeArrowheads="1"/>
            </p:cNvSpPr>
            <p:nvPr/>
          </p:nvSpPr>
          <p:spPr bwMode="auto">
            <a:xfrm rot="1248180">
              <a:off x="3828806" y="4135607"/>
              <a:ext cx="143511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>
                  <a:latin typeface="Courier New" charset="0"/>
                  <a:ea typeface="Gulim" charset="0"/>
                  <a:cs typeface="Gulim" charset="0"/>
                </a:rPr>
                <a:t>Lock, CPU</a:t>
              </a:r>
              <a:endParaRPr lang="en-US">
                <a:ea typeface="Gulim" charset="0"/>
                <a:cs typeface="Gulim" charset="0"/>
              </a:endParaRPr>
            </a:p>
          </p:txBody>
        </p:sp>
      </p:grpSp>
      <p:cxnSp>
        <p:nvCxnSpPr>
          <p:cNvPr id="47114" name="Straight Arrow Connector 20"/>
          <p:cNvCxnSpPr>
            <a:cxnSpLocks noChangeShapeType="1"/>
          </p:cNvCxnSpPr>
          <p:nvPr/>
        </p:nvCxnSpPr>
        <p:spPr bwMode="auto">
          <a:xfrm rot="5400000">
            <a:off x="1486694" y="3771106"/>
            <a:ext cx="2286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7115" name="Straight Arrow Connector 25"/>
          <p:cNvCxnSpPr>
            <a:cxnSpLocks noChangeShapeType="1"/>
          </p:cNvCxnSpPr>
          <p:nvPr/>
        </p:nvCxnSpPr>
        <p:spPr bwMode="auto">
          <a:xfrm rot="5400000">
            <a:off x="5523707" y="4456906"/>
            <a:ext cx="534988" cy="31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47116" name="Straight Arrow Connector 27"/>
          <p:cNvCxnSpPr>
            <a:cxnSpLocks noChangeShapeType="1"/>
          </p:cNvCxnSpPr>
          <p:nvPr/>
        </p:nvCxnSpPr>
        <p:spPr bwMode="auto">
          <a:xfrm rot="5400000">
            <a:off x="1485107" y="4304506"/>
            <a:ext cx="228600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537550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Mesa monitors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292100" y="990600"/>
            <a:ext cx="8839200" cy="19050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Signaler keeps lock and processor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Gulim" charset="0"/>
                <a:cs typeface="Gulim" charset="0"/>
              </a:rPr>
              <a:t>Waiter placed on a local “e” queue for the monitor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Practically, need to check condition again after wait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solidFill>
                  <a:srgbClr val="000000"/>
                </a:solidFill>
                <a:latin typeface="Helvetica" charset="0"/>
                <a:ea typeface="Gulim" charset="0"/>
                <a:cs typeface="Gulim" charset="0"/>
              </a:rPr>
              <a:t>Most real operating systems</a:t>
            </a: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endParaRPr lang="en-US" altLang="ko-KR">
              <a:latin typeface="Helvetica" charset="0"/>
              <a:ea typeface="Gulim" charset="0"/>
              <a:cs typeface="Gulim" charset="0"/>
            </a:endParaRP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5334000" y="2971800"/>
            <a:ext cx="3810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Lock.Acquire()</a:t>
            </a:r>
          </a:p>
          <a:p>
            <a:r>
              <a:rPr lang="en-US" altLang="ko-KR">
                <a:solidFill>
                  <a:srgbClr val="000000"/>
                </a:solidFill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while (queue.isEmpty()) {</a:t>
            </a:r>
            <a:b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  dataready.wait(&amp;lock); </a:t>
            </a:r>
            <a:b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}</a:t>
            </a:r>
            <a:b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</a:br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lock.Release();</a:t>
            </a:r>
            <a:endParaRPr lang="en-US">
              <a:ea typeface="Gulim" charset="0"/>
              <a:cs typeface="Gulim" charset="0"/>
            </a:endParaRP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609600" y="2970213"/>
            <a:ext cx="35052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lock.Acquire()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… </a:t>
            </a:r>
            <a:endParaRPr lang="en-US" altLang="ko-KR">
              <a:solidFill>
                <a:schemeClr val="hlink"/>
              </a:solidFill>
              <a:latin typeface="Courier New" charset="0"/>
              <a:ea typeface="Gulim" charset="0"/>
              <a:cs typeface="Gulim" charset="0"/>
            </a:endParaRPr>
          </a:p>
          <a:p>
            <a:r>
              <a:rPr lang="en-US" altLang="ko-KR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dataready.signal();</a:t>
            </a:r>
            <a:endParaRPr lang="en-US" altLang="ko-KR">
              <a:latin typeface="Courier New" charset="0"/>
              <a:ea typeface="Gulim" charset="0"/>
              <a:cs typeface="Gulim" charset="0"/>
            </a:endParaRP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…</a:t>
            </a:r>
          </a:p>
          <a:p>
            <a:r>
              <a:rPr lang="en-US" altLang="ko-KR">
                <a:latin typeface="Courier New" charset="0"/>
                <a:ea typeface="Gulim" charset="0"/>
                <a:cs typeface="Gulim" charset="0"/>
              </a:rPr>
              <a:t>lock.Release();</a:t>
            </a:r>
            <a:endParaRPr lang="en-US">
              <a:ea typeface="Gulim" charset="0"/>
              <a:cs typeface="Gulim" charset="0"/>
            </a:endParaRPr>
          </a:p>
        </p:txBody>
      </p:sp>
      <p:cxnSp>
        <p:nvCxnSpPr>
          <p:cNvPr id="31750" name="Straight Arrow Connector 20"/>
          <p:cNvCxnSpPr>
            <a:cxnSpLocks noChangeShapeType="1"/>
          </p:cNvCxnSpPr>
          <p:nvPr/>
        </p:nvCxnSpPr>
        <p:spPr bwMode="auto">
          <a:xfrm rot="5400000">
            <a:off x="1486694" y="3771106"/>
            <a:ext cx="2286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31751" name="Straight Arrow Connector 27"/>
          <p:cNvCxnSpPr>
            <a:cxnSpLocks noChangeShapeType="1"/>
          </p:cNvCxnSpPr>
          <p:nvPr/>
        </p:nvCxnSpPr>
        <p:spPr bwMode="auto">
          <a:xfrm rot="5400000">
            <a:off x="1485107" y="4304506"/>
            <a:ext cx="228600" cy="158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9161" name="Rectangular Callout 16"/>
          <p:cNvSpPr>
            <a:spLocks noChangeArrowheads="1"/>
          </p:cNvSpPr>
          <p:nvPr/>
        </p:nvSpPr>
        <p:spPr bwMode="auto">
          <a:xfrm>
            <a:off x="2971800" y="2895600"/>
            <a:ext cx="1752600" cy="914400"/>
          </a:xfrm>
          <a:prstGeom prst="wedgeRectCallout">
            <a:avLst>
              <a:gd name="adj1" fmla="val -38579"/>
              <a:gd name="adj2" fmla="val 62500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b="0">
                <a:latin typeface="Helvetica" charset="0"/>
              </a:rPr>
              <a:t>Put waiting thread on ready queue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725738" y="3810000"/>
            <a:ext cx="2609850" cy="782638"/>
            <a:chOff x="2725738" y="3810000"/>
            <a:chExt cx="2609850" cy="782638"/>
          </a:xfrm>
        </p:grpSpPr>
        <p:cxnSp>
          <p:nvCxnSpPr>
            <p:cNvPr id="31754" name="Straight Arrow Connector 7"/>
            <p:cNvCxnSpPr>
              <a:cxnSpLocks noChangeShapeType="1"/>
            </p:cNvCxnSpPr>
            <p:nvPr/>
          </p:nvCxnSpPr>
          <p:spPr bwMode="auto">
            <a:xfrm flipV="1">
              <a:off x="2895600" y="3810000"/>
              <a:ext cx="2438400" cy="76200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55" name="TextBox 17"/>
            <p:cNvSpPr txBox="1">
              <a:spLocks noChangeArrowheads="1"/>
            </p:cNvSpPr>
            <p:nvPr/>
          </p:nvSpPr>
          <p:spPr bwMode="auto">
            <a:xfrm rot="-1028988">
              <a:off x="2725738" y="4222750"/>
              <a:ext cx="26098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Comic Sans MS" charset="0"/>
                  <a:ea typeface="MS PGothic" charset="0"/>
                  <a:cs typeface="MS PGothic" charset="0"/>
                </a:defRPr>
              </a:lvl9pPr>
            </a:lstStyle>
            <a:p>
              <a:r>
                <a:rPr lang="en-US" b="0">
                  <a:latin typeface="Helvetica" charset="0"/>
                </a:rPr>
                <a:t>schedule waiting thread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03778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6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2100" y="1066800"/>
            <a:ext cx="8699500" cy="5449888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Why do we use “while()” instead of “if() with Mesa monitors?</a:t>
            </a:r>
          </a:p>
          <a:p>
            <a:pPr lvl="1"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Example illustrating what happens if we use “if()”, e.g.,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			</a:t>
            </a: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if (queue.isEmpty()) {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		dataready.wait(&amp;lock); // If nothing, sleep</a:t>
            </a:r>
            <a:b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 b="1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		}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688975" algn="l"/>
                <a:tab pos="1027113" algn="l"/>
                <a:tab pos="1377950" algn="l"/>
              </a:tabLst>
            </a:pPr>
            <a:endParaRPr lang="en-US" altLang="ko-KR" sz="2000">
              <a:solidFill>
                <a:schemeClr val="hlink"/>
              </a:solidFill>
              <a:latin typeface="Courier New" charset="0"/>
              <a:ea typeface="굴림" charset="0"/>
              <a:cs typeface="굴림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688975" algn="l"/>
                <a:tab pos="1027113" algn="l"/>
                <a:tab pos="1377950" algn="l"/>
              </a:tabLst>
            </a:pPr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We’ll use the synchronized (infinite) queue example</a:t>
            </a:r>
          </a:p>
        </p:txBody>
      </p:sp>
      <p:sp>
        <p:nvSpPr>
          <p:cNvPr id="11267" name="Rectangle 3"/>
          <p:cNvSpPr txBox="1">
            <a:spLocks noChangeArrowheads="1"/>
          </p:cNvSpPr>
          <p:nvPr/>
        </p:nvSpPr>
        <p:spPr bwMode="auto">
          <a:xfrm>
            <a:off x="609600" y="3657600"/>
            <a:ext cx="3886200" cy="18288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AddToQueue(item) {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 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queue.enqueue(item);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dataready.signal();</a:t>
            </a: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 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lock.Release();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</a:p>
        </p:txBody>
      </p:sp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4724400" y="3657600"/>
            <a:ext cx="4572000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78" tIns="44445" rIns="90478" bIns="44445"/>
          <a:lstStyle>
            <a:lvl1pPr marL="285750" indent="-28575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852488" algn="l"/>
                <a:tab pos="1252538" algn="l"/>
                <a:tab pos="1654175" algn="l"/>
                <a:tab pos="5086350" algn="l"/>
              </a:tabLs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RemoveFromQueue() {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lock.Acquire();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if (queue.isEmpty()) {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  dataready.wait(&amp;lock); 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  <a:t>}</a:t>
            </a:r>
            <a:br>
              <a:rPr lang="en-US" altLang="ko-KR" sz="2000">
                <a:solidFill>
                  <a:schemeClr val="hlink"/>
                </a:solidFill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item = queue.dequeue(); 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lock.Release(); </a:t>
            </a:r>
            <a:br>
              <a:rPr lang="en-US" altLang="ko-KR" sz="2000">
                <a:latin typeface="Courier New" charset="0"/>
                <a:ea typeface="굴림" charset="0"/>
                <a:cs typeface="굴림" charset="0"/>
              </a:rPr>
            </a:b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return(item);</a:t>
            </a:r>
          </a:p>
          <a:p>
            <a:pPr>
              <a:lnSpc>
                <a:spcPct val="80000"/>
              </a:lnSpc>
              <a:spcBef>
                <a:spcPct val="30000"/>
              </a:spcBef>
              <a:buSzPct val="100000"/>
            </a:pPr>
            <a:r>
              <a:rPr lang="en-US" altLang="ko-KR" sz="2000">
                <a:latin typeface="Courier New" charset="0"/>
                <a:ea typeface="굴림" charset="0"/>
                <a:cs typeface="굴림" charset="0"/>
              </a:rPr>
              <a:t>}</a:t>
            </a:r>
            <a:endParaRPr lang="en-US" altLang="ko-KR">
              <a:latin typeface="Helvetica" charset="0"/>
              <a:ea typeface="굴림" charset="0"/>
              <a:cs typeface="굴림" charset="0"/>
            </a:endParaRPr>
          </a:p>
        </p:txBody>
      </p:sp>
      <p:sp>
        <p:nvSpPr>
          <p:cNvPr id="10245" name="Rounded Rectangular Callout 1"/>
          <p:cNvSpPr>
            <a:spLocks noChangeArrowheads="1"/>
          </p:cNvSpPr>
          <p:nvPr/>
        </p:nvSpPr>
        <p:spPr bwMode="auto">
          <a:xfrm>
            <a:off x="2438400" y="5181600"/>
            <a:ext cx="2362200" cy="838200"/>
          </a:xfrm>
          <a:prstGeom prst="wedgeRoundRectCallout">
            <a:avLst>
              <a:gd name="adj1" fmla="val 59667"/>
              <a:gd name="adj2" fmla="val -151977"/>
              <a:gd name="adj3" fmla="val 16667"/>
            </a:avLst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b="0">
                <a:latin typeface="Helvetica" charset="0"/>
                <a:cs typeface="Helvetica" charset="0"/>
              </a:rPr>
              <a:t>Mesa: Replace “while” </a:t>
            </a:r>
            <a:r>
              <a:rPr lang="en-US" b="0">
                <a:latin typeface="Helvetica" charset="0"/>
                <a:cs typeface="Helvetica" charset="0"/>
                <a:sym typeface="Wingdings" charset="0"/>
              </a:rPr>
              <a:t>with  “if”</a:t>
            </a:r>
            <a:endParaRPr lang="en-US" b="0">
              <a:latin typeface="Helvetica" charset="0"/>
              <a:cs typeface="Helvetica" charset="0"/>
            </a:endParaRP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3810000" y="4648200"/>
            <a:ext cx="1219200" cy="552450"/>
            <a:chOff x="3810000" y="4648200"/>
            <a:chExt cx="1219200" cy="552510"/>
          </a:xfrm>
        </p:grpSpPr>
        <p:cxnSp>
          <p:nvCxnSpPr>
            <p:cNvPr id="11271" name="Straight Arrow Connector 2"/>
            <p:cNvCxnSpPr>
              <a:cxnSpLocks noChangeShapeType="1"/>
            </p:cNvCxnSpPr>
            <p:nvPr/>
          </p:nvCxnSpPr>
          <p:spPr bwMode="auto">
            <a:xfrm>
              <a:off x="3886200" y="4648200"/>
              <a:ext cx="1143000" cy="381000"/>
            </a:xfrm>
            <a:prstGeom prst="straightConnector1">
              <a:avLst/>
            </a:prstGeom>
            <a:noFill/>
            <a:ln w="76200">
              <a:solidFill>
                <a:srgbClr val="233AE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72" name="TextBox 3"/>
            <p:cNvSpPr txBox="1">
              <a:spLocks noChangeArrowheads="1"/>
            </p:cNvSpPr>
            <p:nvPr/>
          </p:nvSpPr>
          <p:spPr bwMode="auto">
            <a:xfrm>
              <a:off x="3810000" y="4800600"/>
              <a:ext cx="88322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b="0">
                  <a:solidFill>
                    <a:srgbClr val="FF0000"/>
                  </a:solidFill>
                  <a:latin typeface="Helvetica" charset="0"/>
                  <a:cs typeface="Helvetica" charset="0"/>
                </a:rPr>
                <a:t>Hoare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454066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13315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13316" name="Freeform 6"/>
          <p:cNvSpPr>
            <a:spLocks/>
          </p:cNvSpPr>
          <p:nvPr/>
        </p:nvSpPr>
        <p:spPr bwMode="auto">
          <a:xfrm>
            <a:off x="681038" y="1592263"/>
            <a:ext cx="1681162" cy="460375"/>
          </a:xfrm>
          <a:custGeom>
            <a:avLst/>
            <a:gdLst>
              <a:gd name="T0" fmla="*/ 1685930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4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3317" name="TextBox 7"/>
          <p:cNvSpPr txBox="1">
            <a:spLocks noChangeArrowheads="1"/>
          </p:cNvSpPr>
          <p:nvPr/>
        </p:nvSpPr>
        <p:spPr bwMode="auto">
          <a:xfrm>
            <a:off x="528638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13318" name="Rectangle 1"/>
          <p:cNvSpPr>
            <a:spLocks noChangeArrowheads="1"/>
          </p:cNvSpPr>
          <p:nvPr/>
        </p:nvSpPr>
        <p:spPr bwMode="auto">
          <a:xfrm>
            <a:off x="457200" y="32766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3319" name="Rounded Rectangle 3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3320" name="TextBox 4"/>
          <p:cNvSpPr txBox="1">
            <a:spLocks noChangeArrowheads="1"/>
          </p:cNvSpPr>
          <p:nvPr/>
        </p:nvSpPr>
        <p:spPr bwMode="auto">
          <a:xfrm>
            <a:off x="3243263" y="1201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lock: FREE</a:t>
            </a:r>
          </a:p>
        </p:txBody>
      </p:sp>
      <p:sp>
        <p:nvSpPr>
          <p:cNvPr id="13321" name="TextBox 10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13322" name="TextBox 13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cxnSp>
        <p:nvCxnSpPr>
          <p:cNvPr id="13323" name="Straight Arrow Connector 17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3324" name="TextBox 18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13325" name="Rounded Rectangle 20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3326" name="TextBox 15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13327" name="Rounded Rectangle 22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3328" name="TextBox 23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13329" name="TextBox 16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099414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15362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15363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15364" name="Rectangle 1"/>
          <p:cNvSpPr>
            <a:spLocks noChangeArrowheads="1"/>
          </p:cNvSpPr>
          <p:nvPr/>
        </p:nvSpPr>
        <p:spPr bwMode="auto">
          <a:xfrm>
            <a:off x="457200" y="38100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5365" name="Rounded Rectangle 15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5366" name="TextBox 1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BUSY (T1)</a:t>
            </a:r>
          </a:p>
        </p:txBody>
      </p:sp>
      <p:sp>
        <p:nvSpPr>
          <p:cNvPr id="15367" name="TextBox 19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15368" name="Straight Arrow Connector 20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5369" name="TextBox 21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15370" name="Freeform 22"/>
          <p:cNvSpPr>
            <a:spLocks/>
          </p:cNvSpPr>
          <p:nvPr/>
        </p:nvSpPr>
        <p:spPr bwMode="auto">
          <a:xfrm>
            <a:off x="681038" y="1592263"/>
            <a:ext cx="1681162" cy="460375"/>
          </a:xfrm>
          <a:custGeom>
            <a:avLst/>
            <a:gdLst>
              <a:gd name="T0" fmla="*/ 1685930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4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5371" name="TextBox 23"/>
          <p:cNvSpPr txBox="1">
            <a:spLocks noChangeArrowheads="1"/>
          </p:cNvSpPr>
          <p:nvPr/>
        </p:nvSpPr>
        <p:spPr bwMode="auto">
          <a:xfrm>
            <a:off x="528638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15372" name="TextBox 27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15373" name="Rounded Rectangle 30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5374" name="TextBox 31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15375" name="Rounded Rectangle 32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5376" name="TextBox 33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15377" name="TextBox 34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48005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17411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57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Waiting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17413" name="Rounded Rectangle 15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7414" name="TextBox 16"/>
          <p:cNvSpPr txBox="1">
            <a:spLocks noChangeArrowheads="1"/>
          </p:cNvSpPr>
          <p:nvPr/>
        </p:nvSpPr>
        <p:spPr bwMode="auto">
          <a:xfrm>
            <a:off x="3243263" y="1201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FREE</a:t>
            </a:r>
          </a:p>
        </p:txBody>
      </p:sp>
      <p:sp>
        <p:nvSpPr>
          <p:cNvPr id="17415" name="TextBox 19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17416" name="Straight Arrow Connector 20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7417" name="TextBox 21"/>
          <p:cNvSpPr txBox="1">
            <a:spLocks noChangeArrowheads="1"/>
          </p:cNvSpPr>
          <p:nvPr/>
        </p:nvSpPr>
        <p:spPr bwMode="auto">
          <a:xfrm>
            <a:off x="4787900" y="17526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T1</a:t>
            </a:r>
          </a:p>
        </p:txBody>
      </p:sp>
      <p:sp>
        <p:nvSpPr>
          <p:cNvPr id="17418" name="Freeform 25"/>
          <p:cNvSpPr>
            <a:spLocks/>
          </p:cNvSpPr>
          <p:nvPr/>
        </p:nvSpPr>
        <p:spPr bwMode="auto">
          <a:xfrm>
            <a:off x="681038" y="1592263"/>
            <a:ext cx="1681162" cy="460375"/>
          </a:xfrm>
          <a:custGeom>
            <a:avLst/>
            <a:gdLst>
              <a:gd name="T0" fmla="*/ 1685930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4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7419" name="TextBox 26"/>
          <p:cNvSpPr txBox="1">
            <a:spLocks noChangeArrowheads="1"/>
          </p:cNvSpPr>
          <p:nvPr/>
        </p:nvSpPr>
        <p:spPr bwMode="auto">
          <a:xfrm>
            <a:off x="528638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17420" name="TextBox 27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17421" name="Rounded Rectangle 28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7422" name="TextBox 29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17423" name="Rounded Rectangle 30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7424" name="TextBox 31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17425" name="TextBox 32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4" name="Rounded Rectangular Callout 3"/>
          <p:cNvSpPr>
            <a:spLocks noChangeArrowheads="1"/>
          </p:cNvSpPr>
          <p:nvPr/>
        </p:nvSpPr>
        <p:spPr bwMode="auto">
          <a:xfrm>
            <a:off x="4800600" y="2209800"/>
            <a:ext cx="3200400" cy="1447800"/>
          </a:xfrm>
          <a:prstGeom prst="wedgeRoundRectCallout">
            <a:avLst>
              <a:gd name="adj1" fmla="val -39486"/>
              <a:gd name="adj2" fmla="val -91009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b="0">
                <a:latin typeface="Helvetica" charset="0"/>
                <a:cs typeface="Helvetica" charset="0"/>
              </a:rPr>
              <a:t>wait(&amp;lock) puts thread on dataready queue and releases lock</a:t>
            </a:r>
          </a:p>
        </p:txBody>
      </p:sp>
    </p:spTree>
    <p:extLst>
      <p:ext uri="{BB962C8B-B14F-4D97-AF65-F5344CB8AC3E}">
        <p14:creationId xmlns:p14="http://schemas.microsoft.com/office/powerpoint/2010/main" val="31999387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19459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57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(Waiting)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19461" name="Rounded Rectangle 15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19462" name="TextBox 16"/>
          <p:cNvSpPr txBox="1">
            <a:spLocks noChangeArrowheads="1"/>
          </p:cNvSpPr>
          <p:nvPr/>
        </p:nvSpPr>
        <p:spPr bwMode="auto">
          <a:xfrm>
            <a:off x="3243263" y="1201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FREE</a:t>
            </a:r>
          </a:p>
        </p:txBody>
      </p:sp>
      <p:sp>
        <p:nvSpPr>
          <p:cNvPr id="19463" name="TextBox 19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19464" name="Straight Arrow Connector 20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19465" name="TextBox 21"/>
          <p:cNvSpPr txBox="1">
            <a:spLocks noChangeArrowheads="1"/>
          </p:cNvSpPr>
          <p:nvPr/>
        </p:nvSpPr>
        <p:spPr bwMode="auto">
          <a:xfrm>
            <a:off x="4787900" y="17526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T1</a:t>
            </a:r>
          </a:p>
        </p:txBody>
      </p:sp>
      <p:sp>
        <p:nvSpPr>
          <p:cNvPr id="19466" name="Rectangle 3"/>
          <p:cNvSpPr>
            <a:spLocks noChangeArrowheads="1"/>
          </p:cNvSpPr>
          <p:nvPr/>
        </p:nvSpPr>
        <p:spPr bwMode="auto">
          <a:xfrm>
            <a:off x="3276600" y="3200400"/>
            <a:ext cx="2743200" cy="2032000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el narrow" charset="0"/>
                <a:cs typeface="Ariel narrow" charset="0"/>
              </a:rPr>
              <a:t>AddToQueue(item) {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lock.Acquire();</a:t>
            </a:r>
          </a:p>
          <a:p>
            <a:r>
              <a:rPr lang="en-US" altLang="ko-KR" sz="1800">
                <a:latin typeface="Ariel narrow" charset="0"/>
                <a:cs typeface="Ariel narrow" charset="0"/>
              </a:rPr>
              <a:t>  queue.enqueue(item); 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</a:t>
            </a:r>
            <a: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  <a:t>dataready.signal(); </a:t>
            </a:r>
            <a:b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lock.Release();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}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endParaRPr lang="en-US" altLang="ko-KR" sz="1800">
              <a:latin typeface="Ariel narrow" charset="0"/>
              <a:cs typeface="Ariel narrow" charset="0"/>
            </a:endParaRPr>
          </a:p>
        </p:txBody>
      </p:sp>
      <p:sp>
        <p:nvSpPr>
          <p:cNvPr id="19467" name="Rectangle 18"/>
          <p:cNvSpPr>
            <a:spLocks noChangeArrowheads="1"/>
          </p:cNvSpPr>
          <p:nvPr/>
        </p:nvSpPr>
        <p:spPr bwMode="auto">
          <a:xfrm>
            <a:off x="3276600" y="3276600"/>
            <a:ext cx="27432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9468" name="TextBox 22"/>
          <p:cNvSpPr txBox="1">
            <a:spLocks noChangeArrowheads="1"/>
          </p:cNvSpPr>
          <p:nvPr/>
        </p:nvSpPr>
        <p:spPr bwMode="auto">
          <a:xfrm>
            <a:off x="3505200" y="2800350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T2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19469" name="Freeform 28"/>
          <p:cNvSpPr>
            <a:spLocks/>
          </p:cNvSpPr>
          <p:nvPr/>
        </p:nvSpPr>
        <p:spPr bwMode="auto">
          <a:xfrm>
            <a:off x="681038" y="1592263"/>
            <a:ext cx="1681162" cy="460375"/>
          </a:xfrm>
          <a:custGeom>
            <a:avLst/>
            <a:gdLst>
              <a:gd name="T0" fmla="*/ 1685930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4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19470" name="TextBox 29"/>
          <p:cNvSpPr txBox="1">
            <a:spLocks noChangeArrowheads="1"/>
          </p:cNvSpPr>
          <p:nvPr/>
        </p:nvSpPr>
        <p:spPr bwMode="auto">
          <a:xfrm>
            <a:off x="528638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19471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19472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9473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19474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19475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19476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T2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940008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21507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57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(Waiting)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anchor="ctr"/>
          <a:lstStyle/>
          <a:p>
            <a:pPr algn="ctr">
              <a:defRPr/>
            </a:pPr>
            <a:endParaRPr lang="en-US" b="0" dirty="0">
              <a:latin typeface="Helvetica"/>
              <a:cs typeface="Helvetica"/>
            </a:endParaRPr>
          </a:p>
        </p:txBody>
      </p:sp>
      <p:sp>
        <p:nvSpPr>
          <p:cNvPr id="21509" name="Rectangle 3"/>
          <p:cNvSpPr>
            <a:spLocks noChangeArrowheads="1"/>
          </p:cNvSpPr>
          <p:nvPr/>
        </p:nvSpPr>
        <p:spPr bwMode="auto">
          <a:xfrm>
            <a:off x="3276600" y="3200400"/>
            <a:ext cx="2743200" cy="2032000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el narrow" charset="0"/>
                <a:cs typeface="Ariel narrow" charset="0"/>
              </a:rPr>
              <a:t>AddToQueue(item) {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lock.Acquire();</a:t>
            </a:r>
          </a:p>
          <a:p>
            <a:r>
              <a:rPr lang="en-US" altLang="ko-KR" sz="1800">
                <a:latin typeface="Ariel narrow" charset="0"/>
                <a:cs typeface="Ariel narrow" charset="0"/>
              </a:rPr>
              <a:t>  queue.enqueue(item); 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</a:t>
            </a:r>
            <a: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  <a:t>dataready.signal(); </a:t>
            </a:r>
            <a:b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lock.Release();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}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endParaRPr lang="en-US" altLang="ko-KR" sz="1800">
              <a:latin typeface="Ariel narrow" charset="0"/>
              <a:cs typeface="Ariel narrow" charset="0"/>
            </a:endParaRPr>
          </a:p>
        </p:txBody>
      </p:sp>
      <p:sp>
        <p:nvSpPr>
          <p:cNvPr id="21510" name="Rectangle 18"/>
          <p:cNvSpPr>
            <a:spLocks noChangeArrowheads="1"/>
          </p:cNvSpPr>
          <p:nvPr/>
        </p:nvSpPr>
        <p:spPr bwMode="auto">
          <a:xfrm>
            <a:off x="3276600" y="3810000"/>
            <a:ext cx="27432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1511" name="TextBox 22"/>
          <p:cNvSpPr txBox="1">
            <a:spLocks noChangeArrowheads="1"/>
          </p:cNvSpPr>
          <p:nvPr/>
        </p:nvSpPr>
        <p:spPr bwMode="auto">
          <a:xfrm>
            <a:off x="3505200" y="2800350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T2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21512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21513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1514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21515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1516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21517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T2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21518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1519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21520" name="Rectangle 25"/>
          <p:cNvSpPr>
            <a:spLocks noChangeArrowheads="1"/>
          </p:cNvSpPr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1521" name="Rounded Rectangular Callout 26"/>
          <p:cNvSpPr>
            <a:spLocks noChangeArrowheads="1"/>
          </p:cNvSpPr>
          <p:nvPr/>
        </p:nvSpPr>
        <p:spPr bwMode="auto">
          <a:xfrm>
            <a:off x="1524000" y="1219200"/>
            <a:ext cx="990600" cy="609600"/>
          </a:xfrm>
          <a:prstGeom prst="wedgeRoundRectCallout">
            <a:avLst>
              <a:gd name="adj1" fmla="val -96472"/>
              <a:gd name="adj2" fmla="val 66667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2000" b="0">
                <a:latin typeface="Helvetica" charset="0"/>
                <a:cs typeface="Helvetica" charset="0"/>
              </a:rPr>
              <a:t>add</a:t>
            </a:r>
          </a:p>
          <a:p>
            <a:pPr algn="ctr"/>
            <a:r>
              <a:rPr lang="en-US" sz="2000" b="0">
                <a:latin typeface="Helvetica" charset="0"/>
                <a:cs typeface="Helvetica" charset="0"/>
              </a:rPr>
              <a:t>item</a:t>
            </a:r>
          </a:p>
        </p:txBody>
      </p:sp>
      <p:sp>
        <p:nvSpPr>
          <p:cNvPr id="21522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21523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BUSY (T2)</a:t>
            </a:r>
          </a:p>
        </p:txBody>
      </p:sp>
      <p:sp>
        <p:nvSpPr>
          <p:cNvPr id="21524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21525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1526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T1</a:t>
            </a:r>
          </a:p>
        </p:txBody>
      </p:sp>
    </p:spTree>
    <p:extLst>
      <p:ext uri="{BB962C8B-B14F-4D97-AF65-F5344CB8AC3E}">
        <p14:creationId xmlns:p14="http://schemas.microsoft.com/office/powerpoint/2010/main" val="963585092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23555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Ready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23556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3276600" y="3200400"/>
            <a:ext cx="2743200" cy="2032000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el narrow" charset="0"/>
                <a:cs typeface="Ariel narrow" charset="0"/>
              </a:rPr>
              <a:t>AddToQueue(item) {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lock.Acquire();</a:t>
            </a:r>
          </a:p>
          <a:p>
            <a:r>
              <a:rPr lang="en-US" altLang="ko-KR" sz="1800">
                <a:latin typeface="Ariel narrow" charset="0"/>
                <a:cs typeface="Ariel narrow" charset="0"/>
              </a:rPr>
              <a:t>  queue.enqueue(item); 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</a:t>
            </a:r>
            <a: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  <a:t>dataready.signal(); </a:t>
            </a:r>
            <a:b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lock.Release();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}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endParaRPr lang="en-US" altLang="ko-KR" sz="1800">
              <a:latin typeface="Ariel narrow" charset="0"/>
              <a:cs typeface="Ariel narrow" charset="0"/>
            </a:endParaRPr>
          </a:p>
        </p:txBody>
      </p:sp>
      <p:sp>
        <p:nvSpPr>
          <p:cNvPr id="23558" name="Rectangle 18"/>
          <p:cNvSpPr>
            <a:spLocks noChangeArrowheads="1"/>
          </p:cNvSpPr>
          <p:nvPr/>
        </p:nvSpPr>
        <p:spPr bwMode="auto">
          <a:xfrm>
            <a:off x="3276600" y="4038600"/>
            <a:ext cx="27432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3559" name="TextBox 22"/>
          <p:cNvSpPr txBox="1">
            <a:spLocks noChangeArrowheads="1"/>
          </p:cNvSpPr>
          <p:nvPr/>
        </p:nvSpPr>
        <p:spPr bwMode="auto">
          <a:xfrm>
            <a:off x="3505200" y="2800350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T2 (Running)</a:t>
            </a:r>
          </a:p>
        </p:txBody>
      </p:sp>
      <p:sp>
        <p:nvSpPr>
          <p:cNvPr id="23560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23561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3562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23563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3564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23565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577975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T2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  <a:sym typeface="Wingdings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23566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3567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23568" name="Rectangle 25"/>
          <p:cNvSpPr>
            <a:spLocks noChangeArrowheads="1"/>
          </p:cNvSpPr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3569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23570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BUSY (T2)</a:t>
            </a:r>
          </a:p>
        </p:txBody>
      </p:sp>
      <p:sp>
        <p:nvSpPr>
          <p:cNvPr id="23571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23572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573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29" name="Rounded Rectangular Callout 28"/>
          <p:cNvSpPr>
            <a:spLocks noChangeArrowheads="1"/>
          </p:cNvSpPr>
          <p:nvPr/>
        </p:nvSpPr>
        <p:spPr bwMode="auto">
          <a:xfrm>
            <a:off x="5638800" y="2971800"/>
            <a:ext cx="3200400" cy="1143000"/>
          </a:xfrm>
          <a:prstGeom prst="wedgeRoundRectCallout">
            <a:avLst>
              <a:gd name="adj1" fmla="val 5356"/>
              <a:gd name="adj2" fmla="val -124343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b="0">
                <a:latin typeface="Helvetica" charset="0"/>
                <a:cs typeface="Helvetica" charset="0"/>
              </a:rPr>
              <a:t>signal() wakes up T1 and moves it on ready queue</a:t>
            </a:r>
          </a:p>
        </p:txBody>
      </p:sp>
    </p:spTree>
    <p:extLst>
      <p:ext uri="{BB962C8B-B14F-4D97-AF65-F5344CB8AC3E}">
        <p14:creationId xmlns:p14="http://schemas.microsoft.com/office/powerpoint/2010/main" val="2538622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25603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(Ready)</a:t>
            </a:r>
          </a:p>
        </p:txBody>
      </p:sp>
      <p:sp>
        <p:nvSpPr>
          <p:cNvPr id="25604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5605" name="Rectangle 3"/>
          <p:cNvSpPr>
            <a:spLocks noChangeArrowheads="1"/>
          </p:cNvSpPr>
          <p:nvPr/>
        </p:nvSpPr>
        <p:spPr bwMode="auto">
          <a:xfrm>
            <a:off x="3276600" y="3200400"/>
            <a:ext cx="2743200" cy="2032000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el narrow" charset="0"/>
                <a:cs typeface="Ariel narrow" charset="0"/>
              </a:rPr>
              <a:t>AddToQueue(item) {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lock.Acquire();</a:t>
            </a:r>
          </a:p>
          <a:p>
            <a:r>
              <a:rPr lang="en-US" altLang="ko-KR" sz="1800">
                <a:latin typeface="Ariel narrow" charset="0"/>
                <a:cs typeface="Ariel narrow" charset="0"/>
              </a:rPr>
              <a:t>  queue.enqueue(item); 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</a:t>
            </a:r>
            <a: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  <a:t>dataready.signal(); </a:t>
            </a:r>
            <a:b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lock.Release();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}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endParaRPr lang="en-US" altLang="ko-KR" sz="1800">
              <a:latin typeface="Ariel narrow" charset="0"/>
              <a:cs typeface="Ariel narrow" charset="0"/>
            </a:endParaRPr>
          </a:p>
        </p:txBody>
      </p:sp>
      <p:sp>
        <p:nvSpPr>
          <p:cNvPr id="25606" name="Rectangle 18"/>
          <p:cNvSpPr>
            <a:spLocks noChangeArrowheads="1"/>
          </p:cNvSpPr>
          <p:nvPr/>
        </p:nvSpPr>
        <p:spPr bwMode="auto">
          <a:xfrm>
            <a:off x="3276600" y="4038600"/>
            <a:ext cx="27432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5607" name="TextBox 22"/>
          <p:cNvSpPr txBox="1">
            <a:spLocks noChangeArrowheads="1"/>
          </p:cNvSpPr>
          <p:nvPr/>
        </p:nvSpPr>
        <p:spPr bwMode="auto">
          <a:xfrm>
            <a:off x="3505200" y="2800350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T2 (Running)</a:t>
            </a:r>
          </a:p>
        </p:txBody>
      </p:sp>
      <p:sp>
        <p:nvSpPr>
          <p:cNvPr id="25608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25609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5610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25611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5612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25613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20240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T2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  <a:sym typeface="Wingdings" charset="0"/>
              </a:rPr>
              <a:t>T1,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  <a:sym typeface="Wingdings" charset="0"/>
              </a:rPr>
              <a:t> T3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25614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5615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25616" name="Rectangle 25"/>
          <p:cNvSpPr>
            <a:spLocks noChangeArrowheads="1"/>
          </p:cNvSpPr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5617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25618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latin typeface="Helvetica" charset="0"/>
                <a:cs typeface="Helvetica" charset="0"/>
              </a:rPr>
              <a:t>BUSY (T2)</a:t>
            </a:r>
          </a:p>
        </p:txBody>
      </p:sp>
      <p:sp>
        <p:nvSpPr>
          <p:cNvPr id="25619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25620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5621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6324600" y="3219450"/>
            <a:ext cx="2514600" cy="25860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25623" name="TextBox 28"/>
          <p:cNvSpPr txBox="1">
            <a:spLocks noChangeArrowheads="1"/>
          </p:cNvSpPr>
          <p:nvPr/>
        </p:nvSpPr>
        <p:spPr bwMode="auto">
          <a:xfrm>
            <a:off x="6781800" y="281940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T3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Ready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25624" name="Rectangle 29"/>
          <p:cNvSpPr>
            <a:spLocks noChangeArrowheads="1"/>
          </p:cNvSpPr>
          <p:nvPr/>
        </p:nvSpPr>
        <p:spPr bwMode="auto">
          <a:xfrm>
            <a:off x="6324600" y="32766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632998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27651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(Ready)</a:t>
            </a:r>
          </a:p>
        </p:txBody>
      </p:sp>
      <p:sp>
        <p:nvSpPr>
          <p:cNvPr id="27652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6629" name="Rectangle 3"/>
          <p:cNvSpPr>
            <a:spLocks noChangeArrowheads="1"/>
          </p:cNvSpPr>
          <p:nvPr/>
        </p:nvSpPr>
        <p:spPr bwMode="auto">
          <a:xfrm>
            <a:off x="3276600" y="3200400"/>
            <a:ext cx="2743200" cy="20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>
                <a:latin typeface="Ariel narrow" charset="0"/>
                <a:cs typeface="Ariel narrow" charset="0"/>
              </a:rPr>
              <a:t>AddToQueue(item) {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lock.Acquire();</a:t>
            </a:r>
          </a:p>
          <a:p>
            <a:pPr>
              <a:defRPr/>
            </a:pPr>
            <a:r>
              <a:rPr lang="en-US" altLang="ko-KR" sz="1800">
                <a:latin typeface="Ariel narrow" charset="0"/>
                <a:cs typeface="Ariel narrow" charset="0"/>
              </a:rPr>
              <a:t>  queue.enqueue(item); 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</a:t>
            </a:r>
            <a: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  <a:t>dataready.signal(); </a:t>
            </a:r>
            <a:br>
              <a:rPr lang="en-US" altLang="ko-KR" sz="1800">
                <a:solidFill>
                  <a:srgbClr val="000000"/>
                </a:solidFill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  lock.Release();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r>
              <a:rPr lang="en-US" altLang="ko-KR" sz="1800">
                <a:latin typeface="Ariel narrow" charset="0"/>
                <a:cs typeface="Ariel narrow" charset="0"/>
              </a:rPr>
              <a:t>}</a:t>
            </a:r>
            <a:br>
              <a:rPr lang="en-US" altLang="ko-KR" sz="1800">
                <a:latin typeface="Ariel narrow" charset="0"/>
                <a:cs typeface="Ariel narrow" charset="0"/>
              </a:rPr>
            </a:br>
            <a:endParaRPr lang="en-US" altLang="ko-KR" sz="1800">
              <a:latin typeface="Ariel narrow" charset="0"/>
              <a:cs typeface="Ariel narrow" charset="0"/>
            </a:endParaRPr>
          </a:p>
        </p:txBody>
      </p:sp>
      <p:sp>
        <p:nvSpPr>
          <p:cNvPr id="27654" name="Rectangle 18"/>
          <p:cNvSpPr>
            <a:spLocks noChangeArrowheads="1"/>
          </p:cNvSpPr>
          <p:nvPr/>
        </p:nvSpPr>
        <p:spPr bwMode="auto">
          <a:xfrm>
            <a:off x="3276600" y="4648200"/>
            <a:ext cx="2743200" cy="304800"/>
          </a:xfrm>
          <a:prstGeom prst="rect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7655" name="TextBox 22"/>
          <p:cNvSpPr txBox="1">
            <a:spLocks noChangeArrowheads="1"/>
          </p:cNvSpPr>
          <p:nvPr/>
        </p:nvSpPr>
        <p:spPr bwMode="auto">
          <a:xfrm>
            <a:off x="3505200" y="2800350"/>
            <a:ext cx="1852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T2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Terminate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27656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27657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7658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27659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7660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27661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20240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  <a:sym typeface="Wingdings" charset="0"/>
              </a:rPr>
              <a:t>T1, T3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27662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7663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27664" name="Rectangle 25"/>
          <p:cNvSpPr>
            <a:spLocks noChangeArrowheads="1"/>
          </p:cNvSpPr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7665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27666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FREE</a:t>
            </a:r>
          </a:p>
        </p:txBody>
      </p:sp>
      <p:sp>
        <p:nvSpPr>
          <p:cNvPr id="27667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27668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7669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27" name="Rectangle 3"/>
          <p:cNvSpPr>
            <a:spLocks noChangeArrowheads="1"/>
          </p:cNvSpPr>
          <p:nvPr/>
        </p:nvSpPr>
        <p:spPr bwMode="auto">
          <a:xfrm>
            <a:off x="6324600" y="3219450"/>
            <a:ext cx="2514600" cy="25860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27671" name="TextBox 28"/>
          <p:cNvSpPr txBox="1">
            <a:spLocks noChangeArrowheads="1"/>
          </p:cNvSpPr>
          <p:nvPr/>
        </p:nvSpPr>
        <p:spPr bwMode="auto">
          <a:xfrm>
            <a:off x="6781800" y="2819400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T3 (Ready)</a:t>
            </a:r>
          </a:p>
        </p:txBody>
      </p:sp>
      <p:sp>
        <p:nvSpPr>
          <p:cNvPr id="27672" name="Rectangle 29"/>
          <p:cNvSpPr>
            <a:spLocks noChangeArrowheads="1"/>
          </p:cNvSpPr>
          <p:nvPr/>
        </p:nvSpPr>
        <p:spPr bwMode="auto">
          <a:xfrm>
            <a:off x="6324600" y="32766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49511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29699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(Ready)</a:t>
            </a:r>
          </a:p>
        </p:txBody>
      </p:sp>
      <p:sp>
        <p:nvSpPr>
          <p:cNvPr id="29700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9701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29702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9703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29704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9705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29706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585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T3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  <a:sym typeface="Wingdings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29707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29708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29709" name="Rectangle 25"/>
          <p:cNvSpPr>
            <a:spLocks noChangeArrowheads="1"/>
          </p:cNvSpPr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9710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29711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FREE</a:t>
            </a:r>
          </a:p>
        </p:txBody>
      </p:sp>
      <p:sp>
        <p:nvSpPr>
          <p:cNvPr id="29712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29713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9714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29715" name="Rectangle 3"/>
          <p:cNvSpPr>
            <a:spLocks noChangeArrowheads="1"/>
          </p:cNvSpPr>
          <p:nvPr/>
        </p:nvSpPr>
        <p:spPr bwMode="auto">
          <a:xfrm>
            <a:off x="6324600" y="3219450"/>
            <a:ext cx="2514600" cy="2586038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29716" name="TextBox 28"/>
          <p:cNvSpPr txBox="1">
            <a:spLocks noChangeArrowheads="1"/>
          </p:cNvSpPr>
          <p:nvPr/>
        </p:nvSpPr>
        <p:spPr bwMode="auto">
          <a:xfrm>
            <a:off x="6781800" y="2819400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T3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29717" name="Rectangle 29"/>
          <p:cNvSpPr>
            <a:spLocks noChangeArrowheads="1"/>
          </p:cNvSpPr>
          <p:nvPr/>
        </p:nvSpPr>
        <p:spPr bwMode="auto">
          <a:xfrm>
            <a:off x="6324600" y="32766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3" name="Rounded Rectangular Callout 22"/>
          <p:cNvSpPr>
            <a:spLocks noChangeArrowheads="1"/>
          </p:cNvSpPr>
          <p:nvPr/>
        </p:nvSpPr>
        <p:spPr bwMode="auto">
          <a:xfrm>
            <a:off x="6324600" y="2209800"/>
            <a:ext cx="2743200" cy="685800"/>
          </a:xfrm>
          <a:prstGeom prst="wedgeRoundRectCallout">
            <a:avLst>
              <a:gd name="adj1" fmla="val 856"/>
              <a:gd name="adj2" fmla="val -155824"/>
              <a:gd name="adj3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b="0">
                <a:latin typeface="Helvetica" charset="0"/>
                <a:cs typeface="Helvetica" charset="0"/>
              </a:rPr>
              <a:t>T3 scheduled first!</a:t>
            </a:r>
          </a:p>
        </p:txBody>
      </p:sp>
    </p:spTree>
    <p:extLst>
      <p:ext uri="{BB962C8B-B14F-4D97-AF65-F5344CB8AC3E}">
        <p14:creationId xmlns:p14="http://schemas.microsoft.com/office/powerpoint/2010/main" val="1194805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31747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(Ready)</a:t>
            </a:r>
          </a:p>
        </p:txBody>
      </p:sp>
      <p:sp>
        <p:nvSpPr>
          <p:cNvPr id="31748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1749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31750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1751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31752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1753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31754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585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T3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  <a:sym typeface="Wingdings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31755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1756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31757" name="Rectangle 25"/>
          <p:cNvSpPr>
            <a:spLocks noChangeArrowheads="1"/>
          </p:cNvSpPr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1758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31759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BUSY (T3)</a:t>
            </a:r>
          </a:p>
        </p:txBody>
      </p:sp>
      <p:sp>
        <p:nvSpPr>
          <p:cNvPr id="31760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31761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1762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31763" name="Rectangle 3"/>
          <p:cNvSpPr>
            <a:spLocks noChangeArrowheads="1"/>
          </p:cNvSpPr>
          <p:nvPr/>
        </p:nvSpPr>
        <p:spPr bwMode="auto">
          <a:xfrm>
            <a:off x="6324600" y="3219450"/>
            <a:ext cx="2514600" cy="2586038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31764" name="TextBox 28"/>
          <p:cNvSpPr txBox="1">
            <a:spLocks noChangeArrowheads="1"/>
          </p:cNvSpPr>
          <p:nvPr/>
        </p:nvSpPr>
        <p:spPr bwMode="auto">
          <a:xfrm>
            <a:off x="6781800" y="2819400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T3 (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</a:rPr>
              <a:t>Running)</a:t>
            </a:r>
          </a:p>
        </p:txBody>
      </p:sp>
      <p:sp>
        <p:nvSpPr>
          <p:cNvPr id="31765" name="Rectangle 29"/>
          <p:cNvSpPr>
            <a:spLocks noChangeArrowheads="1"/>
          </p:cNvSpPr>
          <p:nvPr/>
        </p:nvSpPr>
        <p:spPr bwMode="auto">
          <a:xfrm>
            <a:off x="6324600" y="38100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7975545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33795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(Ready)</a:t>
            </a:r>
          </a:p>
        </p:txBody>
      </p:sp>
      <p:sp>
        <p:nvSpPr>
          <p:cNvPr id="33796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3797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33798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3799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33800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3801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33802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585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T3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  <a:sym typeface="Wingdings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33803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3804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685800" y="1600200"/>
            <a:ext cx="457200" cy="457200"/>
          </a:xfrm>
          <a:prstGeom prst="rect">
            <a:avLst/>
          </a:prstGeom>
          <a:solidFill>
            <a:srgbClr val="FFFFAA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3806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33807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BUSY (T3)</a:t>
            </a:r>
          </a:p>
        </p:txBody>
      </p:sp>
      <p:sp>
        <p:nvSpPr>
          <p:cNvPr id="33808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33809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3810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33811" name="Rectangle 3"/>
          <p:cNvSpPr>
            <a:spLocks noChangeArrowheads="1"/>
          </p:cNvSpPr>
          <p:nvPr/>
        </p:nvSpPr>
        <p:spPr bwMode="auto">
          <a:xfrm>
            <a:off x="6324600" y="3219450"/>
            <a:ext cx="2514600" cy="2586038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33812" name="TextBox 28"/>
          <p:cNvSpPr txBox="1">
            <a:spLocks noChangeArrowheads="1"/>
          </p:cNvSpPr>
          <p:nvPr/>
        </p:nvSpPr>
        <p:spPr bwMode="auto">
          <a:xfrm>
            <a:off x="6781800" y="2819400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T3 (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</a:rPr>
              <a:t>Running)</a:t>
            </a:r>
          </a:p>
        </p:txBody>
      </p:sp>
      <p:sp>
        <p:nvSpPr>
          <p:cNvPr id="33813" name="Rectangle 29"/>
          <p:cNvSpPr>
            <a:spLocks noChangeArrowheads="1"/>
          </p:cNvSpPr>
          <p:nvPr/>
        </p:nvSpPr>
        <p:spPr bwMode="auto">
          <a:xfrm>
            <a:off x="6324600" y="46482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23" name="Rounded Rectangular Callout 22"/>
          <p:cNvSpPr>
            <a:spLocks noChangeArrowheads="1"/>
          </p:cNvSpPr>
          <p:nvPr/>
        </p:nvSpPr>
        <p:spPr bwMode="auto">
          <a:xfrm>
            <a:off x="1524000" y="1219200"/>
            <a:ext cx="1219200" cy="609600"/>
          </a:xfrm>
          <a:prstGeom prst="wedgeRoundRectCallout">
            <a:avLst>
              <a:gd name="adj1" fmla="val -96472"/>
              <a:gd name="adj2" fmla="val 66667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pPr algn="ctr"/>
            <a:r>
              <a:rPr lang="en-US" sz="2000" b="0">
                <a:latin typeface="Helvetica" charset="0"/>
                <a:cs typeface="Helvetica" charset="0"/>
              </a:rPr>
              <a:t>remove</a:t>
            </a:r>
          </a:p>
          <a:p>
            <a:pPr algn="ctr"/>
            <a:r>
              <a:rPr lang="en-US" sz="2000" b="0">
                <a:latin typeface="Helvetica" charset="0"/>
                <a:cs typeface="Helvetica" charset="0"/>
              </a:rPr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3708515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if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35843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(Ready)</a:t>
            </a:r>
          </a:p>
        </p:txBody>
      </p:sp>
      <p:sp>
        <p:nvSpPr>
          <p:cNvPr id="35844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5845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35846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5847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35848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5849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35850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5859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  <a:sym typeface="Wingdings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35851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5852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35853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35854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FREE</a:t>
            </a:r>
          </a:p>
        </p:txBody>
      </p:sp>
      <p:sp>
        <p:nvSpPr>
          <p:cNvPr id="35855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35856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5857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35858" name="Rectangle 3"/>
          <p:cNvSpPr>
            <a:spLocks noChangeArrowheads="1"/>
          </p:cNvSpPr>
          <p:nvPr/>
        </p:nvSpPr>
        <p:spPr bwMode="auto">
          <a:xfrm>
            <a:off x="6324600" y="3219450"/>
            <a:ext cx="2514600" cy="2586038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35859" name="TextBox 28"/>
          <p:cNvSpPr txBox="1">
            <a:spLocks noChangeArrowheads="1"/>
          </p:cNvSpPr>
          <p:nvPr/>
        </p:nvSpPr>
        <p:spPr bwMode="auto">
          <a:xfrm>
            <a:off x="6781800" y="2819400"/>
            <a:ext cx="1695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T3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Finished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35860" name="Rectangle 29"/>
          <p:cNvSpPr>
            <a:spLocks noChangeArrowheads="1"/>
          </p:cNvSpPr>
          <p:nvPr/>
        </p:nvSpPr>
        <p:spPr bwMode="auto">
          <a:xfrm>
            <a:off x="6324600" y="5486400"/>
            <a:ext cx="2514600" cy="304800"/>
          </a:xfrm>
          <a:prstGeom prst="rect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56111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37890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37891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37892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7893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37894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7895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37896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7897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37898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  <a:endParaRPr lang="en-US" sz="2000" b="0">
              <a:solidFill>
                <a:srgbClr val="000000"/>
              </a:solidFill>
              <a:latin typeface="Helvetica" charset="0"/>
              <a:cs typeface="Helvetica" charset="0"/>
              <a:sym typeface="Wingdings" charset="0"/>
            </a:endParaRP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37899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7900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37901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37902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BUSY (T1)</a:t>
            </a:r>
          </a:p>
        </p:txBody>
      </p:sp>
      <p:sp>
        <p:nvSpPr>
          <p:cNvPr id="37903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37904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7905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3690240574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39938" name="Rectangle 3"/>
          <p:cNvSpPr>
            <a:spLocks noChangeArrowheads="1"/>
          </p:cNvSpPr>
          <p:nvPr/>
        </p:nvSpPr>
        <p:spPr bwMode="auto">
          <a:xfrm>
            <a:off x="457200" y="3205163"/>
            <a:ext cx="2514600" cy="2586037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if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39939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39940" name="Rectangle 1"/>
          <p:cNvSpPr>
            <a:spLocks noChangeArrowheads="1"/>
          </p:cNvSpPr>
          <p:nvPr/>
        </p:nvSpPr>
        <p:spPr bwMode="auto">
          <a:xfrm>
            <a:off x="457200" y="46482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9941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39942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9943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39944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39945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39946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</a:rPr>
              <a:t>: 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  <a:endParaRPr lang="en-US" sz="2000" b="0">
              <a:solidFill>
                <a:srgbClr val="000000"/>
              </a:solidFill>
              <a:latin typeface="Helvetica" charset="0"/>
              <a:cs typeface="Helvetica" charset="0"/>
              <a:sym typeface="Wingdings" charset="0"/>
            </a:endParaRP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39947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39948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39949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39950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latin typeface="Helvetica" charset="0"/>
                <a:cs typeface="Helvetica" charset="0"/>
              </a:rPr>
              <a:t>BUSY (T1)</a:t>
            </a:r>
          </a:p>
        </p:txBody>
      </p:sp>
      <p:sp>
        <p:nvSpPr>
          <p:cNvPr id="39951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39952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39953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3" name="Rounded Rectangular Callout 2"/>
          <p:cNvSpPr>
            <a:spLocks noChangeArrowheads="1"/>
          </p:cNvSpPr>
          <p:nvPr/>
        </p:nvSpPr>
        <p:spPr bwMode="auto">
          <a:xfrm>
            <a:off x="3657600" y="4724400"/>
            <a:ext cx="1752600" cy="1143000"/>
          </a:xfrm>
          <a:prstGeom prst="wedgeRoundRectCallout">
            <a:avLst>
              <a:gd name="adj1" fmla="val -86773"/>
              <a:gd name="adj2" fmla="val -44875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b="0">
                <a:latin typeface="Helvetica" charset="0"/>
                <a:cs typeface="Helvetica" charset="0"/>
              </a:rPr>
              <a:t>ERROR: Nothing in the queue! </a:t>
            </a:r>
          </a:p>
        </p:txBody>
      </p:sp>
    </p:spTree>
    <p:extLst>
      <p:ext uri="{BB962C8B-B14F-4D97-AF65-F5344CB8AC3E}">
        <p14:creationId xmlns:p14="http://schemas.microsoft.com/office/powerpoint/2010/main" val="1002929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457200" y="3205163"/>
            <a:ext cx="2743200" cy="2586037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ko-KR" sz="1800">
                <a:latin typeface="Arial Narrow" charset="0"/>
                <a:cs typeface="Arial Narrow" charset="0"/>
              </a:rPr>
              <a:t>RemoveFromQueue() {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lock.Acquire();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</a:t>
            </a:r>
            <a:r>
              <a:rPr lang="en-US" altLang="ko-KR" sz="1800" u="sng">
                <a:latin typeface="Arial Narrow" charset="0"/>
                <a:cs typeface="Arial Narrow" charset="0"/>
              </a:rPr>
              <a:t>while</a:t>
            </a:r>
            <a:r>
              <a:rPr lang="en-US" altLang="ko-KR" sz="1800">
                <a:latin typeface="Arial Narrow" charset="0"/>
                <a:cs typeface="Arial Narrow" charset="0"/>
              </a:rPr>
              <a:t> (queue.isEmpty()) {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  dataready.wait(&amp;lock); 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}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item = queue.dequeue(); </a:t>
            </a:r>
            <a:br>
              <a:rPr lang="en-US" altLang="ko-KR" sz="1800">
                <a:latin typeface="Arial Narrow" charset="0"/>
                <a:cs typeface="Arial Narrow" charset="0"/>
              </a:rPr>
            </a:br>
            <a:r>
              <a:rPr lang="en-US" altLang="ko-KR" sz="1800">
                <a:latin typeface="Arial Narrow" charset="0"/>
                <a:cs typeface="Arial Narrow" charset="0"/>
              </a:rPr>
              <a:t>  lock.Release();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41987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681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Running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41988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1989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41990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1991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41992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1993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41994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  <a:endParaRPr lang="en-US" sz="2000" b="0">
              <a:solidFill>
                <a:srgbClr val="000000"/>
              </a:solidFill>
              <a:latin typeface="Helvetica" charset="0"/>
              <a:cs typeface="Helvetica" charset="0"/>
              <a:sym typeface="Wingdings" charset="0"/>
            </a:endParaRP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41995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1996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41997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41998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BUSY (T1)</a:t>
            </a:r>
          </a:p>
        </p:txBody>
      </p:sp>
      <p:sp>
        <p:nvSpPr>
          <p:cNvPr id="41999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42000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2001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19" name="Rounded Rectangular Callout 18"/>
          <p:cNvSpPr>
            <a:spLocks noChangeArrowheads="1"/>
          </p:cNvSpPr>
          <p:nvPr/>
        </p:nvSpPr>
        <p:spPr bwMode="auto">
          <a:xfrm>
            <a:off x="1600200" y="4648200"/>
            <a:ext cx="1447800" cy="1143000"/>
          </a:xfrm>
          <a:prstGeom prst="wedgeRoundRectCallout">
            <a:avLst>
              <a:gd name="adj1" fmla="val -86773"/>
              <a:gd name="adj2" fmla="val -99319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b="0">
                <a:latin typeface="Helvetica" charset="0"/>
                <a:cs typeface="Helvetica" charset="0"/>
              </a:rPr>
              <a:t>Replace “if” with “while”</a:t>
            </a:r>
          </a:p>
        </p:txBody>
      </p:sp>
    </p:spTree>
    <p:extLst>
      <p:ext uri="{BB962C8B-B14F-4D97-AF65-F5344CB8AC3E}">
        <p14:creationId xmlns:p14="http://schemas.microsoft.com/office/powerpoint/2010/main" val="16148044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457200" y="3205163"/>
            <a:ext cx="2590800" cy="2586037"/>
          </a:xfrm>
          <a:prstGeom prst="rect">
            <a:avLst/>
          </a:prstGeom>
          <a:solidFill>
            <a:srgbClr val="FFCA2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ko-KR" sz="1800" dirty="0" err="1">
                <a:latin typeface="Arial Narrow" charset="0"/>
                <a:cs typeface="Arial Narrow" charset="0"/>
              </a:rPr>
              <a:t>RemoveFromQueue</a:t>
            </a:r>
            <a:r>
              <a:rPr lang="en-US" altLang="ko-KR" sz="1800" dirty="0">
                <a:latin typeface="Arial Narrow" charset="0"/>
                <a:cs typeface="Arial Narrow" charset="0"/>
              </a:rPr>
              <a:t>() {</a:t>
            </a:r>
            <a:br>
              <a:rPr lang="en-US" altLang="ko-KR" sz="1800" dirty="0">
                <a:latin typeface="Arial Narrow" charset="0"/>
                <a:cs typeface="Arial Narrow" charset="0"/>
              </a:rPr>
            </a:br>
            <a:r>
              <a:rPr lang="en-US" altLang="ko-KR" sz="1800" dirty="0">
                <a:latin typeface="Arial Narrow" charset="0"/>
                <a:cs typeface="Arial Narrow" charset="0"/>
              </a:rPr>
              <a:t>  </a:t>
            </a:r>
            <a:r>
              <a:rPr lang="en-US" altLang="ko-KR" sz="1800" dirty="0" err="1">
                <a:latin typeface="Arial Narrow" charset="0"/>
                <a:cs typeface="Arial Narrow" charset="0"/>
              </a:rPr>
              <a:t>lock.Acquire</a:t>
            </a:r>
            <a:r>
              <a:rPr lang="en-US" altLang="ko-KR" sz="1800" dirty="0">
                <a:latin typeface="Arial Narrow" charset="0"/>
                <a:cs typeface="Arial Narrow" charset="0"/>
              </a:rPr>
              <a:t>(); </a:t>
            </a:r>
            <a:br>
              <a:rPr lang="en-US" altLang="ko-KR" sz="1800" dirty="0">
                <a:latin typeface="Arial Narrow" charset="0"/>
                <a:cs typeface="Arial Narrow" charset="0"/>
              </a:rPr>
            </a:br>
            <a:r>
              <a:rPr lang="en-US" altLang="ko-KR" sz="1800" dirty="0">
                <a:latin typeface="Arial Narrow" charset="0"/>
                <a:cs typeface="Arial Narrow" charset="0"/>
              </a:rPr>
              <a:t>  while (</a:t>
            </a:r>
            <a:r>
              <a:rPr lang="en-US" altLang="ko-KR" sz="1800" dirty="0" err="1">
                <a:latin typeface="Arial Narrow" charset="0"/>
                <a:cs typeface="Arial Narrow" charset="0"/>
              </a:rPr>
              <a:t>queue.isEmpty</a:t>
            </a:r>
            <a:r>
              <a:rPr lang="en-US" altLang="ko-KR" sz="1800" dirty="0">
                <a:latin typeface="Arial Narrow" charset="0"/>
                <a:cs typeface="Arial Narrow" charset="0"/>
              </a:rPr>
              <a:t>()) {</a:t>
            </a:r>
          </a:p>
          <a:p>
            <a:r>
              <a:rPr lang="en-US" altLang="ko-KR" sz="1800" dirty="0">
                <a:latin typeface="Arial Narrow" charset="0"/>
                <a:cs typeface="Arial Narrow" charset="0"/>
              </a:rPr>
              <a:t>    </a:t>
            </a:r>
            <a:r>
              <a:rPr lang="en-US" altLang="ko-KR" sz="1800" dirty="0" err="1">
                <a:latin typeface="Arial Narrow" charset="0"/>
                <a:cs typeface="Arial Narrow" charset="0"/>
              </a:rPr>
              <a:t>dataready.wait</a:t>
            </a:r>
            <a:r>
              <a:rPr lang="en-US" altLang="ko-KR" sz="1800" dirty="0">
                <a:latin typeface="Arial Narrow" charset="0"/>
                <a:cs typeface="Arial Narrow" charset="0"/>
              </a:rPr>
              <a:t>(&amp;lock); </a:t>
            </a:r>
          </a:p>
          <a:p>
            <a:r>
              <a:rPr lang="en-US" altLang="ko-KR" sz="1800" dirty="0">
                <a:latin typeface="Arial Narrow" charset="0"/>
                <a:cs typeface="Arial Narrow" charset="0"/>
              </a:rPr>
              <a:t>  }</a:t>
            </a:r>
            <a:br>
              <a:rPr lang="en-US" altLang="ko-KR" sz="1800" dirty="0">
                <a:latin typeface="Arial Narrow" charset="0"/>
                <a:cs typeface="Arial Narrow" charset="0"/>
              </a:rPr>
            </a:br>
            <a:r>
              <a:rPr lang="en-US" altLang="ko-KR" sz="1800" dirty="0">
                <a:latin typeface="Arial Narrow" charset="0"/>
                <a:cs typeface="Arial Narrow" charset="0"/>
              </a:rPr>
              <a:t>  item = </a:t>
            </a:r>
            <a:r>
              <a:rPr lang="en-US" altLang="ko-KR" sz="1800" dirty="0" err="1">
                <a:latin typeface="Arial Narrow" charset="0"/>
                <a:cs typeface="Arial Narrow" charset="0"/>
              </a:rPr>
              <a:t>queue.dequeue</a:t>
            </a:r>
            <a:r>
              <a:rPr lang="en-US" altLang="ko-KR" sz="1800" dirty="0">
                <a:latin typeface="Arial Narrow" charset="0"/>
                <a:cs typeface="Arial Narrow" charset="0"/>
              </a:rPr>
              <a:t>(); </a:t>
            </a:r>
            <a:br>
              <a:rPr lang="en-US" altLang="ko-KR" sz="1800" dirty="0">
                <a:latin typeface="Arial Narrow" charset="0"/>
                <a:cs typeface="Arial Narrow" charset="0"/>
              </a:rPr>
            </a:br>
            <a:r>
              <a:rPr lang="en-US" altLang="ko-KR" sz="1800" dirty="0">
                <a:latin typeface="Arial Narrow" charset="0"/>
                <a:cs typeface="Arial Narrow" charset="0"/>
              </a:rPr>
              <a:t>  </a:t>
            </a:r>
            <a:r>
              <a:rPr lang="en-US" altLang="ko-KR" sz="1800" dirty="0" err="1">
                <a:latin typeface="Arial Narrow" charset="0"/>
                <a:cs typeface="Arial Narrow" charset="0"/>
              </a:rPr>
              <a:t>lock.Release</a:t>
            </a:r>
            <a:r>
              <a:rPr lang="en-US" altLang="ko-KR" sz="1800" dirty="0">
                <a:latin typeface="Arial Narrow" charset="0"/>
                <a:cs typeface="Arial Narrow" charset="0"/>
              </a:rPr>
              <a:t>();</a:t>
            </a:r>
          </a:p>
          <a:p>
            <a:r>
              <a:rPr lang="en-US" altLang="ko-KR" sz="1800" dirty="0">
                <a:latin typeface="Arial Narrow" charset="0"/>
                <a:cs typeface="Arial Narrow" charset="0"/>
              </a:rPr>
              <a:t>  return(item);</a:t>
            </a:r>
          </a:p>
          <a:p>
            <a:r>
              <a:rPr lang="en-US" altLang="ko-KR" sz="1800" dirty="0">
                <a:latin typeface="Arial Narrow" charset="0"/>
                <a:cs typeface="Arial Narrow" charset="0"/>
              </a:rPr>
              <a:t>}</a:t>
            </a:r>
          </a:p>
        </p:txBody>
      </p:sp>
      <p:sp>
        <p:nvSpPr>
          <p:cNvPr id="44035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(Ready)</a:t>
            </a:r>
          </a:p>
        </p:txBody>
      </p:sp>
      <p:sp>
        <p:nvSpPr>
          <p:cNvPr id="44036" name="Rectangle 1"/>
          <p:cNvSpPr>
            <a:spLocks noChangeArrowheads="1"/>
          </p:cNvSpPr>
          <p:nvPr/>
        </p:nvSpPr>
        <p:spPr bwMode="auto">
          <a:xfrm>
            <a:off x="457200" y="3810000"/>
            <a:ext cx="2514600" cy="3048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4037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44038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4039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44040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4041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44042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</a:t>
            </a:r>
            <a:r>
              <a:rPr lang="en-US" sz="2000" b="0">
                <a:solidFill>
                  <a:srgbClr val="000000"/>
                </a:solidFill>
                <a:latin typeface="Helvetica" charset="0"/>
                <a:cs typeface="Helvetica" charset="0"/>
              </a:rPr>
              <a:t>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  <a:endParaRPr lang="en-US" sz="2000" b="0">
              <a:solidFill>
                <a:srgbClr val="000000"/>
              </a:solidFill>
              <a:latin typeface="Helvetica" charset="0"/>
              <a:cs typeface="Helvetica" charset="0"/>
              <a:sym typeface="Wingdings" charset="0"/>
            </a:endParaRP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44043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4044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44045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44046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835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latin typeface="Helvetica" charset="0"/>
                <a:cs typeface="Helvetica" charset="0"/>
              </a:rPr>
              <a:t>BUSY (T1)</a:t>
            </a:r>
          </a:p>
        </p:txBody>
      </p:sp>
      <p:sp>
        <p:nvSpPr>
          <p:cNvPr id="44047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44048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4049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NULL</a:t>
            </a:r>
          </a:p>
        </p:txBody>
      </p:sp>
      <p:sp>
        <p:nvSpPr>
          <p:cNvPr id="19" name="Rounded Rectangular Callout 18"/>
          <p:cNvSpPr>
            <a:spLocks noChangeArrowheads="1"/>
          </p:cNvSpPr>
          <p:nvPr/>
        </p:nvSpPr>
        <p:spPr bwMode="auto">
          <a:xfrm>
            <a:off x="3429000" y="4191000"/>
            <a:ext cx="1447800" cy="1143000"/>
          </a:xfrm>
          <a:prstGeom prst="wedgeRoundRectCallout">
            <a:avLst>
              <a:gd name="adj1" fmla="val -79759"/>
              <a:gd name="adj2" fmla="val -68208"/>
              <a:gd name="adj3" fmla="val 16667"/>
            </a:avLst>
          </a:prstGeom>
          <a:solidFill>
            <a:srgbClr val="FFFFFF"/>
          </a:solidFill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anchor="ctr"/>
          <a:lstStyle/>
          <a:p>
            <a:r>
              <a:rPr lang="en-US" b="0">
                <a:latin typeface="Helvetica" charset="0"/>
                <a:cs typeface="Helvetica" charset="0"/>
              </a:rPr>
              <a:t>Check again if empty!</a:t>
            </a:r>
          </a:p>
        </p:txBody>
      </p:sp>
    </p:spTree>
    <p:extLst>
      <p:ext uri="{BB962C8B-B14F-4D97-AF65-F5344CB8AC3E}">
        <p14:creationId xmlns:p14="http://schemas.microsoft.com/office/powerpoint/2010/main" val="11275220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굴림" charset="0"/>
                <a:cs typeface="굴림" charset="0"/>
              </a:rPr>
              <a:t>Mesa Monitor: Why “while()”?</a:t>
            </a:r>
          </a:p>
        </p:txBody>
      </p:sp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457200" y="3205163"/>
            <a:ext cx="2590800" cy="258603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RemoveFromQueue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 {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lock.Acquire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while (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queue.isEmpty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()) {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dataready.wait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(&amp;lock); 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}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item =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queue.dequeue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 </a:t>
            </a:r>
            <a:br>
              <a:rPr lang="en-US" altLang="ko-KR" sz="1800" dirty="0">
                <a:latin typeface="Arial Narrow"/>
                <a:ea typeface="굴림" charset="0"/>
                <a:cs typeface="Arial Narrow"/>
              </a:rPr>
            </a:b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</a:t>
            </a:r>
            <a:r>
              <a:rPr lang="en-US" altLang="ko-KR" sz="1800" dirty="0" err="1">
                <a:latin typeface="Arial Narrow"/>
                <a:ea typeface="굴림" charset="0"/>
                <a:cs typeface="Arial Narrow"/>
              </a:rPr>
              <a:t>lock.Release</a:t>
            </a: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();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  return(item);</a:t>
            </a:r>
          </a:p>
          <a:p>
            <a:pPr>
              <a:defRPr/>
            </a:pPr>
            <a:r>
              <a:rPr lang="en-US" altLang="ko-KR" sz="1800" dirty="0">
                <a:latin typeface="Arial Narrow"/>
                <a:ea typeface="굴림" charset="0"/>
                <a:cs typeface="Arial Narrow"/>
              </a:rPr>
              <a:t>}</a:t>
            </a:r>
          </a:p>
        </p:txBody>
      </p:sp>
      <p:sp>
        <p:nvSpPr>
          <p:cNvPr id="46083" name="TextBox 14"/>
          <p:cNvSpPr txBox="1">
            <a:spLocks noChangeArrowheads="1"/>
          </p:cNvSpPr>
          <p:nvPr/>
        </p:nvSpPr>
        <p:spPr bwMode="auto">
          <a:xfrm>
            <a:off x="914400" y="2805113"/>
            <a:ext cx="1571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T1 (</a:t>
            </a:r>
            <a:r>
              <a:rPr lang="en-US" sz="2000" b="0">
                <a:solidFill>
                  <a:srgbClr val="FF0000"/>
                </a:solidFill>
                <a:latin typeface="Helvetica" charset="0"/>
                <a:cs typeface="Helvetica" charset="0"/>
              </a:rPr>
              <a:t>Waiting</a:t>
            </a:r>
            <a:r>
              <a:rPr lang="en-US" sz="2000" b="0">
                <a:latin typeface="Helvetica" charset="0"/>
                <a:cs typeface="Helvetica" charset="0"/>
              </a:rPr>
              <a:t>)</a:t>
            </a:r>
          </a:p>
        </p:txBody>
      </p:sp>
      <p:sp>
        <p:nvSpPr>
          <p:cNvPr id="46084" name="Rectangle 1"/>
          <p:cNvSpPr>
            <a:spLocks noChangeArrowheads="1"/>
          </p:cNvSpPr>
          <p:nvPr/>
        </p:nvSpPr>
        <p:spPr bwMode="auto">
          <a:xfrm>
            <a:off x="457200" y="4114800"/>
            <a:ext cx="2514600" cy="304800"/>
          </a:xfrm>
          <a:prstGeom prst="rect">
            <a:avLst/>
          </a:prstGeom>
          <a:noFill/>
          <a:ln w="57150">
            <a:solidFill>
              <a:srgbClr val="2A40E2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6085" name="TextBox 30"/>
          <p:cNvSpPr txBox="1">
            <a:spLocks noChangeArrowheads="1"/>
          </p:cNvSpPr>
          <p:nvPr/>
        </p:nvSpPr>
        <p:spPr bwMode="auto">
          <a:xfrm>
            <a:off x="3227388" y="685800"/>
            <a:ext cx="1039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Monitor</a:t>
            </a:r>
          </a:p>
        </p:txBody>
      </p:sp>
      <p:sp>
        <p:nvSpPr>
          <p:cNvPr id="46086" name="Rounded Rectangle 31"/>
          <p:cNvSpPr>
            <a:spLocks noChangeArrowheads="1"/>
          </p:cNvSpPr>
          <p:nvPr/>
        </p:nvSpPr>
        <p:spPr bwMode="auto">
          <a:xfrm>
            <a:off x="2286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6087" name="TextBox 32"/>
          <p:cNvSpPr txBox="1">
            <a:spLocks noChangeArrowheads="1"/>
          </p:cNvSpPr>
          <p:nvPr/>
        </p:nvSpPr>
        <p:spPr bwMode="auto">
          <a:xfrm>
            <a:off x="228600" y="685800"/>
            <a:ext cx="2281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App. Shared State</a:t>
            </a:r>
          </a:p>
        </p:txBody>
      </p:sp>
      <p:sp>
        <p:nvSpPr>
          <p:cNvPr id="46088" name="Rounded Rectangle 33"/>
          <p:cNvSpPr>
            <a:spLocks noChangeArrowheads="1"/>
          </p:cNvSpPr>
          <p:nvPr/>
        </p:nvSpPr>
        <p:spPr bwMode="auto">
          <a:xfrm>
            <a:off x="61722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latin typeface="Helvetica" charset="0"/>
              <a:cs typeface="Helvetica" charset="0"/>
            </a:endParaRPr>
          </a:p>
        </p:txBody>
      </p:sp>
      <p:sp>
        <p:nvSpPr>
          <p:cNvPr id="46089" name="TextBox 34"/>
          <p:cNvSpPr txBox="1">
            <a:spLocks noChangeArrowheads="1"/>
          </p:cNvSpPr>
          <p:nvPr/>
        </p:nvSpPr>
        <p:spPr bwMode="auto">
          <a:xfrm>
            <a:off x="6172200" y="609600"/>
            <a:ext cx="1397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CPU State</a:t>
            </a:r>
          </a:p>
        </p:txBody>
      </p:sp>
      <p:sp>
        <p:nvSpPr>
          <p:cNvPr id="46090" name="TextBox 35"/>
          <p:cNvSpPr txBox="1">
            <a:spLocks noChangeArrowheads="1"/>
          </p:cNvSpPr>
          <p:nvPr/>
        </p:nvSpPr>
        <p:spPr bwMode="auto">
          <a:xfrm>
            <a:off x="6172200" y="1120775"/>
            <a:ext cx="1947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Running: T1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Ready </a:t>
            </a: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 </a:t>
            </a:r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 NULL</a:t>
            </a:r>
            <a:endParaRPr lang="en-US" sz="2000" b="0">
              <a:solidFill>
                <a:srgbClr val="000000"/>
              </a:solidFill>
              <a:latin typeface="Helvetica" charset="0"/>
              <a:cs typeface="Helvetica" charset="0"/>
              <a:sym typeface="Wingdings" charset="0"/>
            </a:endParaRPr>
          </a:p>
          <a:p>
            <a:pPr eaLnBrk="1" hangingPunct="1"/>
            <a:r>
              <a:rPr lang="en-US" sz="2000" b="0">
                <a:latin typeface="Helvetica" charset="0"/>
                <a:cs typeface="Helvetica" charset="0"/>
                <a:sym typeface="Wingdings" charset="0"/>
              </a:rPr>
              <a:t>…</a:t>
            </a:r>
            <a:endParaRPr lang="en-US" sz="2000" b="0">
              <a:latin typeface="Helvetica" charset="0"/>
              <a:cs typeface="Helvetica" charset="0"/>
            </a:endParaRPr>
          </a:p>
        </p:txBody>
      </p:sp>
      <p:sp>
        <p:nvSpPr>
          <p:cNvPr id="46091" name="Freeform 23"/>
          <p:cNvSpPr>
            <a:spLocks/>
          </p:cNvSpPr>
          <p:nvPr/>
        </p:nvSpPr>
        <p:spPr bwMode="auto">
          <a:xfrm>
            <a:off x="685800" y="1592263"/>
            <a:ext cx="1681163" cy="460375"/>
          </a:xfrm>
          <a:custGeom>
            <a:avLst/>
            <a:gdLst>
              <a:gd name="T0" fmla="*/ 1685941 w 1680633"/>
              <a:gd name="T1" fmla="*/ 0 h 461434"/>
              <a:gd name="T2" fmla="*/ 0 w 1680633"/>
              <a:gd name="T3" fmla="*/ 4134 h 461434"/>
              <a:gd name="T4" fmla="*/ 0 w 1680633"/>
              <a:gd name="T5" fmla="*/ 450952 h 461434"/>
              <a:gd name="T6" fmla="*/ 1668954 w 1680633"/>
              <a:gd name="T7" fmla="*/ 450952 h 4614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80633" h="461434">
                <a:moveTo>
                  <a:pt x="1680633" y="0"/>
                </a:moveTo>
                <a:lnTo>
                  <a:pt x="0" y="4234"/>
                </a:lnTo>
                <a:lnTo>
                  <a:pt x="0" y="461434"/>
                </a:lnTo>
                <a:lnTo>
                  <a:pt x="1663700" y="461434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6092" name="TextBox 24"/>
          <p:cNvSpPr txBox="1">
            <a:spLocks noChangeArrowheads="1"/>
          </p:cNvSpPr>
          <p:nvPr/>
        </p:nvSpPr>
        <p:spPr bwMode="auto">
          <a:xfrm>
            <a:off x="533400" y="1200150"/>
            <a:ext cx="898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0">
                <a:latin typeface="Helvetica" charset="0"/>
                <a:cs typeface="Helvetica" charset="0"/>
              </a:rPr>
              <a:t>queue</a:t>
            </a:r>
          </a:p>
        </p:txBody>
      </p:sp>
      <p:sp>
        <p:nvSpPr>
          <p:cNvPr id="46093" name="Rounded Rectangle 27"/>
          <p:cNvSpPr>
            <a:spLocks noChangeArrowheads="1"/>
          </p:cNvSpPr>
          <p:nvPr/>
        </p:nvSpPr>
        <p:spPr bwMode="auto">
          <a:xfrm>
            <a:off x="3200400" y="1066800"/>
            <a:ext cx="2819400" cy="1447800"/>
          </a:xfrm>
          <a:prstGeom prst="roundRect">
            <a:avLst>
              <a:gd name="adj" fmla="val 16667"/>
            </a:avLst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endParaRPr lang="en-US" b="0">
              <a:solidFill>
                <a:srgbClr val="000000"/>
              </a:solidFill>
              <a:latin typeface="Helvetica" charset="0"/>
              <a:cs typeface="Helvetica" charset="0"/>
            </a:endParaRPr>
          </a:p>
        </p:txBody>
      </p:sp>
      <p:sp>
        <p:nvSpPr>
          <p:cNvPr id="46094" name="TextBox 36"/>
          <p:cNvSpPr txBox="1">
            <a:spLocks noChangeArrowheads="1"/>
          </p:cNvSpPr>
          <p:nvPr/>
        </p:nvSpPr>
        <p:spPr bwMode="auto">
          <a:xfrm>
            <a:off x="3243263" y="1201738"/>
            <a:ext cx="1339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lock: </a:t>
            </a:r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FREE</a:t>
            </a:r>
          </a:p>
        </p:txBody>
      </p:sp>
      <p:sp>
        <p:nvSpPr>
          <p:cNvPr id="46095" name="TextBox 37"/>
          <p:cNvSpPr txBox="1">
            <a:spLocks noChangeArrowheads="1"/>
          </p:cNvSpPr>
          <p:nvPr/>
        </p:nvSpPr>
        <p:spPr bwMode="auto">
          <a:xfrm>
            <a:off x="3200400" y="1639888"/>
            <a:ext cx="12112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dataready</a:t>
            </a:r>
          </a:p>
          <a:p>
            <a:pPr eaLnBrk="1" hangingPunct="1"/>
            <a:r>
              <a:rPr lang="en-US" sz="1800" b="0">
                <a:solidFill>
                  <a:srgbClr val="000000"/>
                </a:solidFill>
                <a:latin typeface="Helvetica" charset="0"/>
                <a:cs typeface="Helvetica" charset="0"/>
              </a:rPr>
              <a:t>queue</a:t>
            </a:r>
          </a:p>
        </p:txBody>
      </p:sp>
      <p:cxnSp>
        <p:nvCxnSpPr>
          <p:cNvPr id="46096" name="Straight Arrow Connector 38"/>
          <p:cNvCxnSpPr>
            <a:cxnSpLocks noChangeShapeType="1"/>
          </p:cNvCxnSpPr>
          <p:nvPr/>
        </p:nvCxnSpPr>
        <p:spPr bwMode="auto">
          <a:xfrm flipV="1">
            <a:off x="4475163" y="1976438"/>
            <a:ext cx="312737" cy="4762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6097" name="TextBox 39"/>
          <p:cNvSpPr txBox="1">
            <a:spLocks noChangeArrowheads="1"/>
          </p:cNvSpPr>
          <p:nvPr/>
        </p:nvSpPr>
        <p:spPr bwMode="auto">
          <a:xfrm>
            <a:off x="4787900" y="1752600"/>
            <a:ext cx="454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>
                <a:solidFill>
                  <a:srgbClr val="FF0000"/>
                </a:solidFill>
                <a:latin typeface="Helvetica" charset="0"/>
                <a:cs typeface="Helvetica" charset="0"/>
              </a:rPr>
              <a:t>T1</a:t>
            </a:r>
          </a:p>
        </p:txBody>
      </p:sp>
      <p:sp>
        <p:nvSpPr>
          <p:cNvPr id="46098" name="TextBox 1"/>
          <p:cNvSpPr txBox="1">
            <a:spLocks noChangeArrowheads="1"/>
          </p:cNvSpPr>
          <p:nvPr/>
        </p:nvSpPr>
        <p:spPr bwMode="auto">
          <a:xfrm>
            <a:off x="304800" y="5943600"/>
            <a:ext cx="8391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0" dirty="0">
                <a:latin typeface="Gill Sans Light" charset="0"/>
                <a:cs typeface="Gill Sans Light" charset="0"/>
                <a:hlinkClick r:id="rId3"/>
              </a:rPr>
              <a:t>http://research.microsoft.com/en-us/um/people/blampson/23-processesinmesa/Acrobat.pdf</a:t>
            </a:r>
            <a:r>
              <a:rPr lang="en-US" sz="1800" b="0" dirty="0">
                <a:latin typeface="Gill Sans Light" charset="0"/>
                <a:cs typeface="Gill Sans Light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8532668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Tony</a:t>
            </a:r>
            <a:r>
              <a:rPr lang="zh-CN" altLang="en-US" dirty="0"/>
              <a:t> </a:t>
            </a:r>
            <a:r>
              <a:rPr lang="en-US" altLang="zh-CN" dirty="0"/>
              <a:t>Hoare</a:t>
            </a:r>
            <a:r>
              <a:rPr lang="zh-CN" altLang="en-US" dirty="0"/>
              <a:t> </a:t>
            </a:r>
            <a:r>
              <a:rPr lang="en-US" altLang="zh-CN" dirty="0"/>
              <a:t>(C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R</a:t>
            </a:r>
            <a:r>
              <a:rPr lang="zh-CN" altLang="en-US" dirty="0"/>
              <a:t> </a:t>
            </a:r>
            <a:r>
              <a:rPr lang="en-US" altLang="zh-CN" dirty="0"/>
              <a:t>Hoare)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5029200" cy="3352800"/>
          </a:xfrm>
        </p:spPr>
        <p:txBody>
          <a:bodyPr/>
          <a:lstStyle/>
          <a:p>
            <a:r>
              <a:rPr lang="en-US" dirty="0"/>
              <a:t>Turing Award 1980</a:t>
            </a:r>
          </a:p>
          <a:p>
            <a:endParaRPr lang="en-US" dirty="0"/>
          </a:p>
          <a:p>
            <a:r>
              <a:rPr lang="en-US" dirty="0"/>
              <a:t>Quicksort</a:t>
            </a:r>
            <a:r>
              <a:rPr lang="zh-CN" altLang="en-US" dirty="0"/>
              <a:t> </a:t>
            </a:r>
            <a:r>
              <a:rPr lang="en-US" altLang="zh-CN" dirty="0"/>
              <a:t>(1960)</a:t>
            </a:r>
          </a:p>
          <a:p>
            <a:r>
              <a:rPr lang="en-US" dirty="0"/>
              <a:t>Hoare</a:t>
            </a:r>
            <a:r>
              <a:rPr lang="zh-CN" altLang="en-US" dirty="0"/>
              <a:t> </a:t>
            </a:r>
            <a:r>
              <a:rPr lang="en-US" altLang="zh-CN" dirty="0"/>
              <a:t>Logic</a:t>
            </a:r>
            <a:r>
              <a:rPr lang="zh-CN" altLang="en-US" dirty="0"/>
              <a:t> </a:t>
            </a:r>
            <a:r>
              <a:rPr lang="en-US" altLang="zh-CN" dirty="0"/>
              <a:t>(formal</a:t>
            </a:r>
            <a:r>
              <a:rPr lang="zh-CN" altLang="en-US" dirty="0"/>
              <a:t> </a:t>
            </a:r>
            <a:r>
              <a:rPr lang="en-US" altLang="zh-CN" dirty="0"/>
              <a:t>verification)</a:t>
            </a:r>
          </a:p>
          <a:p>
            <a:r>
              <a:rPr lang="en-US" dirty="0"/>
              <a:t>Communicating Sequential Processes (CSP)</a:t>
            </a:r>
          </a:p>
          <a:p>
            <a:r>
              <a:rPr lang="en-US" dirty="0"/>
              <a:t>Monitors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762000"/>
            <a:ext cx="2590800" cy="25908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381000" y="4191000"/>
            <a:ext cx="8382000" cy="19812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Helvetica"/>
                <a:ea typeface="ＭＳ Ｐゴシック" charset="-128"/>
                <a:cs typeface="ＭＳ Ｐゴシック" charset="-128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Helvetica"/>
                <a:ea typeface="ＭＳ Ｐゴシック" charset="-128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Helvetica"/>
                <a:ea typeface="ＭＳ Ｐゴシック" charset="-128"/>
              </a:defRPr>
            </a:lvl3pPr>
            <a:lvl4pPr marL="15430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Helvetica"/>
                <a:ea typeface="ＭＳ Ｐゴシック" charset="-128"/>
              </a:defRPr>
            </a:lvl4pPr>
            <a:lvl5pPr marL="20002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Helvetica"/>
                <a:ea typeface="ＭＳ Ｐゴシック" charset="-128"/>
              </a:defRPr>
            </a:lvl5pPr>
            <a:lvl6pPr marL="24574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146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718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29050" indent="-171450" algn="l" rtl="0" eaLnBrk="1" fontAlgn="base" hangingPunct="1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buNone/>
            </a:pPr>
            <a:r>
              <a:rPr lang="en-US" b="0" dirty="0"/>
              <a:t>There are two ways of constructing a software design: One way is to make it so simple that there are </a:t>
            </a:r>
            <a:r>
              <a:rPr lang="en-US" b="0" dirty="0">
                <a:solidFill>
                  <a:srgbClr val="FF0000"/>
                </a:solidFill>
              </a:rPr>
              <a:t>obviously no deficiencies</a:t>
            </a:r>
            <a:r>
              <a:rPr lang="en-US" b="0" dirty="0"/>
              <a:t>, and the other way is to make it so complicated that there are </a:t>
            </a:r>
            <a:r>
              <a:rPr lang="en-US" b="0" dirty="0">
                <a:solidFill>
                  <a:srgbClr val="FF0000"/>
                </a:solidFill>
              </a:rPr>
              <a:t>no obvious deficiencies</a:t>
            </a:r>
            <a:r>
              <a:rPr lang="en-US" b="0" dirty="0"/>
              <a:t>. The first method is far more difficult.</a:t>
            </a:r>
          </a:p>
        </p:txBody>
      </p:sp>
    </p:spTree>
    <p:extLst>
      <p:ext uri="{BB962C8B-B14F-4D97-AF65-F5344CB8AC3E}">
        <p14:creationId xmlns:p14="http://schemas.microsoft.com/office/powerpoint/2010/main" val="1903898523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Butler Lampson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4648200" cy="5105400"/>
          </a:xfrm>
        </p:spPr>
        <p:txBody>
          <a:bodyPr/>
          <a:lstStyle/>
          <a:p>
            <a:r>
              <a:rPr lang="en-US" dirty="0"/>
              <a:t>Turing</a:t>
            </a:r>
            <a:r>
              <a:rPr lang="zh-CN" altLang="en-US" dirty="0"/>
              <a:t> </a:t>
            </a:r>
            <a:r>
              <a:rPr lang="en-US" altLang="zh-CN" dirty="0"/>
              <a:t>Award,</a:t>
            </a:r>
            <a:r>
              <a:rPr lang="zh-CN" altLang="en-US" dirty="0"/>
              <a:t> </a:t>
            </a:r>
            <a:r>
              <a:rPr lang="en-US" altLang="zh-CN" dirty="0"/>
              <a:t>1992</a:t>
            </a:r>
          </a:p>
          <a:p>
            <a:r>
              <a:rPr lang="en-US" altLang="zh-CN" dirty="0"/>
              <a:t>1970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Xerox</a:t>
            </a:r>
            <a:r>
              <a:rPr lang="zh-CN" altLang="en-US" dirty="0"/>
              <a:t> </a:t>
            </a:r>
            <a:r>
              <a:rPr lang="en-US" altLang="zh-CN" dirty="0"/>
              <a:t>PARC</a:t>
            </a:r>
          </a:p>
          <a:p>
            <a:r>
              <a:rPr lang="zh-CN" altLang="zh-CN" dirty="0"/>
              <a:t>1</a:t>
            </a:r>
            <a:r>
              <a:rPr lang="en-US" altLang="zh-CN" dirty="0"/>
              <a:t>973</a:t>
            </a:r>
            <a:r>
              <a:rPr lang="zh-CN" altLang="en-US" dirty="0"/>
              <a:t> </a:t>
            </a:r>
            <a:r>
              <a:rPr lang="en-US" altLang="zh-CN" dirty="0"/>
              <a:t>Xerox</a:t>
            </a:r>
            <a:r>
              <a:rPr lang="zh-CN" altLang="en-US" dirty="0"/>
              <a:t> </a:t>
            </a:r>
            <a:r>
              <a:rPr lang="en-US" altLang="zh-CN" dirty="0"/>
              <a:t>Alto</a:t>
            </a:r>
          </a:p>
          <a:p>
            <a:endParaRPr lang="en-US" dirty="0"/>
          </a:p>
          <a:p>
            <a:r>
              <a:rPr lang="en-US" dirty="0"/>
              <a:t>Co</a:t>
            </a:r>
            <a:r>
              <a:rPr lang="en-US" altLang="zh-CN" dirty="0"/>
              <a:t>-inventor</a:t>
            </a:r>
            <a:r>
              <a:rPr lang="zh-CN" altLang="en-US" dirty="0"/>
              <a:t> </a:t>
            </a:r>
            <a:r>
              <a:rPr lang="en-US" altLang="zh-CN" dirty="0"/>
              <a:t>of:</a:t>
            </a:r>
            <a:endParaRPr lang="en-US" dirty="0"/>
          </a:p>
          <a:p>
            <a:pPr lvl="1"/>
            <a:r>
              <a:rPr lang="en-US" dirty="0"/>
              <a:t>laser printer</a:t>
            </a:r>
          </a:p>
          <a:p>
            <a:pPr lvl="1"/>
            <a:r>
              <a:rPr lang="en-US" dirty="0"/>
              <a:t>two-phase commit protocols</a:t>
            </a:r>
          </a:p>
          <a:p>
            <a:pPr lvl="1"/>
            <a:r>
              <a:rPr lang="en-US" dirty="0"/>
              <a:t>Bravo, the first WYSIWYG text formatting program; </a:t>
            </a:r>
          </a:p>
          <a:p>
            <a:pPr lvl="1"/>
            <a:r>
              <a:rPr lang="en-US" dirty="0"/>
              <a:t>Ethernet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52800"/>
            <a:ext cx="1981200" cy="29772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914400"/>
            <a:ext cx="2917966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01906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latin typeface="Helvetica" charset="0"/>
                <a:ea typeface="Gulim" charset="0"/>
                <a:cs typeface="Gulim" charset="0"/>
              </a:rPr>
              <a:t>Summary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03200" y="838200"/>
            <a:ext cx="8686800" cy="5943600"/>
          </a:xfrm>
        </p:spPr>
        <p:txBody>
          <a:bodyPr/>
          <a:lstStyle/>
          <a:p>
            <a:pPr marL="0" indent="0">
              <a:buNone/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Semaphores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Generalized locks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Two operations: </a:t>
            </a:r>
            <a:r>
              <a:rPr lang="en-US" altLang="ko-KR" dirty="0">
                <a:solidFill>
                  <a:srgbClr val="FF0000"/>
                </a:solidFill>
                <a:latin typeface="Helvetica" charset="0"/>
                <a:ea typeface="Gulim" charset="0"/>
                <a:cs typeface="Gulim" charset="0"/>
              </a:rPr>
              <a:t>P(), V()</a:t>
            </a: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Monitors: A synchronous object plus one or more condition variables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Always acquire lock before accessing shared data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Use condition variables to wait inside critical section</a:t>
            </a:r>
          </a:p>
          <a:p>
            <a:pPr lvl="2">
              <a:lnSpc>
                <a:spcPct val="100000"/>
              </a:lnSpc>
              <a:spcBef>
                <a:spcPct val="20000"/>
              </a:spcBef>
            </a:pP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Three Operations: </a:t>
            </a: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Wait()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,</a:t>
            </a: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Signal()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,</a:t>
            </a: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ko-KR" dirty="0">
                <a:latin typeface="Helvetica" charset="0"/>
                <a:ea typeface="Gulim" charset="0"/>
                <a:cs typeface="Gulim" charset="0"/>
              </a:rPr>
              <a:t>and</a:t>
            </a:r>
            <a:r>
              <a:rPr lang="en-US" altLang="ko-KR" dirty="0">
                <a:solidFill>
                  <a:schemeClr val="hlink"/>
                </a:solidFill>
                <a:latin typeface="Helvetica" charset="0"/>
                <a:ea typeface="Gulim" charset="0"/>
                <a:cs typeface="Gulim" charset="0"/>
              </a:rPr>
              <a:t> </a:t>
            </a:r>
            <a:r>
              <a:rPr lang="en-US" altLang="ko-KR" dirty="0">
                <a:solidFill>
                  <a:schemeClr val="hlink"/>
                </a:solidFill>
                <a:latin typeface="Courier New" charset="0"/>
                <a:ea typeface="Gulim" charset="0"/>
                <a:cs typeface="Gulim" charset="0"/>
              </a:rPr>
              <a:t>Broadcast()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en-US" altLang="ko-KR" dirty="0">
              <a:latin typeface="Helvetica" charset="0"/>
              <a:ea typeface="Gulim" charset="0"/>
              <a:cs typeface="Gulim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62441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iiis-os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AA"/>
        </a:solidFill>
        <a:ln w="25400" cap="flat" cmpd="sng" algn="ctr">
          <a:solidFill>
            <a:schemeClr val="tx1"/>
          </a:solidFill>
          <a:prstDash val="solid"/>
          <a:round/>
          <a:headEnd type="triangle" w="med" len="med"/>
          <a:tailEnd type="none" w="med" len="med"/>
        </a:ln>
        <a:effectLst/>
      </a:spPr>
      <a:bodyPr rtlCol="0" anchor="ctr"/>
      <a:lstStyle>
        <a:defPPr algn="ctr">
          <a:defRPr b="0" dirty="0" smtClean="0">
            <a:latin typeface="Helvetica"/>
            <a:cs typeface="Helvetica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000" b="0" dirty="0" smtClean="0">
            <a:latin typeface="Helvetica"/>
            <a:cs typeface="Helvetica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iiis-os.thmx</Template>
  <TotalTime>40094</TotalTime>
  <Pages>60</Pages>
  <Words>7282</Words>
  <Application>Microsoft Macintosh PowerPoint</Application>
  <PresentationFormat>全屏显示(4:3)</PresentationFormat>
  <Paragraphs>1041</Paragraphs>
  <Slides>77</Slides>
  <Notes>62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4" baseType="lpstr">
      <vt:lpstr>Ariel narrow</vt:lpstr>
      <vt:lpstr>굴림</vt:lpstr>
      <vt:lpstr>굴림</vt:lpstr>
      <vt:lpstr>ＭＳ Ｐゴシック</vt:lpstr>
      <vt:lpstr>ＭＳ Ｐゴシック</vt:lpstr>
      <vt:lpstr>Arial Narrow</vt:lpstr>
      <vt:lpstr>Calibri</vt:lpstr>
      <vt:lpstr>Comic Sans MS</vt:lpstr>
      <vt:lpstr>Consolas</vt:lpstr>
      <vt:lpstr>Courier New</vt:lpstr>
      <vt:lpstr>Gill Sans Light</vt:lpstr>
      <vt:lpstr>Helvetica</vt:lpstr>
      <vt:lpstr>Helvetica Light</vt:lpstr>
      <vt:lpstr>Lucida Grande</vt:lpstr>
      <vt:lpstr>Optima</vt:lpstr>
      <vt:lpstr>Wingdings</vt:lpstr>
      <vt:lpstr>iiis-os</vt:lpstr>
      <vt:lpstr> Introduction to Computer Systems   Lecture 6  Concurrency and Synchronization (1)</vt:lpstr>
      <vt:lpstr>Run multiple commands</vt:lpstr>
      <vt:lpstr>Makefile</vt:lpstr>
      <vt:lpstr>Building Software</vt:lpstr>
      <vt:lpstr>Make file example</vt:lpstr>
      <vt:lpstr>A more complete Makefile</vt:lpstr>
      <vt:lpstr>Recap: Multiprocessing: The Reality</vt:lpstr>
      <vt:lpstr>Recap: Execution Context: Thread</vt:lpstr>
      <vt:lpstr>The key take away:  Threads are independently scheduled by the OS.  They can start / stop at any time.   Can we make the process less arbitrary? i.e. make threads cooperate?</vt:lpstr>
      <vt:lpstr>Cooperating threads</vt:lpstr>
      <vt:lpstr>Why allow cooperating threads?</vt:lpstr>
      <vt:lpstr>Multiple Processes / Threads  Collaborate on a Task </vt:lpstr>
      <vt:lpstr>Thread Example: Web Server</vt:lpstr>
      <vt:lpstr>Thread Example:  Web server with Thread Pools</vt:lpstr>
      <vt:lpstr>Accessing shared data: Problem is at the lowest level</vt:lpstr>
      <vt:lpstr>Accessing shared data: Problem is at the lowest level</vt:lpstr>
      <vt:lpstr>Accessing shared data: Problem is at the lowest level</vt:lpstr>
      <vt:lpstr>Correctness Problems</vt:lpstr>
      <vt:lpstr>Summary</vt:lpstr>
      <vt:lpstr>Midterm Announcement</vt:lpstr>
      <vt:lpstr>Problems</vt:lpstr>
      <vt:lpstr>Motivation: “Too much milk”</vt:lpstr>
      <vt:lpstr>Atomic Operations</vt:lpstr>
      <vt:lpstr>Too Much Milk: Correctness Properties</vt:lpstr>
      <vt:lpstr>Definitions</vt:lpstr>
      <vt:lpstr>Concurrency Challenges</vt:lpstr>
      <vt:lpstr>More Definitions</vt:lpstr>
      <vt:lpstr>Too Much Milk: Solution #1</vt:lpstr>
      <vt:lpstr>Too Much Milk: Solution #1</vt:lpstr>
      <vt:lpstr>Too Much Milk: Solution #1½ </vt:lpstr>
      <vt:lpstr>Too Much Milk Solution #2</vt:lpstr>
      <vt:lpstr>Too Much Milk Solution #2</vt:lpstr>
      <vt:lpstr>Too Much Milk Solution #3</vt:lpstr>
      <vt:lpstr>Solution #3 discussion</vt:lpstr>
      <vt:lpstr>Synchronization: High-Level Picture</vt:lpstr>
      <vt:lpstr>Too Much Milk: Solution #4</vt:lpstr>
      <vt:lpstr>The big picture of synchronization</vt:lpstr>
      <vt:lpstr>semaphores</vt:lpstr>
      <vt:lpstr>Semaphores</vt:lpstr>
      <vt:lpstr>Semaphores Like Integers Except</vt:lpstr>
      <vt:lpstr>Use of semaphores (1)</vt:lpstr>
      <vt:lpstr>Use of Semaphores (2)</vt:lpstr>
      <vt:lpstr>Producer-consumer with a bounded buffer</vt:lpstr>
      <vt:lpstr>Correctness constraints</vt:lpstr>
      <vt:lpstr>Full Solution to Bounded Buffer</vt:lpstr>
      <vt:lpstr>Discussion about Solution</vt:lpstr>
      <vt:lpstr>Monitors and conditional variables</vt:lpstr>
      <vt:lpstr>Motivation for Monitors and Condition Variables</vt:lpstr>
      <vt:lpstr>Motivation for Monitors and Condition Variables</vt:lpstr>
      <vt:lpstr> Monitor with Condition Variables</vt:lpstr>
      <vt:lpstr>Simple Monitor Example</vt:lpstr>
      <vt:lpstr>Condition Variables</vt:lpstr>
      <vt:lpstr>Complete Monitor Example  (with condition variable)</vt:lpstr>
      <vt:lpstr>Mesa vs. Hoare monitors</vt:lpstr>
      <vt:lpstr>Hoare monitors</vt:lpstr>
      <vt:lpstr>Mesa monitors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Mesa Monitor: Why “while()”?</vt:lpstr>
      <vt:lpstr>Tony Hoare (C A R Hoare)</vt:lpstr>
      <vt:lpstr>Butler Lampson</vt:lpstr>
      <vt:lpstr>Summary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Xuwei</cp:lastModifiedBy>
  <cp:revision>966</cp:revision>
  <cp:lastPrinted>2013-09-19T05:41:07Z</cp:lastPrinted>
  <dcterms:created xsi:type="dcterms:W3CDTF">2011-09-14T22:52:05Z</dcterms:created>
  <dcterms:modified xsi:type="dcterms:W3CDTF">2026-04-02T15:09:52Z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