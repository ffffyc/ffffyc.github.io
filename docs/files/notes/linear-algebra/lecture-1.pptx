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306" r:id="rId8"/>
    <p:sldId id="265" r:id="rId9"/>
    <p:sldId id="266" r:id="rId10"/>
    <p:sldId id="307" r:id="rId11"/>
    <p:sldId id="267" r:id="rId12"/>
    <p:sldId id="269" r:id="rId13"/>
  </p:sldIdLst>
  <p:sldSz cx="12192000" cy="6858000"/>
  <p:notesSz cx="6858000" cy="9144000"/>
  <p:defaultTextStyle>
    <a:lvl1pPr marL="0" lvl="0" algn="l" defTabSz="914400">
      <a:defRPr sz="1800" kern="1200">
        <a:solidFill>
          <a:schemeClr val="tx1"/>
        </a:solidFill>
        <a:latin typeface="等线"/>
        <a:ea typeface="等线"/>
      </a:defRPr>
    </a:lvl1pPr>
    <a:lvl2pPr marL="457200" lvl="1" algn="l" defTabSz="914400">
      <a:defRPr sz="1800" kern="1200">
        <a:solidFill>
          <a:schemeClr val="tx1"/>
        </a:solidFill>
        <a:latin typeface="等线"/>
        <a:ea typeface="等线"/>
      </a:defRPr>
    </a:lvl2pPr>
    <a:lvl3pPr marL="914400" lvl="2" algn="l" defTabSz="914400">
      <a:defRPr sz="1800" kern="1200">
        <a:solidFill>
          <a:schemeClr val="tx1"/>
        </a:solidFill>
        <a:latin typeface="等线"/>
        <a:ea typeface="等线"/>
      </a:defRPr>
    </a:lvl3pPr>
    <a:lvl4pPr marL="1371600" lvl="3" algn="l" defTabSz="914400">
      <a:defRPr sz="1800" kern="1200">
        <a:solidFill>
          <a:schemeClr val="tx1"/>
        </a:solidFill>
        <a:latin typeface="等线"/>
        <a:ea typeface="等线"/>
      </a:defRPr>
    </a:lvl4pPr>
    <a:lvl5pPr marL="1828800" lvl="4" algn="l" defTabSz="914400">
      <a:defRPr sz="1800" kern="1200">
        <a:solidFill>
          <a:schemeClr val="tx1"/>
        </a:solidFill>
        <a:latin typeface="等线"/>
        <a:ea typeface="等线"/>
      </a:defRPr>
    </a:lvl5pPr>
    <a:lvl6pPr marL="2286000" lvl="5" algn="l" defTabSz="914400">
      <a:defRPr sz="1800" kern="1200">
        <a:solidFill>
          <a:schemeClr val="tx1"/>
        </a:solidFill>
        <a:latin typeface="等线"/>
        <a:ea typeface="等线"/>
      </a:defRPr>
    </a:lvl6pPr>
    <a:lvl7pPr marL="2743200" lvl="6" algn="l" defTabSz="914400">
      <a:defRPr sz="1800" kern="1200">
        <a:solidFill>
          <a:schemeClr val="tx1"/>
        </a:solidFill>
        <a:latin typeface="等线"/>
        <a:ea typeface="等线"/>
      </a:defRPr>
    </a:lvl7pPr>
    <a:lvl8pPr marL="3200400" lvl="7" algn="l" defTabSz="914400">
      <a:defRPr sz="1800" kern="1200">
        <a:solidFill>
          <a:schemeClr val="tx1"/>
        </a:solidFill>
        <a:latin typeface="等线"/>
        <a:ea typeface="等线"/>
      </a:defRPr>
    </a:lvl8pPr>
    <a:lvl9pPr marL="3657600" lvl="8" algn="l" defTabSz="914400">
      <a:defRPr sz="1800" kern="1200">
        <a:solidFill>
          <a:schemeClr val="tx1"/>
        </a:solidFill>
        <a:latin typeface="等线"/>
        <a:ea typeface="等线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/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/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/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/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/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28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just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备注占位符 2"/>
          <p:cNvSpPr>
            <a:spLocks noGrp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备注占位符 2"/>
          <p:cNvSpPr>
            <a:spLocks noGrp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6653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18446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Any question before we move on?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C322470-57E0-4026-B113-55177C6651CB}" type="datetime1">
              <a:rPr lang="en-US" altLang="zh-CN"/>
              <a:t>9/18/2026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4A1A6C-0127-4E73-B6F4-D493F6DED674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07FE08-AC40-46E5-AC34-F26EA920C00C}" type="datetime1">
              <a:rPr lang="en-US" altLang="zh-CN"/>
              <a:t>9/18/2026</a:t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70051C9-368C-43DE-93D2-E31BB20D657D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FF60540-7930-4D05-B03C-AB4A4C5B0E5C}" type="datetime1">
              <a:rPr lang="en-US" altLang="zh-CN"/>
              <a:t>9/18/2026</a:t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20D296-2E3A-44E3-9437-064AF52E2A86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383EE91-FD7B-4165-9573-6343F16C518F}" type="datetime1">
              <a:rPr lang="en-US" altLang="zh-CN"/>
              <a:t>9/18/2026</a:t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F94FE3-0E4A-4938-9669-50EF17790BB0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05F50AD-E57C-400E-BCA6-69F8F2B574B8}" type="datetime1">
              <a:rPr lang="en-US" altLang="zh-CN"/>
              <a:t>9/18/2026</a:t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F5F018-7AFC-4854-8DBD-CC1E126422FD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D23898D-776B-49D6-AEB2-1A2018EDF206}" type="datetime1">
              <a:rPr lang="en-US" altLang="zh-CN"/>
              <a:t>9/18/2026</a:t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3EA3A3-0049-452B-87BC-1693A3812DB1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28E6E0D-ECAA-4FE6-968F-A31030BFBDB8}" type="datetime1">
              <a:rPr lang="en-US" altLang="zh-CN"/>
              <a:t>9/18/2026</a:t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795FD74-4BF3-43B2-9D0F-325A4E8B817B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3DC4C6D-0021-4660-9E0A-D6F8549F4439}" type="datetime1">
              <a:rPr lang="en-US" altLang="zh-CN"/>
              <a:t>9/18/2026</a:t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F8AB95-1AD9-46BD-A750-6D6AFB61D848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FA8D045-9FE5-4863-A00A-7099EBEF2907}" type="datetime1">
              <a:rPr lang="en-US" altLang="zh-CN"/>
              <a:t>9/18/2026</a:t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89F05E3-D0BB-4469-ABCB-B9365056EDDF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393C3B2-83C6-4CC4-9159-9013284890EB}" type="datetime1">
              <a:rPr lang="en-US" altLang="zh-CN"/>
              <a:t>9/18/2026</a:t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52A85F1-BD89-4996-8B92-56A8FD0922B1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40F016-FF10-496A-A272-6A2D07AF46C5}" type="datetime1">
              <a:rPr lang="en-US" altLang="zh-CN"/>
              <a:t>9/18/2026</a:t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CD3674-91B4-472B-99EF-C3D8B93A7F19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B0F90-3ACD-420B-871F-ECA2AA9605EE}" type="datetime1">
              <a:rPr lang="en-US" altLang="zh-CN"/>
              <a:t>9/18/2026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DAA24-0F75-42C3-AFD9-0598EC2A44EB}" type="slidenum">
              <a:rPr lang="zh-CN"/>
              <a:t>‹#›</a:t>
            </a:fld>
            <a:r>
              <a:rPr lang="en-US"/>
              <a:t>/93</a:t>
            </a:r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lvl="0" algn="l" defTabSz="914400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等线 Light"/>
          <a:ea typeface="等线 Light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等线"/>
          <a:ea typeface="等线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等线"/>
          <a:ea typeface="等线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等线"/>
          <a:ea typeface="等线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/>
          <a:ea typeface="等线"/>
        </a:defRPr>
      </a:lvl1pPr>
      <a:lvl2pPr marL="457200" lvl="1" algn="l" defTabSz="914400">
        <a:defRPr sz="1800" kern="1200">
          <a:solidFill>
            <a:schemeClr val="tx1"/>
          </a:solidFill>
          <a:latin typeface="等线"/>
          <a:ea typeface="等线"/>
        </a:defRPr>
      </a:lvl2pPr>
      <a:lvl3pPr marL="914400" lvl="2" algn="l" defTabSz="914400">
        <a:defRPr sz="1800" kern="1200">
          <a:solidFill>
            <a:schemeClr val="tx1"/>
          </a:solidFill>
          <a:latin typeface="等线"/>
          <a:ea typeface="等线"/>
        </a:defRPr>
      </a:lvl3pPr>
      <a:lvl4pPr marL="1371600" lvl="3" algn="l" defTabSz="914400">
        <a:defRPr sz="1800" kern="1200">
          <a:solidFill>
            <a:schemeClr val="tx1"/>
          </a:solidFill>
          <a:latin typeface="等线"/>
          <a:ea typeface="等线"/>
        </a:defRPr>
      </a:lvl4pPr>
      <a:lvl5pPr marL="1828800" lvl="4" algn="l" defTabSz="914400">
        <a:defRPr sz="1800" kern="1200">
          <a:solidFill>
            <a:schemeClr val="tx1"/>
          </a:solidFill>
          <a:latin typeface="等线"/>
          <a:ea typeface="等线"/>
        </a:defRPr>
      </a:lvl5pPr>
      <a:lvl6pPr marL="2286000" lvl="5" algn="l" defTabSz="914400">
        <a:defRPr sz="1800" kern="1200">
          <a:solidFill>
            <a:schemeClr val="tx1"/>
          </a:solidFill>
          <a:latin typeface="等线"/>
          <a:ea typeface="等线"/>
        </a:defRPr>
      </a:lvl6pPr>
      <a:lvl7pPr marL="2743200" lvl="6" algn="l" defTabSz="914400">
        <a:defRPr sz="1800" kern="1200">
          <a:solidFill>
            <a:schemeClr val="tx1"/>
          </a:solidFill>
          <a:latin typeface="等线"/>
          <a:ea typeface="等线"/>
        </a:defRPr>
      </a:lvl7pPr>
      <a:lvl8pPr marL="3200400" lvl="7" algn="l" defTabSz="914400">
        <a:defRPr sz="1800" kern="1200">
          <a:solidFill>
            <a:schemeClr val="tx1"/>
          </a:solidFill>
          <a:latin typeface="等线"/>
          <a:ea typeface="等线"/>
        </a:defRPr>
      </a:lvl8pPr>
      <a:lvl9pPr marL="3657600" lvl="8" algn="l" defTabSz="914400">
        <a:defRPr sz="1800" kern="1200">
          <a:solidFill>
            <a:schemeClr val="tx1"/>
          </a:solidFill>
          <a:latin typeface="等线"/>
          <a:ea typeface="等线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yfsong@mail.tsinghua.edu.c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05852" y="681790"/>
            <a:ext cx="10780295" cy="2387600"/>
          </a:xfrm>
        </p:spPr>
        <p:txBody>
          <a:bodyPr anchor="b">
            <a:normAutofit/>
          </a:bodyPr>
          <a:lstStyle/>
          <a:p>
            <a:pPr lvl="0"/>
            <a:r>
              <a:rPr lang="en-US" altLang="zh-CN" sz="4800" b="1" dirty="0" smtClean="0">
                <a:solidFill>
                  <a:srgbClr val="2E75B6"/>
                </a:solidFill>
                <a:latin typeface="Arial"/>
                <a:ea typeface="等线 Light"/>
              </a:rPr>
              <a:t>Linear Algebra</a:t>
            </a:r>
            <a:endParaRPr lang="zh-CN" sz="4800" b="1" dirty="0">
              <a:solidFill>
                <a:srgbClr val="2E75B6"/>
              </a:solidFill>
              <a:latin typeface="Arial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74173"/>
          </a:xfrm>
        </p:spPr>
        <p:txBody>
          <a:bodyPr anchor="t"/>
          <a:lstStyle/>
          <a:p>
            <a:pPr lvl="0"/>
            <a:endParaRPr lang="en-US" dirty="0">
              <a:latin typeface="Arial"/>
            </a:endParaRPr>
          </a:p>
          <a:p>
            <a:pPr lvl="0"/>
            <a:endParaRPr lang="en-US" sz="3200" b="1" dirty="0">
              <a:latin typeface="Arial"/>
              <a:ea typeface="等线"/>
            </a:endParaRPr>
          </a:p>
          <a:p>
            <a:pPr lvl="0"/>
            <a:endParaRPr lang="en-US" dirty="0">
              <a:latin typeface="Arial"/>
              <a:ea typeface="等线"/>
            </a:endParaRPr>
          </a:p>
          <a:p>
            <a:pPr lvl="0"/>
            <a:endParaRPr lang="en-US" dirty="0">
              <a:latin typeface="Arial"/>
              <a:ea typeface="等线"/>
            </a:endParaRPr>
          </a:p>
          <a:p>
            <a:pPr lvl="0"/>
            <a:r>
              <a:rPr lang="en-US" dirty="0">
                <a:latin typeface="Arial"/>
                <a:ea typeface="等线"/>
              </a:rPr>
              <a:t>Instructor: </a:t>
            </a:r>
            <a:r>
              <a:rPr lang="en-US" dirty="0" err="1">
                <a:latin typeface="Arial"/>
                <a:ea typeface="等线"/>
              </a:rPr>
              <a:t>Yifan</a:t>
            </a:r>
            <a:r>
              <a:rPr lang="en-US" dirty="0">
                <a:latin typeface="Arial"/>
                <a:ea typeface="等线"/>
              </a:rPr>
              <a:t> Song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  <a:latin typeface="Arial"/>
              </a:rPr>
              <a:t>Self Introduction</a:t>
            </a:r>
            <a:endParaRPr lang="zh-CN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68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5161671" cy="4926867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zh-CN" sz="2400" b="1" dirty="0">
                <a:latin typeface="Arial"/>
                <a:ea typeface="等线"/>
              </a:rPr>
              <a:t>宋一凡</a:t>
            </a:r>
            <a:endParaRPr lang="en-US" sz="2400" b="1" dirty="0">
              <a:latin typeface="Arial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sz="2400" b="1" dirty="0" err="1">
                <a:latin typeface="Arial"/>
                <a:ea typeface="等线"/>
              </a:rPr>
              <a:t>Yifan</a:t>
            </a:r>
            <a:r>
              <a:rPr lang="en-US" sz="2400" b="1" dirty="0">
                <a:latin typeface="Arial"/>
                <a:ea typeface="等线"/>
              </a:rPr>
              <a:t> Song</a:t>
            </a:r>
            <a:endParaRPr dirty="0"/>
          </a:p>
          <a:p>
            <a:pPr marL="0" lvl="0" indent="0">
              <a:lnSpc>
                <a:spcPct val="150000"/>
              </a:lnSpc>
              <a:buNone/>
            </a:pPr>
            <a:r>
              <a:rPr lang="en-US" sz="2000" dirty="0" smtClean="0">
                <a:latin typeface="Arial"/>
                <a:ea typeface="等线"/>
              </a:rPr>
              <a:t>Assistant Professor</a:t>
            </a:r>
            <a:endParaRPr lang="en-US" sz="2000" dirty="0">
              <a:latin typeface="Arial"/>
              <a:ea typeface="等线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sz="2000" dirty="0">
              <a:latin typeface="Arial"/>
              <a:ea typeface="等线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sz="2000" dirty="0">
                <a:latin typeface="Arial"/>
                <a:ea typeface="等线"/>
              </a:rPr>
              <a:t>Office: C1901-8, </a:t>
            </a:r>
            <a:r>
              <a:rPr lang="en-US" sz="2000" dirty="0" err="1">
                <a:latin typeface="Arial"/>
                <a:ea typeface="等线"/>
              </a:rPr>
              <a:t>TusPark</a:t>
            </a:r>
            <a:endParaRPr lang="en-US" sz="2000" dirty="0">
              <a:latin typeface="Arial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sz="2000" dirty="0" err="1">
                <a:latin typeface="Arial"/>
                <a:ea typeface="等线"/>
              </a:rPr>
              <a:t>Wechat</a:t>
            </a:r>
            <a:r>
              <a:rPr lang="en-US" sz="2000" dirty="0">
                <a:latin typeface="Arial"/>
                <a:ea typeface="等线"/>
              </a:rPr>
              <a:t>: syf553605540</a:t>
            </a:r>
            <a:endParaRPr dirty="0"/>
          </a:p>
          <a:p>
            <a:pPr marL="0" lvl="0" indent="0">
              <a:lnSpc>
                <a:spcPct val="150000"/>
              </a:lnSpc>
              <a:buNone/>
            </a:pPr>
            <a:r>
              <a:rPr lang="en-US" sz="2000" dirty="0">
                <a:latin typeface="Arial"/>
                <a:ea typeface="等线"/>
              </a:rPr>
              <a:t>Email: </a:t>
            </a:r>
            <a:r>
              <a:rPr lang="en-US" sz="2000" dirty="0">
                <a:latin typeface="Arial"/>
                <a:ea typeface="等线"/>
                <a:hlinkClick r:id="rId3">
                  <a:extLst>
                    <a:ext uri=""/>
                  </a:extLst>
                </a:hlinkClick>
              </a:rPr>
              <a:t>yfsong@mail.tsinghua.edu.cn</a:t>
            </a:r>
            <a:endParaRPr lang="en-US" sz="2000" dirty="0">
              <a:latin typeface="Arial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sz="2000" dirty="0">
                <a:latin typeface="Arial"/>
                <a:ea typeface="等线"/>
              </a:rPr>
              <a:t>Office Hour: </a:t>
            </a:r>
            <a:r>
              <a:rPr lang="en-US" sz="2000" dirty="0" smtClean="0">
                <a:latin typeface="Arial"/>
                <a:ea typeface="等线"/>
              </a:rPr>
              <a:t>Tuesday 10am – 11am</a:t>
            </a:r>
            <a:endParaRPr dirty="0"/>
          </a:p>
        </p:txBody>
      </p:sp>
      <p:sp>
        <p:nvSpPr>
          <p:cNvPr id="69" name="内容占位符 2"/>
          <p:cNvSpPr txBox="1"/>
          <p:nvPr/>
        </p:nvSpPr>
        <p:spPr>
          <a:xfrm>
            <a:off x="6392594" y="1825625"/>
            <a:ext cx="5161671" cy="4667250"/>
          </a:xfrm>
          <a:prstGeom prst="rect">
            <a:avLst/>
          </a:prstGeom>
        </p:spPr>
        <p:txBody>
          <a:bodyPr vert="horz" lIns="91440" tIns="45720" rIns="91440" bIns="45720">
            <a:normAutofit lnSpcReduction="10000"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等线"/>
                <a:ea typeface="等线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等线"/>
                <a:ea typeface="等线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等线"/>
                <a:ea typeface="等线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9pPr>
          </a:lstStyle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en-US" sz="2400" b="1" dirty="0">
                <a:latin typeface="Arial"/>
              </a:rPr>
              <a:t>Education</a:t>
            </a:r>
            <a:endParaRPr dirty="0"/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/>
              </a:rPr>
              <a:t>2013 – 2017 Yao Class, Tsinghua University</a:t>
            </a:r>
            <a:endParaRPr dirty="0"/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/>
              </a:rPr>
              <a:t>2017 – 2022 Carnegie Mellon University</a:t>
            </a:r>
            <a:endParaRPr dirty="0"/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/>
              </a:rPr>
              <a:t>2022.12 Join IIIS</a:t>
            </a:r>
            <a:endParaRPr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Aria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Arial"/>
              </a:rPr>
              <a:t>Research Area</a:t>
            </a:r>
            <a:endParaRPr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Arial"/>
              </a:rPr>
              <a:t>Cryptography 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  <a:latin typeface="Arial"/>
              </a:rPr>
              <a:t>Teaching Assistant</a:t>
            </a:r>
            <a:endParaRPr lang="zh-CN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85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5161671" cy="4926867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50000"/>
              </a:lnSpc>
              <a:buFont typeface="Arial" charset="0"/>
              <a:buNone/>
            </a:pPr>
            <a:endParaRPr lang="en-US" sz="2400" dirty="0">
              <a:latin typeface="Arial"/>
              <a:ea typeface="等线"/>
            </a:endParaRPr>
          </a:p>
          <a:p>
            <a:pPr marL="0" lvl="0" indent="0" algn="ctr">
              <a:lnSpc>
                <a:spcPct val="150000"/>
              </a:lnSpc>
              <a:buFont typeface="Arial" charset="0"/>
              <a:buNone/>
            </a:pPr>
            <a:r>
              <a:rPr lang="zh-CN" altLang="en-US" sz="2400" dirty="0" smtClean="0">
                <a:latin typeface="Arial"/>
                <a:ea typeface="等线"/>
              </a:rPr>
              <a:t>李君儒</a:t>
            </a:r>
            <a:endParaRPr dirty="0"/>
          </a:p>
          <a:p>
            <a:pPr marL="0" lvl="0" indent="0" algn="ctr">
              <a:lnSpc>
                <a:spcPct val="150000"/>
              </a:lnSpc>
              <a:buFont typeface="Arial" charset="0"/>
              <a:buNone/>
            </a:pPr>
            <a:r>
              <a:rPr lang="en-US" sz="2400" dirty="0" err="1" smtClean="0">
                <a:latin typeface="Arial"/>
                <a:ea typeface="等线"/>
              </a:rPr>
              <a:t>Junru</a:t>
            </a:r>
            <a:r>
              <a:rPr lang="en-US" sz="2400" dirty="0" smtClean="0">
                <a:latin typeface="Arial"/>
                <a:ea typeface="等线"/>
              </a:rPr>
              <a:t> Li</a:t>
            </a:r>
            <a:endParaRPr dirty="0"/>
          </a:p>
        </p:txBody>
      </p:sp>
      <p:sp>
        <p:nvSpPr>
          <p:cNvPr id="186" name="文本框 185"/>
          <p:cNvSpPr txBox="1"/>
          <p:nvPr/>
        </p:nvSpPr>
        <p:spPr>
          <a:xfrm>
            <a:off x="1571185" y="4497906"/>
            <a:ext cx="3695700" cy="3683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lvl="0" algn="ctr"/>
            <a:r>
              <a:rPr lang="en-US" dirty="0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Microsoft YaHei"/>
                <a:ea typeface="Microsoft YaHei"/>
              </a:rPr>
              <a:t>jr-li24@mails.tsinghua.edu.cn</a:t>
            </a:r>
            <a:endParaRPr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999870" y="1825624"/>
            <a:ext cx="5161671" cy="492686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等线"/>
                <a:ea typeface="等线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等线"/>
                <a:ea typeface="等线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等线"/>
                <a:ea typeface="等线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9pPr>
          </a:lstStyle>
          <a:p>
            <a:pPr marL="0" indent="0" algn="ctr">
              <a:lnSpc>
                <a:spcPct val="150000"/>
              </a:lnSpc>
              <a:buFont typeface="Arial" charset="0"/>
              <a:buNone/>
            </a:pPr>
            <a:endParaRPr lang="zh-CN" altLang="en-US" sz="2400" dirty="0" smtClean="0">
              <a:latin typeface="Arial"/>
            </a:endParaRPr>
          </a:p>
          <a:p>
            <a:pPr marL="0" indent="0" algn="ctr">
              <a:lnSpc>
                <a:spcPct val="150000"/>
              </a:lnSpc>
              <a:buFont typeface="Arial" charset="0"/>
              <a:buNone/>
            </a:pPr>
            <a:r>
              <a:rPr lang="zh-CN" altLang="en-US" sz="2400" dirty="0" smtClean="0">
                <a:latin typeface="Arial"/>
              </a:rPr>
              <a:t>杜宗航</a:t>
            </a:r>
            <a:endParaRPr lang="zh-CN" altLang="en-US" dirty="0" smtClean="0"/>
          </a:p>
          <a:p>
            <a:pPr marL="0" indent="0" algn="ctr">
              <a:lnSpc>
                <a:spcPct val="150000"/>
              </a:lnSpc>
              <a:buFont typeface="Arial" charset="0"/>
              <a:buNone/>
            </a:pPr>
            <a:r>
              <a:rPr lang="en-US" altLang="zh-CN" sz="2400" dirty="0" err="1" smtClean="0">
                <a:latin typeface="Arial"/>
              </a:rPr>
              <a:t>Zonghang</a:t>
            </a:r>
            <a:r>
              <a:rPr lang="en-US" altLang="zh-CN" sz="2400" dirty="0" smtClean="0">
                <a:latin typeface="Arial"/>
              </a:rPr>
              <a:t> Du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732856" y="4497906"/>
            <a:ext cx="3695700" cy="3683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lvl="0" algn="ctr"/>
            <a:r>
              <a:rPr lang="en-US" dirty="0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Microsoft YaHei"/>
                <a:ea typeface="Microsoft YaHei"/>
              </a:rPr>
              <a:t>duzh23@mails.tsinghua.edu.cn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  <a:latin typeface="Arial"/>
              </a:rPr>
              <a:t>Grading</a:t>
            </a:r>
            <a:endParaRPr lang="zh-CN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49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dirty="0" smtClean="0">
                <a:solidFill>
                  <a:srgbClr val="FF0000"/>
                </a:solidFill>
                <a:latin typeface="Arial"/>
              </a:rPr>
              <a:t>20%</a:t>
            </a:r>
            <a:r>
              <a:rPr lang="zh-CN" dirty="0" smtClean="0">
                <a:latin typeface="Arial"/>
              </a:rPr>
              <a:t> </a:t>
            </a:r>
            <a:r>
              <a:rPr lang="en-US" dirty="0">
                <a:latin typeface="Arial"/>
              </a:rPr>
              <a:t>Homework</a:t>
            </a:r>
            <a:r>
              <a:rPr lang="zh-CN" dirty="0">
                <a:latin typeface="Arial"/>
              </a:rPr>
              <a:t> </a:t>
            </a:r>
            <a:endParaRPr lang="en-US" dirty="0">
              <a:latin typeface="Arial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lang="en-US" dirty="0" smtClean="0">
                <a:solidFill>
                  <a:srgbClr val="FF0000"/>
                </a:solidFill>
                <a:latin typeface="Arial"/>
              </a:rPr>
              <a:t>27%</a:t>
            </a:r>
            <a:r>
              <a:rPr lang="zh-CN" dirty="0" smtClean="0">
                <a:latin typeface="Arial"/>
              </a:rPr>
              <a:t> </a:t>
            </a:r>
            <a:r>
              <a:rPr lang="en-US" altLang="zh-CN" dirty="0" smtClean="0">
                <a:latin typeface="Arial"/>
              </a:rPr>
              <a:t>Midterm Exam</a:t>
            </a:r>
            <a:r>
              <a:rPr lang="zh-CN" dirty="0" smtClean="0">
                <a:latin typeface="Arial"/>
              </a:rPr>
              <a:t> </a:t>
            </a:r>
            <a:endParaRPr lang="en-US" dirty="0">
              <a:latin typeface="Arial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lang="en-US" dirty="0" smtClean="0">
                <a:solidFill>
                  <a:srgbClr val="FF0000"/>
                </a:solidFill>
                <a:latin typeface="Arial"/>
              </a:rPr>
              <a:t>3%</a:t>
            </a:r>
            <a:r>
              <a:rPr lang="en-US" dirty="0" smtClean="0">
                <a:latin typeface="Arial"/>
              </a:rPr>
              <a:t> Attendance </a:t>
            </a:r>
            <a:r>
              <a:rPr lang="zh-CN" altLang="en-US" dirty="0" smtClean="0">
                <a:latin typeface="Arial"/>
              </a:rPr>
              <a:t>（三次随机课上考勤）</a:t>
            </a:r>
            <a:endParaRPr lang="en-US" dirty="0">
              <a:latin typeface="Arial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lang="en-US" dirty="0" smtClean="0">
                <a:solidFill>
                  <a:srgbClr val="FF0000"/>
                </a:solidFill>
                <a:latin typeface="Arial"/>
              </a:rPr>
              <a:t>50</a:t>
            </a:r>
            <a:r>
              <a:rPr lang="en-US" dirty="0">
                <a:solidFill>
                  <a:srgbClr val="FF0000"/>
                </a:solidFill>
                <a:latin typeface="Arial"/>
              </a:rPr>
              <a:t>%</a:t>
            </a:r>
            <a:r>
              <a:rPr lang="zh-CN" dirty="0">
                <a:latin typeface="Arial"/>
              </a:rPr>
              <a:t> </a:t>
            </a:r>
            <a:r>
              <a:rPr lang="en-US" dirty="0" smtClean="0">
                <a:latin typeface="Arial"/>
              </a:rPr>
              <a:t>Final Exam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  <a:latin typeface="Arial"/>
              </a:rPr>
              <a:t>Grading</a:t>
            </a:r>
            <a:endParaRPr lang="zh-CN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499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Font typeface="Arial" charset="0"/>
              <a:buNone/>
            </a:pPr>
            <a:r>
              <a:rPr lang="en-US" sz="2400" dirty="0">
                <a:latin typeface="Arial"/>
                <a:ea typeface="等线"/>
              </a:rPr>
              <a:t>Homework </a:t>
            </a:r>
            <a:r>
              <a:rPr lang="en-US" sz="2400" dirty="0" smtClean="0">
                <a:latin typeface="Arial"/>
                <a:ea typeface="等线"/>
              </a:rPr>
              <a:t>(20%; </a:t>
            </a:r>
            <a:r>
              <a:rPr lang="en-US" altLang="zh-CN" sz="2400" dirty="0" smtClean="0">
                <a:latin typeface="Arial"/>
                <a:ea typeface="等线"/>
              </a:rPr>
              <a:t>Once per Week</a:t>
            </a:r>
            <a:r>
              <a:rPr lang="en-US" sz="2400" dirty="0" smtClean="0">
                <a:latin typeface="Arial"/>
                <a:ea typeface="等线"/>
              </a:rPr>
              <a:t>)</a:t>
            </a:r>
            <a:endParaRPr dirty="0"/>
          </a:p>
          <a:p>
            <a:pPr lvl="0">
              <a:lnSpc>
                <a:spcPct val="150000"/>
              </a:lnSpc>
              <a:buFont typeface="Arial" charset="0"/>
              <a:buChar char="•"/>
            </a:pPr>
            <a:r>
              <a:rPr lang="en-US" altLang="zh-CN" sz="1600" dirty="0" smtClean="0">
                <a:latin typeface="Arial"/>
              </a:rPr>
              <a:t>Return in </a:t>
            </a:r>
            <a:r>
              <a:rPr lang="en-US" altLang="zh-CN" sz="1600" dirty="0" smtClean="0">
                <a:solidFill>
                  <a:srgbClr val="FF0000"/>
                </a:solidFill>
                <a:latin typeface="Arial"/>
              </a:rPr>
              <a:t>1 week</a:t>
            </a:r>
            <a:r>
              <a:rPr lang="en-US" altLang="zh-CN" sz="1600" dirty="0" smtClean="0">
                <a:latin typeface="Arial"/>
              </a:rPr>
              <a:t> (Friday night by default)</a:t>
            </a:r>
            <a:r>
              <a:rPr lang="en-US" sz="1600" dirty="0" smtClean="0">
                <a:latin typeface="Arial"/>
              </a:rPr>
              <a:t>.</a:t>
            </a:r>
            <a:endParaRPr sz="1600" dirty="0"/>
          </a:p>
          <a:p>
            <a:pPr lvl="0">
              <a:lnSpc>
                <a:spcPct val="150000"/>
              </a:lnSpc>
              <a:buFont typeface="Arial" charset="0"/>
              <a:buChar char="•"/>
            </a:pPr>
            <a:r>
              <a:rPr lang="en-US" sz="1600" dirty="0" smtClean="0">
                <a:latin typeface="Arial"/>
              </a:rPr>
              <a:t>Show clearly how you derive your answer in English.</a:t>
            </a:r>
          </a:p>
          <a:p>
            <a:pPr lvl="0">
              <a:lnSpc>
                <a:spcPct val="150000"/>
              </a:lnSpc>
              <a:buFont typeface="Arial" charset="0"/>
              <a:buChar char="•"/>
            </a:pPr>
            <a:r>
              <a:rPr lang="en-US" sz="1600" dirty="0" smtClean="0">
                <a:latin typeface="Arial"/>
              </a:rPr>
              <a:t>Hand in your solutions via Web Learning</a:t>
            </a:r>
            <a:r>
              <a:rPr lang="zh-CN" altLang="en-US" sz="1600" dirty="0" smtClean="0">
                <a:latin typeface="Arial"/>
              </a:rPr>
              <a:t>（网络学堂）</a:t>
            </a:r>
            <a:r>
              <a:rPr lang="en-US" altLang="zh-CN" sz="1600" dirty="0" smtClean="0">
                <a:latin typeface="Arial"/>
              </a:rPr>
              <a:t>in pdf electronic form.</a:t>
            </a:r>
          </a:p>
          <a:p>
            <a:pPr lvl="0">
              <a:lnSpc>
                <a:spcPct val="150000"/>
              </a:lnSpc>
              <a:buFont typeface="Arial" charset="0"/>
              <a:buChar char="•"/>
            </a:pPr>
            <a:r>
              <a:rPr lang="en-US" sz="1600" dirty="0" smtClean="0">
                <a:latin typeface="Arial"/>
              </a:rPr>
              <a:t>Make sure your solutions can be easily recognized (especially for hand-writing)</a:t>
            </a:r>
          </a:p>
          <a:p>
            <a:pPr marL="0" lvl="0" indent="0" algn="ctr">
              <a:lnSpc>
                <a:spcPct val="150000"/>
              </a:lnSpc>
              <a:buNone/>
            </a:pPr>
            <a:r>
              <a:rPr lang="en-US" sz="1600" i="1" dirty="0" smtClean="0">
                <a:solidFill>
                  <a:srgbClr val="FF0000"/>
                </a:solidFill>
                <a:latin typeface="Arial"/>
              </a:rPr>
              <a:t>No Argument Accept if TAs cannot decode them</a:t>
            </a:r>
            <a:endParaRPr sz="1600" i="1" dirty="0">
              <a:solidFill>
                <a:srgbClr val="FF0000"/>
              </a:solidFill>
            </a:endParaRPr>
          </a:p>
          <a:p>
            <a:pPr lvl="0">
              <a:lnSpc>
                <a:spcPct val="150000"/>
              </a:lnSpc>
              <a:buFont typeface="Arial" charset="0"/>
              <a:buChar char="•"/>
            </a:pPr>
            <a:r>
              <a:rPr lang="en-US" sz="1600" dirty="0" smtClean="0">
                <a:latin typeface="Arial"/>
              </a:rPr>
              <a:t>Late </a:t>
            </a:r>
            <a:r>
              <a:rPr lang="en-US" sz="1600" dirty="0">
                <a:latin typeface="Arial"/>
              </a:rPr>
              <a:t>submission is </a:t>
            </a:r>
            <a:r>
              <a:rPr lang="en-US" sz="1600" dirty="0">
                <a:solidFill>
                  <a:srgbClr val="FF0000">
                    <a:alpha val="100000"/>
                  </a:srgbClr>
                </a:solidFill>
                <a:latin typeface="Arial"/>
              </a:rPr>
              <a:t>not accepted</a:t>
            </a:r>
            <a:r>
              <a:rPr lang="en-US" sz="1600" dirty="0">
                <a:latin typeface="Arial"/>
              </a:rPr>
              <a:t> in general. </a:t>
            </a:r>
            <a:r>
              <a:rPr lang="en-US" sz="1600" i="1" dirty="0">
                <a:latin typeface="Arial"/>
              </a:rPr>
              <a:t>Please try to not submit your homework in the last minute.</a:t>
            </a:r>
          </a:p>
          <a:p>
            <a:pPr marL="0" lvl="0" indent="0" algn="ctr">
              <a:lnSpc>
                <a:spcPct val="150000"/>
              </a:lnSpc>
              <a:buFont typeface="Arial" charset="0"/>
              <a:buNone/>
            </a:pPr>
            <a:r>
              <a:rPr lang="en-US" sz="1600" i="1" dirty="0">
                <a:solidFill>
                  <a:srgbClr val="FF0200">
                    <a:alpha val="100000"/>
                  </a:srgbClr>
                </a:solidFill>
                <a:latin typeface="Arial"/>
              </a:rPr>
              <a:t>Your score * 50% within one day after the deadline and 0 after that.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9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等线 Light"/>
                <a:ea typeface="等线 Light"/>
              </a:defRPr>
            </a:lvl1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Grading</a:t>
            </a:r>
            <a:endParaRPr lang="zh-CN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502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等线"/>
                <a:ea typeface="等线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等线"/>
                <a:ea typeface="等线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等线"/>
                <a:ea typeface="等线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9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altLang="zh-CN" sz="2400" dirty="0" smtClean="0">
                <a:latin typeface="Arial"/>
                <a:ea typeface="等线"/>
              </a:rPr>
              <a:t>Exams</a:t>
            </a:r>
            <a:r>
              <a:rPr lang="en-US" sz="2400" dirty="0" smtClean="0">
                <a:latin typeface="Arial"/>
                <a:ea typeface="等线"/>
              </a:rPr>
              <a:t> (27% + 50%)</a:t>
            </a:r>
            <a:endParaRPr lang="en-US" sz="2000" dirty="0" smtClean="0">
              <a:latin typeface="Arial"/>
              <a:ea typeface="等线"/>
            </a:endParaRPr>
          </a:p>
          <a:p>
            <a:pPr lvl="0">
              <a:lnSpc>
                <a:spcPct val="150000"/>
              </a:lnSpc>
            </a:pPr>
            <a:r>
              <a:rPr lang="en-US" sz="2000" dirty="0" smtClean="0">
                <a:latin typeface="Arial"/>
                <a:ea typeface="等线"/>
              </a:rPr>
              <a:t>Exams will be held together with the other parallel class</a:t>
            </a:r>
          </a:p>
          <a:p>
            <a:pPr lvl="0">
              <a:lnSpc>
                <a:spcPct val="150000"/>
              </a:lnSpc>
            </a:pPr>
            <a:r>
              <a:rPr lang="en-US" sz="2000" dirty="0" smtClean="0">
                <a:latin typeface="Arial"/>
                <a:ea typeface="等线"/>
              </a:rPr>
              <a:t>Midterm exam is scheduled in class </a:t>
            </a:r>
            <a:r>
              <a:rPr lang="en-US" sz="2000" dirty="0" smtClean="0">
                <a:solidFill>
                  <a:srgbClr val="FF0000"/>
                </a:solidFill>
                <a:latin typeface="Arial"/>
                <a:ea typeface="等线"/>
              </a:rPr>
              <a:t>(Friday, 11/13/2026)</a:t>
            </a:r>
          </a:p>
          <a:p>
            <a:pPr lvl="0">
              <a:lnSpc>
                <a:spcPct val="150000"/>
              </a:lnSpc>
            </a:pPr>
            <a:r>
              <a:rPr lang="en-US" sz="2000" dirty="0" smtClean="0">
                <a:latin typeface="Arial"/>
                <a:ea typeface="等线"/>
              </a:rPr>
              <a:t>Some problems will be directly from the homework or </a:t>
            </a:r>
            <a:r>
              <a:rPr lang="en-US" sz="2000" dirty="0" smtClean="0">
                <a:latin typeface="Arial"/>
              </a:rPr>
              <a:t>the lecture</a:t>
            </a:r>
            <a:endParaRPr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9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等线 Light"/>
                <a:ea typeface="等线 Light"/>
              </a:defRPr>
            </a:lvl1pPr>
          </a:lstStyle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Arial"/>
              </a:rPr>
              <a:t>Recitals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/>
              </a:rPr>
              <a:t>（习题课）</a:t>
            </a:r>
            <a:endParaRPr lang="zh-CN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502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等线"/>
                <a:ea typeface="等线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等线"/>
                <a:ea typeface="等线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等线"/>
                <a:ea typeface="等线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sz="2000" dirty="0" smtClean="0">
                <a:latin typeface="Arial"/>
                <a:ea typeface="等线"/>
              </a:rPr>
              <a:t>The recitals will be held together with the other parallel class.</a:t>
            </a:r>
          </a:p>
          <a:p>
            <a:pPr lvl="0">
              <a:lnSpc>
                <a:spcPct val="150000"/>
              </a:lnSpc>
            </a:pPr>
            <a:r>
              <a:rPr lang="en-US" sz="2000" dirty="0" smtClean="0">
                <a:latin typeface="Arial"/>
                <a:ea typeface="等线"/>
              </a:rPr>
              <a:t>Once per week, to be scheduled.</a:t>
            </a:r>
          </a:p>
          <a:p>
            <a:pPr lvl="0">
              <a:lnSpc>
                <a:spcPct val="150000"/>
              </a:lnSpc>
            </a:pPr>
            <a:endParaRPr lang="en-US" sz="2000" dirty="0" smtClean="0">
              <a:latin typeface="Arial"/>
            </a:endParaRPr>
          </a:p>
          <a:p>
            <a:pPr lvl="0">
              <a:lnSpc>
                <a:spcPct val="150000"/>
              </a:lnSpc>
            </a:pPr>
            <a:r>
              <a:rPr lang="en-US" sz="2000" dirty="0" smtClean="0">
                <a:latin typeface="Arial"/>
              </a:rPr>
              <a:t>Please finish the questionnaire if you haven’t.</a:t>
            </a:r>
          </a:p>
        </p:txBody>
      </p:sp>
    </p:spTree>
    <p:extLst>
      <p:ext uri="{BB962C8B-B14F-4D97-AF65-F5344CB8AC3E}">
        <p14:creationId xmlns:p14="http://schemas.microsoft.com/office/powerpoint/2010/main" val="1101440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Arial"/>
              </a:rPr>
              <a:t>Textbooks</a:t>
            </a:r>
            <a:endParaRPr lang="zh-CN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45" y="1416485"/>
            <a:ext cx="2932363" cy="4495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042" y="1606985"/>
            <a:ext cx="3275598" cy="41148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20199" y="6096951"/>
            <a:ext cx="5391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Arial"/>
              </a:rPr>
              <a:t>Linear Algebra and its applications – Fourth </a:t>
            </a:r>
            <a:r>
              <a:rPr lang="en-US" altLang="zh-CN" dirty="0" smtClean="0">
                <a:solidFill>
                  <a:schemeClr val="accent1"/>
                </a:solidFill>
                <a:latin typeface="Arial"/>
              </a:rPr>
              <a:t>Edition</a:t>
            </a:r>
            <a:endParaRPr lang="zh-CN" altLang="zh-CN" sz="1600" i="1" dirty="0">
              <a:latin typeface="Arial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3982" y="6096951"/>
            <a:ext cx="3365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Arial"/>
              </a:rPr>
              <a:t>Linear Algebra – Fourth </a:t>
            </a:r>
            <a:r>
              <a:rPr lang="en-US" altLang="zh-CN" dirty="0" smtClean="0">
                <a:solidFill>
                  <a:schemeClr val="accent1"/>
                </a:solidFill>
                <a:latin typeface="Arial"/>
              </a:rPr>
              <a:t>Edition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/>
              </a:rPr>
              <a:t>Tentative Syllabus</a:t>
            </a:r>
            <a:endParaRPr lang="zh-CN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216787"/>
              </p:ext>
            </p:extLst>
          </p:nvPr>
        </p:nvGraphicFramePr>
        <p:xfrm>
          <a:off x="1687534" y="1690688"/>
          <a:ext cx="8128000" cy="468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603">
                  <a:extLst>
                    <a:ext uri="{9D8B030D-6E8A-4147-A177-3AD203B41FA5}">
                      <a16:colId xmlns:a16="http://schemas.microsoft.com/office/drawing/2014/main" val="2301107492"/>
                    </a:ext>
                  </a:extLst>
                </a:gridCol>
                <a:gridCol w="6621397">
                  <a:extLst>
                    <a:ext uri="{9D8B030D-6E8A-4147-A177-3AD203B41FA5}">
                      <a16:colId xmlns:a16="http://schemas.microsoft.com/office/drawing/2014/main" val="2824162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Lectures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Materials to be Covered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67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Systems of Linear Equations, Row Reduction and Echelon Form, Vector Equations and Matrix Equations.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95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Field, Vector Space, Subspace and Linear Independence, Bases and Dimension.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Linear Transformation, Null Space and Range, the Matrix Representation of a Linear Transformation.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382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Composition of Linear Transformation and Matrix Multiplication, </a:t>
                      </a:r>
                      <a:r>
                        <a:rPr lang="en-US" altLang="zh-CN" dirty="0" err="1" smtClean="0"/>
                        <a:t>Invertibility</a:t>
                      </a:r>
                      <a:r>
                        <a:rPr lang="en-US" altLang="zh-CN" dirty="0" smtClean="0"/>
                        <a:t> and Isomorphism.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0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The Changes of Coordinate Matrix and Dual Space, the Rank of a Matrix.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056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Partitioned Matrices, LU Decompositions and Matrix Inverses.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04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Determinants of Order 2 and Order n, Cofactor Expansion.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051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Midterm Exam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1462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/>
              </a:rPr>
              <a:t>Tentative Syllabus</a:t>
            </a:r>
            <a:endParaRPr lang="zh-CN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936438"/>
              </p:ext>
            </p:extLst>
          </p:nvPr>
        </p:nvGraphicFramePr>
        <p:xfrm>
          <a:off x="1687534" y="1690688"/>
          <a:ext cx="8128000" cy="485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603">
                  <a:extLst>
                    <a:ext uri="{9D8B030D-6E8A-4147-A177-3AD203B41FA5}">
                      <a16:colId xmlns:a16="http://schemas.microsoft.com/office/drawing/2014/main" val="2301107492"/>
                    </a:ext>
                  </a:extLst>
                </a:gridCol>
                <a:gridCol w="6621397">
                  <a:extLst>
                    <a:ext uri="{9D8B030D-6E8A-4147-A177-3AD203B41FA5}">
                      <a16:colId xmlns:a16="http://schemas.microsoft.com/office/drawing/2014/main" val="2824162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Lectures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Materials to be Covered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67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Properties of Determinants, Diagonalization: Eigenvectors and Eigenvalues, </a:t>
                      </a:r>
                      <a:r>
                        <a:rPr lang="en-US" altLang="zh-CN" dirty="0" err="1" smtClean="0"/>
                        <a:t>Diagonalizability</a:t>
                      </a:r>
                      <a:r>
                        <a:rPr lang="en-US" altLang="zh-CN" dirty="0" smtClean="0"/>
                        <a:t>, Test for </a:t>
                      </a:r>
                      <a:r>
                        <a:rPr lang="en-US" altLang="zh-CN" dirty="0" err="1" smtClean="0"/>
                        <a:t>Diagonalizability</a:t>
                      </a:r>
                      <a:r>
                        <a:rPr lang="en-US" altLang="zh-CN" dirty="0" smtClean="0"/>
                        <a:t>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95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Differential Equation, Direct Sum, Invariant Subspace, the Cayley-Hamilton Theorem.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Inner Product Space, The Gram-Schmidt </a:t>
                      </a:r>
                      <a:r>
                        <a:rPr lang="en-US" altLang="zh-CN" dirty="0" err="1" smtClean="0"/>
                        <a:t>Orthogonalization</a:t>
                      </a:r>
                      <a:r>
                        <a:rPr lang="en-US" altLang="zh-CN" dirty="0" smtClean="0"/>
                        <a:t>, Process, Orthogonal Complements, The </a:t>
                      </a:r>
                      <a:r>
                        <a:rPr lang="en-US" altLang="zh-CN" dirty="0" err="1" smtClean="0"/>
                        <a:t>Adjoint</a:t>
                      </a:r>
                      <a:r>
                        <a:rPr lang="en-US" altLang="zh-CN" dirty="0" smtClean="0"/>
                        <a:t> of a Linear Operator.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382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Least Squares Approximation, Minimum Solutions to Systems of Linear Equations, Normal and Self-</a:t>
                      </a:r>
                      <a:r>
                        <a:rPr lang="en-US" altLang="zh-CN" dirty="0" err="1" smtClean="0"/>
                        <a:t>adjoint</a:t>
                      </a:r>
                      <a:r>
                        <a:rPr lang="en-US" altLang="zh-CN" dirty="0" smtClean="0"/>
                        <a:t> Operators.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0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Unitary and Orthogonal Operators and their Matrices, Orthogonal Projections and the Spectral Theorem.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056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Bilinear Forms, Diagonalization of Symmetric Matrices, Quadratic Forms, Singular Value Decomposition.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04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Final Exam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051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745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/>
              </a:rPr>
              <a:t>Importance of Linear Algebra</a:t>
            </a:r>
            <a:endParaRPr lang="zh-CN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3933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400" dirty="0" smtClean="0">
                <a:latin typeface="Arial"/>
              </a:rPr>
              <a:t>Prerequisite </a:t>
            </a:r>
            <a:r>
              <a:rPr lang="en-US" sz="2400" dirty="0">
                <a:latin typeface="Arial"/>
              </a:rPr>
              <a:t>for almost all </a:t>
            </a:r>
            <a:r>
              <a:rPr lang="en-US" sz="2400" dirty="0" smtClean="0">
                <a:latin typeface="Arial"/>
              </a:rPr>
              <a:t>classes: </a:t>
            </a:r>
            <a:r>
              <a:rPr lang="en-US" sz="2400" dirty="0" smtClean="0">
                <a:solidFill>
                  <a:srgbClr val="0070C0"/>
                </a:solidFill>
                <a:latin typeface="Arial"/>
              </a:rPr>
              <a:t>abstract </a:t>
            </a:r>
            <a:r>
              <a:rPr lang="en-US" sz="2400" dirty="0">
                <a:solidFill>
                  <a:srgbClr val="0070C0"/>
                </a:solidFill>
                <a:latin typeface="Arial"/>
              </a:rPr>
              <a:t>algebra, information physics, </a:t>
            </a:r>
            <a:r>
              <a:rPr lang="en-US" sz="2400" dirty="0" smtClean="0">
                <a:solidFill>
                  <a:srgbClr val="0070C0"/>
                </a:solidFill>
                <a:latin typeface="Arial"/>
              </a:rPr>
              <a:t>quantum </a:t>
            </a:r>
            <a:r>
              <a:rPr lang="en-US" sz="2400" dirty="0">
                <a:solidFill>
                  <a:srgbClr val="0070C0"/>
                </a:solidFill>
                <a:latin typeface="Arial"/>
              </a:rPr>
              <a:t>mechanics, statistical physics, </a:t>
            </a:r>
            <a:r>
              <a:rPr lang="en-US" sz="2400" dirty="0" smtClean="0">
                <a:solidFill>
                  <a:srgbClr val="0070C0"/>
                </a:solidFill>
                <a:latin typeface="Arial"/>
              </a:rPr>
              <a:t>graphics</a:t>
            </a:r>
            <a:r>
              <a:rPr lang="en-US" sz="2400" dirty="0">
                <a:solidFill>
                  <a:srgbClr val="0070C0"/>
                </a:solidFill>
                <a:latin typeface="Arial"/>
              </a:rPr>
              <a:t>, data compression, game theory, </a:t>
            </a:r>
            <a:r>
              <a:rPr lang="en-US" sz="2400" dirty="0" smtClean="0">
                <a:solidFill>
                  <a:srgbClr val="0070C0"/>
                </a:solidFill>
                <a:latin typeface="Arial"/>
              </a:rPr>
              <a:t>cryptography</a:t>
            </a:r>
            <a:r>
              <a:rPr lang="en-US" sz="2400" dirty="0" smtClean="0">
                <a:solidFill>
                  <a:srgbClr val="0070C0"/>
                </a:solidFill>
                <a:latin typeface="Arial"/>
              </a:rPr>
              <a:t>, …</a:t>
            </a:r>
            <a:endParaRPr lang="en-US" sz="2400" dirty="0">
              <a:solidFill>
                <a:srgbClr val="0070C0"/>
              </a:solidFill>
              <a:latin typeface="Arial"/>
            </a:endParaRP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Arial"/>
              </a:rPr>
              <a:t>Useful Math Tools </a:t>
            </a: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Arial"/>
              </a:rPr>
              <a:t>Reveal Connections of Many Objects from Different Areas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4618655" y="3108388"/>
            <a:ext cx="2954816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lvl="0" algn="ctr"/>
            <a:r>
              <a:rPr lang="en-US" sz="3600">
                <a:latin typeface="Times New Roman"/>
                <a:ea typeface="Times New Roman"/>
              </a:rPr>
              <a:t>Question?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"/>
        <a:ea typeface="等线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556</Words>
  <Application>Microsoft Office PowerPoint</Application>
  <PresentationFormat>宽屏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Microsoft YaHei</vt:lpstr>
      <vt:lpstr>Arial</vt:lpstr>
      <vt:lpstr>Times New Roman</vt:lpstr>
      <vt:lpstr>Office 主题​​</vt:lpstr>
      <vt:lpstr>Linear Algebra</vt:lpstr>
      <vt:lpstr>Self Introduction</vt:lpstr>
      <vt:lpstr>Teaching Assistant</vt:lpstr>
      <vt:lpstr>Grading</vt:lpstr>
      <vt:lpstr>Grading</vt:lpstr>
      <vt:lpstr>Grading</vt:lpstr>
      <vt:lpstr>Recitals（习题课）</vt:lpstr>
      <vt:lpstr>Textbooks</vt:lpstr>
      <vt:lpstr>Tentative Syllabus</vt:lpstr>
      <vt:lpstr>Tentative Syllabus</vt:lpstr>
      <vt:lpstr>Importance of Linear Algebra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Multiparty Computation Theory &amp; Application</dc:title>
  <cp:lastModifiedBy>admin</cp:lastModifiedBy>
  <cp:revision>7</cp:revision>
  <dcterms:created xsi:type="dcterms:W3CDTF">2025-02-19T09:33:59Z</dcterms:created>
  <dcterms:modified xsi:type="dcterms:W3CDTF">2026-09-18T03:05:17Z</dcterms:modified>
</cp:coreProperties>
</file>