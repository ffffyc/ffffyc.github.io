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550" r:id="rId1"/>
  </p:sldMasterIdLst>
  <p:notesMasterIdLst>
    <p:notesMasterId r:id="rId105"/>
  </p:notesMasterIdLst>
  <p:handoutMasterIdLst>
    <p:handoutMasterId r:id="rId106"/>
  </p:handoutMasterIdLst>
  <p:sldIdLst>
    <p:sldId id="449" r:id="rId2"/>
    <p:sldId id="1581" r:id="rId3"/>
    <p:sldId id="1663" r:id="rId4"/>
    <p:sldId id="1608" r:id="rId5"/>
    <p:sldId id="1499" r:id="rId6"/>
    <p:sldId id="1609" r:id="rId7"/>
    <p:sldId id="1573" r:id="rId8"/>
    <p:sldId id="1575" r:id="rId9"/>
    <p:sldId id="1610" r:id="rId10"/>
    <p:sldId id="1611" r:id="rId11"/>
    <p:sldId id="1648" r:id="rId12"/>
    <p:sldId id="1617" r:id="rId13"/>
    <p:sldId id="1633" r:id="rId14"/>
    <p:sldId id="1634" r:id="rId15"/>
    <p:sldId id="2119" r:id="rId16"/>
    <p:sldId id="256" r:id="rId17"/>
    <p:sldId id="257" r:id="rId18"/>
    <p:sldId id="258" r:id="rId19"/>
    <p:sldId id="259" r:id="rId20"/>
    <p:sldId id="1545" r:id="rId21"/>
    <p:sldId id="1498" r:id="rId22"/>
    <p:sldId id="1606" r:id="rId23"/>
    <p:sldId id="1664" r:id="rId24"/>
    <p:sldId id="1567" r:id="rId25"/>
    <p:sldId id="1561" r:id="rId26"/>
    <p:sldId id="996" r:id="rId27"/>
    <p:sldId id="1631" r:id="rId28"/>
    <p:sldId id="1632" r:id="rId29"/>
    <p:sldId id="1615" r:id="rId30"/>
    <p:sldId id="1001" r:id="rId31"/>
    <p:sldId id="1642" r:id="rId32"/>
    <p:sldId id="642" r:id="rId33"/>
    <p:sldId id="1665" r:id="rId34"/>
    <p:sldId id="1636" r:id="rId35"/>
    <p:sldId id="1640" r:id="rId36"/>
    <p:sldId id="1637" r:id="rId37"/>
    <p:sldId id="1639" r:id="rId38"/>
    <p:sldId id="1622" r:id="rId39"/>
    <p:sldId id="1623" r:id="rId40"/>
    <p:sldId id="1653" r:id="rId41"/>
    <p:sldId id="1666" r:id="rId42"/>
    <p:sldId id="2110" r:id="rId43"/>
    <p:sldId id="1166" r:id="rId44"/>
    <p:sldId id="2111" r:id="rId45"/>
    <p:sldId id="643" r:id="rId46"/>
    <p:sldId id="926" r:id="rId47"/>
    <p:sldId id="2104" r:id="rId48"/>
    <p:sldId id="2114" r:id="rId49"/>
    <p:sldId id="354" r:id="rId50"/>
    <p:sldId id="2115" r:id="rId51"/>
    <p:sldId id="1598" r:id="rId52"/>
    <p:sldId id="1650" r:id="rId53"/>
    <p:sldId id="1612" r:id="rId54"/>
    <p:sldId id="1613" r:id="rId55"/>
    <p:sldId id="1641" r:id="rId56"/>
    <p:sldId id="1643" r:id="rId57"/>
    <p:sldId id="1645" r:id="rId58"/>
    <p:sldId id="1638" r:id="rId59"/>
    <p:sldId id="2107" r:id="rId60"/>
    <p:sldId id="1649" r:id="rId61"/>
    <p:sldId id="379" r:id="rId62"/>
    <p:sldId id="450" r:id="rId63"/>
    <p:sldId id="1599" r:id="rId64"/>
    <p:sldId id="1607" r:id="rId65"/>
    <p:sldId id="1635" r:id="rId66"/>
    <p:sldId id="1569" r:id="rId67"/>
    <p:sldId id="1570" r:id="rId68"/>
    <p:sldId id="1656" r:id="rId69"/>
    <p:sldId id="1272" r:id="rId70"/>
    <p:sldId id="1654" r:id="rId71"/>
    <p:sldId id="2106" r:id="rId72"/>
    <p:sldId id="1646" r:id="rId73"/>
    <p:sldId id="1651" r:id="rId74"/>
    <p:sldId id="1091" r:id="rId75"/>
    <p:sldId id="1647" r:id="rId76"/>
    <p:sldId id="279" r:id="rId77"/>
    <p:sldId id="1394" r:id="rId78"/>
    <p:sldId id="2108" r:id="rId79"/>
    <p:sldId id="2109" r:id="rId80"/>
    <p:sldId id="2118" r:id="rId81"/>
    <p:sldId id="1601" r:id="rId82"/>
    <p:sldId id="1627" r:id="rId83"/>
    <p:sldId id="1630" r:id="rId84"/>
    <p:sldId id="1602" r:id="rId85"/>
    <p:sldId id="1616" r:id="rId86"/>
    <p:sldId id="1619" r:id="rId87"/>
    <p:sldId id="1620" r:id="rId88"/>
    <p:sldId id="1621" r:id="rId89"/>
    <p:sldId id="1604" r:id="rId90"/>
    <p:sldId id="1661" r:id="rId91"/>
    <p:sldId id="2116" r:id="rId92"/>
    <p:sldId id="1625" r:id="rId93"/>
    <p:sldId id="2117" r:id="rId94"/>
    <p:sldId id="1626" r:id="rId95"/>
    <p:sldId id="1644" r:id="rId96"/>
    <p:sldId id="1628" r:id="rId97"/>
    <p:sldId id="1629" r:id="rId98"/>
    <p:sldId id="1531" r:id="rId99"/>
    <p:sldId id="1652" r:id="rId100"/>
    <p:sldId id="1655" r:id="rId101"/>
    <p:sldId id="1657" r:id="rId102"/>
    <p:sldId id="1658" r:id="rId103"/>
    <p:sldId id="1660" r:id="rId104"/>
  </p:sldIdLst>
  <p:sldSz cx="9144000" cy="6858000" type="screen4x3"/>
  <p:notesSz cx="9601200" cy="7315200"/>
  <p:kinsoku lang="zh-CN"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 健" initials="王"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4" hiddenSlides="1" frameSlides="1"/>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161"/>
    <p:restoredTop sz="94773"/>
  </p:normalViewPr>
  <p:slideViewPr>
    <p:cSldViewPr>
      <p:cViewPr varScale="1">
        <p:scale>
          <a:sx n="93" d="100"/>
          <a:sy n="93" d="100"/>
        </p:scale>
        <p:origin x="200" y="5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39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commentAuthors" Target="commentAuthor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oleObject" Target="Macintosh%20HD:Users:Michael:Courses:CS186Fa09:lockexample.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Macintosh%20HD:Users:Michael:Courses:CS186Fa09:lockexample.xlsx"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17466097987752"/>
          <c:y val="8.2407407407407401E-2"/>
          <c:w val="0.75246128608923901"/>
          <c:h val="0.55619604841061498"/>
        </c:manualLayout>
      </c:layout>
      <c:areaChart>
        <c:grouping val="standard"/>
        <c:varyColors val="0"/>
        <c:ser>
          <c:idx val="0"/>
          <c:order val="0"/>
          <c:val>
            <c:numRef>
              <c:f>Sheet1!$B$1:$B$20</c:f>
              <c:numCache>
                <c:formatCode>General</c:formatCode>
                <c:ptCount val="20"/>
                <c:pt idx="0">
                  <c:v>0</c:v>
                </c:pt>
                <c:pt idx="1">
                  <c:v>1</c:v>
                </c:pt>
                <c:pt idx="2">
                  <c:v>1</c:v>
                </c:pt>
                <c:pt idx="3">
                  <c:v>1</c:v>
                </c:pt>
                <c:pt idx="4">
                  <c:v>2</c:v>
                </c:pt>
                <c:pt idx="5">
                  <c:v>3</c:v>
                </c:pt>
                <c:pt idx="6">
                  <c:v>3</c:v>
                </c:pt>
                <c:pt idx="7">
                  <c:v>3</c:v>
                </c:pt>
                <c:pt idx="8">
                  <c:v>4</c:v>
                </c:pt>
                <c:pt idx="9">
                  <c:v>4</c:v>
                </c:pt>
                <c:pt idx="10">
                  <c:v>4</c:v>
                </c:pt>
                <c:pt idx="11">
                  <c:v>4</c:v>
                </c:pt>
                <c:pt idx="12">
                  <c:v>4</c:v>
                </c:pt>
                <c:pt idx="13">
                  <c:v>4</c:v>
                </c:pt>
                <c:pt idx="14">
                  <c:v>3</c:v>
                </c:pt>
                <c:pt idx="15">
                  <c:v>3</c:v>
                </c:pt>
                <c:pt idx="16">
                  <c:v>2</c:v>
                </c:pt>
                <c:pt idx="17">
                  <c:v>2</c:v>
                </c:pt>
                <c:pt idx="18">
                  <c:v>1</c:v>
                </c:pt>
                <c:pt idx="19">
                  <c:v>0</c:v>
                </c:pt>
              </c:numCache>
            </c:numRef>
          </c:val>
          <c:extLst>
            <c:ext xmlns:c16="http://schemas.microsoft.com/office/drawing/2014/chart" uri="{C3380CC4-5D6E-409C-BE32-E72D297353CC}">
              <c16:uniqueId val="{00000000-C0FD-E148-8C6C-E059C891EFED}"/>
            </c:ext>
          </c:extLst>
        </c:ser>
        <c:dLbls>
          <c:showLegendKey val="0"/>
          <c:showVal val="0"/>
          <c:showCatName val="0"/>
          <c:showSerName val="0"/>
          <c:showPercent val="0"/>
          <c:showBubbleSize val="0"/>
        </c:dLbls>
        <c:axId val="-617344704"/>
        <c:axId val="-617585872"/>
      </c:areaChart>
      <c:catAx>
        <c:axId val="-617344704"/>
        <c:scaling>
          <c:orientation val="minMax"/>
        </c:scaling>
        <c:delete val="0"/>
        <c:axPos val="b"/>
        <c:title>
          <c:tx>
            <c:rich>
              <a:bodyPr/>
              <a:lstStyle/>
              <a:p>
                <a:pPr>
                  <a:defRPr>
                    <a:latin typeface="Helvetica"/>
                    <a:cs typeface="Helvetica"/>
                  </a:defRPr>
                </a:pPr>
                <a:r>
                  <a:rPr lang="en-US">
                    <a:latin typeface="Helvetica"/>
                    <a:cs typeface="Helvetica"/>
                  </a:rPr>
                  <a:t>Time</a:t>
                </a:r>
              </a:p>
            </c:rich>
          </c:tx>
          <c:layout>
            <c:manualLayout>
              <c:xMode val="edge"/>
              <c:yMode val="edge"/>
              <c:x val="0.89324043376156903"/>
              <c:y val="0.69763888888888903"/>
            </c:manualLayout>
          </c:layout>
          <c:overlay val="0"/>
        </c:title>
        <c:majorTickMark val="out"/>
        <c:minorTickMark val="none"/>
        <c:tickLblPos val="nextTo"/>
        <c:txPr>
          <a:bodyPr/>
          <a:lstStyle/>
          <a:p>
            <a:pPr>
              <a:defRPr>
                <a:latin typeface="Helvetica"/>
                <a:cs typeface="Helvetica"/>
              </a:defRPr>
            </a:pPr>
            <a:endParaRPr lang="zh-CN"/>
          </a:p>
        </c:txPr>
        <c:crossAx val="-617585872"/>
        <c:crosses val="autoZero"/>
        <c:auto val="1"/>
        <c:lblAlgn val="ctr"/>
        <c:lblOffset val="100"/>
        <c:noMultiLvlLbl val="0"/>
      </c:catAx>
      <c:valAx>
        <c:axId val="-617585872"/>
        <c:scaling>
          <c:orientation val="minMax"/>
          <c:max val="4"/>
        </c:scaling>
        <c:delete val="0"/>
        <c:axPos val="l"/>
        <c:majorGridlines/>
        <c:title>
          <c:tx>
            <c:rich>
              <a:bodyPr/>
              <a:lstStyle/>
              <a:p>
                <a:pPr>
                  <a:defRPr b="0">
                    <a:latin typeface="Helvetica"/>
                    <a:cs typeface="Helvetica"/>
                  </a:defRPr>
                </a:pPr>
                <a:r>
                  <a:rPr lang="en-US" b="0">
                    <a:latin typeface="Helvetica"/>
                    <a:cs typeface="Helvetica"/>
                  </a:rPr>
                  <a:t># Locks Held</a:t>
                </a:r>
              </a:p>
            </c:rich>
          </c:tx>
          <c:overlay val="0"/>
        </c:title>
        <c:numFmt formatCode="General" sourceLinked="1"/>
        <c:majorTickMark val="out"/>
        <c:minorTickMark val="none"/>
        <c:tickLblPos val="nextTo"/>
        <c:txPr>
          <a:bodyPr/>
          <a:lstStyle/>
          <a:p>
            <a:pPr>
              <a:defRPr>
                <a:latin typeface="Helvetica"/>
                <a:cs typeface="Helvetica"/>
              </a:defRPr>
            </a:pPr>
            <a:endParaRPr lang="zh-CN"/>
          </a:p>
        </c:txPr>
        <c:crossAx val="-617344704"/>
        <c:crosses val="autoZero"/>
        <c:crossBetween val="midCat"/>
        <c:majorUnit val="1"/>
      </c:valAx>
    </c:plotArea>
    <c:plotVisOnly val="1"/>
    <c:dispBlanksAs val="gap"/>
    <c:showDLblsOverMax val="0"/>
  </c:chart>
  <c:txPr>
    <a:bodyPr/>
    <a:lstStyle/>
    <a:p>
      <a:pPr>
        <a:defRPr sz="1800"/>
      </a:pPr>
      <a:endParaRPr lang="zh-CN"/>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17466097987752"/>
          <c:y val="8.2407407407407401E-2"/>
          <c:w val="0.75246128608923901"/>
          <c:h val="0.55619604841061498"/>
        </c:manualLayout>
      </c:layout>
      <c:areaChart>
        <c:grouping val="standard"/>
        <c:varyColors val="0"/>
        <c:ser>
          <c:idx val="0"/>
          <c:order val="0"/>
          <c:val>
            <c:numRef>
              <c:f>Sheet1!$B$1:$B$20</c:f>
              <c:numCache>
                <c:formatCode>General</c:formatCode>
                <c:ptCount val="20"/>
                <c:pt idx="0">
                  <c:v>0</c:v>
                </c:pt>
                <c:pt idx="1">
                  <c:v>1</c:v>
                </c:pt>
                <c:pt idx="2">
                  <c:v>1</c:v>
                </c:pt>
                <c:pt idx="3">
                  <c:v>1</c:v>
                </c:pt>
                <c:pt idx="4">
                  <c:v>2</c:v>
                </c:pt>
                <c:pt idx="5">
                  <c:v>3</c:v>
                </c:pt>
                <c:pt idx="6">
                  <c:v>3</c:v>
                </c:pt>
                <c:pt idx="7">
                  <c:v>3</c:v>
                </c:pt>
                <c:pt idx="8">
                  <c:v>4</c:v>
                </c:pt>
                <c:pt idx="9">
                  <c:v>4</c:v>
                </c:pt>
                <c:pt idx="10">
                  <c:v>4</c:v>
                </c:pt>
                <c:pt idx="11">
                  <c:v>4</c:v>
                </c:pt>
                <c:pt idx="12">
                  <c:v>4</c:v>
                </c:pt>
                <c:pt idx="13">
                  <c:v>4</c:v>
                </c:pt>
                <c:pt idx="14">
                  <c:v>3</c:v>
                </c:pt>
                <c:pt idx="15">
                  <c:v>3</c:v>
                </c:pt>
                <c:pt idx="16">
                  <c:v>2</c:v>
                </c:pt>
                <c:pt idx="17">
                  <c:v>2</c:v>
                </c:pt>
                <c:pt idx="18">
                  <c:v>1</c:v>
                </c:pt>
                <c:pt idx="19">
                  <c:v>0</c:v>
                </c:pt>
              </c:numCache>
            </c:numRef>
          </c:val>
          <c:extLst>
            <c:ext xmlns:c16="http://schemas.microsoft.com/office/drawing/2014/chart" uri="{C3380CC4-5D6E-409C-BE32-E72D297353CC}">
              <c16:uniqueId val="{00000000-C0FD-E148-8C6C-E059C891EFED}"/>
            </c:ext>
          </c:extLst>
        </c:ser>
        <c:dLbls>
          <c:showLegendKey val="0"/>
          <c:showVal val="0"/>
          <c:showCatName val="0"/>
          <c:showSerName val="0"/>
          <c:showPercent val="0"/>
          <c:showBubbleSize val="0"/>
        </c:dLbls>
        <c:axId val="-617344704"/>
        <c:axId val="-617585872"/>
      </c:areaChart>
      <c:catAx>
        <c:axId val="-617344704"/>
        <c:scaling>
          <c:orientation val="minMax"/>
        </c:scaling>
        <c:delete val="0"/>
        <c:axPos val="b"/>
        <c:title>
          <c:tx>
            <c:rich>
              <a:bodyPr/>
              <a:lstStyle/>
              <a:p>
                <a:pPr>
                  <a:defRPr>
                    <a:latin typeface="Helvetica"/>
                    <a:cs typeface="Helvetica"/>
                  </a:defRPr>
                </a:pPr>
                <a:r>
                  <a:rPr lang="en-US">
                    <a:latin typeface="Helvetica"/>
                    <a:cs typeface="Helvetica"/>
                  </a:rPr>
                  <a:t>Time</a:t>
                </a:r>
              </a:p>
            </c:rich>
          </c:tx>
          <c:layout>
            <c:manualLayout>
              <c:xMode val="edge"/>
              <c:yMode val="edge"/>
              <c:x val="0.89324043376156903"/>
              <c:y val="0.69763888888888903"/>
            </c:manualLayout>
          </c:layout>
          <c:overlay val="0"/>
        </c:title>
        <c:majorTickMark val="out"/>
        <c:minorTickMark val="none"/>
        <c:tickLblPos val="nextTo"/>
        <c:txPr>
          <a:bodyPr/>
          <a:lstStyle/>
          <a:p>
            <a:pPr>
              <a:defRPr>
                <a:latin typeface="Helvetica"/>
                <a:cs typeface="Helvetica"/>
              </a:defRPr>
            </a:pPr>
            <a:endParaRPr lang="zh-CN"/>
          </a:p>
        </c:txPr>
        <c:crossAx val="-617585872"/>
        <c:crosses val="autoZero"/>
        <c:auto val="1"/>
        <c:lblAlgn val="ctr"/>
        <c:lblOffset val="100"/>
        <c:noMultiLvlLbl val="0"/>
      </c:catAx>
      <c:valAx>
        <c:axId val="-617585872"/>
        <c:scaling>
          <c:orientation val="minMax"/>
          <c:max val="4"/>
        </c:scaling>
        <c:delete val="0"/>
        <c:axPos val="l"/>
        <c:majorGridlines/>
        <c:title>
          <c:tx>
            <c:rich>
              <a:bodyPr/>
              <a:lstStyle/>
              <a:p>
                <a:pPr>
                  <a:defRPr b="0">
                    <a:latin typeface="Helvetica"/>
                    <a:cs typeface="Helvetica"/>
                  </a:defRPr>
                </a:pPr>
                <a:r>
                  <a:rPr lang="en-US" b="0">
                    <a:latin typeface="Helvetica"/>
                    <a:cs typeface="Helvetica"/>
                  </a:rPr>
                  <a:t># Locks Held</a:t>
                </a:r>
              </a:p>
            </c:rich>
          </c:tx>
          <c:overlay val="0"/>
        </c:title>
        <c:numFmt formatCode="General" sourceLinked="1"/>
        <c:majorTickMark val="out"/>
        <c:minorTickMark val="none"/>
        <c:tickLblPos val="nextTo"/>
        <c:txPr>
          <a:bodyPr/>
          <a:lstStyle/>
          <a:p>
            <a:pPr>
              <a:defRPr>
                <a:latin typeface="Helvetica"/>
                <a:cs typeface="Helvetica"/>
              </a:defRPr>
            </a:pPr>
            <a:endParaRPr lang="zh-CN"/>
          </a:p>
        </c:txPr>
        <c:crossAx val="-617344704"/>
        <c:crosses val="autoZero"/>
        <c:crossBetween val="midCat"/>
        <c:majorUnit val="1"/>
      </c:valAx>
    </c:plotArea>
    <c:plotVisOnly val="1"/>
    <c:dispBlanksAs val="gap"/>
    <c:showDLblsOverMax val="0"/>
  </c:chart>
  <c:txPr>
    <a:bodyPr/>
    <a:lstStyle/>
    <a:p>
      <a:pPr>
        <a:defRPr sz="1800"/>
      </a:pPr>
      <a:endParaRPr lang="zh-CN"/>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13AAB0F-AB5B-7055-3134-0F8A41D0C06F}"/>
              </a:ext>
            </a:extLst>
          </p:cNvPr>
          <p:cNvSpPr>
            <a:spLocks noChangeArrowheads="1"/>
          </p:cNvSpPr>
          <p:nvPr/>
        </p:nvSpPr>
        <p:spPr bwMode="auto">
          <a:xfrm>
            <a:off x="4405313" y="6956425"/>
            <a:ext cx="792162" cy="271463"/>
          </a:xfrm>
          <a:prstGeom prst="rect">
            <a:avLst/>
          </a:prstGeom>
          <a:noFill/>
          <a:ln w="12700">
            <a:noFill/>
            <a:miter lim="800000"/>
            <a:headEnd/>
            <a:tailEnd/>
          </a:ln>
        </p:spPr>
        <p:txBody>
          <a:bodyPr wrap="none" lIns="92315" tIns="46997" rIns="92315" bIns="46997">
            <a:spAutoFit/>
          </a:bodyPr>
          <a:lstStyle>
            <a:lvl1pPr defTabSz="917575"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defTabSz="917575"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defTabSz="917575"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defTabSz="917575"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defTabSz="917575"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algn="ctr">
              <a:lnSpc>
                <a:spcPct val="90000"/>
              </a:lnSpc>
            </a:pPr>
            <a:r>
              <a:rPr lang="en-US" altLang="zh-CN" sz="1300" b="0"/>
              <a:t>Page </a:t>
            </a:r>
            <a:fld id="{ED1CB255-028B-0947-A6A7-F9B73D3B5669}" type="slidenum">
              <a:rPr lang="en-US" altLang="zh-CN" sz="1300" b="0"/>
              <a:pPr algn="ctr">
                <a:lnSpc>
                  <a:spcPct val="90000"/>
                </a:lnSpc>
              </a:pPr>
              <a:t>‹#›</a:t>
            </a:fld>
            <a:endParaRPr lang="en-US" altLang="zh-CN" sz="1300" b="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AFB6C9A-9A51-77A9-FB98-3F8760320AAE}"/>
              </a:ext>
            </a:extLst>
          </p:cNvPr>
          <p:cNvSpPr>
            <a:spLocks noChangeArrowheads="1"/>
          </p:cNvSpPr>
          <p:nvPr/>
        </p:nvSpPr>
        <p:spPr bwMode="auto">
          <a:xfrm>
            <a:off x="4405313" y="6956425"/>
            <a:ext cx="792162" cy="271463"/>
          </a:xfrm>
          <a:prstGeom prst="rect">
            <a:avLst/>
          </a:prstGeom>
          <a:noFill/>
          <a:ln w="12700">
            <a:noFill/>
            <a:miter lim="800000"/>
            <a:headEnd/>
            <a:tailEnd/>
          </a:ln>
        </p:spPr>
        <p:txBody>
          <a:bodyPr wrap="none" lIns="92315" tIns="46997" rIns="92315" bIns="46997">
            <a:spAutoFit/>
          </a:bodyPr>
          <a:lstStyle>
            <a:lvl1pPr defTabSz="917575"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defTabSz="917575"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defTabSz="917575"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defTabSz="917575"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defTabSz="917575"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algn="ctr">
              <a:lnSpc>
                <a:spcPct val="90000"/>
              </a:lnSpc>
            </a:pPr>
            <a:r>
              <a:rPr lang="en-US" altLang="zh-CN" sz="1300" b="0"/>
              <a:t>Page </a:t>
            </a:r>
            <a:fld id="{247FC3C1-0E12-004A-8847-DFA79F7280F6}" type="slidenum">
              <a:rPr lang="en-US" altLang="zh-CN" sz="1300" b="0"/>
              <a:pPr algn="ctr">
                <a:lnSpc>
                  <a:spcPct val="90000"/>
                </a:lnSpc>
              </a:pPr>
              <a:t>‹#›</a:t>
            </a:fld>
            <a:endParaRPr lang="en-US" altLang="zh-CN" sz="1300" b="0"/>
          </a:p>
        </p:txBody>
      </p:sp>
      <p:sp>
        <p:nvSpPr>
          <p:cNvPr id="26627" name="Rectangle 3">
            <a:extLst>
              <a:ext uri="{FF2B5EF4-FFF2-40B4-BE49-F238E27FC236}">
                <a16:creationId xmlns:a16="http://schemas.microsoft.com/office/drawing/2014/main" id="{F3C61290-B226-BF44-7297-7C56D17E9095}"/>
              </a:ext>
            </a:extLst>
          </p:cNvPr>
          <p:cNvSpPr>
            <a:spLocks noGrp="1" noRot="1" noChangeAspect="1" noChangeArrowheads="1" noTextEdit="1"/>
          </p:cNvSpPr>
          <p:nvPr>
            <p:ph type="sldImg" idx="2"/>
          </p:nvPr>
        </p:nvSpPr>
        <p:spPr bwMode="auto">
          <a:xfrm>
            <a:off x="2971800" y="547688"/>
            <a:ext cx="3659188" cy="27447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4">
            <a:extLst>
              <a:ext uri="{FF2B5EF4-FFF2-40B4-BE49-F238E27FC236}">
                <a16:creationId xmlns:a16="http://schemas.microsoft.com/office/drawing/2014/main" id="{862F0B79-47ED-A6D2-6F63-6B608175276C}"/>
              </a:ext>
            </a:extLst>
          </p:cNvPr>
          <p:cNvSpPr>
            <a:spLocks noGrp="1" noChangeArrowheads="1"/>
          </p:cNvSpPr>
          <p:nvPr>
            <p:ph type="body" sz="quarter" idx="3"/>
          </p:nvPr>
        </p:nvSpPr>
        <p:spPr bwMode="auto">
          <a:xfrm>
            <a:off x="1281113" y="3475038"/>
            <a:ext cx="7038975" cy="3292475"/>
          </a:xfrm>
          <a:prstGeom prst="rect">
            <a:avLst/>
          </a:prstGeom>
          <a:noFill/>
          <a:ln w="12700">
            <a:noFill/>
            <a:miter lim="800000"/>
            <a:headEnd/>
            <a:tailEnd/>
          </a:ln>
          <a:effectLst/>
        </p:spPr>
        <p:txBody>
          <a:bodyPr vert="horz" wrap="square" lIns="95672" tIns="46997" rIns="95672" bIns="46997"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ＭＳ Ｐゴシック" charset="-128"/>
      </a:defRPr>
    </a:lvl1pPr>
    <a:lvl2pPr marL="4572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5C907514-A189-28D9-4B06-158DEE8FEC60}"/>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D32820D1-78B5-E708-F81B-92DC318A14B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Comic Sans MS" panose="030F0902030302020204" pitchFamily="66"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669942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eaLnBrk="1" hangingPunct="1"/>
            <a:fld id="{BD33E2F5-4CF8-D34E-86C5-660E7F9B006D}" type="slidenum">
              <a:rPr lang="en-US"/>
              <a:pPr eaLnBrk="1" hangingPunct="1"/>
              <a:t>26</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ea typeface="MS PGothic"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eaLnBrk="1" hangingPunct="1"/>
            <a:fld id="{B842B2BB-01EF-A84D-9E8C-8A5254AA0A99}" type="slidenum">
              <a:rPr lang="en-US"/>
              <a:pPr eaLnBrk="1" hangingPunct="1"/>
              <a:t>30</a:t>
            </a:fld>
            <a:endParaRPr lang="en-US"/>
          </a:p>
        </p:txBody>
      </p:sp>
      <p:sp>
        <p:nvSpPr>
          <p:cNvPr id="79875" name="Rectangle 2"/>
          <p:cNvSpPr>
            <a:spLocks noGrp="1" noRot="1" noChangeAspect="1" noChangeArrowheads="1" noTextEdit="1"/>
          </p:cNvSpPr>
          <p:nvPr>
            <p:ph type="sldImg"/>
          </p:nvPr>
        </p:nvSpPr>
        <p:spPr>
          <a:xfrm>
            <a:off x="2979738" y="555625"/>
            <a:ext cx="3648075" cy="2736850"/>
          </a:xfrm>
          <a:ln/>
        </p:spPr>
      </p:sp>
      <p:sp>
        <p:nvSpPr>
          <p:cNvPr id="79876" name="Rectangle 3"/>
          <p:cNvSpPr>
            <a:spLocks noGrp="1" noChangeArrowheads="1"/>
          </p:cNvSpPr>
          <p:nvPr>
            <p:ph type="body" idx="1"/>
          </p:nvPr>
        </p:nvSpPr>
        <p:spPr>
          <a:xfrm>
            <a:off x="1277938" y="3475038"/>
            <a:ext cx="7043737" cy="3289300"/>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ea typeface="MS PGothic" charset="0"/>
              </a:rPr>
              <a:t>It’s like everyone speaks the same language.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zh-CN" altLang="zh-CN" dirty="0">
                <a:ea typeface="MS PGothic" charset="0"/>
              </a:rPr>
              <a:t>2</a:t>
            </a:r>
            <a:r>
              <a:rPr lang="zh-CN" altLang="en-US" dirty="0">
                <a:ea typeface="MS PGothic" charset="0"/>
              </a:rPr>
              <a:t> </a:t>
            </a:r>
            <a:r>
              <a:rPr lang="en-US" altLang="zh-CN" dirty="0">
                <a:ea typeface="MS PGothic" charset="0"/>
              </a:rPr>
              <a:t>types</a:t>
            </a:r>
            <a:r>
              <a:rPr lang="zh-CN" altLang="en-US" dirty="0">
                <a:ea typeface="MS PGothic" charset="0"/>
              </a:rPr>
              <a:t> </a:t>
            </a:r>
            <a:r>
              <a:rPr lang="en-US" altLang="zh-CN" dirty="0">
                <a:ea typeface="MS PGothic" charset="0"/>
              </a:rPr>
              <a:t>of</a:t>
            </a:r>
            <a:r>
              <a:rPr lang="zh-CN" altLang="en-US" dirty="0">
                <a:ea typeface="MS PGothic" charset="0"/>
              </a:rPr>
              <a:t> </a:t>
            </a:r>
            <a:r>
              <a:rPr lang="en-US" altLang="zh-CN" dirty="0">
                <a:ea typeface="MS PGothic" charset="0"/>
              </a:rPr>
              <a:t>constraints:</a:t>
            </a:r>
          </a:p>
          <a:p>
            <a:r>
              <a:rPr lang="en-US" altLang="zh-CN" dirty="0">
                <a:ea typeface="MS PGothic" charset="0"/>
              </a:rPr>
              <a:t>Mutual</a:t>
            </a:r>
            <a:r>
              <a:rPr lang="zh-CN" altLang="en-US" dirty="0">
                <a:ea typeface="MS PGothic" charset="0"/>
              </a:rPr>
              <a:t> </a:t>
            </a:r>
            <a:r>
              <a:rPr lang="en-US" altLang="zh-CN" dirty="0">
                <a:ea typeface="MS PGothic" charset="0"/>
              </a:rPr>
              <a:t>exclusions</a:t>
            </a:r>
            <a:r>
              <a:rPr lang="zh-CN" altLang="en-US" dirty="0">
                <a:ea typeface="MS PGothic" charset="0"/>
              </a:rPr>
              <a:t> </a:t>
            </a:r>
            <a:endParaRPr lang="en-US" altLang="zh-CN" dirty="0">
              <a:ea typeface="MS PGothic" charset="0"/>
            </a:endParaRPr>
          </a:p>
          <a:p>
            <a:r>
              <a:rPr lang="en-US" altLang="zh-CN" dirty="0">
                <a:ea typeface="MS PGothic" charset="0"/>
              </a:rPr>
              <a:t>Scheduling</a:t>
            </a:r>
            <a:r>
              <a:rPr lang="zh-CN" altLang="en-US" dirty="0">
                <a:ea typeface="MS PGothic" charset="0"/>
              </a:rPr>
              <a:t> </a:t>
            </a:r>
            <a:r>
              <a:rPr lang="en-US" altLang="zh-CN" dirty="0">
                <a:ea typeface="MS PGothic" charset="0"/>
              </a:rPr>
              <a:t>constraints</a:t>
            </a:r>
          </a:p>
          <a:p>
            <a:endParaRPr lang="en-US" altLang="zh-CN" dirty="0">
              <a:ea typeface="MS PGothic" charset="0"/>
            </a:endParaRPr>
          </a:p>
        </p:txBody>
      </p:sp>
    </p:spTree>
    <p:extLst>
      <p:ext uri="{BB962C8B-B14F-4D97-AF65-F5344CB8AC3E}">
        <p14:creationId xmlns:p14="http://schemas.microsoft.com/office/powerpoint/2010/main" val="2560882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noRot="1" noChangeAspect="1" noChangeArrowheads="1" noTextEdit="1"/>
          </p:cNvSpPr>
          <p:nvPr>
            <p:ph type="sldImg"/>
          </p:nvPr>
        </p:nvSpPr>
        <p:spPr>
          <a:ln/>
        </p:spPr>
      </p:sp>
      <p:sp>
        <p:nvSpPr>
          <p:cNvPr id="12595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zh-CN" altLang="zh-CN">
              <a:ea typeface="ＭＳ Ｐゴシック" charset="-128"/>
            </a:endParaRPr>
          </a:p>
        </p:txBody>
      </p:sp>
    </p:spTree>
    <p:extLst>
      <p:ext uri="{BB962C8B-B14F-4D97-AF65-F5344CB8AC3E}">
        <p14:creationId xmlns:p14="http://schemas.microsoft.com/office/powerpoint/2010/main" val="2904490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385406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410265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ko-KR">
                <a:ea typeface="Gulim" charset="0"/>
                <a:cs typeface="Gulim" charset="0"/>
              </a:rPr>
              <a:t>Synchronized  is like synchronized(this) { } </a:t>
            </a:r>
            <a:endParaRPr lang="ko-KR" altLang="en-US">
              <a:ea typeface="Gulim" charset="0"/>
              <a:cs typeface="Gulim" charset="0"/>
            </a:endParaRPr>
          </a:p>
        </p:txBody>
      </p:sp>
    </p:spTree>
    <p:extLst>
      <p:ext uri="{BB962C8B-B14F-4D97-AF65-F5344CB8AC3E}">
        <p14:creationId xmlns:p14="http://schemas.microsoft.com/office/powerpoint/2010/main" val="820221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Rot="1" noChangeAspect="1" noChangeArrowheads="1" noTextEdit="1"/>
          </p:cNvSpPr>
          <p:nvPr>
            <p:ph type="sldImg"/>
          </p:nvPr>
        </p:nvSpPr>
        <p:spPr>
          <a:ln cap="flat"/>
        </p:spPr>
      </p:sp>
      <p:sp>
        <p:nvSpPr>
          <p:cNvPr id="7782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5511" tIns="47756" rIns="95511" bIns="47756"/>
          <a:lstStyle/>
          <a:p>
            <a:endParaRPr lang="zh-CN" altLang="zh-CN">
              <a:ea typeface="MS PGothic" charset="-128"/>
            </a:endParaRPr>
          </a:p>
        </p:txBody>
      </p:sp>
    </p:spTree>
    <p:extLst>
      <p:ext uri="{BB962C8B-B14F-4D97-AF65-F5344CB8AC3E}">
        <p14:creationId xmlns:p14="http://schemas.microsoft.com/office/powerpoint/2010/main" val="3993017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ea typeface="MS PGothic" charset="0"/>
            </a:endParaRPr>
          </a:p>
        </p:txBody>
      </p:sp>
    </p:spTree>
    <p:extLst>
      <p:ext uri="{BB962C8B-B14F-4D97-AF65-F5344CB8AC3E}">
        <p14:creationId xmlns:p14="http://schemas.microsoft.com/office/powerpoint/2010/main" val="3290989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64686EE0-DD13-844E-9D60-60232FD76F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691DF7C-BB8F-1F4C-9D8E-8DAFBFF02198}" type="slidenum">
              <a:rPr lang="en-US" altLang="en-US"/>
              <a:pPr>
                <a:spcBef>
                  <a:spcPct val="0"/>
                </a:spcBef>
              </a:pPr>
              <a:t>62</a:t>
            </a:fld>
            <a:endParaRPr lang="en-US" altLang="en-US"/>
          </a:p>
        </p:txBody>
      </p:sp>
      <p:sp>
        <p:nvSpPr>
          <p:cNvPr id="125954" name="Rectangle 2">
            <a:extLst>
              <a:ext uri="{FF2B5EF4-FFF2-40B4-BE49-F238E27FC236}">
                <a16:creationId xmlns:a16="http://schemas.microsoft.com/office/drawing/2014/main" id="{586FBC26-3805-D14C-859D-CD938EEDE900}"/>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FAA925ED-37A8-5142-8FC8-53B979251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83187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3473640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MS PGothic" charset="0"/>
              </a:rPr>
              <a:t>Collaboration allows faults to propagate…</a:t>
            </a:r>
          </a:p>
        </p:txBody>
      </p:sp>
    </p:spTree>
    <p:extLst>
      <p:ext uri="{BB962C8B-B14F-4D97-AF65-F5344CB8AC3E}">
        <p14:creationId xmlns:p14="http://schemas.microsoft.com/office/powerpoint/2010/main" val="2813899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Rot="1" noChangeAspect="1" noChangeArrowheads="1" noTextEdit="1"/>
          </p:cNvSpPr>
          <p:nvPr>
            <p:ph type="sldImg"/>
          </p:nvPr>
        </p:nvSpPr>
        <p:spPr>
          <a:ln cap="flat"/>
        </p:spPr>
      </p:sp>
      <p:sp>
        <p:nvSpPr>
          <p:cNvPr id="3174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MS PGothic" charset="-128"/>
              </a:rPr>
              <a:t>Only related to database, not computation on the data loaded from db.</a:t>
            </a:r>
          </a:p>
        </p:txBody>
      </p:sp>
    </p:spTree>
    <p:extLst>
      <p:ext uri="{BB962C8B-B14F-4D97-AF65-F5344CB8AC3E}">
        <p14:creationId xmlns:p14="http://schemas.microsoft.com/office/powerpoint/2010/main" val="67046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Rot="1" noChangeAspect="1" noChangeArrowheads="1" noTextEdit="1"/>
          </p:cNvSpPr>
          <p:nvPr>
            <p:ph type="sldImg"/>
          </p:nvPr>
        </p:nvSpPr>
        <p:spPr>
          <a:ln cap="flat"/>
        </p:spPr>
      </p:sp>
      <p:sp>
        <p:nvSpPr>
          <p:cNvPr id="7782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lIns="95511" tIns="47756" rIns="95511" bIns="47756"/>
          <a:lstStyle/>
          <a:p>
            <a:endParaRPr lang="zh-CN" altLang="zh-CN">
              <a:ea typeface="MS PGothic" charset="-128"/>
            </a:endParaRPr>
          </a:p>
        </p:txBody>
      </p:sp>
    </p:spTree>
    <p:extLst>
      <p:ext uri="{BB962C8B-B14F-4D97-AF65-F5344CB8AC3E}">
        <p14:creationId xmlns:p14="http://schemas.microsoft.com/office/powerpoint/2010/main" val="1491637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7365483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685800" y="2130425"/>
            <a:ext cx="7772400" cy="1470025"/>
          </a:xfrm>
        </p:spPr>
        <p:txBody>
          <a:bodyPr/>
          <a:lstStyle>
            <a:lvl1pPr>
              <a:defRPr sz="3600"/>
            </a:lvl1pPr>
          </a:lstStyle>
          <a:p>
            <a:r>
              <a:rPr lang="zh-CN" altLang="en-US"/>
              <a:t>单击此处编辑母版标题样式</a:t>
            </a:r>
            <a:endParaRPr lang="en-US"/>
          </a:p>
        </p:txBody>
      </p:sp>
      <p:sp>
        <p:nvSpPr>
          <p:cNvPr id="12800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endParaRPr lang="en-US"/>
          </a:p>
        </p:txBody>
      </p:sp>
      <p:pic>
        <p:nvPicPr>
          <p:cNvPr id="4" name="Picture 1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1270000" cy="974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4139187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3238757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13802143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09600" y="914400"/>
            <a:ext cx="3886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48200" y="914400"/>
            <a:ext cx="3886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21062480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76234160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251683873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1696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332143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4809383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188345701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152400"/>
            <a:ext cx="1981200" cy="5867400"/>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09600" y="152400"/>
            <a:ext cx="5791200" cy="5867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140689949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162800" cy="533400"/>
          </a:xfrm>
        </p:spPr>
        <p:txBody>
          <a:bodyPr/>
          <a:lstStyle/>
          <a:p>
            <a:r>
              <a:rPr lang="zh-CN" altLang="en-US"/>
              <a:t>单击此处编辑母版标题样式</a:t>
            </a:r>
            <a:endParaRPr lang="en-US"/>
          </a:p>
        </p:txBody>
      </p:sp>
      <p:sp>
        <p:nvSpPr>
          <p:cNvPr id="3" name="Text Placeholder 2"/>
          <p:cNvSpPr>
            <a:spLocks noGrp="1"/>
          </p:cNvSpPr>
          <p:nvPr>
            <p:ph type="body" sz="half" idx="1"/>
          </p:nvPr>
        </p:nvSpPr>
        <p:spPr>
          <a:xfrm>
            <a:off x="609600" y="914400"/>
            <a:ext cx="3886200" cy="5105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48200" y="914400"/>
            <a:ext cx="3886200" cy="5105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225232808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492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90600" y="152400"/>
            <a:ext cx="71628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0478" tIns="44445" rIns="90478" bIns="44445" numCol="1" anchor="ctr" anchorCtr="0" compatLnSpc="1">
            <a:prstTxWarp prst="textNoShape">
              <a:avLst/>
            </a:prstTxWarp>
          </a:bodyPr>
          <a:lstStyle/>
          <a:p>
            <a:pPr lvl="0"/>
            <a:r>
              <a:rPr lang="en-US"/>
              <a:t>Slide Title</a:t>
            </a:r>
          </a:p>
        </p:txBody>
      </p:sp>
      <p:sp>
        <p:nvSpPr>
          <p:cNvPr id="1027" name="Rectangle 3"/>
          <p:cNvSpPr>
            <a:spLocks noGrp="1" noChangeArrowheads="1"/>
          </p:cNvSpPr>
          <p:nvPr>
            <p:ph type="body" idx="1"/>
          </p:nvPr>
        </p:nvSpPr>
        <p:spPr bwMode="auto">
          <a:xfrm>
            <a:off x="609600" y="914400"/>
            <a:ext cx="7924800" cy="510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0478" tIns="44445" rIns="90478" bIns="44445"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ChangeArrowheads="1"/>
          </p:cNvSpPr>
          <p:nvPr/>
        </p:nvSpPr>
        <p:spPr bwMode="auto">
          <a:xfrm>
            <a:off x="8034081" y="6397625"/>
            <a:ext cx="402147" cy="30520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0478" tIns="44445" rIns="90478" bIns="44445">
            <a:spAutoFit/>
          </a:bodyPr>
          <a:lstStyle/>
          <a:p>
            <a:pPr algn="ctr"/>
            <a:fld id="{223A0746-0397-CE44-BE95-6B0EE6063BB3}" type="slidenum">
              <a:rPr lang="en-US" sz="1400" b="0" smtClean="0">
                <a:solidFill>
                  <a:srgbClr val="2A40E2"/>
                </a:solidFill>
                <a:latin typeface="Helvetica" charset="0"/>
              </a:rPr>
              <a:pPr algn="ctr"/>
              <a:t>‹#›</a:t>
            </a:fld>
            <a:endParaRPr lang="en-US" sz="1400" b="0" dirty="0">
              <a:solidFill>
                <a:srgbClr val="2A40E2"/>
              </a:solidFill>
              <a:latin typeface="Helvetica" charset="0"/>
            </a:endParaRPr>
          </a:p>
        </p:txBody>
      </p:sp>
      <p:pic>
        <p:nvPicPr>
          <p:cNvPr id="7" name="Picture 1"/>
          <p:cNvPicPr>
            <a:picLocks noChangeAspect="1"/>
          </p:cNvPicPr>
          <p:nvPr/>
        </p:nvPicPr>
        <p:blipFill>
          <a:blip r:embed="rId15">
            <a:extLst>
              <a:ext uri="{28A0092B-C50C-407E-A947-70E740481C1C}">
                <a14:useLocalDpi xmlns:a14="http://schemas.microsoft.com/office/drawing/2010/main" val="0"/>
              </a:ext>
            </a:extLst>
          </a:blip>
          <a:srcRect l="10925" r="75185"/>
          <a:stretch>
            <a:fillRect/>
          </a:stretch>
        </p:blipFill>
        <p:spPr bwMode="auto">
          <a:xfrm>
            <a:off x="38100" y="76200"/>
            <a:ext cx="794266" cy="609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648486280"/>
      </p:ext>
    </p:extLst>
  </p:cSld>
  <p:clrMap bg1="lt1" tx1="dk1" bg2="lt2" tx2="dk2" accent1="accent1" accent2="accent2" accent3="accent3" accent4="accent4" accent5="accent5" accent6="accent6" hlink="hlink" folHlink="folHlink"/>
  <p:sldLayoutIdLst>
    <p:sldLayoutId id="2147484551" r:id="rId1"/>
    <p:sldLayoutId id="2147484552" r:id="rId2"/>
    <p:sldLayoutId id="2147484553" r:id="rId3"/>
    <p:sldLayoutId id="2147484554" r:id="rId4"/>
    <p:sldLayoutId id="2147484555" r:id="rId5"/>
    <p:sldLayoutId id="2147484556" r:id="rId6"/>
    <p:sldLayoutId id="2147484557" r:id="rId7"/>
    <p:sldLayoutId id="2147484558" r:id="rId8"/>
    <p:sldLayoutId id="2147484559" r:id="rId9"/>
    <p:sldLayoutId id="2147484560" r:id="rId10"/>
    <p:sldLayoutId id="2147484561" r:id="rId11"/>
    <p:sldLayoutId id="2147484562" r:id="rId12"/>
    <p:sldLayoutId id="2147484563" r:id="rId13"/>
  </p:sldLayoutIdLst>
  <p:transition/>
  <p:txStyles>
    <p:titleStyle>
      <a:lvl1pPr algn="ctr" rtl="0" eaLnBrk="1" fontAlgn="base" hangingPunct="1">
        <a:lnSpc>
          <a:spcPct val="90000"/>
        </a:lnSpc>
        <a:spcBef>
          <a:spcPct val="0"/>
        </a:spcBef>
        <a:spcAft>
          <a:spcPct val="0"/>
        </a:spcAft>
        <a:defRPr sz="3200" b="1">
          <a:solidFill>
            <a:srgbClr val="2A40E2"/>
          </a:solidFill>
          <a:latin typeface="Helvetica"/>
          <a:ea typeface="ＭＳ Ｐゴシック" charset="-128"/>
          <a:cs typeface="ＭＳ Ｐゴシック" charset="-128"/>
        </a:defRPr>
      </a:lvl1pPr>
      <a:lvl2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2pPr>
      <a:lvl3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3pPr>
      <a:lvl4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4pPr>
      <a:lvl5pPr algn="ctr" rtl="0" eaLnBrk="1" fontAlgn="base" hangingPunct="1">
        <a:lnSpc>
          <a:spcPct val="90000"/>
        </a:lnSpc>
        <a:spcBef>
          <a:spcPct val="0"/>
        </a:spcBef>
        <a:spcAft>
          <a:spcPct val="0"/>
        </a:spcAft>
        <a:defRPr sz="3200" b="1">
          <a:solidFill>
            <a:srgbClr val="2A40E2"/>
          </a:solidFill>
          <a:latin typeface="Helvetica" charset="0"/>
          <a:ea typeface="ＭＳ Ｐゴシック" charset="-128"/>
          <a:cs typeface="ＭＳ Ｐゴシック" charset="-128"/>
        </a:defRPr>
      </a:lvl5pPr>
      <a:lvl6pPr marL="457200" algn="ctr" rtl="0" eaLnBrk="1" fontAlgn="base" hangingPunct="1">
        <a:lnSpc>
          <a:spcPct val="90000"/>
        </a:lnSpc>
        <a:spcBef>
          <a:spcPct val="0"/>
        </a:spcBef>
        <a:spcAft>
          <a:spcPct val="0"/>
        </a:spcAft>
        <a:defRPr sz="2400" b="1">
          <a:solidFill>
            <a:srgbClr val="2A40E2"/>
          </a:solidFill>
          <a:latin typeface="Comic Sans MS" charset="0"/>
        </a:defRPr>
      </a:lvl6pPr>
      <a:lvl7pPr marL="914400" algn="ctr" rtl="0" eaLnBrk="1" fontAlgn="base" hangingPunct="1">
        <a:lnSpc>
          <a:spcPct val="90000"/>
        </a:lnSpc>
        <a:spcBef>
          <a:spcPct val="0"/>
        </a:spcBef>
        <a:spcAft>
          <a:spcPct val="0"/>
        </a:spcAft>
        <a:defRPr sz="2400" b="1">
          <a:solidFill>
            <a:srgbClr val="2A40E2"/>
          </a:solidFill>
          <a:latin typeface="Comic Sans MS" charset="0"/>
        </a:defRPr>
      </a:lvl7pPr>
      <a:lvl8pPr marL="1371600" algn="ctr" rtl="0" eaLnBrk="1" fontAlgn="base" hangingPunct="1">
        <a:lnSpc>
          <a:spcPct val="90000"/>
        </a:lnSpc>
        <a:spcBef>
          <a:spcPct val="0"/>
        </a:spcBef>
        <a:spcAft>
          <a:spcPct val="0"/>
        </a:spcAft>
        <a:defRPr sz="2400" b="1">
          <a:solidFill>
            <a:srgbClr val="2A40E2"/>
          </a:solidFill>
          <a:latin typeface="Comic Sans MS" charset="0"/>
        </a:defRPr>
      </a:lvl8pPr>
      <a:lvl9pPr marL="1828800" algn="ctr" rtl="0" eaLnBrk="1" fontAlgn="base" hangingPunct="1">
        <a:lnSpc>
          <a:spcPct val="90000"/>
        </a:lnSpc>
        <a:spcBef>
          <a:spcPct val="0"/>
        </a:spcBef>
        <a:spcAft>
          <a:spcPct val="0"/>
        </a:spcAft>
        <a:defRPr sz="2400" b="1">
          <a:solidFill>
            <a:srgbClr val="2A40E2"/>
          </a:solidFill>
          <a:latin typeface="Comic Sans MS" charset="0"/>
        </a:defRPr>
      </a:lvl9pPr>
    </p:titleStyle>
    <p:body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6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2.sv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49.sv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2.sv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3.sv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svg"/><Relationship Id="rId1" Type="http://schemas.openxmlformats.org/officeDocument/2006/relationships/slideLayout" Target="../slideLayouts/slideLayout2.xml"/><Relationship Id="rId4" Type="http://schemas.openxmlformats.org/officeDocument/2006/relationships/image" Target="../media/image57.svg"/></Relationships>
</file>

<file path=ppt/slides/_rels/slide9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1.sv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2.sv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3.sv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4.sv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3">
            <a:extLst>
              <a:ext uri="{FF2B5EF4-FFF2-40B4-BE49-F238E27FC236}">
                <a16:creationId xmlns:a16="http://schemas.microsoft.com/office/drawing/2014/main" id="{300D91A7-E0FF-CA67-5510-1772A75D07D3}"/>
              </a:ext>
            </a:extLst>
          </p:cNvPr>
          <p:cNvSpPr txBox="1">
            <a:spLocks noChangeArrowheads="1"/>
          </p:cNvSpPr>
          <p:nvPr/>
        </p:nvSpPr>
        <p:spPr bwMode="auto">
          <a:xfrm>
            <a:off x="8720138" y="4368800"/>
            <a:ext cx="185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eaLnBrk="1" hangingPunct="1"/>
            <a:endParaRPr lang="zh-CN" altLang="zh-CN" sz="2000" b="0">
              <a:latin typeface="Helvetica" pitchFamily="2" charset="0"/>
            </a:endParaRPr>
          </a:p>
        </p:txBody>
      </p:sp>
      <p:sp>
        <p:nvSpPr>
          <p:cNvPr id="3075" name="Text Box 4">
            <a:extLst>
              <a:ext uri="{FF2B5EF4-FFF2-40B4-BE49-F238E27FC236}">
                <a16:creationId xmlns:a16="http://schemas.microsoft.com/office/drawing/2014/main" id="{6B571BE3-4526-479A-0E2A-B5CA907FFD24}"/>
              </a:ext>
            </a:extLst>
          </p:cNvPr>
          <p:cNvSpPr txBox="1">
            <a:spLocks noChangeArrowheads="1"/>
          </p:cNvSpPr>
          <p:nvPr/>
        </p:nvSpPr>
        <p:spPr bwMode="auto">
          <a:xfrm>
            <a:off x="381000" y="5791200"/>
            <a:ext cx="83820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spAutoFit/>
          </a:bodyPr>
          <a:lstStyle>
            <a:lvl1pPr eaLnBrk="0" hangingPunct="0">
              <a:defRPr sz="2400" b="1">
                <a:solidFill>
                  <a:schemeClr val="tx1"/>
                </a:solidFill>
                <a:latin typeface="Comic Sans MS" panose="030F0902030302020204" pitchFamily="66" charset="0"/>
                <a:ea typeface="MS PGothic" panose="020B0600070205080204" pitchFamily="34" charset="-128"/>
              </a:defRPr>
            </a:lvl1pPr>
            <a:lvl2pPr marL="742950" indent="-285750" eaLnBrk="0" hangingPunct="0">
              <a:defRPr sz="2400" b="1">
                <a:solidFill>
                  <a:schemeClr val="tx1"/>
                </a:solidFill>
                <a:latin typeface="Comic Sans MS" panose="030F0902030302020204" pitchFamily="66" charset="0"/>
                <a:ea typeface="MS PGothic" panose="020B0600070205080204" pitchFamily="34" charset="-128"/>
              </a:defRPr>
            </a:lvl2pPr>
            <a:lvl3pPr marL="1143000" indent="-228600" eaLnBrk="0" hangingPunct="0">
              <a:defRPr sz="2400" b="1">
                <a:solidFill>
                  <a:schemeClr val="tx1"/>
                </a:solidFill>
                <a:latin typeface="Comic Sans MS" panose="030F0902030302020204" pitchFamily="66" charset="0"/>
                <a:ea typeface="MS PGothic" panose="020B0600070205080204" pitchFamily="34" charset="-128"/>
              </a:defRPr>
            </a:lvl3pPr>
            <a:lvl4pPr marL="1600200" indent="-228600" eaLnBrk="0" hangingPunct="0">
              <a:defRPr sz="2400" b="1">
                <a:solidFill>
                  <a:schemeClr val="tx1"/>
                </a:solidFill>
                <a:latin typeface="Comic Sans MS" panose="030F0902030302020204" pitchFamily="66" charset="0"/>
                <a:ea typeface="MS PGothic" panose="020B0600070205080204" pitchFamily="34" charset="-128"/>
              </a:defRPr>
            </a:lvl4pPr>
            <a:lvl5pPr marL="2057400" indent="-228600" eaLnBrk="0" hangingPunct="0">
              <a:defRPr sz="2400" b="1">
                <a:solidFill>
                  <a:schemeClr val="tx1"/>
                </a:solidFill>
                <a:latin typeface="Comic Sans MS" panose="030F0902030302020204" pitchFamily="66" charset="0"/>
                <a:ea typeface="MS PGothic" panose="020B0600070205080204" pitchFamily="34" charset="-128"/>
              </a:defRPr>
            </a:lvl5pPr>
            <a:lvl6pPr marL="25146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6pPr>
            <a:lvl7pPr marL="29718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7pPr>
            <a:lvl8pPr marL="34290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8pPr>
            <a:lvl9pPr marL="3886200" indent="-228600" eaLnBrk="0" fontAlgn="base" hangingPunct="0">
              <a:spcBef>
                <a:spcPct val="0"/>
              </a:spcBef>
              <a:spcAft>
                <a:spcPct val="0"/>
              </a:spcAft>
              <a:defRPr sz="2400" b="1">
                <a:solidFill>
                  <a:schemeClr val="tx1"/>
                </a:solidFill>
                <a:latin typeface="Comic Sans MS" panose="030F0902030302020204" pitchFamily="66" charset="0"/>
                <a:ea typeface="MS PGothic" panose="020B0600070205080204" pitchFamily="34" charset="-128"/>
              </a:defRPr>
            </a:lvl9pPr>
          </a:lstStyle>
          <a:p>
            <a:pPr eaLnBrk="1" hangingPunct="1"/>
            <a:r>
              <a:rPr lang="en-US" altLang="zh-CN" sz="1400" b="0">
                <a:latin typeface="Helvetica" pitchFamily="2" charset="0"/>
              </a:rPr>
              <a:t>Note: Some slides and/or pictures in the following are adapted from slides ©2005 Silberschatz, Galvin, and Gagne. Slides courtesy of Anthony D. Joseph, John Kubiatowicz, AJ Shankar, George Necula, Alex Aiken, Eric Brewer, Ras Bodik, Ion Stoica, Doug Tygar, David Wagner, and John Canny .</a:t>
            </a:r>
          </a:p>
        </p:txBody>
      </p:sp>
      <p:sp>
        <p:nvSpPr>
          <p:cNvPr id="7" name="Rectangle 3">
            <a:extLst>
              <a:ext uri="{FF2B5EF4-FFF2-40B4-BE49-F238E27FC236}">
                <a16:creationId xmlns:a16="http://schemas.microsoft.com/office/drawing/2014/main" id="{A3302C6D-32B4-9813-CA13-87C68FC56C99}"/>
              </a:ext>
            </a:extLst>
          </p:cNvPr>
          <p:cNvSpPr txBox="1">
            <a:spLocks noChangeArrowheads="1"/>
          </p:cNvSpPr>
          <p:nvPr/>
        </p:nvSpPr>
        <p:spPr bwMode="auto">
          <a:xfrm>
            <a:off x="609600" y="4572000"/>
            <a:ext cx="8001000" cy="1066800"/>
          </a:xfrm>
          <a:prstGeom prst="rect">
            <a:avLst/>
          </a:prstGeom>
          <a:noFill/>
          <a:ln w="12700">
            <a:noFill/>
            <a:miter lim="800000"/>
            <a:headEnd/>
            <a:tailEnd/>
          </a:ln>
        </p:spPr>
        <p:txBody>
          <a:bodyPr lIns="90478" tIns="44445" rIns="90478" bIns="44445"/>
          <a:lstStyle/>
          <a:p>
            <a:pPr marL="285750" indent="-285750" algn="ctr" eaLnBrk="0" hangingPunct="0">
              <a:lnSpc>
                <a:spcPct val="90000"/>
              </a:lnSpc>
              <a:spcBef>
                <a:spcPct val="30000"/>
              </a:spcBef>
              <a:buSzPct val="100000"/>
              <a:defRPr/>
            </a:pPr>
            <a:r>
              <a:rPr lang="en-US" altLang="zh-CN" sz="2400" b="0" kern="0" dirty="0">
                <a:latin typeface="Helvetica" charset="0"/>
                <a:ea typeface="MS PGothic" charset="0"/>
                <a:cs typeface="ＭＳ Ｐゴシック" charset="-128"/>
              </a:rPr>
              <a:t>Wei</a:t>
            </a:r>
            <a:r>
              <a:rPr lang="zh-CN" altLang="en-US" sz="2400" b="0" kern="0" dirty="0">
                <a:latin typeface="Helvetica" charset="0"/>
                <a:ea typeface="MS PGothic" charset="0"/>
                <a:cs typeface="ＭＳ Ｐゴシック" charset="-128"/>
              </a:rPr>
              <a:t> </a:t>
            </a:r>
            <a:r>
              <a:rPr lang="en-US" altLang="zh-CN" sz="2400" b="0" kern="0" dirty="0">
                <a:latin typeface="Helvetica" charset="0"/>
                <a:ea typeface="MS PGothic" charset="0"/>
                <a:cs typeface="ＭＳ Ｐゴシック" charset="-128"/>
              </a:rPr>
              <a:t>Xu</a:t>
            </a:r>
            <a:endParaRPr lang="en-US" sz="2400" b="0" kern="0" dirty="0">
              <a:latin typeface="Helvetica" charset="0"/>
              <a:ea typeface="MS PGothic" charset="0"/>
              <a:cs typeface="ＭＳ Ｐゴシック" charset="-128"/>
            </a:endParaRPr>
          </a:p>
        </p:txBody>
      </p:sp>
      <p:sp>
        <p:nvSpPr>
          <p:cNvPr id="3077" name="Rectangle 2">
            <a:extLst>
              <a:ext uri="{FF2B5EF4-FFF2-40B4-BE49-F238E27FC236}">
                <a16:creationId xmlns:a16="http://schemas.microsoft.com/office/drawing/2014/main" id="{84015085-39EB-ABAF-4614-B1B7D7508CD4}"/>
              </a:ext>
            </a:extLst>
          </p:cNvPr>
          <p:cNvSpPr>
            <a:spLocks noGrp="1" noChangeArrowheads="1"/>
          </p:cNvSpPr>
          <p:nvPr>
            <p:ph type="ctrTitle"/>
          </p:nvPr>
        </p:nvSpPr>
        <p:spPr>
          <a:xfrm>
            <a:off x="609600" y="990600"/>
            <a:ext cx="7848600" cy="2895600"/>
          </a:xfrm>
        </p:spPr>
        <p:txBody>
          <a:bodyPr/>
          <a:lstStyle/>
          <a:p>
            <a:br>
              <a:rPr lang="en-US" altLang="zh-CN" sz="3000" dirty="0">
                <a:latin typeface="Helvetica" charset="0"/>
                <a:ea typeface="ＭＳ Ｐゴシック" charset="0"/>
                <a:cs typeface="ＭＳ Ｐゴシック" charset="0"/>
              </a:rPr>
            </a:br>
            <a:r>
              <a:rPr lang="en-US" altLang="zh-CN" sz="3000" dirty="0">
                <a:latin typeface="Helvetica" charset="0"/>
                <a:ea typeface="ＭＳ Ｐゴシック" charset="0"/>
                <a:cs typeface="ＭＳ Ｐゴシック" charset="0"/>
              </a:rPr>
              <a:t>Introduction</a:t>
            </a:r>
            <a:r>
              <a:rPr lang="zh-CN" altLang="en-US" sz="3000" dirty="0">
                <a:latin typeface="Helvetica" charset="0"/>
                <a:ea typeface="ＭＳ Ｐゴシック" charset="0"/>
                <a:cs typeface="ＭＳ Ｐゴシック" charset="0"/>
              </a:rPr>
              <a:t> </a:t>
            </a:r>
            <a:r>
              <a:rPr lang="en-US" altLang="zh-CN" sz="3000" dirty="0">
                <a:latin typeface="Helvetica" charset="0"/>
                <a:ea typeface="ＭＳ Ｐゴシック" charset="0"/>
                <a:cs typeface="ＭＳ Ｐゴシック" charset="0"/>
              </a:rPr>
              <a:t>to</a:t>
            </a:r>
            <a:r>
              <a:rPr lang="zh-CN" altLang="en-US" sz="3000" dirty="0">
                <a:latin typeface="Helvetica" charset="0"/>
                <a:ea typeface="ＭＳ Ｐゴシック" charset="0"/>
                <a:cs typeface="ＭＳ Ｐゴシック" charset="0"/>
              </a:rPr>
              <a:t> </a:t>
            </a:r>
            <a:r>
              <a:rPr lang="en-US" altLang="zh-CN" sz="3000" dirty="0">
                <a:latin typeface="Helvetica" charset="0"/>
                <a:ea typeface="ＭＳ Ｐゴシック" charset="0"/>
                <a:cs typeface="ＭＳ Ｐゴシック" charset="0"/>
              </a:rPr>
              <a:t>Computer Systems </a:t>
            </a:r>
            <a:br>
              <a:rPr lang="en-US" altLang="zh-CN" sz="3000" dirty="0">
                <a:latin typeface="Helvetica" pitchFamily="2" charset="0"/>
              </a:rPr>
            </a:br>
            <a:br>
              <a:rPr lang="en-US" altLang="zh-CN" sz="3000" dirty="0">
                <a:latin typeface="Helvetica" pitchFamily="2" charset="0"/>
              </a:rPr>
            </a:br>
            <a:r>
              <a:rPr lang="en-US" altLang="zh-CN" sz="3000" dirty="0">
                <a:latin typeface="Helvetica" pitchFamily="2" charset="0"/>
              </a:rPr>
              <a:t>Lecture 14</a:t>
            </a:r>
            <a:br>
              <a:rPr lang="en-US" altLang="zh-CN" sz="3000" dirty="0">
                <a:latin typeface="Helvetica" pitchFamily="2" charset="0"/>
              </a:rPr>
            </a:br>
            <a:br>
              <a:rPr lang="en-US" altLang="zh-CN" sz="3000" dirty="0">
                <a:latin typeface="Helvetica" pitchFamily="2" charset="0"/>
              </a:rPr>
            </a:br>
            <a:r>
              <a:rPr lang="en-US" altLang="zh-CN" sz="3000" dirty="0">
                <a:latin typeface="Helvetica" pitchFamily="2" charset="0"/>
              </a:rPr>
              <a:t>Great</a:t>
            </a:r>
            <a:r>
              <a:rPr lang="zh-CN" altLang="en-US" sz="3000" dirty="0">
                <a:latin typeface="Helvetica" pitchFamily="2" charset="0"/>
              </a:rPr>
              <a:t> </a:t>
            </a:r>
            <a:r>
              <a:rPr lang="en-US" altLang="zh-CN" sz="3000" dirty="0">
                <a:latin typeface="Helvetica" pitchFamily="2" charset="0"/>
              </a:rPr>
              <a:t>Ideas</a:t>
            </a:r>
            <a:r>
              <a:rPr lang="zh-CN" altLang="en-US" sz="3000" dirty="0">
                <a:latin typeface="Helvetica" pitchFamily="2" charset="0"/>
              </a:rPr>
              <a:t> </a:t>
            </a:r>
            <a:r>
              <a:rPr lang="en-US" altLang="zh-CN" sz="3000" dirty="0">
                <a:latin typeface="Helvetica" pitchFamily="2" charset="0"/>
              </a:rPr>
              <a:t>in</a:t>
            </a:r>
            <a:r>
              <a:rPr lang="zh-CN" altLang="en-US" sz="3000" dirty="0">
                <a:latin typeface="Helvetica" pitchFamily="2" charset="0"/>
              </a:rPr>
              <a:t> </a:t>
            </a:r>
            <a:r>
              <a:rPr lang="en-US" altLang="zh-CN" sz="3000" dirty="0">
                <a:latin typeface="Helvetica" pitchFamily="2" charset="0"/>
              </a:rPr>
              <a:t>Computer</a:t>
            </a:r>
            <a:r>
              <a:rPr lang="zh-CN" altLang="en-US" sz="3000" dirty="0">
                <a:latin typeface="Helvetica" pitchFamily="2" charset="0"/>
              </a:rPr>
              <a:t> </a:t>
            </a:r>
            <a:r>
              <a:rPr lang="en-US" altLang="zh-CN" sz="3000" dirty="0">
                <a:latin typeface="Helvetica" pitchFamily="2" charset="0"/>
              </a:rPr>
              <a:t>Systems</a:t>
            </a:r>
            <a:r>
              <a:rPr lang="zh-CN" altLang="en-US" sz="3000" dirty="0">
                <a:latin typeface="Helvetica" pitchFamily="2" charset="0"/>
              </a:rPr>
              <a:t> </a:t>
            </a:r>
            <a:br>
              <a:rPr lang="en-US" altLang="zh-CN" sz="3000" dirty="0">
                <a:latin typeface="Helvetica" pitchFamily="2" charset="0"/>
              </a:rPr>
            </a:br>
            <a:r>
              <a:rPr lang="en-US" altLang="zh-CN" sz="3000" dirty="0">
                <a:latin typeface="Helvetica" pitchFamily="2" charset="0"/>
              </a:rPr>
              <a:t>aka.</a:t>
            </a:r>
            <a:r>
              <a:rPr lang="zh-CN" altLang="en-US" sz="3000" dirty="0">
                <a:latin typeface="Helvetica" pitchFamily="2" charset="0"/>
              </a:rPr>
              <a:t> </a:t>
            </a:r>
            <a:r>
              <a:rPr lang="en-US" altLang="zh-CN" sz="3000" dirty="0">
                <a:latin typeface="Helvetica" pitchFamily="2" charset="0"/>
              </a:rPr>
              <a:t>Semester</a:t>
            </a:r>
            <a:r>
              <a:rPr lang="zh-CN" altLang="en-US" sz="3000" dirty="0">
                <a:latin typeface="Helvetica" pitchFamily="2" charset="0"/>
              </a:rPr>
              <a:t> </a:t>
            </a:r>
            <a:r>
              <a:rPr lang="en-US" altLang="zh-CN" sz="3000" dirty="0">
                <a:latin typeface="Helvetica" pitchFamily="2" charset="0"/>
              </a:rPr>
              <a:t>Review</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399CF1-228C-E3A4-45A3-01A35ADB199F}"/>
              </a:ext>
            </a:extLst>
          </p:cNvPr>
          <p:cNvSpPr>
            <a:spLocks noGrp="1"/>
          </p:cNvSpPr>
          <p:nvPr>
            <p:ph type="title"/>
          </p:nvPr>
        </p:nvSpPr>
        <p:spPr/>
        <p:txBody>
          <a:bodyPr/>
          <a:lstStyle/>
          <a:p>
            <a:r>
              <a:rPr kumimoji="1" lang="en-US" altLang="zh-CN" dirty="0"/>
              <a:t>Final</a:t>
            </a:r>
            <a:r>
              <a:rPr kumimoji="1" lang="zh-CN" altLang="en-US" dirty="0"/>
              <a:t> </a:t>
            </a:r>
            <a:r>
              <a:rPr kumimoji="1" lang="en-US" altLang="zh-CN" dirty="0"/>
              <a:t>Administrivia</a:t>
            </a:r>
            <a:endParaRPr kumimoji="1" lang="zh-CN" altLang="en-US" dirty="0"/>
          </a:p>
        </p:txBody>
      </p:sp>
      <p:sp>
        <p:nvSpPr>
          <p:cNvPr id="3" name="内容占位符 2">
            <a:extLst>
              <a:ext uri="{FF2B5EF4-FFF2-40B4-BE49-F238E27FC236}">
                <a16:creationId xmlns:a16="http://schemas.microsoft.com/office/drawing/2014/main" id="{EFFFE9C8-3466-220F-04E3-F20140914E84}"/>
              </a:ext>
            </a:extLst>
          </p:cNvPr>
          <p:cNvSpPr>
            <a:spLocks noGrp="1"/>
          </p:cNvSpPr>
          <p:nvPr>
            <p:ph idx="1"/>
          </p:nvPr>
        </p:nvSpPr>
        <p:spPr>
          <a:xfrm>
            <a:off x="609600" y="914400"/>
            <a:ext cx="7924800" cy="5715000"/>
          </a:xfrm>
        </p:spPr>
        <p:txBody>
          <a:bodyPr/>
          <a:lstStyle/>
          <a:p>
            <a:r>
              <a:rPr kumimoji="1" lang="en-US" altLang="zh-CN" dirty="0"/>
              <a:t>Final</a:t>
            </a:r>
            <a:r>
              <a:rPr kumimoji="1" lang="zh-CN" altLang="en-US" dirty="0"/>
              <a:t> </a:t>
            </a:r>
            <a:r>
              <a:rPr kumimoji="1" lang="en-US" altLang="zh-CN" dirty="0"/>
              <a:t>Exam</a:t>
            </a:r>
          </a:p>
          <a:p>
            <a:pPr lvl="1"/>
            <a:r>
              <a:rPr kumimoji="1" lang="en-US" altLang="zh-CN" b="1" dirty="0"/>
              <a:t>Jun</a:t>
            </a:r>
            <a:r>
              <a:rPr kumimoji="1" lang="zh-CN" altLang="en-US" b="1" dirty="0"/>
              <a:t> </a:t>
            </a:r>
            <a:r>
              <a:rPr kumimoji="1" lang="en-US" altLang="zh-CN" b="1" dirty="0"/>
              <a:t>16</a:t>
            </a:r>
            <a:r>
              <a:rPr kumimoji="1" lang="zh-CN" altLang="en-US" b="1" dirty="0"/>
              <a:t> </a:t>
            </a:r>
            <a:r>
              <a:rPr kumimoji="1" lang="en-US" altLang="zh-CN" b="1" baseline="30000" dirty="0" err="1"/>
              <a:t>th</a:t>
            </a:r>
            <a:r>
              <a:rPr kumimoji="1" lang="zh-CN" altLang="en-US" b="1" dirty="0"/>
              <a:t> </a:t>
            </a:r>
            <a:r>
              <a:rPr kumimoji="1" lang="en-US" altLang="zh-CN" b="1" dirty="0"/>
              <a:t>(Tuesday)</a:t>
            </a:r>
            <a:r>
              <a:rPr kumimoji="1" lang="zh-CN" altLang="en-US" b="1" dirty="0"/>
              <a:t> </a:t>
            </a:r>
            <a:r>
              <a:rPr kumimoji="1" lang="en-US" altLang="zh-CN" b="1" dirty="0"/>
              <a:t>19:00-21:00</a:t>
            </a:r>
          </a:p>
          <a:p>
            <a:pPr lvl="1"/>
            <a:r>
              <a:rPr kumimoji="1" lang="en-US" altLang="zh-CN" b="1" dirty="0">
                <a:solidFill>
                  <a:srgbClr val="FF0000"/>
                </a:solidFill>
              </a:rPr>
              <a:t>Even</a:t>
            </a:r>
            <a:r>
              <a:rPr kumimoji="1" lang="zh-CN" altLang="en-US" b="1" dirty="0">
                <a:solidFill>
                  <a:srgbClr val="FF0000"/>
                </a:solidFill>
              </a:rPr>
              <a:t> </a:t>
            </a:r>
            <a:r>
              <a:rPr kumimoji="1" lang="en-US" altLang="zh-CN" b="1" dirty="0">
                <a:solidFill>
                  <a:srgbClr val="FF0000"/>
                </a:solidFill>
              </a:rPr>
              <a:t>student</a:t>
            </a:r>
            <a:r>
              <a:rPr kumimoji="1" lang="zh-CN" altLang="en-US" b="1" dirty="0">
                <a:solidFill>
                  <a:srgbClr val="FF0000"/>
                </a:solidFill>
              </a:rPr>
              <a:t> </a:t>
            </a:r>
            <a:r>
              <a:rPr kumimoji="1" lang="en-US" altLang="zh-CN" b="1" dirty="0">
                <a:solidFill>
                  <a:srgbClr val="FF0000"/>
                </a:solidFill>
              </a:rPr>
              <a:t>#</a:t>
            </a:r>
            <a:r>
              <a:rPr kumimoji="1" lang="zh-CN" altLang="en-US" b="1" dirty="0">
                <a:solidFill>
                  <a:srgbClr val="FF0000"/>
                </a:solidFill>
              </a:rPr>
              <a:t> </a:t>
            </a:r>
            <a:r>
              <a:rPr kumimoji="1" lang="en-US" altLang="zh-CN" b="1" dirty="0">
                <a:solidFill>
                  <a:srgbClr val="FF0000"/>
                </a:solidFill>
              </a:rPr>
              <a:t>-&gt;</a:t>
            </a:r>
            <a:r>
              <a:rPr kumimoji="1" lang="zh-CN" altLang="en-US" b="1" dirty="0">
                <a:solidFill>
                  <a:srgbClr val="FF0000"/>
                </a:solidFill>
              </a:rPr>
              <a:t> 计科楼</a:t>
            </a:r>
            <a:r>
              <a:rPr kumimoji="1" lang="en-US" altLang="zh-CN" b="1" dirty="0">
                <a:solidFill>
                  <a:srgbClr val="FF0000"/>
                </a:solidFill>
              </a:rPr>
              <a:t>-3311</a:t>
            </a:r>
          </a:p>
          <a:p>
            <a:pPr lvl="1"/>
            <a:r>
              <a:rPr kumimoji="1" lang="en-US" altLang="zh-CN" b="1" dirty="0">
                <a:solidFill>
                  <a:srgbClr val="FF0000"/>
                </a:solidFill>
              </a:rPr>
              <a:t>Odd</a:t>
            </a:r>
            <a:r>
              <a:rPr kumimoji="1" lang="zh-CN" altLang="en-US" b="1" dirty="0">
                <a:solidFill>
                  <a:srgbClr val="FF0000"/>
                </a:solidFill>
              </a:rPr>
              <a:t> </a:t>
            </a:r>
            <a:r>
              <a:rPr kumimoji="1" lang="en-US" altLang="zh-CN" b="1" dirty="0">
                <a:solidFill>
                  <a:srgbClr val="FF0000"/>
                </a:solidFill>
              </a:rPr>
              <a:t>student</a:t>
            </a:r>
            <a:r>
              <a:rPr kumimoji="1" lang="zh-CN" altLang="en-US" b="1" dirty="0">
                <a:solidFill>
                  <a:srgbClr val="FF0000"/>
                </a:solidFill>
              </a:rPr>
              <a:t> </a:t>
            </a:r>
            <a:r>
              <a:rPr kumimoji="1" lang="en-US" altLang="zh-CN" b="1" dirty="0">
                <a:solidFill>
                  <a:srgbClr val="FF0000"/>
                </a:solidFill>
              </a:rPr>
              <a:t>#</a:t>
            </a:r>
            <a:r>
              <a:rPr kumimoji="1" lang="zh-CN" altLang="en-US" b="1" dirty="0">
                <a:solidFill>
                  <a:srgbClr val="FF0000"/>
                </a:solidFill>
              </a:rPr>
              <a:t> </a:t>
            </a:r>
            <a:r>
              <a:rPr kumimoji="1" lang="en-US" altLang="zh-CN" b="1" dirty="0">
                <a:solidFill>
                  <a:srgbClr val="FF0000"/>
                </a:solidFill>
              </a:rPr>
              <a:t>-&gt;</a:t>
            </a:r>
            <a:r>
              <a:rPr kumimoji="1" lang="zh-CN" altLang="en-US" b="1" dirty="0">
                <a:solidFill>
                  <a:srgbClr val="FF0000"/>
                </a:solidFill>
              </a:rPr>
              <a:t> 计科楼</a:t>
            </a:r>
            <a:r>
              <a:rPr kumimoji="1" lang="en-US" altLang="zh-CN" b="1" dirty="0">
                <a:solidFill>
                  <a:srgbClr val="FF0000"/>
                </a:solidFill>
              </a:rPr>
              <a:t>-3417</a:t>
            </a:r>
          </a:p>
          <a:p>
            <a:pPr lvl="1"/>
            <a:r>
              <a:rPr kumimoji="1" lang="en-US" altLang="zh-CN" dirty="0"/>
              <a:t>Covers</a:t>
            </a:r>
            <a:r>
              <a:rPr kumimoji="1" lang="zh-CN" altLang="en-US" dirty="0"/>
              <a:t> </a:t>
            </a:r>
            <a:r>
              <a:rPr kumimoji="1" lang="en-US" altLang="zh-CN" dirty="0"/>
              <a:t>the</a:t>
            </a:r>
            <a:r>
              <a:rPr kumimoji="1" lang="zh-CN" altLang="en-US" dirty="0"/>
              <a:t> </a:t>
            </a:r>
            <a:r>
              <a:rPr kumimoji="1" lang="en-US" altLang="zh-CN" dirty="0"/>
              <a:t>entire</a:t>
            </a:r>
            <a:r>
              <a:rPr kumimoji="1" lang="zh-CN" altLang="en-US" dirty="0"/>
              <a:t> </a:t>
            </a:r>
            <a:r>
              <a:rPr kumimoji="1" lang="en-US" altLang="zh-CN" dirty="0"/>
              <a:t>semester, covers</a:t>
            </a:r>
            <a:r>
              <a:rPr kumimoji="1" lang="zh-CN" altLang="en-US" dirty="0"/>
              <a:t> </a:t>
            </a:r>
            <a:r>
              <a:rPr kumimoji="1" lang="en-US" altLang="zh-CN" dirty="0"/>
              <a:t>very</a:t>
            </a:r>
            <a:r>
              <a:rPr kumimoji="1" lang="zh-CN" altLang="en-US" dirty="0"/>
              <a:t> </a:t>
            </a:r>
            <a:r>
              <a:rPr kumimoji="1" lang="en-US" altLang="zh-CN" dirty="0"/>
              <a:t>basic</a:t>
            </a:r>
            <a:r>
              <a:rPr kumimoji="1" lang="zh-CN" altLang="en-US" dirty="0"/>
              <a:t> </a:t>
            </a:r>
            <a:r>
              <a:rPr kumimoji="1" lang="en-US" altLang="zh-CN" dirty="0"/>
              <a:t>concepts</a:t>
            </a:r>
          </a:p>
          <a:p>
            <a:pPr lvl="1"/>
            <a:r>
              <a:rPr kumimoji="1" lang="en-US" altLang="zh-CN" dirty="0"/>
              <a:t>2</a:t>
            </a:r>
            <a:r>
              <a:rPr kumimoji="1" lang="zh-CN" altLang="en-US" dirty="0"/>
              <a:t> </a:t>
            </a:r>
            <a:r>
              <a:rPr kumimoji="1" lang="en-US" altLang="zh-CN" dirty="0"/>
              <a:t>cheat</a:t>
            </a:r>
            <a:r>
              <a:rPr kumimoji="1" lang="zh-CN" altLang="en-US" dirty="0"/>
              <a:t> </a:t>
            </a:r>
            <a:r>
              <a:rPr kumimoji="1" lang="en-US" altLang="zh-CN" dirty="0"/>
              <a:t>sheets</a:t>
            </a:r>
            <a:r>
              <a:rPr kumimoji="1" lang="zh-CN" altLang="en-US" dirty="0"/>
              <a:t> </a:t>
            </a:r>
            <a:r>
              <a:rPr kumimoji="1" lang="en-US" altLang="zh-CN" dirty="0"/>
              <a:t>allowed</a:t>
            </a:r>
          </a:p>
          <a:p>
            <a:pPr lvl="1"/>
            <a:r>
              <a:rPr kumimoji="1" lang="en-US" altLang="zh-CN" dirty="0"/>
              <a:t>Other</a:t>
            </a:r>
            <a:r>
              <a:rPr kumimoji="1" lang="zh-CN" altLang="en-US" dirty="0"/>
              <a:t> </a:t>
            </a:r>
            <a:r>
              <a:rPr kumimoji="1" lang="en-US" altLang="zh-CN" dirty="0"/>
              <a:t>rules</a:t>
            </a:r>
            <a:r>
              <a:rPr kumimoji="1" lang="zh-CN" altLang="en-US" dirty="0"/>
              <a:t> </a:t>
            </a:r>
            <a:r>
              <a:rPr kumimoji="1" lang="en-US" altLang="zh-CN" dirty="0"/>
              <a:t>same</a:t>
            </a:r>
            <a:r>
              <a:rPr kumimoji="1" lang="zh-CN" altLang="en-US" dirty="0"/>
              <a:t> </a:t>
            </a:r>
            <a:r>
              <a:rPr kumimoji="1" lang="en-US" altLang="zh-CN" dirty="0"/>
              <a:t>as</a:t>
            </a:r>
            <a:r>
              <a:rPr kumimoji="1" lang="zh-CN" altLang="en-US" dirty="0"/>
              <a:t> </a:t>
            </a:r>
            <a:r>
              <a:rPr kumimoji="1" lang="en-US" altLang="zh-CN" dirty="0"/>
              <a:t>the</a:t>
            </a:r>
            <a:r>
              <a:rPr kumimoji="1" lang="zh-CN" altLang="en-US" dirty="0"/>
              <a:t> </a:t>
            </a:r>
            <a:r>
              <a:rPr kumimoji="1" lang="en-US" altLang="zh-CN" dirty="0"/>
              <a:t>midterm</a:t>
            </a:r>
          </a:p>
          <a:p>
            <a:r>
              <a:rPr kumimoji="1" lang="en-US" altLang="zh-CN" dirty="0"/>
              <a:t>Project</a:t>
            </a:r>
            <a:r>
              <a:rPr kumimoji="1" lang="zh-CN" altLang="en-US" dirty="0"/>
              <a:t> </a:t>
            </a:r>
            <a:r>
              <a:rPr kumimoji="1" lang="en-US" altLang="zh-CN" dirty="0"/>
              <a:t>3</a:t>
            </a:r>
            <a:r>
              <a:rPr kumimoji="1" lang="zh-CN" altLang="en-US" dirty="0"/>
              <a:t> </a:t>
            </a:r>
            <a:r>
              <a:rPr kumimoji="1" lang="en-US" altLang="zh-CN" dirty="0"/>
              <a:t>Extended</a:t>
            </a:r>
          </a:p>
          <a:p>
            <a:pPr lvl="1"/>
            <a:r>
              <a:rPr kumimoji="1" lang="en-US" altLang="zh-CN" dirty="0"/>
              <a:t>Sunday</a:t>
            </a:r>
            <a:r>
              <a:rPr kumimoji="1" lang="zh-CN" altLang="en-US" dirty="0"/>
              <a:t> </a:t>
            </a:r>
            <a:r>
              <a:rPr kumimoji="1" lang="en-US" altLang="zh-CN" dirty="0"/>
              <a:t>6/21</a:t>
            </a:r>
            <a:r>
              <a:rPr kumimoji="1" lang="zh-CN" altLang="en-US" dirty="0"/>
              <a:t> </a:t>
            </a:r>
            <a:r>
              <a:rPr kumimoji="1" lang="en-US" altLang="zh-CN" dirty="0"/>
              <a:t>at</a:t>
            </a:r>
            <a:r>
              <a:rPr kumimoji="1" lang="zh-CN" altLang="en-US" dirty="0"/>
              <a:t> </a:t>
            </a:r>
            <a:r>
              <a:rPr kumimoji="1" lang="en-US" altLang="zh-CN" dirty="0"/>
              <a:t>11:59pm</a:t>
            </a:r>
            <a:r>
              <a:rPr kumimoji="1" lang="zh-CN" altLang="en-US" dirty="0"/>
              <a:t> </a:t>
            </a:r>
            <a:endParaRPr kumimoji="1" lang="en-US" altLang="zh-CN" dirty="0"/>
          </a:p>
          <a:p>
            <a:pPr lvl="1"/>
            <a:r>
              <a:rPr kumimoji="1" lang="en-US" altLang="zh-CN" dirty="0">
                <a:solidFill>
                  <a:srgbClr val="FF0000"/>
                </a:solidFill>
              </a:rPr>
              <a:t>【If</a:t>
            </a:r>
            <a:r>
              <a:rPr kumimoji="1" lang="zh-CN" altLang="en-US" dirty="0">
                <a:solidFill>
                  <a:srgbClr val="FF0000"/>
                </a:solidFill>
              </a:rPr>
              <a:t> </a:t>
            </a:r>
            <a:r>
              <a:rPr kumimoji="1" lang="en-US" altLang="zh-CN" dirty="0">
                <a:solidFill>
                  <a:srgbClr val="FF0000"/>
                </a:solidFill>
              </a:rPr>
              <a:t>you</a:t>
            </a:r>
            <a:r>
              <a:rPr kumimoji="1" lang="zh-CN" altLang="en-US" dirty="0">
                <a:solidFill>
                  <a:srgbClr val="FF0000"/>
                </a:solidFill>
              </a:rPr>
              <a:t> </a:t>
            </a:r>
            <a:r>
              <a:rPr kumimoji="1" lang="en-US" altLang="zh-CN" dirty="0">
                <a:solidFill>
                  <a:srgbClr val="FF0000"/>
                </a:solidFill>
              </a:rPr>
              <a:t>are</a:t>
            </a:r>
            <a:r>
              <a:rPr kumimoji="1" lang="zh-CN" altLang="en-US" dirty="0">
                <a:solidFill>
                  <a:srgbClr val="FF0000"/>
                </a:solidFill>
              </a:rPr>
              <a:t> </a:t>
            </a:r>
            <a:r>
              <a:rPr kumimoji="1" lang="en-US" altLang="zh-CN" dirty="0">
                <a:solidFill>
                  <a:srgbClr val="FF0000"/>
                </a:solidFill>
              </a:rPr>
              <a:t>graduating,</a:t>
            </a:r>
            <a:r>
              <a:rPr kumimoji="1" lang="zh-CN" altLang="en-US" dirty="0">
                <a:solidFill>
                  <a:srgbClr val="FF0000"/>
                </a:solidFill>
              </a:rPr>
              <a:t> </a:t>
            </a:r>
            <a:r>
              <a:rPr kumimoji="1" lang="en-US" altLang="zh-CN" dirty="0">
                <a:solidFill>
                  <a:srgbClr val="FF0000"/>
                </a:solidFill>
              </a:rPr>
              <a:t>deadline</a:t>
            </a:r>
            <a:r>
              <a:rPr kumimoji="1" lang="zh-CN" altLang="en-US" dirty="0">
                <a:solidFill>
                  <a:srgbClr val="FF0000"/>
                </a:solidFill>
              </a:rPr>
              <a:t> </a:t>
            </a:r>
            <a:r>
              <a:rPr kumimoji="1" lang="en-US" altLang="zh-CN" dirty="0">
                <a:solidFill>
                  <a:srgbClr val="FF0000"/>
                </a:solidFill>
              </a:rPr>
              <a:t>is</a:t>
            </a:r>
            <a:r>
              <a:rPr kumimoji="1" lang="zh-CN" altLang="en-US" dirty="0">
                <a:solidFill>
                  <a:srgbClr val="FF0000"/>
                </a:solidFill>
              </a:rPr>
              <a:t> </a:t>
            </a:r>
            <a:r>
              <a:rPr kumimoji="1" lang="en-US" altLang="zh-CN" dirty="0">
                <a:solidFill>
                  <a:srgbClr val="FF0000"/>
                </a:solidFill>
              </a:rPr>
              <a:t>6/18</a:t>
            </a:r>
            <a:r>
              <a:rPr kumimoji="1" lang="zh-CN" altLang="en-US" dirty="0">
                <a:solidFill>
                  <a:srgbClr val="FF0000"/>
                </a:solidFill>
              </a:rPr>
              <a:t> </a:t>
            </a:r>
            <a:r>
              <a:rPr kumimoji="1" lang="en-US" altLang="zh-CN" dirty="0">
                <a:solidFill>
                  <a:srgbClr val="FF0000"/>
                </a:solidFill>
              </a:rPr>
              <a:t>Thursday】</a:t>
            </a:r>
          </a:p>
          <a:p>
            <a:pPr lvl="1"/>
            <a:r>
              <a:rPr kumimoji="1" lang="en-US" altLang="zh-CN" b="1" dirty="0"/>
              <a:t>No</a:t>
            </a:r>
            <a:r>
              <a:rPr kumimoji="1" lang="zh-CN" altLang="en-US" dirty="0"/>
              <a:t> </a:t>
            </a:r>
            <a:r>
              <a:rPr kumimoji="1" lang="en-US" altLang="zh-CN" dirty="0"/>
              <a:t>further</a:t>
            </a:r>
            <a:r>
              <a:rPr kumimoji="1" lang="zh-CN" altLang="en-US" dirty="0"/>
              <a:t> </a:t>
            </a:r>
            <a:r>
              <a:rPr kumimoji="1" lang="en-US" altLang="zh-CN" dirty="0"/>
              <a:t>extension,</a:t>
            </a:r>
            <a:r>
              <a:rPr kumimoji="1" lang="zh-CN" altLang="en-US" dirty="0"/>
              <a:t> </a:t>
            </a:r>
            <a:r>
              <a:rPr kumimoji="1" lang="en-US" altLang="zh-CN" dirty="0"/>
              <a:t>any</a:t>
            </a:r>
            <a:r>
              <a:rPr kumimoji="1" lang="zh-CN" altLang="en-US" dirty="0"/>
              <a:t> </a:t>
            </a:r>
            <a:r>
              <a:rPr kumimoji="1" lang="en-US" altLang="zh-CN" dirty="0"/>
              <a:t>late</a:t>
            </a:r>
            <a:r>
              <a:rPr kumimoji="1" lang="zh-CN" altLang="en-US" dirty="0"/>
              <a:t> </a:t>
            </a:r>
            <a:r>
              <a:rPr kumimoji="1" lang="en-US" altLang="zh-CN" dirty="0"/>
              <a:t>submission</a:t>
            </a:r>
            <a:r>
              <a:rPr kumimoji="1" lang="zh-CN" altLang="en-US" dirty="0"/>
              <a:t> </a:t>
            </a:r>
            <a:r>
              <a:rPr kumimoji="1" lang="en-US" altLang="zh-CN" dirty="0"/>
              <a:t>receives</a:t>
            </a:r>
            <a:r>
              <a:rPr kumimoji="1" lang="zh-CN" altLang="en-US" dirty="0"/>
              <a:t> </a:t>
            </a:r>
            <a:r>
              <a:rPr kumimoji="1" lang="en-US" altLang="zh-CN" dirty="0"/>
              <a:t>a</a:t>
            </a:r>
            <a:r>
              <a:rPr kumimoji="1" lang="zh-CN" altLang="en-US" dirty="0"/>
              <a:t> </a:t>
            </a:r>
            <a:r>
              <a:rPr kumimoji="1" lang="en-US" altLang="zh-CN" dirty="0"/>
              <a:t>0</a:t>
            </a:r>
          </a:p>
          <a:p>
            <a:r>
              <a:rPr kumimoji="1" lang="en-US" altLang="zh-CN" dirty="0"/>
              <a:t>You</a:t>
            </a:r>
            <a:r>
              <a:rPr kumimoji="1" lang="zh-CN" altLang="en-US" dirty="0"/>
              <a:t> </a:t>
            </a:r>
            <a:r>
              <a:rPr kumimoji="1" lang="en-US" altLang="zh-CN" dirty="0"/>
              <a:t>need</a:t>
            </a:r>
            <a:r>
              <a:rPr kumimoji="1" lang="zh-CN" altLang="en-US" dirty="0"/>
              <a:t> </a:t>
            </a:r>
            <a:r>
              <a:rPr kumimoji="1" lang="en-US" altLang="zh-CN" dirty="0"/>
              <a:t>to</a:t>
            </a:r>
            <a:r>
              <a:rPr kumimoji="1" lang="zh-CN" altLang="en-US" dirty="0"/>
              <a:t> </a:t>
            </a:r>
            <a:r>
              <a:rPr kumimoji="1" lang="en-US" altLang="zh-CN" dirty="0"/>
              <a:t>return</a:t>
            </a:r>
            <a:r>
              <a:rPr kumimoji="1" lang="zh-CN" altLang="en-US" dirty="0"/>
              <a:t> </a:t>
            </a:r>
            <a:r>
              <a:rPr kumimoji="1" lang="en-US" altLang="zh-CN" dirty="0"/>
              <a:t>the</a:t>
            </a:r>
            <a:r>
              <a:rPr kumimoji="1" lang="zh-CN" altLang="en-US" dirty="0"/>
              <a:t> </a:t>
            </a:r>
            <a:r>
              <a:rPr kumimoji="1" lang="en-US" altLang="zh-CN" dirty="0"/>
              <a:t>Raspberry</a:t>
            </a:r>
            <a:r>
              <a:rPr kumimoji="1" lang="zh-CN" altLang="en-US" dirty="0"/>
              <a:t> </a:t>
            </a:r>
            <a:r>
              <a:rPr kumimoji="1" lang="en-US" altLang="zh-CN" dirty="0"/>
              <a:t>Pi’s</a:t>
            </a:r>
            <a:r>
              <a:rPr kumimoji="1" lang="zh-CN" altLang="en-US" dirty="0"/>
              <a:t> </a:t>
            </a:r>
            <a:r>
              <a:rPr kumimoji="1" lang="en-US" altLang="zh-CN" dirty="0"/>
              <a:t>to</a:t>
            </a:r>
            <a:r>
              <a:rPr kumimoji="1" lang="zh-CN" altLang="en-US" dirty="0"/>
              <a:t> </a:t>
            </a:r>
            <a:r>
              <a:rPr kumimoji="1" lang="en-US" altLang="zh-CN" dirty="0"/>
              <a:t>your</a:t>
            </a:r>
            <a:r>
              <a:rPr kumimoji="1" lang="zh-CN" altLang="en-US" dirty="0"/>
              <a:t> </a:t>
            </a:r>
            <a:r>
              <a:rPr kumimoji="1" lang="en-US" altLang="zh-CN" dirty="0"/>
              <a:t>TAs</a:t>
            </a:r>
          </a:p>
          <a:p>
            <a:pPr lvl="1"/>
            <a:r>
              <a:rPr kumimoji="1" lang="en-US" altLang="zh-CN" dirty="0"/>
              <a:t>Lost</a:t>
            </a:r>
            <a:r>
              <a:rPr kumimoji="1" lang="zh-CN" altLang="en-US" dirty="0"/>
              <a:t> </a:t>
            </a:r>
            <a:r>
              <a:rPr kumimoji="1" lang="en-US" altLang="zh-CN" dirty="0"/>
              <a:t>/</a:t>
            </a:r>
            <a:r>
              <a:rPr kumimoji="1" lang="zh-CN" altLang="en-US" dirty="0"/>
              <a:t> </a:t>
            </a:r>
            <a:r>
              <a:rPr kumimoji="1" lang="en-US" altLang="zh-CN" dirty="0"/>
              <a:t>stolen?</a:t>
            </a:r>
            <a:r>
              <a:rPr kumimoji="1" lang="zh-CN" altLang="en-US" dirty="0"/>
              <a:t>  </a:t>
            </a:r>
            <a:r>
              <a:rPr kumimoji="1" lang="en-US" altLang="zh-CN" dirty="0"/>
              <a:t>Report</a:t>
            </a:r>
            <a:r>
              <a:rPr kumimoji="1" lang="zh-CN" altLang="en-US" dirty="0"/>
              <a:t> </a:t>
            </a:r>
            <a:r>
              <a:rPr kumimoji="1" lang="en-US" altLang="zh-CN" dirty="0"/>
              <a:t>to</a:t>
            </a:r>
            <a:r>
              <a:rPr kumimoji="1" lang="zh-CN" altLang="en-US" dirty="0"/>
              <a:t> </a:t>
            </a:r>
            <a:r>
              <a:rPr kumimoji="1" lang="en-US" altLang="zh-CN" dirty="0"/>
              <a:t>the</a:t>
            </a:r>
            <a:r>
              <a:rPr kumimoji="1" lang="zh-CN" altLang="en-US" dirty="0"/>
              <a:t> </a:t>
            </a:r>
            <a:r>
              <a:rPr kumimoji="1" lang="en-US" altLang="zh-CN" dirty="0"/>
              <a:t>TAs</a:t>
            </a:r>
            <a:r>
              <a:rPr kumimoji="1" lang="zh-CN" altLang="en-US" dirty="0"/>
              <a:t> </a:t>
            </a:r>
            <a:r>
              <a:rPr kumimoji="1" lang="en-US" altLang="zh-CN" dirty="0"/>
              <a:t>now!</a:t>
            </a:r>
          </a:p>
          <a:p>
            <a:pPr lvl="1"/>
            <a:r>
              <a:rPr kumimoji="1" lang="en-US" altLang="zh-CN" dirty="0"/>
              <a:t>Without</a:t>
            </a:r>
            <a:r>
              <a:rPr kumimoji="1" lang="zh-CN" altLang="en-US" dirty="0"/>
              <a:t> </a:t>
            </a:r>
            <a:r>
              <a:rPr kumimoji="1" lang="en-US" altLang="zh-CN" dirty="0"/>
              <a:t>that</a:t>
            </a:r>
            <a:r>
              <a:rPr kumimoji="1" lang="zh-CN" altLang="en-US" dirty="0"/>
              <a:t> </a:t>
            </a:r>
            <a:r>
              <a:rPr kumimoji="1" lang="en-US" altLang="zh-CN" dirty="0"/>
              <a:t>you</a:t>
            </a:r>
            <a:r>
              <a:rPr kumimoji="1" lang="zh-CN" altLang="en-US" dirty="0"/>
              <a:t> </a:t>
            </a:r>
            <a:r>
              <a:rPr kumimoji="1" lang="en-US" altLang="zh-CN" dirty="0"/>
              <a:t>will</a:t>
            </a:r>
            <a:r>
              <a:rPr kumimoji="1" lang="zh-CN" altLang="en-US" dirty="0"/>
              <a:t> </a:t>
            </a:r>
            <a:r>
              <a:rPr kumimoji="1" lang="en-US" altLang="zh-CN" dirty="0"/>
              <a:t>receive</a:t>
            </a:r>
            <a:r>
              <a:rPr kumimoji="1" lang="zh-CN" altLang="en-US" dirty="0"/>
              <a:t> </a:t>
            </a:r>
            <a:r>
              <a:rPr kumimoji="1" lang="en-US" altLang="zh-CN" dirty="0"/>
              <a:t>an</a:t>
            </a:r>
            <a:r>
              <a:rPr kumimoji="1" lang="zh-CN" altLang="en-US" dirty="0"/>
              <a:t> </a:t>
            </a:r>
            <a:r>
              <a:rPr kumimoji="1" lang="en-US" altLang="zh-CN" dirty="0"/>
              <a:t>“F”</a:t>
            </a:r>
            <a:r>
              <a:rPr kumimoji="1" lang="zh-CN" altLang="en-US" dirty="0"/>
              <a:t> </a:t>
            </a:r>
            <a:r>
              <a:rPr kumimoji="1" lang="en-US" altLang="zh-CN" dirty="0"/>
              <a:t>for</a:t>
            </a:r>
            <a:r>
              <a:rPr kumimoji="1" lang="zh-CN" altLang="en-US" dirty="0"/>
              <a:t> </a:t>
            </a:r>
            <a:r>
              <a:rPr kumimoji="1" lang="en-US" altLang="zh-CN" dirty="0"/>
              <a:t>the</a:t>
            </a:r>
            <a:r>
              <a:rPr kumimoji="1" lang="zh-CN" altLang="en-US" dirty="0"/>
              <a:t> </a:t>
            </a:r>
            <a:r>
              <a:rPr kumimoji="1" lang="en-US" altLang="zh-CN" dirty="0"/>
              <a:t>course</a:t>
            </a:r>
            <a:r>
              <a:rPr kumimoji="1" lang="zh-CN" altLang="en-US" dirty="0"/>
              <a:t> </a:t>
            </a:r>
            <a:endParaRPr kumimoji="1" lang="en-US" altLang="zh-CN" dirty="0"/>
          </a:p>
          <a:p>
            <a:pPr lvl="1"/>
            <a:endParaRPr kumimoji="1" lang="en-US" altLang="zh-CN" dirty="0"/>
          </a:p>
          <a:p>
            <a:pPr lvl="1"/>
            <a:endParaRPr kumimoji="1" lang="zh-CN" altLang="en-US" dirty="0"/>
          </a:p>
        </p:txBody>
      </p:sp>
    </p:spTree>
    <p:extLst>
      <p:ext uri="{BB962C8B-B14F-4D97-AF65-F5344CB8AC3E}">
        <p14:creationId xmlns:p14="http://schemas.microsoft.com/office/powerpoint/2010/main" val="169627415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31C1CE-71B6-4B58-F02F-C1E27A4C7788}"/>
              </a:ext>
            </a:extLst>
          </p:cNvPr>
          <p:cNvSpPr>
            <a:spLocks noGrp="1" noChangeArrowheads="1"/>
          </p:cNvSpPr>
          <p:nvPr>
            <p:ph idx="1"/>
          </p:nvPr>
        </p:nvSpPr>
        <p:spPr>
          <a:xfrm>
            <a:off x="1600200" y="2057400"/>
            <a:ext cx="6172200" cy="2743200"/>
          </a:xfrm>
        </p:spPr>
        <p:txBody>
          <a:bodyPr/>
          <a:lstStyle/>
          <a:p>
            <a:endParaRPr lang="en-US" altLang="ko-KR" dirty="0">
              <a:latin typeface="Helvetica" charset="0"/>
              <a:ea typeface="Gulim" pitchFamily="34" charset="-127"/>
            </a:endParaRPr>
          </a:p>
          <a:p>
            <a:r>
              <a:rPr lang="en-US" altLang="ko-KR" dirty="0">
                <a:latin typeface="Helvetica" charset="0"/>
                <a:ea typeface="Gulim" pitchFamily="34" charset="-127"/>
              </a:rPr>
              <a:t>If</a:t>
            </a:r>
            <a:r>
              <a:rPr lang="zh-CN" altLang="en-US" dirty="0">
                <a:latin typeface="Helvetica" charset="0"/>
                <a:ea typeface="Gulim" pitchFamily="34" charset="-127"/>
              </a:rPr>
              <a:t> </a:t>
            </a:r>
            <a:r>
              <a:rPr lang="en-US" altLang="zh-CN" dirty="0">
                <a:latin typeface="Helvetica" charset="0"/>
                <a:ea typeface="Gulim" pitchFamily="34" charset="-127"/>
              </a:rPr>
              <a:t>you</a:t>
            </a:r>
            <a:r>
              <a:rPr lang="zh-CN" altLang="en-US" dirty="0">
                <a:latin typeface="Helvetica" charset="0"/>
                <a:ea typeface="Gulim" pitchFamily="34" charset="-127"/>
              </a:rPr>
              <a:t> </a:t>
            </a:r>
            <a:r>
              <a:rPr lang="en-US" altLang="zh-CN" dirty="0">
                <a:latin typeface="Helvetica" charset="0"/>
                <a:ea typeface="Gulim" pitchFamily="34" charset="-127"/>
              </a:rPr>
              <a:t>do</a:t>
            </a:r>
            <a:r>
              <a:rPr lang="zh-CN" altLang="en-US" dirty="0">
                <a:latin typeface="Helvetica" charset="0"/>
                <a:ea typeface="Gulim" pitchFamily="34" charset="-127"/>
              </a:rPr>
              <a:t> </a:t>
            </a:r>
            <a:r>
              <a:rPr lang="en-US" altLang="zh-CN" dirty="0">
                <a:latin typeface="Helvetica" charset="0"/>
                <a:ea typeface="Gulim" pitchFamily="34" charset="-127"/>
              </a:rPr>
              <a:t>not</a:t>
            </a:r>
            <a:r>
              <a:rPr lang="zh-CN" altLang="en-US" dirty="0">
                <a:latin typeface="Helvetica" charset="0"/>
                <a:ea typeface="Gulim" pitchFamily="34" charset="-127"/>
              </a:rPr>
              <a:t> </a:t>
            </a:r>
            <a:r>
              <a:rPr lang="en-US" altLang="zh-CN" dirty="0">
                <a:latin typeface="Helvetica" charset="0"/>
                <a:ea typeface="Gulim" pitchFamily="34" charset="-127"/>
              </a:rPr>
              <a:t>know</a:t>
            </a:r>
            <a:r>
              <a:rPr lang="zh-CN" altLang="en-US" dirty="0">
                <a:latin typeface="Helvetica" charset="0"/>
                <a:ea typeface="Gulim" pitchFamily="34" charset="-127"/>
              </a:rPr>
              <a:t> </a:t>
            </a:r>
            <a:r>
              <a:rPr lang="en-US" altLang="zh-CN" dirty="0">
                <a:latin typeface="Helvetica" charset="0"/>
                <a:ea typeface="Gulim" pitchFamily="34" charset="-127"/>
              </a:rPr>
              <a:t>what</a:t>
            </a:r>
            <a:r>
              <a:rPr lang="zh-CN" altLang="en-US" dirty="0">
                <a:latin typeface="Helvetica" charset="0"/>
                <a:ea typeface="Gulim" pitchFamily="34" charset="-127"/>
              </a:rPr>
              <a:t> </a:t>
            </a:r>
            <a:r>
              <a:rPr lang="en-US" altLang="zh-CN" dirty="0">
                <a:latin typeface="Helvetica" charset="0"/>
                <a:ea typeface="Gulim" pitchFamily="34" charset="-127"/>
              </a:rPr>
              <a:t>the</a:t>
            </a:r>
            <a:r>
              <a:rPr lang="zh-CN" altLang="en-US" dirty="0">
                <a:latin typeface="Helvetica" charset="0"/>
                <a:ea typeface="Gulim" pitchFamily="34" charset="-127"/>
              </a:rPr>
              <a:t> </a:t>
            </a:r>
            <a:r>
              <a:rPr lang="en-US" altLang="zh-CN" dirty="0">
                <a:latin typeface="Helvetica" charset="0"/>
                <a:ea typeface="Gulim" pitchFamily="34" charset="-127"/>
              </a:rPr>
              <a:t>following</a:t>
            </a:r>
            <a:r>
              <a:rPr lang="zh-CN" altLang="en-US" dirty="0">
                <a:latin typeface="Helvetica" charset="0"/>
                <a:ea typeface="Gulim" pitchFamily="34" charset="-127"/>
              </a:rPr>
              <a:t> </a:t>
            </a:r>
            <a:r>
              <a:rPr lang="en-US" altLang="zh-CN" dirty="0">
                <a:latin typeface="Helvetica" charset="0"/>
                <a:ea typeface="Gulim" pitchFamily="34" charset="-127"/>
              </a:rPr>
              <a:t>examples</a:t>
            </a:r>
            <a:r>
              <a:rPr lang="zh-CN" altLang="en-US" dirty="0">
                <a:latin typeface="Helvetica" charset="0"/>
                <a:ea typeface="Gulim" pitchFamily="34" charset="-127"/>
              </a:rPr>
              <a:t> </a:t>
            </a:r>
            <a:r>
              <a:rPr lang="en-US" altLang="zh-CN" dirty="0">
                <a:latin typeface="Helvetica" charset="0"/>
                <a:ea typeface="Gulim" pitchFamily="34" charset="-127"/>
              </a:rPr>
              <a:t>are</a:t>
            </a:r>
            <a:r>
              <a:rPr lang="zh-CN" altLang="en-US" dirty="0">
                <a:latin typeface="Helvetica" charset="0"/>
                <a:ea typeface="Gulim" pitchFamily="34" charset="-127"/>
              </a:rPr>
              <a:t> </a:t>
            </a:r>
            <a:r>
              <a:rPr lang="en-US" altLang="zh-CN" dirty="0">
                <a:latin typeface="Helvetica" charset="0"/>
                <a:ea typeface="Gulim" pitchFamily="34" charset="-127"/>
              </a:rPr>
              <a:t>about,</a:t>
            </a:r>
            <a:r>
              <a:rPr lang="zh-CN" altLang="en-US" dirty="0">
                <a:latin typeface="Helvetica" charset="0"/>
                <a:ea typeface="Gulim" pitchFamily="34" charset="-127"/>
              </a:rPr>
              <a:t> </a:t>
            </a:r>
            <a:r>
              <a:rPr lang="en-US" altLang="zh-CN" dirty="0">
                <a:latin typeface="Helvetica" charset="0"/>
                <a:ea typeface="Gulim" pitchFamily="34" charset="-127"/>
              </a:rPr>
              <a:t>you</a:t>
            </a:r>
            <a:r>
              <a:rPr lang="zh-CN" altLang="en-US" dirty="0">
                <a:latin typeface="Helvetica" charset="0"/>
                <a:ea typeface="Gulim" pitchFamily="34" charset="-127"/>
              </a:rPr>
              <a:t> </a:t>
            </a:r>
            <a:r>
              <a:rPr lang="en-US" altLang="zh-CN" dirty="0">
                <a:latin typeface="Helvetica" charset="0"/>
                <a:ea typeface="Gulim" pitchFamily="34" charset="-127"/>
              </a:rPr>
              <a:t>will</a:t>
            </a:r>
            <a:r>
              <a:rPr lang="zh-CN" altLang="en-US" dirty="0">
                <a:latin typeface="Helvetica" charset="0"/>
                <a:ea typeface="Gulim" pitchFamily="34" charset="-127"/>
              </a:rPr>
              <a:t> </a:t>
            </a:r>
            <a:r>
              <a:rPr lang="en-US" altLang="zh-CN" dirty="0">
                <a:latin typeface="Helvetica" charset="0"/>
                <a:ea typeface="Gulim" pitchFamily="34" charset="-127"/>
              </a:rPr>
              <a:t>need</a:t>
            </a:r>
            <a:r>
              <a:rPr lang="zh-CN" altLang="en-US" dirty="0">
                <a:latin typeface="Helvetica" charset="0"/>
                <a:ea typeface="Gulim" pitchFamily="34" charset="-127"/>
              </a:rPr>
              <a:t> </a:t>
            </a:r>
            <a:r>
              <a:rPr lang="en-US" altLang="zh-CN" dirty="0">
                <a:latin typeface="Helvetica" charset="0"/>
                <a:ea typeface="Gulim" pitchFamily="34" charset="-127"/>
              </a:rPr>
              <a:t>a</a:t>
            </a:r>
            <a:r>
              <a:rPr lang="zh-CN" altLang="en-US" dirty="0">
                <a:latin typeface="Helvetica" charset="0"/>
                <a:ea typeface="Gulim" pitchFamily="34" charset="-127"/>
              </a:rPr>
              <a:t> </a:t>
            </a:r>
            <a:r>
              <a:rPr lang="en-US" altLang="zh-CN" dirty="0">
                <a:latin typeface="Helvetica" charset="0"/>
                <a:ea typeface="Gulim" pitchFamily="34" charset="-127"/>
              </a:rPr>
              <a:t>good</a:t>
            </a:r>
            <a:r>
              <a:rPr lang="zh-CN" altLang="en-US" dirty="0">
                <a:latin typeface="Helvetica" charset="0"/>
                <a:ea typeface="Gulim" pitchFamily="34" charset="-127"/>
              </a:rPr>
              <a:t> </a:t>
            </a:r>
            <a:r>
              <a:rPr lang="en-US" altLang="zh-CN" dirty="0">
                <a:latin typeface="Helvetica" charset="0"/>
                <a:ea typeface="Gulim" pitchFamily="34" charset="-127"/>
              </a:rPr>
              <a:t>review</a:t>
            </a:r>
            <a:r>
              <a:rPr lang="zh-CN" altLang="en-US" dirty="0">
                <a:latin typeface="Helvetica" charset="0"/>
                <a:ea typeface="Gulim" pitchFamily="34" charset="-127"/>
              </a:rPr>
              <a:t> </a:t>
            </a:r>
            <a:r>
              <a:rPr lang="en-US" altLang="zh-CN" dirty="0">
                <a:latin typeface="Helvetica" charset="0"/>
                <a:ea typeface="Gulim" pitchFamily="34" charset="-127"/>
              </a:rPr>
              <a:t>before</a:t>
            </a:r>
            <a:r>
              <a:rPr lang="zh-CN" altLang="en-US" dirty="0">
                <a:latin typeface="Helvetica" charset="0"/>
                <a:ea typeface="Gulim" pitchFamily="34" charset="-127"/>
              </a:rPr>
              <a:t> </a:t>
            </a:r>
            <a:r>
              <a:rPr lang="en-US" altLang="zh-CN" dirty="0">
                <a:latin typeface="Helvetica" charset="0"/>
                <a:ea typeface="Gulim" pitchFamily="34" charset="-127"/>
              </a:rPr>
              <a:t>the</a:t>
            </a:r>
            <a:r>
              <a:rPr lang="zh-CN" altLang="en-US" dirty="0">
                <a:latin typeface="Helvetica" charset="0"/>
                <a:ea typeface="Gulim" pitchFamily="34" charset="-127"/>
              </a:rPr>
              <a:t> </a:t>
            </a:r>
            <a:r>
              <a:rPr lang="en-US" altLang="zh-CN" dirty="0">
                <a:latin typeface="Helvetica" charset="0"/>
                <a:ea typeface="Gulim" pitchFamily="34" charset="-127"/>
              </a:rPr>
              <a:t>final</a:t>
            </a:r>
          </a:p>
          <a:p>
            <a:endParaRPr lang="en-US" altLang="zh-CN" dirty="0">
              <a:latin typeface="Helvetica" charset="0"/>
              <a:ea typeface="Gulim" pitchFamily="34" charset="-127"/>
            </a:endParaRPr>
          </a:p>
          <a:p>
            <a:r>
              <a:rPr lang="en-US" altLang="zh-CN" dirty="0">
                <a:latin typeface="Helvetica" charset="0"/>
                <a:ea typeface="Gulim" pitchFamily="34" charset="-127"/>
              </a:rPr>
              <a:t>Seriously..</a:t>
            </a:r>
            <a:endParaRPr lang="ko-KR" altLang="en-US" dirty="0">
              <a:latin typeface="Helvetica" charset="0"/>
              <a:ea typeface="Gulim" pitchFamily="34" charset="-127"/>
            </a:endParaRPr>
          </a:p>
        </p:txBody>
      </p:sp>
    </p:spTree>
    <p:extLst>
      <p:ext uri="{BB962C8B-B14F-4D97-AF65-F5344CB8AC3E}">
        <p14:creationId xmlns:p14="http://schemas.microsoft.com/office/powerpoint/2010/main" val="152106219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B2ED5C-02AF-5E9E-3034-5F24C6F53A03}"/>
              </a:ext>
            </a:extLst>
          </p:cNvPr>
          <p:cNvSpPr>
            <a:spLocks noGrp="1"/>
          </p:cNvSpPr>
          <p:nvPr>
            <p:ph type="title"/>
          </p:nvPr>
        </p:nvSpPr>
        <p:spPr/>
        <p:txBody>
          <a:bodyPr/>
          <a:lstStyle/>
          <a:p>
            <a:r>
              <a:rPr kumimoji="1" lang="en-US" altLang="zh-CN" dirty="0"/>
              <a:t>Fundamental</a:t>
            </a:r>
            <a:r>
              <a:rPr kumimoji="1" lang="zh-CN" altLang="en-US" dirty="0"/>
              <a:t> </a:t>
            </a:r>
            <a:r>
              <a:rPr kumimoji="1" lang="en-US" altLang="zh-CN" dirty="0"/>
              <a:t>challenges</a:t>
            </a:r>
            <a:r>
              <a:rPr kumimoji="1" lang="zh-CN" altLang="en-US" dirty="0"/>
              <a:t> </a:t>
            </a:r>
            <a:r>
              <a:rPr kumimoji="1" lang="en-US" altLang="zh-CN" dirty="0"/>
              <a:t>in</a:t>
            </a:r>
            <a:r>
              <a:rPr kumimoji="1" lang="zh-CN" altLang="en-US" dirty="0"/>
              <a:t> </a:t>
            </a:r>
            <a:r>
              <a:rPr kumimoji="1" lang="en-US" altLang="zh-CN" dirty="0"/>
              <a:t>systems</a:t>
            </a:r>
            <a:endParaRPr kumimoji="1" lang="zh-CN" altLang="en-US" dirty="0"/>
          </a:p>
        </p:txBody>
      </p:sp>
      <p:sp>
        <p:nvSpPr>
          <p:cNvPr id="3" name="文本占位符 2">
            <a:extLst>
              <a:ext uri="{FF2B5EF4-FFF2-40B4-BE49-F238E27FC236}">
                <a16:creationId xmlns:a16="http://schemas.microsoft.com/office/drawing/2014/main" id="{58BAD08F-3296-1D86-2DA3-2848AB3299D5}"/>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311773156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29281C-BB1A-F745-A07F-AA080D486E4C}"/>
              </a:ext>
            </a:extLst>
          </p:cNvPr>
          <p:cNvSpPr>
            <a:spLocks noGrp="1"/>
          </p:cNvSpPr>
          <p:nvPr>
            <p:ph type="title"/>
          </p:nvPr>
        </p:nvSpPr>
        <p:spPr>
          <a:xfrm>
            <a:off x="838200" y="3962400"/>
            <a:ext cx="7162800" cy="533400"/>
          </a:xfrm>
        </p:spPr>
        <p:txBody>
          <a:bodyPr/>
          <a:lstStyle/>
          <a:p>
            <a:r>
              <a:rPr lang="en-US" altLang="zh-CN" sz="2400" i="1" dirty="0"/>
              <a:t>Everything should be made as simple as possible, but no simpler. (A. Einstein)</a:t>
            </a:r>
            <a:br>
              <a:rPr lang="en-US" altLang="zh-CN" sz="2400" i="1" dirty="0"/>
            </a:br>
            <a:br>
              <a:rPr lang="en-US" altLang="zh-CN" sz="2400" i="1" dirty="0"/>
            </a:br>
            <a:br>
              <a:rPr lang="en-US" altLang="zh-CN" sz="2400" i="1" dirty="0"/>
            </a:br>
            <a:r>
              <a:rPr lang="en-US" altLang="zh-CN" sz="2400" i="1" dirty="0"/>
              <a:t>An engineer is a man who can do for a dime what any fool can do for a dollar. (Anonymous)</a:t>
            </a:r>
            <a:endParaRPr kumimoji="1" lang="zh-CN" altLang="en-US" sz="2400" i="1" dirty="0"/>
          </a:p>
        </p:txBody>
      </p:sp>
      <p:sp>
        <p:nvSpPr>
          <p:cNvPr id="3" name="矩形 2">
            <a:extLst>
              <a:ext uri="{FF2B5EF4-FFF2-40B4-BE49-F238E27FC236}">
                <a16:creationId xmlns:a16="http://schemas.microsoft.com/office/drawing/2014/main" id="{C05ECAE2-C0D3-9703-D1DC-EC8D60717B3F}"/>
              </a:ext>
            </a:extLst>
          </p:cNvPr>
          <p:cNvSpPr/>
          <p:nvPr/>
        </p:nvSpPr>
        <p:spPr>
          <a:xfrm>
            <a:off x="1143000" y="1295400"/>
            <a:ext cx="7162800" cy="1200329"/>
          </a:xfrm>
          <a:prstGeom prst="rect">
            <a:avLst/>
          </a:prstGeom>
        </p:spPr>
        <p:txBody>
          <a:bodyPr wrap="square">
            <a:spAutoFit/>
          </a:bodyPr>
          <a:lstStyle/>
          <a:p>
            <a:r>
              <a:rPr lang="en-US" altLang="zh-CN" sz="2400" i="1" dirty="0">
                <a:solidFill>
                  <a:srgbClr val="2A40E2"/>
                </a:solidFill>
                <a:latin typeface="Helvetica"/>
                <a:ea typeface="ＭＳ Ｐゴシック" charset="-128"/>
              </a:rPr>
              <a:t>Perfection is reached not when there is no longer anything to add, but when there is no longer anything to take away. (A. Saint-Exupery)</a:t>
            </a:r>
            <a:endParaRPr lang="zh-CN" altLang="en-US" sz="2400" i="1" dirty="0">
              <a:solidFill>
                <a:srgbClr val="2A40E2"/>
              </a:solidFill>
              <a:latin typeface="Helvetica"/>
              <a:ea typeface="ＭＳ Ｐゴシック" charset="-128"/>
            </a:endParaRPr>
          </a:p>
        </p:txBody>
      </p:sp>
    </p:spTree>
    <p:extLst>
      <p:ext uri="{BB962C8B-B14F-4D97-AF65-F5344CB8AC3E}">
        <p14:creationId xmlns:p14="http://schemas.microsoft.com/office/powerpoint/2010/main" val="231024594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B8F12F-F81C-B413-DD1F-6F766EE0A73E}"/>
              </a:ext>
            </a:extLst>
          </p:cNvPr>
          <p:cNvSpPr>
            <a:spLocks noGrp="1"/>
          </p:cNvSpPr>
          <p:nvPr>
            <p:ph type="title"/>
          </p:nvPr>
        </p:nvSpPr>
        <p:spPr/>
        <p:txBody>
          <a:bodyPr/>
          <a:lstStyle/>
          <a:p>
            <a:r>
              <a:rPr kumimoji="1" lang="en-US" altLang="zh-CN" dirty="0"/>
              <a:t>Challenges</a:t>
            </a:r>
            <a:endParaRPr kumimoji="1" lang="zh-CN" altLang="en-US" dirty="0"/>
          </a:p>
        </p:txBody>
      </p:sp>
      <p:sp>
        <p:nvSpPr>
          <p:cNvPr id="3" name="内容占位符 2">
            <a:extLst>
              <a:ext uri="{FF2B5EF4-FFF2-40B4-BE49-F238E27FC236}">
                <a16:creationId xmlns:a16="http://schemas.microsoft.com/office/drawing/2014/main" id="{A6C459D2-B1A1-960C-9831-5602DB07477B}"/>
              </a:ext>
            </a:extLst>
          </p:cNvPr>
          <p:cNvSpPr>
            <a:spLocks noGrp="1"/>
          </p:cNvSpPr>
          <p:nvPr>
            <p:ph idx="1"/>
          </p:nvPr>
        </p:nvSpPr>
        <p:spPr>
          <a:xfrm>
            <a:off x="308603" y="677718"/>
            <a:ext cx="5867400" cy="5105400"/>
          </a:xfrm>
        </p:spPr>
        <p:txBody>
          <a:bodyPr/>
          <a:lstStyle/>
          <a:p>
            <a:r>
              <a:rPr kumimoji="1" lang="en-US" altLang="zh-CN" sz="2000" dirty="0"/>
              <a:t>Hardware</a:t>
            </a:r>
            <a:r>
              <a:rPr kumimoji="1" lang="zh-CN" altLang="en-US" sz="2000" dirty="0"/>
              <a:t> </a:t>
            </a:r>
            <a:r>
              <a:rPr kumimoji="1" lang="en-US" altLang="zh-CN" sz="2000" dirty="0"/>
              <a:t>limitations</a:t>
            </a:r>
          </a:p>
          <a:p>
            <a:pPr lvl="1"/>
            <a:r>
              <a:rPr kumimoji="1" lang="en-US" altLang="zh-CN" sz="2000" dirty="0"/>
              <a:t>Power</a:t>
            </a:r>
            <a:r>
              <a:rPr kumimoji="1" lang="zh-CN" altLang="en-US" sz="2000" dirty="0"/>
              <a:t> </a:t>
            </a:r>
            <a:r>
              <a:rPr kumimoji="1" lang="en-US" altLang="zh-CN" sz="2000" dirty="0"/>
              <a:t>wall:</a:t>
            </a:r>
            <a:r>
              <a:rPr kumimoji="1" lang="zh-CN" altLang="en-US" sz="2000" dirty="0"/>
              <a:t> </a:t>
            </a:r>
            <a:r>
              <a:rPr kumimoji="1" lang="en-US" altLang="zh-CN" sz="2000" dirty="0"/>
              <a:t>cannot</a:t>
            </a:r>
            <a:r>
              <a:rPr kumimoji="1" lang="zh-CN" altLang="en-US" sz="2000" dirty="0"/>
              <a:t> </a:t>
            </a:r>
            <a:r>
              <a:rPr kumimoji="1" lang="en-US" altLang="zh-CN" sz="2000" dirty="0"/>
              <a:t>make</a:t>
            </a:r>
            <a:r>
              <a:rPr kumimoji="1" lang="zh-CN" altLang="en-US" sz="2000" dirty="0"/>
              <a:t> </a:t>
            </a:r>
            <a:r>
              <a:rPr kumimoji="1" lang="en-US" altLang="zh-CN" sz="2000" dirty="0"/>
              <a:t>CPU</a:t>
            </a:r>
            <a:r>
              <a:rPr kumimoji="1" lang="zh-CN" altLang="en-US" sz="2000" dirty="0"/>
              <a:t> </a:t>
            </a:r>
            <a:r>
              <a:rPr kumimoji="1" lang="en-US" altLang="zh-CN" sz="2000" dirty="0"/>
              <a:t>infinitely</a:t>
            </a:r>
            <a:r>
              <a:rPr kumimoji="1" lang="zh-CN" altLang="en-US" sz="2000" dirty="0"/>
              <a:t> </a:t>
            </a:r>
            <a:r>
              <a:rPr kumimoji="1" lang="en-US" altLang="zh-CN" sz="2000" dirty="0"/>
              <a:t>fast</a:t>
            </a:r>
          </a:p>
          <a:p>
            <a:pPr lvl="1"/>
            <a:r>
              <a:rPr kumimoji="1" lang="en-US" altLang="zh-CN" sz="2000" dirty="0"/>
              <a:t>Memory</a:t>
            </a:r>
            <a:r>
              <a:rPr kumimoji="1" lang="zh-CN" altLang="en-US" sz="2000" dirty="0"/>
              <a:t> </a:t>
            </a:r>
            <a:r>
              <a:rPr kumimoji="1" lang="en-US" altLang="zh-CN" sz="2000" dirty="0"/>
              <a:t>wall:</a:t>
            </a:r>
            <a:r>
              <a:rPr kumimoji="1" lang="zh-CN" altLang="en-US" sz="2000" dirty="0"/>
              <a:t> </a:t>
            </a:r>
            <a:r>
              <a:rPr kumimoji="1" lang="en-US" altLang="zh-CN" sz="2000" dirty="0"/>
              <a:t>memory</a:t>
            </a:r>
            <a:r>
              <a:rPr kumimoji="1" lang="zh-CN" altLang="en-US" sz="2000" dirty="0"/>
              <a:t> </a:t>
            </a:r>
            <a:r>
              <a:rPr kumimoji="1" lang="en-US" altLang="zh-CN" sz="2000" dirty="0"/>
              <a:t>bandwidth</a:t>
            </a:r>
            <a:r>
              <a:rPr kumimoji="1" lang="zh-CN" altLang="en-US" sz="2000" dirty="0"/>
              <a:t> </a:t>
            </a:r>
            <a:r>
              <a:rPr kumimoji="1" lang="en-US" altLang="zh-CN" sz="2000" dirty="0"/>
              <a:t>/</a:t>
            </a:r>
            <a:r>
              <a:rPr kumimoji="1" lang="zh-CN" altLang="en-US" sz="2000" dirty="0"/>
              <a:t> </a:t>
            </a:r>
            <a:r>
              <a:rPr kumimoji="1" lang="en-US" altLang="zh-CN" sz="2000" dirty="0"/>
              <a:t>latency</a:t>
            </a:r>
          </a:p>
          <a:p>
            <a:pPr lvl="1"/>
            <a:r>
              <a:rPr kumimoji="1" lang="en-US" altLang="zh-CN" sz="2000" dirty="0"/>
              <a:t>I/O</a:t>
            </a:r>
            <a:r>
              <a:rPr kumimoji="1" lang="zh-CN" altLang="en-US" sz="2000" dirty="0"/>
              <a:t> </a:t>
            </a:r>
            <a:r>
              <a:rPr kumimoji="1" lang="en-US" altLang="zh-CN" sz="2000" dirty="0"/>
              <a:t>much</a:t>
            </a:r>
            <a:r>
              <a:rPr kumimoji="1" lang="zh-CN" altLang="en-US" sz="2000" dirty="0"/>
              <a:t> </a:t>
            </a:r>
            <a:r>
              <a:rPr kumimoji="1" lang="en-US" altLang="zh-CN" sz="2000" dirty="0"/>
              <a:t>slower</a:t>
            </a:r>
          </a:p>
          <a:p>
            <a:pPr lvl="2"/>
            <a:r>
              <a:rPr kumimoji="1" lang="en-US" altLang="zh-CN" sz="1800" dirty="0"/>
              <a:t>Capacity</a:t>
            </a:r>
            <a:r>
              <a:rPr kumimoji="1" lang="zh-CN" altLang="en-US" sz="1800" dirty="0"/>
              <a:t> </a:t>
            </a:r>
            <a:r>
              <a:rPr kumimoji="1" lang="en-US" altLang="zh-CN" sz="1800" dirty="0"/>
              <a:t>vs.</a:t>
            </a:r>
            <a:r>
              <a:rPr kumimoji="1" lang="zh-CN" altLang="en-US" sz="1800" dirty="0"/>
              <a:t> </a:t>
            </a:r>
            <a:r>
              <a:rPr kumimoji="1" lang="en-US" altLang="zh-CN" sz="1800" dirty="0"/>
              <a:t>cost</a:t>
            </a:r>
            <a:r>
              <a:rPr kumimoji="1" lang="zh-CN" altLang="en-US" sz="1800" dirty="0"/>
              <a:t> </a:t>
            </a:r>
            <a:r>
              <a:rPr kumimoji="1" lang="en-US" altLang="zh-CN" sz="1800" dirty="0"/>
              <a:t>vs.</a:t>
            </a:r>
            <a:r>
              <a:rPr kumimoji="1" lang="zh-CN" altLang="en-US" sz="1800" dirty="0"/>
              <a:t> </a:t>
            </a:r>
            <a:r>
              <a:rPr kumimoji="1" lang="en-US" altLang="zh-CN" sz="1800" dirty="0"/>
              <a:t>speed</a:t>
            </a:r>
          </a:p>
          <a:p>
            <a:pPr lvl="2"/>
            <a:r>
              <a:rPr kumimoji="1" lang="en-US" altLang="zh-CN" sz="1800" dirty="0"/>
              <a:t>(Reliability</a:t>
            </a:r>
            <a:r>
              <a:rPr kumimoji="1" lang="zh-CN" altLang="en-US" sz="1800" dirty="0"/>
              <a:t> </a:t>
            </a:r>
            <a:r>
              <a:rPr kumimoji="1" lang="en-US" altLang="zh-CN" sz="1800" dirty="0"/>
              <a:t>vs.</a:t>
            </a:r>
            <a:r>
              <a:rPr kumimoji="1" lang="zh-CN" altLang="en-US" sz="1800" dirty="0"/>
              <a:t> </a:t>
            </a:r>
            <a:r>
              <a:rPr kumimoji="1" lang="en-US" altLang="zh-CN" sz="1800" dirty="0"/>
              <a:t>cost)</a:t>
            </a:r>
          </a:p>
          <a:p>
            <a:pPr lvl="1"/>
            <a:r>
              <a:rPr kumimoji="1" lang="en-US" altLang="zh-CN" sz="2000" dirty="0">
                <a:cs typeface="Helvetica"/>
              </a:rPr>
              <a:t>Heterogeneity</a:t>
            </a:r>
            <a:r>
              <a:rPr kumimoji="1" lang="zh-CN" altLang="en-US" sz="2000" dirty="0">
                <a:cs typeface="Helvetica"/>
              </a:rPr>
              <a:t> </a:t>
            </a:r>
            <a:endParaRPr kumimoji="1" lang="en-US" altLang="zh-CN" sz="2000" dirty="0">
              <a:cs typeface="Helvetica"/>
            </a:endParaRPr>
          </a:p>
          <a:p>
            <a:pPr lvl="2"/>
            <a:r>
              <a:rPr kumimoji="1" lang="en-US" altLang="zh-CN" sz="1800" dirty="0"/>
              <a:t>Portable</a:t>
            </a:r>
            <a:r>
              <a:rPr kumimoji="1" lang="zh-CN" altLang="en-US" sz="1800" dirty="0"/>
              <a:t> </a:t>
            </a:r>
            <a:r>
              <a:rPr kumimoji="1" lang="en-US" altLang="zh-CN" sz="1800" dirty="0"/>
              <a:t>to</a:t>
            </a:r>
            <a:r>
              <a:rPr kumimoji="1" lang="zh-CN" altLang="en-US" sz="1800" dirty="0"/>
              <a:t> </a:t>
            </a:r>
            <a:r>
              <a:rPr kumimoji="1" lang="en-US" altLang="zh-CN" sz="1800" dirty="0"/>
              <a:t>many</a:t>
            </a:r>
            <a:r>
              <a:rPr kumimoji="1" lang="zh-CN" altLang="en-US" sz="1800" dirty="0"/>
              <a:t> </a:t>
            </a:r>
            <a:r>
              <a:rPr kumimoji="1" lang="en-US" altLang="zh-CN" sz="1800" dirty="0"/>
              <a:t>systems</a:t>
            </a:r>
            <a:r>
              <a:rPr kumimoji="1" lang="zh-CN" altLang="en-US" sz="1800" dirty="0"/>
              <a:t> </a:t>
            </a:r>
            <a:r>
              <a:rPr kumimoji="1" lang="en-US" altLang="zh-CN" sz="1800" dirty="0"/>
              <a:t>/</a:t>
            </a:r>
            <a:r>
              <a:rPr kumimoji="1" lang="zh-CN" altLang="en-US" sz="1800" dirty="0"/>
              <a:t> </a:t>
            </a:r>
            <a:r>
              <a:rPr kumimoji="1" lang="en-US" altLang="zh-CN" sz="1800" dirty="0"/>
              <a:t>Interoperability</a:t>
            </a:r>
            <a:endParaRPr kumimoji="1" lang="en-US" altLang="zh-CN" sz="1800" dirty="0">
              <a:cs typeface="Helvetica"/>
            </a:endParaRPr>
          </a:p>
          <a:p>
            <a:r>
              <a:rPr kumimoji="1" lang="en-US" altLang="zh-CN" sz="2000" dirty="0"/>
              <a:t>Workload</a:t>
            </a:r>
            <a:r>
              <a:rPr kumimoji="1" lang="zh-CN" altLang="en-US" sz="2000" dirty="0"/>
              <a:t> </a:t>
            </a:r>
            <a:r>
              <a:rPr kumimoji="1" lang="en-US" altLang="zh-CN" sz="2000" dirty="0"/>
              <a:t>demands</a:t>
            </a:r>
          </a:p>
          <a:p>
            <a:pPr lvl="1"/>
            <a:r>
              <a:rPr kumimoji="1" lang="en-US" altLang="zh-CN" sz="2000" dirty="0"/>
              <a:t>Generality:</a:t>
            </a:r>
            <a:r>
              <a:rPr kumimoji="1" lang="zh-CN" altLang="en-US" sz="2000" dirty="0"/>
              <a:t> </a:t>
            </a:r>
            <a:r>
              <a:rPr kumimoji="1" lang="en-US" altLang="zh-CN" sz="2000" dirty="0"/>
              <a:t>Variety</a:t>
            </a:r>
            <a:r>
              <a:rPr kumimoji="1" lang="zh-CN" altLang="en-US" sz="2000" dirty="0"/>
              <a:t> </a:t>
            </a:r>
            <a:r>
              <a:rPr kumimoji="1" lang="en-US" altLang="zh-CN" sz="2000" dirty="0"/>
              <a:t>of</a:t>
            </a:r>
            <a:r>
              <a:rPr kumimoji="1" lang="zh-CN" altLang="en-US" sz="2000" dirty="0"/>
              <a:t> </a:t>
            </a:r>
            <a:r>
              <a:rPr kumimoji="1" lang="en-US" altLang="zh-CN" sz="2000" dirty="0"/>
              <a:t>workload</a:t>
            </a:r>
            <a:r>
              <a:rPr kumimoji="1" lang="zh-CN" altLang="en-US" sz="2000" dirty="0"/>
              <a:t> </a:t>
            </a:r>
            <a:r>
              <a:rPr kumimoji="1" lang="en-US" altLang="zh-CN" sz="2000" dirty="0"/>
              <a:t>/</a:t>
            </a:r>
            <a:r>
              <a:rPr kumimoji="1" lang="zh-CN" altLang="en-US" sz="2000" dirty="0"/>
              <a:t> </a:t>
            </a:r>
            <a:r>
              <a:rPr kumimoji="1" lang="en-US" altLang="zh-CN" sz="2000" dirty="0"/>
              <a:t>requirements</a:t>
            </a:r>
          </a:p>
          <a:p>
            <a:pPr lvl="2"/>
            <a:r>
              <a:rPr kumimoji="1" lang="en-US" altLang="zh-CN" sz="1800" dirty="0"/>
              <a:t>Key</a:t>
            </a:r>
            <a:r>
              <a:rPr kumimoji="1" lang="zh-CN" altLang="en-US" sz="1800" dirty="0"/>
              <a:t> </a:t>
            </a:r>
            <a:r>
              <a:rPr kumimoji="1" lang="en-US" altLang="zh-CN" sz="1800" dirty="0"/>
              <a:t>question:</a:t>
            </a:r>
            <a:r>
              <a:rPr kumimoji="1" lang="zh-CN" altLang="en-US" sz="1800" dirty="0"/>
              <a:t> </a:t>
            </a:r>
            <a:r>
              <a:rPr kumimoji="1" lang="en-US" altLang="zh-CN" sz="1800" dirty="0"/>
              <a:t>What</a:t>
            </a:r>
            <a:r>
              <a:rPr kumimoji="1" lang="zh-CN" altLang="en-US" sz="1800" dirty="0"/>
              <a:t> </a:t>
            </a:r>
            <a:r>
              <a:rPr kumimoji="1" lang="en-US" altLang="zh-CN" sz="1800" dirty="0"/>
              <a:t>do</a:t>
            </a:r>
            <a:r>
              <a:rPr kumimoji="1" lang="zh-CN" altLang="en-US" sz="1800" dirty="0"/>
              <a:t> </a:t>
            </a:r>
            <a:r>
              <a:rPr kumimoji="1" lang="en-US" altLang="zh-CN" sz="1800" dirty="0"/>
              <a:t>you</a:t>
            </a:r>
            <a:r>
              <a:rPr kumimoji="1" lang="zh-CN" altLang="en-US" sz="1800" dirty="0"/>
              <a:t> </a:t>
            </a:r>
            <a:r>
              <a:rPr kumimoji="1" lang="en-US" altLang="zh-CN" sz="1800" dirty="0"/>
              <a:t>want?</a:t>
            </a:r>
            <a:r>
              <a:rPr kumimoji="1" lang="zh-CN" altLang="en-US" sz="1800" dirty="0"/>
              <a:t> </a:t>
            </a:r>
            <a:endParaRPr kumimoji="1" lang="en-US" altLang="zh-CN" sz="1800" dirty="0"/>
          </a:p>
          <a:p>
            <a:pPr lvl="2"/>
            <a:r>
              <a:rPr kumimoji="1" lang="en-US" altLang="zh-CN" sz="1800" dirty="0"/>
              <a:t>“do</a:t>
            </a:r>
            <a:r>
              <a:rPr kumimoji="1" lang="zh-CN" altLang="en-US" sz="1800" dirty="0"/>
              <a:t> </a:t>
            </a:r>
            <a:r>
              <a:rPr kumimoji="1" lang="en-US" altLang="zh-CN" sz="1800" dirty="0"/>
              <a:t>the</a:t>
            </a:r>
            <a:r>
              <a:rPr kumimoji="1" lang="zh-CN" altLang="en-US" sz="1800" dirty="0"/>
              <a:t> </a:t>
            </a:r>
            <a:r>
              <a:rPr kumimoji="1" lang="en-US" altLang="zh-CN" sz="1800" dirty="0"/>
              <a:t>right</a:t>
            </a:r>
            <a:r>
              <a:rPr kumimoji="1" lang="zh-CN" altLang="en-US" sz="1800" dirty="0"/>
              <a:t> </a:t>
            </a:r>
            <a:r>
              <a:rPr kumimoji="1" lang="en-US" altLang="zh-CN" sz="1800" dirty="0"/>
              <a:t>thing”</a:t>
            </a:r>
            <a:r>
              <a:rPr kumimoji="1" lang="zh-CN" altLang="en-US" sz="1800" dirty="0"/>
              <a:t> </a:t>
            </a:r>
            <a:r>
              <a:rPr kumimoji="1" lang="en-US" altLang="zh-CN" sz="1800" dirty="0"/>
              <a:t>vs.</a:t>
            </a:r>
            <a:r>
              <a:rPr kumimoji="1" lang="zh-CN" altLang="en-US" sz="1800" dirty="0"/>
              <a:t> </a:t>
            </a:r>
            <a:r>
              <a:rPr kumimoji="1" lang="en-US" altLang="zh-CN" sz="1800" dirty="0"/>
              <a:t>“do</a:t>
            </a:r>
            <a:r>
              <a:rPr kumimoji="1" lang="zh-CN" altLang="en-US" sz="1800" dirty="0"/>
              <a:t> </a:t>
            </a:r>
            <a:r>
              <a:rPr kumimoji="1" lang="en-US" altLang="zh-CN" sz="1800" dirty="0"/>
              <a:t>the</a:t>
            </a:r>
            <a:r>
              <a:rPr kumimoji="1" lang="zh-CN" altLang="en-US" sz="1800" dirty="0"/>
              <a:t> </a:t>
            </a:r>
            <a:r>
              <a:rPr kumimoji="1" lang="en-US" altLang="zh-CN" sz="1800" dirty="0"/>
              <a:t>thing</a:t>
            </a:r>
            <a:r>
              <a:rPr kumimoji="1" lang="zh-CN" altLang="en-US" sz="1800" dirty="0"/>
              <a:t> </a:t>
            </a:r>
            <a:r>
              <a:rPr kumimoji="1" lang="en-US" altLang="zh-CN" sz="1800" dirty="0"/>
              <a:t>right”</a:t>
            </a:r>
          </a:p>
          <a:p>
            <a:pPr lvl="1"/>
            <a:r>
              <a:rPr kumimoji="1" lang="en-US" altLang="zh-CN" sz="2000" dirty="0"/>
              <a:t>(Scalability</a:t>
            </a:r>
            <a:r>
              <a:rPr kumimoji="1" lang="zh-CN" altLang="en-US" sz="2000" dirty="0"/>
              <a:t> </a:t>
            </a:r>
            <a:r>
              <a:rPr kumimoji="1" lang="en-US" altLang="zh-CN" sz="2000" dirty="0"/>
              <a:t>incrementally)</a:t>
            </a:r>
          </a:p>
          <a:p>
            <a:pPr lvl="1"/>
            <a:r>
              <a:rPr kumimoji="1" lang="en-US" altLang="zh-CN" sz="2000" dirty="0"/>
              <a:t>Stupid</a:t>
            </a:r>
            <a:r>
              <a:rPr kumimoji="1" lang="zh-CN" altLang="en-US" sz="2000" dirty="0"/>
              <a:t> </a:t>
            </a:r>
            <a:r>
              <a:rPr kumimoji="1" lang="en-US" altLang="zh-CN" sz="2000" dirty="0"/>
              <a:t>developers</a:t>
            </a:r>
            <a:r>
              <a:rPr kumimoji="1" lang="zh-CN" altLang="en-US" sz="2000" dirty="0"/>
              <a:t> </a:t>
            </a:r>
            <a:r>
              <a:rPr kumimoji="1" lang="en-US" altLang="zh-CN" sz="2000" dirty="0"/>
              <a:t>/</a:t>
            </a:r>
            <a:r>
              <a:rPr kumimoji="1" lang="zh-CN" altLang="en-US" sz="2000" dirty="0"/>
              <a:t> </a:t>
            </a:r>
            <a:r>
              <a:rPr kumimoji="1" lang="en-US" altLang="zh-CN" sz="2000" dirty="0"/>
              <a:t>users</a:t>
            </a:r>
          </a:p>
          <a:p>
            <a:pPr lvl="1"/>
            <a:r>
              <a:rPr kumimoji="1" lang="en-US" altLang="zh-CN" sz="2000" dirty="0"/>
              <a:t>(Malicious</a:t>
            </a:r>
            <a:r>
              <a:rPr kumimoji="1" lang="zh-CN" altLang="en-US" sz="2000" dirty="0"/>
              <a:t> </a:t>
            </a:r>
            <a:r>
              <a:rPr kumimoji="1" lang="en-US" altLang="zh-CN" sz="2000" dirty="0"/>
              <a:t>users)</a:t>
            </a:r>
          </a:p>
          <a:p>
            <a:pPr lvl="1"/>
            <a:r>
              <a:rPr kumimoji="1" lang="en-US" altLang="zh-CN" sz="2000" dirty="0"/>
              <a:t>(Unpredictable)</a:t>
            </a:r>
          </a:p>
          <a:p>
            <a:endParaRPr kumimoji="1" lang="zh-CN" altLang="en-US" sz="2000" dirty="0"/>
          </a:p>
        </p:txBody>
      </p:sp>
      <p:pic>
        <p:nvPicPr>
          <p:cNvPr id="1026" name="Picture 2" descr="你听说过多少关于月子的新母亲的谣言？ - 雪花新闻">
            <a:extLst>
              <a:ext uri="{FF2B5EF4-FFF2-40B4-BE49-F238E27FC236}">
                <a16:creationId xmlns:a16="http://schemas.microsoft.com/office/drawing/2014/main" id="{4DAD6FA0-726F-ADDA-C232-2ACF708A96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611"/>
          <a:stretch/>
        </p:blipFill>
        <p:spPr bwMode="auto">
          <a:xfrm>
            <a:off x="5994400" y="2590800"/>
            <a:ext cx="2840997" cy="203835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CBC39327-8AB0-5F19-516E-07DDD9F3A72A}"/>
              </a:ext>
            </a:extLst>
          </p:cNvPr>
          <p:cNvSpPr txBox="1"/>
          <p:nvPr/>
        </p:nvSpPr>
        <p:spPr>
          <a:xfrm>
            <a:off x="7114296" y="1905000"/>
            <a:ext cx="1167307" cy="400110"/>
          </a:xfrm>
          <a:prstGeom prst="rect">
            <a:avLst/>
          </a:prstGeom>
          <a:solidFill>
            <a:schemeClr val="bg1"/>
          </a:solidFill>
          <a:ln>
            <a:solidFill>
              <a:schemeClr val="accent1">
                <a:shade val="95000"/>
                <a:satMod val="105000"/>
              </a:schemeClr>
            </a:solidFill>
          </a:ln>
        </p:spPr>
        <p:txBody>
          <a:bodyPr wrap="none" rtlCol="0">
            <a:spAutoFit/>
          </a:bodyPr>
          <a:lstStyle/>
          <a:p>
            <a:r>
              <a:rPr kumimoji="1" lang="en-US" altLang="zh-CN" sz="2000" b="0" dirty="0">
                <a:latin typeface="Helvetica"/>
                <a:cs typeface="Helvetica"/>
              </a:rPr>
              <a:t>Systems</a:t>
            </a:r>
            <a:endParaRPr kumimoji="1" lang="zh-CN" altLang="en-US" sz="2000" b="0" dirty="0">
              <a:latin typeface="Helvetica"/>
              <a:cs typeface="Helvetica"/>
            </a:endParaRPr>
          </a:p>
        </p:txBody>
      </p:sp>
      <p:sp>
        <p:nvSpPr>
          <p:cNvPr id="7" name="文本框 6">
            <a:extLst>
              <a:ext uri="{FF2B5EF4-FFF2-40B4-BE49-F238E27FC236}">
                <a16:creationId xmlns:a16="http://schemas.microsoft.com/office/drawing/2014/main" id="{0CBBEBBC-86FA-A6E8-31C3-9968D8707452}"/>
              </a:ext>
            </a:extLst>
          </p:cNvPr>
          <p:cNvSpPr txBox="1"/>
          <p:nvPr/>
        </p:nvSpPr>
        <p:spPr>
          <a:xfrm>
            <a:off x="6144700" y="1459836"/>
            <a:ext cx="1297150" cy="400110"/>
          </a:xfrm>
          <a:prstGeom prst="rect">
            <a:avLst/>
          </a:prstGeom>
          <a:solidFill>
            <a:schemeClr val="bg1"/>
          </a:solidFill>
          <a:ln>
            <a:solidFill>
              <a:schemeClr val="accent1">
                <a:shade val="95000"/>
                <a:satMod val="105000"/>
              </a:schemeClr>
            </a:solidFill>
          </a:ln>
        </p:spPr>
        <p:txBody>
          <a:bodyPr wrap="none" rtlCol="0">
            <a:spAutoFit/>
          </a:bodyPr>
          <a:lstStyle/>
          <a:p>
            <a:r>
              <a:rPr kumimoji="1" lang="en-US" altLang="zh-CN" sz="2000" b="0" dirty="0">
                <a:latin typeface="Helvetica"/>
                <a:cs typeface="Helvetica"/>
              </a:rPr>
              <a:t>Hardware</a:t>
            </a:r>
            <a:endParaRPr kumimoji="1" lang="zh-CN" altLang="en-US" sz="2000" b="0" dirty="0">
              <a:latin typeface="Helvetica"/>
              <a:cs typeface="Helvetica"/>
            </a:endParaRPr>
          </a:p>
        </p:txBody>
      </p:sp>
      <p:sp>
        <p:nvSpPr>
          <p:cNvPr id="8" name="文本框 7">
            <a:extLst>
              <a:ext uri="{FF2B5EF4-FFF2-40B4-BE49-F238E27FC236}">
                <a16:creationId xmlns:a16="http://schemas.microsoft.com/office/drawing/2014/main" id="{2B750881-A8ED-5C9E-1427-1626694E580A}"/>
              </a:ext>
            </a:extLst>
          </p:cNvPr>
          <p:cNvSpPr txBox="1"/>
          <p:nvPr/>
        </p:nvSpPr>
        <p:spPr>
          <a:xfrm>
            <a:off x="7909912" y="1459836"/>
            <a:ext cx="1154483" cy="400110"/>
          </a:xfrm>
          <a:prstGeom prst="rect">
            <a:avLst/>
          </a:prstGeom>
          <a:solidFill>
            <a:schemeClr val="bg1"/>
          </a:solidFill>
          <a:ln>
            <a:solidFill>
              <a:schemeClr val="accent1">
                <a:shade val="95000"/>
                <a:satMod val="105000"/>
              </a:schemeClr>
            </a:solidFill>
          </a:ln>
        </p:spPr>
        <p:txBody>
          <a:bodyPr wrap="none" rtlCol="0">
            <a:spAutoFit/>
          </a:bodyPr>
          <a:lstStyle/>
          <a:p>
            <a:r>
              <a:rPr kumimoji="1" lang="en-US" altLang="zh-CN" sz="2000" b="0" dirty="0">
                <a:latin typeface="Helvetica"/>
                <a:cs typeface="Helvetica"/>
              </a:rPr>
              <a:t>Demand</a:t>
            </a:r>
            <a:endParaRPr kumimoji="1" lang="zh-CN" altLang="en-US" sz="2000" b="0" dirty="0">
              <a:latin typeface="Helvetica"/>
              <a:cs typeface="Helvetica"/>
            </a:endParaRPr>
          </a:p>
        </p:txBody>
      </p:sp>
      <p:cxnSp>
        <p:nvCxnSpPr>
          <p:cNvPr id="9" name="直线箭头连接符 8">
            <a:extLst>
              <a:ext uri="{FF2B5EF4-FFF2-40B4-BE49-F238E27FC236}">
                <a16:creationId xmlns:a16="http://schemas.microsoft.com/office/drawing/2014/main" id="{41CB1FC8-6B3F-EFAC-5518-2C509D70E468}"/>
              </a:ext>
            </a:extLst>
          </p:cNvPr>
          <p:cNvCxnSpPr>
            <a:stCxn id="7" idx="2"/>
          </p:cNvCxnSpPr>
          <p:nvPr/>
        </p:nvCxnSpPr>
        <p:spPr bwMode="auto">
          <a:xfrm>
            <a:off x="6793275" y="1859946"/>
            <a:ext cx="140925" cy="1111854"/>
          </a:xfrm>
          <a:prstGeom prst="straightConnector1">
            <a:avLst/>
          </a:prstGeom>
          <a:solidFill>
            <a:schemeClr val="bg1"/>
          </a:solidFill>
          <a:ln w="38100" cap="flat" cmpd="sng" algn="ctr">
            <a:solidFill>
              <a:schemeClr val="accent1"/>
            </a:solidFill>
            <a:prstDash val="solid"/>
            <a:round/>
            <a:headEnd type="none" w="med" len="med"/>
            <a:tailEnd type="triangle"/>
          </a:ln>
          <a:effectLst/>
        </p:spPr>
      </p:cxnSp>
      <p:cxnSp>
        <p:nvCxnSpPr>
          <p:cNvPr id="11" name="直线箭头连接符 10">
            <a:extLst>
              <a:ext uri="{FF2B5EF4-FFF2-40B4-BE49-F238E27FC236}">
                <a16:creationId xmlns:a16="http://schemas.microsoft.com/office/drawing/2014/main" id="{CFE10326-0823-64A7-B49E-FEC4DBA9E6AE}"/>
              </a:ext>
            </a:extLst>
          </p:cNvPr>
          <p:cNvCxnSpPr>
            <a:cxnSpLocks/>
          </p:cNvCxnSpPr>
          <p:nvPr/>
        </p:nvCxnSpPr>
        <p:spPr bwMode="auto">
          <a:xfrm>
            <a:off x="7743873" y="2288334"/>
            <a:ext cx="70463" cy="747630"/>
          </a:xfrm>
          <a:prstGeom prst="straightConnector1">
            <a:avLst/>
          </a:prstGeom>
          <a:solidFill>
            <a:schemeClr val="bg1"/>
          </a:solidFill>
          <a:ln w="38100" cap="flat" cmpd="sng" algn="ctr">
            <a:solidFill>
              <a:schemeClr val="accent1"/>
            </a:solidFill>
            <a:prstDash val="solid"/>
            <a:round/>
            <a:headEnd type="none" w="med" len="med"/>
            <a:tailEnd type="triangle"/>
          </a:ln>
          <a:effectLst/>
        </p:spPr>
      </p:cxnSp>
      <p:cxnSp>
        <p:nvCxnSpPr>
          <p:cNvPr id="13" name="直线箭头连接符 12">
            <a:extLst>
              <a:ext uri="{FF2B5EF4-FFF2-40B4-BE49-F238E27FC236}">
                <a16:creationId xmlns:a16="http://schemas.microsoft.com/office/drawing/2014/main" id="{2C141205-2A61-BECB-CFAA-FED8E6AE0D2C}"/>
              </a:ext>
            </a:extLst>
          </p:cNvPr>
          <p:cNvCxnSpPr>
            <a:cxnSpLocks/>
          </p:cNvCxnSpPr>
          <p:nvPr/>
        </p:nvCxnSpPr>
        <p:spPr bwMode="auto">
          <a:xfrm flipH="1">
            <a:off x="8487153" y="1859946"/>
            <a:ext cx="101624" cy="959454"/>
          </a:xfrm>
          <a:prstGeom prst="straightConnector1">
            <a:avLst/>
          </a:prstGeom>
          <a:solidFill>
            <a:schemeClr val="bg1"/>
          </a:solidFill>
          <a:ln w="38100" cap="flat" cmpd="sng" algn="ctr">
            <a:solidFill>
              <a:schemeClr val="accent1"/>
            </a:solidFill>
            <a:prstDash val="solid"/>
            <a:round/>
            <a:headEnd type="none" w="med" len="med"/>
            <a:tailEnd type="triangle"/>
          </a:ln>
          <a:effectLst/>
        </p:spPr>
      </p:cxnSp>
    </p:spTree>
    <p:extLst>
      <p:ext uri="{BB962C8B-B14F-4D97-AF65-F5344CB8AC3E}">
        <p14:creationId xmlns:p14="http://schemas.microsoft.com/office/powerpoint/2010/main" val="9583467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par>
                                <p:cTn id="17" presetID="3" presetClass="entr" presetSubtype="1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par>
                                <p:cTn id="20" presetID="3" presetClass="entr" presetSubtype="1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8D04DC10-20D8-A316-AB06-7D00907C323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736824"/>
            <a:ext cx="9144000" cy="5384352"/>
          </a:xfrm>
          <a:prstGeom prst="rect">
            <a:avLst/>
          </a:prstGeom>
        </p:spPr>
      </p:pic>
      <p:sp>
        <p:nvSpPr>
          <p:cNvPr id="2" name="圆角矩形 1">
            <a:extLst>
              <a:ext uri="{FF2B5EF4-FFF2-40B4-BE49-F238E27FC236}">
                <a16:creationId xmlns:a16="http://schemas.microsoft.com/office/drawing/2014/main" id="{AD67A1F1-064E-DA80-80A0-0229329539F4}"/>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Memory</a:t>
            </a:r>
            <a:r>
              <a:rPr kumimoji="1" lang="zh-CN" altLang="en-US" b="0" dirty="0">
                <a:latin typeface="Helvetica"/>
                <a:cs typeface="Helvetica"/>
              </a:rPr>
              <a:t> </a:t>
            </a:r>
            <a:r>
              <a:rPr kumimoji="1" lang="en-US" altLang="zh-CN" b="0" dirty="0">
                <a:latin typeface="Helvetica"/>
                <a:cs typeface="Helvetica"/>
              </a:rPr>
              <a:t>Wall</a:t>
            </a:r>
            <a:endParaRPr kumimoji="1" lang="zh-CN" altLang="en-US" b="0" dirty="0">
              <a:latin typeface="Helvetica"/>
              <a:cs typeface="Helvetica"/>
            </a:endParaRPr>
          </a:p>
        </p:txBody>
      </p:sp>
    </p:spTree>
    <p:extLst>
      <p:ext uri="{BB962C8B-B14F-4D97-AF65-F5344CB8AC3E}">
        <p14:creationId xmlns:p14="http://schemas.microsoft.com/office/powerpoint/2010/main" val="378843503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8EA3E6FA-D65F-2DC6-54F7-15AC5A23D5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789067"/>
            <a:ext cx="9144000" cy="5230733"/>
          </a:xfrm>
          <a:prstGeom prst="rect">
            <a:avLst/>
          </a:prstGeom>
        </p:spPr>
      </p:pic>
      <p:sp>
        <p:nvSpPr>
          <p:cNvPr id="5" name="圆角矩形 4">
            <a:extLst>
              <a:ext uri="{FF2B5EF4-FFF2-40B4-BE49-F238E27FC236}">
                <a16:creationId xmlns:a16="http://schemas.microsoft.com/office/drawing/2014/main" id="{630C9DDF-FDCB-469C-AB16-E0D71BBBE3ED}"/>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Memory</a:t>
            </a:r>
            <a:r>
              <a:rPr kumimoji="1" lang="zh-CN" altLang="en-US" b="0" dirty="0">
                <a:latin typeface="Helvetica"/>
                <a:cs typeface="Helvetica"/>
              </a:rPr>
              <a:t> </a:t>
            </a:r>
            <a:r>
              <a:rPr kumimoji="1" lang="en-US" altLang="zh-CN" b="0" dirty="0">
                <a:latin typeface="Helvetica"/>
                <a:cs typeface="Helvetica"/>
              </a:rPr>
              <a:t>Wall</a:t>
            </a:r>
          </a:p>
          <a:p>
            <a:pPr algn="ctr"/>
            <a:r>
              <a:rPr kumimoji="1" lang="en-US" altLang="zh-CN" b="0" dirty="0">
                <a:latin typeface="Helvetica"/>
                <a:cs typeface="Helvetica"/>
              </a:rPr>
              <a:t>I/O</a:t>
            </a:r>
            <a:r>
              <a:rPr kumimoji="1" lang="zh-CN" altLang="en-US" b="0" dirty="0">
                <a:latin typeface="Helvetica"/>
                <a:cs typeface="Helvetica"/>
              </a:rPr>
              <a:t> </a:t>
            </a:r>
            <a:r>
              <a:rPr kumimoji="1" lang="en-US" altLang="zh-CN" b="0" dirty="0">
                <a:latin typeface="Helvetica"/>
                <a:cs typeface="Helvetica"/>
              </a:rPr>
              <a:t>much</a:t>
            </a:r>
            <a:r>
              <a:rPr kumimoji="1" lang="zh-CN" altLang="en-US" b="0" dirty="0">
                <a:latin typeface="Helvetica"/>
                <a:cs typeface="Helvetica"/>
              </a:rPr>
              <a:t> </a:t>
            </a:r>
            <a:r>
              <a:rPr kumimoji="1" lang="en-US" altLang="zh-CN" b="0" dirty="0">
                <a:latin typeface="Helvetica"/>
                <a:cs typeface="Helvetica"/>
              </a:rPr>
              <a:t>slower</a:t>
            </a:r>
            <a:endParaRPr kumimoji="1" lang="zh-CN" altLang="en-US" b="0" dirty="0">
              <a:latin typeface="Helvetica"/>
              <a:cs typeface="Helvetica"/>
            </a:endParaRPr>
          </a:p>
        </p:txBody>
      </p:sp>
    </p:spTree>
    <p:extLst>
      <p:ext uri="{BB962C8B-B14F-4D97-AF65-F5344CB8AC3E}">
        <p14:creationId xmlns:p14="http://schemas.microsoft.com/office/powerpoint/2010/main" val="34187471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5D8C64D8-A0CD-C7D2-4D00-33D55DD9235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714904"/>
            <a:ext cx="9144000" cy="5428192"/>
          </a:xfrm>
          <a:prstGeom prst="rect">
            <a:avLst/>
          </a:prstGeom>
        </p:spPr>
      </p:pic>
      <p:sp>
        <p:nvSpPr>
          <p:cNvPr id="5" name="圆角矩形 4">
            <a:extLst>
              <a:ext uri="{FF2B5EF4-FFF2-40B4-BE49-F238E27FC236}">
                <a16:creationId xmlns:a16="http://schemas.microsoft.com/office/drawing/2014/main" id="{CABC2B14-FF47-39BF-8916-742256E6E9AA}"/>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Capacity</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Cost</a:t>
            </a:r>
            <a:endParaRPr kumimoji="1" lang="zh-CN" altLang="en-US" b="0" dirty="0">
              <a:latin typeface="Helvetica"/>
              <a:cs typeface="Helvetica"/>
            </a:endParaRPr>
          </a:p>
        </p:txBody>
      </p:sp>
    </p:spTree>
    <p:extLst>
      <p:ext uri="{BB962C8B-B14F-4D97-AF65-F5344CB8AC3E}">
        <p14:creationId xmlns:p14="http://schemas.microsoft.com/office/powerpoint/2010/main" val="179196268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7A0741A5-469C-E92F-6F8A-8530EB210F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69975"/>
            <a:ext cx="9144000" cy="5518050"/>
          </a:xfrm>
          <a:prstGeom prst="rect">
            <a:avLst/>
          </a:prstGeom>
        </p:spPr>
      </p:pic>
      <p:sp>
        <p:nvSpPr>
          <p:cNvPr id="5" name="圆角矩形 4">
            <a:extLst>
              <a:ext uri="{FF2B5EF4-FFF2-40B4-BE49-F238E27FC236}">
                <a16:creationId xmlns:a16="http://schemas.microsoft.com/office/drawing/2014/main" id="{A3AD982C-F85B-BC7D-B27E-468DEF1CED25}"/>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Capacity</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Cost</a:t>
            </a:r>
            <a:endParaRPr kumimoji="1" lang="zh-CN" altLang="en-US" b="0" dirty="0">
              <a:latin typeface="Helvetica"/>
              <a:cs typeface="Helvetica"/>
            </a:endParaRPr>
          </a:p>
        </p:txBody>
      </p:sp>
    </p:spTree>
    <p:extLst>
      <p:ext uri="{BB962C8B-B14F-4D97-AF65-F5344CB8AC3E}">
        <p14:creationId xmlns:p14="http://schemas.microsoft.com/office/powerpoint/2010/main" val="49356743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6B0ED0D7-261F-97F5-05AC-5F528DFB86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720917"/>
            <a:ext cx="9144000" cy="5416165"/>
          </a:xfrm>
          <a:prstGeom prst="rect">
            <a:avLst/>
          </a:prstGeom>
        </p:spPr>
      </p:pic>
      <p:sp>
        <p:nvSpPr>
          <p:cNvPr id="6" name="圆角矩形 5">
            <a:extLst>
              <a:ext uri="{FF2B5EF4-FFF2-40B4-BE49-F238E27FC236}">
                <a16:creationId xmlns:a16="http://schemas.microsoft.com/office/drawing/2014/main" id="{CE862D0A-3BAF-224E-27C6-60D246DEB0F3}"/>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endParaRPr kumimoji="1" lang="zh-CN" altLang="en-US" b="0" dirty="0">
              <a:latin typeface="Helvetica"/>
              <a:cs typeface="Helvetica"/>
            </a:endParaRPr>
          </a:p>
        </p:txBody>
      </p:sp>
    </p:spTree>
    <p:extLst>
      <p:ext uri="{BB962C8B-B14F-4D97-AF65-F5344CB8AC3E}">
        <p14:creationId xmlns:p14="http://schemas.microsoft.com/office/powerpoint/2010/main" val="54439337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A118FD4E-0D1B-A575-8433-F2D09E32F8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640601"/>
            <a:ext cx="9144000" cy="5576797"/>
          </a:xfrm>
          <a:prstGeom prst="rect">
            <a:avLst/>
          </a:prstGeom>
        </p:spPr>
      </p:pic>
      <p:sp>
        <p:nvSpPr>
          <p:cNvPr id="5" name="圆角矩形 4">
            <a:extLst>
              <a:ext uri="{FF2B5EF4-FFF2-40B4-BE49-F238E27FC236}">
                <a16:creationId xmlns:a16="http://schemas.microsoft.com/office/drawing/2014/main" id="{2C6056B4-5186-E7CE-30B9-8ACF34643FE2}"/>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Multiple</a:t>
            </a:r>
            <a:r>
              <a:rPr kumimoji="1" lang="zh-CN" altLang="en-US" b="0" dirty="0">
                <a:latin typeface="Helvetica"/>
                <a:cs typeface="Helvetica"/>
              </a:rPr>
              <a:t> </a:t>
            </a:r>
            <a:r>
              <a:rPr kumimoji="1" lang="en-US" altLang="zh-CN" b="0" dirty="0">
                <a:latin typeface="Helvetica"/>
                <a:cs typeface="Helvetica"/>
              </a:rPr>
              <a:t>Goals</a:t>
            </a:r>
            <a:endParaRPr kumimoji="1" lang="zh-CN" altLang="en-US" b="0" dirty="0">
              <a:latin typeface="Helvetica"/>
              <a:cs typeface="Helvetica"/>
            </a:endParaRPr>
          </a:p>
        </p:txBody>
      </p:sp>
    </p:spTree>
    <p:extLst>
      <p:ext uri="{BB962C8B-B14F-4D97-AF65-F5344CB8AC3E}">
        <p14:creationId xmlns:p14="http://schemas.microsoft.com/office/powerpoint/2010/main" val="154722108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形 34">
            <a:extLst>
              <a:ext uri="{FF2B5EF4-FFF2-40B4-BE49-F238E27FC236}">
                <a16:creationId xmlns:a16="http://schemas.microsoft.com/office/drawing/2014/main" id="{3627F852-495A-2156-F928-568F483CFD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712893"/>
            <a:ext cx="9144000" cy="5432213"/>
          </a:xfrm>
          <a:prstGeom prst="rect">
            <a:avLst/>
          </a:prstGeom>
        </p:spPr>
      </p:pic>
      <p:sp>
        <p:nvSpPr>
          <p:cNvPr id="4" name="圆角矩形 3">
            <a:extLst>
              <a:ext uri="{FF2B5EF4-FFF2-40B4-BE49-F238E27FC236}">
                <a16:creationId xmlns:a16="http://schemas.microsoft.com/office/drawing/2014/main" id="{4236186D-D3E5-F0B0-5362-6E4C6E72D2F0}"/>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Varying</a:t>
            </a:r>
            <a:r>
              <a:rPr kumimoji="1" lang="zh-CN" altLang="en-US" b="0" dirty="0">
                <a:latin typeface="Helvetica"/>
                <a:cs typeface="Helvetica"/>
              </a:rPr>
              <a:t> </a:t>
            </a:r>
            <a:r>
              <a:rPr kumimoji="1" lang="en-US" altLang="zh-CN" b="0" dirty="0">
                <a:latin typeface="Helvetica"/>
                <a:cs typeface="Helvetica"/>
              </a:rPr>
              <a:t>workload</a:t>
            </a:r>
            <a:endParaRPr kumimoji="1" lang="zh-CN" altLang="en-US" b="0" dirty="0">
              <a:latin typeface="Helvetica"/>
              <a:cs typeface="Helvetica"/>
            </a:endParaRPr>
          </a:p>
        </p:txBody>
      </p:sp>
    </p:spTree>
    <p:extLst>
      <p:ext uri="{BB962C8B-B14F-4D97-AF65-F5344CB8AC3E}">
        <p14:creationId xmlns:p14="http://schemas.microsoft.com/office/powerpoint/2010/main" val="400610717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42B3B568-72E3-24F7-0450-5874C0239A4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58091"/>
            <a:ext cx="9144000" cy="5541818"/>
          </a:xfrm>
          <a:prstGeom prst="rect">
            <a:avLst/>
          </a:prstGeom>
        </p:spPr>
      </p:pic>
      <p:sp>
        <p:nvSpPr>
          <p:cNvPr id="5" name="圆角矩形 4">
            <a:extLst>
              <a:ext uri="{FF2B5EF4-FFF2-40B4-BE49-F238E27FC236}">
                <a16:creationId xmlns:a16="http://schemas.microsoft.com/office/drawing/2014/main" id="{CA01D1DA-70AF-CCEC-38E3-02DFBDEC4EAD}"/>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Variety</a:t>
            </a:r>
            <a:r>
              <a:rPr kumimoji="1" lang="zh-CN" altLang="en-US" b="0" dirty="0">
                <a:latin typeface="Helvetica"/>
                <a:cs typeface="Helvetica"/>
              </a:rPr>
              <a:t> </a:t>
            </a:r>
            <a:r>
              <a:rPr kumimoji="1" lang="en-US" altLang="zh-CN" b="0" dirty="0">
                <a:latin typeface="Helvetica"/>
                <a:cs typeface="Helvetica"/>
              </a:rPr>
              <a:t>of</a:t>
            </a:r>
            <a:r>
              <a:rPr kumimoji="1" lang="zh-CN" altLang="en-US" b="0" dirty="0">
                <a:latin typeface="Helvetica"/>
                <a:cs typeface="Helvetica"/>
              </a:rPr>
              <a:t> </a:t>
            </a:r>
            <a:r>
              <a:rPr kumimoji="1" lang="en-US" altLang="zh-CN" b="0" dirty="0">
                <a:latin typeface="Helvetica"/>
                <a:cs typeface="Helvetica"/>
              </a:rPr>
              <a:t>workloads</a:t>
            </a:r>
            <a:endParaRPr kumimoji="1" lang="zh-CN" altLang="en-US" b="0" dirty="0">
              <a:latin typeface="Helvetica"/>
              <a:cs typeface="Helvetica"/>
            </a:endParaRPr>
          </a:p>
        </p:txBody>
      </p:sp>
    </p:spTree>
    <p:extLst>
      <p:ext uri="{BB962C8B-B14F-4D97-AF65-F5344CB8AC3E}">
        <p14:creationId xmlns:p14="http://schemas.microsoft.com/office/powerpoint/2010/main" val="146927565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3E415-57DC-05C3-E619-7D53189EBE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6F0938C-AF5A-4E17-7028-FCBFF4FE01B7}"/>
              </a:ext>
            </a:extLst>
          </p:cNvPr>
          <p:cNvSpPr>
            <a:spLocks noGrp="1"/>
          </p:cNvSpPr>
          <p:nvPr>
            <p:ph type="title"/>
          </p:nvPr>
        </p:nvSpPr>
        <p:spPr/>
        <p:txBody>
          <a:bodyPr/>
          <a:lstStyle/>
          <a:p>
            <a:r>
              <a:rPr kumimoji="1" lang="en-US" altLang="zh-CN" dirty="0"/>
              <a:t>Four</a:t>
            </a:r>
            <a:r>
              <a:rPr kumimoji="1" lang="zh-CN" altLang="en-US" dirty="0"/>
              <a:t> </a:t>
            </a:r>
            <a:r>
              <a:rPr kumimoji="1" lang="en-US" altLang="zh-CN" dirty="0"/>
              <a:t>threads</a:t>
            </a:r>
            <a:r>
              <a:rPr kumimoji="1" lang="zh-CN" altLang="en-US" dirty="0"/>
              <a:t> </a:t>
            </a:r>
            <a:r>
              <a:rPr kumimoji="1" lang="en-US" altLang="zh-CN" dirty="0"/>
              <a:t>cross</a:t>
            </a:r>
            <a:r>
              <a:rPr kumimoji="1" lang="zh-CN" altLang="en-US" dirty="0"/>
              <a:t> </a:t>
            </a:r>
            <a:r>
              <a:rPr kumimoji="1" lang="en-US" altLang="zh-CN" dirty="0"/>
              <a:t>the</a:t>
            </a:r>
            <a:r>
              <a:rPr kumimoji="1" lang="zh-CN" altLang="en-US" dirty="0"/>
              <a:t> </a:t>
            </a:r>
            <a:r>
              <a:rPr kumimoji="1" lang="en-US" altLang="zh-CN" dirty="0"/>
              <a:t>entire</a:t>
            </a:r>
            <a:r>
              <a:rPr kumimoji="1" lang="zh-CN" altLang="en-US" dirty="0"/>
              <a:t> </a:t>
            </a:r>
            <a:r>
              <a:rPr kumimoji="1" lang="en-US" altLang="zh-CN" dirty="0"/>
              <a:t>course</a:t>
            </a:r>
            <a:endParaRPr kumimoji="1" lang="zh-CN" altLang="en-US" dirty="0"/>
          </a:p>
        </p:txBody>
      </p:sp>
      <p:sp>
        <p:nvSpPr>
          <p:cNvPr id="3" name="文本占位符 2">
            <a:extLst>
              <a:ext uri="{FF2B5EF4-FFF2-40B4-BE49-F238E27FC236}">
                <a16:creationId xmlns:a16="http://schemas.microsoft.com/office/drawing/2014/main" id="{E9BF2132-90AC-9575-06B5-707C50CAD4A7}"/>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394272670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66800" y="228600"/>
            <a:ext cx="8229600" cy="617220"/>
          </a:xfrm>
          <a:prstGeom prst="rect">
            <a:avLst/>
          </a:prstGeom>
          <a:noFill/>
          <a:ln/>
        </p:spPr>
        <p:txBody>
          <a:bodyPr wrap="square" lIns="0" tIns="0" rIns="0" bIns="0" rtlCol="0" anchor="t"/>
          <a:lstStyle/>
          <a:p>
            <a:r>
              <a:rPr lang="en-US" altLang="zh-CN" sz="2250" dirty="0">
                <a:solidFill>
                  <a:srgbClr val="1A1A1A"/>
                </a:solidFill>
                <a:latin typeface="Arial" pitchFamily="34" charset="0"/>
                <a:ea typeface="Arial" pitchFamily="34" charset="-122"/>
                <a:cs typeface="Arial" pitchFamily="34" charset="-120"/>
              </a:rPr>
              <a:t>Thread</a:t>
            </a:r>
            <a:r>
              <a:rPr lang="zh-CN" altLang="en-US" sz="2250" dirty="0">
                <a:solidFill>
                  <a:srgbClr val="1A1A1A"/>
                </a:solidFill>
                <a:latin typeface="Arial" pitchFamily="34" charset="0"/>
                <a:ea typeface="Arial" pitchFamily="34" charset="-122"/>
                <a:cs typeface="Arial" pitchFamily="34" charset="-120"/>
              </a:rPr>
              <a:t> </a:t>
            </a:r>
            <a:r>
              <a:rPr lang="en-US" altLang="zh-CN" sz="2250" dirty="0">
                <a:solidFill>
                  <a:srgbClr val="1A1A1A"/>
                </a:solidFill>
                <a:latin typeface="Arial" pitchFamily="34" charset="0"/>
                <a:ea typeface="Arial" pitchFamily="34" charset="-122"/>
                <a:cs typeface="Arial" pitchFamily="34" charset="-120"/>
              </a:rPr>
              <a:t>1:</a:t>
            </a:r>
            <a:r>
              <a:rPr lang="zh-CN" altLang="en-US" sz="2250" dirty="0">
                <a:solidFill>
                  <a:srgbClr val="1A1A1A"/>
                </a:solidFill>
                <a:latin typeface="Arial" pitchFamily="34" charset="0"/>
                <a:ea typeface="Arial" pitchFamily="34" charset="-122"/>
                <a:cs typeface="Arial" pitchFamily="34" charset="-120"/>
              </a:rPr>
              <a:t> </a:t>
            </a:r>
            <a:r>
              <a:rPr lang="en-US" sz="2250" dirty="0">
                <a:solidFill>
                  <a:srgbClr val="1A1A1A"/>
                </a:solidFill>
                <a:latin typeface="Arial" pitchFamily="34" charset="0"/>
                <a:ea typeface="Arial" pitchFamily="34" charset="-122"/>
                <a:cs typeface="Arial" pitchFamily="34" charset="-120"/>
              </a:rPr>
              <a:t>Cache Answers</a:t>
            </a:r>
            <a:endParaRPr lang="en-US" sz="2250" dirty="0"/>
          </a:p>
        </p:txBody>
      </p:sp>
      <p:sp>
        <p:nvSpPr>
          <p:cNvPr id="4" name="Text 2"/>
          <p:cNvSpPr/>
          <p:nvPr/>
        </p:nvSpPr>
        <p:spPr>
          <a:xfrm>
            <a:off x="491490" y="1143000"/>
            <a:ext cx="8161020" cy="548640"/>
          </a:xfrm>
          <a:prstGeom prst="rect">
            <a:avLst/>
          </a:prstGeom>
          <a:noFill/>
          <a:ln/>
        </p:spPr>
        <p:txBody>
          <a:bodyPr wrap="square" lIns="0" tIns="0" rIns="0" bIns="0" rtlCol="0" anchor="t"/>
          <a:lstStyle/>
          <a:p>
            <a:pPr>
              <a:lnSpc>
                <a:spcPct val="110000"/>
              </a:lnSpc>
            </a:pPr>
            <a:r>
              <a:rPr lang="en-US" dirty="0">
                <a:solidFill>
                  <a:srgbClr val="666666"/>
                </a:solidFill>
                <a:latin typeface="Arial" pitchFamily="34" charset="0"/>
                <a:ea typeface="Arial" pitchFamily="34" charset="-122"/>
                <a:cs typeface="Arial" pitchFamily="34" charset="-120"/>
              </a:rPr>
              <a:t>Store the result of expensive work and reuse it instead of recomputing — the course's most central speed principle.</a:t>
            </a:r>
            <a:endParaRPr lang="en-US" dirty="0"/>
          </a:p>
        </p:txBody>
      </p:sp>
      <p:sp>
        <p:nvSpPr>
          <p:cNvPr id="5" name="Text 3"/>
          <p:cNvSpPr/>
          <p:nvPr/>
        </p:nvSpPr>
        <p:spPr>
          <a:xfrm>
            <a:off x="491490" y="2209800"/>
            <a:ext cx="8161020" cy="2880360"/>
          </a:xfrm>
          <a:prstGeom prst="rect">
            <a:avLst/>
          </a:prstGeom>
          <a:noFill/>
          <a:ln/>
        </p:spPr>
        <p:txBody>
          <a:bodyPr wrap="square" lIns="0" tIns="0" rIns="0" bIns="0" rtlCol="0" anchor="t"/>
          <a:lstStyle/>
          <a:p>
            <a:pPr>
              <a:lnSpc>
                <a:spcPct val="105000"/>
              </a:lnSpc>
              <a:spcAft>
                <a:spcPts val="900"/>
              </a:spcAft>
            </a:pPr>
            <a:r>
              <a:rPr lang="en-US" dirty="0">
                <a:solidFill>
                  <a:srgbClr val="1A1A1A"/>
                </a:solidFill>
                <a:latin typeface="Arial" pitchFamily="34" charset="0"/>
                <a:ea typeface="Arial" pitchFamily="34" charset="-122"/>
                <a:cs typeface="Arial" pitchFamily="34" charset="-120"/>
              </a:rPr>
              <a:t>L1</a:t>
            </a:r>
            <a:r>
              <a:rPr lang="en-US" sz="1600" dirty="0">
                <a:solidFill>
                  <a:srgbClr val="666666"/>
                </a:solidFill>
                <a:latin typeface="Arial" pitchFamily="34" charset="0"/>
                <a:ea typeface="Arial" pitchFamily="34" charset="-122"/>
                <a:cs typeface="Arial" pitchFamily="34" charset="-120"/>
              </a:rPr>
              <a:t>   Locality principle — the memory hierarchy and speed/capacity trade-off</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L2</a:t>
            </a:r>
            <a:r>
              <a:rPr lang="en-US" sz="1600" dirty="0">
                <a:solidFill>
                  <a:srgbClr val="666666"/>
                </a:solidFill>
                <a:latin typeface="Arial" pitchFamily="34" charset="0"/>
                <a:ea typeface="Arial" pitchFamily="34" charset="-122"/>
                <a:cs typeface="Arial" pitchFamily="34" charset="-120"/>
              </a:rPr>
              <a:t>   Registers — the top-level caching optimization</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L3</a:t>
            </a:r>
            <a:r>
              <a:rPr lang="en-US" sz="1600" dirty="0">
                <a:solidFill>
                  <a:srgbClr val="666666"/>
                </a:solidFill>
                <a:latin typeface="Arial" pitchFamily="34" charset="0"/>
                <a:ea typeface="Arial" pitchFamily="34" charset="-122"/>
                <a:cs typeface="Arial" pitchFamily="34" charset="-120"/>
              </a:rPr>
              <a:t>   Processor caches — blocks, associativity, the 3 Cs, replacement/write policies</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L8</a:t>
            </a:r>
            <a:r>
              <a:rPr lang="en-US" sz="1600" dirty="0">
                <a:solidFill>
                  <a:srgbClr val="666666"/>
                </a:solidFill>
                <a:latin typeface="Arial" pitchFamily="34" charset="0"/>
                <a:ea typeface="Arial" pitchFamily="34" charset="-122"/>
                <a:cs typeface="Arial" pitchFamily="34" charset="-120"/>
              </a:rPr>
              <a:t>   TLB &amp; virtual memory — caching page-table entries; memory as a cache for disk</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L9</a:t>
            </a:r>
            <a:r>
              <a:rPr lang="en-US" sz="1600" dirty="0">
                <a:solidFill>
                  <a:srgbClr val="666666"/>
                </a:solidFill>
                <a:latin typeface="Arial" pitchFamily="34" charset="0"/>
                <a:ea typeface="Arial" pitchFamily="34" charset="-122"/>
                <a:cs typeface="Arial" pitchFamily="34" charset="-120"/>
              </a:rPr>
              <a:t>   Disk caching — exploiting access locality</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L10</a:t>
            </a:r>
            <a:r>
              <a:rPr lang="en-US" sz="1600" dirty="0">
                <a:solidFill>
                  <a:srgbClr val="666666"/>
                </a:solidFill>
                <a:latin typeface="Arial" pitchFamily="34" charset="0"/>
                <a:ea typeface="Arial" pitchFamily="34" charset="-122"/>
                <a:cs typeface="Arial" pitchFamily="34" charset="-120"/>
              </a:rPr>
              <a:t>   Buffer cache — caching disk blocks to speed up the read path</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L11 / L13</a:t>
            </a:r>
            <a:r>
              <a:rPr lang="en-US" sz="1600" dirty="0">
                <a:solidFill>
                  <a:srgbClr val="666666"/>
                </a:solidFill>
                <a:latin typeface="Arial" pitchFamily="34" charset="0"/>
                <a:ea typeface="Arial" pitchFamily="34" charset="-122"/>
                <a:cs typeface="Arial" pitchFamily="34" charset="-120"/>
              </a:rPr>
              <a:t>   DNS (with TTL) and distributed file-system caching</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949036" y="304800"/>
            <a:ext cx="8229600" cy="617220"/>
          </a:xfrm>
          <a:prstGeom prst="rect">
            <a:avLst/>
          </a:prstGeom>
          <a:noFill/>
          <a:ln/>
        </p:spPr>
        <p:txBody>
          <a:bodyPr wrap="square" lIns="0" tIns="0" rIns="0" bIns="0" rtlCol="0" anchor="t"/>
          <a:lstStyle/>
          <a:p>
            <a:r>
              <a:rPr lang="en-US" altLang="zh-CN" sz="2250" dirty="0">
                <a:solidFill>
                  <a:srgbClr val="1A1A1A"/>
                </a:solidFill>
                <a:latin typeface="Arial" pitchFamily="34" charset="0"/>
                <a:ea typeface="Arial" pitchFamily="34" charset="-122"/>
                <a:cs typeface="Arial" pitchFamily="34" charset="-120"/>
              </a:rPr>
              <a:t>Thread</a:t>
            </a:r>
            <a:r>
              <a:rPr lang="zh-CN" altLang="en-US" sz="2250" dirty="0">
                <a:solidFill>
                  <a:srgbClr val="1A1A1A"/>
                </a:solidFill>
                <a:latin typeface="Arial" pitchFamily="34" charset="0"/>
                <a:ea typeface="Arial" pitchFamily="34" charset="-122"/>
                <a:cs typeface="Arial" pitchFamily="34" charset="-120"/>
              </a:rPr>
              <a:t> </a:t>
            </a:r>
            <a:r>
              <a:rPr lang="en-US" altLang="zh-CN" sz="2250" dirty="0">
                <a:solidFill>
                  <a:srgbClr val="1A1A1A"/>
                </a:solidFill>
                <a:latin typeface="Arial" pitchFamily="34" charset="0"/>
                <a:ea typeface="Arial" pitchFamily="34" charset="-122"/>
                <a:cs typeface="Arial" pitchFamily="34" charset="-120"/>
              </a:rPr>
              <a:t>2:</a:t>
            </a:r>
            <a:r>
              <a:rPr lang="zh-CN" altLang="en-US" sz="2250" dirty="0">
                <a:solidFill>
                  <a:srgbClr val="1A1A1A"/>
                </a:solidFill>
                <a:latin typeface="Arial" pitchFamily="34" charset="0"/>
                <a:ea typeface="Arial" pitchFamily="34" charset="-122"/>
                <a:cs typeface="Arial" pitchFamily="34" charset="-120"/>
              </a:rPr>
              <a:t> </a:t>
            </a:r>
            <a:r>
              <a:rPr lang="en-US" sz="2250" dirty="0">
                <a:solidFill>
                  <a:srgbClr val="1A1A1A"/>
                </a:solidFill>
                <a:latin typeface="Arial" pitchFamily="34" charset="0"/>
                <a:ea typeface="Arial" pitchFamily="34" charset="-122"/>
                <a:cs typeface="Arial" pitchFamily="34" charset="-120"/>
              </a:rPr>
              <a:t>Keep Secrets — Abstraction &amp; Virtualization</a:t>
            </a:r>
            <a:endParaRPr lang="en-US" sz="2250" dirty="0"/>
          </a:p>
        </p:txBody>
      </p:sp>
      <p:sp>
        <p:nvSpPr>
          <p:cNvPr id="4" name="Text 2"/>
          <p:cNvSpPr/>
          <p:nvPr/>
        </p:nvSpPr>
        <p:spPr>
          <a:xfrm>
            <a:off x="452351" y="1186642"/>
            <a:ext cx="8161020" cy="548640"/>
          </a:xfrm>
          <a:prstGeom prst="rect">
            <a:avLst/>
          </a:prstGeom>
          <a:noFill/>
          <a:ln/>
        </p:spPr>
        <p:txBody>
          <a:bodyPr wrap="square" lIns="0" tIns="0" rIns="0" bIns="0" rtlCol="0" anchor="t"/>
          <a:lstStyle/>
          <a:p>
            <a:pPr>
              <a:lnSpc>
                <a:spcPct val="110000"/>
              </a:lnSpc>
            </a:pPr>
            <a:r>
              <a:rPr lang="en-US" dirty="0">
                <a:solidFill>
                  <a:srgbClr val="666666"/>
                </a:solidFill>
                <a:latin typeface="Arial" pitchFamily="34" charset="0"/>
                <a:ea typeface="Arial" pitchFamily="34" charset="-122"/>
                <a:cs typeface="Arial" pitchFamily="34" charset="-120"/>
              </a:rPr>
              <a:t>Separate the implementation from its clients through interfaces, indirection, and virtualization — the course's main functionality thread.</a:t>
            </a:r>
            <a:endParaRPr lang="en-US" dirty="0"/>
          </a:p>
        </p:txBody>
      </p:sp>
      <p:sp>
        <p:nvSpPr>
          <p:cNvPr id="5" name="Text 3"/>
          <p:cNvSpPr/>
          <p:nvPr/>
        </p:nvSpPr>
        <p:spPr>
          <a:xfrm>
            <a:off x="480060" y="2811780"/>
            <a:ext cx="8161020" cy="2880360"/>
          </a:xfrm>
          <a:prstGeom prst="rect">
            <a:avLst/>
          </a:prstGeom>
          <a:noFill/>
          <a:ln/>
        </p:spPr>
        <p:txBody>
          <a:bodyPr wrap="square" lIns="0" tIns="0" rIns="0" bIns="0" rtlCol="0" anchor="t"/>
          <a:lstStyle/>
          <a:p>
            <a:pPr>
              <a:lnSpc>
                <a:spcPct val="105000"/>
              </a:lnSpc>
              <a:spcAft>
                <a:spcPts val="900"/>
              </a:spcAft>
            </a:pPr>
            <a:r>
              <a:rPr lang="en-US" sz="2000" dirty="0">
                <a:solidFill>
                  <a:srgbClr val="1A1A1A"/>
                </a:solidFill>
                <a:latin typeface="Arial" pitchFamily="34" charset="0"/>
                <a:ea typeface="Arial" pitchFamily="34" charset="-122"/>
                <a:cs typeface="Arial" pitchFamily="34" charset="-120"/>
              </a:rPr>
              <a:t>L1</a:t>
            </a:r>
            <a:r>
              <a:rPr lang="en-US" dirty="0">
                <a:solidFill>
                  <a:srgbClr val="666666"/>
                </a:solidFill>
                <a:latin typeface="Arial" pitchFamily="34" charset="0"/>
                <a:ea typeface="Arial" pitchFamily="34" charset="-122"/>
                <a:cs typeface="Arial" pitchFamily="34" charset="-120"/>
              </a:rPr>
              <a:t>   Abstraction and the chain of representation (the "master illusionist")</a:t>
            </a:r>
            <a:endParaRPr lang="en-US" sz="2000" dirty="0"/>
          </a:p>
          <a:p>
            <a:pPr>
              <a:lnSpc>
                <a:spcPct val="105000"/>
              </a:lnSpc>
              <a:spcAft>
                <a:spcPts val="900"/>
              </a:spcAft>
            </a:pPr>
            <a:r>
              <a:rPr lang="en-US" sz="2000" dirty="0">
                <a:solidFill>
                  <a:srgbClr val="1A1A1A"/>
                </a:solidFill>
                <a:latin typeface="Arial" pitchFamily="34" charset="0"/>
                <a:ea typeface="Arial" pitchFamily="34" charset="-122"/>
                <a:cs typeface="Arial" pitchFamily="34" charset="-120"/>
              </a:rPr>
              <a:t>L4</a:t>
            </a:r>
            <a:r>
              <a:rPr lang="en-US" dirty="0">
                <a:solidFill>
                  <a:srgbClr val="666666"/>
                </a:solidFill>
                <a:latin typeface="Arial" pitchFamily="34" charset="0"/>
                <a:ea typeface="Arial" pitchFamily="34" charset="-122"/>
                <a:cs typeface="Arial" pitchFamily="34" charset="-120"/>
              </a:rPr>
              <a:t>   The process illusion — a private CPU and private memory</a:t>
            </a:r>
            <a:endParaRPr lang="en-US" sz="2000" dirty="0"/>
          </a:p>
          <a:p>
            <a:pPr>
              <a:lnSpc>
                <a:spcPct val="105000"/>
              </a:lnSpc>
              <a:spcAft>
                <a:spcPts val="900"/>
              </a:spcAft>
            </a:pPr>
            <a:r>
              <a:rPr lang="en-US" sz="2000" dirty="0">
                <a:solidFill>
                  <a:srgbClr val="1A1A1A"/>
                </a:solidFill>
                <a:latin typeface="Arial" pitchFamily="34" charset="0"/>
                <a:ea typeface="Arial" pitchFamily="34" charset="-122"/>
                <a:cs typeface="Arial" pitchFamily="34" charset="-120"/>
              </a:rPr>
              <a:t>L8</a:t>
            </a:r>
            <a:r>
              <a:rPr lang="en-US" dirty="0">
                <a:solidFill>
                  <a:srgbClr val="666666"/>
                </a:solidFill>
                <a:latin typeface="Arial" pitchFamily="34" charset="0"/>
                <a:ea typeface="Arial" pitchFamily="34" charset="-122"/>
                <a:cs typeface="Arial" pitchFamily="34" charset="-120"/>
              </a:rPr>
              <a:t>   Virtual memory — virtual vs. physical addresses hide the physical layout</a:t>
            </a:r>
            <a:endParaRPr lang="en-US" sz="2000" dirty="0"/>
          </a:p>
          <a:p>
            <a:pPr>
              <a:lnSpc>
                <a:spcPct val="105000"/>
              </a:lnSpc>
              <a:spcAft>
                <a:spcPts val="900"/>
              </a:spcAft>
            </a:pPr>
            <a:r>
              <a:rPr lang="en-US" sz="2000" dirty="0">
                <a:solidFill>
                  <a:srgbClr val="1A1A1A"/>
                </a:solidFill>
                <a:latin typeface="Arial" pitchFamily="34" charset="0"/>
                <a:ea typeface="Arial" pitchFamily="34" charset="-122"/>
                <a:cs typeface="Arial" pitchFamily="34" charset="-120"/>
              </a:rPr>
              <a:t>L10</a:t>
            </a:r>
            <a:r>
              <a:rPr lang="en-US" dirty="0">
                <a:solidFill>
                  <a:srgbClr val="666666"/>
                </a:solidFill>
                <a:latin typeface="Arial" pitchFamily="34" charset="0"/>
                <a:ea typeface="Arial" pitchFamily="34" charset="-122"/>
                <a:cs typeface="Arial" pitchFamily="34" charset="-120"/>
              </a:rPr>
              <a:t>   File systems — "named, durable objects" built on top of blocks</a:t>
            </a:r>
            <a:endParaRPr lang="en-US" sz="2000" dirty="0"/>
          </a:p>
          <a:p>
            <a:pPr>
              <a:lnSpc>
                <a:spcPct val="105000"/>
              </a:lnSpc>
              <a:spcAft>
                <a:spcPts val="900"/>
              </a:spcAft>
            </a:pPr>
            <a:r>
              <a:rPr lang="en-US" altLang="zh-CN" sz="2000" dirty="0">
                <a:solidFill>
                  <a:srgbClr val="1A1A1A"/>
                </a:solidFill>
                <a:latin typeface="Arial" pitchFamily="34" charset="0"/>
                <a:ea typeface="Arial" pitchFamily="34" charset="-122"/>
                <a:cs typeface="Arial" pitchFamily="34" charset="-120"/>
              </a:rPr>
              <a:t>L11</a:t>
            </a:r>
            <a:r>
              <a:rPr lang="en-US" altLang="zh-CN" dirty="0">
                <a:solidFill>
                  <a:srgbClr val="666666"/>
                </a:solidFill>
                <a:latin typeface="Arial" pitchFamily="34" charset="0"/>
                <a:ea typeface="Arial" pitchFamily="34" charset="-122"/>
                <a:cs typeface="Arial" pitchFamily="34" charset="-120"/>
              </a:rPr>
              <a:t>   Layering — connecting</a:t>
            </a:r>
            <a:r>
              <a:rPr lang="zh-CN" altLang="en-US" dirty="0">
                <a:solidFill>
                  <a:srgbClr val="666666"/>
                </a:solidFill>
                <a:latin typeface="Arial" pitchFamily="34" charset="0"/>
                <a:ea typeface="Arial" pitchFamily="34" charset="-122"/>
                <a:cs typeface="Arial" pitchFamily="34" charset="-120"/>
              </a:rPr>
              <a:t> </a:t>
            </a:r>
            <a:r>
              <a:rPr lang="en-US" altLang="zh-CN" dirty="0">
                <a:solidFill>
                  <a:srgbClr val="666666"/>
                </a:solidFill>
                <a:latin typeface="Arial" pitchFamily="34" charset="0"/>
                <a:ea typeface="Arial" pitchFamily="34" charset="-122"/>
                <a:cs typeface="Arial" pitchFamily="34" charset="-120"/>
              </a:rPr>
              <a:t>different</a:t>
            </a:r>
            <a:r>
              <a:rPr lang="zh-CN" altLang="en-US" dirty="0">
                <a:solidFill>
                  <a:srgbClr val="666666"/>
                </a:solidFill>
                <a:latin typeface="Arial" pitchFamily="34" charset="0"/>
                <a:ea typeface="Arial" pitchFamily="34" charset="-122"/>
                <a:cs typeface="Arial" pitchFamily="34" charset="-120"/>
              </a:rPr>
              <a:t> </a:t>
            </a:r>
            <a:r>
              <a:rPr lang="en-US" altLang="zh-CN" dirty="0">
                <a:solidFill>
                  <a:srgbClr val="666666"/>
                </a:solidFill>
                <a:latin typeface="Arial" pitchFamily="34" charset="0"/>
                <a:ea typeface="Arial" pitchFamily="34" charset="-122"/>
                <a:cs typeface="Arial" pitchFamily="34" charset="-120"/>
              </a:rPr>
              <a:t>network</a:t>
            </a:r>
            <a:r>
              <a:rPr lang="zh-CN" altLang="en-US" dirty="0">
                <a:solidFill>
                  <a:srgbClr val="666666"/>
                </a:solidFill>
                <a:latin typeface="Arial" pitchFamily="34" charset="0"/>
                <a:ea typeface="Arial" pitchFamily="34" charset="-122"/>
                <a:cs typeface="Arial" pitchFamily="34" charset="-120"/>
              </a:rPr>
              <a:t> </a:t>
            </a:r>
            <a:r>
              <a:rPr lang="en-US" altLang="zh-CN" dirty="0">
                <a:solidFill>
                  <a:srgbClr val="666666"/>
                </a:solidFill>
                <a:latin typeface="Arial" pitchFamily="34" charset="0"/>
                <a:ea typeface="Arial" pitchFamily="34" charset="-122"/>
                <a:cs typeface="Arial" pitchFamily="34" charset="-120"/>
              </a:rPr>
              <a:t>technology</a:t>
            </a:r>
            <a:endParaRPr lang="en-US" dirty="0">
              <a:solidFill>
                <a:srgbClr val="1A1A1A"/>
              </a:solidFill>
              <a:latin typeface="Arial" pitchFamily="34" charset="0"/>
              <a:ea typeface="Arial" pitchFamily="34" charset="-122"/>
              <a:cs typeface="Arial" pitchFamily="34" charset="-120"/>
            </a:endParaRPr>
          </a:p>
          <a:p>
            <a:pPr>
              <a:lnSpc>
                <a:spcPct val="105000"/>
              </a:lnSpc>
              <a:spcAft>
                <a:spcPts val="900"/>
              </a:spcAft>
            </a:pPr>
            <a:r>
              <a:rPr lang="en-US" sz="2000" dirty="0">
                <a:solidFill>
                  <a:srgbClr val="1A1A1A"/>
                </a:solidFill>
                <a:latin typeface="Arial" pitchFamily="34" charset="0"/>
                <a:ea typeface="Arial" pitchFamily="34" charset="-122"/>
                <a:cs typeface="Arial" pitchFamily="34" charset="-120"/>
              </a:rPr>
              <a:t>L11</a:t>
            </a:r>
            <a:r>
              <a:rPr lang="en-US" dirty="0">
                <a:solidFill>
                  <a:srgbClr val="666666"/>
                </a:solidFill>
                <a:latin typeface="Arial" pitchFamily="34" charset="0"/>
                <a:ea typeface="Arial" pitchFamily="34" charset="-122"/>
                <a:cs typeface="Arial" pitchFamily="34" charset="-120"/>
              </a:rPr>
              <a:t>   RPC — stubs and marshalling hide the network</a:t>
            </a:r>
            <a:endParaRPr lang="en-US" sz="2000" dirty="0"/>
          </a:p>
          <a:p>
            <a:pPr>
              <a:lnSpc>
                <a:spcPct val="105000"/>
              </a:lnSpc>
              <a:spcAft>
                <a:spcPts val="900"/>
              </a:spcAft>
            </a:pPr>
            <a:r>
              <a:rPr lang="en-US" sz="2000" dirty="0">
                <a:solidFill>
                  <a:srgbClr val="1A1A1A"/>
                </a:solidFill>
                <a:latin typeface="Arial" pitchFamily="34" charset="0"/>
                <a:ea typeface="Arial" pitchFamily="34" charset="-122"/>
                <a:cs typeface="Arial" pitchFamily="34" charset="-120"/>
              </a:rPr>
              <a:t>L13</a:t>
            </a:r>
            <a:r>
              <a:rPr lang="en-US" dirty="0">
                <a:solidFill>
                  <a:srgbClr val="666666"/>
                </a:solidFill>
                <a:latin typeface="Arial" pitchFamily="34" charset="0"/>
                <a:ea typeface="Arial" pitchFamily="34" charset="-122"/>
                <a:cs typeface="Arial" pitchFamily="34" charset="-120"/>
              </a:rPr>
              <a:t>   Single-system image — middleware and transparent remote files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66800" y="228600"/>
            <a:ext cx="8229600" cy="617220"/>
          </a:xfrm>
          <a:prstGeom prst="rect">
            <a:avLst/>
          </a:prstGeom>
          <a:noFill/>
          <a:ln/>
        </p:spPr>
        <p:txBody>
          <a:bodyPr wrap="square" lIns="0" tIns="0" rIns="0" bIns="0" rtlCol="0" anchor="t"/>
          <a:lstStyle/>
          <a:p>
            <a:r>
              <a:rPr lang="en-US" altLang="zh-CN" sz="2250" dirty="0">
                <a:solidFill>
                  <a:srgbClr val="1A1A1A"/>
                </a:solidFill>
                <a:latin typeface="Arial" pitchFamily="34" charset="0"/>
                <a:ea typeface="Arial" pitchFamily="34" charset="-122"/>
                <a:cs typeface="Arial" pitchFamily="34" charset="-120"/>
              </a:rPr>
              <a:t>Thread</a:t>
            </a:r>
            <a:r>
              <a:rPr lang="zh-CN" altLang="en-US" sz="2250" dirty="0">
                <a:solidFill>
                  <a:srgbClr val="1A1A1A"/>
                </a:solidFill>
                <a:latin typeface="Arial" pitchFamily="34" charset="0"/>
                <a:ea typeface="Arial" pitchFamily="34" charset="-122"/>
                <a:cs typeface="Arial" pitchFamily="34" charset="-120"/>
              </a:rPr>
              <a:t> </a:t>
            </a:r>
            <a:r>
              <a:rPr lang="en-US" altLang="zh-CN" sz="2250" dirty="0">
                <a:solidFill>
                  <a:srgbClr val="1A1A1A"/>
                </a:solidFill>
                <a:latin typeface="Arial" pitchFamily="34" charset="0"/>
                <a:ea typeface="Arial" pitchFamily="34" charset="-122"/>
                <a:cs typeface="Arial" pitchFamily="34" charset="-120"/>
              </a:rPr>
              <a:t>3:</a:t>
            </a:r>
            <a:r>
              <a:rPr lang="zh-CN" altLang="en-US" sz="2250" dirty="0">
                <a:solidFill>
                  <a:srgbClr val="1A1A1A"/>
                </a:solidFill>
                <a:latin typeface="Arial" pitchFamily="34" charset="0"/>
                <a:ea typeface="Arial" pitchFamily="34" charset="-122"/>
                <a:cs typeface="Arial" pitchFamily="34" charset="-120"/>
              </a:rPr>
              <a:t> </a:t>
            </a:r>
            <a:r>
              <a:rPr lang="en-US" sz="2250" dirty="0">
                <a:solidFill>
                  <a:srgbClr val="1A1A1A"/>
                </a:solidFill>
                <a:latin typeface="Arial" pitchFamily="34" charset="0"/>
                <a:ea typeface="Arial" pitchFamily="34" charset="-122"/>
                <a:cs typeface="Arial" pitchFamily="34" charset="-120"/>
              </a:rPr>
              <a:t>The Fault-Tolerance Trio</a:t>
            </a:r>
            <a:endParaRPr lang="en-US" sz="2250" dirty="0"/>
          </a:p>
        </p:txBody>
      </p:sp>
      <p:sp>
        <p:nvSpPr>
          <p:cNvPr id="4" name="Text 2"/>
          <p:cNvSpPr/>
          <p:nvPr/>
        </p:nvSpPr>
        <p:spPr>
          <a:xfrm>
            <a:off x="480060" y="1042208"/>
            <a:ext cx="8161020" cy="548640"/>
          </a:xfrm>
          <a:prstGeom prst="rect">
            <a:avLst/>
          </a:prstGeom>
          <a:noFill/>
          <a:ln/>
        </p:spPr>
        <p:txBody>
          <a:bodyPr wrap="square" lIns="0" tIns="0" rIns="0" bIns="0" rtlCol="0" anchor="t"/>
          <a:lstStyle/>
          <a:p>
            <a:pPr>
              <a:lnSpc>
                <a:spcPct val="110000"/>
              </a:lnSpc>
            </a:pPr>
            <a:r>
              <a:rPr lang="en-US" dirty="0">
                <a:solidFill>
                  <a:srgbClr val="666666"/>
                </a:solidFill>
                <a:latin typeface="Arial" pitchFamily="34" charset="0"/>
                <a:ea typeface="Arial" pitchFamily="34" charset="-122"/>
                <a:cs typeface="Arial" pitchFamily="34" charset="-120"/>
              </a:rPr>
              <a:t>The recurring theme of the concurrency and distributed-systems lectures: protection, atomicity, and end-to-end reliability.</a:t>
            </a:r>
            <a:endParaRPr lang="en-US" dirty="0"/>
          </a:p>
        </p:txBody>
      </p:sp>
      <p:sp>
        <p:nvSpPr>
          <p:cNvPr id="5" name="Text 3"/>
          <p:cNvSpPr/>
          <p:nvPr/>
        </p:nvSpPr>
        <p:spPr>
          <a:xfrm>
            <a:off x="480060" y="1828800"/>
            <a:ext cx="8161020" cy="2880360"/>
          </a:xfrm>
          <a:prstGeom prst="rect">
            <a:avLst/>
          </a:prstGeom>
          <a:noFill/>
          <a:ln/>
        </p:spPr>
        <p:txBody>
          <a:bodyPr wrap="square" lIns="0" tIns="0" rIns="0" bIns="0" rtlCol="0" anchor="t"/>
          <a:lstStyle/>
          <a:p>
            <a:pPr>
              <a:lnSpc>
                <a:spcPct val="105000"/>
              </a:lnSpc>
              <a:spcAft>
                <a:spcPts val="900"/>
              </a:spcAft>
            </a:pPr>
            <a:r>
              <a:rPr lang="en-US" dirty="0">
                <a:solidFill>
                  <a:srgbClr val="1A1A1A"/>
                </a:solidFill>
                <a:latin typeface="Arial" pitchFamily="34" charset="0"/>
                <a:ea typeface="Arial" pitchFamily="34" charset="-122"/>
                <a:cs typeface="Arial" pitchFamily="34" charset="-120"/>
              </a:rPr>
              <a:t>Safety first</a:t>
            </a:r>
            <a:r>
              <a:rPr lang="en-US" altLang="zh-CN" dirty="0">
                <a:solidFill>
                  <a:srgbClr val="1A1A1A"/>
                </a:solidFill>
                <a:latin typeface="Arial" pitchFamily="34" charset="0"/>
                <a:ea typeface="Arial" pitchFamily="34" charset="-122"/>
                <a:cs typeface="Arial" pitchFamily="34" charset="-120"/>
              </a:rPr>
              <a:t>-</a:t>
            </a:r>
            <a:r>
              <a:rPr lang="zh-CN" altLang="en-US" dirty="0">
                <a:solidFill>
                  <a:srgbClr val="1A1A1A"/>
                </a:solidFill>
                <a:latin typeface="Arial" pitchFamily="34" charset="0"/>
                <a:ea typeface="Arial" pitchFamily="34" charset="-122"/>
                <a:cs typeface="Arial" pitchFamily="34" charset="-120"/>
              </a:rPr>
              <a:t> </a:t>
            </a:r>
            <a:r>
              <a:rPr lang="en-US" sz="1600" dirty="0">
                <a:solidFill>
                  <a:srgbClr val="666666"/>
                </a:solidFill>
                <a:latin typeface="Arial" pitchFamily="34" charset="0"/>
                <a:ea typeface="Arial" pitchFamily="34" charset="-122"/>
                <a:cs typeface="Arial" pitchFamily="34" charset="-120"/>
              </a:rPr>
              <a:t>   Protection &amp; redundancy </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L1 failure at scale</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L4 user/kernel modes</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L10 ACLs/capabilities/TCB</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L13 distributed challenges</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Make actions atomic</a:t>
            </a:r>
            <a:r>
              <a:rPr lang="en-US" altLang="zh-CN" dirty="0">
                <a:solidFill>
                  <a:srgbClr val="1A1A1A"/>
                </a:solidFill>
                <a:latin typeface="Arial" pitchFamily="34" charset="0"/>
                <a:ea typeface="Arial" pitchFamily="34" charset="-122"/>
                <a:cs typeface="Arial" pitchFamily="34" charset="-120"/>
              </a:rPr>
              <a:t>-</a:t>
            </a:r>
            <a:r>
              <a:rPr lang="zh-CN" altLang="en-US" dirty="0">
                <a:solidFill>
                  <a:srgbClr val="1A1A1A"/>
                </a:solidFill>
                <a:latin typeface="Arial" pitchFamily="34" charset="0"/>
                <a:ea typeface="Arial" pitchFamily="34" charset="-122"/>
                <a:cs typeface="Arial" pitchFamily="34" charset="-120"/>
              </a:rPr>
              <a:t> </a:t>
            </a:r>
            <a:r>
              <a:rPr lang="en-US" dirty="0">
                <a:solidFill>
                  <a:srgbClr val="1A1A1A"/>
                </a:solidFill>
                <a:latin typeface="Arial" pitchFamily="34" charset="0"/>
                <a:ea typeface="Arial" pitchFamily="34" charset="-122"/>
                <a:cs typeface="Arial" pitchFamily="34" charset="-120"/>
              </a:rPr>
              <a:t> </a:t>
            </a:r>
            <a:r>
              <a:rPr lang="en-US" sz="1600" dirty="0">
                <a:solidFill>
                  <a:srgbClr val="666666"/>
                </a:solidFill>
                <a:latin typeface="Arial" pitchFamily="34" charset="0"/>
                <a:ea typeface="Arial" pitchFamily="34" charset="-122"/>
                <a:cs typeface="Arial" pitchFamily="34" charset="-120"/>
              </a:rPr>
              <a:t>Atomicity &amp; synchronization</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L2 atomic instructions</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L6 semaphores/monitors</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L7 lock implementation</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L13 stateless restart / idempotence</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End-to-end</a:t>
            </a:r>
            <a:r>
              <a:rPr lang="en-US" altLang="zh-CN" dirty="0">
                <a:solidFill>
                  <a:srgbClr val="1A1A1A"/>
                </a:solidFill>
                <a:latin typeface="Arial" pitchFamily="34" charset="0"/>
                <a:ea typeface="Arial" pitchFamily="34" charset="-122"/>
                <a:cs typeface="Arial" pitchFamily="34" charset="-120"/>
              </a:rPr>
              <a:t>-</a:t>
            </a:r>
            <a:r>
              <a:rPr lang="zh-CN" altLang="en-US" dirty="0">
                <a:solidFill>
                  <a:srgbClr val="1A1A1A"/>
                </a:solidFill>
                <a:latin typeface="Arial" pitchFamily="34" charset="0"/>
                <a:ea typeface="Arial" pitchFamily="34" charset="-122"/>
                <a:cs typeface="Arial" pitchFamily="34" charset="-120"/>
              </a:rPr>
              <a:t> </a:t>
            </a:r>
            <a:r>
              <a:rPr lang="en-US" sz="1600" dirty="0">
                <a:solidFill>
                  <a:srgbClr val="666666"/>
                </a:solidFill>
                <a:latin typeface="Arial" pitchFamily="34" charset="0"/>
                <a:ea typeface="Arial" pitchFamily="34" charset="-122"/>
                <a:cs typeface="Arial" pitchFamily="34" charset="-120"/>
              </a:rPr>
              <a:t>   Push reliability to the application</a:t>
            </a:r>
            <a:r>
              <a:rPr lang="zh-CN" altLang="en-US" sz="1600" dirty="0">
                <a:solidFill>
                  <a:srgbClr val="666666"/>
                </a:solidFill>
                <a:latin typeface="Arial" pitchFamily="34" charset="0"/>
                <a:ea typeface="Arial" pitchFamily="34" charset="-122"/>
                <a:cs typeface="Arial" pitchFamily="34" charset="-120"/>
              </a:rPr>
              <a:t> </a:t>
            </a:r>
            <a:r>
              <a:rPr lang="en-US" sz="1600" dirty="0">
                <a:solidFill>
                  <a:srgbClr val="666666"/>
                </a:solidFill>
                <a:latin typeface="Arial" pitchFamily="34" charset="0"/>
                <a:ea typeface="Arial" pitchFamily="34" charset="-122"/>
                <a:cs typeface="Arial" pitchFamily="34" charset="-120"/>
              </a:rPr>
              <a:t> </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L11 the end-to-end argument &amp; TCP, </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L13 where to resolve conflicts (ACID vs. BASE)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914400" y="228600"/>
            <a:ext cx="8229600" cy="617220"/>
          </a:xfrm>
          <a:prstGeom prst="rect">
            <a:avLst/>
          </a:prstGeom>
          <a:noFill/>
          <a:ln/>
        </p:spPr>
        <p:txBody>
          <a:bodyPr wrap="square" lIns="0" tIns="0" rIns="0" bIns="0" rtlCol="0" anchor="t"/>
          <a:lstStyle/>
          <a:p>
            <a:r>
              <a:rPr lang="en-US" altLang="zh-CN" sz="2250" dirty="0">
                <a:solidFill>
                  <a:srgbClr val="1A1A1A"/>
                </a:solidFill>
                <a:latin typeface="Arial" pitchFamily="34" charset="0"/>
                <a:ea typeface="Arial" pitchFamily="34" charset="-122"/>
                <a:cs typeface="Arial" pitchFamily="34" charset="-120"/>
              </a:rPr>
              <a:t>Thread</a:t>
            </a:r>
            <a:r>
              <a:rPr lang="zh-CN" altLang="en-US" sz="2250" dirty="0">
                <a:solidFill>
                  <a:srgbClr val="1A1A1A"/>
                </a:solidFill>
                <a:latin typeface="Arial" pitchFamily="34" charset="0"/>
                <a:ea typeface="Arial" pitchFamily="34" charset="-122"/>
                <a:cs typeface="Arial" pitchFamily="34" charset="-120"/>
              </a:rPr>
              <a:t> </a:t>
            </a:r>
            <a:r>
              <a:rPr lang="en-US" altLang="zh-CN" sz="2250" dirty="0">
                <a:solidFill>
                  <a:srgbClr val="1A1A1A"/>
                </a:solidFill>
                <a:latin typeface="Arial" pitchFamily="34" charset="0"/>
                <a:ea typeface="Arial" pitchFamily="34" charset="-122"/>
                <a:cs typeface="Arial" pitchFamily="34" charset="-120"/>
              </a:rPr>
              <a:t>4:</a:t>
            </a:r>
            <a:r>
              <a:rPr lang="zh-CN" altLang="en-US" sz="2250" dirty="0">
                <a:solidFill>
                  <a:srgbClr val="1A1A1A"/>
                </a:solidFill>
                <a:latin typeface="Arial" pitchFamily="34" charset="0"/>
                <a:ea typeface="Arial" pitchFamily="34" charset="-122"/>
                <a:cs typeface="Arial" pitchFamily="34" charset="-120"/>
              </a:rPr>
              <a:t> </a:t>
            </a:r>
            <a:r>
              <a:rPr lang="en-US" sz="2250" dirty="0">
                <a:solidFill>
                  <a:srgbClr val="1A1A1A"/>
                </a:solidFill>
                <a:latin typeface="Arial" pitchFamily="34" charset="0"/>
                <a:ea typeface="Arial" pitchFamily="34" charset="-122"/>
                <a:cs typeface="Arial" pitchFamily="34" charset="-120"/>
              </a:rPr>
              <a:t>Handle Normal vs. Worst Case Separately</a:t>
            </a:r>
            <a:endParaRPr lang="en-US" sz="2250" dirty="0"/>
          </a:p>
        </p:txBody>
      </p:sp>
      <p:sp>
        <p:nvSpPr>
          <p:cNvPr id="4" name="Text 2"/>
          <p:cNvSpPr/>
          <p:nvPr/>
        </p:nvSpPr>
        <p:spPr>
          <a:xfrm>
            <a:off x="480060" y="1165860"/>
            <a:ext cx="8161020" cy="548640"/>
          </a:xfrm>
          <a:prstGeom prst="rect">
            <a:avLst/>
          </a:prstGeom>
          <a:noFill/>
          <a:ln/>
        </p:spPr>
        <p:txBody>
          <a:bodyPr wrap="square" lIns="0" tIns="0" rIns="0" bIns="0" rtlCol="0" anchor="t"/>
          <a:lstStyle/>
          <a:p>
            <a:pPr>
              <a:lnSpc>
                <a:spcPct val="110000"/>
              </a:lnSpc>
            </a:pPr>
            <a:r>
              <a:rPr lang="en-US" dirty="0">
                <a:solidFill>
                  <a:srgbClr val="666666"/>
                </a:solidFill>
                <a:latin typeface="Arial" pitchFamily="34" charset="0"/>
                <a:ea typeface="Arial" pitchFamily="34" charset="-122"/>
                <a:cs typeface="Arial" pitchFamily="34" charset="-120"/>
              </a:rPr>
              <a:t>Make the common path fast and keep the rare path correct and bounded — a pattern hardware and operating systems use again and again.</a:t>
            </a:r>
            <a:endParaRPr lang="en-US" dirty="0"/>
          </a:p>
        </p:txBody>
      </p:sp>
      <p:sp>
        <p:nvSpPr>
          <p:cNvPr id="5" name="Text 3"/>
          <p:cNvSpPr/>
          <p:nvPr/>
        </p:nvSpPr>
        <p:spPr>
          <a:xfrm>
            <a:off x="480060" y="2667000"/>
            <a:ext cx="8161020" cy="2880360"/>
          </a:xfrm>
          <a:prstGeom prst="rect">
            <a:avLst/>
          </a:prstGeom>
          <a:noFill/>
          <a:ln/>
        </p:spPr>
        <p:txBody>
          <a:bodyPr wrap="square" lIns="0" tIns="0" rIns="0" bIns="0" rtlCol="0" anchor="t"/>
          <a:lstStyle/>
          <a:p>
            <a:pPr>
              <a:lnSpc>
                <a:spcPct val="105000"/>
              </a:lnSpc>
              <a:spcAft>
                <a:spcPts val="900"/>
              </a:spcAft>
            </a:pPr>
            <a:r>
              <a:rPr lang="en-US" dirty="0">
                <a:solidFill>
                  <a:srgbClr val="1A1A1A"/>
                </a:solidFill>
                <a:latin typeface="Arial" pitchFamily="34" charset="0"/>
                <a:ea typeface="Arial" pitchFamily="34" charset="-122"/>
                <a:cs typeface="Arial" pitchFamily="34" charset="-120"/>
              </a:rPr>
              <a:t>Cache hit / page fault (L3, L8)</a:t>
            </a:r>
            <a:r>
              <a:rPr lang="en-US" sz="1600" dirty="0">
                <a:solidFill>
                  <a:srgbClr val="666666"/>
                </a:solidFill>
                <a:latin typeface="Arial" pitchFamily="34" charset="0"/>
                <a:ea typeface="Arial" pitchFamily="34" charset="-122"/>
                <a:cs typeface="Arial" pitchFamily="34" charset="-120"/>
              </a:rPr>
              <a:t>   </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Hits are fast in hardware; </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faults are the rare slow path, trapped into the OS</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Polling / interrupts (L9)</a:t>
            </a:r>
            <a:r>
              <a:rPr lang="en-US" sz="1600" dirty="0">
                <a:solidFill>
                  <a:srgbClr val="666666"/>
                </a:solidFill>
                <a:latin typeface="Arial" pitchFamily="34" charset="0"/>
                <a:ea typeface="Arial" pitchFamily="34" charset="-122"/>
                <a:cs typeface="Arial" pitchFamily="34" charset="-120"/>
              </a:rPr>
              <a:t>   </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Poll high-rate devices; </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interrupt on rare events to avoid busy-spinning</a:t>
            </a:r>
            <a:endParaRPr lang="en-US" dirty="0"/>
          </a:p>
          <a:p>
            <a:pPr>
              <a:lnSpc>
                <a:spcPct val="105000"/>
              </a:lnSpc>
              <a:spcAft>
                <a:spcPts val="900"/>
              </a:spcAft>
            </a:pPr>
            <a:r>
              <a:rPr lang="en-US" dirty="0">
                <a:solidFill>
                  <a:srgbClr val="1A1A1A"/>
                </a:solidFill>
                <a:latin typeface="Arial" pitchFamily="34" charset="0"/>
                <a:ea typeface="Arial" pitchFamily="34" charset="-122"/>
                <a:cs typeface="Arial" pitchFamily="34" charset="-120"/>
              </a:rPr>
              <a:t>Copy-on-write (L8)</a:t>
            </a:r>
            <a:r>
              <a:rPr lang="en-US" sz="1600" dirty="0">
                <a:solidFill>
                  <a:srgbClr val="666666"/>
                </a:solidFill>
                <a:latin typeface="Arial" pitchFamily="34" charset="0"/>
                <a:ea typeface="Arial" pitchFamily="34" charset="-122"/>
                <a:cs typeface="Arial" pitchFamily="34" charset="-120"/>
              </a:rPr>
              <a:t>   </a:t>
            </a:r>
          </a:p>
          <a:p>
            <a:pPr>
              <a:lnSpc>
                <a:spcPct val="105000"/>
              </a:lnSpc>
              <a:spcAft>
                <a:spcPts val="900"/>
              </a:spcAft>
            </a:pPr>
            <a:r>
              <a:rPr lang="en-US" sz="1600" dirty="0">
                <a:solidFill>
                  <a:srgbClr val="666666"/>
                </a:solidFill>
                <a:latin typeface="Arial" pitchFamily="34" charset="0"/>
                <a:ea typeface="Arial" pitchFamily="34" charset="-122"/>
                <a:cs typeface="Arial" pitchFamily="34" charset="-120"/>
              </a:rPr>
              <a:t>	Share read-only pages normally; split and copy only on an actual write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25BA9-BB51-2547-A67B-B9CFE9231082}"/>
              </a:ext>
            </a:extLst>
          </p:cNvPr>
          <p:cNvSpPr>
            <a:spLocks noGrp="1"/>
          </p:cNvSpPr>
          <p:nvPr>
            <p:ph type="title"/>
          </p:nvPr>
        </p:nvSpPr>
        <p:spPr/>
        <p:txBody>
          <a:bodyPr/>
          <a:lstStyle/>
          <a:p>
            <a:r>
              <a:rPr kumimoji="1" lang="en-US" altLang="zh-CN" dirty="0"/>
              <a:t>Interface:</a:t>
            </a:r>
            <a:r>
              <a:rPr kumimoji="1" lang="zh-CN" altLang="en-US" dirty="0"/>
              <a:t> </a:t>
            </a:r>
            <a:r>
              <a:rPr kumimoji="1" lang="en-US" altLang="zh-CN" dirty="0"/>
              <a:t>abstraction</a:t>
            </a:r>
            <a:endParaRPr kumimoji="1" lang="zh-CN" altLang="en-US" dirty="0"/>
          </a:p>
        </p:txBody>
      </p:sp>
      <p:sp>
        <p:nvSpPr>
          <p:cNvPr id="3" name="文本占位符 2">
            <a:extLst>
              <a:ext uri="{FF2B5EF4-FFF2-40B4-BE49-F238E27FC236}">
                <a16:creationId xmlns:a16="http://schemas.microsoft.com/office/drawing/2014/main" id="{A88FE518-C29E-164D-A021-6998B83F7BA0}"/>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401672771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7ED98A-8107-8D4A-B389-979CF7655FA8}"/>
              </a:ext>
            </a:extLst>
          </p:cNvPr>
          <p:cNvSpPr>
            <a:spLocks noGrp="1"/>
          </p:cNvSpPr>
          <p:nvPr>
            <p:ph type="title"/>
          </p:nvPr>
        </p:nvSpPr>
        <p:spPr/>
        <p:txBody>
          <a:bodyPr/>
          <a:lstStyle/>
          <a:p>
            <a:r>
              <a:rPr kumimoji="1" lang="en-US" altLang="zh-CN" dirty="0"/>
              <a:t>The</a:t>
            </a:r>
            <a:r>
              <a:rPr kumimoji="1" lang="zh-CN" altLang="en-US" dirty="0"/>
              <a:t> </a:t>
            </a:r>
            <a:r>
              <a:rPr kumimoji="1" lang="en-US" altLang="zh-CN" dirty="0"/>
              <a:t>key</a:t>
            </a:r>
            <a:r>
              <a:rPr kumimoji="1" lang="zh-CN" altLang="en-US" dirty="0"/>
              <a:t> </a:t>
            </a:r>
            <a:r>
              <a:rPr kumimoji="1" lang="en-US" altLang="zh-CN" dirty="0"/>
              <a:t>interfaces</a:t>
            </a:r>
            <a:r>
              <a:rPr kumimoji="1" lang="zh-CN" altLang="en-US" dirty="0"/>
              <a:t> </a:t>
            </a:r>
            <a:r>
              <a:rPr kumimoji="1" lang="en-US" altLang="zh-CN" dirty="0"/>
              <a:t>in</a:t>
            </a:r>
            <a:r>
              <a:rPr kumimoji="1" lang="zh-CN" altLang="en-US" dirty="0"/>
              <a:t> </a:t>
            </a:r>
            <a:r>
              <a:rPr kumimoji="1" lang="en-US" altLang="zh-CN" dirty="0"/>
              <a:t>systems?</a:t>
            </a:r>
            <a:endParaRPr kumimoji="1" lang="zh-CN" altLang="en-US" dirty="0"/>
          </a:p>
        </p:txBody>
      </p:sp>
      <p:sp>
        <p:nvSpPr>
          <p:cNvPr id="3" name="内容占位符 2">
            <a:extLst>
              <a:ext uri="{FF2B5EF4-FFF2-40B4-BE49-F238E27FC236}">
                <a16:creationId xmlns:a16="http://schemas.microsoft.com/office/drawing/2014/main" id="{09CCC50A-951A-4F43-B49A-7E1396271D09}"/>
              </a:ext>
            </a:extLst>
          </p:cNvPr>
          <p:cNvSpPr>
            <a:spLocks noGrp="1"/>
          </p:cNvSpPr>
          <p:nvPr>
            <p:ph idx="1"/>
          </p:nvPr>
        </p:nvSpPr>
        <p:spPr/>
        <p:txBody>
          <a:bodyPr/>
          <a:lstStyle/>
          <a:p>
            <a:r>
              <a:rPr kumimoji="1" lang="en-US" altLang="zh-CN" dirty="0"/>
              <a:t>ISA</a:t>
            </a:r>
          </a:p>
          <a:p>
            <a:r>
              <a:rPr kumimoji="1" lang="en-US" altLang="zh-CN" dirty="0"/>
              <a:t>Programming</a:t>
            </a:r>
            <a:r>
              <a:rPr kumimoji="1" lang="zh-CN" altLang="en-US" dirty="0"/>
              <a:t> </a:t>
            </a:r>
            <a:r>
              <a:rPr kumimoji="1" lang="en-US" altLang="zh-CN" dirty="0"/>
              <a:t>Languages</a:t>
            </a:r>
            <a:r>
              <a:rPr kumimoji="1" lang="zh-CN" altLang="en-US" dirty="0"/>
              <a:t> </a:t>
            </a:r>
            <a:r>
              <a:rPr kumimoji="1" lang="en-US" altLang="zh-CN" dirty="0"/>
              <a:t>(Compilers)</a:t>
            </a:r>
          </a:p>
          <a:p>
            <a:endParaRPr kumimoji="1" lang="en-US" altLang="zh-CN" dirty="0"/>
          </a:p>
          <a:p>
            <a:r>
              <a:rPr kumimoji="1" lang="en-US" altLang="zh-CN" dirty="0"/>
              <a:t>Process</a:t>
            </a:r>
            <a:r>
              <a:rPr kumimoji="1" lang="zh-CN" altLang="en-US" dirty="0"/>
              <a:t> </a:t>
            </a:r>
            <a:r>
              <a:rPr kumimoji="1" lang="en-US" altLang="zh-CN" dirty="0"/>
              <a:t>and</a:t>
            </a:r>
            <a:r>
              <a:rPr kumimoji="1" lang="zh-CN" altLang="en-US" dirty="0"/>
              <a:t> </a:t>
            </a:r>
            <a:r>
              <a:rPr kumimoji="1" lang="en-US" altLang="zh-CN" dirty="0"/>
              <a:t>threads</a:t>
            </a:r>
          </a:p>
          <a:p>
            <a:r>
              <a:rPr kumimoji="1" lang="en-US" altLang="zh-CN" dirty="0"/>
              <a:t>System</a:t>
            </a:r>
            <a:r>
              <a:rPr kumimoji="1" lang="zh-CN" altLang="en-US" dirty="0"/>
              <a:t> </a:t>
            </a:r>
            <a:r>
              <a:rPr kumimoji="1" lang="en-US" altLang="zh-CN" dirty="0"/>
              <a:t>calls</a:t>
            </a:r>
          </a:p>
          <a:p>
            <a:r>
              <a:rPr kumimoji="1" lang="en-US" altLang="zh-CN" dirty="0"/>
              <a:t>I/O</a:t>
            </a:r>
            <a:r>
              <a:rPr kumimoji="1" lang="zh-CN" altLang="en-US" dirty="0"/>
              <a:t> </a:t>
            </a:r>
            <a:r>
              <a:rPr kumimoji="1" lang="en-US" altLang="zh-CN" dirty="0"/>
              <a:t>primitives</a:t>
            </a:r>
            <a:r>
              <a:rPr kumimoji="1" lang="zh-CN" altLang="en-US" dirty="0"/>
              <a:t> </a:t>
            </a:r>
            <a:r>
              <a:rPr kumimoji="1" lang="en-US" altLang="zh-CN" dirty="0"/>
              <a:t>(memory</a:t>
            </a:r>
            <a:r>
              <a:rPr kumimoji="1" lang="zh-CN" altLang="en-US" dirty="0"/>
              <a:t> </a:t>
            </a:r>
            <a:r>
              <a:rPr kumimoji="1" lang="en-US" altLang="zh-CN" dirty="0"/>
              <a:t>map,</a:t>
            </a:r>
            <a:r>
              <a:rPr kumimoji="1" lang="zh-CN" altLang="en-US" dirty="0"/>
              <a:t> </a:t>
            </a:r>
            <a:r>
              <a:rPr kumimoji="1" lang="en-US" altLang="zh-CN" dirty="0"/>
              <a:t>DMA)</a:t>
            </a:r>
          </a:p>
          <a:p>
            <a:endParaRPr kumimoji="1" lang="en-US" altLang="zh-CN" dirty="0"/>
          </a:p>
          <a:p>
            <a:r>
              <a:rPr kumimoji="1" lang="en-US" altLang="zh-CN" dirty="0"/>
              <a:t>Virtual</a:t>
            </a:r>
            <a:r>
              <a:rPr kumimoji="1" lang="zh-CN" altLang="en-US" dirty="0"/>
              <a:t> </a:t>
            </a:r>
            <a:r>
              <a:rPr kumimoji="1" lang="en-US" altLang="zh-CN" dirty="0"/>
              <a:t>Memory</a:t>
            </a:r>
          </a:p>
          <a:p>
            <a:r>
              <a:rPr kumimoji="1" lang="en-US" altLang="zh-CN" dirty="0"/>
              <a:t>File</a:t>
            </a:r>
            <a:r>
              <a:rPr kumimoji="1" lang="zh-CN" altLang="en-US" dirty="0"/>
              <a:t> </a:t>
            </a:r>
            <a:r>
              <a:rPr kumimoji="1" lang="en-US" altLang="zh-CN" dirty="0"/>
              <a:t>Systems</a:t>
            </a:r>
          </a:p>
          <a:p>
            <a:r>
              <a:rPr kumimoji="1" lang="en-US" altLang="zh-CN" dirty="0"/>
              <a:t>Network</a:t>
            </a:r>
            <a:r>
              <a:rPr kumimoji="1" lang="zh-CN" altLang="en-US" dirty="0"/>
              <a:t> </a:t>
            </a:r>
            <a:r>
              <a:rPr kumimoji="1" lang="en-US" altLang="zh-CN" dirty="0"/>
              <a:t>stack</a:t>
            </a:r>
            <a:r>
              <a:rPr kumimoji="1" lang="zh-CN" altLang="en-US" dirty="0"/>
              <a:t> </a:t>
            </a:r>
            <a:r>
              <a:rPr kumimoji="1" lang="en-US" altLang="zh-CN" dirty="0"/>
              <a:t>(interfaces</a:t>
            </a:r>
            <a:r>
              <a:rPr kumimoji="1" lang="zh-CN" altLang="en-US" dirty="0"/>
              <a:t> </a:t>
            </a:r>
            <a:r>
              <a:rPr kumimoji="1" lang="en-US" altLang="zh-CN" dirty="0"/>
              <a:t>in</a:t>
            </a:r>
            <a:r>
              <a:rPr kumimoji="1" lang="zh-CN" altLang="en-US" dirty="0"/>
              <a:t> </a:t>
            </a:r>
            <a:r>
              <a:rPr kumimoji="1" lang="en-US" altLang="zh-CN" dirty="0"/>
              <a:t>layer</a:t>
            </a:r>
            <a:r>
              <a:rPr kumimoji="1" lang="zh-CN" altLang="en-US" dirty="0"/>
              <a:t> </a:t>
            </a:r>
            <a:r>
              <a:rPr kumimoji="1" lang="en-US" altLang="zh-CN" dirty="0"/>
              <a:t>2,</a:t>
            </a:r>
            <a:r>
              <a:rPr kumimoji="1" lang="zh-CN" altLang="en-US" dirty="0"/>
              <a:t> </a:t>
            </a:r>
            <a:r>
              <a:rPr kumimoji="1" lang="en-US" altLang="zh-CN" dirty="0"/>
              <a:t>3,</a:t>
            </a:r>
            <a:r>
              <a:rPr kumimoji="1" lang="zh-CN" altLang="en-US" dirty="0"/>
              <a:t> </a:t>
            </a:r>
            <a:r>
              <a:rPr kumimoji="1" lang="en-US" altLang="zh-CN" dirty="0"/>
              <a:t>4)</a:t>
            </a:r>
          </a:p>
          <a:p>
            <a:r>
              <a:rPr kumimoji="1" lang="en-US" altLang="zh-CN" dirty="0"/>
              <a:t>RPC</a:t>
            </a:r>
          </a:p>
          <a:p>
            <a:endParaRPr kumimoji="1" lang="en-US" altLang="zh-CN" dirty="0"/>
          </a:p>
          <a:p>
            <a:r>
              <a:rPr kumimoji="1" lang="en-US" altLang="zh-CN" dirty="0"/>
              <a:t>Databases</a:t>
            </a:r>
            <a:r>
              <a:rPr kumimoji="1" lang="zh-CN" altLang="en-US" dirty="0"/>
              <a:t> </a:t>
            </a:r>
            <a:r>
              <a:rPr kumimoji="1" lang="en-US" altLang="zh-CN" dirty="0"/>
              <a:t>-&gt;</a:t>
            </a:r>
            <a:r>
              <a:rPr kumimoji="1" lang="zh-CN" altLang="en-US" dirty="0"/>
              <a:t> </a:t>
            </a:r>
            <a:r>
              <a:rPr kumimoji="1" lang="en-US" altLang="zh-CN" dirty="0"/>
              <a:t>SQL</a:t>
            </a:r>
          </a:p>
          <a:p>
            <a:endParaRPr kumimoji="1" lang="en-US" altLang="zh-CN" dirty="0"/>
          </a:p>
          <a:p>
            <a:endParaRPr kumimoji="1" lang="en-US" altLang="zh-CN" dirty="0"/>
          </a:p>
          <a:p>
            <a:pPr marL="0" indent="0">
              <a:buNone/>
            </a:pPr>
            <a:endParaRPr kumimoji="1" lang="en-US" altLang="zh-CN" dirty="0"/>
          </a:p>
          <a:p>
            <a:endParaRPr kumimoji="1" lang="en-US" altLang="zh-CN" dirty="0"/>
          </a:p>
          <a:p>
            <a:endParaRPr kumimoji="1" lang="en-US" altLang="zh-CN" dirty="0"/>
          </a:p>
          <a:p>
            <a:endParaRPr kumimoji="1" lang="zh-CN" altLang="en-US" dirty="0"/>
          </a:p>
        </p:txBody>
      </p:sp>
    </p:spTree>
    <p:extLst>
      <p:ext uri="{BB962C8B-B14F-4D97-AF65-F5344CB8AC3E}">
        <p14:creationId xmlns:p14="http://schemas.microsoft.com/office/powerpoint/2010/main" val="163424261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9488A0-D81E-0B70-0441-7FA048ADFBF1}"/>
              </a:ext>
            </a:extLst>
          </p:cNvPr>
          <p:cNvSpPr>
            <a:spLocks noGrp="1"/>
          </p:cNvSpPr>
          <p:nvPr>
            <p:ph type="title"/>
          </p:nvPr>
        </p:nvSpPr>
        <p:spPr>
          <a:xfrm>
            <a:off x="990600" y="228600"/>
            <a:ext cx="7543800" cy="533400"/>
          </a:xfrm>
        </p:spPr>
        <p:txBody>
          <a:bodyPr/>
          <a:lstStyle/>
          <a:p>
            <a:r>
              <a:rPr kumimoji="1" lang="en-US" altLang="zh-CN" dirty="0"/>
              <a:t>Design</a:t>
            </a:r>
            <a:r>
              <a:rPr kumimoji="1" lang="zh-CN" altLang="en-US" dirty="0"/>
              <a:t> </a:t>
            </a:r>
            <a:r>
              <a:rPr kumimoji="1" lang="en-US" altLang="zh-CN" dirty="0"/>
              <a:t>principles</a:t>
            </a:r>
            <a:r>
              <a:rPr kumimoji="1" lang="zh-CN" altLang="en-US" dirty="0"/>
              <a:t> </a:t>
            </a:r>
            <a:r>
              <a:rPr kumimoji="1" lang="en-US" altLang="zh-CN" dirty="0"/>
              <a:t>for</a:t>
            </a:r>
            <a:r>
              <a:rPr kumimoji="1" lang="zh-CN" altLang="en-US" dirty="0"/>
              <a:t> </a:t>
            </a:r>
            <a:r>
              <a:rPr kumimoji="1" lang="en-US" altLang="zh-CN" dirty="0"/>
              <a:t>a</a:t>
            </a:r>
            <a:r>
              <a:rPr kumimoji="1" lang="zh-CN" altLang="en-US" dirty="0"/>
              <a:t> </a:t>
            </a:r>
            <a:r>
              <a:rPr kumimoji="1" lang="en-US" altLang="zh-CN" dirty="0"/>
              <a:t>good</a:t>
            </a:r>
            <a:r>
              <a:rPr kumimoji="1" lang="zh-CN" altLang="en-US" dirty="0"/>
              <a:t> </a:t>
            </a:r>
            <a:r>
              <a:rPr kumimoji="1" lang="en-US" altLang="zh-CN" dirty="0"/>
              <a:t>interface</a:t>
            </a:r>
            <a:endParaRPr kumimoji="1" lang="zh-CN" altLang="en-US" dirty="0"/>
          </a:p>
        </p:txBody>
      </p:sp>
      <p:sp>
        <p:nvSpPr>
          <p:cNvPr id="4" name="标题 1">
            <a:extLst>
              <a:ext uri="{FF2B5EF4-FFF2-40B4-BE49-F238E27FC236}">
                <a16:creationId xmlns:a16="http://schemas.microsoft.com/office/drawing/2014/main" id="{126853C7-BF31-4BAA-DED6-CEC3100C9F56}"/>
              </a:ext>
            </a:extLst>
          </p:cNvPr>
          <p:cNvSpPr>
            <a:spLocks noGrp="1"/>
          </p:cNvSpPr>
          <p:nvPr>
            <p:ph idx="1"/>
          </p:nvPr>
        </p:nvSpPr>
        <p:spPr/>
        <p:txBody>
          <a:bodyPr/>
          <a:lstStyle/>
          <a:p>
            <a:r>
              <a:rPr kumimoji="1" lang="en-US" altLang="zh-CN" dirty="0"/>
              <a:t>Functionality</a:t>
            </a:r>
            <a:r>
              <a:rPr kumimoji="1" lang="zh-CN" altLang="en-US" dirty="0"/>
              <a:t> </a:t>
            </a:r>
            <a:r>
              <a:rPr kumimoji="1" lang="en-US" altLang="zh-CN" dirty="0"/>
              <a:t>/</a:t>
            </a:r>
            <a:r>
              <a:rPr kumimoji="1" lang="zh-CN" altLang="en-US" dirty="0"/>
              <a:t> </a:t>
            </a:r>
            <a:r>
              <a:rPr kumimoji="1" lang="en-US" altLang="zh-CN" dirty="0"/>
              <a:t>flexibility</a:t>
            </a:r>
            <a:r>
              <a:rPr kumimoji="1" lang="zh-CN" altLang="en-US" dirty="0"/>
              <a:t> </a:t>
            </a:r>
            <a:r>
              <a:rPr kumimoji="1" lang="en-US" altLang="zh-CN" dirty="0"/>
              <a:t>/</a:t>
            </a:r>
            <a:r>
              <a:rPr kumimoji="1" lang="zh-CN" altLang="en-US" dirty="0"/>
              <a:t> </a:t>
            </a:r>
            <a:r>
              <a:rPr kumimoji="1" lang="en-US" altLang="zh-CN" dirty="0"/>
              <a:t>portability</a:t>
            </a:r>
            <a:r>
              <a:rPr kumimoji="1" lang="zh-CN" altLang="en-US" dirty="0"/>
              <a:t> </a:t>
            </a:r>
            <a:r>
              <a:rPr kumimoji="1" lang="en-US" altLang="zh-CN" dirty="0"/>
              <a:t>/</a:t>
            </a:r>
            <a:r>
              <a:rPr kumimoji="1" lang="zh-CN" altLang="en-US" dirty="0"/>
              <a:t> </a:t>
            </a:r>
            <a:r>
              <a:rPr kumimoji="1" lang="en-US" altLang="zh-CN" dirty="0"/>
              <a:t>easy</a:t>
            </a:r>
            <a:r>
              <a:rPr kumimoji="1" lang="zh-CN" altLang="en-US" dirty="0"/>
              <a:t> </a:t>
            </a:r>
            <a:r>
              <a:rPr kumimoji="1" lang="en-US" altLang="zh-CN" dirty="0"/>
              <a:t>to</a:t>
            </a:r>
            <a:r>
              <a:rPr kumimoji="1" lang="zh-CN" altLang="en-US" dirty="0"/>
              <a:t> </a:t>
            </a:r>
            <a:r>
              <a:rPr kumimoji="1" lang="en-US" altLang="zh-CN" dirty="0"/>
              <a:t>use</a:t>
            </a:r>
          </a:p>
          <a:p>
            <a:pPr lvl="1"/>
            <a:r>
              <a:rPr kumimoji="1" lang="en-US" altLang="zh-CN" dirty="0"/>
              <a:t>Do</a:t>
            </a:r>
            <a:r>
              <a:rPr kumimoji="1" lang="zh-CN" altLang="en-US" dirty="0"/>
              <a:t> </a:t>
            </a:r>
            <a:r>
              <a:rPr kumimoji="1" lang="en-US" altLang="zh-CN" dirty="0"/>
              <a:t>one</a:t>
            </a:r>
            <a:r>
              <a:rPr kumimoji="1" lang="zh-CN" altLang="en-US" dirty="0"/>
              <a:t> </a:t>
            </a:r>
            <a:r>
              <a:rPr kumimoji="1" lang="en-US" altLang="zh-CN" dirty="0"/>
              <a:t>thing</a:t>
            </a:r>
            <a:r>
              <a:rPr kumimoji="1" lang="zh-CN" altLang="en-US" dirty="0"/>
              <a:t> </a:t>
            </a:r>
            <a:r>
              <a:rPr kumimoji="1" lang="en-US" altLang="zh-CN" dirty="0"/>
              <a:t>well</a:t>
            </a:r>
          </a:p>
          <a:p>
            <a:pPr lvl="1"/>
            <a:r>
              <a:rPr kumimoji="1" lang="en-US" altLang="zh-CN" dirty="0"/>
              <a:t>Use</a:t>
            </a:r>
            <a:r>
              <a:rPr kumimoji="1" lang="zh-CN" altLang="en-US" dirty="0"/>
              <a:t> </a:t>
            </a:r>
            <a:r>
              <a:rPr kumimoji="1" lang="en-US" altLang="zh-CN" dirty="0"/>
              <a:t>a</a:t>
            </a:r>
            <a:r>
              <a:rPr kumimoji="1" lang="zh-CN" altLang="en-US" dirty="0"/>
              <a:t> </a:t>
            </a:r>
            <a:r>
              <a:rPr kumimoji="1" lang="en-US" altLang="zh-CN" dirty="0"/>
              <a:t>good</a:t>
            </a:r>
            <a:r>
              <a:rPr kumimoji="1" lang="zh-CN" altLang="en-US" dirty="0"/>
              <a:t> </a:t>
            </a:r>
            <a:r>
              <a:rPr kumimoji="1" lang="en-US" altLang="zh-CN" dirty="0"/>
              <a:t>idea</a:t>
            </a:r>
            <a:r>
              <a:rPr kumimoji="1" lang="zh-CN" altLang="en-US" dirty="0"/>
              <a:t> </a:t>
            </a:r>
            <a:r>
              <a:rPr kumimoji="1" lang="en-US" altLang="zh-CN" dirty="0"/>
              <a:t>again,</a:t>
            </a:r>
            <a:r>
              <a:rPr kumimoji="1" lang="zh-CN" altLang="en-US" dirty="0"/>
              <a:t> </a:t>
            </a:r>
            <a:r>
              <a:rPr kumimoji="1" lang="en-US" altLang="zh-CN" dirty="0"/>
              <a:t>but</a:t>
            </a:r>
            <a:r>
              <a:rPr kumimoji="1" lang="zh-CN" altLang="en-US" dirty="0"/>
              <a:t> </a:t>
            </a:r>
            <a:r>
              <a:rPr kumimoji="1" lang="en-US" altLang="zh-CN" dirty="0"/>
              <a:t>do</a:t>
            </a:r>
            <a:r>
              <a:rPr kumimoji="1" lang="zh-CN" altLang="en-US" dirty="0"/>
              <a:t> </a:t>
            </a:r>
            <a:r>
              <a:rPr kumimoji="1" lang="en-US" altLang="zh-CN" dirty="0"/>
              <a:t>not</a:t>
            </a:r>
            <a:r>
              <a:rPr kumimoji="1" lang="zh-CN" altLang="en-US" dirty="0"/>
              <a:t> </a:t>
            </a:r>
            <a:r>
              <a:rPr kumimoji="1" lang="en-US" altLang="zh-CN" dirty="0"/>
              <a:t>generalize</a:t>
            </a:r>
          </a:p>
          <a:p>
            <a:pPr lvl="1"/>
            <a:r>
              <a:rPr kumimoji="1" lang="en-US" altLang="zh-CN" dirty="0"/>
              <a:t>Stay</a:t>
            </a:r>
            <a:r>
              <a:rPr kumimoji="1" lang="zh-CN" altLang="en-US" dirty="0"/>
              <a:t> </a:t>
            </a:r>
            <a:r>
              <a:rPr kumimoji="1" lang="en-US" altLang="zh-CN" dirty="0"/>
              <a:t>stable</a:t>
            </a:r>
          </a:p>
          <a:p>
            <a:r>
              <a:rPr kumimoji="1" lang="en-US" altLang="zh-CN" dirty="0"/>
              <a:t>Performance</a:t>
            </a:r>
          </a:p>
          <a:p>
            <a:pPr lvl="1"/>
            <a:r>
              <a:rPr kumimoji="1" lang="en-US" altLang="zh-CN" dirty="0"/>
              <a:t>Static</a:t>
            </a:r>
            <a:r>
              <a:rPr kumimoji="1" lang="zh-CN" altLang="en-US" dirty="0"/>
              <a:t> </a:t>
            </a:r>
            <a:r>
              <a:rPr kumimoji="1" lang="en-US" altLang="zh-CN" dirty="0"/>
              <a:t>analysis</a:t>
            </a:r>
          </a:p>
          <a:p>
            <a:pPr lvl="1"/>
            <a:r>
              <a:rPr kumimoji="1" lang="en-US" altLang="zh-CN" dirty="0"/>
              <a:t>Dynamic</a:t>
            </a:r>
            <a:r>
              <a:rPr kumimoji="1" lang="zh-CN" altLang="en-US" dirty="0"/>
              <a:t> </a:t>
            </a:r>
            <a:r>
              <a:rPr kumimoji="1" lang="en-US" altLang="zh-CN" dirty="0"/>
              <a:t>translation</a:t>
            </a:r>
            <a:r>
              <a:rPr kumimoji="1" lang="zh-CN" altLang="en-US" dirty="0"/>
              <a:t> </a:t>
            </a:r>
            <a:r>
              <a:rPr kumimoji="1" lang="en-US" altLang="zh-CN" dirty="0"/>
              <a:t>(i.e.</a:t>
            </a:r>
            <a:r>
              <a:rPr kumimoji="1" lang="zh-CN" altLang="en-US" dirty="0"/>
              <a:t> </a:t>
            </a:r>
            <a:r>
              <a:rPr kumimoji="1" lang="en-US" altLang="zh-CN" dirty="0"/>
              <a:t>indirection)</a:t>
            </a:r>
          </a:p>
          <a:p>
            <a:pPr lvl="1"/>
            <a:r>
              <a:rPr kumimoji="1" lang="en-US" altLang="zh-CN" dirty="0"/>
              <a:t>Asynchronous</a:t>
            </a:r>
            <a:r>
              <a:rPr kumimoji="1" lang="zh-CN" altLang="en-US" dirty="0"/>
              <a:t> </a:t>
            </a:r>
            <a:r>
              <a:rPr kumimoji="1" lang="en-US" altLang="zh-CN" dirty="0"/>
              <a:t>(background)</a:t>
            </a:r>
            <a:r>
              <a:rPr kumimoji="1" lang="zh-CN" altLang="en-US" dirty="0"/>
              <a:t> </a:t>
            </a:r>
            <a:r>
              <a:rPr kumimoji="1" lang="en-US" altLang="zh-CN" dirty="0"/>
              <a:t>tasks</a:t>
            </a:r>
          </a:p>
          <a:p>
            <a:r>
              <a:rPr kumimoji="1" lang="en-US" altLang="zh-CN" dirty="0"/>
              <a:t>Reliability</a:t>
            </a:r>
          </a:p>
          <a:p>
            <a:pPr lvl="1"/>
            <a:r>
              <a:rPr kumimoji="1" lang="en-US" altLang="zh-CN" dirty="0"/>
              <a:t>Log</a:t>
            </a:r>
            <a:r>
              <a:rPr kumimoji="1" lang="zh-CN" altLang="en-US" dirty="0"/>
              <a:t> </a:t>
            </a:r>
            <a:r>
              <a:rPr kumimoji="1" lang="en-US" altLang="zh-CN" dirty="0"/>
              <a:t>updates</a:t>
            </a:r>
          </a:p>
          <a:p>
            <a:pPr lvl="1"/>
            <a:r>
              <a:rPr kumimoji="1" lang="en-US" altLang="zh-CN" dirty="0"/>
              <a:t>Atomic</a:t>
            </a:r>
            <a:r>
              <a:rPr kumimoji="1" lang="zh-CN" altLang="en-US" dirty="0"/>
              <a:t> </a:t>
            </a:r>
            <a:r>
              <a:rPr kumimoji="1" lang="en-US" altLang="zh-CN" dirty="0"/>
              <a:t>operations</a:t>
            </a:r>
            <a:endParaRPr kumimoji="1" lang="zh-CN" altLang="en-US" dirty="0"/>
          </a:p>
        </p:txBody>
      </p:sp>
    </p:spTree>
    <p:extLst>
      <p:ext uri="{BB962C8B-B14F-4D97-AF65-F5344CB8AC3E}">
        <p14:creationId xmlns:p14="http://schemas.microsoft.com/office/powerpoint/2010/main" val="385337609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25BA9-BB51-2547-A67B-B9CFE9231082}"/>
              </a:ext>
            </a:extLst>
          </p:cNvPr>
          <p:cNvSpPr>
            <a:spLocks noGrp="1"/>
          </p:cNvSpPr>
          <p:nvPr>
            <p:ph type="title"/>
          </p:nvPr>
        </p:nvSpPr>
        <p:spPr/>
        <p:txBody>
          <a:bodyPr/>
          <a:lstStyle/>
          <a:p>
            <a:r>
              <a:rPr kumimoji="1" lang="en-US" altLang="zh-CN" dirty="0"/>
              <a:t>Interface</a:t>
            </a:r>
            <a:endParaRPr kumimoji="1" lang="zh-CN" altLang="en-US" dirty="0"/>
          </a:p>
        </p:txBody>
      </p:sp>
      <p:sp>
        <p:nvSpPr>
          <p:cNvPr id="3" name="文本占位符 2">
            <a:extLst>
              <a:ext uri="{FF2B5EF4-FFF2-40B4-BE49-F238E27FC236}">
                <a16:creationId xmlns:a16="http://schemas.microsoft.com/office/drawing/2014/main" id="{A88FE518-C29E-164D-A021-6998B83F7BA0}"/>
              </a:ext>
            </a:extLst>
          </p:cNvPr>
          <p:cNvSpPr>
            <a:spLocks noGrp="1"/>
          </p:cNvSpPr>
          <p:nvPr>
            <p:ph type="body" idx="1"/>
          </p:nvPr>
        </p:nvSpPr>
        <p:spPr>
          <a:xfrm>
            <a:off x="762000" y="5105400"/>
            <a:ext cx="7772400" cy="533400"/>
          </a:xfrm>
        </p:spPr>
        <p:txBody>
          <a:bodyPr/>
          <a:lstStyle/>
          <a:p>
            <a:r>
              <a:rPr kumimoji="1" lang="en-US" altLang="zh-CN" dirty="0"/>
              <a:t>Functionality</a:t>
            </a:r>
            <a:r>
              <a:rPr kumimoji="1" lang="zh-CN" altLang="en-US" dirty="0"/>
              <a:t> </a:t>
            </a:r>
            <a:r>
              <a:rPr kumimoji="1" lang="en-US" altLang="zh-CN" dirty="0"/>
              <a:t>/</a:t>
            </a:r>
            <a:r>
              <a:rPr kumimoji="1" lang="zh-CN" altLang="en-US" dirty="0"/>
              <a:t> </a:t>
            </a:r>
            <a:r>
              <a:rPr kumimoji="1" lang="en-US" altLang="zh-CN" dirty="0"/>
              <a:t>design</a:t>
            </a:r>
            <a:endParaRPr kumimoji="1" lang="zh-CN" altLang="en-US" dirty="0"/>
          </a:p>
        </p:txBody>
      </p:sp>
    </p:spTree>
    <p:extLst>
      <p:ext uri="{BB962C8B-B14F-4D97-AF65-F5344CB8AC3E}">
        <p14:creationId xmlns:p14="http://schemas.microsoft.com/office/powerpoint/2010/main" val="262076636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51608380-37A6-6AF0-44C4-6A4FF0438F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E66F9982-B12E-4716-7EEC-CFA5A1677E3F}"/>
              </a:ext>
            </a:extLst>
          </p:cNvPr>
          <p:cNvSpPr/>
          <p:nvPr/>
        </p:nvSpPr>
        <p:spPr bwMode="auto">
          <a:xfrm rot="1127902">
            <a:off x="5350076" y="591314"/>
            <a:ext cx="3733800" cy="991239"/>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Do</a:t>
            </a:r>
            <a:r>
              <a:rPr kumimoji="1" lang="zh-CN" altLang="en-US" b="0" dirty="0">
                <a:latin typeface="Helvetica"/>
                <a:cs typeface="Helvetica"/>
              </a:rPr>
              <a:t> </a:t>
            </a:r>
            <a:r>
              <a:rPr kumimoji="1" lang="en-US" altLang="zh-CN" b="0" dirty="0">
                <a:latin typeface="Helvetica"/>
                <a:cs typeface="Helvetica"/>
              </a:rPr>
              <a:t>one</a:t>
            </a:r>
            <a:r>
              <a:rPr kumimoji="1" lang="zh-CN" altLang="en-US" b="0" dirty="0">
                <a:latin typeface="Helvetica"/>
                <a:cs typeface="Helvetica"/>
              </a:rPr>
              <a:t> </a:t>
            </a:r>
            <a:r>
              <a:rPr kumimoji="1" lang="en-US" altLang="zh-CN" b="0" dirty="0">
                <a:latin typeface="Helvetica"/>
                <a:cs typeface="Helvetica"/>
              </a:rPr>
              <a:t>thing</a:t>
            </a:r>
            <a:r>
              <a:rPr kumimoji="1" lang="zh-CN" altLang="en-US" b="0" dirty="0">
                <a:latin typeface="Helvetica"/>
                <a:cs typeface="Helvetica"/>
              </a:rPr>
              <a:t> </a:t>
            </a:r>
            <a:r>
              <a:rPr kumimoji="1" lang="en-US" altLang="zh-CN" b="0" dirty="0">
                <a:latin typeface="Helvetica"/>
                <a:cs typeface="Helvetica"/>
              </a:rPr>
              <a:t>well</a:t>
            </a:r>
          </a:p>
          <a:p>
            <a:pPr algn="ctr"/>
            <a:r>
              <a:rPr kumimoji="1" lang="en-US" altLang="zh-CN" b="0" dirty="0">
                <a:latin typeface="Helvetica"/>
                <a:cs typeface="Helvetica"/>
              </a:rPr>
              <a:t>Keep</a:t>
            </a:r>
            <a:r>
              <a:rPr kumimoji="1" lang="zh-CN" altLang="en-US" b="0" dirty="0">
                <a:latin typeface="Helvetica"/>
                <a:cs typeface="Helvetica"/>
              </a:rPr>
              <a:t> </a:t>
            </a:r>
            <a:r>
              <a:rPr kumimoji="1" lang="en-US" altLang="zh-CN" b="0" dirty="0">
                <a:latin typeface="Helvetica"/>
                <a:cs typeface="Helvetica"/>
              </a:rPr>
              <a:t>Stable</a:t>
            </a:r>
            <a:r>
              <a:rPr kumimoji="1" lang="zh-CN" altLang="en-US" b="0" dirty="0">
                <a:latin typeface="Helvetica"/>
                <a:cs typeface="Helvetica"/>
              </a:rPr>
              <a:t> </a:t>
            </a:r>
          </a:p>
        </p:txBody>
      </p:sp>
      <p:sp>
        <p:nvSpPr>
          <p:cNvPr id="5" name="圆角矩形 4">
            <a:extLst>
              <a:ext uri="{FF2B5EF4-FFF2-40B4-BE49-F238E27FC236}">
                <a16:creationId xmlns:a16="http://schemas.microsoft.com/office/drawing/2014/main" id="{F5A0EAE1-99EA-A710-2B34-57D4AC8BDAB0}"/>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endParaRPr kumimoji="1" lang="zh-CN" altLang="en-US" b="0" dirty="0">
              <a:latin typeface="Helvetica"/>
              <a:cs typeface="Helvetica"/>
            </a:endParaRPr>
          </a:p>
        </p:txBody>
      </p:sp>
    </p:spTree>
    <p:extLst>
      <p:ext uri="{BB962C8B-B14F-4D97-AF65-F5344CB8AC3E}">
        <p14:creationId xmlns:p14="http://schemas.microsoft.com/office/powerpoint/2010/main" val="286430603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E77F49-80D1-6047-BAE8-D847A9323A11}"/>
              </a:ext>
            </a:extLst>
          </p:cNvPr>
          <p:cNvSpPr>
            <a:spLocks noGrp="1"/>
          </p:cNvSpPr>
          <p:nvPr>
            <p:ph type="title"/>
          </p:nvPr>
        </p:nvSpPr>
        <p:spPr/>
        <p:txBody>
          <a:bodyPr>
            <a:normAutofit/>
          </a:bodyPr>
          <a:lstStyle/>
          <a:p>
            <a:r>
              <a:rPr kumimoji="1" lang="en-US" altLang="zh-CN" dirty="0"/>
              <a:t>Great</a:t>
            </a:r>
            <a:r>
              <a:rPr kumimoji="1" lang="zh-CN" altLang="en-US" dirty="0"/>
              <a:t> </a:t>
            </a:r>
            <a:r>
              <a:rPr kumimoji="1" lang="en-US" altLang="zh-CN" dirty="0"/>
              <a:t>design</a:t>
            </a:r>
            <a:r>
              <a:rPr kumimoji="1" lang="zh-CN" altLang="en-US" dirty="0"/>
              <a:t> </a:t>
            </a:r>
            <a:r>
              <a:rPr kumimoji="1" lang="en-US" altLang="zh-CN" dirty="0"/>
              <a:t>of</a:t>
            </a:r>
            <a:r>
              <a:rPr kumimoji="1" lang="zh-CN" altLang="en-US" dirty="0"/>
              <a:t> </a:t>
            </a:r>
            <a:r>
              <a:rPr kumimoji="1" lang="en-US" altLang="zh-CN" dirty="0"/>
              <a:t>the</a:t>
            </a:r>
            <a:r>
              <a:rPr kumimoji="1" lang="zh-CN" altLang="en-US" dirty="0"/>
              <a:t> </a:t>
            </a:r>
            <a:r>
              <a:rPr kumimoji="1" lang="en-US" altLang="zh-CN" dirty="0"/>
              <a:t>Unix</a:t>
            </a:r>
            <a:r>
              <a:rPr kumimoji="1" lang="zh-CN" altLang="en-US" dirty="0"/>
              <a:t> </a:t>
            </a:r>
            <a:r>
              <a:rPr kumimoji="1" lang="en-US" altLang="zh-CN" dirty="0"/>
              <a:t>shell</a:t>
            </a:r>
            <a:endParaRPr kumimoji="1" lang="zh-CN" altLang="en-US" dirty="0"/>
          </a:p>
        </p:txBody>
      </p:sp>
      <p:sp>
        <p:nvSpPr>
          <p:cNvPr id="3" name="内容占位符 2">
            <a:extLst>
              <a:ext uri="{FF2B5EF4-FFF2-40B4-BE49-F238E27FC236}">
                <a16:creationId xmlns:a16="http://schemas.microsoft.com/office/drawing/2014/main" id="{F741D6D2-23B3-4A44-8488-4E0479153C64}"/>
              </a:ext>
            </a:extLst>
          </p:cNvPr>
          <p:cNvSpPr>
            <a:spLocks noGrp="1"/>
          </p:cNvSpPr>
          <p:nvPr>
            <p:ph idx="1"/>
          </p:nvPr>
        </p:nvSpPr>
        <p:spPr>
          <a:xfrm>
            <a:off x="609600" y="914400"/>
            <a:ext cx="8229600" cy="5486400"/>
          </a:xfrm>
        </p:spPr>
        <p:txBody>
          <a:bodyPr>
            <a:normAutofit fontScale="92500" lnSpcReduction="10000"/>
          </a:bodyPr>
          <a:lstStyle/>
          <a:p>
            <a:r>
              <a:rPr kumimoji="1" lang="en-US" altLang="zh-CN" dirty="0"/>
              <a:t>Building</a:t>
            </a:r>
            <a:r>
              <a:rPr kumimoji="1" lang="zh-CN" altLang="en-US" dirty="0"/>
              <a:t> </a:t>
            </a:r>
            <a:r>
              <a:rPr kumimoji="1" lang="en-US" altLang="zh-CN" dirty="0"/>
              <a:t>very</a:t>
            </a:r>
            <a:r>
              <a:rPr kumimoji="1" lang="zh-CN" altLang="en-US" dirty="0"/>
              <a:t> </a:t>
            </a:r>
            <a:r>
              <a:rPr kumimoji="1" lang="en-US" altLang="zh-CN" dirty="0"/>
              <a:t>basic</a:t>
            </a:r>
            <a:r>
              <a:rPr kumimoji="1" lang="zh-CN" altLang="en-US" dirty="0"/>
              <a:t> </a:t>
            </a:r>
            <a:r>
              <a:rPr kumimoji="1" lang="en-US" altLang="zh-CN" dirty="0"/>
              <a:t>tools</a:t>
            </a:r>
          </a:p>
          <a:p>
            <a:pPr lvl="1"/>
            <a:r>
              <a:rPr kumimoji="1" lang="en-US" altLang="zh-CN" dirty="0"/>
              <a:t>Do</a:t>
            </a:r>
            <a:r>
              <a:rPr kumimoji="1" lang="zh-CN" altLang="en-US" dirty="0"/>
              <a:t> </a:t>
            </a:r>
            <a:r>
              <a:rPr kumimoji="1" lang="en-US" altLang="zh-CN" dirty="0"/>
              <a:t>one</a:t>
            </a:r>
            <a:r>
              <a:rPr kumimoji="1" lang="zh-CN" altLang="en-US" dirty="0"/>
              <a:t> </a:t>
            </a:r>
            <a:r>
              <a:rPr kumimoji="1" lang="en-US" altLang="zh-CN" dirty="0"/>
              <a:t>(or</a:t>
            </a:r>
            <a:r>
              <a:rPr kumimoji="1" lang="zh-CN" altLang="en-US" dirty="0"/>
              <a:t> </a:t>
            </a:r>
            <a:r>
              <a:rPr kumimoji="1" lang="en-US" altLang="zh-CN" dirty="0"/>
              <a:t>more)</a:t>
            </a:r>
            <a:r>
              <a:rPr kumimoji="1" lang="zh-CN" altLang="en-US" dirty="0"/>
              <a:t> </a:t>
            </a:r>
            <a:r>
              <a:rPr kumimoji="1" lang="en-US" altLang="zh-CN" dirty="0"/>
              <a:t>thing,</a:t>
            </a:r>
            <a:r>
              <a:rPr kumimoji="1" lang="zh-CN" altLang="en-US" dirty="0"/>
              <a:t> </a:t>
            </a:r>
            <a:r>
              <a:rPr kumimoji="1" lang="en-US" altLang="zh-CN" dirty="0"/>
              <a:t>and</a:t>
            </a:r>
            <a:r>
              <a:rPr kumimoji="1" lang="zh-CN" altLang="en-US" dirty="0"/>
              <a:t> </a:t>
            </a:r>
            <a:r>
              <a:rPr kumimoji="1" lang="en-US" altLang="zh-CN" dirty="0"/>
              <a:t>do</a:t>
            </a:r>
            <a:r>
              <a:rPr kumimoji="1" lang="zh-CN" altLang="en-US" dirty="0"/>
              <a:t> </a:t>
            </a:r>
            <a:r>
              <a:rPr kumimoji="1" lang="en-US" altLang="zh-CN" dirty="0"/>
              <a:t>it</a:t>
            </a:r>
            <a:r>
              <a:rPr kumimoji="1" lang="zh-CN" altLang="en-US" dirty="0"/>
              <a:t> </a:t>
            </a:r>
            <a:r>
              <a:rPr kumimoji="1" lang="en-US" altLang="zh-CN" dirty="0"/>
              <a:t>well</a:t>
            </a:r>
          </a:p>
          <a:p>
            <a:r>
              <a:rPr kumimoji="1" lang="en-US" altLang="zh-CN" dirty="0"/>
              <a:t>Connecting</a:t>
            </a:r>
            <a:r>
              <a:rPr kumimoji="1" lang="zh-CN" altLang="en-US" dirty="0"/>
              <a:t> </a:t>
            </a:r>
            <a:r>
              <a:rPr kumimoji="1" lang="en-US" altLang="zh-CN" dirty="0"/>
              <a:t>these</a:t>
            </a:r>
            <a:r>
              <a:rPr kumimoji="1" lang="zh-CN" altLang="en-US" dirty="0"/>
              <a:t> </a:t>
            </a:r>
            <a:r>
              <a:rPr kumimoji="1" lang="en-US" altLang="zh-CN" dirty="0"/>
              <a:t>tools</a:t>
            </a:r>
            <a:r>
              <a:rPr kumimoji="1" lang="zh-CN" altLang="en-US" dirty="0"/>
              <a:t> </a:t>
            </a:r>
            <a:r>
              <a:rPr kumimoji="1" lang="en-US" altLang="zh-CN" dirty="0"/>
              <a:t>into</a:t>
            </a:r>
            <a:r>
              <a:rPr kumimoji="1" lang="zh-CN" altLang="en-US" dirty="0"/>
              <a:t> </a:t>
            </a:r>
            <a:r>
              <a:rPr kumimoji="1" lang="en-US" altLang="zh-CN" dirty="0"/>
              <a:t>a</a:t>
            </a:r>
            <a:r>
              <a:rPr kumimoji="1" lang="zh-CN" altLang="en-US" dirty="0"/>
              <a:t> </a:t>
            </a:r>
            <a:r>
              <a:rPr kumimoji="1" lang="en-US" altLang="zh-CN" dirty="0"/>
              <a:t>powerful</a:t>
            </a:r>
            <a:r>
              <a:rPr kumimoji="1" lang="zh-CN" altLang="en-US" dirty="0"/>
              <a:t> </a:t>
            </a:r>
            <a:r>
              <a:rPr kumimoji="1" lang="en-US" altLang="zh-CN" dirty="0"/>
              <a:t>and</a:t>
            </a:r>
            <a:r>
              <a:rPr kumimoji="1" lang="zh-CN" altLang="en-US" dirty="0"/>
              <a:t> </a:t>
            </a:r>
            <a:r>
              <a:rPr kumimoji="1" lang="en-US" altLang="zh-CN" dirty="0"/>
              <a:t>customizable</a:t>
            </a:r>
            <a:r>
              <a:rPr kumimoji="1" lang="zh-CN" altLang="en-US" dirty="0"/>
              <a:t> </a:t>
            </a:r>
            <a:r>
              <a:rPr kumimoji="1" lang="en-US" altLang="zh-CN" dirty="0"/>
              <a:t>system</a:t>
            </a:r>
          </a:p>
          <a:p>
            <a:r>
              <a:rPr kumimoji="1" lang="en-US" altLang="zh-CN" dirty="0"/>
              <a:t>Need</a:t>
            </a:r>
            <a:r>
              <a:rPr kumimoji="1" lang="zh-CN" altLang="en-US" dirty="0"/>
              <a:t> </a:t>
            </a:r>
            <a:r>
              <a:rPr kumimoji="1" lang="en-US" altLang="zh-CN" dirty="0"/>
              <a:t>an</a:t>
            </a:r>
            <a:r>
              <a:rPr kumimoji="1" lang="zh-CN" altLang="en-US" dirty="0"/>
              <a:t> </a:t>
            </a:r>
            <a:r>
              <a:rPr kumimoji="1" lang="en-US" altLang="zh-CN" dirty="0"/>
              <a:t>programming</a:t>
            </a:r>
            <a:r>
              <a:rPr kumimoji="1" lang="zh-CN" altLang="en-US" dirty="0"/>
              <a:t> </a:t>
            </a:r>
            <a:r>
              <a:rPr kumimoji="1" lang="en-US" altLang="zh-CN" dirty="0"/>
              <a:t>language!</a:t>
            </a:r>
          </a:p>
          <a:p>
            <a:pPr lvl="1"/>
            <a:r>
              <a:rPr kumimoji="1" lang="en-US" altLang="zh-CN" dirty="0"/>
              <a:t>Scripts</a:t>
            </a:r>
          </a:p>
          <a:p>
            <a:pPr lvl="1"/>
            <a:r>
              <a:rPr kumimoji="1" lang="en-US" altLang="zh-CN" dirty="0"/>
              <a:t>Connects output of one command to the next</a:t>
            </a:r>
          </a:p>
          <a:p>
            <a:r>
              <a:rPr kumimoji="1" lang="en-US" altLang="zh-CN" dirty="0"/>
              <a:t>Idea</a:t>
            </a:r>
          </a:p>
          <a:p>
            <a:pPr lvl="1"/>
            <a:r>
              <a:rPr kumimoji="1" lang="en-US" altLang="zh-CN" dirty="0"/>
              <a:t>Interpreted</a:t>
            </a:r>
            <a:r>
              <a:rPr kumimoji="1" lang="zh-CN" altLang="en-US" dirty="0"/>
              <a:t> </a:t>
            </a:r>
            <a:r>
              <a:rPr kumimoji="1" lang="en-US" altLang="zh-CN" dirty="0"/>
              <a:t>language</a:t>
            </a:r>
          </a:p>
          <a:p>
            <a:pPr lvl="1"/>
            <a:r>
              <a:rPr kumimoji="1" lang="en-US" altLang="zh-CN" dirty="0"/>
              <a:t>Everything</a:t>
            </a:r>
            <a:r>
              <a:rPr kumimoji="1" lang="zh-CN" altLang="en-US" dirty="0"/>
              <a:t> </a:t>
            </a:r>
            <a:r>
              <a:rPr kumimoji="1" lang="en-US" altLang="zh-CN" dirty="0"/>
              <a:t>originally</a:t>
            </a:r>
            <a:r>
              <a:rPr kumimoji="1" lang="zh-CN" altLang="en-US" dirty="0"/>
              <a:t> </a:t>
            </a:r>
            <a:r>
              <a:rPr kumimoji="1" lang="en-US" altLang="zh-CN" dirty="0"/>
              <a:t>is</a:t>
            </a:r>
            <a:r>
              <a:rPr kumimoji="1" lang="zh-CN" altLang="en-US" dirty="0"/>
              <a:t> </a:t>
            </a:r>
            <a:r>
              <a:rPr kumimoji="1" lang="en-US" altLang="zh-CN" dirty="0"/>
              <a:t>a</a:t>
            </a:r>
            <a:r>
              <a:rPr kumimoji="1" lang="zh-CN" altLang="en-US" dirty="0"/>
              <a:t> </a:t>
            </a:r>
            <a:r>
              <a:rPr kumimoji="1" lang="en-US" altLang="zh-CN" dirty="0"/>
              <a:t>string</a:t>
            </a:r>
            <a:r>
              <a:rPr kumimoji="1" lang="zh-CN" altLang="en-US" dirty="0"/>
              <a:t> </a:t>
            </a:r>
            <a:r>
              <a:rPr kumimoji="1" lang="en-US" altLang="zh-CN" dirty="0"/>
              <a:t>+</a:t>
            </a:r>
            <a:r>
              <a:rPr kumimoji="1" lang="zh-CN" altLang="en-US" dirty="0"/>
              <a:t> </a:t>
            </a:r>
            <a:r>
              <a:rPr kumimoji="1" lang="en-US" altLang="zh-CN" dirty="0"/>
              <a:t>list,</a:t>
            </a:r>
            <a:r>
              <a:rPr kumimoji="1" lang="zh-CN" altLang="en-US" dirty="0"/>
              <a:t> </a:t>
            </a:r>
            <a:r>
              <a:rPr kumimoji="1" lang="en-US" altLang="zh-CN" dirty="0"/>
              <a:t>then</a:t>
            </a:r>
            <a:r>
              <a:rPr kumimoji="1" lang="zh-CN" altLang="en-US" dirty="0"/>
              <a:t> </a:t>
            </a:r>
            <a:r>
              <a:rPr kumimoji="1" lang="en-US" altLang="zh-CN" dirty="0"/>
              <a:t>interpret</a:t>
            </a:r>
          </a:p>
          <a:p>
            <a:pPr lvl="2"/>
            <a:r>
              <a:rPr kumimoji="1" lang="en-US" altLang="zh-CN" dirty="0"/>
              <a:t>Command</a:t>
            </a:r>
            <a:r>
              <a:rPr kumimoji="1" lang="zh-CN" altLang="en-US" dirty="0"/>
              <a:t> </a:t>
            </a:r>
            <a:r>
              <a:rPr kumimoji="1" lang="en-US" altLang="zh-CN" dirty="0"/>
              <a:t>output</a:t>
            </a:r>
            <a:r>
              <a:rPr kumimoji="1" lang="zh-CN" altLang="en-US" dirty="0"/>
              <a:t> </a:t>
            </a:r>
            <a:r>
              <a:rPr kumimoji="1" lang="en-US" altLang="zh-CN" dirty="0"/>
              <a:t>etc.</a:t>
            </a:r>
            <a:r>
              <a:rPr kumimoji="1" lang="zh-CN" altLang="en-US" dirty="0"/>
              <a:t> </a:t>
            </a:r>
            <a:endParaRPr kumimoji="1" lang="en-US" altLang="zh-CN" dirty="0"/>
          </a:p>
          <a:p>
            <a:pPr lvl="1"/>
            <a:r>
              <a:rPr kumimoji="1" lang="en-US" altLang="zh-CN" dirty="0"/>
              <a:t>Naturally</a:t>
            </a:r>
            <a:r>
              <a:rPr kumimoji="1" lang="zh-CN" altLang="en-US" dirty="0"/>
              <a:t> </a:t>
            </a:r>
            <a:r>
              <a:rPr kumimoji="1" lang="en-US" altLang="zh-CN" dirty="0"/>
              <a:t>define</a:t>
            </a:r>
            <a:r>
              <a:rPr kumimoji="1" lang="zh-CN" altLang="en-US" dirty="0"/>
              <a:t> </a:t>
            </a:r>
            <a:r>
              <a:rPr kumimoji="1" lang="en-US" altLang="zh-CN" dirty="0"/>
              <a:t>inter-process</a:t>
            </a:r>
            <a:r>
              <a:rPr kumimoji="1" lang="zh-CN" altLang="en-US" dirty="0"/>
              <a:t> </a:t>
            </a:r>
            <a:r>
              <a:rPr kumimoji="1" lang="en-US" altLang="zh-CN" dirty="0"/>
              <a:t>communications</a:t>
            </a:r>
          </a:p>
          <a:p>
            <a:pPr lvl="1"/>
            <a:r>
              <a:rPr kumimoji="1" lang="en-US" altLang="zh-CN" dirty="0"/>
              <a:t>The</a:t>
            </a:r>
            <a:r>
              <a:rPr kumimoji="1" lang="zh-CN" altLang="en-US" dirty="0"/>
              <a:t> </a:t>
            </a:r>
            <a:r>
              <a:rPr kumimoji="1" lang="en-US" altLang="zh-CN" dirty="0"/>
              <a:t>designer</a:t>
            </a:r>
            <a:r>
              <a:rPr kumimoji="1" lang="zh-CN" altLang="en-US" dirty="0"/>
              <a:t> </a:t>
            </a:r>
            <a:r>
              <a:rPr kumimoji="1" lang="en-US" altLang="zh-CN" dirty="0"/>
              <a:t>never</a:t>
            </a:r>
            <a:r>
              <a:rPr kumimoji="1" lang="zh-CN" altLang="en-US" dirty="0"/>
              <a:t> </a:t>
            </a:r>
            <a:r>
              <a:rPr kumimoji="1" lang="en-US" altLang="zh-CN" dirty="0"/>
              <a:t>thought</a:t>
            </a:r>
            <a:r>
              <a:rPr kumimoji="1" lang="zh-CN" altLang="en-US" dirty="0"/>
              <a:t> </a:t>
            </a:r>
            <a:r>
              <a:rPr kumimoji="1" lang="en-US" altLang="zh-CN" dirty="0"/>
              <a:t>of</a:t>
            </a:r>
            <a:r>
              <a:rPr kumimoji="1" lang="zh-CN" altLang="en-US" dirty="0"/>
              <a:t> </a:t>
            </a:r>
            <a:r>
              <a:rPr kumimoji="1" lang="en-US" altLang="zh-CN" dirty="0"/>
              <a:t>…</a:t>
            </a:r>
            <a:r>
              <a:rPr kumimoji="1" lang="zh-CN" altLang="en-US" dirty="0"/>
              <a:t>  </a:t>
            </a:r>
            <a:r>
              <a:rPr kumimoji="1" lang="en-US" altLang="zh-CN" dirty="0"/>
              <a:t>It</a:t>
            </a:r>
            <a:r>
              <a:rPr kumimoji="1" lang="zh-CN" altLang="en-US" dirty="0"/>
              <a:t> </a:t>
            </a:r>
            <a:r>
              <a:rPr kumimoji="1" lang="en-US" altLang="zh-CN" dirty="0"/>
              <a:t>is</a:t>
            </a:r>
            <a:r>
              <a:rPr kumimoji="1" lang="zh-CN" altLang="en-US" dirty="0"/>
              <a:t> </a:t>
            </a:r>
            <a:r>
              <a:rPr kumimoji="1" lang="en-US" altLang="zh-CN" dirty="0"/>
              <a:t>perfect</a:t>
            </a:r>
            <a:r>
              <a:rPr kumimoji="1" lang="zh-CN" altLang="en-US" dirty="0"/>
              <a:t> </a:t>
            </a:r>
            <a:r>
              <a:rPr kumimoji="1" lang="en-US" altLang="zh-CN" dirty="0"/>
              <a:t>for</a:t>
            </a:r>
            <a:r>
              <a:rPr kumimoji="1" lang="zh-CN" altLang="en-US" dirty="0"/>
              <a:t> </a:t>
            </a:r>
            <a:r>
              <a:rPr kumimoji="1" lang="en-US" altLang="zh-CN" dirty="0"/>
              <a:t>AI</a:t>
            </a:r>
            <a:r>
              <a:rPr kumimoji="1" lang="zh-CN" altLang="en-US" dirty="0"/>
              <a:t> </a:t>
            </a:r>
            <a:r>
              <a:rPr kumimoji="1" lang="en-US" altLang="zh-CN" dirty="0"/>
              <a:t>!</a:t>
            </a:r>
          </a:p>
          <a:p>
            <a:endParaRPr lang="en-US" altLang="zh-CN" dirty="0"/>
          </a:p>
          <a:p>
            <a:r>
              <a:rPr lang="en-US" altLang="zh-CN" dirty="0"/>
              <a:t>The </a:t>
            </a:r>
            <a:r>
              <a:rPr lang="en-US" altLang="zh-CN" dirty="0" err="1"/>
              <a:t>Bourne</a:t>
            </a:r>
            <a:r>
              <a:rPr lang="en-US" altLang="zh-CN" dirty="0"/>
              <a:t> Again Shell (</a:t>
            </a:r>
            <a:r>
              <a:rPr lang="en-US" altLang="zh-CN" dirty="0">
                <a:latin typeface="Prestige Elite Std" panose="02060509020206020304" pitchFamily="49" charset="0"/>
              </a:rPr>
              <a:t>bash</a:t>
            </a:r>
            <a:r>
              <a:rPr lang="en-US" altLang="zh-CN" dirty="0"/>
              <a:t>)</a:t>
            </a:r>
          </a:p>
          <a:p>
            <a:endParaRPr kumimoji="1" lang="en-US" altLang="zh-CN" dirty="0"/>
          </a:p>
        </p:txBody>
      </p:sp>
      <p:sp>
        <p:nvSpPr>
          <p:cNvPr id="4" name="圆角矩形 3">
            <a:extLst>
              <a:ext uri="{FF2B5EF4-FFF2-40B4-BE49-F238E27FC236}">
                <a16:creationId xmlns:a16="http://schemas.microsoft.com/office/drawing/2014/main" id="{8F7051AD-D068-34A4-2E9D-195AF3C81E21}"/>
              </a:ext>
            </a:extLst>
          </p:cNvPr>
          <p:cNvSpPr/>
          <p:nvPr/>
        </p:nvSpPr>
        <p:spPr bwMode="auto">
          <a:xfrm rot="1127902">
            <a:off x="5350075" y="1046205"/>
            <a:ext cx="3733800" cy="991239"/>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Do</a:t>
            </a:r>
            <a:r>
              <a:rPr kumimoji="1" lang="zh-CN" altLang="en-US" b="0" dirty="0">
                <a:latin typeface="Helvetica"/>
                <a:cs typeface="Helvetica"/>
              </a:rPr>
              <a:t> </a:t>
            </a:r>
            <a:r>
              <a:rPr kumimoji="1" lang="en-US" altLang="zh-CN" b="0" dirty="0">
                <a:latin typeface="Helvetica"/>
                <a:cs typeface="Helvetica"/>
              </a:rPr>
              <a:t>one</a:t>
            </a:r>
            <a:r>
              <a:rPr kumimoji="1" lang="zh-CN" altLang="en-US" b="0" dirty="0">
                <a:latin typeface="Helvetica"/>
                <a:cs typeface="Helvetica"/>
              </a:rPr>
              <a:t> </a:t>
            </a:r>
            <a:r>
              <a:rPr kumimoji="1" lang="en-US" altLang="zh-CN" b="0" dirty="0">
                <a:latin typeface="Helvetica"/>
                <a:cs typeface="Helvetica"/>
              </a:rPr>
              <a:t>thing</a:t>
            </a:r>
            <a:r>
              <a:rPr kumimoji="1" lang="zh-CN" altLang="en-US" b="0" dirty="0">
                <a:latin typeface="Helvetica"/>
                <a:cs typeface="Helvetica"/>
              </a:rPr>
              <a:t> </a:t>
            </a:r>
            <a:r>
              <a:rPr kumimoji="1" lang="en-US" altLang="zh-CN" b="0" dirty="0">
                <a:latin typeface="Helvetica"/>
                <a:cs typeface="Helvetica"/>
              </a:rPr>
              <a:t>well</a:t>
            </a:r>
          </a:p>
          <a:p>
            <a:pPr algn="ctr"/>
            <a:r>
              <a:rPr kumimoji="1" lang="en-US" altLang="zh-CN" b="0" dirty="0">
                <a:latin typeface="Helvetica"/>
                <a:cs typeface="Helvetica"/>
              </a:rPr>
              <a:t>Keep</a:t>
            </a:r>
            <a:r>
              <a:rPr kumimoji="1" lang="zh-CN" altLang="en-US" b="0" dirty="0">
                <a:latin typeface="Helvetica"/>
                <a:cs typeface="Helvetica"/>
              </a:rPr>
              <a:t> </a:t>
            </a:r>
            <a:r>
              <a:rPr kumimoji="1" lang="en-US" altLang="zh-CN" b="0" dirty="0">
                <a:latin typeface="Helvetica"/>
                <a:cs typeface="Helvetica"/>
              </a:rPr>
              <a:t>Stable</a:t>
            </a:r>
            <a:r>
              <a:rPr kumimoji="1" lang="zh-CN" altLang="en-US" b="0" dirty="0">
                <a:latin typeface="Helvetica"/>
                <a:cs typeface="Helvetica"/>
              </a:rPr>
              <a:t> </a:t>
            </a:r>
          </a:p>
        </p:txBody>
      </p:sp>
      <p:sp>
        <p:nvSpPr>
          <p:cNvPr id="5" name="圆角矩形 4">
            <a:extLst>
              <a:ext uri="{FF2B5EF4-FFF2-40B4-BE49-F238E27FC236}">
                <a16:creationId xmlns:a16="http://schemas.microsoft.com/office/drawing/2014/main" id="{241E7516-3ED9-DD31-F8A5-66E7B0DDFC89}"/>
              </a:ext>
            </a:extLst>
          </p:cNvPr>
          <p:cNvSpPr/>
          <p:nvPr/>
        </p:nvSpPr>
        <p:spPr bwMode="auto">
          <a:xfrm rot="20580792">
            <a:off x="7599" y="1003174"/>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endParaRPr kumimoji="1" lang="zh-CN" altLang="en-US" b="0" dirty="0">
              <a:latin typeface="Helvetica"/>
              <a:cs typeface="Helvetica"/>
            </a:endParaRPr>
          </a:p>
        </p:txBody>
      </p:sp>
    </p:spTree>
    <p:extLst>
      <p:ext uri="{BB962C8B-B14F-4D97-AF65-F5344CB8AC3E}">
        <p14:creationId xmlns:p14="http://schemas.microsoft.com/office/powerpoint/2010/main" val="330068039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atin typeface="Helvetica" charset="0"/>
                <a:ea typeface="MS PGothic" charset="0"/>
              </a:rPr>
              <a:t>Five Layers Summary</a:t>
            </a:r>
          </a:p>
        </p:txBody>
      </p:sp>
      <p:sp>
        <p:nvSpPr>
          <p:cNvPr id="48131" name="Rectangle 3"/>
          <p:cNvSpPr>
            <a:spLocks noGrp="1" noChangeArrowheads="1"/>
          </p:cNvSpPr>
          <p:nvPr>
            <p:ph type="body" idx="1"/>
          </p:nvPr>
        </p:nvSpPr>
        <p:spPr>
          <a:xfrm>
            <a:off x="685800" y="1219200"/>
            <a:ext cx="7562850" cy="1676400"/>
          </a:xfrm>
        </p:spPr>
        <p:txBody>
          <a:bodyPr/>
          <a:lstStyle/>
          <a:p>
            <a:r>
              <a:rPr lang="en-US">
                <a:latin typeface="Helvetica" charset="0"/>
                <a:ea typeface="MS PGothic" charset="0"/>
              </a:rPr>
              <a:t>Lower three layers implemented everywhere</a:t>
            </a:r>
          </a:p>
          <a:p>
            <a:r>
              <a:rPr lang="en-US">
                <a:latin typeface="Helvetica" charset="0"/>
                <a:ea typeface="MS PGothic" charset="0"/>
              </a:rPr>
              <a:t>Top two layers implemented only at hosts</a:t>
            </a:r>
          </a:p>
          <a:p>
            <a:r>
              <a:rPr lang="en-US">
                <a:latin typeface="Helvetica" charset="0"/>
                <a:ea typeface="MS PGothic" charset="0"/>
              </a:rPr>
              <a:t>Logically, layers interacts with peer’</a:t>
            </a:r>
            <a:r>
              <a:rPr lang="en-US" altLang="ja-JP">
                <a:latin typeface="Helvetica" charset="0"/>
                <a:ea typeface="MS PGothic" charset="0"/>
              </a:rPr>
              <a:t>s corresponding layer</a:t>
            </a:r>
          </a:p>
          <a:p>
            <a:endParaRPr lang="en-US">
              <a:latin typeface="Helvetica" charset="0"/>
              <a:ea typeface="MS PGothic" charset="0"/>
            </a:endParaRPr>
          </a:p>
        </p:txBody>
      </p:sp>
      <p:sp>
        <p:nvSpPr>
          <p:cNvPr id="48132" name="Rectangle 4"/>
          <p:cNvSpPr>
            <a:spLocks noChangeArrowheads="1"/>
          </p:cNvSpPr>
          <p:nvPr/>
        </p:nvSpPr>
        <p:spPr bwMode="auto">
          <a:xfrm>
            <a:off x="1066800" y="3505200"/>
            <a:ext cx="1703388" cy="381000"/>
          </a:xfrm>
          <a:prstGeom prst="rect">
            <a:avLst/>
          </a:prstGeom>
          <a:solidFill>
            <a:srgbClr val="FFFFCC"/>
          </a:solidFill>
          <a:ln w="25400">
            <a:solidFill>
              <a:schemeClr val="tx1"/>
            </a:solidFill>
            <a:miter lim="800000"/>
            <a:headEnd/>
            <a:tailEnd/>
          </a:ln>
        </p:spPr>
        <p:txBody>
          <a:bodyPr wrap="none" anchor="ctr"/>
          <a:lstStyle/>
          <a:p>
            <a:endParaRPr lang="en-US">
              <a:latin typeface="Helvetica" charset="0"/>
            </a:endParaRPr>
          </a:p>
        </p:txBody>
      </p:sp>
      <p:sp>
        <p:nvSpPr>
          <p:cNvPr id="48133" name="Text Box 5"/>
          <p:cNvSpPr txBox="1">
            <a:spLocks noChangeArrowheads="1"/>
          </p:cNvSpPr>
          <p:nvPr/>
        </p:nvSpPr>
        <p:spPr bwMode="auto">
          <a:xfrm>
            <a:off x="1233488" y="3489325"/>
            <a:ext cx="1370012"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Transport</a:t>
            </a:r>
          </a:p>
        </p:txBody>
      </p:sp>
      <p:sp>
        <p:nvSpPr>
          <p:cNvPr id="48134" name="Rectangle 6"/>
          <p:cNvSpPr>
            <a:spLocks noChangeArrowheads="1"/>
          </p:cNvSpPr>
          <p:nvPr/>
        </p:nvSpPr>
        <p:spPr bwMode="auto">
          <a:xfrm>
            <a:off x="1066800" y="3886200"/>
            <a:ext cx="1703388" cy="381000"/>
          </a:xfrm>
          <a:prstGeom prst="rect">
            <a:avLst/>
          </a:prstGeom>
          <a:solidFill>
            <a:srgbClr val="99CCFF"/>
          </a:solidFill>
          <a:ln w="25400">
            <a:solidFill>
              <a:schemeClr val="tx1"/>
            </a:solidFill>
            <a:miter lim="800000"/>
            <a:headEnd/>
            <a:tailEnd/>
          </a:ln>
        </p:spPr>
        <p:txBody>
          <a:bodyPr wrap="none" anchor="ctr"/>
          <a:lstStyle/>
          <a:p>
            <a:endParaRPr lang="en-US">
              <a:latin typeface="Helvetica" charset="0"/>
            </a:endParaRPr>
          </a:p>
        </p:txBody>
      </p:sp>
      <p:sp>
        <p:nvSpPr>
          <p:cNvPr id="48135" name="Text Box 7"/>
          <p:cNvSpPr txBox="1">
            <a:spLocks noChangeArrowheads="1"/>
          </p:cNvSpPr>
          <p:nvPr/>
        </p:nvSpPr>
        <p:spPr bwMode="auto">
          <a:xfrm>
            <a:off x="1325563" y="3870325"/>
            <a:ext cx="1185862"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Network</a:t>
            </a:r>
          </a:p>
        </p:txBody>
      </p:sp>
      <p:sp>
        <p:nvSpPr>
          <p:cNvPr id="48136" name="Rectangle 8"/>
          <p:cNvSpPr>
            <a:spLocks noChangeArrowheads="1"/>
          </p:cNvSpPr>
          <p:nvPr/>
        </p:nvSpPr>
        <p:spPr bwMode="auto">
          <a:xfrm>
            <a:off x="1066800" y="4267200"/>
            <a:ext cx="1703388" cy="381000"/>
          </a:xfrm>
          <a:prstGeom prst="rect">
            <a:avLst/>
          </a:prstGeom>
          <a:solidFill>
            <a:srgbClr val="99CCFF"/>
          </a:solidFill>
          <a:ln w="25400">
            <a:solidFill>
              <a:schemeClr val="tx1"/>
            </a:solidFill>
            <a:miter lim="800000"/>
            <a:headEnd/>
            <a:tailEnd/>
          </a:ln>
        </p:spPr>
        <p:txBody>
          <a:bodyPr wrap="none" anchor="ctr"/>
          <a:lstStyle/>
          <a:p>
            <a:endParaRPr lang="en-US">
              <a:latin typeface="Helvetica" charset="0"/>
            </a:endParaRPr>
          </a:p>
        </p:txBody>
      </p:sp>
      <p:sp>
        <p:nvSpPr>
          <p:cNvPr id="48137" name="Text Box 9"/>
          <p:cNvSpPr txBox="1">
            <a:spLocks noChangeArrowheads="1"/>
          </p:cNvSpPr>
          <p:nvPr/>
        </p:nvSpPr>
        <p:spPr bwMode="auto">
          <a:xfrm>
            <a:off x="1331913" y="4251325"/>
            <a:ext cx="1171575"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Datalink</a:t>
            </a:r>
          </a:p>
        </p:txBody>
      </p:sp>
      <p:sp>
        <p:nvSpPr>
          <p:cNvPr id="48138" name="Rectangle 10"/>
          <p:cNvSpPr>
            <a:spLocks noChangeArrowheads="1"/>
          </p:cNvSpPr>
          <p:nvPr/>
        </p:nvSpPr>
        <p:spPr bwMode="auto">
          <a:xfrm>
            <a:off x="1066800" y="4648200"/>
            <a:ext cx="1703388" cy="381000"/>
          </a:xfrm>
          <a:prstGeom prst="rect">
            <a:avLst/>
          </a:prstGeom>
          <a:solidFill>
            <a:srgbClr val="99CCFF"/>
          </a:solidFill>
          <a:ln w="25400">
            <a:solidFill>
              <a:schemeClr val="tx1"/>
            </a:solidFill>
            <a:miter lim="800000"/>
            <a:headEnd/>
            <a:tailEnd/>
          </a:ln>
        </p:spPr>
        <p:txBody>
          <a:bodyPr wrap="none" anchor="ctr"/>
          <a:lstStyle/>
          <a:p>
            <a:endParaRPr lang="en-US">
              <a:latin typeface="Helvetica" charset="0"/>
            </a:endParaRPr>
          </a:p>
        </p:txBody>
      </p:sp>
      <p:sp>
        <p:nvSpPr>
          <p:cNvPr id="48139" name="Text Box 11"/>
          <p:cNvSpPr txBox="1">
            <a:spLocks noChangeArrowheads="1"/>
          </p:cNvSpPr>
          <p:nvPr/>
        </p:nvSpPr>
        <p:spPr bwMode="auto">
          <a:xfrm>
            <a:off x="1311275" y="4632325"/>
            <a:ext cx="1214438"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Physical</a:t>
            </a:r>
          </a:p>
        </p:txBody>
      </p:sp>
      <p:sp>
        <p:nvSpPr>
          <p:cNvPr id="48140" name="Rectangle 12"/>
          <p:cNvSpPr>
            <a:spLocks noChangeArrowheads="1"/>
          </p:cNvSpPr>
          <p:nvPr/>
        </p:nvSpPr>
        <p:spPr bwMode="auto">
          <a:xfrm>
            <a:off x="6477000" y="3505200"/>
            <a:ext cx="1703388" cy="381000"/>
          </a:xfrm>
          <a:prstGeom prst="rect">
            <a:avLst/>
          </a:prstGeom>
          <a:solidFill>
            <a:srgbClr val="FFFFCC"/>
          </a:solidFill>
          <a:ln w="25400">
            <a:solidFill>
              <a:schemeClr val="tx1"/>
            </a:solidFill>
            <a:miter lim="800000"/>
            <a:headEnd/>
            <a:tailEnd/>
          </a:ln>
        </p:spPr>
        <p:txBody>
          <a:bodyPr wrap="none" anchor="ctr"/>
          <a:lstStyle/>
          <a:p>
            <a:endParaRPr lang="en-US">
              <a:latin typeface="Helvetica" charset="0"/>
            </a:endParaRPr>
          </a:p>
        </p:txBody>
      </p:sp>
      <p:sp>
        <p:nvSpPr>
          <p:cNvPr id="48141" name="Text Box 13"/>
          <p:cNvSpPr txBox="1">
            <a:spLocks noChangeArrowheads="1"/>
          </p:cNvSpPr>
          <p:nvPr/>
        </p:nvSpPr>
        <p:spPr bwMode="auto">
          <a:xfrm>
            <a:off x="6643688" y="3489325"/>
            <a:ext cx="1370012"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Transport</a:t>
            </a:r>
          </a:p>
        </p:txBody>
      </p:sp>
      <p:sp>
        <p:nvSpPr>
          <p:cNvPr id="48142" name="Rectangle 14"/>
          <p:cNvSpPr>
            <a:spLocks noChangeArrowheads="1"/>
          </p:cNvSpPr>
          <p:nvPr/>
        </p:nvSpPr>
        <p:spPr bwMode="auto">
          <a:xfrm>
            <a:off x="6477000" y="3886200"/>
            <a:ext cx="1703388" cy="381000"/>
          </a:xfrm>
          <a:prstGeom prst="rect">
            <a:avLst/>
          </a:prstGeom>
          <a:solidFill>
            <a:srgbClr val="99CCFF"/>
          </a:solidFill>
          <a:ln w="25400">
            <a:solidFill>
              <a:schemeClr val="tx1"/>
            </a:solidFill>
            <a:miter lim="800000"/>
            <a:headEnd/>
            <a:tailEnd/>
          </a:ln>
        </p:spPr>
        <p:txBody>
          <a:bodyPr wrap="none" anchor="ctr"/>
          <a:lstStyle/>
          <a:p>
            <a:endParaRPr lang="en-US">
              <a:latin typeface="Helvetica" charset="0"/>
            </a:endParaRPr>
          </a:p>
        </p:txBody>
      </p:sp>
      <p:sp>
        <p:nvSpPr>
          <p:cNvPr id="48143" name="Text Box 15"/>
          <p:cNvSpPr txBox="1">
            <a:spLocks noChangeArrowheads="1"/>
          </p:cNvSpPr>
          <p:nvPr/>
        </p:nvSpPr>
        <p:spPr bwMode="auto">
          <a:xfrm>
            <a:off x="6735763" y="3870325"/>
            <a:ext cx="1185862"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Network</a:t>
            </a:r>
          </a:p>
        </p:txBody>
      </p:sp>
      <p:sp>
        <p:nvSpPr>
          <p:cNvPr id="48144" name="Rectangle 16"/>
          <p:cNvSpPr>
            <a:spLocks noChangeArrowheads="1"/>
          </p:cNvSpPr>
          <p:nvPr/>
        </p:nvSpPr>
        <p:spPr bwMode="auto">
          <a:xfrm>
            <a:off x="6477000" y="4267200"/>
            <a:ext cx="1703388" cy="381000"/>
          </a:xfrm>
          <a:prstGeom prst="rect">
            <a:avLst/>
          </a:prstGeom>
          <a:solidFill>
            <a:srgbClr val="99CCFF"/>
          </a:solidFill>
          <a:ln w="25400">
            <a:solidFill>
              <a:schemeClr val="tx1"/>
            </a:solidFill>
            <a:miter lim="800000"/>
            <a:headEnd/>
            <a:tailEnd/>
          </a:ln>
        </p:spPr>
        <p:txBody>
          <a:bodyPr wrap="none" anchor="ctr"/>
          <a:lstStyle/>
          <a:p>
            <a:endParaRPr lang="en-US">
              <a:latin typeface="Helvetica" charset="0"/>
            </a:endParaRPr>
          </a:p>
        </p:txBody>
      </p:sp>
      <p:sp>
        <p:nvSpPr>
          <p:cNvPr id="48145" name="Text Box 17"/>
          <p:cNvSpPr txBox="1">
            <a:spLocks noChangeArrowheads="1"/>
          </p:cNvSpPr>
          <p:nvPr/>
        </p:nvSpPr>
        <p:spPr bwMode="auto">
          <a:xfrm>
            <a:off x="6742113" y="4251325"/>
            <a:ext cx="1171575"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Datalink</a:t>
            </a:r>
          </a:p>
        </p:txBody>
      </p:sp>
      <p:sp>
        <p:nvSpPr>
          <p:cNvPr id="48146" name="Rectangle 18"/>
          <p:cNvSpPr>
            <a:spLocks noChangeArrowheads="1"/>
          </p:cNvSpPr>
          <p:nvPr/>
        </p:nvSpPr>
        <p:spPr bwMode="auto">
          <a:xfrm>
            <a:off x="6477000" y="4648200"/>
            <a:ext cx="1703388" cy="381000"/>
          </a:xfrm>
          <a:prstGeom prst="rect">
            <a:avLst/>
          </a:prstGeom>
          <a:solidFill>
            <a:srgbClr val="99CCFF"/>
          </a:solidFill>
          <a:ln w="25400">
            <a:solidFill>
              <a:schemeClr val="tx1"/>
            </a:solidFill>
            <a:miter lim="800000"/>
            <a:headEnd/>
            <a:tailEnd/>
          </a:ln>
        </p:spPr>
        <p:txBody>
          <a:bodyPr wrap="none" anchor="ctr"/>
          <a:lstStyle/>
          <a:p>
            <a:endParaRPr lang="en-US">
              <a:latin typeface="Helvetica" charset="0"/>
            </a:endParaRPr>
          </a:p>
        </p:txBody>
      </p:sp>
      <p:sp>
        <p:nvSpPr>
          <p:cNvPr id="48147" name="Text Box 19"/>
          <p:cNvSpPr txBox="1">
            <a:spLocks noChangeArrowheads="1"/>
          </p:cNvSpPr>
          <p:nvPr/>
        </p:nvSpPr>
        <p:spPr bwMode="auto">
          <a:xfrm>
            <a:off x="6721475" y="4632325"/>
            <a:ext cx="1214438"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Physical</a:t>
            </a:r>
          </a:p>
        </p:txBody>
      </p:sp>
      <p:sp>
        <p:nvSpPr>
          <p:cNvPr id="48148" name="Rectangle 20"/>
          <p:cNvSpPr>
            <a:spLocks noChangeArrowheads="1"/>
          </p:cNvSpPr>
          <p:nvPr/>
        </p:nvSpPr>
        <p:spPr bwMode="auto">
          <a:xfrm>
            <a:off x="3706813" y="3886200"/>
            <a:ext cx="1703387" cy="381000"/>
          </a:xfrm>
          <a:prstGeom prst="rect">
            <a:avLst/>
          </a:prstGeom>
          <a:solidFill>
            <a:srgbClr val="99CCFF"/>
          </a:solidFill>
          <a:ln w="25400">
            <a:solidFill>
              <a:schemeClr val="tx1"/>
            </a:solidFill>
            <a:miter lim="800000"/>
            <a:headEnd/>
            <a:tailEnd/>
          </a:ln>
        </p:spPr>
        <p:txBody>
          <a:bodyPr wrap="none" anchor="ctr"/>
          <a:lstStyle/>
          <a:p>
            <a:endParaRPr lang="en-US">
              <a:latin typeface="Helvetica" charset="0"/>
            </a:endParaRPr>
          </a:p>
        </p:txBody>
      </p:sp>
      <p:sp>
        <p:nvSpPr>
          <p:cNvPr id="48149" name="Text Box 21"/>
          <p:cNvSpPr txBox="1">
            <a:spLocks noChangeArrowheads="1"/>
          </p:cNvSpPr>
          <p:nvPr/>
        </p:nvSpPr>
        <p:spPr bwMode="auto">
          <a:xfrm>
            <a:off x="3965575" y="3870325"/>
            <a:ext cx="1185863"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Network</a:t>
            </a:r>
          </a:p>
        </p:txBody>
      </p:sp>
      <p:sp>
        <p:nvSpPr>
          <p:cNvPr id="48150" name="Rectangle 22"/>
          <p:cNvSpPr>
            <a:spLocks noChangeArrowheads="1"/>
          </p:cNvSpPr>
          <p:nvPr/>
        </p:nvSpPr>
        <p:spPr bwMode="auto">
          <a:xfrm>
            <a:off x="3706813" y="4267200"/>
            <a:ext cx="1703387" cy="381000"/>
          </a:xfrm>
          <a:prstGeom prst="rect">
            <a:avLst/>
          </a:prstGeom>
          <a:solidFill>
            <a:srgbClr val="99CCFF"/>
          </a:solidFill>
          <a:ln w="25400">
            <a:solidFill>
              <a:schemeClr val="tx1"/>
            </a:solidFill>
            <a:miter lim="800000"/>
            <a:headEnd/>
            <a:tailEnd/>
          </a:ln>
        </p:spPr>
        <p:txBody>
          <a:bodyPr wrap="none" anchor="ctr"/>
          <a:lstStyle/>
          <a:p>
            <a:endParaRPr lang="en-US">
              <a:latin typeface="Helvetica" charset="0"/>
            </a:endParaRPr>
          </a:p>
        </p:txBody>
      </p:sp>
      <p:sp>
        <p:nvSpPr>
          <p:cNvPr id="48151" name="Text Box 23"/>
          <p:cNvSpPr txBox="1">
            <a:spLocks noChangeArrowheads="1"/>
          </p:cNvSpPr>
          <p:nvPr/>
        </p:nvSpPr>
        <p:spPr bwMode="auto">
          <a:xfrm>
            <a:off x="3971925" y="4251325"/>
            <a:ext cx="1171575"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Datalink</a:t>
            </a:r>
          </a:p>
        </p:txBody>
      </p:sp>
      <p:sp>
        <p:nvSpPr>
          <p:cNvPr id="48152" name="Rectangle 24"/>
          <p:cNvSpPr>
            <a:spLocks noChangeArrowheads="1"/>
          </p:cNvSpPr>
          <p:nvPr/>
        </p:nvSpPr>
        <p:spPr bwMode="auto">
          <a:xfrm>
            <a:off x="3706813" y="4648200"/>
            <a:ext cx="1703387" cy="381000"/>
          </a:xfrm>
          <a:prstGeom prst="rect">
            <a:avLst/>
          </a:prstGeom>
          <a:solidFill>
            <a:srgbClr val="99CCFF"/>
          </a:solidFill>
          <a:ln w="25400">
            <a:solidFill>
              <a:schemeClr val="tx1"/>
            </a:solidFill>
            <a:miter lim="800000"/>
            <a:headEnd/>
            <a:tailEnd/>
          </a:ln>
        </p:spPr>
        <p:txBody>
          <a:bodyPr wrap="none" anchor="ctr"/>
          <a:lstStyle/>
          <a:p>
            <a:endParaRPr lang="en-US">
              <a:latin typeface="Helvetica" charset="0"/>
            </a:endParaRPr>
          </a:p>
        </p:txBody>
      </p:sp>
      <p:sp>
        <p:nvSpPr>
          <p:cNvPr id="48153" name="Text Box 25"/>
          <p:cNvSpPr txBox="1">
            <a:spLocks noChangeArrowheads="1"/>
          </p:cNvSpPr>
          <p:nvPr/>
        </p:nvSpPr>
        <p:spPr bwMode="auto">
          <a:xfrm>
            <a:off x="3951288" y="4632325"/>
            <a:ext cx="1214437"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Physical</a:t>
            </a:r>
          </a:p>
        </p:txBody>
      </p:sp>
      <p:cxnSp>
        <p:nvCxnSpPr>
          <p:cNvPr id="48154" name="AutoShape 26"/>
          <p:cNvCxnSpPr>
            <a:cxnSpLocks noChangeShapeType="1"/>
            <a:stCxn id="48138" idx="3"/>
            <a:endCxn id="48152" idx="1"/>
          </p:cNvCxnSpPr>
          <p:nvPr/>
        </p:nvCxnSpPr>
        <p:spPr bwMode="auto">
          <a:xfrm>
            <a:off x="2782888" y="4838700"/>
            <a:ext cx="911225"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48155" name="AutoShape 27"/>
          <p:cNvCxnSpPr>
            <a:cxnSpLocks noChangeShapeType="1"/>
            <a:stCxn id="48136" idx="3"/>
            <a:endCxn id="48150" idx="1"/>
          </p:cNvCxnSpPr>
          <p:nvPr/>
        </p:nvCxnSpPr>
        <p:spPr bwMode="auto">
          <a:xfrm>
            <a:off x="2782888" y="4457700"/>
            <a:ext cx="911225"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48156" name="AutoShape 28"/>
          <p:cNvCxnSpPr>
            <a:cxnSpLocks noChangeShapeType="1"/>
            <a:stCxn id="48134" idx="3"/>
            <a:endCxn id="48148" idx="1"/>
          </p:cNvCxnSpPr>
          <p:nvPr/>
        </p:nvCxnSpPr>
        <p:spPr bwMode="auto">
          <a:xfrm>
            <a:off x="2782888" y="4076700"/>
            <a:ext cx="911225"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48157" name="AutoShape 29"/>
          <p:cNvCxnSpPr>
            <a:cxnSpLocks noChangeShapeType="1"/>
            <a:stCxn id="48152" idx="3"/>
            <a:endCxn id="48146" idx="1"/>
          </p:cNvCxnSpPr>
          <p:nvPr/>
        </p:nvCxnSpPr>
        <p:spPr bwMode="auto">
          <a:xfrm>
            <a:off x="5422900" y="4838700"/>
            <a:ext cx="1041400"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48158" name="AutoShape 30"/>
          <p:cNvCxnSpPr>
            <a:cxnSpLocks noChangeShapeType="1"/>
            <a:stCxn id="48150" idx="3"/>
            <a:endCxn id="48144" idx="1"/>
          </p:cNvCxnSpPr>
          <p:nvPr/>
        </p:nvCxnSpPr>
        <p:spPr bwMode="auto">
          <a:xfrm>
            <a:off x="5422900" y="4457700"/>
            <a:ext cx="1041400"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48159" name="AutoShape 31"/>
          <p:cNvCxnSpPr>
            <a:cxnSpLocks noChangeShapeType="1"/>
            <a:stCxn id="48148" idx="3"/>
            <a:endCxn id="48142" idx="1"/>
          </p:cNvCxnSpPr>
          <p:nvPr/>
        </p:nvCxnSpPr>
        <p:spPr bwMode="auto">
          <a:xfrm>
            <a:off x="5422900" y="4076700"/>
            <a:ext cx="1041400"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48160" name="AutoShape 32"/>
          <p:cNvCxnSpPr>
            <a:cxnSpLocks noChangeShapeType="1"/>
            <a:stCxn id="48132" idx="3"/>
            <a:endCxn id="48140" idx="1"/>
          </p:cNvCxnSpPr>
          <p:nvPr/>
        </p:nvCxnSpPr>
        <p:spPr bwMode="auto">
          <a:xfrm>
            <a:off x="2782888" y="3695700"/>
            <a:ext cx="3681412"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grpSp>
        <p:nvGrpSpPr>
          <p:cNvPr id="48161" name="Group 33"/>
          <p:cNvGrpSpPr>
            <a:grpSpLocks/>
          </p:cNvGrpSpPr>
          <p:nvPr/>
        </p:nvGrpSpPr>
        <p:grpSpPr bwMode="auto">
          <a:xfrm>
            <a:off x="1066800" y="3124200"/>
            <a:ext cx="7113588" cy="396875"/>
            <a:chOff x="647" y="2280"/>
            <a:chExt cx="4481" cy="250"/>
          </a:xfrm>
        </p:grpSpPr>
        <p:sp>
          <p:nvSpPr>
            <p:cNvPr id="48165" name="Rectangle 34"/>
            <p:cNvSpPr>
              <a:spLocks noChangeArrowheads="1"/>
            </p:cNvSpPr>
            <p:nvPr/>
          </p:nvSpPr>
          <p:spPr bwMode="auto">
            <a:xfrm>
              <a:off x="647" y="2280"/>
              <a:ext cx="1073" cy="240"/>
            </a:xfrm>
            <a:prstGeom prst="rect">
              <a:avLst/>
            </a:prstGeom>
            <a:solidFill>
              <a:srgbClr val="FFFFCC"/>
            </a:solidFill>
            <a:ln w="25400">
              <a:solidFill>
                <a:schemeClr val="tx1"/>
              </a:solidFill>
              <a:miter lim="800000"/>
              <a:headEnd/>
              <a:tailEnd/>
            </a:ln>
          </p:spPr>
          <p:txBody>
            <a:bodyPr wrap="none" anchor="ctr"/>
            <a:lstStyle/>
            <a:p>
              <a:endParaRPr lang="en-US">
                <a:latin typeface="Helvetica" charset="0"/>
              </a:endParaRPr>
            </a:p>
          </p:txBody>
        </p:sp>
        <p:sp>
          <p:nvSpPr>
            <p:cNvPr id="48166" name="Text Box 35"/>
            <p:cNvSpPr txBox="1">
              <a:spLocks noChangeArrowheads="1"/>
            </p:cNvSpPr>
            <p:nvPr/>
          </p:nvSpPr>
          <p:spPr bwMode="auto">
            <a:xfrm>
              <a:off x="695" y="2280"/>
              <a:ext cx="987"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Application</a:t>
              </a:r>
            </a:p>
          </p:txBody>
        </p:sp>
        <p:sp>
          <p:nvSpPr>
            <p:cNvPr id="48167" name="Rectangle 36"/>
            <p:cNvSpPr>
              <a:spLocks noChangeArrowheads="1"/>
            </p:cNvSpPr>
            <p:nvPr/>
          </p:nvSpPr>
          <p:spPr bwMode="auto">
            <a:xfrm>
              <a:off x="4055" y="2280"/>
              <a:ext cx="1073" cy="240"/>
            </a:xfrm>
            <a:prstGeom prst="rect">
              <a:avLst/>
            </a:prstGeom>
            <a:solidFill>
              <a:srgbClr val="FFFFCC"/>
            </a:solidFill>
            <a:ln w="25400">
              <a:solidFill>
                <a:schemeClr val="tx1"/>
              </a:solidFill>
              <a:miter lim="800000"/>
              <a:headEnd/>
              <a:tailEnd/>
            </a:ln>
          </p:spPr>
          <p:txBody>
            <a:bodyPr wrap="none" anchor="ctr"/>
            <a:lstStyle/>
            <a:p>
              <a:endParaRPr lang="en-US">
                <a:latin typeface="Helvetica" charset="0"/>
              </a:endParaRPr>
            </a:p>
          </p:txBody>
        </p:sp>
        <p:sp>
          <p:nvSpPr>
            <p:cNvPr id="48168" name="Text Box 37"/>
            <p:cNvSpPr txBox="1">
              <a:spLocks noChangeArrowheads="1"/>
            </p:cNvSpPr>
            <p:nvPr/>
          </p:nvSpPr>
          <p:spPr bwMode="auto">
            <a:xfrm>
              <a:off x="4076" y="2280"/>
              <a:ext cx="987"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sz="2000">
                  <a:latin typeface="Helvetica" charset="0"/>
                </a:rPr>
                <a:t>Application</a:t>
              </a:r>
            </a:p>
          </p:txBody>
        </p:sp>
        <p:cxnSp>
          <p:nvCxnSpPr>
            <p:cNvPr id="48169" name="AutoShape 38"/>
            <p:cNvCxnSpPr>
              <a:cxnSpLocks noChangeShapeType="1"/>
              <a:stCxn id="48165" idx="3"/>
              <a:endCxn id="48168" idx="1"/>
            </p:cNvCxnSpPr>
            <p:nvPr/>
          </p:nvCxnSpPr>
          <p:spPr bwMode="auto">
            <a:xfrm>
              <a:off x="1728" y="2400"/>
              <a:ext cx="2348" cy="5"/>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grpSp>
      <p:sp>
        <p:nvSpPr>
          <p:cNvPr id="48162" name="Text Box 39"/>
          <p:cNvSpPr txBox="1">
            <a:spLocks noChangeArrowheads="1"/>
          </p:cNvSpPr>
          <p:nvPr/>
        </p:nvSpPr>
        <p:spPr bwMode="auto">
          <a:xfrm>
            <a:off x="1416050" y="5181600"/>
            <a:ext cx="100330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43" tIns="44379" rIns="90343" bIns="44379">
            <a:spAutoFit/>
          </a:bodyPr>
          <a:lstStyle>
            <a:lvl1pPr defTabSz="912813" eaLnBrk="0" hangingPunct="0">
              <a:defRPr sz="2400" b="1">
                <a:solidFill>
                  <a:schemeClr val="tx1"/>
                </a:solidFill>
                <a:latin typeface="Comic Sans MS" charset="0"/>
                <a:ea typeface="MS PGothic" charset="0"/>
                <a:cs typeface="MS PGothic" charset="0"/>
              </a:defRPr>
            </a:lvl1pPr>
            <a:lvl2pPr marL="742950" indent="-285750" defTabSz="912813" eaLnBrk="0" hangingPunct="0">
              <a:defRPr sz="2400" b="1">
                <a:solidFill>
                  <a:schemeClr val="tx1"/>
                </a:solidFill>
                <a:latin typeface="Comic Sans MS" charset="0"/>
                <a:ea typeface="MS PGothic" charset="0"/>
                <a:cs typeface="MS PGothic" charset="0"/>
              </a:defRPr>
            </a:lvl2pPr>
            <a:lvl3pPr marL="1143000" indent="-228600" defTabSz="912813" eaLnBrk="0" hangingPunct="0">
              <a:defRPr sz="2400" b="1">
                <a:solidFill>
                  <a:schemeClr val="tx1"/>
                </a:solidFill>
                <a:latin typeface="Comic Sans MS" charset="0"/>
                <a:ea typeface="MS PGothic" charset="0"/>
                <a:cs typeface="MS PGothic" charset="0"/>
              </a:defRPr>
            </a:lvl3pPr>
            <a:lvl4pPr marL="1600200" indent="-228600" defTabSz="912813" eaLnBrk="0" hangingPunct="0">
              <a:defRPr sz="2400" b="1">
                <a:solidFill>
                  <a:schemeClr val="tx1"/>
                </a:solidFill>
                <a:latin typeface="Comic Sans MS" charset="0"/>
                <a:ea typeface="MS PGothic" charset="0"/>
                <a:cs typeface="MS PGothic" charset="0"/>
              </a:defRPr>
            </a:lvl4pPr>
            <a:lvl5pPr marL="2057400" indent="-228600" defTabSz="912813" eaLnBrk="0" hangingPunct="0">
              <a:defRPr sz="2400" b="1">
                <a:solidFill>
                  <a:schemeClr val="tx1"/>
                </a:solidFill>
                <a:latin typeface="Comic Sans MS" charset="0"/>
                <a:ea typeface="MS PGothic" charset="0"/>
                <a:cs typeface="MS PGothic" charset="0"/>
              </a:defRPr>
            </a:lvl5pPr>
            <a:lvl6pPr marL="25146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r>
              <a:rPr lang="en-US" sz="2000">
                <a:solidFill>
                  <a:srgbClr val="FF3300"/>
                </a:solidFill>
                <a:latin typeface="Helvetica" charset="0"/>
              </a:rPr>
              <a:t>Host A</a:t>
            </a:r>
          </a:p>
        </p:txBody>
      </p:sp>
      <p:sp>
        <p:nvSpPr>
          <p:cNvPr id="48163" name="Text Box 40"/>
          <p:cNvSpPr txBox="1">
            <a:spLocks noChangeArrowheads="1"/>
          </p:cNvSpPr>
          <p:nvPr/>
        </p:nvSpPr>
        <p:spPr bwMode="auto">
          <a:xfrm>
            <a:off x="6824663" y="5181600"/>
            <a:ext cx="100965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43" tIns="44379" rIns="90343" bIns="44379">
            <a:spAutoFit/>
          </a:bodyPr>
          <a:lstStyle>
            <a:lvl1pPr defTabSz="912813" eaLnBrk="0" hangingPunct="0">
              <a:defRPr sz="2400" b="1">
                <a:solidFill>
                  <a:schemeClr val="tx1"/>
                </a:solidFill>
                <a:latin typeface="Comic Sans MS" charset="0"/>
                <a:ea typeface="MS PGothic" charset="0"/>
                <a:cs typeface="MS PGothic" charset="0"/>
              </a:defRPr>
            </a:lvl1pPr>
            <a:lvl2pPr marL="742950" indent="-285750" defTabSz="912813" eaLnBrk="0" hangingPunct="0">
              <a:defRPr sz="2400" b="1">
                <a:solidFill>
                  <a:schemeClr val="tx1"/>
                </a:solidFill>
                <a:latin typeface="Comic Sans MS" charset="0"/>
                <a:ea typeface="MS PGothic" charset="0"/>
                <a:cs typeface="MS PGothic" charset="0"/>
              </a:defRPr>
            </a:lvl2pPr>
            <a:lvl3pPr marL="1143000" indent="-228600" defTabSz="912813" eaLnBrk="0" hangingPunct="0">
              <a:defRPr sz="2400" b="1">
                <a:solidFill>
                  <a:schemeClr val="tx1"/>
                </a:solidFill>
                <a:latin typeface="Comic Sans MS" charset="0"/>
                <a:ea typeface="MS PGothic" charset="0"/>
                <a:cs typeface="MS PGothic" charset="0"/>
              </a:defRPr>
            </a:lvl3pPr>
            <a:lvl4pPr marL="1600200" indent="-228600" defTabSz="912813" eaLnBrk="0" hangingPunct="0">
              <a:defRPr sz="2400" b="1">
                <a:solidFill>
                  <a:schemeClr val="tx1"/>
                </a:solidFill>
                <a:latin typeface="Comic Sans MS" charset="0"/>
                <a:ea typeface="MS PGothic" charset="0"/>
                <a:cs typeface="MS PGothic" charset="0"/>
              </a:defRPr>
            </a:lvl4pPr>
            <a:lvl5pPr marL="2057400" indent="-228600" defTabSz="912813" eaLnBrk="0" hangingPunct="0">
              <a:defRPr sz="2400" b="1">
                <a:solidFill>
                  <a:schemeClr val="tx1"/>
                </a:solidFill>
                <a:latin typeface="Comic Sans MS" charset="0"/>
                <a:ea typeface="MS PGothic" charset="0"/>
                <a:cs typeface="MS PGothic" charset="0"/>
              </a:defRPr>
            </a:lvl5pPr>
            <a:lvl6pPr marL="25146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r>
              <a:rPr lang="en-US" sz="2000">
                <a:solidFill>
                  <a:srgbClr val="FF3300"/>
                </a:solidFill>
                <a:latin typeface="Helvetica" charset="0"/>
              </a:rPr>
              <a:t>Host B</a:t>
            </a:r>
          </a:p>
        </p:txBody>
      </p:sp>
      <p:sp>
        <p:nvSpPr>
          <p:cNvPr id="48164" name="Text Box 41"/>
          <p:cNvSpPr txBox="1">
            <a:spLocks noChangeArrowheads="1"/>
          </p:cNvSpPr>
          <p:nvPr/>
        </p:nvSpPr>
        <p:spPr bwMode="auto">
          <a:xfrm>
            <a:off x="4052888" y="5181600"/>
            <a:ext cx="100965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43" tIns="44379" rIns="90343" bIns="44379">
            <a:spAutoFit/>
          </a:bodyPr>
          <a:lstStyle>
            <a:lvl1pPr defTabSz="912813" eaLnBrk="0" hangingPunct="0">
              <a:defRPr sz="2400" b="1">
                <a:solidFill>
                  <a:schemeClr val="tx1"/>
                </a:solidFill>
                <a:latin typeface="Comic Sans MS" charset="0"/>
                <a:ea typeface="MS PGothic" charset="0"/>
                <a:cs typeface="MS PGothic" charset="0"/>
              </a:defRPr>
            </a:lvl1pPr>
            <a:lvl2pPr marL="742950" indent="-285750" defTabSz="912813" eaLnBrk="0" hangingPunct="0">
              <a:defRPr sz="2400" b="1">
                <a:solidFill>
                  <a:schemeClr val="tx1"/>
                </a:solidFill>
                <a:latin typeface="Comic Sans MS" charset="0"/>
                <a:ea typeface="MS PGothic" charset="0"/>
                <a:cs typeface="MS PGothic" charset="0"/>
              </a:defRPr>
            </a:lvl2pPr>
            <a:lvl3pPr marL="1143000" indent="-228600" defTabSz="912813" eaLnBrk="0" hangingPunct="0">
              <a:defRPr sz="2400" b="1">
                <a:solidFill>
                  <a:schemeClr val="tx1"/>
                </a:solidFill>
                <a:latin typeface="Comic Sans MS" charset="0"/>
                <a:ea typeface="MS PGothic" charset="0"/>
                <a:cs typeface="MS PGothic" charset="0"/>
              </a:defRPr>
            </a:lvl3pPr>
            <a:lvl4pPr marL="1600200" indent="-228600" defTabSz="912813" eaLnBrk="0" hangingPunct="0">
              <a:defRPr sz="2400" b="1">
                <a:solidFill>
                  <a:schemeClr val="tx1"/>
                </a:solidFill>
                <a:latin typeface="Comic Sans MS" charset="0"/>
                <a:ea typeface="MS PGothic" charset="0"/>
                <a:cs typeface="MS PGothic" charset="0"/>
              </a:defRPr>
            </a:lvl4pPr>
            <a:lvl5pPr marL="2057400" indent="-228600" defTabSz="912813" eaLnBrk="0" hangingPunct="0">
              <a:defRPr sz="2400" b="1">
                <a:solidFill>
                  <a:schemeClr val="tx1"/>
                </a:solidFill>
                <a:latin typeface="Comic Sans MS" charset="0"/>
                <a:ea typeface="MS PGothic" charset="0"/>
                <a:cs typeface="MS PGothic" charset="0"/>
              </a:defRPr>
            </a:lvl5pPr>
            <a:lvl6pPr marL="25146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a:r>
              <a:rPr lang="en-US" sz="2000">
                <a:solidFill>
                  <a:srgbClr val="FF3300"/>
                </a:solidFill>
                <a:latin typeface="Helvetica" charset="0"/>
              </a:rPr>
              <a:t>Router</a:t>
            </a:r>
          </a:p>
        </p:txBody>
      </p:sp>
      <p:sp>
        <p:nvSpPr>
          <p:cNvPr id="42" name="圆角矩形 41"/>
          <p:cNvSpPr/>
          <p:nvPr/>
        </p:nvSpPr>
        <p:spPr bwMode="auto">
          <a:xfrm>
            <a:off x="0" y="6429396"/>
            <a:ext cx="9144000" cy="357166"/>
          </a:xfrm>
          <a:prstGeom prst="roundRect">
            <a:avLst/>
          </a:prstGeom>
          <a:solidFill>
            <a:schemeClr val="bg1"/>
          </a:solidFill>
          <a:ln w="25400" cap="flat" cmpd="sng" algn="ctr">
            <a:noFill/>
            <a:prstDash val="solid"/>
            <a:round/>
            <a:headEnd type="triangle" w="med" len="med"/>
            <a:tailEnd type="none" w="med" len="med"/>
          </a:ln>
          <a:effectLst/>
        </p:spPr>
        <p:txBody>
          <a:bodyPr rtlCol="0" anchor="ctr"/>
          <a:lstStyle/>
          <a:p>
            <a:pPr algn="ctr"/>
            <a:endParaRPr lang="zh-CN" altLang="en-US" b="0" dirty="0">
              <a:latin typeface="Helvetica"/>
              <a:cs typeface="Helvetica"/>
            </a:endParaRPr>
          </a:p>
        </p:txBody>
      </p:sp>
      <p:sp>
        <p:nvSpPr>
          <p:cNvPr id="43" name="圆角矩形 42">
            <a:extLst>
              <a:ext uri="{FF2B5EF4-FFF2-40B4-BE49-F238E27FC236}">
                <a16:creationId xmlns:a16="http://schemas.microsoft.com/office/drawing/2014/main" id="{606E1A3A-35EE-27C0-8D94-405DE1D42893}"/>
              </a:ext>
            </a:extLst>
          </p:cNvPr>
          <p:cNvSpPr/>
          <p:nvPr/>
        </p:nvSpPr>
        <p:spPr bwMode="auto">
          <a:xfrm rot="1127902">
            <a:off x="5325109" y="980783"/>
            <a:ext cx="3733800" cy="991239"/>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Do</a:t>
            </a:r>
            <a:r>
              <a:rPr kumimoji="1" lang="zh-CN" altLang="en-US" b="0" dirty="0">
                <a:latin typeface="Helvetica"/>
                <a:cs typeface="Helvetica"/>
              </a:rPr>
              <a:t> </a:t>
            </a:r>
            <a:r>
              <a:rPr kumimoji="1" lang="en-US" altLang="zh-CN" b="0" dirty="0">
                <a:latin typeface="Helvetica"/>
                <a:cs typeface="Helvetica"/>
              </a:rPr>
              <a:t>one</a:t>
            </a:r>
            <a:r>
              <a:rPr kumimoji="1" lang="zh-CN" altLang="en-US" b="0" dirty="0">
                <a:latin typeface="Helvetica"/>
                <a:cs typeface="Helvetica"/>
              </a:rPr>
              <a:t> </a:t>
            </a:r>
            <a:r>
              <a:rPr kumimoji="1" lang="en-US" altLang="zh-CN" b="0" dirty="0">
                <a:latin typeface="Helvetica"/>
                <a:cs typeface="Helvetica"/>
              </a:rPr>
              <a:t>thing</a:t>
            </a:r>
            <a:r>
              <a:rPr kumimoji="1" lang="zh-CN" altLang="en-US" b="0" dirty="0">
                <a:latin typeface="Helvetica"/>
                <a:cs typeface="Helvetica"/>
              </a:rPr>
              <a:t> </a:t>
            </a:r>
            <a:r>
              <a:rPr kumimoji="1" lang="en-US" altLang="zh-CN" b="0" dirty="0">
                <a:latin typeface="Helvetica"/>
                <a:cs typeface="Helvetica"/>
              </a:rPr>
              <a:t>well</a:t>
            </a:r>
          </a:p>
          <a:p>
            <a:pPr algn="ctr"/>
            <a:r>
              <a:rPr kumimoji="1" lang="en-US" altLang="zh-CN" b="0" dirty="0">
                <a:latin typeface="Helvetica"/>
                <a:cs typeface="Helvetica"/>
              </a:rPr>
              <a:t>Keep</a:t>
            </a:r>
            <a:r>
              <a:rPr kumimoji="1" lang="zh-CN" altLang="en-US" b="0" dirty="0">
                <a:latin typeface="Helvetica"/>
                <a:cs typeface="Helvetica"/>
              </a:rPr>
              <a:t> </a:t>
            </a:r>
            <a:r>
              <a:rPr kumimoji="1" lang="en-US" altLang="zh-CN" b="0" dirty="0">
                <a:latin typeface="Helvetica"/>
                <a:cs typeface="Helvetica"/>
              </a:rPr>
              <a:t>Stable</a:t>
            </a:r>
            <a:r>
              <a:rPr kumimoji="1" lang="zh-CN" altLang="en-US" b="0" dirty="0">
                <a:latin typeface="Helvetica"/>
                <a:cs typeface="Helvetica"/>
              </a:rPr>
              <a:t> </a:t>
            </a:r>
          </a:p>
        </p:txBody>
      </p:sp>
      <p:sp>
        <p:nvSpPr>
          <p:cNvPr id="44" name="圆角矩形 43">
            <a:extLst>
              <a:ext uri="{FF2B5EF4-FFF2-40B4-BE49-F238E27FC236}">
                <a16:creationId xmlns:a16="http://schemas.microsoft.com/office/drawing/2014/main" id="{0A38F993-2995-9193-7FC4-AEAAD9ADAEB1}"/>
              </a:ext>
            </a:extLst>
          </p:cNvPr>
          <p:cNvSpPr/>
          <p:nvPr/>
        </p:nvSpPr>
        <p:spPr bwMode="auto">
          <a:xfrm rot="20580792">
            <a:off x="32565" y="893618"/>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p>
          <a:p>
            <a:pPr algn="ctr"/>
            <a:r>
              <a:rPr kumimoji="1" lang="en-US" altLang="zh-CN" b="0" dirty="0">
                <a:latin typeface="Helvetica"/>
                <a:cs typeface="Helvetica"/>
              </a:rPr>
              <a:t>Interoperability</a:t>
            </a:r>
            <a:endParaRPr kumimoji="1" lang="zh-CN" altLang="en-US" b="0" dirty="0">
              <a:latin typeface="Helvetica"/>
              <a:cs typeface="Helvetica"/>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4">
            <a:extLst>
              <a:ext uri="{FF2B5EF4-FFF2-40B4-BE49-F238E27FC236}">
                <a16:creationId xmlns:a16="http://schemas.microsoft.com/office/drawing/2014/main" id="{F921CDDA-C973-A765-C756-A6D4072D9F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90580"/>
            <a:ext cx="9144000" cy="5476839"/>
          </a:xfrm>
          <a:prstGeom prst="rect">
            <a:avLst/>
          </a:prstGeom>
        </p:spPr>
      </p:pic>
      <p:sp>
        <p:nvSpPr>
          <p:cNvPr id="3" name="圆角矩形 2">
            <a:extLst>
              <a:ext uri="{FF2B5EF4-FFF2-40B4-BE49-F238E27FC236}">
                <a16:creationId xmlns:a16="http://schemas.microsoft.com/office/drawing/2014/main" id="{5AB8F8A0-BB10-4F67-C25B-7DB899A2EACD}"/>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Static</a:t>
            </a:r>
            <a:r>
              <a:rPr kumimoji="1" lang="zh-CN" altLang="en-US" b="0" dirty="0">
                <a:latin typeface="Helvetica"/>
                <a:cs typeface="Helvetica"/>
              </a:rPr>
              <a:t> </a:t>
            </a:r>
            <a:r>
              <a:rPr kumimoji="1" lang="en-US" altLang="zh-CN" b="0" dirty="0">
                <a:latin typeface="Helvetica"/>
                <a:cs typeface="Helvetica"/>
              </a:rPr>
              <a:t>Analysis</a:t>
            </a:r>
            <a:r>
              <a:rPr kumimoji="1" lang="zh-CN" altLang="en-US" b="0" dirty="0">
                <a:latin typeface="Helvetica"/>
                <a:cs typeface="Helvetica"/>
              </a:rPr>
              <a:t> </a:t>
            </a:r>
          </a:p>
        </p:txBody>
      </p:sp>
      <p:sp>
        <p:nvSpPr>
          <p:cNvPr id="4" name="圆角矩形 3">
            <a:extLst>
              <a:ext uri="{FF2B5EF4-FFF2-40B4-BE49-F238E27FC236}">
                <a16:creationId xmlns:a16="http://schemas.microsoft.com/office/drawing/2014/main" id="{D435E58B-9793-7466-2952-D60F14D1BC34}"/>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p>
          <a:p>
            <a:pPr algn="ctr"/>
            <a:r>
              <a:rPr kumimoji="1" lang="en-US" altLang="zh-CN" b="0" dirty="0">
                <a:latin typeface="Helvetica"/>
                <a:cs typeface="Helvetica"/>
              </a:rPr>
              <a:t>Easy</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a:latin typeface="Helvetica"/>
                <a:cs typeface="Helvetica"/>
              </a:rPr>
              <a:t>use</a:t>
            </a:r>
            <a:endParaRPr kumimoji="1" lang="zh-CN" altLang="en-US" b="0" dirty="0">
              <a:latin typeface="Helvetica"/>
              <a:cs typeface="Helvetica"/>
            </a:endParaRPr>
          </a:p>
        </p:txBody>
      </p:sp>
    </p:spTree>
    <p:extLst>
      <p:ext uri="{BB962C8B-B14F-4D97-AF65-F5344CB8AC3E}">
        <p14:creationId xmlns:p14="http://schemas.microsoft.com/office/powerpoint/2010/main" val="393431598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形 8">
            <a:extLst>
              <a:ext uri="{FF2B5EF4-FFF2-40B4-BE49-F238E27FC236}">
                <a16:creationId xmlns:a16="http://schemas.microsoft.com/office/drawing/2014/main" id="{8CBD5373-CD09-869E-1BDC-07FCF93CA8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ED4CBE09-3C6A-A820-3A32-FDE4A8F317DD}"/>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Static</a:t>
            </a:r>
            <a:r>
              <a:rPr kumimoji="1" lang="zh-CN" altLang="en-US" b="0" dirty="0">
                <a:latin typeface="Helvetica"/>
                <a:cs typeface="Helvetica"/>
              </a:rPr>
              <a:t> </a:t>
            </a:r>
            <a:r>
              <a:rPr kumimoji="1" lang="en-US" altLang="zh-CN" b="0" dirty="0">
                <a:latin typeface="Helvetica"/>
                <a:cs typeface="Helvetica"/>
              </a:rPr>
              <a:t>Analysis</a:t>
            </a:r>
            <a:r>
              <a:rPr kumimoji="1" lang="zh-CN" altLang="en-US" b="0" dirty="0">
                <a:latin typeface="Helvetica"/>
                <a:cs typeface="Helvetica"/>
              </a:rPr>
              <a:t> </a:t>
            </a:r>
          </a:p>
        </p:txBody>
      </p:sp>
      <p:sp>
        <p:nvSpPr>
          <p:cNvPr id="5" name="圆角矩形 4">
            <a:extLst>
              <a:ext uri="{FF2B5EF4-FFF2-40B4-BE49-F238E27FC236}">
                <a16:creationId xmlns:a16="http://schemas.microsoft.com/office/drawing/2014/main" id="{2A61CB6A-6353-C0B7-9687-183A79FE4E83}"/>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p>
          <a:p>
            <a:pPr algn="ctr"/>
            <a:r>
              <a:rPr kumimoji="1" lang="en-US" altLang="zh-CN" b="0" dirty="0">
                <a:latin typeface="Helvetica"/>
                <a:cs typeface="Helvetica"/>
              </a:rPr>
              <a:t>Portability</a:t>
            </a:r>
            <a:endParaRPr kumimoji="1" lang="zh-CN" altLang="en-US" b="0" dirty="0">
              <a:latin typeface="Helvetica"/>
              <a:cs typeface="Helvetica"/>
            </a:endParaRPr>
          </a:p>
        </p:txBody>
      </p:sp>
    </p:spTree>
    <p:extLst>
      <p:ext uri="{BB962C8B-B14F-4D97-AF65-F5344CB8AC3E}">
        <p14:creationId xmlns:p14="http://schemas.microsoft.com/office/powerpoint/2010/main" val="74663030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05DBC37E-7AD4-6156-B880-249DF1D713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702796"/>
            <a:ext cx="9144000" cy="5452407"/>
          </a:xfrm>
          <a:prstGeom prst="rect">
            <a:avLst/>
          </a:prstGeom>
        </p:spPr>
      </p:pic>
      <p:sp>
        <p:nvSpPr>
          <p:cNvPr id="3" name="圆角矩形 2">
            <a:extLst>
              <a:ext uri="{FF2B5EF4-FFF2-40B4-BE49-F238E27FC236}">
                <a16:creationId xmlns:a16="http://schemas.microsoft.com/office/drawing/2014/main" id="{47EA3D6C-0B4B-4812-94A0-3741B9B991AA}"/>
              </a:ext>
            </a:extLst>
          </p:cNvPr>
          <p:cNvSpPr/>
          <p:nvPr/>
        </p:nvSpPr>
        <p:spPr bwMode="auto">
          <a:xfrm rot="1127902">
            <a:off x="5350076" y="575151"/>
            <a:ext cx="3733800" cy="991239"/>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Do</a:t>
            </a:r>
            <a:r>
              <a:rPr kumimoji="1" lang="zh-CN" altLang="en-US" b="0" dirty="0">
                <a:latin typeface="Helvetica"/>
                <a:cs typeface="Helvetica"/>
              </a:rPr>
              <a:t> </a:t>
            </a:r>
            <a:r>
              <a:rPr kumimoji="1" lang="en-US" altLang="zh-CN" b="0" dirty="0">
                <a:latin typeface="Helvetica"/>
                <a:cs typeface="Helvetica"/>
              </a:rPr>
              <a:t>one</a:t>
            </a:r>
            <a:r>
              <a:rPr kumimoji="1" lang="zh-CN" altLang="en-US" b="0" dirty="0">
                <a:latin typeface="Helvetica"/>
                <a:cs typeface="Helvetica"/>
              </a:rPr>
              <a:t> </a:t>
            </a:r>
            <a:r>
              <a:rPr kumimoji="1" lang="en-US" altLang="zh-CN" b="0" dirty="0">
                <a:latin typeface="Helvetica"/>
                <a:cs typeface="Helvetica"/>
              </a:rPr>
              <a:t>thing</a:t>
            </a:r>
            <a:r>
              <a:rPr kumimoji="1" lang="zh-CN" altLang="en-US" b="0" dirty="0">
                <a:latin typeface="Helvetica"/>
                <a:cs typeface="Helvetica"/>
              </a:rPr>
              <a:t> </a:t>
            </a:r>
            <a:r>
              <a:rPr kumimoji="1" lang="en-US" altLang="zh-CN" b="0" dirty="0">
                <a:latin typeface="Helvetica"/>
                <a:cs typeface="Helvetica"/>
              </a:rPr>
              <a:t>well</a:t>
            </a:r>
          </a:p>
          <a:p>
            <a:pPr algn="ctr"/>
            <a:r>
              <a:rPr kumimoji="1" lang="en-US" altLang="zh-CN" b="0" dirty="0">
                <a:latin typeface="Helvetica"/>
                <a:cs typeface="Helvetica"/>
              </a:rPr>
              <a:t>Keep</a:t>
            </a:r>
            <a:r>
              <a:rPr kumimoji="1" lang="zh-CN" altLang="en-US" b="0" dirty="0">
                <a:latin typeface="Helvetica"/>
                <a:cs typeface="Helvetica"/>
              </a:rPr>
              <a:t> </a:t>
            </a:r>
            <a:r>
              <a:rPr kumimoji="1" lang="en-US" altLang="zh-CN" b="0" dirty="0">
                <a:latin typeface="Helvetica"/>
                <a:cs typeface="Helvetica"/>
              </a:rPr>
              <a:t>Stable</a:t>
            </a:r>
            <a:r>
              <a:rPr kumimoji="1" lang="zh-CN" altLang="en-US" b="0" dirty="0">
                <a:latin typeface="Helvetica"/>
                <a:cs typeface="Helvetica"/>
              </a:rPr>
              <a:t> </a:t>
            </a:r>
          </a:p>
        </p:txBody>
      </p:sp>
      <p:sp>
        <p:nvSpPr>
          <p:cNvPr id="5" name="圆角矩形 4">
            <a:extLst>
              <a:ext uri="{FF2B5EF4-FFF2-40B4-BE49-F238E27FC236}">
                <a16:creationId xmlns:a16="http://schemas.microsoft.com/office/drawing/2014/main" id="{876BBAAB-D8AD-5576-96D9-5715D263C72C}"/>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p>
          <a:p>
            <a:pPr algn="ctr"/>
            <a:r>
              <a:rPr kumimoji="1" lang="en-US" altLang="zh-CN" b="0" dirty="0">
                <a:latin typeface="Helvetica"/>
                <a:cs typeface="Helvetica"/>
              </a:rPr>
              <a:t>Portability</a:t>
            </a:r>
            <a:endParaRPr kumimoji="1" lang="zh-CN" altLang="en-US" b="0" dirty="0">
              <a:latin typeface="Helvetica"/>
              <a:cs typeface="Helvetica"/>
            </a:endParaRPr>
          </a:p>
        </p:txBody>
      </p:sp>
    </p:spTree>
    <p:extLst>
      <p:ext uri="{BB962C8B-B14F-4D97-AF65-F5344CB8AC3E}">
        <p14:creationId xmlns:p14="http://schemas.microsoft.com/office/powerpoint/2010/main" val="66937321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506" name="Rectangle 2"/>
          <p:cNvSpPr>
            <a:spLocks noChangeArrowheads="1"/>
          </p:cNvSpPr>
          <p:nvPr/>
        </p:nvSpPr>
        <p:spPr bwMode="auto">
          <a:xfrm>
            <a:off x="533400" y="990600"/>
            <a:ext cx="8077200" cy="4343400"/>
          </a:xfrm>
          <a:prstGeom prst="rect">
            <a:avLst/>
          </a:prstGeom>
          <a:solidFill>
            <a:srgbClr val="CCFFFF"/>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defRPr/>
            </a:pPr>
            <a:endParaRPr lang="en-US">
              <a:latin typeface="Helvetica"/>
              <a:ea typeface="ＭＳ Ｐゴシック" charset="-128"/>
              <a:cs typeface="Helvetica"/>
            </a:endParaRPr>
          </a:p>
        </p:txBody>
      </p:sp>
      <p:sp>
        <p:nvSpPr>
          <p:cNvPr id="50179" name="Rectangle 3"/>
          <p:cNvSpPr>
            <a:spLocks noGrp="1" noChangeArrowheads="1"/>
          </p:cNvSpPr>
          <p:nvPr>
            <p:ph type="title"/>
          </p:nvPr>
        </p:nvSpPr>
        <p:spPr>
          <a:xfrm>
            <a:off x="471488" y="66675"/>
            <a:ext cx="7453312" cy="1143000"/>
          </a:xfrm>
        </p:spPr>
        <p:txBody>
          <a:bodyPr lIns="90452" tIns="44434" rIns="90452" bIns="44434"/>
          <a:lstStyle/>
          <a:p>
            <a:r>
              <a:rPr lang="en-US">
                <a:latin typeface="Helvetica" charset="0"/>
                <a:ea typeface="MS PGothic" charset="0"/>
              </a:rPr>
              <a:t>The Internet </a:t>
            </a:r>
            <a:r>
              <a:rPr lang="en-US" i="1">
                <a:latin typeface="Helvetica" charset="0"/>
                <a:ea typeface="MS PGothic" charset="0"/>
              </a:rPr>
              <a:t>Hourglass</a:t>
            </a:r>
            <a:endParaRPr lang="en-US">
              <a:latin typeface="Helvetica" charset="0"/>
              <a:ea typeface="MS PGothic" charset="0"/>
            </a:endParaRPr>
          </a:p>
        </p:txBody>
      </p:sp>
      <p:sp>
        <p:nvSpPr>
          <p:cNvPr id="50180" name="Line 4"/>
          <p:cNvSpPr>
            <a:spLocks noChangeShapeType="1"/>
          </p:cNvSpPr>
          <p:nvPr/>
        </p:nvSpPr>
        <p:spPr bwMode="auto">
          <a:xfrm>
            <a:off x="2971800" y="3429000"/>
            <a:ext cx="2819400" cy="0"/>
          </a:xfrm>
          <a:prstGeom prst="line">
            <a:avLst/>
          </a:prstGeom>
          <a:noFill/>
          <a:ln w="254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50181" name="Arc 5"/>
          <p:cNvSpPr>
            <a:spLocks/>
          </p:cNvSpPr>
          <p:nvPr/>
        </p:nvSpPr>
        <p:spPr bwMode="auto">
          <a:xfrm>
            <a:off x="6553200" y="3386138"/>
            <a:ext cx="1181100" cy="13462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solidFill>
            <a:srgbClr val="FF6600"/>
          </a:solidFill>
          <a:ln w="76200" cap="rnd">
            <a:solidFill>
              <a:schemeClr val="accent1"/>
            </a:solidFill>
            <a:round/>
            <a:headEnd/>
            <a:tailEnd/>
          </a:ln>
        </p:spPr>
        <p:txBody>
          <a:bodyPr wrap="none" anchor="ctr"/>
          <a:lstStyle/>
          <a:p>
            <a:endParaRPr lang="en-US"/>
          </a:p>
        </p:txBody>
      </p:sp>
      <p:sp>
        <p:nvSpPr>
          <p:cNvPr id="50182" name="Arc 6"/>
          <p:cNvSpPr>
            <a:spLocks/>
          </p:cNvSpPr>
          <p:nvPr/>
        </p:nvSpPr>
        <p:spPr bwMode="auto">
          <a:xfrm>
            <a:off x="5373688" y="3386138"/>
            <a:ext cx="1181100" cy="1346200"/>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21599"/>
                </a:moveTo>
                <a:cubicBezTo>
                  <a:pt x="-1" y="9681"/>
                  <a:pt x="9652" y="16"/>
                  <a:pt x="21571" y="0"/>
                </a:cubicBezTo>
              </a:path>
              <a:path w="21600" h="21600" stroke="0" extrusionOk="0">
                <a:moveTo>
                  <a:pt x="-1" y="21599"/>
                </a:moveTo>
                <a:cubicBezTo>
                  <a:pt x="-1" y="9681"/>
                  <a:pt x="9652" y="16"/>
                  <a:pt x="21571" y="0"/>
                </a:cubicBezTo>
                <a:lnTo>
                  <a:pt x="21600" y="21600"/>
                </a:lnTo>
                <a:lnTo>
                  <a:pt x="-1" y="21599"/>
                </a:lnTo>
                <a:close/>
              </a:path>
            </a:pathLst>
          </a:custGeom>
          <a:solidFill>
            <a:srgbClr val="FF6600"/>
          </a:solidFill>
          <a:ln w="76200" cap="rnd">
            <a:solidFill>
              <a:schemeClr val="accent1"/>
            </a:solidFill>
            <a:round/>
            <a:headEnd/>
            <a:tailEnd/>
          </a:ln>
        </p:spPr>
        <p:txBody>
          <a:bodyPr wrap="none" anchor="ctr"/>
          <a:lstStyle/>
          <a:p>
            <a:endParaRPr lang="en-US"/>
          </a:p>
        </p:txBody>
      </p:sp>
      <p:sp>
        <p:nvSpPr>
          <p:cNvPr id="50183" name="Arc 7"/>
          <p:cNvSpPr>
            <a:spLocks/>
          </p:cNvSpPr>
          <p:nvPr/>
        </p:nvSpPr>
        <p:spPr bwMode="auto">
          <a:xfrm rot="10800000">
            <a:off x="6543675" y="1600200"/>
            <a:ext cx="1230313" cy="1677988"/>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21599"/>
                </a:moveTo>
                <a:cubicBezTo>
                  <a:pt x="-1" y="9681"/>
                  <a:pt x="9652" y="16"/>
                  <a:pt x="21571" y="0"/>
                </a:cubicBezTo>
              </a:path>
              <a:path w="21600" h="21600" stroke="0" extrusionOk="0">
                <a:moveTo>
                  <a:pt x="-1" y="21599"/>
                </a:moveTo>
                <a:cubicBezTo>
                  <a:pt x="-1" y="9681"/>
                  <a:pt x="9652" y="16"/>
                  <a:pt x="21571" y="0"/>
                </a:cubicBezTo>
                <a:lnTo>
                  <a:pt x="21600" y="21600"/>
                </a:lnTo>
                <a:lnTo>
                  <a:pt x="-1" y="21599"/>
                </a:lnTo>
                <a:close/>
              </a:path>
            </a:pathLst>
          </a:custGeom>
          <a:solidFill>
            <a:srgbClr val="FF6600"/>
          </a:solidFill>
          <a:ln w="76200" cap="rnd">
            <a:solidFill>
              <a:schemeClr val="accent1"/>
            </a:solidFill>
            <a:round/>
            <a:headEnd/>
            <a:tailEnd/>
          </a:ln>
        </p:spPr>
        <p:txBody>
          <a:bodyPr wrap="none" anchor="ctr"/>
          <a:lstStyle/>
          <a:p>
            <a:endParaRPr lang="en-US"/>
          </a:p>
        </p:txBody>
      </p:sp>
      <p:sp>
        <p:nvSpPr>
          <p:cNvPr id="50184" name="Arc 8"/>
          <p:cNvSpPr>
            <a:spLocks/>
          </p:cNvSpPr>
          <p:nvPr/>
        </p:nvSpPr>
        <p:spPr bwMode="auto">
          <a:xfrm rot="10800000">
            <a:off x="5334000" y="1600200"/>
            <a:ext cx="1209675" cy="1677988"/>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solidFill>
            <a:srgbClr val="FF6600"/>
          </a:solidFill>
          <a:ln w="76200" cap="rnd">
            <a:solidFill>
              <a:schemeClr val="accent1"/>
            </a:solidFill>
            <a:round/>
            <a:headEnd/>
            <a:tailEnd/>
          </a:ln>
        </p:spPr>
        <p:txBody>
          <a:bodyPr wrap="none" anchor="ctr"/>
          <a:lstStyle/>
          <a:p>
            <a:endParaRPr lang="en-US"/>
          </a:p>
        </p:txBody>
      </p:sp>
      <p:sp>
        <p:nvSpPr>
          <p:cNvPr id="50185" name="Line 9"/>
          <p:cNvSpPr>
            <a:spLocks noChangeShapeType="1"/>
          </p:cNvSpPr>
          <p:nvPr/>
        </p:nvSpPr>
        <p:spPr bwMode="auto">
          <a:xfrm flipV="1">
            <a:off x="5326063" y="1600200"/>
            <a:ext cx="2435225" cy="0"/>
          </a:xfrm>
          <a:prstGeom prst="line">
            <a:avLst/>
          </a:prstGeom>
          <a:noFill/>
          <a:ln w="76200">
            <a:solidFill>
              <a:schemeClr val="accent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0186" name="Line 10"/>
          <p:cNvSpPr>
            <a:spLocks noChangeShapeType="1"/>
          </p:cNvSpPr>
          <p:nvPr/>
        </p:nvSpPr>
        <p:spPr bwMode="auto">
          <a:xfrm flipV="1">
            <a:off x="5326063" y="4719638"/>
            <a:ext cx="2359025" cy="0"/>
          </a:xfrm>
          <a:prstGeom prst="line">
            <a:avLst/>
          </a:prstGeom>
          <a:noFill/>
          <a:ln w="76200">
            <a:solidFill>
              <a:schemeClr val="accent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50187" name="Rectangle 11"/>
          <p:cNvSpPr>
            <a:spLocks noChangeArrowheads="1"/>
          </p:cNvSpPr>
          <p:nvPr/>
        </p:nvSpPr>
        <p:spPr bwMode="auto">
          <a:xfrm>
            <a:off x="6400800" y="3203575"/>
            <a:ext cx="304800" cy="217488"/>
          </a:xfrm>
          <a:prstGeom prst="rect">
            <a:avLst/>
          </a:prstGeom>
          <a:solidFill>
            <a:schemeClr val="accent1"/>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latin typeface="Helvetica" charset="0"/>
            </a:endParaRPr>
          </a:p>
        </p:txBody>
      </p:sp>
      <p:sp>
        <p:nvSpPr>
          <p:cNvPr id="50188" name="Rectangle 12"/>
          <p:cNvSpPr>
            <a:spLocks noChangeArrowheads="1"/>
          </p:cNvSpPr>
          <p:nvPr/>
        </p:nvSpPr>
        <p:spPr bwMode="auto">
          <a:xfrm>
            <a:off x="5954713" y="3763963"/>
            <a:ext cx="1568450" cy="458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0452" tIns="44434" rIns="90452" bIns="44434">
            <a:spAutoFit/>
          </a:bodyPr>
          <a:lstStyle/>
          <a:p>
            <a:pPr eaLnBrk="0" hangingPunct="0"/>
            <a:r>
              <a:rPr lang="en-US">
                <a:latin typeface="Helvetica" charset="0"/>
              </a:rPr>
              <a:t>Data Link</a:t>
            </a:r>
          </a:p>
        </p:txBody>
      </p:sp>
      <p:sp>
        <p:nvSpPr>
          <p:cNvPr id="50189" name="Rectangle 13"/>
          <p:cNvSpPr>
            <a:spLocks noChangeArrowheads="1"/>
          </p:cNvSpPr>
          <p:nvPr/>
        </p:nvSpPr>
        <p:spPr bwMode="auto">
          <a:xfrm>
            <a:off x="6005513" y="4198938"/>
            <a:ext cx="1431925" cy="458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0452" tIns="44434" rIns="90452" bIns="44434">
            <a:spAutoFit/>
          </a:bodyPr>
          <a:lstStyle/>
          <a:p>
            <a:pPr eaLnBrk="0" hangingPunct="0"/>
            <a:r>
              <a:rPr lang="en-US">
                <a:latin typeface="Helvetica" charset="0"/>
              </a:rPr>
              <a:t>Physical</a:t>
            </a:r>
          </a:p>
        </p:txBody>
      </p:sp>
      <p:sp>
        <p:nvSpPr>
          <p:cNvPr id="50190" name="Rectangle 14"/>
          <p:cNvSpPr>
            <a:spLocks noChangeArrowheads="1"/>
          </p:cNvSpPr>
          <p:nvPr/>
        </p:nvSpPr>
        <p:spPr bwMode="auto">
          <a:xfrm>
            <a:off x="5783263" y="1801813"/>
            <a:ext cx="2028825" cy="458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0452" tIns="44434" rIns="90452" bIns="44434">
            <a:spAutoFit/>
          </a:bodyPr>
          <a:lstStyle/>
          <a:p>
            <a:pPr eaLnBrk="0" hangingPunct="0"/>
            <a:r>
              <a:rPr lang="en-US">
                <a:latin typeface="Helvetica" charset="0"/>
              </a:rPr>
              <a:t>Applications</a:t>
            </a:r>
          </a:p>
        </p:txBody>
      </p:sp>
      <p:sp>
        <p:nvSpPr>
          <p:cNvPr id="50191" name="Text Box 15"/>
          <p:cNvSpPr txBox="1">
            <a:spLocks noChangeArrowheads="1"/>
          </p:cNvSpPr>
          <p:nvPr/>
        </p:nvSpPr>
        <p:spPr bwMode="auto">
          <a:xfrm>
            <a:off x="5086350" y="4722813"/>
            <a:ext cx="3297238"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wrap="none" lIns="91267" tIns="45632" rIns="91267" bIns="45632">
            <a:spAutoFit/>
          </a:bodyPr>
          <a:lstStyle>
            <a:lvl1pPr defTabSz="912813" eaLnBrk="0" hangingPunct="0">
              <a:defRPr sz="2400" b="1">
                <a:solidFill>
                  <a:schemeClr val="tx1"/>
                </a:solidFill>
                <a:latin typeface="Comic Sans MS" charset="0"/>
                <a:ea typeface="MS PGothic" charset="0"/>
                <a:cs typeface="MS PGothic" charset="0"/>
              </a:defRPr>
            </a:lvl1pPr>
            <a:lvl2pPr marL="742950" indent="-285750" defTabSz="912813" eaLnBrk="0" hangingPunct="0">
              <a:defRPr sz="2400" b="1">
                <a:solidFill>
                  <a:schemeClr val="tx1"/>
                </a:solidFill>
                <a:latin typeface="Comic Sans MS" charset="0"/>
                <a:ea typeface="MS PGothic" charset="0"/>
                <a:cs typeface="MS PGothic" charset="0"/>
              </a:defRPr>
            </a:lvl2pPr>
            <a:lvl3pPr marL="1143000" indent="-228600" defTabSz="912813" eaLnBrk="0" hangingPunct="0">
              <a:defRPr sz="2400" b="1">
                <a:solidFill>
                  <a:schemeClr val="tx1"/>
                </a:solidFill>
                <a:latin typeface="Comic Sans MS" charset="0"/>
                <a:ea typeface="MS PGothic" charset="0"/>
                <a:cs typeface="MS PGothic" charset="0"/>
              </a:defRPr>
            </a:lvl3pPr>
            <a:lvl4pPr marL="1600200" indent="-228600" defTabSz="912813" eaLnBrk="0" hangingPunct="0">
              <a:defRPr sz="2400" b="1">
                <a:solidFill>
                  <a:schemeClr val="tx1"/>
                </a:solidFill>
                <a:latin typeface="Comic Sans MS" charset="0"/>
                <a:ea typeface="MS PGothic" charset="0"/>
                <a:cs typeface="MS PGothic" charset="0"/>
              </a:defRPr>
            </a:lvl4pPr>
            <a:lvl5pPr marL="2057400" indent="-228600" defTabSz="912813" eaLnBrk="0" hangingPunct="0">
              <a:defRPr sz="2400" b="1">
                <a:solidFill>
                  <a:schemeClr val="tx1"/>
                </a:solidFill>
                <a:latin typeface="Comic Sans MS" charset="0"/>
                <a:ea typeface="MS PGothic" charset="0"/>
                <a:cs typeface="MS PGothic" charset="0"/>
              </a:defRPr>
            </a:lvl5pPr>
            <a:lvl6pPr marL="25146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r>
              <a:rPr lang="en-US">
                <a:latin typeface="Helvetica" charset="0"/>
              </a:rPr>
              <a:t>The Hourglass Model</a:t>
            </a:r>
          </a:p>
        </p:txBody>
      </p:sp>
      <p:sp>
        <p:nvSpPr>
          <p:cNvPr id="50192" name="Text Box 16"/>
          <p:cNvSpPr txBox="1">
            <a:spLocks noChangeArrowheads="1"/>
          </p:cNvSpPr>
          <p:nvPr/>
        </p:nvSpPr>
        <p:spPr bwMode="auto">
          <a:xfrm>
            <a:off x="3962400" y="2971800"/>
            <a:ext cx="1597025"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lIns="91267" tIns="45632" rIns="91267" bIns="45632">
            <a:spAutoFit/>
          </a:bodyPr>
          <a:lstStyle>
            <a:lvl1pPr defTabSz="912813" eaLnBrk="0" hangingPunct="0">
              <a:defRPr sz="2400" b="1">
                <a:solidFill>
                  <a:schemeClr val="tx1"/>
                </a:solidFill>
                <a:latin typeface="Comic Sans MS" charset="0"/>
                <a:ea typeface="MS PGothic" charset="0"/>
                <a:cs typeface="MS PGothic" charset="0"/>
              </a:defRPr>
            </a:lvl1pPr>
            <a:lvl2pPr marL="742950" indent="-285750" defTabSz="912813" eaLnBrk="0" hangingPunct="0">
              <a:defRPr sz="2400" b="1">
                <a:solidFill>
                  <a:schemeClr val="tx1"/>
                </a:solidFill>
                <a:latin typeface="Comic Sans MS" charset="0"/>
                <a:ea typeface="MS PGothic" charset="0"/>
                <a:cs typeface="MS PGothic" charset="0"/>
              </a:defRPr>
            </a:lvl2pPr>
            <a:lvl3pPr marL="1143000" indent="-228600" defTabSz="912813" eaLnBrk="0" hangingPunct="0">
              <a:defRPr sz="2400" b="1">
                <a:solidFill>
                  <a:schemeClr val="tx1"/>
                </a:solidFill>
                <a:latin typeface="Comic Sans MS" charset="0"/>
                <a:ea typeface="MS PGothic" charset="0"/>
                <a:cs typeface="MS PGothic" charset="0"/>
              </a:defRPr>
            </a:lvl3pPr>
            <a:lvl4pPr marL="1600200" indent="-228600" defTabSz="912813" eaLnBrk="0" hangingPunct="0">
              <a:defRPr sz="2400" b="1">
                <a:solidFill>
                  <a:schemeClr val="tx1"/>
                </a:solidFill>
                <a:latin typeface="Comic Sans MS" charset="0"/>
                <a:ea typeface="MS PGothic" charset="0"/>
                <a:cs typeface="MS PGothic" charset="0"/>
              </a:defRPr>
            </a:lvl4pPr>
            <a:lvl5pPr marL="2057400" indent="-228600" defTabSz="912813" eaLnBrk="0" hangingPunct="0">
              <a:defRPr sz="2400" b="1">
                <a:solidFill>
                  <a:schemeClr val="tx1"/>
                </a:solidFill>
                <a:latin typeface="Comic Sans MS" charset="0"/>
                <a:ea typeface="MS PGothic" charset="0"/>
                <a:cs typeface="MS PGothic" charset="0"/>
              </a:defRPr>
            </a:lvl5pPr>
            <a:lvl6pPr marL="25146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spcBef>
                <a:spcPct val="50000"/>
              </a:spcBef>
            </a:pPr>
            <a:r>
              <a:rPr lang="en-US" sz="2800" b="0">
                <a:latin typeface="Helvetica" charset="0"/>
              </a:rPr>
              <a:t>Waist</a:t>
            </a:r>
          </a:p>
        </p:txBody>
      </p:sp>
      <p:sp>
        <p:nvSpPr>
          <p:cNvPr id="50193" name="Text Box 17"/>
          <p:cNvSpPr txBox="1">
            <a:spLocks noChangeArrowheads="1"/>
          </p:cNvSpPr>
          <p:nvPr/>
        </p:nvSpPr>
        <p:spPr bwMode="auto">
          <a:xfrm>
            <a:off x="533400" y="5334000"/>
            <a:ext cx="7696200" cy="954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50800">
                <a:solidFill>
                  <a:srgbClr val="000000"/>
                </a:solidFill>
                <a:miter lim="800000"/>
                <a:headEnd/>
                <a:tailEnd/>
              </a14:hiddenLine>
            </a:ext>
          </a:extLst>
        </p:spPr>
        <p:txBody>
          <a:bodyPr lIns="91267" tIns="45632" rIns="91267" bIns="45632">
            <a:spAutoFit/>
          </a:bodyPr>
          <a:lstStyle>
            <a:lvl1pPr defTabSz="912813" eaLnBrk="0" hangingPunct="0">
              <a:defRPr sz="2400" b="1">
                <a:solidFill>
                  <a:schemeClr val="tx1"/>
                </a:solidFill>
                <a:latin typeface="Comic Sans MS" charset="0"/>
                <a:ea typeface="MS PGothic" charset="0"/>
                <a:cs typeface="MS PGothic" charset="0"/>
              </a:defRPr>
            </a:lvl1pPr>
            <a:lvl2pPr marL="742950" indent="-285750" defTabSz="912813" eaLnBrk="0" hangingPunct="0">
              <a:defRPr sz="2400" b="1">
                <a:solidFill>
                  <a:schemeClr val="tx1"/>
                </a:solidFill>
                <a:latin typeface="Comic Sans MS" charset="0"/>
                <a:ea typeface="MS PGothic" charset="0"/>
                <a:cs typeface="MS PGothic" charset="0"/>
              </a:defRPr>
            </a:lvl2pPr>
            <a:lvl3pPr marL="1143000" indent="-228600" defTabSz="912813" eaLnBrk="0" hangingPunct="0">
              <a:defRPr sz="2400" b="1">
                <a:solidFill>
                  <a:schemeClr val="tx1"/>
                </a:solidFill>
                <a:latin typeface="Comic Sans MS" charset="0"/>
                <a:ea typeface="MS PGothic" charset="0"/>
                <a:cs typeface="MS PGothic" charset="0"/>
              </a:defRPr>
            </a:lvl3pPr>
            <a:lvl4pPr marL="1600200" indent="-228600" defTabSz="912813" eaLnBrk="0" hangingPunct="0">
              <a:defRPr sz="2400" b="1">
                <a:solidFill>
                  <a:schemeClr val="tx1"/>
                </a:solidFill>
                <a:latin typeface="Comic Sans MS" charset="0"/>
                <a:ea typeface="MS PGothic" charset="0"/>
                <a:cs typeface="MS PGothic" charset="0"/>
              </a:defRPr>
            </a:lvl4pPr>
            <a:lvl5pPr marL="2057400" indent="-228600" defTabSz="912813" eaLnBrk="0" hangingPunct="0">
              <a:defRPr sz="2400" b="1">
                <a:solidFill>
                  <a:schemeClr val="tx1"/>
                </a:solidFill>
                <a:latin typeface="Comic Sans MS" charset="0"/>
                <a:ea typeface="MS PGothic" charset="0"/>
                <a:cs typeface="MS PGothic" charset="0"/>
              </a:defRPr>
            </a:lvl5pPr>
            <a:lvl6pPr marL="25146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defTabSz="912813"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spcBef>
                <a:spcPct val="50000"/>
              </a:spcBef>
            </a:pPr>
            <a:r>
              <a:rPr lang="en-US" sz="2800" b="0">
                <a:latin typeface="Helvetica" charset="0"/>
              </a:rPr>
              <a:t>There is just </a:t>
            </a:r>
            <a:r>
              <a:rPr lang="en-US" sz="2800" b="0">
                <a:solidFill>
                  <a:srgbClr val="FF0000"/>
                </a:solidFill>
                <a:latin typeface="Helvetica" charset="0"/>
              </a:rPr>
              <a:t>one</a:t>
            </a:r>
            <a:r>
              <a:rPr lang="en-US" sz="2800" b="0">
                <a:latin typeface="Helvetica" charset="0"/>
              </a:rPr>
              <a:t> network-layer protocol, </a:t>
            </a:r>
            <a:r>
              <a:rPr lang="en-US" sz="2800">
                <a:latin typeface="Helvetica" charset="0"/>
              </a:rPr>
              <a:t>IP</a:t>
            </a:r>
            <a:endParaRPr lang="en-US" sz="2800" b="0">
              <a:latin typeface="Helvetica" charset="0"/>
            </a:endParaRPr>
          </a:p>
          <a:p>
            <a:pPr>
              <a:lnSpc>
                <a:spcPct val="40000"/>
              </a:lnSpc>
              <a:spcBef>
                <a:spcPct val="50000"/>
              </a:spcBef>
            </a:pPr>
            <a:r>
              <a:rPr lang="en-US" sz="2800" b="0">
                <a:latin typeface="Helvetica" charset="0"/>
              </a:rPr>
              <a:t>The </a:t>
            </a:r>
            <a:r>
              <a:rPr lang="ja-JP" altLang="en-US" sz="2800" b="0">
                <a:latin typeface="Helvetica" charset="0"/>
              </a:rPr>
              <a:t>“</a:t>
            </a:r>
            <a:r>
              <a:rPr lang="en-US" altLang="ja-JP" sz="2800" b="0">
                <a:latin typeface="Helvetica" charset="0"/>
              </a:rPr>
              <a:t>narrow waist</a:t>
            </a:r>
            <a:r>
              <a:rPr lang="ja-JP" altLang="en-US" sz="2800" b="0">
                <a:latin typeface="Helvetica" charset="0"/>
              </a:rPr>
              <a:t>”</a:t>
            </a:r>
            <a:r>
              <a:rPr lang="en-US" altLang="ja-JP" sz="2800" b="0">
                <a:latin typeface="Helvetica" charset="0"/>
              </a:rPr>
              <a:t> facilitates </a:t>
            </a:r>
            <a:r>
              <a:rPr lang="en-US" altLang="ja-JP" sz="2800" b="0">
                <a:solidFill>
                  <a:srgbClr val="FF0000"/>
                </a:solidFill>
                <a:latin typeface="Helvetica" charset="0"/>
              </a:rPr>
              <a:t>interoperability</a:t>
            </a:r>
            <a:endParaRPr lang="en-US" sz="2800" b="0">
              <a:latin typeface="Helvetica" charset="0"/>
            </a:endParaRPr>
          </a:p>
        </p:txBody>
      </p:sp>
      <p:sp>
        <p:nvSpPr>
          <p:cNvPr id="50194" name="Rectangle 18"/>
          <p:cNvSpPr>
            <a:spLocks noChangeArrowheads="1"/>
          </p:cNvSpPr>
          <p:nvPr/>
        </p:nvSpPr>
        <p:spPr bwMode="auto">
          <a:xfrm>
            <a:off x="914400" y="1828800"/>
            <a:ext cx="685800" cy="381000"/>
          </a:xfrm>
          <a:prstGeom prst="rect">
            <a:avLst/>
          </a:prstGeom>
          <a:solidFill>
            <a:srgbClr val="00CC66"/>
          </a:solidFill>
          <a:ln w="9525">
            <a:solidFill>
              <a:schemeClr val="tx1"/>
            </a:solidFill>
            <a:miter lim="800000"/>
            <a:headEnd/>
            <a:tailEnd/>
          </a:ln>
        </p:spPr>
        <p:txBody>
          <a:bodyPr wrap="none" lIns="91420" tIns="45712" rIns="91420" bIns="45712" anchor="ctr"/>
          <a:lstStyle/>
          <a:p>
            <a:pPr algn="ctr"/>
            <a:r>
              <a:rPr lang="en-US" sz="2000" b="0">
                <a:solidFill>
                  <a:schemeClr val="bg1"/>
                </a:solidFill>
                <a:latin typeface="Helvetica" charset="0"/>
              </a:rPr>
              <a:t>SMTP</a:t>
            </a:r>
          </a:p>
        </p:txBody>
      </p:sp>
      <p:sp>
        <p:nvSpPr>
          <p:cNvPr id="50195" name="Rectangle 19"/>
          <p:cNvSpPr>
            <a:spLocks noChangeArrowheads="1"/>
          </p:cNvSpPr>
          <p:nvPr/>
        </p:nvSpPr>
        <p:spPr bwMode="auto">
          <a:xfrm>
            <a:off x="1752600" y="1828800"/>
            <a:ext cx="685800" cy="381000"/>
          </a:xfrm>
          <a:prstGeom prst="rect">
            <a:avLst/>
          </a:prstGeom>
          <a:solidFill>
            <a:srgbClr val="FFFFFF"/>
          </a:solidFill>
          <a:ln w="9525">
            <a:solidFill>
              <a:schemeClr val="tx1"/>
            </a:solidFill>
            <a:miter lim="800000"/>
            <a:headEnd/>
            <a:tailEnd/>
          </a:ln>
        </p:spPr>
        <p:txBody>
          <a:bodyPr wrap="none" lIns="91420" tIns="45712" rIns="91420" bIns="45712" anchor="ctr"/>
          <a:lstStyle/>
          <a:p>
            <a:pPr algn="ctr"/>
            <a:r>
              <a:rPr lang="en-US" sz="2000" b="0" dirty="0">
                <a:solidFill>
                  <a:srgbClr val="000000"/>
                </a:solidFill>
                <a:latin typeface="Helvetica" charset="0"/>
              </a:rPr>
              <a:t>HTTP</a:t>
            </a:r>
          </a:p>
        </p:txBody>
      </p:sp>
      <p:sp>
        <p:nvSpPr>
          <p:cNvPr id="50196" name="Rectangle 20"/>
          <p:cNvSpPr>
            <a:spLocks noChangeArrowheads="1"/>
          </p:cNvSpPr>
          <p:nvPr/>
        </p:nvSpPr>
        <p:spPr bwMode="auto">
          <a:xfrm>
            <a:off x="3429000" y="1828800"/>
            <a:ext cx="685800" cy="381000"/>
          </a:xfrm>
          <a:prstGeom prst="rect">
            <a:avLst/>
          </a:prstGeom>
          <a:solidFill>
            <a:srgbClr val="FFFFFF"/>
          </a:solidFill>
          <a:ln w="9525">
            <a:solidFill>
              <a:schemeClr val="tx1"/>
            </a:solidFill>
            <a:miter lim="800000"/>
            <a:headEnd/>
            <a:tailEnd/>
          </a:ln>
        </p:spPr>
        <p:txBody>
          <a:bodyPr wrap="none" lIns="91420" tIns="45712" rIns="91420" bIns="45712" anchor="ctr"/>
          <a:lstStyle/>
          <a:p>
            <a:pPr algn="ctr"/>
            <a:r>
              <a:rPr lang="en-US" sz="2000" b="0">
                <a:solidFill>
                  <a:srgbClr val="000000"/>
                </a:solidFill>
                <a:latin typeface="Helvetica" charset="0"/>
              </a:rPr>
              <a:t>NTP</a:t>
            </a:r>
          </a:p>
        </p:txBody>
      </p:sp>
      <p:sp>
        <p:nvSpPr>
          <p:cNvPr id="50197" name="Rectangle 21"/>
          <p:cNvSpPr>
            <a:spLocks noChangeArrowheads="1"/>
          </p:cNvSpPr>
          <p:nvPr/>
        </p:nvSpPr>
        <p:spPr bwMode="auto">
          <a:xfrm>
            <a:off x="2590800" y="1828800"/>
            <a:ext cx="685800" cy="381000"/>
          </a:xfrm>
          <a:prstGeom prst="rect">
            <a:avLst/>
          </a:prstGeom>
          <a:solidFill>
            <a:srgbClr val="FFFFFF"/>
          </a:solidFill>
          <a:ln w="9525">
            <a:solidFill>
              <a:schemeClr val="tx1"/>
            </a:solidFill>
            <a:miter lim="800000"/>
            <a:headEnd/>
            <a:tailEnd/>
          </a:ln>
        </p:spPr>
        <p:txBody>
          <a:bodyPr wrap="none" lIns="91420" tIns="45712" rIns="91420" bIns="45712" anchor="ctr"/>
          <a:lstStyle/>
          <a:p>
            <a:pPr algn="ctr"/>
            <a:r>
              <a:rPr lang="en-US" sz="2000" b="0">
                <a:solidFill>
                  <a:srgbClr val="000000"/>
                </a:solidFill>
                <a:latin typeface="Helvetica" charset="0"/>
              </a:rPr>
              <a:t>DNS</a:t>
            </a:r>
          </a:p>
        </p:txBody>
      </p:sp>
      <p:sp>
        <p:nvSpPr>
          <p:cNvPr id="50198" name="Rectangle 22"/>
          <p:cNvSpPr>
            <a:spLocks noChangeArrowheads="1"/>
          </p:cNvSpPr>
          <p:nvPr/>
        </p:nvSpPr>
        <p:spPr bwMode="auto">
          <a:xfrm>
            <a:off x="1295400" y="2514600"/>
            <a:ext cx="685800" cy="381000"/>
          </a:xfrm>
          <a:prstGeom prst="rect">
            <a:avLst/>
          </a:prstGeom>
          <a:solidFill>
            <a:schemeClr val="accent2"/>
          </a:solidFill>
          <a:ln w="9525">
            <a:solidFill>
              <a:schemeClr val="tx1"/>
            </a:solidFill>
            <a:miter lim="800000"/>
            <a:headEnd/>
            <a:tailEnd/>
          </a:ln>
        </p:spPr>
        <p:txBody>
          <a:bodyPr wrap="none" lIns="91420" tIns="45712" rIns="91420" bIns="45712" anchor="ctr"/>
          <a:lstStyle/>
          <a:p>
            <a:pPr algn="ctr"/>
            <a:r>
              <a:rPr lang="en-US" sz="2000" b="0">
                <a:solidFill>
                  <a:schemeClr val="bg1"/>
                </a:solidFill>
                <a:latin typeface="Helvetica" charset="0"/>
              </a:rPr>
              <a:t>TCP</a:t>
            </a:r>
          </a:p>
        </p:txBody>
      </p:sp>
      <p:sp>
        <p:nvSpPr>
          <p:cNvPr id="50199" name="Rectangle 23"/>
          <p:cNvSpPr>
            <a:spLocks noChangeArrowheads="1"/>
          </p:cNvSpPr>
          <p:nvPr/>
        </p:nvSpPr>
        <p:spPr bwMode="auto">
          <a:xfrm>
            <a:off x="3048000" y="2514600"/>
            <a:ext cx="685800" cy="381000"/>
          </a:xfrm>
          <a:prstGeom prst="rect">
            <a:avLst/>
          </a:prstGeom>
          <a:solidFill>
            <a:srgbClr val="FFFFFF"/>
          </a:solidFill>
          <a:ln w="9525">
            <a:solidFill>
              <a:schemeClr val="tx1"/>
            </a:solidFill>
            <a:miter lim="800000"/>
            <a:headEnd/>
            <a:tailEnd/>
          </a:ln>
        </p:spPr>
        <p:txBody>
          <a:bodyPr wrap="none" lIns="91420" tIns="45712" rIns="91420" bIns="45712" anchor="ctr"/>
          <a:lstStyle/>
          <a:p>
            <a:pPr algn="ctr"/>
            <a:r>
              <a:rPr lang="en-US" sz="2000" b="0">
                <a:solidFill>
                  <a:srgbClr val="000000"/>
                </a:solidFill>
                <a:latin typeface="Helvetica" charset="0"/>
              </a:rPr>
              <a:t>UDP</a:t>
            </a:r>
          </a:p>
        </p:txBody>
      </p:sp>
      <p:sp>
        <p:nvSpPr>
          <p:cNvPr id="50200" name="Rectangle 24"/>
          <p:cNvSpPr>
            <a:spLocks noChangeArrowheads="1"/>
          </p:cNvSpPr>
          <p:nvPr/>
        </p:nvSpPr>
        <p:spPr bwMode="auto">
          <a:xfrm>
            <a:off x="2209800" y="3276600"/>
            <a:ext cx="685800" cy="381000"/>
          </a:xfrm>
          <a:prstGeom prst="rect">
            <a:avLst/>
          </a:prstGeom>
          <a:solidFill>
            <a:schemeClr val="accent1"/>
          </a:solidFill>
          <a:ln w="9525">
            <a:solidFill>
              <a:schemeClr val="tx1"/>
            </a:solidFill>
            <a:miter lim="800000"/>
            <a:headEnd/>
            <a:tailEnd/>
          </a:ln>
        </p:spPr>
        <p:txBody>
          <a:bodyPr wrap="none" lIns="91420" tIns="45712" rIns="91420" bIns="45712" anchor="ctr"/>
          <a:lstStyle/>
          <a:p>
            <a:pPr algn="ctr"/>
            <a:r>
              <a:rPr lang="en-US" sz="2000" b="0">
                <a:solidFill>
                  <a:schemeClr val="bg1"/>
                </a:solidFill>
                <a:latin typeface="Helvetica" charset="0"/>
              </a:rPr>
              <a:t>IP</a:t>
            </a:r>
          </a:p>
        </p:txBody>
      </p:sp>
      <p:sp>
        <p:nvSpPr>
          <p:cNvPr id="50201" name="Rectangle 25"/>
          <p:cNvSpPr>
            <a:spLocks noChangeArrowheads="1"/>
          </p:cNvSpPr>
          <p:nvPr/>
        </p:nvSpPr>
        <p:spPr bwMode="auto">
          <a:xfrm>
            <a:off x="609600" y="4076700"/>
            <a:ext cx="1219200" cy="457200"/>
          </a:xfrm>
          <a:prstGeom prst="rect">
            <a:avLst/>
          </a:prstGeom>
          <a:solidFill>
            <a:schemeClr val="folHlink"/>
          </a:solidFill>
          <a:ln w="9525">
            <a:solidFill>
              <a:schemeClr val="tx1"/>
            </a:solidFill>
            <a:miter lim="800000"/>
            <a:headEnd/>
            <a:tailEnd/>
          </a:ln>
        </p:spPr>
        <p:txBody>
          <a:bodyPr wrap="none" lIns="91420" tIns="45712" rIns="91420" bIns="45712" anchor="ctr"/>
          <a:lstStyle/>
          <a:p>
            <a:pPr algn="ctr"/>
            <a:r>
              <a:rPr lang="en-US" sz="2000" b="0">
                <a:solidFill>
                  <a:schemeClr val="bg1"/>
                </a:solidFill>
                <a:latin typeface="Helvetica" charset="0"/>
              </a:rPr>
              <a:t>Ethernet</a:t>
            </a:r>
            <a:endParaRPr lang="en-US" sz="2000" b="0" baseline="-25000">
              <a:solidFill>
                <a:schemeClr val="bg1"/>
              </a:solidFill>
              <a:latin typeface="Helvetica" charset="0"/>
            </a:endParaRPr>
          </a:p>
        </p:txBody>
      </p:sp>
      <p:sp>
        <p:nvSpPr>
          <p:cNvPr id="50202" name="Rectangle 26"/>
          <p:cNvSpPr>
            <a:spLocks noChangeArrowheads="1"/>
          </p:cNvSpPr>
          <p:nvPr/>
        </p:nvSpPr>
        <p:spPr bwMode="auto">
          <a:xfrm>
            <a:off x="1981200" y="4076700"/>
            <a:ext cx="990600" cy="457200"/>
          </a:xfrm>
          <a:prstGeom prst="rect">
            <a:avLst/>
          </a:prstGeom>
          <a:solidFill>
            <a:srgbClr val="FFFFFF"/>
          </a:solidFill>
          <a:ln w="9525">
            <a:solidFill>
              <a:schemeClr val="tx1"/>
            </a:solidFill>
            <a:miter lim="800000"/>
            <a:headEnd/>
            <a:tailEnd/>
          </a:ln>
        </p:spPr>
        <p:txBody>
          <a:bodyPr wrap="none" lIns="91420" tIns="45712" rIns="91420" bIns="45712" anchor="ctr"/>
          <a:lstStyle/>
          <a:p>
            <a:pPr algn="ctr"/>
            <a:r>
              <a:rPr lang="en-US" sz="2000" b="0">
                <a:solidFill>
                  <a:srgbClr val="000000"/>
                </a:solidFill>
                <a:latin typeface="Helvetica" charset="0"/>
              </a:rPr>
              <a:t>SONET</a:t>
            </a:r>
            <a:endParaRPr lang="en-US" sz="2000" b="0" baseline="-25000">
              <a:solidFill>
                <a:srgbClr val="000000"/>
              </a:solidFill>
              <a:latin typeface="Helvetica" charset="0"/>
            </a:endParaRPr>
          </a:p>
        </p:txBody>
      </p:sp>
      <p:sp>
        <p:nvSpPr>
          <p:cNvPr id="50203" name="Rectangle 27"/>
          <p:cNvSpPr>
            <a:spLocks noChangeArrowheads="1"/>
          </p:cNvSpPr>
          <p:nvPr/>
        </p:nvSpPr>
        <p:spPr bwMode="auto">
          <a:xfrm>
            <a:off x="3352800" y="4038600"/>
            <a:ext cx="914400" cy="533400"/>
          </a:xfrm>
          <a:prstGeom prst="rect">
            <a:avLst/>
          </a:prstGeom>
          <a:solidFill>
            <a:srgbClr val="FFFFFF"/>
          </a:solidFill>
          <a:ln w="9525">
            <a:solidFill>
              <a:schemeClr val="tx1"/>
            </a:solidFill>
            <a:miter lim="800000"/>
            <a:headEnd/>
            <a:tailEnd/>
          </a:ln>
        </p:spPr>
        <p:txBody>
          <a:bodyPr wrap="none" lIns="91420" tIns="45712" rIns="91420" bIns="45712" anchor="ctr"/>
          <a:lstStyle/>
          <a:p>
            <a:pPr algn="ctr"/>
            <a:r>
              <a:rPr lang="en-US" sz="2000" b="0">
                <a:solidFill>
                  <a:srgbClr val="000000"/>
                </a:solidFill>
                <a:latin typeface="Helvetica" charset="0"/>
              </a:rPr>
              <a:t>802.11</a:t>
            </a:r>
            <a:endParaRPr lang="en-US" sz="2000" b="0" baseline="-25000">
              <a:solidFill>
                <a:srgbClr val="000000"/>
              </a:solidFill>
              <a:latin typeface="Helvetica" charset="0"/>
            </a:endParaRPr>
          </a:p>
        </p:txBody>
      </p:sp>
      <p:cxnSp>
        <p:nvCxnSpPr>
          <p:cNvPr id="50204" name="AutoShape 28"/>
          <p:cNvCxnSpPr>
            <a:cxnSpLocks noChangeShapeType="1"/>
            <a:stCxn id="50194" idx="2"/>
            <a:endCxn id="50198" idx="0"/>
          </p:cNvCxnSpPr>
          <p:nvPr/>
        </p:nvCxnSpPr>
        <p:spPr bwMode="auto">
          <a:xfrm>
            <a:off x="1257300" y="2209800"/>
            <a:ext cx="381000" cy="3048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50205" name="AutoShape 29"/>
          <p:cNvCxnSpPr>
            <a:cxnSpLocks noChangeShapeType="1"/>
            <a:endCxn id="50198" idx="0"/>
          </p:cNvCxnSpPr>
          <p:nvPr/>
        </p:nvCxnSpPr>
        <p:spPr bwMode="auto">
          <a:xfrm flipH="1">
            <a:off x="1638300" y="2209800"/>
            <a:ext cx="419100" cy="3048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50206" name="AutoShape 30"/>
          <p:cNvCxnSpPr>
            <a:cxnSpLocks noChangeShapeType="1"/>
            <a:stCxn id="50197" idx="2"/>
          </p:cNvCxnSpPr>
          <p:nvPr/>
        </p:nvCxnSpPr>
        <p:spPr bwMode="auto">
          <a:xfrm>
            <a:off x="2933700" y="2209800"/>
            <a:ext cx="419100" cy="3048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50207" name="AutoShape 31"/>
          <p:cNvCxnSpPr>
            <a:cxnSpLocks noChangeShapeType="1"/>
            <a:stCxn id="50196" idx="2"/>
          </p:cNvCxnSpPr>
          <p:nvPr/>
        </p:nvCxnSpPr>
        <p:spPr bwMode="auto">
          <a:xfrm flipH="1">
            <a:off x="3352800" y="2209800"/>
            <a:ext cx="419100" cy="3048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50208" name="AutoShape 32"/>
          <p:cNvCxnSpPr>
            <a:cxnSpLocks noChangeShapeType="1"/>
            <a:stCxn id="50198" idx="2"/>
            <a:endCxn id="50200" idx="0"/>
          </p:cNvCxnSpPr>
          <p:nvPr/>
        </p:nvCxnSpPr>
        <p:spPr bwMode="auto">
          <a:xfrm>
            <a:off x="1638300" y="2895600"/>
            <a:ext cx="914400" cy="3810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50209" name="AutoShape 33"/>
          <p:cNvCxnSpPr>
            <a:cxnSpLocks noChangeShapeType="1"/>
            <a:stCxn id="50199" idx="2"/>
            <a:endCxn id="50200" idx="0"/>
          </p:cNvCxnSpPr>
          <p:nvPr/>
        </p:nvCxnSpPr>
        <p:spPr bwMode="auto">
          <a:xfrm flipH="1">
            <a:off x="2552700" y="2895600"/>
            <a:ext cx="838200" cy="3810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50210" name="AutoShape 34"/>
          <p:cNvCxnSpPr>
            <a:cxnSpLocks noChangeShapeType="1"/>
            <a:stCxn id="50200" idx="2"/>
            <a:endCxn id="50203" idx="0"/>
          </p:cNvCxnSpPr>
          <p:nvPr/>
        </p:nvCxnSpPr>
        <p:spPr bwMode="auto">
          <a:xfrm>
            <a:off x="2552700" y="3657600"/>
            <a:ext cx="1257300" cy="3810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50211" name="AutoShape 35"/>
          <p:cNvCxnSpPr>
            <a:cxnSpLocks noChangeShapeType="1"/>
            <a:stCxn id="50200" idx="2"/>
            <a:endCxn id="50201" idx="0"/>
          </p:cNvCxnSpPr>
          <p:nvPr/>
        </p:nvCxnSpPr>
        <p:spPr bwMode="auto">
          <a:xfrm flipH="1">
            <a:off x="1219200" y="3657600"/>
            <a:ext cx="1333500" cy="4191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50212" name="AutoShape 36"/>
          <p:cNvCxnSpPr>
            <a:cxnSpLocks noChangeShapeType="1"/>
            <a:stCxn id="50200" idx="2"/>
            <a:endCxn id="50202" idx="0"/>
          </p:cNvCxnSpPr>
          <p:nvPr/>
        </p:nvCxnSpPr>
        <p:spPr bwMode="auto">
          <a:xfrm flipH="1">
            <a:off x="2476500" y="3657600"/>
            <a:ext cx="76200" cy="4191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50213" name="Rectangle 37"/>
          <p:cNvSpPr>
            <a:spLocks noChangeArrowheads="1"/>
          </p:cNvSpPr>
          <p:nvPr/>
        </p:nvSpPr>
        <p:spPr bwMode="auto">
          <a:xfrm>
            <a:off x="5943600" y="2514600"/>
            <a:ext cx="1601788" cy="458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0452" tIns="44434" rIns="90452" bIns="44434">
            <a:spAutoFit/>
          </a:bodyPr>
          <a:lstStyle/>
          <a:p>
            <a:pPr eaLnBrk="0" hangingPunct="0"/>
            <a:r>
              <a:rPr lang="en-US">
                <a:latin typeface="Helvetica" charset="0"/>
              </a:rPr>
              <a:t>Transport</a:t>
            </a:r>
          </a:p>
        </p:txBody>
      </p:sp>
      <p:cxnSp>
        <p:nvCxnSpPr>
          <p:cNvPr id="50214" name="AutoShape 38"/>
          <p:cNvCxnSpPr>
            <a:cxnSpLocks noChangeShapeType="1"/>
            <a:stCxn id="50215" idx="0"/>
            <a:endCxn id="50201" idx="2"/>
          </p:cNvCxnSpPr>
          <p:nvPr/>
        </p:nvCxnSpPr>
        <p:spPr bwMode="auto">
          <a:xfrm flipH="1" flipV="1">
            <a:off x="1219200" y="4533900"/>
            <a:ext cx="1333500" cy="2286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50215" name="Rectangle 39"/>
          <p:cNvSpPr>
            <a:spLocks noChangeArrowheads="1"/>
          </p:cNvSpPr>
          <p:nvPr/>
        </p:nvSpPr>
        <p:spPr bwMode="auto">
          <a:xfrm>
            <a:off x="2057400" y="4762500"/>
            <a:ext cx="990600" cy="457200"/>
          </a:xfrm>
          <a:prstGeom prst="rect">
            <a:avLst/>
          </a:prstGeom>
          <a:solidFill>
            <a:srgbClr val="FFFFFF"/>
          </a:solidFill>
          <a:ln w="9525">
            <a:solidFill>
              <a:schemeClr val="tx1"/>
            </a:solidFill>
            <a:miter lim="800000"/>
            <a:headEnd/>
            <a:tailEnd/>
          </a:ln>
        </p:spPr>
        <p:txBody>
          <a:bodyPr wrap="none" lIns="91420" tIns="45712" rIns="91420" bIns="45712" anchor="ctr"/>
          <a:lstStyle/>
          <a:p>
            <a:pPr algn="ctr"/>
            <a:r>
              <a:rPr lang="en-US" sz="2000" b="0">
                <a:solidFill>
                  <a:srgbClr val="000000"/>
                </a:solidFill>
                <a:latin typeface="Helvetica" charset="0"/>
              </a:rPr>
              <a:t>Fiber</a:t>
            </a:r>
            <a:endParaRPr lang="en-US" sz="2000" b="0" baseline="-25000">
              <a:solidFill>
                <a:srgbClr val="000000"/>
              </a:solidFill>
              <a:latin typeface="Helvetica" charset="0"/>
            </a:endParaRPr>
          </a:p>
        </p:txBody>
      </p:sp>
      <p:cxnSp>
        <p:nvCxnSpPr>
          <p:cNvPr id="50216" name="AutoShape 40"/>
          <p:cNvCxnSpPr>
            <a:cxnSpLocks noChangeShapeType="1"/>
            <a:stCxn id="50217" idx="0"/>
            <a:endCxn id="50201" idx="2"/>
          </p:cNvCxnSpPr>
          <p:nvPr/>
        </p:nvCxnSpPr>
        <p:spPr bwMode="auto">
          <a:xfrm flipH="1" flipV="1">
            <a:off x="1219200" y="4533900"/>
            <a:ext cx="266700" cy="2286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50217" name="Rectangle 41"/>
          <p:cNvSpPr>
            <a:spLocks noChangeArrowheads="1"/>
          </p:cNvSpPr>
          <p:nvPr/>
        </p:nvSpPr>
        <p:spPr bwMode="auto">
          <a:xfrm>
            <a:off x="990600" y="4762500"/>
            <a:ext cx="990600" cy="457200"/>
          </a:xfrm>
          <a:prstGeom prst="rect">
            <a:avLst/>
          </a:prstGeom>
          <a:solidFill>
            <a:srgbClr val="33CCCC"/>
          </a:solidFill>
          <a:ln w="9525">
            <a:solidFill>
              <a:schemeClr val="tx1"/>
            </a:solidFill>
            <a:miter lim="800000"/>
            <a:headEnd/>
            <a:tailEnd/>
          </a:ln>
        </p:spPr>
        <p:txBody>
          <a:bodyPr wrap="none" lIns="91420" tIns="45712" rIns="91420" bIns="45712" anchor="ctr"/>
          <a:lstStyle/>
          <a:p>
            <a:pPr algn="ctr"/>
            <a:r>
              <a:rPr lang="en-US" sz="2000" b="0">
                <a:solidFill>
                  <a:srgbClr val="000000"/>
                </a:solidFill>
                <a:latin typeface="Helvetica" charset="0"/>
              </a:rPr>
              <a:t>Copper</a:t>
            </a:r>
            <a:endParaRPr lang="en-US" sz="2000" b="0" baseline="-25000">
              <a:solidFill>
                <a:srgbClr val="000000"/>
              </a:solidFill>
              <a:latin typeface="Helvetica" charset="0"/>
            </a:endParaRPr>
          </a:p>
        </p:txBody>
      </p:sp>
      <p:cxnSp>
        <p:nvCxnSpPr>
          <p:cNvPr id="50218" name="AutoShape 42"/>
          <p:cNvCxnSpPr>
            <a:cxnSpLocks noChangeShapeType="1"/>
            <a:stCxn id="50219" idx="0"/>
            <a:endCxn id="50203" idx="2"/>
          </p:cNvCxnSpPr>
          <p:nvPr/>
        </p:nvCxnSpPr>
        <p:spPr bwMode="auto">
          <a:xfrm flipH="1" flipV="1">
            <a:off x="3810000" y="4572000"/>
            <a:ext cx="342900" cy="1905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50219" name="Rectangle 43"/>
          <p:cNvSpPr>
            <a:spLocks noChangeArrowheads="1"/>
          </p:cNvSpPr>
          <p:nvPr/>
        </p:nvSpPr>
        <p:spPr bwMode="auto">
          <a:xfrm>
            <a:off x="3657600" y="4762500"/>
            <a:ext cx="990600" cy="457200"/>
          </a:xfrm>
          <a:prstGeom prst="rect">
            <a:avLst/>
          </a:prstGeom>
          <a:solidFill>
            <a:srgbClr val="FFFFFF"/>
          </a:solidFill>
          <a:ln w="9525">
            <a:solidFill>
              <a:schemeClr val="tx1"/>
            </a:solidFill>
            <a:miter lim="800000"/>
            <a:headEnd/>
            <a:tailEnd/>
          </a:ln>
        </p:spPr>
        <p:txBody>
          <a:bodyPr wrap="none" lIns="91420" tIns="45712" rIns="91420" bIns="45712" anchor="ctr"/>
          <a:lstStyle/>
          <a:p>
            <a:pPr algn="ctr"/>
            <a:r>
              <a:rPr lang="en-US" sz="2000" b="0">
                <a:solidFill>
                  <a:srgbClr val="000000"/>
                </a:solidFill>
                <a:latin typeface="Helvetica" charset="0"/>
              </a:rPr>
              <a:t>Radio</a:t>
            </a:r>
            <a:endParaRPr lang="en-US" sz="2000" b="0" baseline="-25000">
              <a:solidFill>
                <a:srgbClr val="000000"/>
              </a:solidFill>
              <a:latin typeface="Helvetica" charset="0"/>
            </a:endParaRPr>
          </a:p>
        </p:txBody>
      </p:sp>
      <p:cxnSp>
        <p:nvCxnSpPr>
          <p:cNvPr id="50220" name="AutoShape 44"/>
          <p:cNvCxnSpPr>
            <a:cxnSpLocks noChangeShapeType="1"/>
            <a:stCxn id="50215" idx="0"/>
            <a:endCxn id="50202" idx="2"/>
          </p:cNvCxnSpPr>
          <p:nvPr/>
        </p:nvCxnSpPr>
        <p:spPr bwMode="auto">
          <a:xfrm flipH="1" flipV="1">
            <a:off x="2476500" y="4533900"/>
            <a:ext cx="76200" cy="22860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45" name="圆角矩形 44"/>
          <p:cNvSpPr/>
          <p:nvPr/>
        </p:nvSpPr>
        <p:spPr bwMode="auto">
          <a:xfrm>
            <a:off x="0" y="6429396"/>
            <a:ext cx="9144000" cy="357166"/>
          </a:xfrm>
          <a:prstGeom prst="roundRect">
            <a:avLst/>
          </a:prstGeom>
          <a:solidFill>
            <a:schemeClr val="bg1"/>
          </a:solidFill>
          <a:ln w="25400" cap="flat" cmpd="sng" algn="ctr">
            <a:noFill/>
            <a:prstDash val="solid"/>
            <a:round/>
            <a:headEnd type="triangle" w="med" len="med"/>
            <a:tailEnd type="none" w="med" len="med"/>
          </a:ln>
          <a:effectLst/>
        </p:spPr>
        <p:txBody>
          <a:bodyPr rtlCol="0" anchor="ctr"/>
          <a:lstStyle/>
          <a:p>
            <a:pPr algn="ctr"/>
            <a:endParaRPr lang="zh-CN" altLang="en-US" b="0" dirty="0">
              <a:latin typeface="Helvetica"/>
              <a:cs typeface="Helvetica"/>
            </a:endParaRPr>
          </a:p>
        </p:txBody>
      </p:sp>
      <p:sp>
        <p:nvSpPr>
          <p:cNvPr id="2" name="圆角矩形 1">
            <a:extLst>
              <a:ext uri="{FF2B5EF4-FFF2-40B4-BE49-F238E27FC236}">
                <a16:creationId xmlns:a16="http://schemas.microsoft.com/office/drawing/2014/main" id="{8CA9916F-D2EC-C6DF-B7A5-B2DE798E145A}"/>
              </a:ext>
            </a:extLst>
          </p:cNvPr>
          <p:cNvSpPr/>
          <p:nvPr/>
        </p:nvSpPr>
        <p:spPr bwMode="auto">
          <a:xfrm rot="1127902">
            <a:off x="5350076" y="575151"/>
            <a:ext cx="3733800" cy="991239"/>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Do</a:t>
            </a:r>
            <a:r>
              <a:rPr kumimoji="1" lang="zh-CN" altLang="en-US" b="0" dirty="0">
                <a:latin typeface="Helvetica"/>
                <a:cs typeface="Helvetica"/>
              </a:rPr>
              <a:t> </a:t>
            </a:r>
            <a:r>
              <a:rPr kumimoji="1" lang="en-US" altLang="zh-CN" b="0" dirty="0">
                <a:latin typeface="Helvetica"/>
                <a:cs typeface="Helvetica"/>
              </a:rPr>
              <a:t>one</a:t>
            </a:r>
            <a:r>
              <a:rPr kumimoji="1" lang="zh-CN" altLang="en-US" b="0" dirty="0">
                <a:latin typeface="Helvetica"/>
                <a:cs typeface="Helvetica"/>
              </a:rPr>
              <a:t> </a:t>
            </a:r>
            <a:r>
              <a:rPr kumimoji="1" lang="en-US" altLang="zh-CN" b="0" dirty="0">
                <a:latin typeface="Helvetica"/>
                <a:cs typeface="Helvetica"/>
              </a:rPr>
              <a:t>thing</a:t>
            </a:r>
            <a:r>
              <a:rPr kumimoji="1" lang="zh-CN" altLang="en-US" b="0" dirty="0">
                <a:latin typeface="Helvetica"/>
                <a:cs typeface="Helvetica"/>
              </a:rPr>
              <a:t> </a:t>
            </a:r>
            <a:r>
              <a:rPr kumimoji="1" lang="en-US" altLang="zh-CN" b="0" dirty="0">
                <a:latin typeface="Helvetica"/>
                <a:cs typeface="Helvetica"/>
              </a:rPr>
              <a:t>well</a:t>
            </a:r>
          </a:p>
          <a:p>
            <a:pPr algn="ctr"/>
            <a:r>
              <a:rPr kumimoji="1" lang="en-US" altLang="zh-CN" b="0" dirty="0">
                <a:latin typeface="Helvetica"/>
                <a:cs typeface="Helvetica"/>
              </a:rPr>
              <a:t>Keep</a:t>
            </a:r>
            <a:r>
              <a:rPr kumimoji="1" lang="zh-CN" altLang="en-US" b="0" dirty="0">
                <a:latin typeface="Helvetica"/>
                <a:cs typeface="Helvetica"/>
              </a:rPr>
              <a:t> </a:t>
            </a:r>
            <a:r>
              <a:rPr kumimoji="1" lang="en-US" altLang="zh-CN" b="0" dirty="0">
                <a:latin typeface="Helvetica"/>
                <a:cs typeface="Helvetica"/>
              </a:rPr>
              <a:t>Stable</a:t>
            </a:r>
            <a:r>
              <a:rPr kumimoji="1" lang="zh-CN" altLang="en-US" b="0" dirty="0">
                <a:latin typeface="Helvetica"/>
                <a:cs typeface="Helvetica"/>
              </a:rPr>
              <a:t> </a:t>
            </a:r>
          </a:p>
        </p:txBody>
      </p:sp>
      <p:sp>
        <p:nvSpPr>
          <p:cNvPr id="3" name="圆角矩形 2">
            <a:extLst>
              <a:ext uri="{FF2B5EF4-FFF2-40B4-BE49-F238E27FC236}">
                <a16:creationId xmlns:a16="http://schemas.microsoft.com/office/drawing/2014/main" id="{C523C5CB-2B40-5D02-EC26-66BDEB189015}"/>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p>
          <a:p>
            <a:pPr algn="ctr"/>
            <a:r>
              <a:rPr kumimoji="1" lang="en-US" altLang="zh-CN" b="0" dirty="0">
                <a:latin typeface="Helvetica"/>
                <a:cs typeface="Helvetica"/>
              </a:rPr>
              <a:t>Interoperability</a:t>
            </a:r>
            <a:endParaRPr kumimoji="1" lang="zh-CN" altLang="en-US" b="0" dirty="0">
              <a:latin typeface="Helvetica"/>
              <a:cs typeface="Helvetica"/>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4BC912B7-BD44-AF8A-FCF4-0534391D24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5" name="圆角矩形 4">
            <a:extLst>
              <a:ext uri="{FF2B5EF4-FFF2-40B4-BE49-F238E27FC236}">
                <a16:creationId xmlns:a16="http://schemas.microsoft.com/office/drawing/2014/main" id="{EA54D52C-8F6D-0802-2625-3D8B7602CF0F}"/>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Do</a:t>
            </a:r>
            <a:r>
              <a:rPr kumimoji="1" lang="zh-CN" altLang="en-US" b="0" dirty="0">
                <a:latin typeface="Helvetica"/>
                <a:cs typeface="Helvetica"/>
              </a:rPr>
              <a:t> </a:t>
            </a:r>
            <a:r>
              <a:rPr kumimoji="1" lang="en-US" altLang="zh-CN" b="0" dirty="0">
                <a:latin typeface="Helvetica"/>
                <a:cs typeface="Helvetica"/>
              </a:rPr>
              <a:t>one</a:t>
            </a:r>
            <a:r>
              <a:rPr kumimoji="1" lang="zh-CN" altLang="en-US" b="0" dirty="0">
                <a:latin typeface="Helvetica"/>
                <a:cs typeface="Helvetica"/>
              </a:rPr>
              <a:t> </a:t>
            </a:r>
            <a:r>
              <a:rPr kumimoji="1" lang="en-US" altLang="zh-CN" b="0" dirty="0">
                <a:latin typeface="Helvetica"/>
                <a:cs typeface="Helvetica"/>
              </a:rPr>
              <a:t>thing</a:t>
            </a:r>
            <a:r>
              <a:rPr kumimoji="1" lang="zh-CN" altLang="en-US" b="0" dirty="0">
                <a:latin typeface="Helvetica"/>
                <a:cs typeface="Helvetica"/>
              </a:rPr>
              <a:t> </a:t>
            </a:r>
            <a:r>
              <a:rPr kumimoji="1" lang="en-US" altLang="zh-CN" b="0" dirty="0">
                <a:latin typeface="Helvetica"/>
                <a:cs typeface="Helvetica"/>
              </a:rPr>
              <a:t>well</a:t>
            </a:r>
            <a:r>
              <a:rPr kumimoji="1" lang="zh-CN" altLang="en-US" b="0" dirty="0">
                <a:latin typeface="Helvetica"/>
                <a:cs typeface="Helvetica"/>
              </a:rPr>
              <a:t> </a:t>
            </a:r>
          </a:p>
        </p:txBody>
      </p:sp>
      <p:sp>
        <p:nvSpPr>
          <p:cNvPr id="7" name="圆角矩形 6">
            <a:extLst>
              <a:ext uri="{FF2B5EF4-FFF2-40B4-BE49-F238E27FC236}">
                <a16:creationId xmlns:a16="http://schemas.microsoft.com/office/drawing/2014/main" id="{DCCCEB3D-3BBD-B508-EB2B-0992E59BAB42}"/>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p>
          <a:p>
            <a:pPr algn="ctr"/>
            <a:r>
              <a:rPr kumimoji="1" lang="en-US" altLang="zh-CN" b="0" dirty="0">
                <a:latin typeface="Helvetica"/>
                <a:cs typeface="Helvetica"/>
              </a:rPr>
              <a:t>Portability</a:t>
            </a:r>
            <a:endParaRPr kumimoji="1" lang="zh-CN" altLang="en-US" b="0" dirty="0">
              <a:latin typeface="Helvetica"/>
              <a:cs typeface="Helvetica"/>
            </a:endParaRPr>
          </a:p>
        </p:txBody>
      </p:sp>
    </p:spTree>
    <p:extLst>
      <p:ext uri="{BB962C8B-B14F-4D97-AF65-F5344CB8AC3E}">
        <p14:creationId xmlns:p14="http://schemas.microsoft.com/office/powerpoint/2010/main" val="189151108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81000" y="228600"/>
            <a:ext cx="8382000" cy="533400"/>
          </a:xfrm>
        </p:spPr>
        <p:txBody>
          <a:bodyPr/>
          <a:lstStyle/>
          <a:p>
            <a:r>
              <a:rPr lang="en-US" altLang="ko-KR" dirty="0">
                <a:latin typeface="Helvetica" charset="0"/>
                <a:ea typeface="Gulim" charset="0"/>
                <a:cs typeface="Gulim" charset="0"/>
              </a:rPr>
              <a:t>Motivation for Monitors and Condition Variables</a:t>
            </a:r>
          </a:p>
        </p:txBody>
      </p:sp>
      <p:sp>
        <p:nvSpPr>
          <p:cNvPr id="23555" name="Rectangle 3"/>
          <p:cNvSpPr>
            <a:spLocks noGrp="1" noChangeArrowheads="1"/>
          </p:cNvSpPr>
          <p:nvPr>
            <p:ph idx="1"/>
          </p:nvPr>
        </p:nvSpPr>
        <p:spPr>
          <a:xfrm>
            <a:off x="381000" y="1219200"/>
            <a:ext cx="8458200" cy="5029200"/>
          </a:xfrm>
        </p:spPr>
        <p:txBody>
          <a:bodyPr/>
          <a:lstStyle/>
          <a:p>
            <a:pPr>
              <a:lnSpc>
                <a:spcPct val="100000"/>
              </a:lnSpc>
            </a:pPr>
            <a:r>
              <a:rPr lang="en-US" altLang="ko-KR" dirty="0">
                <a:latin typeface="Helvetica" charset="0"/>
                <a:ea typeface="Gulim" charset="0"/>
                <a:cs typeface="Gulim" charset="0"/>
              </a:rPr>
              <a:t>Semaphores are a huge step up; just think of trying to do the bounded buffer with only loads and stores</a:t>
            </a:r>
          </a:p>
          <a:p>
            <a:pPr lvl="1">
              <a:lnSpc>
                <a:spcPct val="100000"/>
              </a:lnSpc>
            </a:pPr>
            <a:endParaRPr lang="en-US" altLang="ko-KR" dirty="0">
              <a:latin typeface="Helvetica" charset="0"/>
              <a:ea typeface="Gulim" charset="0"/>
              <a:cs typeface="Gulim" charset="0"/>
            </a:endParaRPr>
          </a:p>
          <a:p>
            <a:pPr>
              <a:lnSpc>
                <a:spcPct val="100000"/>
              </a:lnSpc>
            </a:pPr>
            <a:r>
              <a:rPr lang="en-US" altLang="ko-KR" dirty="0">
                <a:latin typeface="Helvetica" charset="0"/>
                <a:ea typeface="Gulim" charset="0"/>
                <a:cs typeface="Gulim" charset="0"/>
              </a:rPr>
              <a:t>Problem is that semaphores are dual purpose:</a:t>
            </a:r>
          </a:p>
          <a:p>
            <a:pPr lvl="1">
              <a:lnSpc>
                <a:spcPct val="100000"/>
              </a:lnSpc>
            </a:pPr>
            <a:r>
              <a:rPr lang="en-US" altLang="ko-KR" dirty="0">
                <a:latin typeface="Helvetica" charset="0"/>
                <a:ea typeface="Gulim" charset="0"/>
                <a:cs typeface="Gulim" charset="0"/>
              </a:rPr>
              <a:t>They are used for both mutex and scheduling constraints</a:t>
            </a:r>
          </a:p>
          <a:p>
            <a:pPr lvl="1">
              <a:lnSpc>
                <a:spcPct val="100000"/>
              </a:lnSpc>
            </a:pPr>
            <a:r>
              <a:rPr lang="en-US" altLang="zh-CN" dirty="0">
                <a:latin typeface="Helvetica" charset="0"/>
                <a:ea typeface="Gulim" charset="0"/>
                <a:cs typeface="Gulim" charset="0"/>
              </a:rPr>
              <a:t>You</a:t>
            </a:r>
            <a:r>
              <a:rPr lang="zh-CN" altLang="en-US" dirty="0">
                <a:latin typeface="Helvetica" charset="0"/>
                <a:ea typeface="Gulim" charset="0"/>
                <a:cs typeface="Gulim" charset="0"/>
              </a:rPr>
              <a:t> </a:t>
            </a:r>
            <a:r>
              <a:rPr lang="en-US" altLang="zh-CN" dirty="0">
                <a:latin typeface="Helvetica" charset="0"/>
                <a:ea typeface="Gulim" charset="0"/>
                <a:cs typeface="Gulim" charset="0"/>
              </a:rPr>
              <a:t>hold</a:t>
            </a:r>
            <a:r>
              <a:rPr lang="zh-CN" altLang="en-US" dirty="0">
                <a:latin typeface="Helvetica" charset="0"/>
                <a:ea typeface="Gulim" charset="0"/>
                <a:cs typeface="Gulim" charset="0"/>
              </a:rPr>
              <a:t> </a:t>
            </a:r>
            <a:r>
              <a:rPr lang="en-US" altLang="zh-CN" dirty="0">
                <a:latin typeface="Helvetica" charset="0"/>
                <a:ea typeface="Gulim" charset="0"/>
                <a:cs typeface="Gulim" charset="0"/>
              </a:rPr>
              <a:t>the</a:t>
            </a:r>
            <a:r>
              <a:rPr lang="zh-CN" altLang="en-US" dirty="0">
                <a:latin typeface="Helvetica" charset="0"/>
                <a:ea typeface="Gulim" charset="0"/>
                <a:cs typeface="Gulim" charset="0"/>
              </a:rPr>
              <a:t> </a:t>
            </a:r>
            <a:r>
              <a:rPr lang="en-US" altLang="zh-CN" dirty="0">
                <a:latin typeface="Helvetica" charset="0"/>
                <a:ea typeface="Gulim" charset="0"/>
                <a:cs typeface="Gulim" charset="0"/>
              </a:rPr>
              <a:t>lock</a:t>
            </a:r>
            <a:r>
              <a:rPr lang="zh-CN" altLang="en-US" dirty="0">
                <a:latin typeface="Helvetica" charset="0"/>
                <a:ea typeface="Gulim" charset="0"/>
                <a:cs typeface="Gulim" charset="0"/>
              </a:rPr>
              <a:t> </a:t>
            </a:r>
            <a:r>
              <a:rPr lang="en-US" altLang="zh-CN" dirty="0">
                <a:latin typeface="Helvetica" charset="0"/>
                <a:ea typeface="Gulim" charset="0"/>
                <a:cs typeface="Gulim" charset="0"/>
              </a:rPr>
              <a:t>(mutex)</a:t>
            </a:r>
            <a:r>
              <a:rPr lang="zh-CN" altLang="en-US" dirty="0">
                <a:latin typeface="Helvetica" charset="0"/>
                <a:ea typeface="Gulim" charset="0"/>
                <a:cs typeface="Gulim" charset="0"/>
              </a:rPr>
              <a:t> </a:t>
            </a:r>
            <a:r>
              <a:rPr lang="en-US" altLang="zh-CN" dirty="0">
                <a:latin typeface="Helvetica" charset="0"/>
                <a:ea typeface="Gulim" charset="0"/>
                <a:cs typeface="Gulim" charset="0"/>
              </a:rPr>
              <a:t>even</a:t>
            </a:r>
            <a:r>
              <a:rPr lang="zh-CN" altLang="en-US" dirty="0">
                <a:latin typeface="Helvetica" charset="0"/>
                <a:ea typeface="Gulim" charset="0"/>
                <a:cs typeface="Gulim" charset="0"/>
              </a:rPr>
              <a:t> </a:t>
            </a:r>
            <a:r>
              <a:rPr lang="en-US" altLang="zh-CN" dirty="0">
                <a:latin typeface="Helvetica" charset="0"/>
                <a:ea typeface="Gulim" charset="0"/>
                <a:cs typeface="Gulim" charset="0"/>
              </a:rPr>
              <a:t>if</a:t>
            </a:r>
            <a:r>
              <a:rPr lang="zh-CN" altLang="en-US" dirty="0">
                <a:latin typeface="Helvetica" charset="0"/>
                <a:ea typeface="Gulim" charset="0"/>
                <a:cs typeface="Gulim" charset="0"/>
              </a:rPr>
              <a:t> </a:t>
            </a:r>
            <a:r>
              <a:rPr lang="en-US" altLang="zh-CN" dirty="0">
                <a:latin typeface="Helvetica" charset="0"/>
                <a:ea typeface="Gulim" charset="0"/>
                <a:cs typeface="Gulim" charset="0"/>
              </a:rPr>
              <a:t>you</a:t>
            </a:r>
            <a:r>
              <a:rPr lang="zh-CN" altLang="en-US" dirty="0">
                <a:latin typeface="Helvetica" charset="0"/>
                <a:ea typeface="Gulim" charset="0"/>
                <a:cs typeface="Gulim" charset="0"/>
              </a:rPr>
              <a:t> </a:t>
            </a:r>
            <a:r>
              <a:rPr lang="en-US" altLang="zh-CN" dirty="0">
                <a:latin typeface="Helvetica" charset="0"/>
                <a:ea typeface="Gulim" charset="0"/>
                <a:cs typeface="Gulim" charset="0"/>
              </a:rPr>
              <a:t>block</a:t>
            </a:r>
            <a:r>
              <a:rPr lang="zh-CN" altLang="en-US" dirty="0">
                <a:latin typeface="Helvetica" charset="0"/>
                <a:ea typeface="Gulim" charset="0"/>
                <a:cs typeface="Gulim" charset="0"/>
              </a:rPr>
              <a:t> </a:t>
            </a:r>
            <a:r>
              <a:rPr lang="en-US" altLang="zh-CN" dirty="0">
                <a:latin typeface="Helvetica" charset="0"/>
                <a:ea typeface="Gulim" charset="0"/>
                <a:cs typeface="Gulim" charset="0"/>
              </a:rPr>
              <a:t>on</a:t>
            </a:r>
            <a:r>
              <a:rPr lang="zh-CN" altLang="en-US" dirty="0">
                <a:latin typeface="Helvetica" charset="0"/>
                <a:ea typeface="Gulim" charset="0"/>
                <a:cs typeface="Gulim" charset="0"/>
              </a:rPr>
              <a:t> </a:t>
            </a:r>
            <a:r>
              <a:rPr lang="en-US" altLang="zh-CN" dirty="0">
                <a:latin typeface="Helvetica" charset="0"/>
                <a:ea typeface="Gulim" charset="0"/>
                <a:cs typeface="Gulim" charset="0"/>
              </a:rPr>
              <a:t>scheduling</a:t>
            </a:r>
            <a:r>
              <a:rPr lang="zh-CN" altLang="en-US" dirty="0">
                <a:latin typeface="Helvetica" charset="0"/>
                <a:ea typeface="Gulim" charset="0"/>
                <a:cs typeface="Gulim" charset="0"/>
              </a:rPr>
              <a:t> </a:t>
            </a:r>
            <a:r>
              <a:rPr lang="en-US" altLang="zh-CN">
                <a:latin typeface="Helvetica" charset="0"/>
                <a:ea typeface="Gulim" charset="0"/>
                <a:cs typeface="Gulim" charset="0"/>
              </a:rPr>
              <a:t>constraints</a:t>
            </a:r>
            <a:endParaRPr lang="en-US" altLang="ko-KR" dirty="0">
              <a:latin typeface="Helvetica" charset="0"/>
              <a:ea typeface="Gulim" charset="0"/>
              <a:cs typeface="Gulim" charset="0"/>
            </a:endParaRPr>
          </a:p>
          <a:p>
            <a:pPr lvl="1">
              <a:lnSpc>
                <a:spcPct val="100000"/>
              </a:lnSpc>
            </a:pPr>
            <a:r>
              <a:rPr lang="en-US" altLang="ko-KR" dirty="0">
                <a:latin typeface="Helvetica" charset="0"/>
                <a:ea typeface="Gulim" charset="0"/>
                <a:cs typeface="Gulim" charset="0"/>
              </a:rPr>
              <a:t>Example: the fact that flipping of P’s in bounded buffer gives deadlock is not immediately obvious.  How do you prove correctness to someone?</a:t>
            </a:r>
          </a:p>
          <a:p>
            <a:pPr>
              <a:lnSpc>
                <a:spcPct val="100000"/>
              </a:lnSpc>
            </a:pPr>
            <a:endParaRPr lang="en-US" altLang="ko-KR" dirty="0">
              <a:latin typeface="Helvetica" charset="0"/>
              <a:ea typeface="Gulim" charset="0"/>
              <a:cs typeface="Gulim" charset="0"/>
            </a:endParaRPr>
          </a:p>
        </p:txBody>
      </p:sp>
      <p:sp>
        <p:nvSpPr>
          <p:cNvPr id="2" name="圆角矩形 1">
            <a:extLst>
              <a:ext uri="{FF2B5EF4-FFF2-40B4-BE49-F238E27FC236}">
                <a16:creationId xmlns:a16="http://schemas.microsoft.com/office/drawing/2014/main" id="{A46A8155-B673-208B-05D0-DF213A35EE64}"/>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Do</a:t>
            </a:r>
            <a:r>
              <a:rPr kumimoji="1" lang="zh-CN" altLang="en-US" b="0" dirty="0">
                <a:latin typeface="Helvetica"/>
                <a:cs typeface="Helvetica"/>
              </a:rPr>
              <a:t> </a:t>
            </a:r>
            <a:r>
              <a:rPr kumimoji="1" lang="en-US" altLang="zh-CN" b="0" dirty="0">
                <a:latin typeface="Helvetica"/>
                <a:cs typeface="Helvetica"/>
              </a:rPr>
              <a:t>one</a:t>
            </a:r>
            <a:r>
              <a:rPr kumimoji="1" lang="zh-CN" altLang="en-US" b="0" dirty="0">
                <a:latin typeface="Helvetica"/>
                <a:cs typeface="Helvetica"/>
              </a:rPr>
              <a:t> </a:t>
            </a:r>
            <a:r>
              <a:rPr kumimoji="1" lang="en-US" altLang="zh-CN" b="0" dirty="0">
                <a:latin typeface="Helvetica"/>
                <a:cs typeface="Helvetica"/>
              </a:rPr>
              <a:t>thing</a:t>
            </a:r>
            <a:r>
              <a:rPr kumimoji="1" lang="zh-CN" altLang="en-US" b="0" dirty="0">
                <a:latin typeface="Helvetica"/>
                <a:cs typeface="Helvetica"/>
              </a:rPr>
              <a:t> </a:t>
            </a:r>
            <a:r>
              <a:rPr kumimoji="1" lang="en-US" altLang="zh-CN" b="0" dirty="0">
                <a:latin typeface="Helvetica"/>
                <a:cs typeface="Helvetica"/>
              </a:rPr>
              <a:t>well</a:t>
            </a:r>
            <a:r>
              <a:rPr kumimoji="1" lang="zh-CN" altLang="en-US" b="0" dirty="0">
                <a:latin typeface="Helvetica"/>
                <a:cs typeface="Helvetica"/>
              </a:rPr>
              <a:t> </a:t>
            </a:r>
          </a:p>
        </p:txBody>
      </p:sp>
    </p:spTree>
    <p:extLst>
      <p:ext uri="{BB962C8B-B14F-4D97-AF65-F5344CB8AC3E}">
        <p14:creationId xmlns:p14="http://schemas.microsoft.com/office/powerpoint/2010/main" val="361378661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25BA9-BB51-2547-A67B-B9CFE9231082}"/>
              </a:ext>
            </a:extLst>
          </p:cNvPr>
          <p:cNvSpPr>
            <a:spLocks noGrp="1"/>
          </p:cNvSpPr>
          <p:nvPr>
            <p:ph type="title"/>
          </p:nvPr>
        </p:nvSpPr>
        <p:spPr/>
        <p:txBody>
          <a:bodyPr/>
          <a:lstStyle/>
          <a:p>
            <a:r>
              <a:rPr kumimoji="1" lang="en-US" altLang="zh-CN" dirty="0"/>
              <a:t>Interface</a:t>
            </a:r>
            <a:endParaRPr kumimoji="1" lang="zh-CN" altLang="en-US" dirty="0"/>
          </a:p>
        </p:txBody>
      </p:sp>
      <p:sp>
        <p:nvSpPr>
          <p:cNvPr id="3" name="文本占位符 2">
            <a:extLst>
              <a:ext uri="{FF2B5EF4-FFF2-40B4-BE49-F238E27FC236}">
                <a16:creationId xmlns:a16="http://schemas.microsoft.com/office/drawing/2014/main" id="{A88FE518-C29E-164D-A021-6998B83F7BA0}"/>
              </a:ext>
            </a:extLst>
          </p:cNvPr>
          <p:cNvSpPr>
            <a:spLocks noGrp="1"/>
          </p:cNvSpPr>
          <p:nvPr>
            <p:ph type="body" idx="1"/>
          </p:nvPr>
        </p:nvSpPr>
        <p:spPr>
          <a:xfrm>
            <a:off x="762000" y="5105400"/>
            <a:ext cx="7772400" cy="533400"/>
          </a:xfrm>
        </p:spPr>
        <p:txBody>
          <a:bodyPr/>
          <a:lstStyle/>
          <a:p>
            <a:r>
              <a:rPr kumimoji="1" lang="en-US" altLang="zh-CN" dirty="0"/>
              <a:t>Implementation</a:t>
            </a:r>
            <a:r>
              <a:rPr kumimoji="1" lang="zh-CN" altLang="en-US" dirty="0"/>
              <a:t> </a:t>
            </a:r>
            <a:r>
              <a:rPr kumimoji="1" lang="en-US" altLang="zh-CN" dirty="0"/>
              <a:t>/</a:t>
            </a:r>
            <a:r>
              <a:rPr kumimoji="1" lang="zh-CN" altLang="en-US" dirty="0"/>
              <a:t> </a:t>
            </a:r>
            <a:r>
              <a:rPr kumimoji="1" lang="en-US" altLang="zh-CN" dirty="0"/>
              <a:t>performance</a:t>
            </a:r>
            <a:endParaRPr kumimoji="1" lang="zh-CN" altLang="en-US" dirty="0"/>
          </a:p>
        </p:txBody>
      </p:sp>
    </p:spTree>
    <p:extLst>
      <p:ext uri="{BB962C8B-B14F-4D97-AF65-F5344CB8AC3E}">
        <p14:creationId xmlns:p14="http://schemas.microsoft.com/office/powerpoint/2010/main" val="79066696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7C4163C8-464D-31CA-FB53-CE6A9AB8E2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DB7F70C6-DAA6-C1B6-B3D5-61DBAC17848F}"/>
              </a:ext>
            </a:extLst>
          </p:cNvPr>
          <p:cNvSpPr/>
          <p:nvPr/>
        </p:nvSpPr>
        <p:spPr bwMode="auto">
          <a:xfrm rot="1127902">
            <a:off x="5377277" y="579654"/>
            <a:ext cx="3733800" cy="822414"/>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Dynamic</a:t>
            </a:r>
            <a:r>
              <a:rPr kumimoji="1" lang="zh-CN" altLang="en-US" b="0" dirty="0">
                <a:latin typeface="Helvetica"/>
                <a:cs typeface="Helvetica"/>
              </a:rPr>
              <a:t> </a:t>
            </a:r>
            <a:r>
              <a:rPr kumimoji="1" lang="en-US" altLang="zh-CN" b="0" dirty="0">
                <a:latin typeface="Helvetica"/>
                <a:cs typeface="Helvetica"/>
              </a:rPr>
              <a:t>translation</a:t>
            </a:r>
          </a:p>
          <a:p>
            <a:pPr algn="ctr"/>
            <a:r>
              <a:rPr kumimoji="1" lang="en-US" altLang="zh-CN" b="0" dirty="0">
                <a:latin typeface="Helvetica"/>
                <a:cs typeface="Helvetica"/>
              </a:rPr>
              <a:t>Asynchronous</a:t>
            </a:r>
            <a:r>
              <a:rPr kumimoji="1" lang="zh-CN" altLang="en-US" b="0" dirty="0">
                <a:latin typeface="Helvetica"/>
                <a:cs typeface="Helvetica"/>
              </a:rPr>
              <a:t> </a:t>
            </a:r>
            <a:r>
              <a:rPr kumimoji="1" lang="en-US" altLang="zh-CN" b="0" dirty="0">
                <a:latin typeface="Helvetica"/>
                <a:cs typeface="Helvetica"/>
              </a:rPr>
              <a:t>/</a:t>
            </a:r>
            <a:r>
              <a:rPr kumimoji="1" lang="zh-CN" altLang="en-US" b="0" dirty="0">
                <a:latin typeface="Helvetica"/>
                <a:cs typeface="Helvetica"/>
              </a:rPr>
              <a:t> </a:t>
            </a:r>
            <a:r>
              <a:rPr kumimoji="1" lang="en-US" altLang="zh-CN" b="0" dirty="0">
                <a:latin typeface="Helvetica"/>
                <a:cs typeface="Helvetica"/>
              </a:rPr>
              <a:t>Background</a:t>
            </a:r>
            <a:r>
              <a:rPr kumimoji="1" lang="zh-CN" altLang="en-US" b="0" dirty="0">
                <a:latin typeface="Helvetica"/>
                <a:cs typeface="Helvetica"/>
              </a:rPr>
              <a:t> </a:t>
            </a:r>
          </a:p>
        </p:txBody>
      </p:sp>
      <p:sp>
        <p:nvSpPr>
          <p:cNvPr id="5" name="圆角矩形 4">
            <a:extLst>
              <a:ext uri="{FF2B5EF4-FFF2-40B4-BE49-F238E27FC236}">
                <a16:creationId xmlns:a16="http://schemas.microsoft.com/office/drawing/2014/main" id="{B64D5F79-EDB7-50FA-3CEB-E46DA45CB747}"/>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Heterogeneity</a:t>
            </a:r>
          </a:p>
          <a:p>
            <a:pPr algn="ctr"/>
            <a:r>
              <a:rPr kumimoji="1" lang="en-US" altLang="zh-CN" b="0" dirty="0">
                <a:latin typeface="Helvetica"/>
                <a:cs typeface="Helvetica"/>
              </a:rPr>
              <a:t>Portability</a:t>
            </a:r>
            <a:endParaRPr kumimoji="1" lang="zh-CN" altLang="en-US" b="0" dirty="0">
              <a:latin typeface="Helvetica"/>
              <a:cs typeface="Helvetica"/>
            </a:endParaRPr>
          </a:p>
        </p:txBody>
      </p:sp>
    </p:spTree>
    <p:extLst>
      <p:ext uri="{BB962C8B-B14F-4D97-AF65-F5344CB8AC3E}">
        <p14:creationId xmlns:p14="http://schemas.microsoft.com/office/powerpoint/2010/main" val="197441457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279E321F-6D08-8AB6-6B53-6527238F93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5" name="圆角矩形 4">
            <a:extLst>
              <a:ext uri="{FF2B5EF4-FFF2-40B4-BE49-F238E27FC236}">
                <a16:creationId xmlns:a16="http://schemas.microsoft.com/office/drawing/2014/main" id="{C3492993-9DE1-2E75-2CC9-7BF68EFB8BD7}"/>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Dynamic</a:t>
            </a:r>
            <a:r>
              <a:rPr kumimoji="1" lang="zh-CN" altLang="en-US" b="0" dirty="0">
                <a:latin typeface="Helvetica"/>
                <a:cs typeface="Helvetica"/>
              </a:rPr>
              <a:t> </a:t>
            </a:r>
            <a:r>
              <a:rPr kumimoji="1" lang="en-US" altLang="zh-CN" b="0" dirty="0">
                <a:latin typeface="Helvetica"/>
                <a:cs typeface="Helvetica"/>
              </a:rPr>
              <a:t>translation</a:t>
            </a:r>
            <a:r>
              <a:rPr kumimoji="1" lang="zh-CN" altLang="en-US" b="0" dirty="0">
                <a:latin typeface="Helvetica"/>
                <a:cs typeface="Helvetica"/>
              </a:rPr>
              <a:t> </a:t>
            </a:r>
          </a:p>
        </p:txBody>
      </p:sp>
      <p:sp>
        <p:nvSpPr>
          <p:cNvPr id="6" name="圆角矩形 5">
            <a:extLst>
              <a:ext uri="{FF2B5EF4-FFF2-40B4-BE49-F238E27FC236}">
                <a16:creationId xmlns:a16="http://schemas.microsoft.com/office/drawing/2014/main" id="{33CF6ACC-D907-9158-8BF3-8EB2B59DA3BB}"/>
              </a:ext>
            </a:extLst>
          </p:cNvPr>
          <p:cNvSpPr/>
          <p:nvPr/>
        </p:nvSpPr>
        <p:spPr bwMode="auto">
          <a:xfrm rot="20580792">
            <a:off x="61459" y="680614"/>
            <a:ext cx="3733800" cy="78861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Portability</a:t>
            </a:r>
          </a:p>
          <a:p>
            <a:pPr algn="ctr"/>
            <a:r>
              <a:rPr kumimoji="1" lang="en-US" altLang="zh-CN" b="0" dirty="0">
                <a:latin typeface="Helvetica"/>
                <a:cs typeface="Helvetica"/>
              </a:rPr>
              <a:t>Easy</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a:latin typeface="Helvetica"/>
                <a:cs typeface="Helvetica"/>
              </a:rPr>
              <a:t>use</a:t>
            </a:r>
          </a:p>
          <a:p>
            <a:pPr algn="ctr"/>
            <a:r>
              <a:rPr kumimoji="1" lang="en-US" altLang="zh-CN" b="0" dirty="0">
                <a:latin typeface="Helvetica"/>
                <a:cs typeface="Helvetica"/>
              </a:rPr>
              <a:t>Human</a:t>
            </a:r>
            <a:r>
              <a:rPr kumimoji="1" lang="zh-CN" altLang="en-US" b="0" dirty="0">
                <a:latin typeface="Helvetica"/>
                <a:cs typeface="Helvetica"/>
              </a:rPr>
              <a:t> </a:t>
            </a:r>
            <a:r>
              <a:rPr kumimoji="1" lang="en-US" altLang="zh-CN" b="0" dirty="0">
                <a:latin typeface="Helvetica"/>
                <a:cs typeface="Helvetica"/>
              </a:rPr>
              <a:t>errors</a:t>
            </a:r>
            <a:endParaRPr kumimoji="1" lang="zh-CN" altLang="en-US" b="0" dirty="0">
              <a:latin typeface="Helvetica"/>
              <a:cs typeface="Helvetica"/>
            </a:endParaRPr>
          </a:p>
        </p:txBody>
      </p:sp>
    </p:spTree>
    <p:extLst>
      <p:ext uri="{BB962C8B-B14F-4D97-AF65-F5344CB8AC3E}">
        <p14:creationId xmlns:p14="http://schemas.microsoft.com/office/powerpoint/2010/main" val="394211186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形 6">
            <a:extLst>
              <a:ext uri="{FF2B5EF4-FFF2-40B4-BE49-F238E27FC236}">
                <a16:creationId xmlns:a16="http://schemas.microsoft.com/office/drawing/2014/main" id="{A28361BE-C9BC-31C2-024D-7D8617129B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88308A63-389D-ABA5-6E63-3C54A50D3218}"/>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Dynamic</a:t>
            </a:r>
            <a:r>
              <a:rPr kumimoji="1" lang="zh-CN" altLang="en-US" b="0" dirty="0">
                <a:latin typeface="Helvetica"/>
                <a:cs typeface="Helvetica"/>
              </a:rPr>
              <a:t> </a:t>
            </a:r>
            <a:r>
              <a:rPr kumimoji="1" lang="en-US" altLang="zh-CN" b="0" dirty="0">
                <a:latin typeface="Helvetica"/>
                <a:cs typeface="Helvetica"/>
              </a:rPr>
              <a:t>translation</a:t>
            </a:r>
            <a:r>
              <a:rPr kumimoji="1" lang="zh-CN" altLang="en-US" b="0" dirty="0">
                <a:latin typeface="Helvetica"/>
                <a:cs typeface="Helvetica"/>
              </a:rPr>
              <a:t> </a:t>
            </a:r>
            <a:r>
              <a:rPr kumimoji="1" lang="en-US" altLang="zh-CN" b="0" dirty="0">
                <a:latin typeface="Helvetica"/>
                <a:cs typeface="Helvetica"/>
              </a:rPr>
              <a:t>(naming)</a:t>
            </a:r>
            <a:r>
              <a:rPr kumimoji="1" lang="zh-CN" altLang="en-US" b="0" dirty="0">
                <a:latin typeface="Helvetica"/>
                <a:cs typeface="Helvetica"/>
              </a:rPr>
              <a:t> </a:t>
            </a:r>
          </a:p>
        </p:txBody>
      </p:sp>
      <p:sp>
        <p:nvSpPr>
          <p:cNvPr id="4" name="圆角矩形 3">
            <a:extLst>
              <a:ext uri="{FF2B5EF4-FFF2-40B4-BE49-F238E27FC236}">
                <a16:creationId xmlns:a16="http://schemas.microsoft.com/office/drawing/2014/main" id="{A296A29B-0CCD-9C05-BEF8-A69AFAFABC2C}"/>
              </a:ext>
            </a:extLst>
          </p:cNvPr>
          <p:cNvSpPr/>
          <p:nvPr/>
        </p:nvSpPr>
        <p:spPr bwMode="auto">
          <a:xfrm rot="20580792">
            <a:off x="12457" y="605998"/>
            <a:ext cx="3733800" cy="64286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Portability</a:t>
            </a:r>
          </a:p>
        </p:txBody>
      </p:sp>
    </p:spTree>
    <p:extLst>
      <p:ext uri="{BB962C8B-B14F-4D97-AF65-F5344CB8AC3E}">
        <p14:creationId xmlns:p14="http://schemas.microsoft.com/office/powerpoint/2010/main" val="347896566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259C0019-90BC-6484-E718-49CFE172C63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51163"/>
            <a:ext cx="9144000" cy="5555673"/>
          </a:xfrm>
          <a:prstGeom prst="rect">
            <a:avLst/>
          </a:prstGeom>
        </p:spPr>
      </p:pic>
      <p:sp>
        <p:nvSpPr>
          <p:cNvPr id="3" name="圆角矩形 2">
            <a:extLst>
              <a:ext uri="{FF2B5EF4-FFF2-40B4-BE49-F238E27FC236}">
                <a16:creationId xmlns:a16="http://schemas.microsoft.com/office/drawing/2014/main" id="{54FC7FC3-7E5B-BD92-33BA-F82F6053BBEE}"/>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Dynamic</a:t>
            </a:r>
            <a:r>
              <a:rPr kumimoji="1" lang="zh-CN" altLang="en-US" b="0" dirty="0">
                <a:latin typeface="Helvetica"/>
                <a:cs typeface="Helvetica"/>
              </a:rPr>
              <a:t> </a:t>
            </a:r>
            <a:r>
              <a:rPr kumimoji="1" lang="en-US" altLang="zh-CN" b="0" dirty="0">
                <a:latin typeface="Helvetica"/>
                <a:cs typeface="Helvetica"/>
              </a:rPr>
              <a:t>translation</a:t>
            </a:r>
            <a:endParaRPr kumimoji="1" lang="zh-CN" altLang="en-US" b="0" dirty="0">
              <a:latin typeface="Helvetica"/>
              <a:cs typeface="Helvetica"/>
            </a:endParaRPr>
          </a:p>
        </p:txBody>
      </p:sp>
      <p:sp>
        <p:nvSpPr>
          <p:cNvPr id="5" name="圆角矩形 4">
            <a:extLst>
              <a:ext uri="{FF2B5EF4-FFF2-40B4-BE49-F238E27FC236}">
                <a16:creationId xmlns:a16="http://schemas.microsoft.com/office/drawing/2014/main" id="{561C8229-272A-B43B-008D-E292320B074A}"/>
              </a:ext>
            </a:extLst>
          </p:cNvPr>
          <p:cNvSpPr/>
          <p:nvPr/>
        </p:nvSpPr>
        <p:spPr bwMode="auto">
          <a:xfrm rot="20580792">
            <a:off x="61459" y="680614"/>
            <a:ext cx="3733800" cy="78861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Portability</a:t>
            </a:r>
          </a:p>
          <a:p>
            <a:pPr algn="ctr"/>
            <a:r>
              <a:rPr kumimoji="1" lang="en-US" altLang="zh-CN" b="0" dirty="0">
                <a:latin typeface="Helvetica"/>
                <a:cs typeface="Helvetica"/>
              </a:rPr>
              <a:t>Performance</a:t>
            </a:r>
          </a:p>
        </p:txBody>
      </p:sp>
    </p:spTree>
    <p:extLst>
      <p:ext uri="{BB962C8B-B14F-4D97-AF65-F5344CB8AC3E}">
        <p14:creationId xmlns:p14="http://schemas.microsoft.com/office/powerpoint/2010/main" val="396705081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4462BC35-00E7-CB40-52C2-862A343E08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EEEE0105-AE9C-0E77-8908-6B99775BC468}"/>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Asynchronous</a:t>
            </a:r>
          </a:p>
          <a:p>
            <a:pPr algn="ctr"/>
            <a:r>
              <a:rPr kumimoji="1" lang="en-US" altLang="zh-CN" b="0" dirty="0">
                <a:latin typeface="Helvetica"/>
                <a:cs typeface="Helvetica"/>
              </a:rPr>
              <a:t>Parallelism</a:t>
            </a:r>
            <a:r>
              <a:rPr kumimoji="1" lang="zh-CN" altLang="en-US" b="0" dirty="0">
                <a:latin typeface="Helvetica"/>
                <a:cs typeface="Helvetica"/>
              </a:rPr>
              <a:t> </a:t>
            </a:r>
            <a:r>
              <a:rPr kumimoji="1" lang="en-US" altLang="zh-CN" b="0" dirty="0">
                <a:latin typeface="Helvetica"/>
                <a:cs typeface="Helvetica"/>
              </a:rPr>
              <a:t>/</a:t>
            </a:r>
            <a:r>
              <a:rPr kumimoji="1" lang="zh-CN" altLang="en-US" b="0" dirty="0">
                <a:latin typeface="Helvetica"/>
                <a:cs typeface="Helvetica"/>
              </a:rPr>
              <a:t> </a:t>
            </a:r>
            <a:r>
              <a:rPr kumimoji="1" lang="en-US" altLang="zh-CN" b="0" dirty="0">
                <a:latin typeface="Helvetica"/>
                <a:cs typeface="Helvetica"/>
              </a:rPr>
              <a:t>batch</a:t>
            </a:r>
            <a:r>
              <a:rPr kumimoji="1" lang="zh-CN" altLang="en-US" b="0" dirty="0">
                <a:latin typeface="Helvetica"/>
                <a:cs typeface="Helvetica"/>
              </a:rPr>
              <a:t> </a:t>
            </a:r>
          </a:p>
        </p:txBody>
      </p:sp>
      <p:sp>
        <p:nvSpPr>
          <p:cNvPr id="5" name="圆角矩形 4">
            <a:extLst>
              <a:ext uri="{FF2B5EF4-FFF2-40B4-BE49-F238E27FC236}">
                <a16:creationId xmlns:a16="http://schemas.microsoft.com/office/drawing/2014/main" id="{B16C45D0-FADD-A0F2-3894-F4BAA7357A06}"/>
              </a:ext>
            </a:extLst>
          </p:cNvPr>
          <p:cNvSpPr/>
          <p:nvPr/>
        </p:nvSpPr>
        <p:spPr bwMode="auto">
          <a:xfrm rot="20580792">
            <a:off x="24269" y="467258"/>
            <a:ext cx="3733800" cy="613062"/>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Performance</a:t>
            </a:r>
          </a:p>
          <a:p>
            <a:pPr algn="ctr"/>
            <a:r>
              <a:rPr kumimoji="1" lang="en-US" altLang="zh-CN" b="0" dirty="0">
                <a:latin typeface="Helvetica"/>
                <a:cs typeface="Helvetica"/>
              </a:rPr>
              <a:t>I/O</a:t>
            </a:r>
            <a:r>
              <a:rPr kumimoji="1" lang="zh-CN" altLang="en-US" b="0" dirty="0">
                <a:latin typeface="Helvetica"/>
                <a:cs typeface="Helvetica"/>
              </a:rPr>
              <a:t> </a:t>
            </a:r>
            <a:r>
              <a:rPr kumimoji="1" lang="en-US" altLang="zh-CN" b="0" dirty="0">
                <a:latin typeface="Helvetica"/>
                <a:cs typeface="Helvetica"/>
              </a:rPr>
              <a:t>too</a:t>
            </a:r>
            <a:r>
              <a:rPr kumimoji="1" lang="zh-CN" altLang="en-US" b="0" dirty="0">
                <a:latin typeface="Helvetica"/>
                <a:cs typeface="Helvetica"/>
              </a:rPr>
              <a:t> </a:t>
            </a:r>
            <a:r>
              <a:rPr kumimoji="1" lang="en-US" altLang="zh-CN" b="0" dirty="0">
                <a:latin typeface="Helvetica"/>
                <a:cs typeface="Helvetica"/>
              </a:rPr>
              <a:t>slow</a:t>
            </a:r>
          </a:p>
        </p:txBody>
      </p:sp>
    </p:spTree>
    <p:extLst>
      <p:ext uri="{BB962C8B-B14F-4D97-AF65-F5344CB8AC3E}">
        <p14:creationId xmlns:p14="http://schemas.microsoft.com/office/powerpoint/2010/main" val="33595684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2942D82F-856D-94DF-BA4B-BFB25C000F0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5" name="圆角矩形 4">
            <a:extLst>
              <a:ext uri="{FF2B5EF4-FFF2-40B4-BE49-F238E27FC236}">
                <a16:creationId xmlns:a16="http://schemas.microsoft.com/office/drawing/2014/main" id="{B2AC7341-AB07-37BC-F056-C447A92D3345}"/>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Asynchronous</a:t>
            </a:r>
            <a:r>
              <a:rPr kumimoji="1" lang="zh-CN" altLang="en-US" b="0" dirty="0">
                <a:latin typeface="Helvetica"/>
                <a:cs typeface="Helvetica"/>
              </a:rPr>
              <a:t> </a:t>
            </a:r>
          </a:p>
        </p:txBody>
      </p:sp>
      <p:sp>
        <p:nvSpPr>
          <p:cNvPr id="6" name="圆角矩形 5">
            <a:extLst>
              <a:ext uri="{FF2B5EF4-FFF2-40B4-BE49-F238E27FC236}">
                <a16:creationId xmlns:a16="http://schemas.microsoft.com/office/drawing/2014/main" id="{6F41D9C4-72FF-E1B9-FF10-078FDED25DB0}"/>
              </a:ext>
            </a:extLst>
          </p:cNvPr>
          <p:cNvSpPr/>
          <p:nvPr/>
        </p:nvSpPr>
        <p:spPr bwMode="auto">
          <a:xfrm rot="20580792">
            <a:off x="40169" y="683794"/>
            <a:ext cx="3733800" cy="64286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Performance</a:t>
            </a:r>
            <a:endParaRPr kumimoji="1" lang="zh-CN" altLang="en-US" b="0" dirty="0">
              <a:latin typeface="Helvetica"/>
              <a:cs typeface="Helvetica"/>
            </a:endParaRPr>
          </a:p>
        </p:txBody>
      </p:sp>
    </p:spTree>
    <p:extLst>
      <p:ext uri="{BB962C8B-B14F-4D97-AF65-F5344CB8AC3E}">
        <p14:creationId xmlns:p14="http://schemas.microsoft.com/office/powerpoint/2010/main" val="79627630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形 7">
            <a:extLst>
              <a:ext uri="{FF2B5EF4-FFF2-40B4-BE49-F238E27FC236}">
                <a16:creationId xmlns:a16="http://schemas.microsoft.com/office/drawing/2014/main" id="{5FD4B5E5-090B-81BF-F0DF-4AA3EDC4E2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777703"/>
            <a:ext cx="9144000" cy="5302594"/>
          </a:xfrm>
          <a:prstGeom prst="rect">
            <a:avLst/>
          </a:prstGeom>
        </p:spPr>
      </p:pic>
      <p:sp>
        <p:nvSpPr>
          <p:cNvPr id="9" name="圆角矩形 8">
            <a:extLst>
              <a:ext uri="{FF2B5EF4-FFF2-40B4-BE49-F238E27FC236}">
                <a16:creationId xmlns:a16="http://schemas.microsoft.com/office/drawing/2014/main" id="{8CD8BCE4-3BEC-D290-2AE1-6E9BE09FD326}"/>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Asynchronous</a:t>
            </a:r>
            <a:r>
              <a:rPr kumimoji="1" lang="zh-CN" altLang="en-US" b="0" dirty="0">
                <a:latin typeface="Helvetica"/>
                <a:cs typeface="Helvetica"/>
              </a:rPr>
              <a:t> </a:t>
            </a:r>
          </a:p>
        </p:txBody>
      </p:sp>
      <p:sp>
        <p:nvSpPr>
          <p:cNvPr id="10" name="圆角矩形 9">
            <a:extLst>
              <a:ext uri="{FF2B5EF4-FFF2-40B4-BE49-F238E27FC236}">
                <a16:creationId xmlns:a16="http://schemas.microsoft.com/office/drawing/2014/main" id="{A01B51CA-3A20-8414-98C4-AC476DC1AC6F}"/>
              </a:ext>
            </a:extLst>
          </p:cNvPr>
          <p:cNvSpPr/>
          <p:nvPr/>
        </p:nvSpPr>
        <p:spPr bwMode="auto">
          <a:xfrm rot="20580792">
            <a:off x="40169" y="683794"/>
            <a:ext cx="3733800" cy="64286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Performance:</a:t>
            </a:r>
            <a:r>
              <a:rPr kumimoji="1" lang="zh-CN" altLang="en-US" b="0" dirty="0">
                <a:latin typeface="Helvetica"/>
                <a:cs typeface="Helvetica"/>
              </a:rPr>
              <a:t> </a:t>
            </a:r>
            <a:r>
              <a:rPr kumimoji="1" lang="en-US" altLang="zh-CN" b="0" dirty="0">
                <a:latin typeface="Helvetica"/>
                <a:cs typeface="Helvetica"/>
              </a:rPr>
              <a:t>I/O</a:t>
            </a:r>
            <a:r>
              <a:rPr kumimoji="1" lang="zh-CN" altLang="en-US" b="0" dirty="0">
                <a:latin typeface="Helvetica"/>
                <a:cs typeface="Helvetica"/>
              </a:rPr>
              <a:t> </a:t>
            </a:r>
            <a:r>
              <a:rPr kumimoji="1" lang="en-US" altLang="zh-CN" b="0" dirty="0">
                <a:latin typeface="Helvetica"/>
                <a:cs typeface="Helvetica"/>
              </a:rPr>
              <a:t>too</a:t>
            </a:r>
            <a:r>
              <a:rPr kumimoji="1" lang="zh-CN" altLang="en-US" b="0" dirty="0">
                <a:latin typeface="Helvetica"/>
                <a:cs typeface="Helvetica"/>
              </a:rPr>
              <a:t> </a:t>
            </a:r>
            <a:r>
              <a:rPr kumimoji="1" lang="en-US" altLang="zh-CN" b="0" dirty="0">
                <a:latin typeface="Helvetica"/>
                <a:cs typeface="Helvetica"/>
              </a:rPr>
              <a:t>slow</a:t>
            </a:r>
          </a:p>
          <a:p>
            <a:pPr algn="ctr"/>
            <a:r>
              <a:rPr kumimoji="1" lang="en-US" altLang="zh-CN" b="0" dirty="0">
                <a:latin typeface="Helvetica"/>
                <a:cs typeface="Helvetica"/>
              </a:rPr>
              <a:t>Correctness</a:t>
            </a:r>
            <a:endParaRPr kumimoji="1" lang="zh-CN" altLang="en-US" b="0" dirty="0">
              <a:latin typeface="Helvetica"/>
              <a:cs typeface="Helvetica"/>
            </a:endParaRPr>
          </a:p>
        </p:txBody>
      </p:sp>
    </p:spTree>
    <p:extLst>
      <p:ext uri="{BB962C8B-B14F-4D97-AF65-F5344CB8AC3E}">
        <p14:creationId xmlns:p14="http://schemas.microsoft.com/office/powerpoint/2010/main" val="211835376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25BA9-BB51-2547-A67B-B9CFE9231082}"/>
              </a:ext>
            </a:extLst>
          </p:cNvPr>
          <p:cNvSpPr>
            <a:spLocks noGrp="1"/>
          </p:cNvSpPr>
          <p:nvPr>
            <p:ph type="title"/>
          </p:nvPr>
        </p:nvSpPr>
        <p:spPr/>
        <p:txBody>
          <a:bodyPr/>
          <a:lstStyle/>
          <a:p>
            <a:r>
              <a:rPr kumimoji="1" lang="en-US" altLang="zh-CN" dirty="0"/>
              <a:t>Interface</a:t>
            </a:r>
            <a:endParaRPr kumimoji="1" lang="zh-CN" altLang="en-US" dirty="0"/>
          </a:p>
        </p:txBody>
      </p:sp>
      <p:sp>
        <p:nvSpPr>
          <p:cNvPr id="3" name="文本占位符 2">
            <a:extLst>
              <a:ext uri="{FF2B5EF4-FFF2-40B4-BE49-F238E27FC236}">
                <a16:creationId xmlns:a16="http://schemas.microsoft.com/office/drawing/2014/main" id="{A88FE518-C29E-164D-A021-6998B83F7BA0}"/>
              </a:ext>
            </a:extLst>
          </p:cNvPr>
          <p:cNvSpPr>
            <a:spLocks noGrp="1"/>
          </p:cNvSpPr>
          <p:nvPr>
            <p:ph type="body" idx="1"/>
          </p:nvPr>
        </p:nvSpPr>
        <p:spPr>
          <a:xfrm>
            <a:off x="762000" y="5105400"/>
            <a:ext cx="7772400" cy="533400"/>
          </a:xfrm>
        </p:spPr>
        <p:txBody>
          <a:bodyPr/>
          <a:lstStyle/>
          <a:p>
            <a:r>
              <a:rPr kumimoji="1" lang="en-US" altLang="zh-CN" dirty="0"/>
              <a:t>Reliability</a:t>
            </a:r>
            <a:endParaRPr kumimoji="1" lang="zh-CN" altLang="en-US" dirty="0"/>
          </a:p>
        </p:txBody>
      </p:sp>
    </p:spTree>
    <p:extLst>
      <p:ext uri="{BB962C8B-B14F-4D97-AF65-F5344CB8AC3E}">
        <p14:creationId xmlns:p14="http://schemas.microsoft.com/office/powerpoint/2010/main" val="122626682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noChangeArrowheads="1"/>
          </p:cNvSpPr>
          <p:nvPr>
            <p:ph type="title"/>
          </p:nvPr>
        </p:nvSpPr>
        <p:spPr/>
        <p:txBody>
          <a:bodyPr/>
          <a:lstStyle/>
          <a:p>
            <a:pPr eaLnBrk="1" hangingPunct="1"/>
            <a:r>
              <a:rPr lang="en-US" altLang="ko-KR">
                <a:latin typeface="Helvetica" charset="0"/>
                <a:ea typeface="굴림" charset="-127"/>
              </a:rPr>
              <a:t>Atomic Operations</a:t>
            </a:r>
          </a:p>
        </p:txBody>
      </p:sp>
      <p:sp>
        <p:nvSpPr>
          <p:cNvPr id="39939" name="Rectangle 3"/>
          <p:cNvSpPr>
            <a:spLocks noGrp="1" noChangeArrowheads="1"/>
          </p:cNvSpPr>
          <p:nvPr>
            <p:ph type="body" idx="1"/>
          </p:nvPr>
        </p:nvSpPr>
        <p:spPr>
          <a:xfrm>
            <a:off x="153988" y="914400"/>
            <a:ext cx="8915400" cy="5562600"/>
          </a:xfrm>
        </p:spPr>
        <p:txBody>
          <a:bodyPr/>
          <a:lstStyle/>
          <a:p>
            <a:pPr eaLnBrk="1" hangingPunct="1">
              <a:lnSpc>
                <a:spcPct val="80000"/>
              </a:lnSpc>
            </a:pPr>
            <a:r>
              <a:rPr lang="en-US" altLang="ko-KR">
                <a:latin typeface="Helvetica" charset="0"/>
                <a:ea typeface="굴림" charset="-127"/>
              </a:rPr>
              <a:t>To understand a concurrent program, we need to know what the underlying atomic operations are!</a:t>
            </a:r>
          </a:p>
          <a:p>
            <a:pPr eaLnBrk="1" hangingPunct="1">
              <a:lnSpc>
                <a:spcPct val="80000"/>
              </a:lnSpc>
            </a:pPr>
            <a:r>
              <a:rPr lang="en-US" altLang="ko-KR">
                <a:solidFill>
                  <a:schemeClr val="hlink"/>
                </a:solidFill>
                <a:latin typeface="Helvetica" charset="0"/>
                <a:ea typeface="굴림" charset="-127"/>
              </a:rPr>
              <a:t>Atomic Operation</a:t>
            </a:r>
            <a:r>
              <a:rPr lang="en-US" altLang="ko-KR">
                <a:latin typeface="Helvetica" charset="0"/>
                <a:ea typeface="굴림" charset="-127"/>
              </a:rPr>
              <a:t>: an operation that always runs to completion or not at all</a:t>
            </a:r>
          </a:p>
          <a:p>
            <a:pPr lvl="1" eaLnBrk="1" hangingPunct="1">
              <a:lnSpc>
                <a:spcPct val="80000"/>
              </a:lnSpc>
            </a:pPr>
            <a:r>
              <a:rPr lang="en-US" altLang="ko-KR">
                <a:latin typeface="Helvetica" charset="0"/>
                <a:ea typeface="굴림" charset="-127"/>
              </a:rPr>
              <a:t>It is </a:t>
            </a:r>
            <a:r>
              <a:rPr lang="en-US" altLang="ko-KR" i="1">
                <a:latin typeface="Helvetica" charset="0"/>
                <a:ea typeface="굴림" charset="-127"/>
              </a:rPr>
              <a:t>indivisible: </a:t>
            </a:r>
            <a:r>
              <a:rPr lang="en-US" altLang="ko-KR">
                <a:latin typeface="Helvetica" charset="0"/>
                <a:ea typeface="굴림" charset="-127"/>
              </a:rPr>
              <a:t>it cannot be stopped in the middle and state cannot be modified by someone else in the middle</a:t>
            </a:r>
          </a:p>
          <a:p>
            <a:pPr lvl="1" eaLnBrk="1" hangingPunct="1">
              <a:lnSpc>
                <a:spcPct val="80000"/>
              </a:lnSpc>
            </a:pPr>
            <a:r>
              <a:rPr lang="en-US" altLang="ko-KR">
                <a:latin typeface="Helvetica" charset="0"/>
                <a:ea typeface="굴림" charset="-127"/>
              </a:rPr>
              <a:t>Fundamental building block – if no atomic operations, then have no way for threads to work together</a:t>
            </a:r>
          </a:p>
          <a:p>
            <a:pPr eaLnBrk="1" hangingPunct="1">
              <a:lnSpc>
                <a:spcPct val="80000"/>
              </a:lnSpc>
            </a:pPr>
            <a:endParaRPr lang="en-US" altLang="ko-KR">
              <a:latin typeface="Helvetica" charset="0"/>
              <a:ea typeface="굴림" charset="-127"/>
            </a:endParaRPr>
          </a:p>
          <a:p>
            <a:pPr eaLnBrk="1" hangingPunct="1">
              <a:lnSpc>
                <a:spcPct val="80000"/>
              </a:lnSpc>
            </a:pPr>
            <a:r>
              <a:rPr lang="en-US" altLang="ko-KR">
                <a:latin typeface="Helvetica" charset="0"/>
                <a:ea typeface="굴림" charset="-127"/>
              </a:rPr>
              <a:t>On most machines, memory references and assignments (i.e. loads and stores) of words are atomic</a:t>
            </a:r>
          </a:p>
          <a:p>
            <a:pPr eaLnBrk="1" hangingPunct="1">
              <a:lnSpc>
                <a:spcPct val="80000"/>
              </a:lnSpc>
            </a:pPr>
            <a:endParaRPr lang="en-US" altLang="ko-KR">
              <a:latin typeface="Helvetica" charset="0"/>
              <a:ea typeface="굴림" charset="-127"/>
            </a:endParaRPr>
          </a:p>
          <a:p>
            <a:pPr eaLnBrk="1" hangingPunct="1">
              <a:lnSpc>
                <a:spcPct val="80000"/>
              </a:lnSpc>
            </a:pPr>
            <a:r>
              <a:rPr lang="en-US" altLang="ko-KR">
                <a:latin typeface="Helvetica" charset="0"/>
                <a:ea typeface="굴림" charset="-127"/>
              </a:rPr>
              <a:t>Many instructions are not atomic</a:t>
            </a:r>
          </a:p>
          <a:p>
            <a:pPr lvl="1" eaLnBrk="1" hangingPunct="1">
              <a:lnSpc>
                <a:spcPct val="80000"/>
              </a:lnSpc>
            </a:pPr>
            <a:r>
              <a:rPr lang="en-US" altLang="ko-KR">
                <a:latin typeface="Helvetica" charset="0"/>
                <a:ea typeface="굴림" charset="-127"/>
              </a:rPr>
              <a:t>Double-precision floating point store often not atomic</a:t>
            </a:r>
          </a:p>
          <a:p>
            <a:pPr lvl="1" eaLnBrk="1" hangingPunct="1">
              <a:lnSpc>
                <a:spcPct val="80000"/>
              </a:lnSpc>
            </a:pPr>
            <a:r>
              <a:rPr lang="en-US" altLang="ko-KR">
                <a:latin typeface="Helvetica" charset="0"/>
                <a:ea typeface="굴림" charset="-127"/>
              </a:rPr>
              <a:t>VAX and IBM 360 had an instruction to copy a whole array</a:t>
            </a:r>
          </a:p>
          <a:p>
            <a:pPr eaLnBrk="1" hangingPunct="1">
              <a:lnSpc>
                <a:spcPct val="80000"/>
              </a:lnSpc>
            </a:pPr>
            <a:endParaRPr lang="ko-KR" altLang="en-US">
              <a:latin typeface="Helvetica" charset="0"/>
              <a:ea typeface="굴림" charset="-127"/>
            </a:endParaRPr>
          </a:p>
        </p:txBody>
      </p:sp>
      <p:sp>
        <p:nvSpPr>
          <p:cNvPr id="4" name="圆角矩形 3">
            <a:extLst>
              <a:ext uri="{FF2B5EF4-FFF2-40B4-BE49-F238E27FC236}">
                <a16:creationId xmlns:a16="http://schemas.microsoft.com/office/drawing/2014/main" id="{F6A7A8C5-AEF2-60A4-06FB-0552BC97D09C}"/>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Need</a:t>
            </a:r>
            <a:r>
              <a:rPr kumimoji="1" lang="zh-CN" altLang="en-US" b="0" dirty="0">
                <a:latin typeface="Helvetica"/>
                <a:cs typeface="Helvetica"/>
              </a:rPr>
              <a:t> </a:t>
            </a:r>
            <a:r>
              <a:rPr kumimoji="1" lang="en-US" altLang="zh-CN" b="0" dirty="0">
                <a:latin typeface="Helvetica"/>
                <a:cs typeface="Helvetica"/>
              </a:rPr>
              <a:t>a</a:t>
            </a:r>
            <a:r>
              <a:rPr kumimoji="1" lang="zh-CN" altLang="en-US" b="0" dirty="0">
                <a:latin typeface="Helvetica"/>
                <a:cs typeface="Helvetica"/>
              </a:rPr>
              <a:t> </a:t>
            </a:r>
            <a:r>
              <a:rPr kumimoji="1" lang="en-US" altLang="zh-CN" b="0" dirty="0">
                <a:latin typeface="Helvetica"/>
                <a:cs typeface="Helvetica"/>
              </a:rPr>
              <a:t>way</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a:latin typeface="Helvetica"/>
                <a:cs typeface="Helvetica"/>
              </a:rPr>
              <a:t>understand</a:t>
            </a:r>
            <a:r>
              <a:rPr kumimoji="1" lang="zh-CN" altLang="en-US" b="0" dirty="0">
                <a:latin typeface="Helvetica"/>
                <a:cs typeface="Helvetica"/>
              </a:rPr>
              <a:t> </a:t>
            </a:r>
            <a:endParaRPr kumimoji="1" lang="en-US" altLang="zh-CN" b="0" dirty="0">
              <a:latin typeface="Helvetica"/>
              <a:cs typeface="Helvetica"/>
            </a:endParaRPr>
          </a:p>
          <a:p>
            <a:pPr algn="ctr"/>
            <a:r>
              <a:rPr kumimoji="1" lang="en-US" altLang="zh-CN" b="0" dirty="0">
                <a:latin typeface="Helvetica"/>
                <a:cs typeface="Helvetica"/>
              </a:rPr>
              <a:t>Concurrent</a:t>
            </a:r>
            <a:r>
              <a:rPr kumimoji="1" lang="zh-CN" altLang="en-US" b="0" dirty="0">
                <a:latin typeface="Helvetica"/>
                <a:cs typeface="Helvetica"/>
              </a:rPr>
              <a:t> </a:t>
            </a:r>
            <a:r>
              <a:rPr kumimoji="1" lang="en-US" altLang="zh-CN" b="0" dirty="0">
                <a:latin typeface="Helvetica"/>
                <a:cs typeface="Helvetica"/>
              </a:rPr>
              <a:t>operations</a:t>
            </a:r>
          </a:p>
        </p:txBody>
      </p:sp>
    </p:spTree>
    <p:extLst>
      <p:ext uri="{BB962C8B-B14F-4D97-AF65-F5344CB8AC3E}">
        <p14:creationId xmlns:p14="http://schemas.microsoft.com/office/powerpoint/2010/main" val="284226503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dirty="0">
                <a:latin typeface="Helvetica" charset="0"/>
                <a:ea typeface="Gulim" charset="0"/>
                <a:cs typeface="Gulim" charset="0"/>
              </a:rPr>
              <a:t>The</a:t>
            </a:r>
            <a:r>
              <a:rPr lang="zh-CN" altLang="en-US" dirty="0">
                <a:latin typeface="Helvetica" charset="0"/>
                <a:ea typeface="Gulim" charset="0"/>
                <a:cs typeface="Gulim" charset="0"/>
              </a:rPr>
              <a:t> </a:t>
            </a:r>
            <a:r>
              <a:rPr lang="en-US" altLang="zh-CN" dirty="0">
                <a:latin typeface="Helvetica" charset="0"/>
                <a:ea typeface="Gulim" charset="0"/>
                <a:cs typeface="Gulim" charset="0"/>
              </a:rPr>
              <a:t>big</a:t>
            </a:r>
            <a:r>
              <a:rPr lang="zh-CN" altLang="en-US" dirty="0">
                <a:latin typeface="Helvetica" charset="0"/>
                <a:ea typeface="Gulim" charset="0"/>
                <a:cs typeface="Gulim" charset="0"/>
              </a:rPr>
              <a:t> </a:t>
            </a:r>
            <a:r>
              <a:rPr lang="en-US" altLang="zh-CN" dirty="0">
                <a:latin typeface="Helvetica" charset="0"/>
                <a:ea typeface="Gulim" charset="0"/>
                <a:cs typeface="Gulim" charset="0"/>
              </a:rPr>
              <a:t>picture</a:t>
            </a:r>
            <a:r>
              <a:rPr lang="zh-CN" altLang="en-US" dirty="0">
                <a:latin typeface="Helvetica" charset="0"/>
                <a:ea typeface="Gulim" charset="0"/>
                <a:cs typeface="Gulim" charset="0"/>
              </a:rPr>
              <a:t> </a:t>
            </a:r>
            <a:r>
              <a:rPr lang="en-US" altLang="zh-CN" dirty="0">
                <a:latin typeface="Helvetica" charset="0"/>
                <a:ea typeface="Gulim" charset="0"/>
                <a:cs typeface="Gulim" charset="0"/>
              </a:rPr>
              <a:t>of</a:t>
            </a:r>
            <a:r>
              <a:rPr lang="zh-CN" altLang="en-US" dirty="0">
                <a:latin typeface="Helvetica" charset="0"/>
                <a:ea typeface="Gulim" charset="0"/>
                <a:cs typeface="Gulim" charset="0"/>
              </a:rPr>
              <a:t> </a:t>
            </a:r>
            <a:r>
              <a:rPr lang="en-US" altLang="zh-CN" dirty="0">
                <a:latin typeface="Helvetica" charset="0"/>
                <a:ea typeface="Gulim" charset="0"/>
                <a:cs typeface="Gulim" charset="0"/>
              </a:rPr>
              <a:t>synchronization</a:t>
            </a:r>
            <a:endParaRPr lang="en-US" altLang="ko-KR" dirty="0">
              <a:latin typeface="Helvetica" charset="0"/>
              <a:ea typeface="Gulim" charset="0"/>
              <a:cs typeface="Gulim" charset="0"/>
            </a:endParaRPr>
          </a:p>
        </p:txBody>
      </p:sp>
      <p:sp>
        <p:nvSpPr>
          <p:cNvPr id="13315" name="Rectangle 36"/>
          <p:cNvSpPr>
            <a:spLocks noGrp="1" noChangeArrowheads="1"/>
          </p:cNvSpPr>
          <p:nvPr>
            <p:ph idx="1"/>
          </p:nvPr>
        </p:nvSpPr>
        <p:spPr>
          <a:xfrm>
            <a:off x="228600" y="4343400"/>
            <a:ext cx="8610600" cy="2133600"/>
          </a:xfrm>
        </p:spPr>
        <p:txBody>
          <a:bodyPr/>
          <a:lstStyle/>
          <a:p>
            <a:r>
              <a:rPr lang="en-US" altLang="ko-KR" dirty="0">
                <a:latin typeface="Helvetica" charset="0"/>
                <a:ea typeface="Gulim" charset="0"/>
                <a:cs typeface="Gulim" charset="0"/>
              </a:rPr>
              <a:t>We are going to implement various higher-level synchronization primitives using atomic operations</a:t>
            </a:r>
          </a:p>
          <a:p>
            <a:pPr lvl="1"/>
            <a:r>
              <a:rPr lang="en-US" altLang="ko-KR" dirty="0">
                <a:latin typeface="Helvetica" charset="0"/>
                <a:ea typeface="Gulim" charset="0"/>
                <a:cs typeface="Gulim" charset="0"/>
              </a:rPr>
              <a:t>Everything is pretty painful if only atomic primitives are load and store</a:t>
            </a:r>
          </a:p>
          <a:p>
            <a:pPr lvl="1"/>
            <a:r>
              <a:rPr lang="en-US" altLang="ko-KR" dirty="0">
                <a:latin typeface="Helvetica" charset="0"/>
                <a:ea typeface="Gulim" charset="0"/>
                <a:cs typeface="Gulim" charset="0"/>
              </a:rPr>
              <a:t>Need to provide primitives useful at user-level</a:t>
            </a:r>
          </a:p>
        </p:txBody>
      </p:sp>
      <p:sp>
        <p:nvSpPr>
          <p:cNvPr id="436234" name="Rectangle 10"/>
          <p:cNvSpPr>
            <a:spLocks noChangeArrowheads="1"/>
          </p:cNvSpPr>
          <p:nvPr/>
        </p:nvSpPr>
        <p:spPr bwMode="auto">
          <a:xfrm>
            <a:off x="1752600" y="3276600"/>
            <a:ext cx="7162800" cy="685800"/>
          </a:xfrm>
          <a:prstGeom prst="rect">
            <a:avLst/>
          </a:prstGeom>
          <a:solidFill>
            <a:srgbClr val="00FFFF"/>
          </a:solidFill>
          <a:ln>
            <a:noFill/>
          </a:ln>
          <a:extLst>
            <a:ext uri="{91240B29-F687-4f45-9708-019B960494DF}">
              <a14:hiddenLine xmlns:a14="http://schemas.microsoft.com/office/drawing/2010/main" xmlns="" w="38100">
                <a:solidFill>
                  <a:srgbClr val="000000"/>
                </a:solidFill>
                <a:miter lim="800000"/>
                <a:headEnd/>
                <a:tailEnd/>
              </a14:hiddenLine>
            </a:ext>
          </a:extLst>
        </p:spPr>
        <p:txBody>
          <a:bodyPr anchor="ctr"/>
          <a:lstStyle/>
          <a:p>
            <a:pPr>
              <a:lnSpc>
                <a:spcPct val="90000"/>
              </a:lnSpc>
              <a:spcBef>
                <a:spcPct val="30000"/>
              </a:spcBef>
              <a:buSzPct val="100000"/>
            </a:pPr>
            <a:r>
              <a:rPr lang="en-US" sz="2000">
                <a:latin typeface="Helvetica" charset="0"/>
              </a:rPr>
              <a:t>Load/Store    Disable Ints   Test&amp;Set   Comp&amp;Swap</a:t>
            </a:r>
          </a:p>
        </p:txBody>
      </p:sp>
      <p:sp>
        <p:nvSpPr>
          <p:cNvPr id="436232" name="Rectangle 8"/>
          <p:cNvSpPr>
            <a:spLocks noChangeArrowheads="1"/>
          </p:cNvSpPr>
          <p:nvPr/>
        </p:nvSpPr>
        <p:spPr bwMode="auto">
          <a:xfrm>
            <a:off x="1752600" y="1828800"/>
            <a:ext cx="7162800" cy="1447800"/>
          </a:xfrm>
          <a:prstGeom prst="rect">
            <a:avLst/>
          </a:prstGeom>
          <a:solidFill>
            <a:schemeClr val="accent1"/>
          </a:solidFill>
          <a:ln>
            <a:noFill/>
          </a:ln>
          <a:extLst>
            <a:ext uri="{91240B29-F687-4f45-9708-019B960494DF}">
              <a14:hiddenLine xmlns:a14="http://schemas.microsoft.com/office/drawing/2010/main" xmlns="" w="38100">
                <a:solidFill>
                  <a:srgbClr val="000000"/>
                </a:solidFill>
                <a:miter lim="800000"/>
                <a:headEnd/>
                <a:tailEnd/>
              </a14:hiddenLine>
            </a:ext>
          </a:extLst>
        </p:spPr>
        <p:txBody>
          <a:bodyPr anchor="ctr"/>
          <a:lstStyle/>
          <a:p>
            <a:pPr>
              <a:lnSpc>
                <a:spcPct val="90000"/>
              </a:lnSpc>
              <a:spcBef>
                <a:spcPct val="30000"/>
              </a:spcBef>
              <a:buSzPct val="100000"/>
            </a:pPr>
            <a:r>
              <a:rPr lang="en-US" sz="2000">
                <a:latin typeface="Helvetica" charset="0"/>
              </a:rPr>
              <a:t>Locks   Semaphores   Monitors   Send/Receive</a:t>
            </a:r>
          </a:p>
        </p:txBody>
      </p:sp>
      <p:sp>
        <p:nvSpPr>
          <p:cNvPr id="436230" name="Rectangle 6"/>
          <p:cNvSpPr>
            <a:spLocks noChangeArrowheads="1"/>
          </p:cNvSpPr>
          <p:nvPr/>
        </p:nvSpPr>
        <p:spPr bwMode="auto">
          <a:xfrm>
            <a:off x="1752600" y="990600"/>
            <a:ext cx="7162800" cy="838200"/>
          </a:xfrm>
          <a:prstGeom prst="rect">
            <a:avLst/>
          </a:prstGeom>
          <a:solidFill>
            <a:srgbClr val="53FB25"/>
          </a:solidFill>
          <a:ln>
            <a:noFill/>
          </a:ln>
          <a:extLst>
            <a:ext uri="{91240B29-F687-4f45-9708-019B960494DF}">
              <a14:hiddenLine xmlns:a14="http://schemas.microsoft.com/office/drawing/2010/main" xmlns="" w="38100">
                <a:solidFill>
                  <a:srgbClr val="000000"/>
                </a:solidFill>
                <a:miter lim="800000"/>
                <a:headEnd/>
                <a:tailEnd/>
              </a14:hiddenLine>
            </a:ext>
          </a:extLst>
        </p:spPr>
        <p:txBody>
          <a:bodyPr anchor="ctr"/>
          <a:lstStyle/>
          <a:p>
            <a:pPr>
              <a:lnSpc>
                <a:spcPct val="90000"/>
              </a:lnSpc>
              <a:spcBef>
                <a:spcPct val="30000"/>
              </a:spcBef>
              <a:buSzPct val="100000"/>
            </a:pPr>
            <a:r>
              <a:rPr lang="en-US" sz="2000">
                <a:latin typeface="Helvetica" charset="0"/>
              </a:rPr>
              <a:t>Shared Programs</a:t>
            </a:r>
          </a:p>
        </p:txBody>
      </p:sp>
      <p:grpSp>
        <p:nvGrpSpPr>
          <p:cNvPr id="2" name="Group 37"/>
          <p:cNvGrpSpPr>
            <a:grpSpLocks/>
          </p:cNvGrpSpPr>
          <p:nvPr/>
        </p:nvGrpSpPr>
        <p:grpSpPr bwMode="auto">
          <a:xfrm>
            <a:off x="228600" y="990600"/>
            <a:ext cx="8686800" cy="2971800"/>
            <a:chOff x="144" y="480"/>
            <a:chExt cx="5472" cy="1872"/>
          </a:xfrm>
        </p:grpSpPr>
        <p:grpSp>
          <p:nvGrpSpPr>
            <p:cNvPr id="13320" name="Group 35"/>
            <p:cNvGrpSpPr>
              <a:grpSpLocks/>
            </p:cNvGrpSpPr>
            <p:nvPr/>
          </p:nvGrpSpPr>
          <p:grpSpPr bwMode="auto">
            <a:xfrm>
              <a:off x="144" y="480"/>
              <a:ext cx="960" cy="1872"/>
              <a:chOff x="144" y="768"/>
              <a:chExt cx="960" cy="1872"/>
            </a:xfrm>
          </p:grpSpPr>
          <p:sp>
            <p:nvSpPr>
              <p:cNvPr id="13328" name="Rectangle 9"/>
              <p:cNvSpPr>
                <a:spLocks noChangeArrowheads="1"/>
              </p:cNvSpPr>
              <p:nvPr/>
            </p:nvSpPr>
            <p:spPr bwMode="auto">
              <a:xfrm>
                <a:off x="144" y="2208"/>
                <a:ext cx="960" cy="432"/>
              </a:xfrm>
              <a:prstGeom prst="rect">
                <a:avLst/>
              </a:prstGeom>
              <a:solidFill>
                <a:srgbClr val="FF66CC"/>
              </a:solidFill>
              <a:ln>
                <a:noFill/>
              </a:ln>
              <a:extLst>
                <a:ext uri="{91240B29-F687-4f45-9708-019B960494DF}">
                  <a14:hiddenLine xmlns:a14="http://schemas.microsoft.com/office/drawing/2010/main" xmlns="" w="38100">
                    <a:solidFill>
                      <a:srgbClr val="000000"/>
                    </a:solidFill>
                    <a:miter lim="800000"/>
                    <a:headEnd/>
                    <a:tailEnd/>
                  </a14:hiddenLine>
                </a:ext>
              </a:extLst>
            </p:spPr>
            <p:txBody>
              <a:bodyPr anchor="ctr"/>
              <a:lstStyle/>
              <a:p>
                <a:pPr>
                  <a:lnSpc>
                    <a:spcPct val="90000"/>
                  </a:lnSpc>
                  <a:spcBef>
                    <a:spcPct val="30000"/>
                  </a:spcBef>
                  <a:buSzPct val="100000"/>
                </a:pPr>
                <a:r>
                  <a:rPr lang="en-US" sz="2000">
                    <a:latin typeface="Helvetica" charset="0"/>
                  </a:rPr>
                  <a:t>Hardware</a:t>
                </a:r>
              </a:p>
            </p:txBody>
          </p:sp>
          <p:sp>
            <p:nvSpPr>
              <p:cNvPr id="13329" name="Rectangle 7"/>
              <p:cNvSpPr>
                <a:spLocks noChangeArrowheads="1"/>
              </p:cNvSpPr>
              <p:nvPr/>
            </p:nvSpPr>
            <p:spPr bwMode="auto">
              <a:xfrm>
                <a:off x="144" y="1296"/>
                <a:ext cx="960" cy="912"/>
              </a:xfrm>
              <a:prstGeom prst="rect">
                <a:avLst/>
              </a:prstGeom>
              <a:solidFill>
                <a:srgbClr val="FF66CC"/>
              </a:solidFill>
              <a:ln>
                <a:noFill/>
              </a:ln>
              <a:extLst>
                <a:ext uri="{91240B29-F687-4f45-9708-019B960494DF}">
                  <a14:hiddenLine xmlns:a14="http://schemas.microsoft.com/office/drawing/2010/main" xmlns="" w="38100">
                    <a:solidFill>
                      <a:srgbClr val="000000"/>
                    </a:solidFill>
                    <a:miter lim="800000"/>
                    <a:headEnd/>
                    <a:tailEnd/>
                  </a14:hiddenLine>
                </a:ext>
              </a:extLst>
            </p:spPr>
            <p:txBody>
              <a:bodyPr anchor="ctr"/>
              <a:lstStyle/>
              <a:p>
                <a:pPr>
                  <a:lnSpc>
                    <a:spcPct val="90000"/>
                  </a:lnSpc>
                  <a:spcBef>
                    <a:spcPct val="30000"/>
                  </a:spcBef>
                  <a:buSzPct val="100000"/>
                </a:pPr>
                <a:r>
                  <a:rPr lang="en-US" sz="2000">
                    <a:latin typeface="Helvetica" charset="0"/>
                  </a:rPr>
                  <a:t>Higher-level </a:t>
                </a:r>
              </a:p>
              <a:p>
                <a:pPr>
                  <a:lnSpc>
                    <a:spcPct val="90000"/>
                  </a:lnSpc>
                  <a:spcBef>
                    <a:spcPct val="30000"/>
                  </a:spcBef>
                  <a:buSzPct val="100000"/>
                </a:pPr>
                <a:r>
                  <a:rPr lang="en-US" sz="2000">
                    <a:latin typeface="Helvetica" charset="0"/>
                  </a:rPr>
                  <a:t>API</a:t>
                </a:r>
              </a:p>
            </p:txBody>
          </p:sp>
          <p:sp>
            <p:nvSpPr>
              <p:cNvPr id="13330" name="Rectangle 5"/>
              <p:cNvSpPr>
                <a:spLocks noChangeArrowheads="1"/>
              </p:cNvSpPr>
              <p:nvPr/>
            </p:nvSpPr>
            <p:spPr bwMode="auto">
              <a:xfrm>
                <a:off x="144" y="768"/>
                <a:ext cx="960" cy="528"/>
              </a:xfrm>
              <a:prstGeom prst="rect">
                <a:avLst/>
              </a:prstGeom>
              <a:solidFill>
                <a:srgbClr val="FF66CC"/>
              </a:solidFill>
              <a:ln>
                <a:noFill/>
              </a:ln>
              <a:extLst>
                <a:ext uri="{91240B29-F687-4f45-9708-019B960494DF}">
                  <a14:hiddenLine xmlns:a14="http://schemas.microsoft.com/office/drawing/2010/main" xmlns="" w="38100">
                    <a:solidFill>
                      <a:srgbClr val="000000"/>
                    </a:solidFill>
                    <a:miter lim="800000"/>
                    <a:headEnd/>
                    <a:tailEnd/>
                  </a14:hiddenLine>
                </a:ext>
              </a:extLst>
            </p:spPr>
            <p:txBody>
              <a:bodyPr anchor="ctr"/>
              <a:lstStyle/>
              <a:p>
                <a:pPr>
                  <a:lnSpc>
                    <a:spcPct val="90000"/>
                  </a:lnSpc>
                  <a:spcBef>
                    <a:spcPct val="30000"/>
                  </a:spcBef>
                  <a:buSzPct val="100000"/>
                </a:pPr>
                <a:r>
                  <a:rPr lang="en-US" sz="2000">
                    <a:latin typeface="Helvetica" charset="0"/>
                  </a:rPr>
                  <a:t>Programs</a:t>
                </a:r>
              </a:p>
            </p:txBody>
          </p:sp>
        </p:grpSp>
        <p:sp>
          <p:nvSpPr>
            <p:cNvPr id="13321" name="Line 11"/>
            <p:cNvSpPr>
              <a:spLocks noChangeShapeType="1"/>
            </p:cNvSpPr>
            <p:nvPr/>
          </p:nvSpPr>
          <p:spPr bwMode="auto">
            <a:xfrm>
              <a:off x="144" y="480"/>
              <a:ext cx="5472" cy="0"/>
            </a:xfrm>
            <a:prstGeom prst="line">
              <a:avLst/>
            </a:prstGeom>
            <a:noFill/>
            <a:ln w="28575" cap="sq">
              <a:solidFill>
                <a:schemeClr val="tx1"/>
              </a:solidFill>
              <a:round/>
              <a:headEnd/>
              <a:tailEnd/>
            </a:ln>
            <a:extLst>
              <a:ext uri="{909E8E84-426E-40dd-AFC4-6F175D3DCCD1}">
                <a14:hiddenFill xmlns:a14="http://schemas.microsoft.com/office/drawing/2010/main" xmlns="">
                  <a:noFill/>
                </a14:hiddenFill>
              </a:ext>
            </a:extLst>
          </p:spPr>
          <p:txBody>
            <a:bodyPr vert="eaVert" wrap="none" anchor="ctr"/>
            <a:lstStyle/>
            <a:p>
              <a:endParaRPr lang="en-US"/>
            </a:p>
          </p:txBody>
        </p:sp>
        <p:sp>
          <p:nvSpPr>
            <p:cNvPr id="13322" name="Line 12"/>
            <p:cNvSpPr>
              <a:spLocks noChangeShapeType="1"/>
            </p:cNvSpPr>
            <p:nvPr/>
          </p:nvSpPr>
          <p:spPr bwMode="auto">
            <a:xfrm>
              <a:off x="144" y="1008"/>
              <a:ext cx="5472" cy="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vert="eaVert" wrap="none" anchor="ctr"/>
            <a:lstStyle/>
            <a:p>
              <a:endParaRPr lang="en-US"/>
            </a:p>
          </p:txBody>
        </p:sp>
        <p:sp>
          <p:nvSpPr>
            <p:cNvPr id="13323" name="Line 13"/>
            <p:cNvSpPr>
              <a:spLocks noChangeShapeType="1"/>
            </p:cNvSpPr>
            <p:nvPr/>
          </p:nvSpPr>
          <p:spPr bwMode="auto">
            <a:xfrm>
              <a:off x="144" y="1920"/>
              <a:ext cx="5472" cy="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vert="eaVert" wrap="none" anchor="ctr"/>
            <a:lstStyle/>
            <a:p>
              <a:endParaRPr lang="en-US"/>
            </a:p>
          </p:txBody>
        </p:sp>
        <p:sp>
          <p:nvSpPr>
            <p:cNvPr id="13324" name="Line 14"/>
            <p:cNvSpPr>
              <a:spLocks noChangeShapeType="1"/>
            </p:cNvSpPr>
            <p:nvPr/>
          </p:nvSpPr>
          <p:spPr bwMode="auto">
            <a:xfrm>
              <a:off x="144" y="2352"/>
              <a:ext cx="5472" cy="0"/>
            </a:xfrm>
            <a:prstGeom prst="line">
              <a:avLst/>
            </a:prstGeom>
            <a:noFill/>
            <a:ln w="28575" cap="sq">
              <a:solidFill>
                <a:schemeClr val="tx1"/>
              </a:solidFill>
              <a:round/>
              <a:headEnd/>
              <a:tailEnd/>
            </a:ln>
            <a:extLst>
              <a:ext uri="{909E8E84-426E-40dd-AFC4-6F175D3DCCD1}">
                <a14:hiddenFill xmlns:a14="http://schemas.microsoft.com/office/drawing/2010/main" xmlns="">
                  <a:noFill/>
                </a14:hiddenFill>
              </a:ext>
            </a:extLst>
          </p:spPr>
          <p:txBody>
            <a:bodyPr vert="eaVert" wrap="none" anchor="ctr"/>
            <a:lstStyle/>
            <a:p>
              <a:endParaRPr lang="en-US"/>
            </a:p>
          </p:txBody>
        </p:sp>
        <p:sp>
          <p:nvSpPr>
            <p:cNvPr id="13325" name="Line 15"/>
            <p:cNvSpPr>
              <a:spLocks noChangeShapeType="1"/>
            </p:cNvSpPr>
            <p:nvPr/>
          </p:nvSpPr>
          <p:spPr bwMode="auto">
            <a:xfrm>
              <a:off x="144" y="480"/>
              <a:ext cx="0" cy="1872"/>
            </a:xfrm>
            <a:prstGeom prst="line">
              <a:avLst/>
            </a:prstGeom>
            <a:noFill/>
            <a:ln w="28575" cap="sq">
              <a:solidFill>
                <a:schemeClr val="tx1"/>
              </a:solidFill>
              <a:round/>
              <a:headEnd/>
              <a:tailEnd/>
            </a:ln>
            <a:extLst>
              <a:ext uri="{909E8E84-426E-40dd-AFC4-6F175D3DCCD1}">
                <a14:hiddenFill xmlns:a14="http://schemas.microsoft.com/office/drawing/2010/main" xmlns="">
                  <a:noFill/>
                </a14:hiddenFill>
              </a:ext>
            </a:extLst>
          </p:spPr>
          <p:txBody>
            <a:bodyPr vert="eaVert" wrap="none" anchor="ctr"/>
            <a:lstStyle/>
            <a:p>
              <a:endParaRPr lang="en-US"/>
            </a:p>
          </p:txBody>
        </p:sp>
        <p:sp>
          <p:nvSpPr>
            <p:cNvPr id="13326" name="Line 16"/>
            <p:cNvSpPr>
              <a:spLocks noChangeShapeType="1"/>
            </p:cNvSpPr>
            <p:nvPr/>
          </p:nvSpPr>
          <p:spPr bwMode="auto">
            <a:xfrm>
              <a:off x="1104" y="480"/>
              <a:ext cx="0" cy="1872"/>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vert="eaVert" wrap="none" anchor="ctr"/>
            <a:lstStyle/>
            <a:p>
              <a:endParaRPr lang="en-US"/>
            </a:p>
          </p:txBody>
        </p:sp>
        <p:sp>
          <p:nvSpPr>
            <p:cNvPr id="13327" name="Line 17"/>
            <p:cNvSpPr>
              <a:spLocks noChangeShapeType="1"/>
            </p:cNvSpPr>
            <p:nvPr/>
          </p:nvSpPr>
          <p:spPr bwMode="auto">
            <a:xfrm>
              <a:off x="5616" y="480"/>
              <a:ext cx="0" cy="1872"/>
            </a:xfrm>
            <a:prstGeom prst="line">
              <a:avLst/>
            </a:prstGeom>
            <a:noFill/>
            <a:ln w="28575" cap="sq">
              <a:solidFill>
                <a:schemeClr val="tx1"/>
              </a:solidFill>
              <a:round/>
              <a:headEnd/>
              <a:tailEnd/>
            </a:ln>
            <a:extLst>
              <a:ext uri="{909E8E84-426E-40dd-AFC4-6F175D3DCCD1}">
                <a14:hiddenFill xmlns:a14="http://schemas.microsoft.com/office/drawing/2010/main" xmlns="">
                  <a:noFill/>
                </a14:hiddenFill>
              </a:ext>
            </a:extLst>
          </p:spPr>
          <p:txBody>
            <a:bodyPr vert="eaVert" wrap="none" anchor="ctr"/>
            <a:lstStyle/>
            <a:p>
              <a:endParaRPr lang="en-US"/>
            </a:p>
          </p:txBody>
        </p:sp>
      </p:grpSp>
      <p:sp>
        <p:nvSpPr>
          <p:cNvPr id="3" name="圆角矩形 2">
            <a:extLst>
              <a:ext uri="{FF2B5EF4-FFF2-40B4-BE49-F238E27FC236}">
                <a16:creationId xmlns:a16="http://schemas.microsoft.com/office/drawing/2014/main" id="{6666835E-8D6C-8F27-DA65-0426C5EFE1FE}"/>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Atomic</a:t>
            </a:r>
            <a:r>
              <a:rPr kumimoji="1" lang="zh-CN" altLang="en-US" b="0" dirty="0">
                <a:latin typeface="Helvetica"/>
                <a:cs typeface="Helvetica"/>
              </a:rPr>
              <a:t> </a:t>
            </a:r>
            <a:r>
              <a:rPr kumimoji="1" lang="en-US" altLang="zh-CN" b="0" dirty="0">
                <a:latin typeface="Helvetica"/>
                <a:cs typeface="Helvetica"/>
              </a:rPr>
              <a:t>Operations</a:t>
            </a:r>
            <a:r>
              <a:rPr kumimoji="1" lang="zh-CN" altLang="en-US" b="0" dirty="0">
                <a:latin typeface="Helvetica"/>
                <a:cs typeface="Helvetica"/>
              </a:rPr>
              <a:t> </a:t>
            </a:r>
          </a:p>
        </p:txBody>
      </p:sp>
      <p:sp>
        <p:nvSpPr>
          <p:cNvPr id="4" name="圆角矩形 3">
            <a:extLst>
              <a:ext uri="{FF2B5EF4-FFF2-40B4-BE49-F238E27FC236}">
                <a16:creationId xmlns:a16="http://schemas.microsoft.com/office/drawing/2014/main" id="{071334D6-E6F2-A2C5-211D-71D08BDC76FB}"/>
              </a:ext>
            </a:extLst>
          </p:cNvPr>
          <p:cNvSpPr/>
          <p:nvPr/>
        </p:nvSpPr>
        <p:spPr bwMode="auto">
          <a:xfrm rot="20580792">
            <a:off x="40169" y="683794"/>
            <a:ext cx="3733800" cy="64286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Write</a:t>
            </a:r>
            <a:r>
              <a:rPr kumimoji="1" lang="zh-CN" altLang="en-US" b="0" dirty="0">
                <a:latin typeface="Helvetica"/>
                <a:cs typeface="Helvetica"/>
              </a:rPr>
              <a:t> </a:t>
            </a:r>
            <a:r>
              <a:rPr kumimoji="1" lang="en-US" altLang="zh-CN" b="0" dirty="0">
                <a:latin typeface="Helvetica"/>
                <a:cs typeface="Helvetica"/>
              </a:rPr>
              <a:t>correct</a:t>
            </a:r>
            <a:r>
              <a:rPr kumimoji="1" lang="zh-CN" altLang="en-US" b="0" dirty="0">
                <a:latin typeface="Helvetica"/>
                <a:cs typeface="Helvetica"/>
              </a:rPr>
              <a:t> </a:t>
            </a:r>
            <a:r>
              <a:rPr kumimoji="1" lang="en-US" altLang="zh-CN" b="0" dirty="0">
                <a:latin typeface="Helvetica"/>
                <a:cs typeface="Helvetica"/>
              </a:rPr>
              <a:t>concurrent</a:t>
            </a:r>
            <a:r>
              <a:rPr kumimoji="1" lang="zh-CN" altLang="en-US" b="0" dirty="0">
                <a:latin typeface="Helvetica"/>
                <a:cs typeface="Helvetica"/>
              </a:rPr>
              <a:t> </a:t>
            </a:r>
            <a:r>
              <a:rPr kumimoji="1" lang="en-US" altLang="zh-CN" b="0" dirty="0">
                <a:latin typeface="Helvetica"/>
                <a:cs typeface="Helvetica"/>
              </a:rPr>
              <a:t>code</a:t>
            </a:r>
            <a:endParaRPr kumimoji="1" lang="zh-CN" altLang="en-US" b="0" dirty="0">
              <a:latin typeface="Helvetica"/>
              <a:cs typeface="Helvetica"/>
            </a:endParaRPr>
          </a:p>
        </p:txBody>
      </p:sp>
    </p:spTree>
    <p:extLst>
      <p:ext uri="{BB962C8B-B14F-4D97-AF65-F5344CB8AC3E}">
        <p14:creationId xmlns:p14="http://schemas.microsoft.com/office/powerpoint/2010/main" val="251949578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E7E07E41-212D-BB07-1E61-B2BFE53F99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43BC15A7-8A55-D0B9-54E9-92551D9CEE2C}"/>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Need</a:t>
            </a:r>
            <a:r>
              <a:rPr kumimoji="1" lang="zh-CN" altLang="en-US" b="0" dirty="0">
                <a:latin typeface="Helvetica"/>
                <a:cs typeface="Helvetica"/>
              </a:rPr>
              <a:t> </a:t>
            </a:r>
            <a:r>
              <a:rPr kumimoji="1" lang="en-US" altLang="zh-CN" b="0" dirty="0">
                <a:latin typeface="Helvetica"/>
                <a:cs typeface="Helvetica"/>
              </a:rPr>
              <a:t>a</a:t>
            </a:r>
            <a:r>
              <a:rPr kumimoji="1" lang="zh-CN" altLang="en-US" b="0" dirty="0">
                <a:latin typeface="Helvetica"/>
                <a:cs typeface="Helvetica"/>
              </a:rPr>
              <a:t> </a:t>
            </a:r>
            <a:r>
              <a:rPr kumimoji="1" lang="en-US" altLang="zh-CN" b="0" dirty="0">
                <a:latin typeface="Helvetica"/>
                <a:cs typeface="Helvetica"/>
              </a:rPr>
              <a:t>ground</a:t>
            </a:r>
            <a:r>
              <a:rPr kumimoji="1" lang="zh-CN" altLang="en-US" b="0" dirty="0">
                <a:latin typeface="Helvetica"/>
                <a:cs typeface="Helvetica"/>
              </a:rPr>
              <a:t> </a:t>
            </a:r>
            <a:r>
              <a:rPr kumimoji="1" lang="en-US" altLang="zh-CN" b="0" dirty="0">
                <a:latin typeface="Helvetica"/>
                <a:cs typeface="Helvetica"/>
              </a:rPr>
              <a:t>for</a:t>
            </a:r>
            <a:r>
              <a:rPr kumimoji="1" lang="zh-CN" altLang="en-US" b="0" dirty="0">
                <a:latin typeface="Helvetica"/>
                <a:cs typeface="Helvetica"/>
              </a:rPr>
              <a:t> </a:t>
            </a:r>
            <a:r>
              <a:rPr kumimoji="1" lang="en-US" altLang="zh-CN" b="0" dirty="0">
                <a:latin typeface="Helvetica"/>
                <a:cs typeface="Helvetica"/>
              </a:rPr>
              <a:t>atomicity</a:t>
            </a:r>
          </a:p>
        </p:txBody>
      </p:sp>
      <p:sp>
        <p:nvSpPr>
          <p:cNvPr id="5" name="圆角矩形 4">
            <a:extLst>
              <a:ext uri="{FF2B5EF4-FFF2-40B4-BE49-F238E27FC236}">
                <a16:creationId xmlns:a16="http://schemas.microsoft.com/office/drawing/2014/main" id="{CF35B2AD-1BDA-9BE7-E854-7985E30230C6}"/>
              </a:ext>
            </a:extLst>
          </p:cNvPr>
          <p:cNvSpPr/>
          <p:nvPr/>
        </p:nvSpPr>
        <p:spPr bwMode="auto">
          <a:xfrm rot="1127902">
            <a:off x="5411564" y="592255"/>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Hardware</a:t>
            </a:r>
            <a:r>
              <a:rPr kumimoji="1" lang="zh-CN" altLang="en-US" b="0" dirty="0">
                <a:latin typeface="Helvetica"/>
                <a:cs typeface="Helvetica"/>
              </a:rPr>
              <a:t> </a:t>
            </a:r>
            <a:r>
              <a:rPr kumimoji="1" lang="en-US" altLang="zh-CN" b="0" dirty="0">
                <a:latin typeface="Helvetica"/>
                <a:cs typeface="Helvetica"/>
              </a:rPr>
              <a:t>Atomic</a:t>
            </a:r>
            <a:r>
              <a:rPr kumimoji="1" lang="zh-CN" altLang="en-US" b="0" dirty="0">
                <a:latin typeface="Helvetica"/>
                <a:cs typeface="Helvetica"/>
              </a:rPr>
              <a:t> </a:t>
            </a:r>
            <a:r>
              <a:rPr kumimoji="1" lang="en-US" altLang="zh-CN" b="0" dirty="0">
                <a:latin typeface="Helvetica"/>
                <a:cs typeface="Helvetica"/>
              </a:rPr>
              <a:t>Ops</a:t>
            </a:r>
            <a:endParaRPr kumimoji="1" lang="zh-CN" altLang="en-US" b="0" dirty="0">
              <a:latin typeface="Helvetica"/>
              <a:cs typeface="Helvetica"/>
            </a:endParaRPr>
          </a:p>
        </p:txBody>
      </p:sp>
    </p:spTree>
    <p:extLst>
      <p:ext uri="{BB962C8B-B14F-4D97-AF65-F5344CB8AC3E}">
        <p14:creationId xmlns:p14="http://schemas.microsoft.com/office/powerpoint/2010/main" val="340560007"/>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ko-KR" altLang="en-US">
                <a:latin typeface="Helvetica" charset="0"/>
                <a:ea typeface="Gulim" charset="0"/>
                <a:cs typeface="Gulim" charset="0"/>
              </a:rPr>
              <a:t> </a:t>
            </a:r>
            <a:r>
              <a:rPr lang="en-US" altLang="ko-KR">
                <a:latin typeface="Helvetica" charset="0"/>
                <a:ea typeface="Gulim" charset="0"/>
                <a:cs typeface="Gulim" charset="0"/>
              </a:rPr>
              <a:t>Monitor with Condition Variables</a:t>
            </a:r>
          </a:p>
        </p:txBody>
      </p:sp>
      <p:sp>
        <p:nvSpPr>
          <p:cNvPr id="466948" name="Rectangle 4"/>
          <p:cNvSpPr>
            <a:spLocks noGrp="1" noChangeArrowheads="1"/>
          </p:cNvSpPr>
          <p:nvPr>
            <p:ph idx="1"/>
          </p:nvPr>
        </p:nvSpPr>
        <p:spPr>
          <a:xfrm>
            <a:off x="155575" y="3657600"/>
            <a:ext cx="8988425" cy="2971800"/>
          </a:xfrm>
        </p:spPr>
        <p:txBody>
          <a:bodyPr/>
          <a:lstStyle/>
          <a:p>
            <a:pPr>
              <a:lnSpc>
                <a:spcPct val="85000"/>
              </a:lnSpc>
              <a:spcBef>
                <a:spcPct val="20000"/>
              </a:spcBef>
            </a:pPr>
            <a:r>
              <a:rPr lang="en-US" altLang="ko-KR">
                <a:solidFill>
                  <a:schemeClr val="hlink"/>
                </a:solidFill>
                <a:latin typeface="Helvetica" charset="0"/>
                <a:ea typeface="Gulim" charset="0"/>
                <a:cs typeface="Gulim" charset="0"/>
              </a:rPr>
              <a:t>Lock</a:t>
            </a:r>
            <a:r>
              <a:rPr lang="en-US" altLang="ko-KR">
                <a:latin typeface="Helvetica" charset="0"/>
                <a:ea typeface="Gulim" charset="0"/>
                <a:cs typeface="Gulim" charset="0"/>
              </a:rPr>
              <a:t>: the lock provides mutual exclusion to shared data</a:t>
            </a:r>
          </a:p>
          <a:p>
            <a:pPr lvl="1">
              <a:lnSpc>
                <a:spcPct val="85000"/>
              </a:lnSpc>
              <a:spcBef>
                <a:spcPct val="20000"/>
              </a:spcBef>
            </a:pPr>
            <a:r>
              <a:rPr lang="en-US" altLang="ko-KR">
                <a:latin typeface="Helvetica" charset="0"/>
                <a:ea typeface="Gulim" charset="0"/>
                <a:cs typeface="Gulim" charset="0"/>
              </a:rPr>
              <a:t>Always acquire before accessing shared data structure</a:t>
            </a:r>
          </a:p>
          <a:p>
            <a:pPr lvl="1">
              <a:lnSpc>
                <a:spcPct val="75000"/>
              </a:lnSpc>
              <a:spcBef>
                <a:spcPct val="20000"/>
              </a:spcBef>
            </a:pPr>
            <a:r>
              <a:rPr lang="en-US" altLang="ko-KR">
                <a:latin typeface="Helvetica" charset="0"/>
                <a:ea typeface="Gulim" charset="0"/>
                <a:cs typeface="Gulim" charset="0"/>
              </a:rPr>
              <a:t>Always release after finishing with shared data</a:t>
            </a:r>
          </a:p>
          <a:p>
            <a:pPr lvl="1">
              <a:lnSpc>
                <a:spcPct val="85000"/>
              </a:lnSpc>
              <a:spcBef>
                <a:spcPct val="20000"/>
              </a:spcBef>
            </a:pPr>
            <a:r>
              <a:rPr lang="en-US" altLang="ko-KR">
                <a:latin typeface="Helvetica" charset="0"/>
                <a:ea typeface="Gulim" charset="0"/>
                <a:cs typeface="Gulim" charset="0"/>
              </a:rPr>
              <a:t>Lock initially free</a:t>
            </a:r>
          </a:p>
          <a:p>
            <a:pPr>
              <a:lnSpc>
                <a:spcPct val="85000"/>
              </a:lnSpc>
              <a:spcBef>
                <a:spcPct val="20000"/>
              </a:spcBef>
            </a:pPr>
            <a:r>
              <a:rPr lang="en-US" altLang="ko-KR">
                <a:solidFill>
                  <a:schemeClr val="hlink"/>
                </a:solidFill>
                <a:latin typeface="Helvetica" charset="0"/>
                <a:ea typeface="Gulim" charset="0"/>
                <a:cs typeface="Gulim" charset="0"/>
              </a:rPr>
              <a:t>Condition Variable</a:t>
            </a:r>
            <a:r>
              <a:rPr lang="en-US" altLang="ko-KR">
                <a:latin typeface="Helvetica" charset="0"/>
                <a:ea typeface="Gulim" charset="0"/>
                <a:cs typeface="Gulim" charset="0"/>
              </a:rPr>
              <a:t>: a queue of threads waiting for something </a:t>
            </a:r>
            <a:r>
              <a:rPr lang="en-US" altLang="ko-KR" i="1">
                <a:latin typeface="Helvetica" charset="0"/>
                <a:ea typeface="Gulim" charset="0"/>
                <a:cs typeface="Gulim" charset="0"/>
              </a:rPr>
              <a:t>inside</a:t>
            </a:r>
            <a:r>
              <a:rPr lang="en-US" altLang="ko-KR">
                <a:latin typeface="Helvetica" charset="0"/>
                <a:ea typeface="Gulim" charset="0"/>
                <a:cs typeface="Gulim" charset="0"/>
              </a:rPr>
              <a:t> a critical section</a:t>
            </a:r>
          </a:p>
          <a:p>
            <a:pPr lvl="1">
              <a:lnSpc>
                <a:spcPct val="85000"/>
              </a:lnSpc>
              <a:spcBef>
                <a:spcPct val="20000"/>
              </a:spcBef>
            </a:pPr>
            <a:r>
              <a:rPr lang="en-US" altLang="ko-KR">
                <a:latin typeface="Helvetica" charset="0"/>
                <a:ea typeface="Gulim" charset="0"/>
                <a:cs typeface="Gulim" charset="0"/>
              </a:rPr>
              <a:t>Key idea: make it possible to go to sleep inside critical section by atomically releasing lock at time we go to sleep</a:t>
            </a:r>
          </a:p>
        </p:txBody>
      </p:sp>
      <p:pic>
        <p:nvPicPr>
          <p:cNvPr id="25604" name="Picture 3"/>
          <p:cNvPicPr>
            <a:picLocks noChangeAspect="1" noChangeArrowheads="1"/>
          </p:cNvPicPr>
          <p:nvPr/>
        </p:nvPicPr>
        <p:blipFill>
          <a:blip r:embed="rId3">
            <a:extLst>
              <a:ext uri="{28A0092B-C50C-407E-A947-70E740481C1C}">
                <a14:useLocalDpi xmlns:a14="http://schemas.microsoft.com/office/drawing/2010/main" val="0"/>
              </a:ext>
            </a:extLst>
          </a:blip>
          <a:srcRect l="424" t="4802" r="1059" b="4802"/>
          <a:stretch>
            <a:fillRect/>
          </a:stretch>
        </p:blipFill>
        <p:spPr bwMode="auto">
          <a:xfrm>
            <a:off x="1752600" y="914400"/>
            <a:ext cx="5562600" cy="2743200"/>
          </a:xfrm>
          <a:prstGeom prst="rect">
            <a:avLst/>
          </a:prstGeom>
          <a:noFill/>
          <a:ln w="38100" cmpd="dbl">
            <a:solidFill>
              <a:srgbClr val="CC6600"/>
            </a:solidFill>
            <a:miter lim="800000"/>
            <a:headEnd/>
            <a:tailEnd/>
          </a:ln>
          <a:extLst>
            <a:ext uri="{909E8E84-426E-40dd-AFC4-6F175D3DCCD1}">
              <a14:hiddenFill xmlns:a14="http://schemas.microsoft.com/office/drawing/2010/main" xmlns="">
                <a:solidFill>
                  <a:srgbClr val="FFFFFF"/>
                </a:solidFill>
              </a14:hiddenFill>
            </a:ext>
          </a:extLst>
        </p:spPr>
      </p:pic>
      <p:sp>
        <p:nvSpPr>
          <p:cNvPr id="466949" name="Oval 5"/>
          <p:cNvSpPr>
            <a:spLocks noChangeArrowheads="1"/>
          </p:cNvSpPr>
          <p:nvPr/>
        </p:nvSpPr>
        <p:spPr bwMode="auto">
          <a:xfrm>
            <a:off x="1447800" y="1447800"/>
            <a:ext cx="3429000" cy="609600"/>
          </a:xfrm>
          <a:prstGeom prst="ellipse">
            <a:avLst/>
          </a:prstGeom>
          <a:noFill/>
          <a:ln w="38100">
            <a:solidFill>
              <a:schemeClr val="hlink"/>
            </a:solidFill>
            <a:round/>
            <a:headEnd/>
            <a:tailEnd/>
          </a:ln>
          <a:extLst>
            <a:ext uri="{909E8E84-426E-40dd-AFC4-6F175D3DCCD1}">
              <a14:hiddenFill xmlns:a14="http://schemas.microsoft.com/office/drawing/2010/main" xmlns="">
                <a:solidFill>
                  <a:srgbClr val="FFFFFF"/>
                </a:solidFill>
              </a14:hiddenFill>
            </a:ext>
          </a:extLst>
        </p:spPr>
        <p:txBody>
          <a:bodyPr vert="eaVert" wrap="none" anchor="ctr"/>
          <a:lstStyle/>
          <a:p>
            <a:endParaRPr lang="en-US"/>
          </a:p>
        </p:txBody>
      </p:sp>
      <p:sp>
        <p:nvSpPr>
          <p:cNvPr id="466950" name="Oval 6"/>
          <p:cNvSpPr>
            <a:spLocks noChangeArrowheads="1"/>
          </p:cNvSpPr>
          <p:nvPr/>
        </p:nvSpPr>
        <p:spPr bwMode="auto">
          <a:xfrm rot="-912955">
            <a:off x="5105400" y="773113"/>
            <a:ext cx="2362200" cy="914400"/>
          </a:xfrm>
          <a:prstGeom prst="ellipse">
            <a:avLst/>
          </a:prstGeom>
          <a:noFill/>
          <a:ln w="38100">
            <a:solidFill>
              <a:schemeClr val="hlink"/>
            </a:solidFill>
            <a:round/>
            <a:headEnd/>
            <a:tailEnd/>
          </a:ln>
          <a:extLst>
            <a:ext uri="{909E8E84-426E-40dd-AFC4-6F175D3DCCD1}">
              <a14:hiddenFill xmlns:a14="http://schemas.microsoft.com/office/drawing/2010/main" xmlns="">
                <a:solidFill>
                  <a:srgbClr val="FFFFFF"/>
                </a:solidFill>
              </a14:hiddenFill>
            </a:ext>
          </a:extLst>
        </p:spPr>
        <p:txBody>
          <a:bodyPr vert="eaVert" wrap="none" anchor="ctr"/>
          <a:lstStyle/>
          <a:p>
            <a:endParaRPr lang="en-US"/>
          </a:p>
        </p:txBody>
      </p:sp>
      <p:sp>
        <p:nvSpPr>
          <p:cNvPr id="2" name="圆角矩形 1">
            <a:extLst>
              <a:ext uri="{FF2B5EF4-FFF2-40B4-BE49-F238E27FC236}">
                <a16:creationId xmlns:a16="http://schemas.microsoft.com/office/drawing/2014/main" id="{34233DD6-1871-601A-FF21-985FA296B975}"/>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Atomic</a:t>
            </a:r>
            <a:r>
              <a:rPr kumimoji="1" lang="zh-CN" altLang="en-US" b="0" dirty="0">
                <a:latin typeface="Helvetica"/>
                <a:cs typeface="Helvetica"/>
              </a:rPr>
              <a:t> </a:t>
            </a:r>
            <a:r>
              <a:rPr kumimoji="1" lang="en-US" altLang="zh-CN" b="0" dirty="0">
                <a:latin typeface="Helvetica"/>
                <a:cs typeface="Helvetica"/>
              </a:rPr>
              <a:t>Operations</a:t>
            </a:r>
            <a:r>
              <a:rPr kumimoji="1" lang="zh-CN" altLang="en-US" b="0" dirty="0">
                <a:latin typeface="Helvetica"/>
                <a:cs typeface="Helvetica"/>
              </a:rPr>
              <a:t> </a:t>
            </a:r>
          </a:p>
        </p:txBody>
      </p:sp>
      <p:sp>
        <p:nvSpPr>
          <p:cNvPr id="3" name="圆角矩形 2">
            <a:extLst>
              <a:ext uri="{FF2B5EF4-FFF2-40B4-BE49-F238E27FC236}">
                <a16:creationId xmlns:a16="http://schemas.microsoft.com/office/drawing/2014/main" id="{BA697D82-9A4B-F7B7-3C70-38514CEA5FE0}"/>
              </a:ext>
            </a:extLst>
          </p:cNvPr>
          <p:cNvSpPr/>
          <p:nvPr/>
        </p:nvSpPr>
        <p:spPr bwMode="auto">
          <a:xfrm rot="20580792">
            <a:off x="40169" y="683794"/>
            <a:ext cx="3733800" cy="64286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Write</a:t>
            </a:r>
            <a:r>
              <a:rPr kumimoji="1" lang="zh-CN" altLang="en-US" b="0" dirty="0">
                <a:latin typeface="Helvetica"/>
                <a:cs typeface="Helvetica"/>
              </a:rPr>
              <a:t> </a:t>
            </a:r>
            <a:r>
              <a:rPr kumimoji="1" lang="en-US" altLang="zh-CN" b="0" dirty="0">
                <a:latin typeface="Helvetica"/>
                <a:cs typeface="Helvetica"/>
              </a:rPr>
              <a:t>correct</a:t>
            </a:r>
            <a:r>
              <a:rPr kumimoji="1" lang="zh-CN" altLang="en-US" b="0" dirty="0">
                <a:latin typeface="Helvetica"/>
                <a:cs typeface="Helvetica"/>
              </a:rPr>
              <a:t> </a:t>
            </a:r>
            <a:r>
              <a:rPr kumimoji="1" lang="en-US" altLang="zh-CN" b="0" dirty="0">
                <a:latin typeface="Helvetica"/>
                <a:cs typeface="Helvetica"/>
              </a:rPr>
              <a:t>concurrent</a:t>
            </a:r>
            <a:r>
              <a:rPr kumimoji="1" lang="zh-CN" altLang="en-US" b="0" dirty="0">
                <a:latin typeface="Helvetica"/>
                <a:cs typeface="Helvetica"/>
              </a:rPr>
              <a:t> </a:t>
            </a:r>
            <a:r>
              <a:rPr kumimoji="1" lang="en-US" altLang="zh-CN" b="0" dirty="0">
                <a:latin typeface="Helvetica"/>
                <a:cs typeface="Helvetica"/>
              </a:rPr>
              <a:t>code</a:t>
            </a:r>
            <a:endParaRPr kumimoji="1" lang="zh-CN" altLang="en-US" b="0" dirty="0">
              <a:latin typeface="Helvetica"/>
              <a:cs typeface="Helvetica"/>
            </a:endParaRPr>
          </a:p>
        </p:txBody>
      </p:sp>
    </p:spTree>
    <p:extLst>
      <p:ext uri="{BB962C8B-B14F-4D97-AF65-F5344CB8AC3E}">
        <p14:creationId xmlns:p14="http://schemas.microsoft.com/office/powerpoint/2010/main" val="39644206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9144000" cy="533400"/>
          </a:xfrm>
        </p:spPr>
        <p:txBody>
          <a:bodyPr/>
          <a:lstStyle/>
          <a:p>
            <a:r>
              <a:rPr lang="en-US" altLang="ko-KR" sz="2800" dirty="0">
                <a:latin typeface="Helvetica" charset="0"/>
                <a:ea typeface="Gulim" charset="0"/>
                <a:cs typeface="Gulim" charset="0"/>
              </a:rPr>
              <a:t>Java Language High-level Synchronization</a:t>
            </a:r>
          </a:p>
        </p:txBody>
      </p:sp>
      <p:sp>
        <p:nvSpPr>
          <p:cNvPr id="20483" name="Rectangle 3"/>
          <p:cNvSpPr>
            <a:spLocks noGrp="1" noChangeArrowheads="1"/>
          </p:cNvSpPr>
          <p:nvPr>
            <p:ph idx="1"/>
          </p:nvPr>
        </p:nvSpPr>
        <p:spPr>
          <a:xfrm>
            <a:off x="228600" y="914400"/>
            <a:ext cx="8915400" cy="5562600"/>
          </a:xfrm>
        </p:spPr>
        <p:txBody>
          <a:bodyPr/>
          <a:lstStyle/>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public class SynchronizedQueue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public LinkedList&lt;Integer&gt; q = new LinkedList&lt;Integer&gt;(); </a:t>
            </a:r>
          </a:p>
          <a:p>
            <a:pPr marL="0" indent="0">
              <a:spcBef>
                <a:spcPct val="0"/>
              </a:spcBef>
              <a:buFontTx/>
              <a:buNone/>
              <a:tabLst>
                <a:tab pos="1027113" algn="l"/>
                <a:tab pos="1377950" algn="l"/>
                <a:tab pos="1716088" algn="l"/>
                <a:tab pos="2054225" algn="l"/>
              </a:tabLst>
            </a:pPr>
            <a:endParaRPr lang="en-US" altLang="ko-KR" sz="1800">
              <a:latin typeface="Consolas" charset="0"/>
              <a:ea typeface="Gulim" charset="0"/>
              <a:cs typeface="Consolas" charset="0"/>
            </a:endParaRP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public </a:t>
            </a:r>
            <a:r>
              <a:rPr lang="en-US" altLang="ko-KR" sz="1800">
                <a:solidFill>
                  <a:srgbClr val="C00000"/>
                </a:solidFill>
                <a:latin typeface="Consolas" charset="0"/>
                <a:ea typeface="Gulim" charset="0"/>
                <a:cs typeface="Consolas" charset="0"/>
              </a:rPr>
              <a:t>synchronized</a:t>
            </a:r>
            <a:r>
              <a:rPr lang="en-US" altLang="ko-KR" sz="1800">
                <a:latin typeface="Consolas" charset="0"/>
                <a:ea typeface="Gulim" charset="0"/>
                <a:cs typeface="Consolas" charset="0"/>
              </a:rPr>
              <a:t> void enqueue (int item) {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q.add(item);</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a:t>
            </a:r>
            <a:r>
              <a:rPr lang="en-US" altLang="ko-KR" sz="1800">
                <a:solidFill>
                  <a:srgbClr val="C00000"/>
                </a:solidFill>
                <a:latin typeface="Consolas" charset="0"/>
                <a:ea typeface="Gulim" charset="0"/>
                <a:cs typeface="Consolas" charset="0"/>
              </a:rPr>
              <a:t>notify();</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a:t>
            </a:r>
          </a:p>
          <a:p>
            <a:pPr marL="0" indent="0">
              <a:spcBef>
                <a:spcPct val="0"/>
              </a:spcBef>
              <a:buFontTx/>
              <a:buNone/>
              <a:tabLst>
                <a:tab pos="1027113" algn="l"/>
                <a:tab pos="1377950" algn="l"/>
                <a:tab pos="1716088" algn="l"/>
                <a:tab pos="2054225" algn="l"/>
              </a:tabLst>
            </a:pPr>
            <a:endParaRPr lang="en-US" altLang="ko-KR" sz="1800">
              <a:latin typeface="Consolas" charset="0"/>
              <a:ea typeface="Gulim" charset="0"/>
              <a:cs typeface="Consolas" charset="0"/>
            </a:endParaRP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public </a:t>
            </a:r>
            <a:r>
              <a:rPr lang="en-US" altLang="ko-KR" sz="1800">
                <a:solidFill>
                  <a:srgbClr val="C00000"/>
                </a:solidFill>
                <a:latin typeface="Consolas" charset="0"/>
                <a:ea typeface="Gulim" charset="0"/>
                <a:cs typeface="Consolas" charset="0"/>
              </a:rPr>
              <a:t>synchronized</a:t>
            </a:r>
            <a:r>
              <a:rPr lang="en-US" altLang="ko-KR" sz="1800">
                <a:latin typeface="Consolas" charset="0"/>
                <a:ea typeface="Gulim" charset="0"/>
                <a:cs typeface="Consolas" charset="0"/>
              </a:rPr>
              <a:t> int dequeue () {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try {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while (q.size() == 0)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a:t>
            </a:r>
            <a:r>
              <a:rPr lang="en-US" altLang="ko-KR" sz="1800">
                <a:solidFill>
                  <a:srgbClr val="C00000"/>
                </a:solidFill>
                <a:latin typeface="Consolas" charset="0"/>
                <a:ea typeface="Gulim" charset="0"/>
                <a:cs typeface="Consolas" charset="0"/>
              </a:rPr>
              <a:t>wait();</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return q.removeFirst();</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 catch (InterruptedException e)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return 0;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   }</a:t>
            </a:r>
          </a:p>
          <a:p>
            <a:pPr marL="0" indent="0">
              <a:spcBef>
                <a:spcPct val="0"/>
              </a:spcBef>
              <a:buFontTx/>
              <a:buNone/>
              <a:tabLst>
                <a:tab pos="1027113" algn="l"/>
                <a:tab pos="1377950" algn="l"/>
                <a:tab pos="1716088" algn="l"/>
                <a:tab pos="2054225" algn="l"/>
              </a:tabLst>
            </a:pPr>
            <a:r>
              <a:rPr lang="en-US" altLang="ko-KR" sz="1800">
                <a:latin typeface="Consolas" charset="0"/>
                <a:ea typeface="Gulim" charset="0"/>
                <a:cs typeface="Consolas" charset="0"/>
              </a:rPr>
              <a:t>}</a:t>
            </a:r>
          </a:p>
          <a:p>
            <a:pPr marL="0" indent="0">
              <a:lnSpc>
                <a:spcPct val="80000"/>
              </a:lnSpc>
              <a:buFontTx/>
              <a:buNone/>
              <a:tabLst>
                <a:tab pos="1027113" algn="l"/>
                <a:tab pos="1377950" algn="l"/>
                <a:tab pos="1716088" algn="l"/>
                <a:tab pos="2054225" algn="l"/>
              </a:tabLst>
            </a:pPr>
            <a:endParaRPr lang="en-US" altLang="ko-KR" sz="1800">
              <a:latin typeface="Consolas" charset="0"/>
              <a:ea typeface="Gulim" charset="0"/>
              <a:cs typeface="Consolas" charset="0"/>
            </a:endParaRPr>
          </a:p>
          <a:p>
            <a:pPr marL="0" indent="0">
              <a:lnSpc>
                <a:spcPct val="80000"/>
              </a:lnSpc>
              <a:buFontTx/>
              <a:buNone/>
              <a:tabLst>
                <a:tab pos="1027113" algn="l"/>
                <a:tab pos="1377950" algn="l"/>
                <a:tab pos="1716088" algn="l"/>
                <a:tab pos="2054225" algn="l"/>
              </a:tabLst>
            </a:pPr>
            <a:endParaRPr lang="en-US" altLang="ko-KR" sz="2000">
              <a:latin typeface="Consolas" charset="0"/>
              <a:ea typeface="Gulim" charset="0"/>
              <a:cs typeface="Consolas" charset="0"/>
            </a:endParaRPr>
          </a:p>
          <a:p>
            <a:pPr marL="0" indent="0">
              <a:lnSpc>
                <a:spcPct val="80000"/>
              </a:lnSpc>
              <a:buFontTx/>
              <a:buNone/>
              <a:tabLst>
                <a:tab pos="1027113" algn="l"/>
                <a:tab pos="1377950" algn="l"/>
                <a:tab pos="1716088" algn="l"/>
                <a:tab pos="2054225" algn="l"/>
              </a:tabLst>
            </a:pPr>
            <a:endParaRPr lang="en-US" altLang="ko-KR" sz="2000">
              <a:latin typeface="Consolas" charset="0"/>
              <a:ea typeface="Gulim" charset="0"/>
              <a:cs typeface="Consolas" charset="0"/>
            </a:endParaRPr>
          </a:p>
        </p:txBody>
      </p:sp>
      <p:sp>
        <p:nvSpPr>
          <p:cNvPr id="2" name="圆角矩形 1">
            <a:extLst>
              <a:ext uri="{FF2B5EF4-FFF2-40B4-BE49-F238E27FC236}">
                <a16:creationId xmlns:a16="http://schemas.microsoft.com/office/drawing/2014/main" id="{488A2E4C-91FE-DBC7-59B6-650D26B13700}"/>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Atomic</a:t>
            </a:r>
            <a:r>
              <a:rPr kumimoji="1" lang="zh-CN" altLang="en-US" b="0" dirty="0">
                <a:latin typeface="Helvetica"/>
                <a:cs typeface="Helvetica"/>
              </a:rPr>
              <a:t> </a:t>
            </a:r>
            <a:r>
              <a:rPr kumimoji="1" lang="en-US" altLang="zh-CN" b="0" dirty="0">
                <a:latin typeface="Helvetica"/>
                <a:cs typeface="Helvetica"/>
              </a:rPr>
              <a:t>Operations</a:t>
            </a:r>
            <a:r>
              <a:rPr kumimoji="1" lang="zh-CN" altLang="en-US" b="0" dirty="0">
                <a:latin typeface="Helvetica"/>
                <a:cs typeface="Helvetica"/>
              </a:rPr>
              <a:t> </a:t>
            </a:r>
          </a:p>
        </p:txBody>
      </p:sp>
      <p:sp>
        <p:nvSpPr>
          <p:cNvPr id="3" name="圆角矩形 2">
            <a:extLst>
              <a:ext uri="{FF2B5EF4-FFF2-40B4-BE49-F238E27FC236}">
                <a16:creationId xmlns:a16="http://schemas.microsoft.com/office/drawing/2014/main" id="{BBC4FD2B-D95D-B668-3B22-D193E39A5450}"/>
              </a:ext>
            </a:extLst>
          </p:cNvPr>
          <p:cNvSpPr/>
          <p:nvPr/>
        </p:nvSpPr>
        <p:spPr bwMode="auto">
          <a:xfrm rot="20580792">
            <a:off x="40169" y="683794"/>
            <a:ext cx="3733800" cy="64286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Write</a:t>
            </a:r>
            <a:r>
              <a:rPr kumimoji="1" lang="zh-CN" altLang="en-US" b="0" dirty="0">
                <a:latin typeface="Helvetica"/>
                <a:cs typeface="Helvetica"/>
              </a:rPr>
              <a:t> </a:t>
            </a:r>
            <a:r>
              <a:rPr kumimoji="1" lang="en-US" altLang="zh-CN" b="0" dirty="0">
                <a:latin typeface="Helvetica"/>
                <a:cs typeface="Helvetica"/>
              </a:rPr>
              <a:t>correct</a:t>
            </a:r>
            <a:r>
              <a:rPr kumimoji="1" lang="zh-CN" altLang="en-US" b="0" dirty="0">
                <a:latin typeface="Helvetica"/>
                <a:cs typeface="Helvetica"/>
              </a:rPr>
              <a:t> </a:t>
            </a:r>
            <a:r>
              <a:rPr kumimoji="1" lang="en-US" altLang="zh-CN" b="0" dirty="0">
                <a:latin typeface="Helvetica"/>
                <a:cs typeface="Helvetica"/>
              </a:rPr>
              <a:t>concurrent</a:t>
            </a:r>
            <a:r>
              <a:rPr kumimoji="1" lang="zh-CN" altLang="en-US" b="0" dirty="0">
                <a:latin typeface="Helvetica"/>
                <a:cs typeface="Helvetica"/>
              </a:rPr>
              <a:t> </a:t>
            </a:r>
            <a:r>
              <a:rPr kumimoji="1" lang="en-US" altLang="zh-CN" b="0" dirty="0">
                <a:latin typeface="Helvetica"/>
                <a:cs typeface="Helvetica"/>
              </a:rPr>
              <a:t>code</a:t>
            </a:r>
            <a:endParaRPr kumimoji="1" lang="zh-CN" altLang="en-US" b="0" dirty="0">
              <a:latin typeface="Helvetica"/>
              <a:cs typeface="Helvetica"/>
            </a:endParaRPr>
          </a:p>
        </p:txBody>
      </p:sp>
    </p:spTree>
    <p:extLst>
      <p:ext uri="{BB962C8B-B14F-4D97-AF65-F5344CB8AC3E}">
        <p14:creationId xmlns:p14="http://schemas.microsoft.com/office/powerpoint/2010/main" val="55177334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a:xfrm>
            <a:off x="609600" y="152400"/>
            <a:ext cx="8001000" cy="533400"/>
          </a:xfrm>
        </p:spPr>
        <p:txBody>
          <a:bodyPr>
            <a:normAutofit/>
          </a:bodyPr>
          <a:lstStyle/>
          <a:p>
            <a:r>
              <a:rPr lang="en-US">
                <a:ea typeface="MS PGothic" charset="0"/>
              </a:rPr>
              <a:t>The ACID properties of Transactions</a:t>
            </a:r>
          </a:p>
        </p:txBody>
      </p:sp>
      <p:sp>
        <p:nvSpPr>
          <p:cNvPr id="38914" name="Content Placeholder 2"/>
          <p:cNvSpPr>
            <a:spLocks noGrp="1"/>
          </p:cNvSpPr>
          <p:nvPr>
            <p:ph idx="1"/>
          </p:nvPr>
        </p:nvSpPr>
        <p:spPr>
          <a:xfrm>
            <a:off x="304800" y="762000"/>
            <a:ext cx="8153400" cy="4876800"/>
          </a:xfrm>
        </p:spPr>
        <p:txBody>
          <a:bodyPr>
            <a:noAutofit/>
          </a:bodyPr>
          <a:lstStyle/>
          <a:p>
            <a:pPr>
              <a:lnSpc>
                <a:spcPct val="100000"/>
              </a:lnSpc>
            </a:pPr>
            <a:r>
              <a:rPr lang="en-US" dirty="0">
                <a:solidFill>
                  <a:srgbClr val="FF0000"/>
                </a:solidFill>
                <a:latin typeface="Gill Sans" charset="0"/>
                <a:ea typeface="Gill Sans" charset="0"/>
                <a:cs typeface="Gill Sans" charset="0"/>
              </a:rPr>
              <a:t>Atomicity:</a:t>
            </a:r>
            <a:r>
              <a:rPr lang="en-US" dirty="0">
                <a:latin typeface="Gill Sans" charset="0"/>
                <a:ea typeface="Gill Sans" charset="0"/>
                <a:cs typeface="Gill Sans" charset="0"/>
              </a:rPr>
              <a:t> </a:t>
            </a:r>
            <a:r>
              <a:rPr lang="en-US" dirty="0">
                <a:ea typeface="MS PGothic" charset="0"/>
              </a:rPr>
              <a:t>all actions in the transaction happen, or none happen</a:t>
            </a:r>
          </a:p>
          <a:p>
            <a:pPr lvl="2">
              <a:lnSpc>
                <a:spcPct val="100000"/>
              </a:lnSpc>
            </a:pPr>
            <a:endParaRPr lang="en-US" sz="1100" dirty="0">
              <a:ea typeface="MS PGothic" charset="0"/>
            </a:endParaRPr>
          </a:p>
          <a:p>
            <a:pPr>
              <a:lnSpc>
                <a:spcPct val="100000"/>
              </a:lnSpc>
            </a:pPr>
            <a:r>
              <a:rPr lang="en-US" dirty="0">
                <a:solidFill>
                  <a:srgbClr val="FF0000"/>
                </a:solidFill>
                <a:latin typeface="Gill Sans" charset="0"/>
                <a:ea typeface="Gill Sans" charset="0"/>
                <a:cs typeface="Gill Sans" charset="0"/>
              </a:rPr>
              <a:t>Consistency:</a:t>
            </a:r>
            <a:r>
              <a:rPr lang="en-US" dirty="0">
                <a:latin typeface="Gill Sans" charset="0"/>
                <a:ea typeface="Gill Sans" charset="0"/>
                <a:cs typeface="Gill Sans" charset="0"/>
              </a:rPr>
              <a:t> </a:t>
            </a:r>
            <a:r>
              <a:rPr lang="en-US" dirty="0">
                <a:ea typeface="MS PGothic" charset="0"/>
              </a:rPr>
              <a:t>transactions maintain data integrity, e.g.,</a:t>
            </a:r>
          </a:p>
          <a:p>
            <a:pPr lvl="1">
              <a:lnSpc>
                <a:spcPct val="100000"/>
              </a:lnSpc>
            </a:pPr>
            <a:r>
              <a:rPr lang="en-US" sz="2000" dirty="0">
                <a:ea typeface="MS PGothic" charset="0"/>
              </a:rPr>
              <a:t>Balance cannot be negative</a:t>
            </a:r>
          </a:p>
          <a:p>
            <a:pPr lvl="1">
              <a:lnSpc>
                <a:spcPct val="100000"/>
              </a:lnSpc>
            </a:pPr>
            <a:r>
              <a:rPr lang="en-US" sz="2000" dirty="0">
                <a:ea typeface="MS PGothic" charset="0"/>
              </a:rPr>
              <a:t>Cannot reschedule meeting on February 30</a:t>
            </a:r>
          </a:p>
          <a:p>
            <a:pPr lvl="2">
              <a:lnSpc>
                <a:spcPct val="100000"/>
              </a:lnSpc>
            </a:pPr>
            <a:endParaRPr lang="en-US" sz="1100" dirty="0">
              <a:ea typeface="MS PGothic" charset="0"/>
            </a:endParaRPr>
          </a:p>
          <a:p>
            <a:pPr>
              <a:lnSpc>
                <a:spcPct val="100000"/>
              </a:lnSpc>
            </a:pPr>
            <a:r>
              <a:rPr lang="en-US" dirty="0">
                <a:solidFill>
                  <a:srgbClr val="FF0000"/>
                </a:solidFill>
                <a:latin typeface="Gill Sans" charset="0"/>
                <a:ea typeface="Gill Sans" charset="0"/>
                <a:cs typeface="Gill Sans" charset="0"/>
              </a:rPr>
              <a:t>Isolation: </a:t>
            </a:r>
            <a:r>
              <a:rPr lang="en-US" dirty="0">
                <a:ea typeface="MS PGothic" charset="0"/>
              </a:rPr>
              <a:t>execution of one transaction is isolated from that of all others; no problems from concurrency</a:t>
            </a:r>
          </a:p>
          <a:p>
            <a:pPr lvl="2">
              <a:lnSpc>
                <a:spcPct val="100000"/>
              </a:lnSpc>
            </a:pPr>
            <a:endParaRPr lang="en-US" sz="1100" dirty="0">
              <a:ea typeface="MS PGothic" charset="0"/>
            </a:endParaRPr>
          </a:p>
          <a:p>
            <a:pPr>
              <a:lnSpc>
                <a:spcPct val="100000"/>
              </a:lnSpc>
            </a:pPr>
            <a:r>
              <a:rPr lang="en-US" dirty="0">
                <a:solidFill>
                  <a:srgbClr val="FF0000"/>
                </a:solidFill>
                <a:latin typeface="Gill Sans" charset="0"/>
                <a:ea typeface="Gill Sans" charset="0"/>
                <a:cs typeface="Gill Sans" charset="0"/>
              </a:rPr>
              <a:t>Durability: </a:t>
            </a:r>
            <a:r>
              <a:rPr lang="en-US" dirty="0">
                <a:ea typeface="MS PGothic" charset="0"/>
              </a:rPr>
              <a:t>if a transaction commits, its effects persist despite crashes</a:t>
            </a:r>
          </a:p>
        </p:txBody>
      </p:sp>
      <p:sp>
        <p:nvSpPr>
          <p:cNvPr id="2" name="圆角矩形 1">
            <a:extLst>
              <a:ext uri="{FF2B5EF4-FFF2-40B4-BE49-F238E27FC236}">
                <a16:creationId xmlns:a16="http://schemas.microsoft.com/office/drawing/2014/main" id="{E01E5F4C-0227-FA01-C29F-A525A1DEA2A0}"/>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Atomic</a:t>
            </a:r>
            <a:r>
              <a:rPr kumimoji="1" lang="zh-CN" altLang="en-US" b="0" dirty="0">
                <a:latin typeface="Helvetica"/>
                <a:cs typeface="Helvetica"/>
              </a:rPr>
              <a:t> </a:t>
            </a:r>
            <a:r>
              <a:rPr kumimoji="1" lang="en-US" altLang="zh-CN" b="0" dirty="0">
                <a:latin typeface="Helvetica"/>
                <a:cs typeface="Helvetica"/>
              </a:rPr>
              <a:t>Operations</a:t>
            </a:r>
            <a:r>
              <a:rPr kumimoji="1" lang="zh-CN" altLang="en-US" b="0" dirty="0">
                <a:latin typeface="Helvetica"/>
                <a:cs typeface="Helvetica"/>
              </a:rPr>
              <a:t> </a:t>
            </a:r>
          </a:p>
        </p:txBody>
      </p:sp>
      <p:sp>
        <p:nvSpPr>
          <p:cNvPr id="3" name="圆角矩形 2">
            <a:extLst>
              <a:ext uri="{FF2B5EF4-FFF2-40B4-BE49-F238E27FC236}">
                <a16:creationId xmlns:a16="http://schemas.microsoft.com/office/drawing/2014/main" id="{AA321A3A-0038-5139-74DE-EC9DFDA074FE}"/>
              </a:ext>
            </a:extLst>
          </p:cNvPr>
          <p:cNvSpPr/>
          <p:nvPr/>
        </p:nvSpPr>
        <p:spPr bwMode="auto">
          <a:xfrm rot="20580792">
            <a:off x="40169" y="683794"/>
            <a:ext cx="3733800" cy="64286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Write</a:t>
            </a:r>
            <a:r>
              <a:rPr kumimoji="1" lang="zh-CN" altLang="en-US" b="0" dirty="0">
                <a:latin typeface="Helvetica"/>
                <a:cs typeface="Helvetica"/>
              </a:rPr>
              <a:t> </a:t>
            </a:r>
            <a:r>
              <a:rPr kumimoji="1" lang="en-US" altLang="zh-CN" b="0" dirty="0">
                <a:latin typeface="Helvetica"/>
                <a:cs typeface="Helvetica"/>
              </a:rPr>
              <a:t>persistent</a:t>
            </a:r>
            <a:r>
              <a:rPr kumimoji="1" lang="zh-CN" altLang="en-US" b="0" dirty="0">
                <a:latin typeface="Helvetica"/>
                <a:cs typeface="Helvetica"/>
              </a:rPr>
              <a:t> </a:t>
            </a:r>
            <a:r>
              <a:rPr kumimoji="1" lang="en-US" altLang="zh-CN" b="0" dirty="0">
                <a:latin typeface="Helvetica"/>
                <a:cs typeface="Helvetica"/>
              </a:rPr>
              <a:t>storage</a:t>
            </a:r>
            <a:r>
              <a:rPr kumimoji="1" lang="zh-CN" altLang="en-US" b="0" dirty="0">
                <a:latin typeface="Helvetica"/>
                <a:cs typeface="Helvetica"/>
              </a:rPr>
              <a:t> </a:t>
            </a:r>
            <a:r>
              <a:rPr kumimoji="1" lang="en-US" altLang="zh-CN" b="0" dirty="0">
                <a:latin typeface="Helvetica"/>
                <a:cs typeface="Helvetica"/>
              </a:rPr>
              <a:t>is</a:t>
            </a:r>
            <a:r>
              <a:rPr kumimoji="1" lang="zh-CN" altLang="en-US" b="0" dirty="0">
                <a:latin typeface="Helvetica"/>
                <a:cs typeface="Helvetica"/>
              </a:rPr>
              <a:t> </a:t>
            </a:r>
            <a:r>
              <a:rPr kumimoji="1" lang="en-US" altLang="zh-CN" b="0" dirty="0">
                <a:latin typeface="Helvetica"/>
                <a:cs typeface="Helvetica"/>
              </a:rPr>
              <a:t>difficult</a:t>
            </a:r>
            <a:endParaRPr kumimoji="1" lang="zh-CN" altLang="en-US" b="0" dirty="0">
              <a:latin typeface="Helvetica"/>
              <a:cs typeface="Helvetica"/>
            </a:endParaRPr>
          </a:p>
        </p:txBody>
      </p:sp>
    </p:spTree>
    <p:extLst>
      <p:ext uri="{BB962C8B-B14F-4D97-AF65-F5344CB8AC3E}">
        <p14:creationId xmlns:p14="http://schemas.microsoft.com/office/powerpoint/2010/main" val="1315248647"/>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4">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914">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89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3"/>
          <p:cNvSpPr>
            <a:spLocks noGrp="1"/>
          </p:cNvSpPr>
          <p:nvPr>
            <p:ph type="title"/>
          </p:nvPr>
        </p:nvSpPr>
        <p:spPr/>
        <p:txBody>
          <a:bodyPr/>
          <a:lstStyle/>
          <a:p>
            <a:r>
              <a:rPr lang="en-US" dirty="0">
                <a:latin typeface="Helvetica" charset="0"/>
                <a:ea typeface="ＭＳ Ｐゴシック" charset="0"/>
                <a:cs typeface="ＭＳ Ｐゴシック" charset="0"/>
              </a:rPr>
              <a:t>Read/Writer </a:t>
            </a:r>
            <a:r>
              <a:rPr lang="en-US" altLang="zh-CN" dirty="0">
                <a:latin typeface="Helvetica" charset="0"/>
                <a:ea typeface="ＭＳ Ｐゴシック" charset="0"/>
                <a:cs typeface="ＭＳ Ｐゴシック" charset="0"/>
              </a:rPr>
              <a:t>Lock</a:t>
            </a:r>
            <a:endParaRPr lang="en-US" dirty="0">
              <a:latin typeface="Helvetica" charset="0"/>
              <a:ea typeface="ＭＳ Ｐゴシック" charset="0"/>
              <a:cs typeface="ＭＳ Ｐゴシック" charset="0"/>
            </a:endParaRPr>
          </a:p>
        </p:txBody>
      </p:sp>
      <p:sp>
        <p:nvSpPr>
          <p:cNvPr id="99330" name="Content Placeholder 4"/>
          <p:cNvSpPr>
            <a:spLocks noGrp="1"/>
          </p:cNvSpPr>
          <p:nvPr>
            <p:ph sz="half" idx="1"/>
          </p:nvPr>
        </p:nvSpPr>
        <p:spPr>
          <a:xfrm>
            <a:off x="0" y="914400"/>
            <a:ext cx="4724400" cy="5486400"/>
          </a:xfrm>
        </p:spPr>
        <p:txBody>
          <a:bodyPr/>
          <a:lstStyle/>
          <a:p>
            <a:pPr>
              <a:lnSpc>
                <a:spcPct val="70000"/>
              </a:lnSpc>
              <a:buFontTx/>
              <a:buNone/>
              <a:tabLst>
                <a:tab pos="576263" algn="l"/>
                <a:tab pos="914400" algn="l"/>
                <a:tab pos="1252538" algn="l"/>
                <a:tab pos="1603375" algn="l"/>
                <a:tab pos="4233863" algn="l"/>
              </a:tabLst>
            </a:pPr>
            <a:r>
              <a:rPr lang="en-US" altLang="ko-KR" sz="2000" b="1">
                <a:latin typeface="Courier New" charset="0"/>
                <a:ea typeface="굴림" charset="0"/>
                <a:cs typeface="굴림" charset="0"/>
              </a:rPr>
              <a:t>Reader()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 check into system</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lock.Acquire();</a:t>
            </a:r>
          </a:p>
          <a:p>
            <a:pPr>
              <a:lnSpc>
                <a:spcPct val="70000"/>
              </a:lnSpc>
              <a:buFontTx/>
              <a:buNone/>
              <a:tabLst>
                <a:tab pos="576263" algn="l"/>
                <a:tab pos="914400" algn="l"/>
                <a:tab pos="1252538" algn="l"/>
                <a:tab pos="1603375" algn="l"/>
                <a:tab pos="4233863" algn="l"/>
              </a:tabLst>
            </a:pPr>
            <a:r>
              <a:rPr lang="en-US" altLang="ko-KR" sz="2000" b="1">
                <a:latin typeface="Courier New" charset="0"/>
                <a:ea typeface="굴림" charset="0"/>
                <a:cs typeface="굴림" charset="0"/>
              </a:rPr>
              <a:t>		while ((AW + WW) &gt; 0) {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WR++;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okToRead.wait(&amp;lock);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WR--;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a:t>
            </a:r>
          </a:p>
          <a:p>
            <a:pPr>
              <a:lnSpc>
                <a:spcPct val="70000"/>
              </a:lnSpc>
              <a:buFontTx/>
              <a:buNone/>
              <a:tabLst>
                <a:tab pos="576263" algn="l"/>
                <a:tab pos="914400" algn="l"/>
                <a:tab pos="1252538" algn="l"/>
                <a:tab pos="1603375" algn="l"/>
                <a:tab pos="4233863" algn="l"/>
              </a:tabLst>
            </a:pPr>
            <a:r>
              <a:rPr lang="en-US" altLang="ko-KR" sz="2000" b="1">
                <a:latin typeface="Courier New" charset="0"/>
                <a:ea typeface="굴림" charset="0"/>
                <a:cs typeface="굴림" charset="0"/>
              </a:rPr>
              <a:t>		AR++;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lock.release();</a:t>
            </a:r>
          </a:p>
          <a:p>
            <a:pPr>
              <a:lnSpc>
                <a:spcPct val="70000"/>
              </a:lnSpc>
              <a:buFontTx/>
              <a:buNone/>
              <a:tabLst>
                <a:tab pos="576263" algn="l"/>
                <a:tab pos="914400" algn="l"/>
                <a:tab pos="1252538" algn="l"/>
                <a:tab pos="1603375" algn="l"/>
                <a:tab pos="4233863" algn="l"/>
              </a:tabLst>
            </a:pPr>
            <a:endParaRPr lang="en-US" altLang="ko-KR" sz="2000" b="1">
              <a:latin typeface="Courier New" charset="0"/>
              <a:ea typeface="굴림" charset="0"/>
              <a:cs typeface="굴림" charset="0"/>
            </a:endParaRPr>
          </a:p>
          <a:p>
            <a:pPr>
              <a:lnSpc>
                <a:spcPct val="70000"/>
              </a:lnSpc>
              <a:buFontTx/>
              <a:buNone/>
              <a:tabLst>
                <a:tab pos="576263" algn="l"/>
                <a:tab pos="914400" algn="l"/>
                <a:tab pos="1252538" algn="l"/>
                <a:tab pos="1603375" algn="l"/>
                <a:tab pos="4233863" algn="l"/>
              </a:tabLst>
            </a:pPr>
            <a:r>
              <a:rPr lang="en-US" altLang="ko-KR" sz="2000" b="1">
                <a:latin typeface="Courier New" charset="0"/>
                <a:ea typeface="굴림" charset="0"/>
                <a:cs typeface="굴림" charset="0"/>
              </a:rPr>
              <a:t>	</a:t>
            </a:r>
            <a:r>
              <a:rPr lang="en-US" altLang="ko-KR" sz="2000" b="1">
                <a:solidFill>
                  <a:schemeClr val="hlink"/>
                </a:solidFill>
                <a:latin typeface="Courier New" charset="0"/>
                <a:ea typeface="굴림" charset="0"/>
                <a:cs typeface="굴림" charset="0"/>
              </a:rPr>
              <a:t>	// read-only access</a:t>
            </a:r>
            <a:br>
              <a:rPr lang="en-US" altLang="ko-KR" sz="2000" b="1">
                <a:solidFill>
                  <a:schemeClr val="hlink"/>
                </a:solidFill>
                <a:latin typeface="Courier New" charset="0"/>
                <a:ea typeface="굴림" charset="0"/>
                <a:cs typeface="굴림" charset="0"/>
              </a:rPr>
            </a:br>
            <a:r>
              <a:rPr lang="en-US" altLang="ko-KR" sz="2000" b="1">
                <a:solidFill>
                  <a:schemeClr val="hlink"/>
                </a:solidFill>
                <a:latin typeface="Courier New" charset="0"/>
                <a:ea typeface="굴림" charset="0"/>
                <a:cs typeface="굴림" charset="0"/>
              </a:rPr>
              <a:t>	AccessDbase(ReadOnly);</a:t>
            </a:r>
          </a:p>
          <a:p>
            <a:pPr>
              <a:lnSpc>
                <a:spcPct val="70000"/>
              </a:lnSpc>
              <a:buFontTx/>
              <a:buNone/>
              <a:tabLst>
                <a:tab pos="576263" algn="l"/>
                <a:tab pos="914400" algn="l"/>
                <a:tab pos="1252538" algn="l"/>
                <a:tab pos="1603375" algn="l"/>
                <a:tab pos="4233863" algn="l"/>
              </a:tabLst>
            </a:pPr>
            <a:endParaRPr lang="en-US" altLang="ko-KR" sz="2000" b="1">
              <a:solidFill>
                <a:schemeClr val="hlink"/>
              </a:solidFill>
              <a:latin typeface="Courier New" charset="0"/>
              <a:ea typeface="굴림" charset="0"/>
              <a:cs typeface="굴림" charset="0"/>
            </a:endParaRPr>
          </a:p>
          <a:p>
            <a:pPr>
              <a:lnSpc>
                <a:spcPct val="70000"/>
              </a:lnSpc>
              <a:buFontTx/>
              <a:buNone/>
              <a:tabLst>
                <a:tab pos="576263" algn="l"/>
                <a:tab pos="914400" algn="l"/>
                <a:tab pos="1252538" algn="l"/>
                <a:tab pos="1603375" algn="l"/>
                <a:tab pos="4233863" algn="l"/>
              </a:tabLst>
            </a:pPr>
            <a:r>
              <a:rPr lang="en-US" altLang="ko-KR" sz="2000" b="1">
                <a:latin typeface="Courier New" charset="0"/>
                <a:ea typeface="굴림" charset="0"/>
                <a:cs typeface="굴림" charset="0"/>
              </a:rPr>
              <a:t>		// check out of system</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lock.Acquire();</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AR--;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if (AR == 0 &amp;&amp; WW &gt; 0)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okToWrite.signal();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lock.release();</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a:t>
            </a:r>
            <a:endParaRPr lang="en-US" altLang="ko-KR" sz="2000" b="1">
              <a:latin typeface="Helvetica" charset="0"/>
              <a:ea typeface="굴림" charset="0"/>
              <a:cs typeface="굴림" charset="0"/>
            </a:endParaRPr>
          </a:p>
          <a:p>
            <a:pPr>
              <a:lnSpc>
                <a:spcPct val="70000"/>
              </a:lnSpc>
              <a:buFontTx/>
              <a:buNone/>
              <a:tabLst>
                <a:tab pos="576263" algn="l"/>
                <a:tab pos="914400" algn="l"/>
                <a:tab pos="1252538" algn="l"/>
                <a:tab pos="1603375" algn="l"/>
                <a:tab pos="4233863" algn="l"/>
              </a:tabLst>
            </a:pPr>
            <a:endParaRPr lang="en-US" sz="1800" b="1">
              <a:latin typeface="Helvetica" charset="0"/>
              <a:ea typeface="ＭＳ Ｐゴシック" charset="0"/>
              <a:cs typeface="ＭＳ Ｐゴシック" charset="0"/>
            </a:endParaRPr>
          </a:p>
        </p:txBody>
      </p:sp>
      <p:sp>
        <p:nvSpPr>
          <p:cNvPr id="99331" name="Content Placeholder 5"/>
          <p:cNvSpPr>
            <a:spLocks noGrp="1"/>
          </p:cNvSpPr>
          <p:nvPr>
            <p:ph sz="half" idx="2"/>
          </p:nvPr>
        </p:nvSpPr>
        <p:spPr>
          <a:xfrm>
            <a:off x="4114800" y="914400"/>
            <a:ext cx="5029200" cy="5105400"/>
          </a:xfrm>
        </p:spPr>
        <p:txBody>
          <a:bodyPr/>
          <a:lstStyle/>
          <a:p>
            <a:pPr>
              <a:lnSpc>
                <a:spcPct val="60000"/>
              </a:lnSpc>
              <a:buFontTx/>
              <a:buNone/>
              <a:tabLst>
                <a:tab pos="576263" algn="l"/>
                <a:tab pos="914400" algn="l"/>
                <a:tab pos="1252538" algn="l"/>
                <a:tab pos="1603375" algn="l"/>
                <a:tab pos="4171950" algn="l"/>
              </a:tabLst>
            </a:pPr>
            <a:r>
              <a:rPr lang="en-US" altLang="ko-KR" sz="2000" b="1">
                <a:latin typeface="Courier New" charset="0"/>
                <a:ea typeface="굴림" charset="0"/>
                <a:cs typeface="굴림" charset="0"/>
              </a:rPr>
              <a:t>Writer()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 check into system</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lock.Acquire();</a:t>
            </a:r>
          </a:p>
          <a:p>
            <a:pPr>
              <a:lnSpc>
                <a:spcPct val="60000"/>
              </a:lnSpc>
              <a:buFontTx/>
              <a:buNone/>
              <a:tabLst>
                <a:tab pos="576263" algn="l"/>
                <a:tab pos="914400" algn="l"/>
                <a:tab pos="1252538" algn="l"/>
                <a:tab pos="1603375" algn="l"/>
                <a:tab pos="4171950" algn="l"/>
              </a:tabLst>
            </a:pPr>
            <a:r>
              <a:rPr lang="en-US" altLang="ko-KR" sz="2000" b="1">
                <a:latin typeface="Courier New" charset="0"/>
                <a:ea typeface="굴림" charset="0"/>
                <a:cs typeface="굴림" charset="0"/>
              </a:rPr>
              <a:t>		while ((AW + AR) &gt; 0) {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WW++;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okToWrite.wait(&amp;lock);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WW--;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a:t>
            </a:r>
          </a:p>
          <a:p>
            <a:pPr>
              <a:lnSpc>
                <a:spcPct val="60000"/>
              </a:lnSpc>
              <a:buFontTx/>
              <a:buNone/>
              <a:tabLst>
                <a:tab pos="576263" algn="l"/>
                <a:tab pos="914400" algn="l"/>
                <a:tab pos="1252538" algn="l"/>
                <a:tab pos="1603375" algn="l"/>
                <a:tab pos="4171950" algn="l"/>
              </a:tabLst>
            </a:pPr>
            <a:r>
              <a:rPr lang="en-US" altLang="ko-KR" sz="2000" b="1">
                <a:latin typeface="Courier New" charset="0"/>
                <a:ea typeface="굴림" charset="0"/>
                <a:cs typeface="굴림" charset="0"/>
              </a:rPr>
              <a:t>		AW++;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lock.release();</a:t>
            </a:r>
          </a:p>
          <a:p>
            <a:pPr>
              <a:lnSpc>
                <a:spcPct val="60000"/>
              </a:lnSpc>
              <a:buFontTx/>
              <a:buNone/>
              <a:tabLst>
                <a:tab pos="576263" algn="l"/>
                <a:tab pos="914400" algn="l"/>
                <a:tab pos="1252538" algn="l"/>
                <a:tab pos="1603375" algn="l"/>
                <a:tab pos="4171950" algn="l"/>
              </a:tabLst>
            </a:pPr>
            <a:endParaRPr lang="en-US" altLang="ko-KR" sz="2000" b="1">
              <a:latin typeface="Courier New" charset="0"/>
              <a:ea typeface="굴림" charset="0"/>
              <a:cs typeface="굴림" charset="0"/>
            </a:endParaRPr>
          </a:p>
          <a:p>
            <a:pPr>
              <a:lnSpc>
                <a:spcPct val="60000"/>
              </a:lnSpc>
              <a:buFontTx/>
              <a:buNone/>
              <a:tabLst>
                <a:tab pos="576263" algn="l"/>
                <a:tab pos="914400" algn="l"/>
                <a:tab pos="1252538" algn="l"/>
                <a:tab pos="1603375" algn="l"/>
                <a:tab pos="4171950" algn="l"/>
              </a:tabLst>
            </a:pPr>
            <a:r>
              <a:rPr lang="en-US" altLang="ko-KR" sz="2000" b="1">
                <a:latin typeface="Courier New" charset="0"/>
                <a:ea typeface="굴림" charset="0"/>
                <a:cs typeface="굴림" charset="0"/>
              </a:rPr>
              <a:t>	</a:t>
            </a:r>
            <a:r>
              <a:rPr lang="en-US" altLang="ko-KR" sz="2000" b="1">
                <a:solidFill>
                  <a:schemeClr val="hlink"/>
                </a:solidFill>
                <a:latin typeface="Courier New" charset="0"/>
                <a:ea typeface="굴림" charset="0"/>
                <a:cs typeface="굴림" charset="0"/>
              </a:rPr>
              <a:t>	// read/write access</a:t>
            </a:r>
            <a:br>
              <a:rPr lang="en-US" altLang="ko-KR" sz="2000" b="1">
                <a:solidFill>
                  <a:schemeClr val="hlink"/>
                </a:solidFill>
                <a:latin typeface="Courier New" charset="0"/>
                <a:ea typeface="굴림" charset="0"/>
                <a:cs typeface="굴림" charset="0"/>
              </a:rPr>
            </a:br>
            <a:r>
              <a:rPr lang="en-US" altLang="ko-KR" sz="2000" b="1">
                <a:solidFill>
                  <a:schemeClr val="hlink"/>
                </a:solidFill>
                <a:latin typeface="Courier New" charset="0"/>
                <a:ea typeface="굴림" charset="0"/>
                <a:cs typeface="굴림" charset="0"/>
              </a:rPr>
              <a:t>	AccessDbase(ReadWrite);</a:t>
            </a:r>
          </a:p>
          <a:p>
            <a:pPr>
              <a:lnSpc>
                <a:spcPct val="60000"/>
              </a:lnSpc>
              <a:buFontTx/>
              <a:buNone/>
              <a:tabLst>
                <a:tab pos="576263" algn="l"/>
                <a:tab pos="914400" algn="l"/>
                <a:tab pos="1252538" algn="l"/>
                <a:tab pos="1603375" algn="l"/>
                <a:tab pos="4171950" algn="l"/>
              </a:tabLst>
            </a:pPr>
            <a:endParaRPr lang="en-US" altLang="ko-KR" sz="2000" b="1">
              <a:solidFill>
                <a:schemeClr val="hlink"/>
              </a:solidFill>
              <a:latin typeface="Courier New" charset="0"/>
              <a:ea typeface="굴림" charset="0"/>
              <a:cs typeface="굴림" charset="0"/>
            </a:endParaRPr>
          </a:p>
          <a:p>
            <a:pPr>
              <a:lnSpc>
                <a:spcPct val="60000"/>
              </a:lnSpc>
              <a:buFontTx/>
              <a:buNone/>
              <a:tabLst>
                <a:tab pos="576263" algn="l"/>
                <a:tab pos="914400" algn="l"/>
                <a:tab pos="1252538" algn="l"/>
                <a:tab pos="1603375" algn="l"/>
                <a:tab pos="4171950" algn="l"/>
              </a:tabLst>
            </a:pPr>
            <a:r>
              <a:rPr lang="en-US" altLang="ko-KR" sz="2000" b="1">
                <a:latin typeface="Courier New" charset="0"/>
                <a:ea typeface="굴림" charset="0"/>
                <a:cs typeface="굴림" charset="0"/>
              </a:rPr>
              <a:t>		// check out of system</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lock.Acquire();</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AW--;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if (WW &gt; 0){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okToWrite.signal();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 else if (WR &gt; 0) {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okToRead.broadcast();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	</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	lock.release();</a:t>
            </a:r>
            <a:br>
              <a:rPr lang="en-US" altLang="ko-KR" sz="2000" b="1">
                <a:latin typeface="Courier New" charset="0"/>
                <a:ea typeface="굴림" charset="0"/>
                <a:cs typeface="굴림" charset="0"/>
              </a:rPr>
            </a:br>
            <a:r>
              <a:rPr lang="en-US" altLang="ko-KR" sz="2000" b="1">
                <a:latin typeface="Courier New" charset="0"/>
                <a:ea typeface="굴림" charset="0"/>
                <a:cs typeface="굴림" charset="0"/>
              </a:rPr>
              <a:t>}</a:t>
            </a:r>
            <a:endParaRPr lang="en-US" altLang="ko-KR" sz="2000" b="1">
              <a:latin typeface="Helvetica" charset="0"/>
              <a:ea typeface="굴림" charset="0"/>
              <a:cs typeface="굴림" charset="0"/>
            </a:endParaRPr>
          </a:p>
          <a:p>
            <a:pPr>
              <a:lnSpc>
                <a:spcPct val="70000"/>
              </a:lnSpc>
              <a:buFontTx/>
              <a:buNone/>
              <a:tabLst>
                <a:tab pos="576263" algn="l"/>
                <a:tab pos="914400" algn="l"/>
                <a:tab pos="1252538" algn="l"/>
                <a:tab pos="1603375" algn="l"/>
                <a:tab pos="4171950" algn="l"/>
              </a:tabLst>
            </a:pPr>
            <a:endParaRPr lang="en-US" sz="1800" b="1">
              <a:latin typeface="Helvetica" charset="0"/>
              <a:ea typeface="ＭＳ Ｐゴシック" charset="0"/>
              <a:cs typeface="ＭＳ Ｐゴシック" charset="0"/>
            </a:endParaRPr>
          </a:p>
        </p:txBody>
      </p:sp>
      <p:sp>
        <p:nvSpPr>
          <p:cNvPr id="8" name="圆角矩形 7">
            <a:extLst>
              <a:ext uri="{FF2B5EF4-FFF2-40B4-BE49-F238E27FC236}">
                <a16:creationId xmlns:a16="http://schemas.microsoft.com/office/drawing/2014/main" id="{D1D523A6-3035-CB4C-A01C-5DAE3B06592B}"/>
              </a:ext>
            </a:extLst>
          </p:cNvPr>
          <p:cNvSpPr/>
          <p:nvPr/>
        </p:nvSpPr>
        <p:spPr bwMode="auto">
          <a:xfrm rot="1127902">
            <a:off x="5393911" y="589332"/>
            <a:ext cx="3733800" cy="719168"/>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Building</a:t>
            </a:r>
            <a:r>
              <a:rPr kumimoji="1" lang="zh-CN" altLang="en-US" b="0" dirty="0">
                <a:latin typeface="Helvetica"/>
                <a:cs typeface="Helvetica"/>
              </a:rPr>
              <a:t> </a:t>
            </a:r>
            <a:r>
              <a:rPr kumimoji="1" lang="en-US" altLang="zh-CN" b="0" dirty="0">
                <a:latin typeface="Helvetica"/>
                <a:cs typeface="Helvetica"/>
              </a:rPr>
              <a:t>higher</a:t>
            </a:r>
            <a:r>
              <a:rPr kumimoji="1" lang="zh-CN" altLang="en-US" b="0" dirty="0">
                <a:latin typeface="Helvetica"/>
                <a:cs typeface="Helvetica"/>
              </a:rPr>
              <a:t> </a:t>
            </a:r>
            <a:r>
              <a:rPr kumimoji="1" lang="en-US" altLang="zh-CN" b="0" dirty="0">
                <a:latin typeface="Helvetica"/>
                <a:cs typeface="Helvetica"/>
              </a:rPr>
              <a:t>level</a:t>
            </a:r>
            <a:r>
              <a:rPr kumimoji="1" lang="zh-CN" altLang="en-US" b="0" dirty="0">
                <a:latin typeface="Helvetica"/>
                <a:cs typeface="Helvetica"/>
              </a:rPr>
              <a:t> </a:t>
            </a:r>
            <a:r>
              <a:rPr kumimoji="1" lang="en-US" altLang="zh-CN" b="0" dirty="0">
                <a:latin typeface="Helvetica"/>
                <a:cs typeface="Helvetica"/>
              </a:rPr>
              <a:t>atomic</a:t>
            </a:r>
            <a:r>
              <a:rPr kumimoji="1" lang="zh-CN" altLang="en-US" b="0" dirty="0">
                <a:latin typeface="Helvetica"/>
                <a:cs typeface="Helvetica"/>
              </a:rPr>
              <a:t> </a:t>
            </a:r>
            <a:r>
              <a:rPr kumimoji="1" lang="en-US" altLang="zh-CN" b="0" dirty="0">
                <a:latin typeface="Helvetica"/>
                <a:cs typeface="Helvetica"/>
              </a:rPr>
              <a:t>operations</a:t>
            </a:r>
            <a:r>
              <a:rPr kumimoji="1" lang="zh-CN" altLang="en-US" b="0" dirty="0">
                <a:latin typeface="Helvetica"/>
                <a:cs typeface="Helvetica"/>
              </a:rPr>
              <a:t> </a:t>
            </a:r>
            <a:r>
              <a:rPr kumimoji="1" lang="en-US" altLang="zh-CN" b="0" dirty="0">
                <a:latin typeface="Helvetica"/>
                <a:cs typeface="Helvetica"/>
              </a:rPr>
              <a:t>from</a:t>
            </a:r>
            <a:r>
              <a:rPr kumimoji="1" lang="zh-CN" altLang="en-US" b="0" dirty="0">
                <a:latin typeface="Helvetica"/>
                <a:cs typeface="Helvetica"/>
              </a:rPr>
              <a:t> </a:t>
            </a:r>
            <a:r>
              <a:rPr kumimoji="1" lang="en-US" altLang="zh-CN" b="0" dirty="0">
                <a:latin typeface="Helvetica"/>
                <a:cs typeface="Helvetica"/>
              </a:rPr>
              <a:t>lower</a:t>
            </a:r>
            <a:r>
              <a:rPr kumimoji="1" lang="zh-CN" altLang="en-US" b="0" dirty="0">
                <a:latin typeface="Helvetica"/>
                <a:cs typeface="Helvetica"/>
              </a:rPr>
              <a:t> </a:t>
            </a:r>
            <a:r>
              <a:rPr kumimoji="1" lang="en-US" altLang="zh-CN" b="0" dirty="0">
                <a:latin typeface="Helvetica"/>
                <a:cs typeface="Helvetica"/>
              </a:rPr>
              <a:t>level</a:t>
            </a:r>
            <a:r>
              <a:rPr kumimoji="1" lang="zh-CN" altLang="en-US" b="0" dirty="0">
                <a:latin typeface="Helvetica"/>
                <a:cs typeface="Helvetica"/>
              </a:rPr>
              <a:t> </a:t>
            </a:r>
            <a:r>
              <a:rPr kumimoji="1" lang="en-US" altLang="zh-CN" b="0" dirty="0">
                <a:latin typeface="Helvetica"/>
                <a:cs typeface="Helvetica"/>
              </a:rPr>
              <a:t>ones</a:t>
            </a:r>
            <a:endParaRPr kumimoji="1" lang="zh-CN" altLang="en-US" b="0" dirty="0">
              <a:latin typeface="Helvetica"/>
              <a:cs typeface="Helvetica"/>
            </a:endParaRPr>
          </a:p>
        </p:txBody>
      </p:sp>
      <p:sp>
        <p:nvSpPr>
          <p:cNvPr id="9" name="圆角矩形 8">
            <a:extLst>
              <a:ext uri="{FF2B5EF4-FFF2-40B4-BE49-F238E27FC236}">
                <a16:creationId xmlns:a16="http://schemas.microsoft.com/office/drawing/2014/main" id="{D2F11B0A-F101-56F3-A09B-FE26BD8D5666}"/>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How</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a:latin typeface="Helvetica"/>
                <a:cs typeface="Helvetica"/>
              </a:rPr>
              <a:t>implement</a:t>
            </a:r>
            <a:r>
              <a:rPr kumimoji="1" lang="zh-CN" altLang="en-US" b="0" dirty="0">
                <a:latin typeface="Helvetica"/>
                <a:cs typeface="Helvetica"/>
              </a:rPr>
              <a:t> </a:t>
            </a:r>
            <a:r>
              <a:rPr kumimoji="1" lang="en-US" altLang="zh-CN" b="0" dirty="0">
                <a:latin typeface="Helvetica"/>
                <a:cs typeface="Helvetica"/>
              </a:rPr>
              <a:t>atomicity?</a:t>
            </a:r>
            <a:endParaRPr kumimoji="1" lang="zh-CN" altLang="en-US" b="0" dirty="0">
              <a:latin typeface="Helvetica"/>
              <a:cs typeface="Helvetica"/>
            </a:endParaRPr>
          </a:p>
        </p:txBody>
      </p:sp>
    </p:spTree>
    <p:extLst>
      <p:ext uri="{BB962C8B-B14F-4D97-AF65-F5344CB8AC3E}">
        <p14:creationId xmlns:p14="http://schemas.microsoft.com/office/powerpoint/2010/main" val="3186990057"/>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Ex: Creating a file (as a transaction)</a:t>
            </a:r>
          </a:p>
        </p:txBody>
      </p:sp>
      <p:sp>
        <p:nvSpPr>
          <p:cNvPr id="9" name="Content Placeholder 8"/>
          <p:cNvSpPr>
            <a:spLocks noGrp="1"/>
          </p:cNvSpPr>
          <p:nvPr>
            <p:ph idx="1"/>
          </p:nvPr>
        </p:nvSpPr>
        <p:spPr>
          <a:xfrm>
            <a:off x="121088" y="685800"/>
            <a:ext cx="5289112" cy="5642294"/>
          </a:xfrm>
        </p:spPr>
        <p:txBody>
          <a:bodyPr>
            <a:normAutofit/>
          </a:bodyPr>
          <a:lstStyle/>
          <a:p>
            <a:r>
              <a:rPr lang="en-US" dirty="0"/>
              <a:t>Find free data block(s)</a:t>
            </a:r>
          </a:p>
          <a:p>
            <a:endParaRPr lang="en-US" sz="1000" dirty="0"/>
          </a:p>
          <a:p>
            <a:r>
              <a:rPr lang="en-US" dirty="0"/>
              <a:t>Find free </a:t>
            </a:r>
            <a:r>
              <a:rPr lang="en-US" dirty="0" err="1"/>
              <a:t>inode</a:t>
            </a:r>
            <a:r>
              <a:rPr lang="en-US" dirty="0"/>
              <a:t> entry</a:t>
            </a:r>
          </a:p>
          <a:p>
            <a:endParaRPr lang="en-US" sz="1000" dirty="0"/>
          </a:p>
          <a:p>
            <a:r>
              <a:rPr lang="en-US" dirty="0"/>
              <a:t>Find </a:t>
            </a:r>
            <a:r>
              <a:rPr lang="en-US" dirty="0" err="1"/>
              <a:t>dirent</a:t>
            </a:r>
            <a:r>
              <a:rPr lang="en-US" dirty="0"/>
              <a:t> insertion point</a:t>
            </a:r>
          </a:p>
          <a:p>
            <a:pPr marL="0" indent="0">
              <a:buNone/>
            </a:pPr>
            <a:r>
              <a:rPr lang="en-US" sz="2000" dirty="0"/>
              <a:t>---------------------------------------------------------</a:t>
            </a:r>
          </a:p>
          <a:p>
            <a:r>
              <a:rPr lang="en-US" dirty="0"/>
              <a:t>[log] Write map (used)</a:t>
            </a:r>
          </a:p>
          <a:p>
            <a:endParaRPr lang="en-US" sz="1000" dirty="0"/>
          </a:p>
          <a:p>
            <a:r>
              <a:rPr lang="en-US" dirty="0"/>
              <a:t>[log] Write </a:t>
            </a:r>
            <a:r>
              <a:rPr lang="en-US" dirty="0" err="1"/>
              <a:t>inode</a:t>
            </a:r>
            <a:r>
              <a:rPr lang="en-US" dirty="0"/>
              <a:t> entry to point to block(s)</a:t>
            </a:r>
          </a:p>
          <a:p>
            <a:endParaRPr lang="en-US" sz="1000" dirty="0"/>
          </a:p>
          <a:p>
            <a:r>
              <a:rPr lang="en-US" dirty="0"/>
              <a:t>[log] Write </a:t>
            </a:r>
            <a:r>
              <a:rPr lang="en-US" dirty="0" err="1"/>
              <a:t>dirent</a:t>
            </a:r>
            <a:r>
              <a:rPr lang="en-US" dirty="0"/>
              <a:t> to point to </a:t>
            </a:r>
            <a:r>
              <a:rPr lang="en-US" dirty="0" err="1"/>
              <a:t>inode</a:t>
            </a:r>
            <a:endParaRPr lang="en-US" dirty="0"/>
          </a:p>
          <a:p>
            <a:endParaRPr lang="en-US" dirty="0"/>
          </a:p>
        </p:txBody>
      </p:sp>
      <p:sp>
        <p:nvSpPr>
          <p:cNvPr id="10" name="Can 9"/>
          <p:cNvSpPr/>
          <p:nvPr/>
        </p:nvSpPr>
        <p:spPr>
          <a:xfrm>
            <a:off x="5609996" y="1622297"/>
            <a:ext cx="2099734" cy="3048000"/>
          </a:xfrm>
          <a:prstGeom prst="can">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8" name="TextBox 17"/>
          <p:cNvSpPr txBox="1"/>
          <p:nvPr/>
        </p:nvSpPr>
        <p:spPr>
          <a:xfrm>
            <a:off x="7780819" y="2843640"/>
            <a:ext cx="1287532" cy="369332"/>
          </a:xfrm>
          <a:prstGeom prst="rect">
            <a:avLst/>
          </a:prstGeom>
          <a:noFill/>
        </p:spPr>
        <p:txBody>
          <a:bodyPr wrap="none" rtlCol="0">
            <a:spAutoFit/>
          </a:bodyPr>
          <a:lstStyle/>
          <a:p>
            <a:r>
              <a:rPr lang="en-US" b="0" dirty="0">
                <a:latin typeface="Gill Sans" charset="0"/>
                <a:ea typeface="Gill Sans" charset="0"/>
                <a:cs typeface="Gill Sans" charset="0"/>
              </a:rPr>
              <a:t>Data blocks</a:t>
            </a:r>
          </a:p>
        </p:txBody>
      </p:sp>
      <p:sp>
        <p:nvSpPr>
          <p:cNvPr id="20" name="TextBox 19"/>
          <p:cNvSpPr txBox="1"/>
          <p:nvPr/>
        </p:nvSpPr>
        <p:spPr>
          <a:xfrm>
            <a:off x="7850854" y="2123750"/>
            <a:ext cx="1293146" cy="646331"/>
          </a:xfrm>
          <a:prstGeom prst="rect">
            <a:avLst/>
          </a:prstGeom>
          <a:noFill/>
        </p:spPr>
        <p:txBody>
          <a:bodyPr wrap="square" rtlCol="0">
            <a:spAutoFit/>
          </a:bodyPr>
          <a:lstStyle/>
          <a:p>
            <a:r>
              <a:rPr lang="en-US" b="0" dirty="0">
                <a:latin typeface="Gill Sans" charset="0"/>
                <a:ea typeface="Gill Sans" charset="0"/>
                <a:cs typeface="Gill Sans" charset="0"/>
              </a:rPr>
              <a:t>Free space map</a:t>
            </a:r>
          </a:p>
        </p:txBody>
      </p:sp>
      <p:grpSp>
        <p:nvGrpSpPr>
          <p:cNvPr id="21" name="Group 20"/>
          <p:cNvGrpSpPr/>
          <p:nvPr/>
        </p:nvGrpSpPr>
        <p:grpSpPr>
          <a:xfrm rot="16200000">
            <a:off x="6455590" y="2028473"/>
            <a:ext cx="415498" cy="1802120"/>
            <a:chOff x="7569976" y="1270135"/>
            <a:chExt cx="415498" cy="1802120"/>
          </a:xfrm>
        </p:grpSpPr>
        <p:sp>
          <p:nvSpPr>
            <p:cNvPr id="22" name="Rectangle 21"/>
            <p:cNvSpPr/>
            <p:nvPr/>
          </p:nvSpPr>
          <p:spPr>
            <a:xfrm>
              <a:off x="7605706" y="1270135"/>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3" name="Rectangle 22"/>
            <p:cNvSpPr/>
            <p:nvPr/>
          </p:nvSpPr>
          <p:spPr>
            <a:xfrm>
              <a:off x="7605706" y="1591319"/>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4" name="Rectangle 23"/>
            <p:cNvSpPr/>
            <p:nvPr/>
          </p:nvSpPr>
          <p:spPr>
            <a:xfrm>
              <a:off x="7605706" y="189790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5" name="Rectangle 24"/>
            <p:cNvSpPr/>
            <p:nvPr/>
          </p:nvSpPr>
          <p:spPr>
            <a:xfrm>
              <a:off x="7605706" y="2219088"/>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6" name="Rectangle 25"/>
            <p:cNvSpPr/>
            <p:nvPr/>
          </p:nvSpPr>
          <p:spPr>
            <a:xfrm>
              <a:off x="7605706" y="2751071"/>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7" name="TextBox 26"/>
            <p:cNvSpPr txBox="1"/>
            <p:nvPr/>
          </p:nvSpPr>
          <p:spPr>
            <a:xfrm>
              <a:off x="7569976" y="2425537"/>
              <a:ext cx="415498" cy="369332"/>
            </a:xfrm>
            <a:prstGeom prst="rect">
              <a:avLst/>
            </a:prstGeom>
            <a:noFill/>
          </p:spPr>
          <p:txBody>
            <a:bodyPr wrap="none" rtlCol="0">
              <a:spAutoFit/>
            </a:bodyPr>
            <a:lstStyle/>
            <a:p>
              <a:r>
                <a:rPr lang="en-US" b="0" dirty="0">
                  <a:latin typeface="Gill Sans" charset="0"/>
                  <a:ea typeface="Gill Sans" charset="0"/>
                  <a:cs typeface="Gill Sans" charset="0"/>
                </a:rPr>
                <a:t>…</a:t>
              </a:r>
            </a:p>
          </p:txBody>
        </p:sp>
      </p:grpSp>
      <p:grpSp>
        <p:nvGrpSpPr>
          <p:cNvPr id="35" name="Group 34"/>
          <p:cNvGrpSpPr/>
          <p:nvPr/>
        </p:nvGrpSpPr>
        <p:grpSpPr>
          <a:xfrm>
            <a:off x="6500681" y="2308416"/>
            <a:ext cx="640069" cy="121398"/>
            <a:chOff x="2607047" y="2031999"/>
            <a:chExt cx="1270137" cy="364957"/>
          </a:xfrm>
        </p:grpSpPr>
        <p:sp>
          <p:nvSpPr>
            <p:cNvPr id="29" name="Rectangle 28"/>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0" name="Rectangle 29"/>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1" name="Rectangle 30"/>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2" name="Rectangle 31"/>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36" name="Group 35"/>
          <p:cNvGrpSpPr/>
          <p:nvPr/>
        </p:nvGrpSpPr>
        <p:grpSpPr>
          <a:xfrm>
            <a:off x="7140750" y="2308416"/>
            <a:ext cx="640069" cy="121398"/>
            <a:chOff x="2607047" y="2031999"/>
            <a:chExt cx="1270137" cy="364957"/>
          </a:xfrm>
        </p:grpSpPr>
        <p:sp>
          <p:nvSpPr>
            <p:cNvPr id="37" name="Rectangle 3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8" name="Rectangle 3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9" name="Rectangle 3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0" name="Rectangle 3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1" name="Group 40"/>
          <p:cNvGrpSpPr/>
          <p:nvPr/>
        </p:nvGrpSpPr>
        <p:grpSpPr>
          <a:xfrm>
            <a:off x="5219534" y="2308416"/>
            <a:ext cx="640069" cy="121398"/>
            <a:chOff x="2607047" y="2031999"/>
            <a:chExt cx="1270137" cy="364957"/>
          </a:xfrm>
        </p:grpSpPr>
        <p:sp>
          <p:nvSpPr>
            <p:cNvPr id="42" name="Rectangle 41"/>
            <p:cNvSpPr/>
            <p:nvPr/>
          </p:nvSpPr>
          <p:spPr>
            <a:xfrm rot="16200000">
              <a:off x="2585160"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3" name="Rectangle 42"/>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4" name="Rectangle 43"/>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5" name="Rectangle 44"/>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6" name="Group 45"/>
          <p:cNvGrpSpPr/>
          <p:nvPr/>
        </p:nvGrpSpPr>
        <p:grpSpPr>
          <a:xfrm>
            <a:off x="5859603" y="2308416"/>
            <a:ext cx="640069" cy="121398"/>
            <a:chOff x="2607047" y="2031999"/>
            <a:chExt cx="1270137" cy="364957"/>
          </a:xfrm>
        </p:grpSpPr>
        <p:sp>
          <p:nvSpPr>
            <p:cNvPr id="47" name="Rectangle 4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8" name="Rectangle 4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9" name="Rectangle 48"/>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0" name="Rectangle 49"/>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69" name="Rectangle 68"/>
          <p:cNvSpPr/>
          <p:nvPr/>
        </p:nvSpPr>
        <p:spPr>
          <a:xfrm rot="16200000">
            <a:off x="708732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0" name="Rectangle 69"/>
          <p:cNvSpPr/>
          <p:nvPr/>
        </p:nvSpPr>
        <p:spPr>
          <a:xfrm rot="16200000">
            <a:off x="732824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1" name="Rectangle 70"/>
          <p:cNvSpPr/>
          <p:nvPr/>
        </p:nvSpPr>
        <p:spPr>
          <a:xfrm rot="16200000">
            <a:off x="7558209"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nvGrpSpPr>
          <p:cNvPr id="55" name="Group 54"/>
          <p:cNvGrpSpPr/>
          <p:nvPr/>
        </p:nvGrpSpPr>
        <p:grpSpPr>
          <a:xfrm>
            <a:off x="5181077" y="3341778"/>
            <a:ext cx="952728" cy="242349"/>
            <a:chOff x="2607047" y="2031999"/>
            <a:chExt cx="1270137" cy="364957"/>
          </a:xfrm>
        </p:grpSpPr>
        <p:sp>
          <p:nvSpPr>
            <p:cNvPr id="61" name="Rectangle 60"/>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2" name="Rectangle 61"/>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3" name="Rectangle 62"/>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4" name="Rectangle 63"/>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56" name="Group 55"/>
          <p:cNvGrpSpPr/>
          <p:nvPr/>
        </p:nvGrpSpPr>
        <p:grpSpPr>
          <a:xfrm>
            <a:off x="6133805" y="3341778"/>
            <a:ext cx="952728" cy="242349"/>
            <a:chOff x="2607047" y="2031999"/>
            <a:chExt cx="1270137" cy="364957"/>
          </a:xfrm>
        </p:grpSpPr>
        <p:sp>
          <p:nvSpPr>
            <p:cNvPr id="57" name="Rectangle 5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8" name="Rectangle 5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9" name="Rectangle 5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0" name="Rectangle 5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73" name="TextBox 72"/>
          <p:cNvSpPr txBox="1"/>
          <p:nvPr/>
        </p:nvSpPr>
        <p:spPr>
          <a:xfrm>
            <a:off x="7884929" y="3284702"/>
            <a:ext cx="1251139" cy="369332"/>
          </a:xfrm>
          <a:prstGeom prst="rect">
            <a:avLst/>
          </a:prstGeom>
          <a:noFill/>
        </p:spPr>
        <p:txBody>
          <a:bodyPr wrap="none" rtlCol="0">
            <a:spAutoFit/>
          </a:bodyPr>
          <a:lstStyle/>
          <a:p>
            <a:r>
              <a:rPr lang="en-US" b="0" dirty="0" err="1">
                <a:latin typeface="Gill Sans" charset="0"/>
                <a:ea typeface="Gill Sans" charset="0"/>
                <a:cs typeface="Gill Sans" charset="0"/>
              </a:rPr>
              <a:t>Inode</a:t>
            </a:r>
            <a:r>
              <a:rPr lang="en-US" b="0" dirty="0">
                <a:latin typeface="Gill Sans" charset="0"/>
                <a:ea typeface="Gill Sans" charset="0"/>
                <a:cs typeface="Gill Sans" charset="0"/>
              </a:rPr>
              <a:t> table</a:t>
            </a:r>
          </a:p>
        </p:txBody>
      </p:sp>
      <p:grpSp>
        <p:nvGrpSpPr>
          <p:cNvPr id="83" name="Group 82"/>
          <p:cNvGrpSpPr/>
          <p:nvPr/>
        </p:nvGrpSpPr>
        <p:grpSpPr>
          <a:xfrm>
            <a:off x="5945908" y="3708339"/>
            <a:ext cx="1457827" cy="761444"/>
            <a:chOff x="1744000" y="2182577"/>
            <a:chExt cx="1430729" cy="918973"/>
          </a:xfrm>
        </p:grpSpPr>
        <p:sp>
          <p:nvSpPr>
            <p:cNvPr id="75" name="Rectangle 74"/>
            <p:cNvSpPr/>
            <p:nvPr/>
          </p:nvSpPr>
          <p:spPr>
            <a:xfrm rot="16200000">
              <a:off x="1882705"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6" name="Rectangle 75"/>
            <p:cNvSpPr/>
            <p:nvPr/>
          </p:nvSpPr>
          <p:spPr>
            <a:xfrm rot="16200000">
              <a:off x="2203889"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7" name="Rectangle 76"/>
            <p:cNvSpPr/>
            <p:nvPr/>
          </p:nvSpPr>
          <p:spPr>
            <a:xfrm rot="16200000">
              <a:off x="2510474"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8" name="Rectangle 77"/>
            <p:cNvSpPr/>
            <p:nvPr/>
          </p:nvSpPr>
          <p:spPr>
            <a:xfrm rot="16200000">
              <a:off x="2831658"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9" name="Rectangle 78"/>
            <p:cNvSpPr/>
            <p:nvPr/>
          </p:nvSpPr>
          <p:spPr>
            <a:xfrm rot="16200000">
              <a:off x="2781130"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1" name="Rectangle 80"/>
            <p:cNvSpPr/>
            <p:nvPr/>
          </p:nvSpPr>
          <p:spPr>
            <a:xfrm rot="16200000">
              <a:off x="1722113" y="220446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2" name="Rectangle 81"/>
            <p:cNvSpPr/>
            <p:nvPr/>
          </p:nvSpPr>
          <p:spPr>
            <a:xfrm rot="16200000">
              <a:off x="2206034"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84" name="TextBox 83"/>
          <p:cNvSpPr txBox="1"/>
          <p:nvPr/>
        </p:nvSpPr>
        <p:spPr>
          <a:xfrm>
            <a:off x="7892861" y="3982719"/>
            <a:ext cx="1110047" cy="646331"/>
          </a:xfrm>
          <a:prstGeom prst="rect">
            <a:avLst/>
          </a:prstGeom>
          <a:noFill/>
        </p:spPr>
        <p:txBody>
          <a:bodyPr wrap="none" rtlCol="0">
            <a:spAutoFit/>
          </a:bodyPr>
          <a:lstStyle/>
          <a:p>
            <a:r>
              <a:rPr lang="en-US" b="0" dirty="0">
                <a:latin typeface="Gill Sans" charset="0"/>
                <a:ea typeface="Gill Sans" charset="0"/>
                <a:cs typeface="Gill Sans" charset="0"/>
              </a:rPr>
              <a:t>Directory</a:t>
            </a:r>
          </a:p>
          <a:p>
            <a:r>
              <a:rPr lang="en-US" b="0" dirty="0">
                <a:latin typeface="Gill Sans" charset="0"/>
                <a:ea typeface="Gill Sans" charset="0"/>
                <a:cs typeface="Gill Sans" charset="0"/>
              </a:rPr>
              <a:t>entries</a:t>
            </a:r>
          </a:p>
        </p:txBody>
      </p:sp>
      <p:sp>
        <p:nvSpPr>
          <p:cNvPr id="86" name="Rectangle 85"/>
          <p:cNvSpPr/>
          <p:nvPr/>
        </p:nvSpPr>
        <p:spPr>
          <a:xfrm rot="16200000">
            <a:off x="6114238" y="3352203"/>
            <a:ext cx="242349" cy="240920"/>
          </a:xfrm>
          <a:prstGeom prst="rect">
            <a:avLst/>
          </a:prstGeom>
          <a:solidFill>
            <a:srgbClr val="FFFF00">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8" name="Rectangle 87"/>
          <p:cNvSpPr/>
          <p:nvPr/>
        </p:nvSpPr>
        <p:spPr>
          <a:xfrm rot="16200000">
            <a:off x="6778696" y="4154950"/>
            <a:ext cx="302397" cy="327267"/>
          </a:xfrm>
          <a:prstGeom prst="rect">
            <a:avLst/>
          </a:prstGeom>
          <a:solidFill>
            <a:srgbClr val="FFFF00">
              <a:alpha val="2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6" name="Rectangle 65"/>
          <p:cNvSpPr/>
          <p:nvPr/>
        </p:nvSpPr>
        <p:spPr>
          <a:xfrm>
            <a:off x="756351" y="5336575"/>
            <a:ext cx="7930449" cy="623473"/>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 name="TextBox 1"/>
          <p:cNvSpPr txBox="1"/>
          <p:nvPr/>
        </p:nvSpPr>
        <p:spPr>
          <a:xfrm>
            <a:off x="1019736" y="6229290"/>
            <a:ext cx="5355953" cy="400110"/>
          </a:xfrm>
          <a:prstGeom prst="rect">
            <a:avLst/>
          </a:prstGeom>
          <a:noFill/>
        </p:spPr>
        <p:txBody>
          <a:bodyPr wrap="none" rtlCol="0">
            <a:spAutoFit/>
          </a:bodyPr>
          <a:lstStyle/>
          <a:p>
            <a:r>
              <a:rPr lang="en-US" sz="2000" b="0" dirty="0">
                <a:latin typeface="Gill Sans" charset="0"/>
                <a:ea typeface="Gill Sans" charset="0"/>
                <a:cs typeface="Gill Sans" charset="0"/>
              </a:rPr>
              <a:t>Log: in non-volatile storage (Flash or on Disk)</a:t>
            </a:r>
          </a:p>
        </p:txBody>
      </p:sp>
      <p:sp>
        <p:nvSpPr>
          <p:cNvPr id="3" name="TextBox 2"/>
          <p:cNvSpPr txBox="1"/>
          <p:nvPr/>
        </p:nvSpPr>
        <p:spPr>
          <a:xfrm>
            <a:off x="4381128" y="4670297"/>
            <a:ext cx="624578" cy="369332"/>
          </a:xfrm>
          <a:prstGeom prst="rect">
            <a:avLst/>
          </a:prstGeom>
          <a:noFill/>
        </p:spPr>
        <p:txBody>
          <a:bodyPr wrap="none" rtlCol="0">
            <a:spAutoFit/>
          </a:bodyPr>
          <a:lstStyle/>
          <a:p>
            <a:r>
              <a:rPr lang="en-US" b="0" dirty="0">
                <a:solidFill>
                  <a:srgbClr val="FF0000"/>
                </a:solidFill>
                <a:latin typeface="Gill Sans" charset="0"/>
                <a:ea typeface="Gill Sans" charset="0"/>
                <a:cs typeface="Gill Sans" charset="0"/>
              </a:rPr>
              <a:t>head</a:t>
            </a:r>
          </a:p>
        </p:txBody>
      </p:sp>
      <p:cxnSp>
        <p:nvCxnSpPr>
          <p:cNvPr id="11" name="Straight Arrow Connector 10"/>
          <p:cNvCxnSpPr>
            <a:stCxn id="3" idx="2"/>
          </p:cNvCxnSpPr>
          <p:nvPr/>
        </p:nvCxnSpPr>
        <p:spPr>
          <a:xfrm>
            <a:off x="4693417" y="5039629"/>
            <a:ext cx="1669"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797878" y="4670297"/>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cxnSp>
        <p:nvCxnSpPr>
          <p:cNvPr id="74" name="Straight Arrow Connector 73"/>
          <p:cNvCxnSpPr>
            <a:stCxn id="72" idx="2"/>
          </p:cNvCxnSpPr>
          <p:nvPr/>
        </p:nvCxnSpPr>
        <p:spPr>
          <a:xfrm>
            <a:off x="3028871" y="5039629"/>
            <a:ext cx="82965"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3111835" y="5346286"/>
            <a:ext cx="1583250" cy="613762"/>
          </a:xfrm>
          <a:prstGeom prst="rect">
            <a:avLst/>
          </a:prstGeom>
          <a:solidFill>
            <a:schemeClr val="accent6">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0" name="TextBox 89"/>
          <p:cNvSpPr txBox="1"/>
          <p:nvPr/>
        </p:nvSpPr>
        <p:spPr>
          <a:xfrm>
            <a:off x="3434873" y="5346286"/>
            <a:ext cx="902811" cy="369332"/>
          </a:xfrm>
          <a:prstGeom prst="rect">
            <a:avLst/>
          </a:prstGeom>
          <a:noFill/>
        </p:spPr>
        <p:txBody>
          <a:bodyPr wrap="none" rtlCol="0">
            <a:spAutoFit/>
          </a:bodyPr>
          <a:lstStyle/>
          <a:p>
            <a:r>
              <a:rPr lang="en-US" b="0" dirty="0">
                <a:latin typeface="Gill Sans" charset="0"/>
                <a:ea typeface="Gill Sans" charset="0"/>
                <a:cs typeface="Gill Sans" charset="0"/>
              </a:rPr>
              <a:t>pending</a:t>
            </a:r>
          </a:p>
        </p:txBody>
      </p:sp>
      <p:sp>
        <p:nvSpPr>
          <p:cNvPr id="91" name="TextBox 90"/>
          <p:cNvSpPr txBox="1"/>
          <p:nvPr/>
        </p:nvSpPr>
        <p:spPr>
          <a:xfrm>
            <a:off x="2026450" y="5349778"/>
            <a:ext cx="663801" cy="369332"/>
          </a:xfrm>
          <a:prstGeom prst="rect">
            <a:avLst/>
          </a:prstGeom>
          <a:noFill/>
        </p:spPr>
        <p:txBody>
          <a:bodyPr wrap="none" rtlCol="0">
            <a:spAutoFit/>
          </a:bodyPr>
          <a:lstStyle/>
          <a:p>
            <a:r>
              <a:rPr lang="en-US" b="0" dirty="0">
                <a:latin typeface="Gill Sans" charset="0"/>
                <a:ea typeface="Gill Sans" charset="0"/>
                <a:cs typeface="Gill Sans" charset="0"/>
              </a:rPr>
              <a:t>done</a:t>
            </a:r>
          </a:p>
        </p:txBody>
      </p:sp>
      <p:grpSp>
        <p:nvGrpSpPr>
          <p:cNvPr id="17" name="Group 16"/>
          <p:cNvGrpSpPr/>
          <p:nvPr/>
        </p:nvGrpSpPr>
        <p:grpSpPr>
          <a:xfrm>
            <a:off x="4707450" y="5039628"/>
            <a:ext cx="393295" cy="920420"/>
            <a:chOff x="4707450" y="5039628"/>
            <a:chExt cx="393295" cy="920420"/>
          </a:xfrm>
        </p:grpSpPr>
        <p:sp>
          <p:nvSpPr>
            <p:cNvPr id="12" name="TextBox 11"/>
            <p:cNvSpPr txBox="1"/>
            <p:nvPr/>
          </p:nvSpPr>
          <p:spPr>
            <a:xfrm rot="16200000">
              <a:off x="4581774" y="5465041"/>
              <a:ext cx="620683"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start</a:t>
              </a:r>
            </a:p>
          </p:txBody>
        </p:sp>
        <p:cxnSp>
          <p:nvCxnSpPr>
            <p:cNvPr id="112" name="Straight Arrow Connector 111"/>
            <p:cNvCxnSpPr/>
            <p:nvPr/>
          </p:nvCxnSpPr>
          <p:spPr>
            <a:xfrm flipH="1">
              <a:off x="5088380" y="5039628"/>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grpSp>
        <p:nvGrpSpPr>
          <p:cNvPr id="19" name="Group 18"/>
          <p:cNvGrpSpPr/>
          <p:nvPr/>
        </p:nvGrpSpPr>
        <p:grpSpPr>
          <a:xfrm>
            <a:off x="5076782" y="2429814"/>
            <a:ext cx="816103" cy="3530235"/>
            <a:chOff x="5076782" y="2429814"/>
            <a:chExt cx="816103" cy="3530235"/>
          </a:xfrm>
        </p:grpSpPr>
        <p:grpSp>
          <p:nvGrpSpPr>
            <p:cNvPr id="16" name="Group 15"/>
            <p:cNvGrpSpPr/>
            <p:nvPr/>
          </p:nvGrpSpPr>
          <p:grpSpPr>
            <a:xfrm>
              <a:off x="5076782" y="2429814"/>
              <a:ext cx="816103" cy="3530235"/>
              <a:chOff x="5076782" y="2429814"/>
              <a:chExt cx="816103" cy="3530235"/>
            </a:xfrm>
          </p:grpSpPr>
          <p:grpSp>
            <p:nvGrpSpPr>
              <p:cNvPr id="13" name="Group 12"/>
              <p:cNvGrpSpPr/>
              <p:nvPr/>
            </p:nvGrpSpPr>
            <p:grpSpPr>
              <a:xfrm>
                <a:off x="5135148" y="5628477"/>
                <a:ext cx="640069" cy="131108"/>
                <a:chOff x="5252815" y="1247958"/>
                <a:chExt cx="640069" cy="131108"/>
              </a:xfrm>
            </p:grpSpPr>
            <p:grpSp>
              <p:nvGrpSpPr>
                <p:cNvPr id="92" name="Group 91"/>
                <p:cNvGrpSpPr/>
                <p:nvPr/>
              </p:nvGrpSpPr>
              <p:grpSpPr>
                <a:xfrm>
                  <a:off x="5252815" y="1247958"/>
                  <a:ext cx="640069" cy="121398"/>
                  <a:chOff x="2607047" y="2031999"/>
                  <a:chExt cx="1270137" cy="364957"/>
                </a:xfrm>
              </p:grpSpPr>
              <p:sp>
                <p:nvSpPr>
                  <p:cNvPr id="93" name="Rectangle 92"/>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4" name="Rectangle 93"/>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5" name="Rectangle 94"/>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6" name="Rectangle 95"/>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97" name="Rectangle 96"/>
                <p:cNvSpPr/>
                <p:nvPr/>
              </p:nvSpPr>
              <p:spPr>
                <a:xfrm rot="16200000">
                  <a:off x="5282734" y="1237439"/>
                  <a:ext cx="121398" cy="161856"/>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4" name="Rectangle 13"/>
              <p:cNvSpPr/>
              <p:nvPr/>
            </p:nvSpPr>
            <p:spPr>
              <a:xfrm>
                <a:off x="5076782" y="5349778"/>
                <a:ext cx="698435"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8" name="Freeform 97"/>
              <p:cNvSpPr/>
              <p:nvPr/>
            </p:nvSpPr>
            <p:spPr>
              <a:xfrm>
                <a:off x="5248206" y="2429814"/>
                <a:ext cx="644679" cy="3009496"/>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grpSp>
        <p:cxnSp>
          <p:nvCxnSpPr>
            <p:cNvPr id="113" name="Straight Arrow Connector 112"/>
            <p:cNvCxnSpPr/>
            <p:nvPr/>
          </p:nvCxnSpPr>
          <p:spPr>
            <a:xfrm flipH="1">
              <a:off x="5765683" y="5060102"/>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grpSp>
        <p:nvGrpSpPr>
          <p:cNvPr id="28" name="Group 27"/>
          <p:cNvGrpSpPr/>
          <p:nvPr/>
        </p:nvGrpSpPr>
        <p:grpSpPr>
          <a:xfrm>
            <a:off x="5786022" y="3654034"/>
            <a:ext cx="818671" cy="2301654"/>
            <a:chOff x="5786022" y="3654034"/>
            <a:chExt cx="818671" cy="2301654"/>
          </a:xfrm>
        </p:grpSpPr>
        <p:grpSp>
          <p:nvGrpSpPr>
            <p:cNvPr id="99" name="Group 98"/>
            <p:cNvGrpSpPr/>
            <p:nvPr/>
          </p:nvGrpSpPr>
          <p:grpSpPr>
            <a:xfrm>
              <a:off x="5892885" y="5589588"/>
              <a:ext cx="711808" cy="242349"/>
              <a:chOff x="2607047" y="2031999"/>
              <a:chExt cx="948953" cy="364957"/>
            </a:xfrm>
          </p:grpSpPr>
          <p:sp>
            <p:nvSpPr>
              <p:cNvPr id="100" name="Rectangle 99"/>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1" name="Rectangle 100"/>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2" name="Rectangle 101"/>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04" name="Rectangle 103"/>
            <p:cNvSpPr/>
            <p:nvPr/>
          </p:nvSpPr>
          <p:spPr>
            <a:xfrm rot="16200000">
              <a:off x="5873319" y="5600013"/>
              <a:ext cx="242349" cy="24092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5" name="Freeform 104"/>
            <p:cNvSpPr/>
            <p:nvPr/>
          </p:nvSpPr>
          <p:spPr>
            <a:xfrm>
              <a:off x="5970966" y="3654034"/>
              <a:ext cx="212349" cy="2018098"/>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sp>
          <p:nvSpPr>
            <p:cNvPr id="108" name="Rectangle 107"/>
            <p:cNvSpPr/>
            <p:nvPr/>
          </p:nvSpPr>
          <p:spPr>
            <a:xfrm>
              <a:off x="5786022" y="5345417"/>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cxnSp>
          <p:nvCxnSpPr>
            <p:cNvPr id="114" name="Straight Arrow Connector 113"/>
            <p:cNvCxnSpPr/>
            <p:nvPr/>
          </p:nvCxnSpPr>
          <p:spPr>
            <a:xfrm flipH="1">
              <a:off x="6592328" y="5052831"/>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grpSp>
        <p:nvGrpSpPr>
          <p:cNvPr id="33" name="Group 32"/>
          <p:cNvGrpSpPr/>
          <p:nvPr/>
        </p:nvGrpSpPr>
        <p:grpSpPr>
          <a:xfrm>
            <a:off x="6500681" y="4469782"/>
            <a:ext cx="929690" cy="1480844"/>
            <a:chOff x="6500681" y="4469782"/>
            <a:chExt cx="929690" cy="1480844"/>
          </a:xfrm>
        </p:grpSpPr>
        <p:sp>
          <p:nvSpPr>
            <p:cNvPr id="106" name="Rectangle 105"/>
            <p:cNvSpPr/>
            <p:nvPr/>
          </p:nvSpPr>
          <p:spPr>
            <a:xfrm rot="16200000">
              <a:off x="6686856" y="5497369"/>
              <a:ext cx="302397" cy="327267"/>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7" name="Rectangle 106"/>
            <p:cNvSpPr/>
            <p:nvPr/>
          </p:nvSpPr>
          <p:spPr>
            <a:xfrm rot="16200000">
              <a:off x="7014123" y="5500978"/>
              <a:ext cx="302397" cy="327267"/>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9" name="Rectangle 108"/>
            <p:cNvSpPr/>
            <p:nvPr/>
          </p:nvSpPr>
          <p:spPr>
            <a:xfrm>
              <a:off x="6609893" y="5340355"/>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10" name="Freeform 109"/>
            <p:cNvSpPr/>
            <p:nvPr/>
          </p:nvSpPr>
          <p:spPr>
            <a:xfrm flipH="1">
              <a:off x="6500681" y="4469782"/>
              <a:ext cx="469611" cy="969527"/>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cxnSp>
          <p:nvCxnSpPr>
            <p:cNvPr id="115" name="Straight Arrow Connector 114"/>
            <p:cNvCxnSpPr/>
            <p:nvPr/>
          </p:nvCxnSpPr>
          <p:spPr>
            <a:xfrm flipH="1">
              <a:off x="7418006" y="5056748"/>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grpSp>
        <p:nvGrpSpPr>
          <p:cNvPr id="34" name="Group 33"/>
          <p:cNvGrpSpPr/>
          <p:nvPr/>
        </p:nvGrpSpPr>
        <p:grpSpPr>
          <a:xfrm>
            <a:off x="7448914" y="5081369"/>
            <a:ext cx="386686" cy="1030294"/>
            <a:chOff x="7448914" y="5081369"/>
            <a:chExt cx="386686" cy="1030294"/>
          </a:xfrm>
        </p:grpSpPr>
        <p:sp>
          <p:nvSpPr>
            <p:cNvPr id="111" name="TextBox 110"/>
            <p:cNvSpPr txBox="1"/>
            <p:nvPr/>
          </p:nvSpPr>
          <p:spPr>
            <a:xfrm rot="16200000">
              <a:off x="7182036" y="5475454"/>
              <a:ext cx="903087"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commit</a:t>
              </a:r>
            </a:p>
          </p:txBody>
        </p:sp>
        <p:cxnSp>
          <p:nvCxnSpPr>
            <p:cNvPr id="116" name="Straight Arrow Connector 115"/>
            <p:cNvCxnSpPr/>
            <p:nvPr/>
          </p:nvCxnSpPr>
          <p:spPr>
            <a:xfrm flipH="1">
              <a:off x="7823235" y="5081369"/>
              <a:ext cx="12365"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grpSp>
      <p:sp>
        <p:nvSpPr>
          <p:cNvPr id="103" name="Rectangle 102"/>
          <p:cNvSpPr/>
          <p:nvPr/>
        </p:nvSpPr>
        <p:spPr>
          <a:xfrm rot="16200000">
            <a:off x="5867402" y="2286001"/>
            <a:ext cx="152400" cy="152397"/>
          </a:xfrm>
          <a:prstGeom prst="rect">
            <a:avLst/>
          </a:prstGeom>
          <a:solidFill>
            <a:srgbClr val="FFFF00">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 name="圆角矩形 3">
            <a:extLst>
              <a:ext uri="{FF2B5EF4-FFF2-40B4-BE49-F238E27FC236}">
                <a16:creationId xmlns:a16="http://schemas.microsoft.com/office/drawing/2014/main" id="{74FAC88A-3BD2-B049-5AE5-D357E2D99053}"/>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Log</a:t>
            </a:r>
            <a:r>
              <a:rPr kumimoji="1" lang="zh-CN" altLang="en-US" b="0" dirty="0">
                <a:latin typeface="Helvetica"/>
                <a:cs typeface="Helvetica"/>
              </a:rPr>
              <a:t> </a:t>
            </a:r>
            <a:r>
              <a:rPr kumimoji="1" lang="en-US" altLang="zh-CN" b="0" dirty="0">
                <a:latin typeface="Helvetica"/>
                <a:cs typeface="Helvetica"/>
              </a:rPr>
              <a:t>Updates</a:t>
            </a:r>
            <a:endParaRPr kumimoji="1" lang="zh-CN" altLang="en-US" b="0" dirty="0">
              <a:latin typeface="Helvetica"/>
              <a:cs typeface="Helvetica"/>
            </a:endParaRPr>
          </a:p>
        </p:txBody>
      </p:sp>
      <p:sp>
        <p:nvSpPr>
          <p:cNvPr id="5" name="圆角矩形 4">
            <a:extLst>
              <a:ext uri="{FF2B5EF4-FFF2-40B4-BE49-F238E27FC236}">
                <a16:creationId xmlns:a16="http://schemas.microsoft.com/office/drawing/2014/main" id="{DCCB10B4-2CE1-54FF-A5A8-D36ADEA8DC74}"/>
              </a:ext>
            </a:extLst>
          </p:cNvPr>
          <p:cNvSpPr/>
          <p:nvPr/>
        </p:nvSpPr>
        <p:spPr bwMode="auto">
          <a:xfrm rot="20580792">
            <a:off x="40169" y="683794"/>
            <a:ext cx="3733800" cy="642867"/>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How</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a:latin typeface="Helvetica"/>
                <a:cs typeface="Helvetica"/>
              </a:rPr>
              <a:t>implement</a:t>
            </a:r>
            <a:r>
              <a:rPr kumimoji="1" lang="zh-CN" altLang="en-US" b="0" dirty="0">
                <a:latin typeface="Helvetica"/>
                <a:cs typeface="Helvetica"/>
              </a:rPr>
              <a:t> </a:t>
            </a:r>
            <a:r>
              <a:rPr kumimoji="1" lang="en-US" altLang="zh-CN" b="0" dirty="0">
                <a:latin typeface="Helvetica"/>
                <a:cs typeface="Helvetica"/>
              </a:rPr>
              <a:t>atomicity?</a:t>
            </a:r>
            <a:endParaRPr kumimoji="1" lang="zh-CN" altLang="en-US" b="0" dirty="0">
              <a:latin typeface="Helvetica"/>
              <a:cs typeface="Helvetica"/>
            </a:endParaRPr>
          </a:p>
        </p:txBody>
      </p:sp>
    </p:spTree>
    <p:extLst>
      <p:ext uri="{BB962C8B-B14F-4D97-AF65-F5344CB8AC3E}">
        <p14:creationId xmlns:p14="http://schemas.microsoft.com/office/powerpoint/2010/main" val="3578118572"/>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1143000" y="0"/>
            <a:ext cx="7772400" cy="1143000"/>
          </a:xfrm>
        </p:spPr>
        <p:txBody>
          <a:bodyPr lIns="90488" tIns="44450" rIns="90488" bIns="44450"/>
          <a:lstStyle/>
          <a:p>
            <a:pPr eaLnBrk="1" hangingPunct="1"/>
            <a:r>
              <a:rPr lang="en-US" altLang="zh-CN">
                <a:latin typeface="Tahoma" charset="0"/>
                <a:ea typeface="MS PGothic" charset="-128"/>
              </a:rPr>
              <a:t>Two-Phase Locking (2PL)</a:t>
            </a:r>
          </a:p>
        </p:txBody>
      </p:sp>
      <p:sp>
        <p:nvSpPr>
          <p:cNvPr id="67587" name="Rectangle 3"/>
          <p:cNvSpPr>
            <a:spLocks noGrp="1" noChangeArrowheads="1"/>
          </p:cNvSpPr>
          <p:nvPr>
            <p:ph idx="1"/>
          </p:nvPr>
        </p:nvSpPr>
        <p:spPr>
          <a:xfrm>
            <a:off x="152400" y="1066800"/>
            <a:ext cx="8686800" cy="3276600"/>
          </a:xfrm>
        </p:spPr>
        <p:txBody>
          <a:bodyPr lIns="90488" tIns="44450" rIns="90488" bIns="44450"/>
          <a:lstStyle/>
          <a:p>
            <a:pPr eaLnBrk="1" hangingPunct="1">
              <a:buSzPct val="75000"/>
              <a:buFontTx/>
              <a:buNone/>
            </a:pPr>
            <a:r>
              <a:rPr lang="en-US" altLang="zh-CN">
                <a:latin typeface="Tahoma" charset="0"/>
                <a:ea typeface="MS PGothic" charset="-128"/>
              </a:rPr>
              <a:t>1) Each transaction must obtain: </a:t>
            </a:r>
          </a:p>
          <a:p>
            <a:pPr lvl="1" eaLnBrk="1" hangingPunct="1">
              <a:buSzPct val="75000"/>
            </a:pPr>
            <a:r>
              <a:rPr lang="en-US" altLang="zh-CN">
                <a:latin typeface="Tahoma" charset="0"/>
                <a:ea typeface="MS PGothic" charset="-128"/>
              </a:rPr>
              <a:t>S (</a:t>
            </a:r>
            <a:r>
              <a:rPr lang="en-US" altLang="zh-CN" i="1">
                <a:latin typeface="Tahoma" charset="0"/>
                <a:ea typeface="MS PGothic" charset="-128"/>
              </a:rPr>
              <a:t>shared</a:t>
            </a:r>
            <a:r>
              <a:rPr lang="en-US" altLang="zh-CN">
                <a:latin typeface="Tahoma" charset="0"/>
                <a:ea typeface="MS PGothic" charset="-128"/>
              </a:rPr>
              <a:t>) or X (</a:t>
            </a:r>
            <a:r>
              <a:rPr lang="en-US" altLang="zh-CN" i="1">
                <a:latin typeface="Tahoma" charset="0"/>
                <a:ea typeface="MS PGothic" charset="-128"/>
              </a:rPr>
              <a:t>exclusive</a:t>
            </a:r>
            <a:r>
              <a:rPr lang="en-US" altLang="zh-CN">
                <a:latin typeface="Tahoma" charset="0"/>
                <a:ea typeface="MS PGothic" charset="-128"/>
              </a:rPr>
              <a:t>) lock on data before reading, </a:t>
            </a:r>
          </a:p>
          <a:p>
            <a:pPr lvl="1" eaLnBrk="1" hangingPunct="1">
              <a:buSzPct val="75000"/>
            </a:pPr>
            <a:r>
              <a:rPr lang="en-US" altLang="zh-CN">
                <a:latin typeface="Tahoma" charset="0"/>
                <a:ea typeface="MS PGothic" charset="-128"/>
              </a:rPr>
              <a:t>X (</a:t>
            </a:r>
            <a:r>
              <a:rPr lang="en-US" altLang="zh-CN" i="1">
                <a:latin typeface="Tahoma" charset="0"/>
                <a:ea typeface="MS PGothic" charset="-128"/>
              </a:rPr>
              <a:t>exclusive</a:t>
            </a:r>
            <a:r>
              <a:rPr lang="en-US" altLang="zh-CN">
                <a:latin typeface="Tahoma" charset="0"/>
                <a:ea typeface="MS PGothic" charset="-128"/>
              </a:rPr>
              <a:t>) lock on data before writing</a:t>
            </a:r>
          </a:p>
          <a:p>
            <a:pPr eaLnBrk="1" hangingPunct="1">
              <a:buSzPct val="75000"/>
              <a:buFontTx/>
              <a:buNone/>
            </a:pPr>
            <a:r>
              <a:rPr lang="en-US" altLang="zh-CN">
                <a:solidFill>
                  <a:srgbClr val="000000"/>
                </a:solidFill>
                <a:latin typeface="Tahoma" charset="0"/>
                <a:ea typeface="MS PGothic" charset="-128"/>
              </a:rPr>
              <a:t>2) A transaction can not request additional locks once it </a:t>
            </a:r>
            <a:r>
              <a:rPr lang="en-US" altLang="zh-CN">
                <a:latin typeface="Tahoma" charset="0"/>
                <a:ea typeface="MS PGothic" charset="-128"/>
              </a:rPr>
              <a:t>releases any locks</a:t>
            </a:r>
          </a:p>
          <a:p>
            <a:pPr eaLnBrk="1" hangingPunct="1">
              <a:buSzPct val="75000"/>
              <a:buFontTx/>
              <a:buNone/>
            </a:pPr>
            <a:r>
              <a:rPr lang="en-US" altLang="zh-CN">
                <a:latin typeface="Tahoma" charset="0"/>
                <a:ea typeface="MS PGothic" charset="-128"/>
              </a:rPr>
              <a:t>Thus, each transaction has a </a:t>
            </a:r>
            <a:r>
              <a:rPr lang="ja-JP" altLang="en-US">
                <a:latin typeface="Tahoma" charset="0"/>
                <a:ea typeface="MS PGothic" charset="-128"/>
              </a:rPr>
              <a:t>“</a:t>
            </a:r>
            <a:r>
              <a:rPr lang="en-US" altLang="ja-JP">
                <a:latin typeface="Tahoma" charset="0"/>
                <a:ea typeface="MS PGothic" charset="-128"/>
              </a:rPr>
              <a:t>growing phase</a:t>
            </a:r>
            <a:r>
              <a:rPr lang="ja-JP" altLang="en-US">
                <a:latin typeface="Tahoma" charset="0"/>
                <a:ea typeface="MS PGothic" charset="-128"/>
              </a:rPr>
              <a:t>”</a:t>
            </a:r>
            <a:r>
              <a:rPr lang="en-US" altLang="ja-JP">
                <a:latin typeface="Tahoma" charset="0"/>
                <a:ea typeface="MS PGothic" charset="-128"/>
              </a:rPr>
              <a:t> followed by a </a:t>
            </a:r>
            <a:r>
              <a:rPr lang="ja-JP" altLang="en-US">
                <a:latin typeface="Tahoma" charset="0"/>
                <a:ea typeface="MS PGothic" charset="-128"/>
              </a:rPr>
              <a:t>“</a:t>
            </a:r>
            <a:r>
              <a:rPr lang="en-US" altLang="ja-JP">
                <a:latin typeface="Tahoma" charset="0"/>
                <a:ea typeface="MS PGothic" charset="-128"/>
              </a:rPr>
              <a:t>shrinking phase</a:t>
            </a:r>
            <a:r>
              <a:rPr lang="ja-JP" altLang="en-US">
                <a:latin typeface="Tahoma" charset="0"/>
                <a:ea typeface="MS PGothic" charset="-128"/>
              </a:rPr>
              <a:t>”</a:t>
            </a:r>
            <a:endParaRPr lang="en-US" altLang="ja-JP">
              <a:latin typeface="Tahoma" charset="0"/>
              <a:ea typeface="MS PGothic" charset="-128"/>
            </a:endParaRPr>
          </a:p>
          <a:p>
            <a:pPr eaLnBrk="1" hangingPunct="1">
              <a:buSzPct val="75000"/>
            </a:pPr>
            <a:endParaRPr lang="en-US" altLang="zh-CN">
              <a:latin typeface="Tahoma" charset="0"/>
              <a:ea typeface="MS PGothic" charset="-128"/>
            </a:endParaRPr>
          </a:p>
        </p:txBody>
      </p:sp>
      <p:graphicFrame>
        <p:nvGraphicFramePr>
          <p:cNvPr id="6" name="Chart 5"/>
          <p:cNvGraphicFramePr/>
          <p:nvPr/>
        </p:nvGraphicFramePr>
        <p:xfrm>
          <a:off x="2743200" y="3814762"/>
          <a:ext cx="5791200" cy="2743200"/>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Connector 7"/>
          <p:cNvCxnSpPr>
            <a:cxnSpLocks noChangeShapeType="1"/>
          </p:cNvCxnSpPr>
          <p:nvPr/>
        </p:nvCxnSpPr>
        <p:spPr bwMode="auto">
          <a:xfrm rot="5400000">
            <a:off x="4801394" y="5109369"/>
            <a:ext cx="3200400" cy="1588"/>
          </a:xfrm>
          <a:prstGeom prst="line">
            <a:avLst/>
          </a:prstGeom>
          <a:noFill/>
          <a:ln w="28575">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sp>
        <p:nvSpPr>
          <p:cNvPr id="9" name="TextBox 8"/>
          <p:cNvSpPr txBox="1">
            <a:spLocks noChangeArrowheads="1"/>
          </p:cNvSpPr>
          <p:nvPr/>
        </p:nvSpPr>
        <p:spPr bwMode="auto">
          <a:xfrm>
            <a:off x="3429000" y="3967163"/>
            <a:ext cx="13303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CF0E30"/>
                </a:solidFill>
                <a:latin typeface="Helvetica" charset="0"/>
              </a:rPr>
              <a:t>Growing</a:t>
            </a:r>
          </a:p>
          <a:p>
            <a:pPr eaLnBrk="1" hangingPunct="1"/>
            <a:r>
              <a:rPr lang="en-US" altLang="zh-CN" b="0">
                <a:solidFill>
                  <a:srgbClr val="CF0E30"/>
                </a:solidFill>
                <a:latin typeface="Helvetica" charset="0"/>
              </a:rPr>
              <a:t>Phase</a:t>
            </a:r>
          </a:p>
        </p:txBody>
      </p:sp>
      <p:sp>
        <p:nvSpPr>
          <p:cNvPr id="10" name="TextBox 9"/>
          <p:cNvSpPr txBox="1">
            <a:spLocks noChangeArrowheads="1"/>
          </p:cNvSpPr>
          <p:nvPr/>
        </p:nvSpPr>
        <p:spPr bwMode="auto">
          <a:xfrm>
            <a:off x="6642100" y="3967163"/>
            <a:ext cx="14684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r" eaLnBrk="1" hangingPunct="1"/>
            <a:r>
              <a:rPr lang="en-US" altLang="zh-CN" b="0">
                <a:solidFill>
                  <a:srgbClr val="CF0E30"/>
                </a:solidFill>
                <a:latin typeface="Helvetica" charset="0"/>
              </a:rPr>
              <a:t>Shrinking</a:t>
            </a:r>
          </a:p>
          <a:p>
            <a:pPr algn="r" eaLnBrk="1" hangingPunct="1"/>
            <a:r>
              <a:rPr lang="en-US" altLang="zh-CN" b="0">
                <a:solidFill>
                  <a:srgbClr val="CF0E30"/>
                </a:solidFill>
                <a:latin typeface="Helvetica" charset="0"/>
              </a:rPr>
              <a:t>Phase</a:t>
            </a:r>
          </a:p>
        </p:txBody>
      </p:sp>
      <p:grpSp>
        <p:nvGrpSpPr>
          <p:cNvPr id="2" name="Group 14"/>
          <p:cNvGrpSpPr>
            <a:grpSpLocks/>
          </p:cNvGrpSpPr>
          <p:nvPr/>
        </p:nvGrpSpPr>
        <p:grpSpPr bwMode="auto">
          <a:xfrm>
            <a:off x="6400800" y="3429000"/>
            <a:ext cx="2006600" cy="614363"/>
            <a:chOff x="6400800" y="3576935"/>
            <a:chExt cx="2006776" cy="614065"/>
          </a:xfrm>
        </p:grpSpPr>
        <p:cxnSp>
          <p:nvCxnSpPr>
            <p:cNvPr id="76808" name="Straight Connector 11"/>
            <p:cNvCxnSpPr>
              <a:cxnSpLocks noChangeShapeType="1"/>
            </p:cNvCxnSpPr>
            <p:nvPr/>
          </p:nvCxnSpPr>
          <p:spPr bwMode="auto">
            <a:xfrm rot="5400000">
              <a:off x="6400800" y="3886200"/>
              <a:ext cx="304800" cy="304800"/>
            </a:xfrm>
            <a:prstGeom prst="line">
              <a:avLst/>
            </a:prstGeom>
            <a:noFill/>
            <a:ln w="28575">
              <a:solidFill>
                <a:srgbClr val="FF0000"/>
              </a:solidFill>
              <a:round/>
              <a:headEnd type="none" w="sm" len="sm"/>
              <a:tailEnd type="stealth" w="lg" len="lg"/>
            </a:ln>
            <a:extLst>
              <a:ext uri="{909E8E84-426E-40DD-AFC4-6F175D3DCCD1}">
                <a14:hiddenFill xmlns:a14="http://schemas.microsoft.com/office/drawing/2010/main">
                  <a:noFill/>
                </a14:hiddenFill>
              </a:ext>
            </a:extLst>
          </p:spPr>
        </p:cxnSp>
        <p:sp>
          <p:nvSpPr>
            <p:cNvPr id="76809" name="TextBox 12"/>
            <p:cNvSpPr txBox="1">
              <a:spLocks noChangeArrowheads="1"/>
            </p:cNvSpPr>
            <p:nvPr/>
          </p:nvSpPr>
          <p:spPr bwMode="auto">
            <a:xfrm>
              <a:off x="6700258" y="3576935"/>
              <a:ext cx="1707318" cy="46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CF0E30"/>
                  </a:solidFill>
                  <a:latin typeface="Helvetica" charset="0"/>
                </a:rPr>
                <a:t>Lock Point!</a:t>
              </a:r>
            </a:p>
          </p:txBody>
        </p:sp>
      </p:grpSp>
      <p:sp>
        <p:nvSpPr>
          <p:cNvPr id="11" name="圆角矩形 10">
            <a:extLst>
              <a:ext uri="{FF2B5EF4-FFF2-40B4-BE49-F238E27FC236}">
                <a16:creationId xmlns:a16="http://schemas.microsoft.com/office/drawing/2014/main" id="{7CD19EEF-42E5-5529-FFD7-9AF15DB6BC50}"/>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Concurrencies</a:t>
            </a:r>
            <a:r>
              <a:rPr kumimoji="1" lang="zh-CN" altLang="en-US" b="0" dirty="0">
                <a:latin typeface="Helvetica"/>
                <a:cs typeface="Helvetica"/>
              </a:rPr>
              <a:t> </a:t>
            </a:r>
            <a:r>
              <a:rPr kumimoji="1" lang="en-US" altLang="zh-CN" b="0" dirty="0">
                <a:latin typeface="Helvetica"/>
                <a:cs typeface="Helvetica"/>
              </a:rPr>
              <a:t>are</a:t>
            </a:r>
            <a:r>
              <a:rPr kumimoji="1" lang="zh-CN" altLang="en-US" b="0" dirty="0">
                <a:latin typeface="Helvetica"/>
                <a:cs typeface="Helvetica"/>
              </a:rPr>
              <a:t> </a:t>
            </a:r>
            <a:r>
              <a:rPr kumimoji="1" lang="en-US" altLang="zh-CN" b="0" dirty="0">
                <a:latin typeface="Helvetica"/>
                <a:cs typeface="Helvetica"/>
              </a:rPr>
              <a:t>hard</a:t>
            </a:r>
          </a:p>
        </p:txBody>
      </p:sp>
      <p:sp>
        <p:nvSpPr>
          <p:cNvPr id="12" name="圆角矩形 11">
            <a:extLst>
              <a:ext uri="{FF2B5EF4-FFF2-40B4-BE49-F238E27FC236}">
                <a16:creationId xmlns:a16="http://schemas.microsoft.com/office/drawing/2014/main" id="{C998658C-22A3-925A-C80D-3AB6EC5859F3}"/>
              </a:ext>
            </a:extLst>
          </p:cNvPr>
          <p:cNvSpPr/>
          <p:nvPr/>
        </p:nvSpPr>
        <p:spPr bwMode="auto">
          <a:xfrm rot="1127902">
            <a:off x="5411564" y="592255"/>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Transactions</a:t>
            </a:r>
            <a:endParaRPr kumimoji="1" lang="zh-CN" altLang="en-US" b="0" dirty="0">
              <a:latin typeface="Helvetica"/>
              <a:cs typeface="Helvetica"/>
            </a:endParaRPr>
          </a:p>
        </p:txBody>
      </p:sp>
    </p:spTree>
    <p:extLst>
      <p:ext uri="{BB962C8B-B14F-4D97-AF65-F5344CB8AC3E}">
        <p14:creationId xmlns:p14="http://schemas.microsoft.com/office/powerpoint/2010/main" val="317798426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5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5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58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58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2000"/>
                                        <p:tgtEl>
                                          <p:spTgt spid="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20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2000"/>
                                        <p:tgtEl>
                                          <p:spTgt spid="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000"/>
                                        <p:tgtEl>
                                          <p:spTgt spid="1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500" fill="hold"/>
                                        <p:tgtEl>
                                          <p:spTgt spid="2"/>
                                        </p:tgtEl>
                                        <p:attrNameLst>
                                          <p:attrName>ppt_w</p:attrName>
                                        </p:attrNameLst>
                                      </p:cBhvr>
                                      <p:tavLst>
                                        <p:tav tm="0">
                                          <p:val>
                                            <p:fltVal val="0"/>
                                          </p:val>
                                        </p:tav>
                                        <p:tav tm="100000">
                                          <p:val>
                                            <p:strVal val="#ppt_w"/>
                                          </p:val>
                                        </p:tav>
                                      </p:tavLst>
                                    </p:anim>
                                    <p:anim calcmode="lin" valueType="num">
                                      <p:cBhvr>
                                        <p:cTn id="44"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P spid="9" grpId="0"/>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25BA9-BB51-2547-A67B-B9CFE9231082}"/>
              </a:ext>
            </a:extLst>
          </p:cNvPr>
          <p:cNvSpPr>
            <a:spLocks noGrp="1"/>
          </p:cNvSpPr>
          <p:nvPr>
            <p:ph type="title"/>
          </p:nvPr>
        </p:nvSpPr>
        <p:spPr/>
        <p:txBody>
          <a:bodyPr/>
          <a:lstStyle/>
          <a:p>
            <a:r>
              <a:rPr kumimoji="1" lang="en-US" altLang="zh-CN" dirty="0"/>
              <a:t>Locality</a:t>
            </a:r>
            <a:r>
              <a:rPr kumimoji="1" lang="zh-CN" altLang="en-US" dirty="0"/>
              <a:t> </a:t>
            </a:r>
            <a:r>
              <a:rPr kumimoji="1" lang="en-US" altLang="zh-CN" dirty="0"/>
              <a:t>and</a:t>
            </a:r>
            <a:r>
              <a:rPr kumimoji="1" lang="zh-CN" altLang="en-US" dirty="0"/>
              <a:t> </a:t>
            </a:r>
            <a:r>
              <a:rPr kumimoji="1" lang="en-US" altLang="zh-CN" dirty="0"/>
              <a:t>caching</a:t>
            </a:r>
            <a:endParaRPr kumimoji="1" lang="zh-CN" altLang="en-US" dirty="0"/>
          </a:p>
        </p:txBody>
      </p:sp>
      <p:sp>
        <p:nvSpPr>
          <p:cNvPr id="3" name="文本占位符 2">
            <a:extLst>
              <a:ext uri="{FF2B5EF4-FFF2-40B4-BE49-F238E27FC236}">
                <a16:creationId xmlns:a16="http://schemas.microsoft.com/office/drawing/2014/main" id="{A88FE518-C29E-164D-A021-6998B83F7BA0}"/>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314044421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8E2E68-E822-615B-C066-BF6467A684E0}"/>
              </a:ext>
            </a:extLst>
          </p:cNvPr>
          <p:cNvSpPr>
            <a:spLocks noGrp="1"/>
          </p:cNvSpPr>
          <p:nvPr>
            <p:ph type="title"/>
          </p:nvPr>
        </p:nvSpPr>
        <p:spPr/>
        <p:txBody>
          <a:bodyPr/>
          <a:lstStyle/>
          <a:p>
            <a:r>
              <a:rPr kumimoji="1" lang="en-US" altLang="zh-CN" dirty="0"/>
              <a:t>Caching</a:t>
            </a:r>
            <a:r>
              <a:rPr kumimoji="1" lang="zh-CN" altLang="en-US" dirty="0"/>
              <a:t> </a:t>
            </a:r>
            <a:r>
              <a:rPr kumimoji="1" lang="en-US" altLang="zh-CN" dirty="0"/>
              <a:t>Ideas</a:t>
            </a:r>
            <a:r>
              <a:rPr kumimoji="1" lang="zh-CN" altLang="en-US" dirty="0"/>
              <a:t> </a:t>
            </a:r>
          </a:p>
        </p:txBody>
      </p:sp>
      <p:sp>
        <p:nvSpPr>
          <p:cNvPr id="3" name="内容占位符 2">
            <a:extLst>
              <a:ext uri="{FF2B5EF4-FFF2-40B4-BE49-F238E27FC236}">
                <a16:creationId xmlns:a16="http://schemas.microsoft.com/office/drawing/2014/main" id="{131C8EF5-760C-5693-3709-F38495525CCF}"/>
              </a:ext>
            </a:extLst>
          </p:cNvPr>
          <p:cNvSpPr>
            <a:spLocks noGrp="1"/>
          </p:cNvSpPr>
          <p:nvPr>
            <p:ph idx="1"/>
          </p:nvPr>
        </p:nvSpPr>
        <p:spPr/>
        <p:txBody>
          <a:bodyPr/>
          <a:lstStyle/>
          <a:p>
            <a:r>
              <a:rPr kumimoji="1" lang="en-US" altLang="zh-CN" dirty="0"/>
              <a:t>Why</a:t>
            </a:r>
            <a:r>
              <a:rPr kumimoji="1" lang="zh-CN" altLang="en-US" dirty="0"/>
              <a:t> </a:t>
            </a:r>
            <a:r>
              <a:rPr kumimoji="1" lang="en-US" altLang="zh-CN" dirty="0"/>
              <a:t>it</a:t>
            </a:r>
            <a:r>
              <a:rPr kumimoji="1" lang="zh-CN" altLang="en-US" dirty="0"/>
              <a:t> </a:t>
            </a:r>
            <a:r>
              <a:rPr kumimoji="1" lang="en-US" altLang="zh-CN" dirty="0"/>
              <a:t>works?</a:t>
            </a:r>
          </a:p>
          <a:p>
            <a:pPr lvl="1"/>
            <a:r>
              <a:rPr kumimoji="1" lang="en-US" altLang="zh-CN" dirty="0"/>
              <a:t>Locality</a:t>
            </a:r>
          </a:p>
          <a:p>
            <a:pPr lvl="1"/>
            <a:r>
              <a:rPr kumimoji="1" lang="en-US" altLang="zh-CN" dirty="0"/>
              <a:t>Cache</a:t>
            </a:r>
            <a:r>
              <a:rPr kumimoji="1" lang="zh-CN" altLang="en-US" dirty="0"/>
              <a:t> </a:t>
            </a:r>
            <a:r>
              <a:rPr kumimoji="1" lang="en-US" altLang="zh-CN" dirty="0"/>
              <a:t>performance</a:t>
            </a:r>
            <a:r>
              <a:rPr kumimoji="1" lang="zh-CN" altLang="en-US" dirty="0"/>
              <a:t> </a:t>
            </a:r>
            <a:r>
              <a:rPr kumimoji="1" lang="en-US" altLang="zh-CN" dirty="0"/>
              <a:t>models</a:t>
            </a:r>
          </a:p>
          <a:p>
            <a:r>
              <a:rPr kumimoji="1" lang="en-US" altLang="zh-CN" dirty="0"/>
              <a:t>Where</a:t>
            </a:r>
            <a:r>
              <a:rPr kumimoji="1" lang="zh-CN" altLang="en-US" dirty="0"/>
              <a:t> </a:t>
            </a:r>
            <a:r>
              <a:rPr kumimoji="1" lang="en-US" altLang="zh-CN" dirty="0"/>
              <a:t>to</a:t>
            </a:r>
            <a:r>
              <a:rPr kumimoji="1" lang="zh-CN" altLang="en-US" dirty="0"/>
              <a:t> </a:t>
            </a:r>
            <a:r>
              <a:rPr kumimoji="1" lang="en-US" altLang="zh-CN" dirty="0"/>
              <a:t>cache?</a:t>
            </a:r>
          </a:p>
          <a:p>
            <a:pPr lvl="1"/>
            <a:r>
              <a:rPr kumimoji="1" lang="en-US" altLang="zh-CN" dirty="0"/>
              <a:t>The</a:t>
            </a:r>
            <a:r>
              <a:rPr kumimoji="1" lang="zh-CN" altLang="en-US" dirty="0"/>
              <a:t> </a:t>
            </a:r>
            <a:r>
              <a:rPr kumimoji="1" lang="en-US" altLang="zh-CN" dirty="0"/>
              <a:t>entire</a:t>
            </a:r>
            <a:r>
              <a:rPr kumimoji="1" lang="zh-CN" altLang="en-US" dirty="0"/>
              <a:t> </a:t>
            </a:r>
            <a:r>
              <a:rPr kumimoji="1" lang="en-US" altLang="zh-CN" dirty="0"/>
              <a:t>memory</a:t>
            </a:r>
            <a:r>
              <a:rPr kumimoji="1" lang="zh-CN" altLang="en-US" dirty="0"/>
              <a:t> </a:t>
            </a:r>
            <a:r>
              <a:rPr kumimoji="1" lang="en-US" altLang="zh-CN" dirty="0"/>
              <a:t>hierarchy</a:t>
            </a:r>
          </a:p>
          <a:p>
            <a:pPr lvl="1"/>
            <a:r>
              <a:rPr kumimoji="1" lang="en-US" altLang="zh-CN" dirty="0"/>
              <a:t>CPU</a:t>
            </a:r>
            <a:r>
              <a:rPr kumimoji="1" lang="zh-CN" altLang="en-US" dirty="0"/>
              <a:t> </a:t>
            </a:r>
            <a:r>
              <a:rPr kumimoji="1" lang="en-US" altLang="zh-CN" dirty="0"/>
              <a:t>–</a:t>
            </a:r>
            <a:r>
              <a:rPr kumimoji="1" lang="zh-CN" altLang="en-US" dirty="0"/>
              <a:t> </a:t>
            </a:r>
            <a:r>
              <a:rPr kumimoji="1" lang="en-US" altLang="zh-CN" dirty="0"/>
              <a:t>VM</a:t>
            </a:r>
            <a:r>
              <a:rPr kumimoji="1" lang="zh-CN" altLang="en-US" dirty="0"/>
              <a:t> </a:t>
            </a:r>
            <a:r>
              <a:rPr kumimoji="1" lang="en-US" altLang="zh-CN" dirty="0"/>
              <a:t>–</a:t>
            </a:r>
            <a:r>
              <a:rPr kumimoji="1" lang="zh-CN" altLang="en-US" dirty="0"/>
              <a:t> </a:t>
            </a:r>
            <a:r>
              <a:rPr kumimoji="1" lang="en-US" altLang="zh-CN" dirty="0"/>
              <a:t>FS</a:t>
            </a:r>
            <a:r>
              <a:rPr kumimoji="1" lang="zh-CN" altLang="en-US" dirty="0"/>
              <a:t> </a:t>
            </a:r>
            <a:r>
              <a:rPr kumimoji="1" lang="en-US" altLang="zh-CN" dirty="0"/>
              <a:t>–</a:t>
            </a:r>
            <a:r>
              <a:rPr kumimoji="1" lang="zh-CN" altLang="en-US" dirty="0"/>
              <a:t> </a:t>
            </a:r>
            <a:r>
              <a:rPr kumimoji="1" lang="en-US" altLang="zh-CN" dirty="0"/>
              <a:t>Distributed</a:t>
            </a:r>
            <a:r>
              <a:rPr kumimoji="1" lang="zh-CN" altLang="en-US" dirty="0"/>
              <a:t> </a:t>
            </a:r>
            <a:r>
              <a:rPr kumimoji="1" lang="en-US" altLang="zh-CN" dirty="0"/>
              <a:t>FS</a:t>
            </a:r>
          </a:p>
          <a:p>
            <a:r>
              <a:rPr kumimoji="1" lang="en-US" altLang="zh-CN" dirty="0"/>
              <a:t>(What</a:t>
            </a:r>
            <a:r>
              <a:rPr kumimoji="1" lang="zh-CN" altLang="en-US" dirty="0"/>
              <a:t> </a:t>
            </a:r>
            <a:r>
              <a:rPr kumimoji="1" lang="en-US" altLang="zh-CN" dirty="0"/>
              <a:t>to</a:t>
            </a:r>
            <a:r>
              <a:rPr kumimoji="1" lang="zh-CN" altLang="en-US" dirty="0"/>
              <a:t> </a:t>
            </a:r>
            <a:r>
              <a:rPr kumimoji="1" lang="en-US" altLang="zh-CN" dirty="0"/>
              <a:t>cache?)</a:t>
            </a:r>
          </a:p>
          <a:p>
            <a:pPr lvl="1"/>
            <a:r>
              <a:rPr kumimoji="1" lang="en-US" altLang="zh-CN" dirty="0"/>
              <a:t>(replacement</a:t>
            </a:r>
            <a:r>
              <a:rPr kumimoji="1" lang="zh-CN" altLang="en-US" dirty="0"/>
              <a:t> </a:t>
            </a:r>
            <a:r>
              <a:rPr kumimoji="1" lang="en-US" altLang="zh-CN" dirty="0"/>
              <a:t>policies)</a:t>
            </a:r>
          </a:p>
          <a:p>
            <a:r>
              <a:rPr kumimoji="1" lang="en-US" altLang="zh-CN" dirty="0"/>
              <a:t>Pitfalls</a:t>
            </a:r>
            <a:r>
              <a:rPr kumimoji="1" lang="zh-CN" altLang="en-US" dirty="0"/>
              <a:t> </a:t>
            </a:r>
            <a:r>
              <a:rPr kumimoji="1" lang="en-US" altLang="zh-CN" dirty="0"/>
              <a:t>in</a:t>
            </a:r>
            <a:r>
              <a:rPr kumimoji="1" lang="zh-CN" altLang="en-US" dirty="0"/>
              <a:t> </a:t>
            </a:r>
            <a:r>
              <a:rPr kumimoji="1" lang="en-US" altLang="zh-CN" dirty="0"/>
              <a:t>caching</a:t>
            </a:r>
          </a:p>
          <a:p>
            <a:pPr lvl="1"/>
            <a:r>
              <a:rPr kumimoji="1" lang="en-US" altLang="zh-CN" dirty="0"/>
              <a:t>Cache</a:t>
            </a:r>
            <a:r>
              <a:rPr kumimoji="1" lang="zh-CN" altLang="en-US" dirty="0"/>
              <a:t> </a:t>
            </a:r>
            <a:r>
              <a:rPr kumimoji="1" lang="en-US" altLang="zh-CN" dirty="0"/>
              <a:t>invalidation</a:t>
            </a:r>
            <a:r>
              <a:rPr kumimoji="1" lang="zh-CN" altLang="en-US" dirty="0"/>
              <a:t> </a:t>
            </a:r>
            <a:r>
              <a:rPr kumimoji="1" lang="en-US" altLang="zh-CN" dirty="0"/>
              <a:t>(only</a:t>
            </a:r>
            <a:r>
              <a:rPr kumimoji="1" lang="zh-CN" altLang="en-US" dirty="0"/>
              <a:t> </a:t>
            </a:r>
            <a:r>
              <a:rPr kumimoji="1" lang="en-US" altLang="zh-CN" dirty="0"/>
              <a:t>the</a:t>
            </a:r>
            <a:r>
              <a:rPr kumimoji="1" lang="zh-CN" altLang="en-US" dirty="0"/>
              <a:t> </a:t>
            </a:r>
            <a:r>
              <a:rPr kumimoji="1" lang="en-US" altLang="zh-CN" dirty="0"/>
              <a:t>basics)</a:t>
            </a:r>
          </a:p>
          <a:p>
            <a:pPr lvl="1"/>
            <a:r>
              <a:rPr kumimoji="1" lang="en-US" altLang="zh-CN" dirty="0"/>
              <a:t>Cache</a:t>
            </a:r>
            <a:r>
              <a:rPr kumimoji="1" lang="zh-CN" altLang="en-US" dirty="0"/>
              <a:t> </a:t>
            </a:r>
            <a:r>
              <a:rPr kumimoji="1" lang="en-US" altLang="zh-CN" dirty="0"/>
              <a:t>staleness</a:t>
            </a:r>
            <a:r>
              <a:rPr kumimoji="1" lang="zh-CN" altLang="en-US" dirty="0"/>
              <a:t> </a:t>
            </a:r>
            <a:r>
              <a:rPr kumimoji="1" lang="en-US" altLang="zh-CN" dirty="0"/>
              <a:t>/</a:t>
            </a:r>
            <a:r>
              <a:rPr kumimoji="1" lang="zh-CN" altLang="en-US" dirty="0"/>
              <a:t> </a:t>
            </a:r>
            <a:r>
              <a:rPr kumimoji="1" lang="en-US" altLang="zh-CN" dirty="0"/>
              <a:t>consistency</a:t>
            </a:r>
            <a:r>
              <a:rPr kumimoji="1" lang="zh-CN" altLang="en-US" dirty="0"/>
              <a:t> </a:t>
            </a:r>
            <a:r>
              <a:rPr kumimoji="1" lang="en-US" altLang="zh-CN" dirty="0"/>
              <a:t>–</a:t>
            </a:r>
            <a:r>
              <a:rPr kumimoji="1" lang="zh-CN" altLang="en-US" dirty="0"/>
              <a:t> </a:t>
            </a:r>
            <a:r>
              <a:rPr kumimoji="1" lang="en-US" altLang="zh-CN" dirty="0"/>
              <a:t>access</a:t>
            </a:r>
            <a:r>
              <a:rPr kumimoji="1" lang="zh-CN" altLang="en-US" dirty="0"/>
              <a:t> </a:t>
            </a:r>
            <a:r>
              <a:rPr kumimoji="1" lang="en-US" altLang="zh-CN" dirty="0"/>
              <a:t>semantics</a:t>
            </a:r>
          </a:p>
        </p:txBody>
      </p:sp>
    </p:spTree>
    <p:extLst>
      <p:ext uri="{BB962C8B-B14F-4D97-AF65-F5344CB8AC3E}">
        <p14:creationId xmlns:p14="http://schemas.microsoft.com/office/powerpoint/2010/main" val="418689693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616A9F92-2BE1-E8A3-A88F-4BCED8DB7E0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E098D8E1-735F-189E-E2BF-08D575655B87}"/>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Locality</a:t>
            </a:r>
            <a:r>
              <a:rPr kumimoji="1" lang="zh-CN" altLang="en-US" b="0" dirty="0">
                <a:latin typeface="Helvetica"/>
                <a:cs typeface="Helvetica"/>
              </a:rPr>
              <a:t> </a:t>
            </a:r>
            <a:r>
              <a:rPr kumimoji="1" lang="en-US" altLang="zh-CN" b="0" dirty="0">
                <a:latin typeface="Helvetica"/>
                <a:cs typeface="Helvetica"/>
              </a:rPr>
              <a:t>widely</a:t>
            </a:r>
            <a:r>
              <a:rPr kumimoji="1" lang="zh-CN" altLang="en-US" b="0" dirty="0">
                <a:latin typeface="Helvetica"/>
                <a:cs typeface="Helvetica"/>
              </a:rPr>
              <a:t> </a:t>
            </a:r>
            <a:r>
              <a:rPr kumimoji="1" lang="en-US" altLang="zh-CN" b="0" dirty="0">
                <a:latin typeface="Helvetica"/>
                <a:cs typeface="Helvetica"/>
              </a:rPr>
              <a:t>exists…</a:t>
            </a:r>
            <a:endParaRPr kumimoji="1" lang="zh-CN" altLang="en-US" b="0" dirty="0">
              <a:latin typeface="Helvetica"/>
              <a:cs typeface="Helvetica"/>
            </a:endParaRPr>
          </a:p>
        </p:txBody>
      </p:sp>
      <p:sp>
        <p:nvSpPr>
          <p:cNvPr id="2" name="圆角矩形 1">
            <a:extLst>
              <a:ext uri="{FF2B5EF4-FFF2-40B4-BE49-F238E27FC236}">
                <a16:creationId xmlns:a16="http://schemas.microsoft.com/office/drawing/2014/main" id="{6193F222-3B1F-3406-E589-8D8480BE24A9}"/>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Why</a:t>
            </a:r>
            <a:r>
              <a:rPr kumimoji="1" lang="zh-CN" altLang="en-US" b="0" dirty="0">
                <a:latin typeface="Helvetica"/>
                <a:cs typeface="Helvetica"/>
              </a:rPr>
              <a:t> </a:t>
            </a:r>
            <a:r>
              <a:rPr kumimoji="1" lang="en-US" altLang="zh-CN" b="0" dirty="0">
                <a:latin typeface="Helvetica"/>
                <a:cs typeface="Helvetica"/>
              </a:rPr>
              <a:t>does</a:t>
            </a:r>
            <a:r>
              <a:rPr kumimoji="1" lang="zh-CN" altLang="en-US" b="0" dirty="0">
                <a:latin typeface="Helvetica"/>
                <a:cs typeface="Helvetica"/>
              </a:rPr>
              <a:t> </a:t>
            </a:r>
            <a:r>
              <a:rPr kumimoji="1" lang="en-US" altLang="zh-CN" b="0" dirty="0">
                <a:latin typeface="Helvetica"/>
                <a:cs typeface="Helvetica"/>
              </a:rPr>
              <a:t>caching</a:t>
            </a:r>
            <a:r>
              <a:rPr kumimoji="1" lang="zh-CN" altLang="en-US" b="0" dirty="0">
                <a:latin typeface="Helvetica"/>
                <a:cs typeface="Helvetica"/>
              </a:rPr>
              <a:t> </a:t>
            </a:r>
            <a:r>
              <a:rPr kumimoji="1" lang="en-US" altLang="zh-CN" b="0" dirty="0">
                <a:latin typeface="Helvetica"/>
                <a:cs typeface="Helvetica"/>
              </a:rPr>
              <a:t>work?</a:t>
            </a:r>
            <a:endParaRPr kumimoji="1" lang="zh-CN" altLang="en-US" b="0" dirty="0">
              <a:latin typeface="Helvetica"/>
              <a:cs typeface="Helvetica"/>
            </a:endParaRPr>
          </a:p>
        </p:txBody>
      </p:sp>
    </p:spTree>
    <p:extLst>
      <p:ext uri="{BB962C8B-B14F-4D97-AF65-F5344CB8AC3E}">
        <p14:creationId xmlns:p14="http://schemas.microsoft.com/office/powerpoint/2010/main" val="3062182156"/>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A1387884-D392-C998-7EE1-9D1E0CC28F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51163"/>
            <a:ext cx="9144000" cy="5555673"/>
          </a:xfrm>
          <a:prstGeom prst="rect">
            <a:avLst/>
          </a:prstGeom>
        </p:spPr>
      </p:pic>
      <p:sp>
        <p:nvSpPr>
          <p:cNvPr id="3" name="圆角矩形 2">
            <a:extLst>
              <a:ext uri="{FF2B5EF4-FFF2-40B4-BE49-F238E27FC236}">
                <a16:creationId xmlns:a16="http://schemas.microsoft.com/office/drawing/2014/main" id="{DDCF60CC-D9A0-A132-1905-771A436FAEA5}"/>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Performance</a:t>
            </a:r>
            <a:r>
              <a:rPr kumimoji="1" lang="zh-CN" altLang="en-US" b="0" dirty="0">
                <a:latin typeface="Helvetica"/>
                <a:cs typeface="Helvetica"/>
              </a:rPr>
              <a:t> </a:t>
            </a:r>
            <a:r>
              <a:rPr kumimoji="1" lang="en-US" altLang="zh-CN" b="0" dirty="0">
                <a:latin typeface="Helvetica"/>
                <a:cs typeface="Helvetica"/>
              </a:rPr>
              <a:t>Model</a:t>
            </a:r>
            <a:r>
              <a:rPr kumimoji="1" lang="zh-CN" altLang="en-US" b="0" dirty="0">
                <a:latin typeface="Helvetica"/>
                <a:cs typeface="Helvetica"/>
              </a:rPr>
              <a:t> </a:t>
            </a:r>
          </a:p>
        </p:txBody>
      </p:sp>
      <p:sp>
        <p:nvSpPr>
          <p:cNvPr id="2" name="圆角矩形 1">
            <a:extLst>
              <a:ext uri="{FF2B5EF4-FFF2-40B4-BE49-F238E27FC236}">
                <a16:creationId xmlns:a16="http://schemas.microsoft.com/office/drawing/2014/main" id="{2271B908-B9B5-7D7D-0EE5-BFB888E54FDA}"/>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Need</a:t>
            </a:r>
            <a:r>
              <a:rPr kumimoji="1" lang="zh-CN" altLang="en-US" b="0" dirty="0">
                <a:latin typeface="Helvetica"/>
                <a:cs typeface="Helvetica"/>
              </a:rPr>
              <a:t> </a:t>
            </a:r>
            <a:r>
              <a:rPr kumimoji="1" lang="en-US" altLang="zh-CN" b="0" dirty="0">
                <a:latin typeface="Helvetica"/>
                <a:cs typeface="Helvetica"/>
              </a:rPr>
              <a:t>a</a:t>
            </a:r>
            <a:r>
              <a:rPr kumimoji="1" lang="zh-CN" altLang="en-US" b="0" dirty="0">
                <a:latin typeface="Helvetica"/>
                <a:cs typeface="Helvetica"/>
              </a:rPr>
              <a:t> </a:t>
            </a:r>
            <a:r>
              <a:rPr kumimoji="1" lang="en-US" altLang="zh-CN" b="0" dirty="0">
                <a:latin typeface="Helvetica"/>
                <a:cs typeface="Helvetica"/>
              </a:rPr>
              <a:t>way</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a:latin typeface="Helvetica"/>
                <a:cs typeface="Helvetica"/>
              </a:rPr>
              <a:t>quantify</a:t>
            </a:r>
            <a:r>
              <a:rPr kumimoji="1" lang="zh-CN" altLang="en-US" b="0" dirty="0">
                <a:latin typeface="Helvetica"/>
                <a:cs typeface="Helvetica"/>
              </a:rPr>
              <a:t> </a:t>
            </a:r>
            <a:r>
              <a:rPr kumimoji="1" lang="en-US" altLang="zh-CN" b="0" dirty="0">
                <a:latin typeface="Helvetica"/>
                <a:cs typeface="Helvetica"/>
              </a:rPr>
              <a:t>caching</a:t>
            </a:r>
            <a:r>
              <a:rPr kumimoji="1" lang="zh-CN" altLang="en-US" b="0" dirty="0">
                <a:latin typeface="Helvetica"/>
                <a:cs typeface="Helvetica"/>
              </a:rPr>
              <a:t> </a:t>
            </a:r>
            <a:r>
              <a:rPr kumimoji="1" lang="en-US" altLang="zh-CN" b="0" dirty="0">
                <a:latin typeface="Helvetica"/>
                <a:cs typeface="Helvetica"/>
              </a:rPr>
              <a:t>performance!</a:t>
            </a:r>
            <a:endParaRPr kumimoji="1" lang="zh-CN" altLang="en-US" b="0" dirty="0">
              <a:latin typeface="Helvetica"/>
              <a:cs typeface="Helvetica"/>
            </a:endParaRPr>
          </a:p>
        </p:txBody>
      </p:sp>
    </p:spTree>
    <p:extLst>
      <p:ext uri="{BB962C8B-B14F-4D97-AF65-F5344CB8AC3E}">
        <p14:creationId xmlns:p14="http://schemas.microsoft.com/office/powerpoint/2010/main" val="228289120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形 5">
            <a:extLst>
              <a:ext uri="{FF2B5EF4-FFF2-40B4-BE49-F238E27FC236}">
                <a16:creationId xmlns:a16="http://schemas.microsoft.com/office/drawing/2014/main" id="{881940B3-0AAF-E319-BA02-187DDECE53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85800"/>
            <a:ext cx="9144000" cy="5501780"/>
          </a:xfrm>
          <a:prstGeom prst="rect">
            <a:avLst/>
          </a:prstGeom>
        </p:spPr>
      </p:pic>
      <p:sp>
        <p:nvSpPr>
          <p:cNvPr id="3" name="圆角矩形 2">
            <a:extLst>
              <a:ext uri="{FF2B5EF4-FFF2-40B4-BE49-F238E27FC236}">
                <a16:creationId xmlns:a16="http://schemas.microsoft.com/office/drawing/2014/main" id="{428BE526-C33C-E0CB-0EB5-688401127E13}"/>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Performance</a:t>
            </a:r>
            <a:r>
              <a:rPr kumimoji="1" lang="zh-CN" altLang="en-US" b="0" dirty="0">
                <a:latin typeface="Helvetica"/>
                <a:cs typeface="Helvetica"/>
              </a:rPr>
              <a:t> </a:t>
            </a:r>
            <a:r>
              <a:rPr kumimoji="1" lang="en-US" altLang="zh-CN" b="0" dirty="0">
                <a:latin typeface="Helvetica"/>
                <a:cs typeface="Helvetica"/>
              </a:rPr>
              <a:t>Model</a:t>
            </a:r>
            <a:r>
              <a:rPr kumimoji="1" lang="zh-CN" altLang="en-US" b="0" dirty="0">
                <a:latin typeface="Helvetica"/>
                <a:cs typeface="Helvetica"/>
              </a:rPr>
              <a:t> </a:t>
            </a:r>
          </a:p>
        </p:txBody>
      </p:sp>
      <p:sp>
        <p:nvSpPr>
          <p:cNvPr id="2" name="圆角矩形 1">
            <a:extLst>
              <a:ext uri="{FF2B5EF4-FFF2-40B4-BE49-F238E27FC236}">
                <a16:creationId xmlns:a16="http://schemas.microsoft.com/office/drawing/2014/main" id="{7D8DC122-E3BE-CE66-25AF-C0C15251EDDB}"/>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Caching</a:t>
            </a:r>
            <a:r>
              <a:rPr kumimoji="1" lang="zh-CN" altLang="en-US" b="0" dirty="0">
                <a:latin typeface="Helvetica"/>
                <a:cs typeface="Helvetica"/>
              </a:rPr>
              <a:t> </a:t>
            </a:r>
            <a:r>
              <a:rPr kumimoji="1" lang="en-US" altLang="zh-CN" b="0" dirty="0">
                <a:latin typeface="Helvetica"/>
                <a:cs typeface="Helvetica"/>
              </a:rPr>
              <a:t>memory</a:t>
            </a:r>
            <a:r>
              <a:rPr kumimoji="1" lang="zh-CN" altLang="en-US" b="0" dirty="0">
                <a:latin typeface="Helvetica"/>
                <a:cs typeface="Helvetica"/>
              </a:rPr>
              <a:t> </a:t>
            </a:r>
            <a:r>
              <a:rPr kumimoji="1" lang="en-US" altLang="zh-CN" b="0" dirty="0" err="1">
                <a:latin typeface="Helvetica"/>
                <a:cs typeface="Helvetica"/>
              </a:rPr>
              <a:t>transalation</a:t>
            </a:r>
            <a:endParaRPr kumimoji="1" lang="zh-CN" altLang="en-US" b="0" dirty="0">
              <a:latin typeface="Helvetica"/>
              <a:cs typeface="Helvetica"/>
            </a:endParaRPr>
          </a:p>
        </p:txBody>
      </p:sp>
    </p:spTree>
    <p:extLst>
      <p:ext uri="{BB962C8B-B14F-4D97-AF65-F5344CB8AC3E}">
        <p14:creationId xmlns:p14="http://schemas.microsoft.com/office/powerpoint/2010/main" val="1788116386"/>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C66688C2-D490-43C0-254A-995CA07411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5" name="圆角矩形 4">
            <a:extLst>
              <a:ext uri="{FF2B5EF4-FFF2-40B4-BE49-F238E27FC236}">
                <a16:creationId xmlns:a16="http://schemas.microsoft.com/office/drawing/2014/main" id="{0B702DE7-37C1-509A-D548-6848453291D8}"/>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TLB</a:t>
            </a:r>
            <a:endParaRPr kumimoji="1" lang="zh-CN" altLang="en-US" b="0" dirty="0">
              <a:latin typeface="Helvetica"/>
              <a:cs typeface="Helvetica"/>
            </a:endParaRPr>
          </a:p>
        </p:txBody>
      </p:sp>
      <p:sp>
        <p:nvSpPr>
          <p:cNvPr id="6" name="圆角矩形 5">
            <a:extLst>
              <a:ext uri="{FF2B5EF4-FFF2-40B4-BE49-F238E27FC236}">
                <a16:creationId xmlns:a16="http://schemas.microsoft.com/office/drawing/2014/main" id="{6871266D-4CC0-DA40-F8AC-01600576DBED}"/>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Capacity</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cost</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speed</a:t>
            </a:r>
            <a:endParaRPr kumimoji="1" lang="zh-CN" altLang="en-US" b="0" dirty="0">
              <a:latin typeface="Helvetica"/>
              <a:cs typeface="Helvetica"/>
            </a:endParaRPr>
          </a:p>
        </p:txBody>
      </p:sp>
    </p:spTree>
    <p:extLst>
      <p:ext uri="{BB962C8B-B14F-4D97-AF65-F5344CB8AC3E}">
        <p14:creationId xmlns:p14="http://schemas.microsoft.com/office/powerpoint/2010/main" val="144678321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形 52">
            <a:extLst>
              <a:ext uri="{FF2B5EF4-FFF2-40B4-BE49-F238E27FC236}">
                <a16:creationId xmlns:a16="http://schemas.microsoft.com/office/drawing/2014/main" id="{06D53F55-1BD0-05DA-844E-6EEA5C4F76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720917"/>
            <a:ext cx="9144000" cy="5416165"/>
          </a:xfrm>
          <a:prstGeom prst="rect">
            <a:avLst/>
          </a:prstGeom>
        </p:spPr>
      </p:pic>
      <p:sp>
        <p:nvSpPr>
          <p:cNvPr id="54" name="圆角矩形 53">
            <a:extLst>
              <a:ext uri="{FF2B5EF4-FFF2-40B4-BE49-F238E27FC236}">
                <a16:creationId xmlns:a16="http://schemas.microsoft.com/office/drawing/2014/main" id="{80C5AE59-0C47-117C-2FE1-D38FF994CC11}"/>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Virtual</a:t>
            </a:r>
            <a:r>
              <a:rPr kumimoji="1" lang="zh-CN" altLang="en-US" b="0" dirty="0">
                <a:latin typeface="Helvetica"/>
                <a:cs typeface="Helvetica"/>
              </a:rPr>
              <a:t> </a:t>
            </a:r>
            <a:r>
              <a:rPr kumimoji="1" lang="en-US" altLang="zh-CN" b="0" dirty="0">
                <a:latin typeface="Helvetica"/>
                <a:cs typeface="Helvetica"/>
              </a:rPr>
              <a:t>memory</a:t>
            </a:r>
            <a:r>
              <a:rPr kumimoji="1" lang="zh-CN" altLang="en-US" b="0" dirty="0">
                <a:latin typeface="Helvetica"/>
                <a:cs typeface="Helvetica"/>
              </a:rPr>
              <a:t> </a:t>
            </a:r>
            <a:r>
              <a:rPr kumimoji="1" lang="en-US" altLang="zh-CN" b="0" dirty="0">
                <a:latin typeface="Helvetica"/>
                <a:cs typeface="Helvetica"/>
              </a:rPr>
              <a:t>cache</a:t>
            </a:r>
            <a:endParaRPr kumimoji="1" lang="zh-CN" altLang="en-US" b="0" dirty="0">
              <a:latin typeface="Helvetica"/>
              <a:cs typeface="Helvetica"/>
            </a:endParaRPr>
          </a:p>
        </p:txBody>
      </p:sp>
      <p:sp>
        <p:nvSpPr>
          <p:cNvPr id="55" name="圆角矩形 54">
            <a:extLst>
              <a:ext uri="{FF2B5EF4-FFF2-40B4-BE49-F238E27FC236}">
                <a16:creationId xmlns:a16="http://schemas.microsoft.com/office/drawing/2014/main" id="{6DECDBEB-ACA2-DC8C-FC96-DF44F4DCCFD5}"/>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Capacity</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cost</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speed</a:t>
            </a:r>
          </a:p>
          <a:p>
            <a:pPr algn="ctr"/>
            <a:r>
              <a:rPr kumimoji="1" lang="en-US" altLang="zh-CN" b="0" dirty="0">
                <a:latin typeface="Helvetica"/>
                <a:cs typeface="Helvetica"/>
              </a:rPr>
              <a:t>I/O</a:t>
            </a:r>
            <a:r>
              <a:rPr kumimoji="1" lang="zh-CN" altLang="en-US" b="0" dirty="0">
                <a:latin typeface="Helvetica"/>
                <a:cs typeface="Helvetica"/>
              </a:rPr>
              <a:t> </a:t>
            </a:r>
            <a:r>
              <a:rPr kumimoji="1" lang="en-US" altLang="zh-CN" b="0" dirty="0">
                <a:latin typeface="Helvetica"/>
                <a:cs typeface="Helvetica"/>
              </a:rPr>
              <a:t>too</a:t>
            </a:r>
            <a:r>
              <a:rPr kumimoji="1" lang="zh-CN" altLang="en-US" b="0" dirty="0">
                <a:latin typeface="Helvetica"/>
                <a:cs typeface="Helvetica"/>
              </a:rPr>
              <a:t> </a:t>
            </a:r>
            <a:r>
              <a:rPr kumimoji="1" lang="en-US" altLang="zh-CN" b="0" dirty="0">
                <a:latin typeface="Helvetica"/>
                <a:cs typeface="Helvetica"/>
              </a:rPr>
              <a:t>slow</a:t>
            </a:r>
            <a:endParaRPr kumimoji="1" lang="zh-CN" altLang="en-US" b="0" dirty="0">
              <a:latin typeface="Helvetica"/>
              <a:cs typeface="Helvetica"/>
            </a:endParaRPr>
          </a:p>
        </p:txBody>
      </p:sp>
    </p:spTree>
    <p:extLst>
      <p:ext uri="{BB962C8B-B14F-4D97-AF65-F5344CB8AC3E}">
        <p14:creationId xmlns:p14="http://schemas.microsoft.com/office/powerpoint/2010/main" val="313723249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066CA42C-BE14-D334-A0B9-D821FD8FAC7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90580"/>
            <a:ext cx="9144000" cy="5476839"/>
          </a:xfrm>
          <a:prstGeom prst="rect">
            <a:avLst/>
          </a:prstGeom>
        </p:spPr>
      </p:pic>
      <p:sp>
        <p:nvSpPr>
          <p:cNvPr id="3" name="圆角矩形 2">
            <a:extLst>
              <a:ext uri="{FF2B5EF4-FFF2-40B4-BE49-F238E27FC236}">
                <a16:creationId xmlns:a16="http://schemas.microsoft.com/office/drawing/2014/main" id="{E859B2B3-3058-FF57-3FD5-1EBB09E4EF0A}"/>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FS</a:t>
            </a:r>
            <a:r>
              <a:rPr kumimoji="1" lang="zh-CN" altLang="en-US" b="0" dirty="0">
                <a:latin typeface="Helvetica"/>
                <a:cs typeface="Helvetica"/>
              </a:rPr>
              <a:t> </a:t>
            </a:r>
            <a:r>
              <a:rPr kumimoji="1" lang="en-US" altLang="zh-CN" b="0" dirty="0">
                <a:latin typeface="Helvetica"/>
                <a:cs typeface="Helvetica"/>
              </a:rPr>
              <a:t>cache</a:t>
            </a:r>
            <a:endParaRPr kumimoji="1" lang="zh-CN" altLang="en-US" b="0" dirty="0">
              <a:latin typeface="Helvetica"/>
              <a:cs typeface="Helvetica"/>
            </a:endParaRPr>
          </a:p>
        </p:txBody>
      </p:sp>
      <p:sp>
        <p:nvSpPr>
          <p:cNvPr id="5" name="圆角矩形 4">
            <a:extLst>
              <a:ext uri="{FF2B5EF4-FFF2-40B4-BE49-F238E27FC236}">
                <a16:creationId xmlns:a16="http://schemas.microsoft.com/office/drawing/2014/main" id="{3248CDCC-E0AE-9F55-C19E-795D02B20B1C}"/>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Capacity</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cost</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speed</a:t>
            </a:r>
            <a:endParaRPr kumimoji="1" lang="zh-CN" altLang="en-US" b="0" dirty="0">
              <a:latin typeface="Helvetica"/>
              <a:cs typeface="Helvetica"/>
            </a:endParaRPr>
          </a:p>
        </p:txBody>
      </p:sp>
    </p:spTree>
    <p:extLst>
      <p:ext uri="{BB962C8B-B14F-4D97-AF65-F5344CB8AC3E}">
        <p14:creationId xmlns:p14="http://schemas.microsoft.com/office/powerpoint/2010/main" val="3117187406"/>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D160DE-4A43-4B9A-550F-A76A608B777A}"/>
              </a:ext>
            </a:extLst>
          </p:cNvPr>
          <p:cNvSpPr>
            <a:spLocks noGrp="1"/>
          </p:cNvSpPr>
          <p:nvPr>
            <p:ph type="title"/>
          </p:nvPr>
        </p:nvSpPr>
        <p:spPr/>
        <p:txBody>
          <a:bodyPr/>
          <a:lstStyle/>
          <a:p>
            <a:endParaRPr kumimoji="1" lang="zh-CN" altLang="en-US" dirty="0"/>
          </a:p>
        </p:txBody>
      </p:sp>
      <p:pic>
        <p:nvPicPr>
          <p:cNvPr id="4" name="图片 3">
            <a:extLst>
              <a:ext uri="{FF2B5EF4-FFF2-40B4-BE49-F238E27FC236}">
                <a16:creationId xmlns:a16="http://schemas.microsoft.com/office/drawing/2014/main" id="{8B4FBAC5-DD48-B5DF-5D6F-0B024FB1FAD4}"/>
              </a:ext>
            </a:extLst>
          </p:cNvPr>
          <p:cNvPicPr>
            <a:picLocks noChangeAspect="1"/>
          </p:cNvPicPr>
          <p:nvPr/>
        </p:nvPicPr>
        <p:blipFill>
          <a:blip r:embed="rId2"/>
          <a:stretch>
            <a:fillRect/>
          </a:stretch>
        </p:blipFill>
        <p:spPr>
          <a:xfrm>
            <a:off x="685800" y="1058285"/>
            <a:ext cx="7772400" cy="4741430"/>
          </a:xfrm>
          <a:prstGeom prst="rect">
            <a:avLst/>
          </a:prstGeom>
        </p:spPr>
      </p:pic>
      <p:sp>
        <p:nvSpPr>
          <p:cNvPr id="5" name="圆角矩形 4">
            <a:extLst>
              <a:ext uri="{FF2B5EF4-FFF2-40B4-BE49-F238E27FC236}">
                <a16:creationId xmlns:a16="http://schemas.microsoft.com/office/drawing/2014/main" id="{ABB1BFDA-CEBC-76EE-8D2B-3D163396499A}"/>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Challenges</a:t>
            </a:r>
            <a:r>
              <a:rPr kumimoji="1" lang="zh-CN" altLang="en-US" b="0" dirty="0">
                <a:latin typeface="Helvetica"/>
                <a:cs typeface="Helvetica"/>
              </a:rPr>
              <a:t> </a:t>
            </a:r>
            <a:r>
              <a:rPr kumimoji="1" lang="en-US" altLang="zh-CN" b="0" dirty="0">
                <a:latin typeface="Helvetica"/>
                <a:cs typeface="Helvetica"/>
              </a:rPr>
              <a:t>in</a:t>
            </a:r>
            <a:r>
              <a:rPr kumimoji="1" lang="zh-CN" altLang="en-US" b="0" dirty="0">
                <a:latin typeface="Helvetica"/>
                <a:cs typeface="Helvetica"/>
              </a:rPr>
              <a:t> </a:t>
            </a:r>
            <a:r>
              <a:rPr kumimoji="1" lang="en-US" altLang="zh-CN" b="0" dirty="0">
                <a:latin typeface="Helvetica"/>
                <a:cs typeface="Helvetica"/>
              </a:rPr>
              <a:t>Caching</a:t>
            </a:r>
            <a:endParaRPr kumimoji="1" lang="zh-CN" altLang="en-US" b="0" dirty="0">
              <a:latin typeface="Helvetica"/>
              <a:cs typeface="Helvetica"/>
            </a:endParaRPr>
          </a:p>
        </p:txBody>
      </p:sp>
      <p:sp>
        <p:nvSpPr>
          <p:cNvPr id="6" name="圆角矩形 5">
            <a:extLst>
              <a:ext uri="{FF2B5EF4-FFF2-40B4-BE49-F238E27FC236}">
                <a16:creationId xmlns:a16="http://schemas.microsoft.com/office/drawing/2014/main" id="{9EDD3F57-97B2-05A4-485A-E70CE6CB110D}"/>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Write</a:t>
            </a:r>
            <a:r>
              <a:rPr kumimoji="1" lang="zh-CN" altLang="en-US" b="0" dirty="0">
                <a:latin typeface="Helvetica"/>
                <a:cs typeface="Helvetica"/>
              </a:rPr>
              <a:t> </a:t>
            </a:r>
            <a:r>
              <a:rPr kumimoji="1" lang="en-US" altLang="zh-CN" b="0" dirty="0">
                <a:latin typeface="Helvetica"/>
                <a:cs typeface="Helvetica"/>
              </a:rPr>
              <a:t>policy</a:t>
            </a:r>
            <a:r>
              <a:rPr kumimoji="1" lang="zh-CN" altLang="en-US" b="0" dirty="0">
                <a:latin typeface="Helvetica"/>
                <a:cs typeface="Helvetica"/>
              </a:rPr>
              <a:t> </a:t>
            </a:r>
            <a:r>
              <a:rPr kumimoji="1" lang="en-US" altLang="zh-CN" b="0" dirty="0">
                <a:latin typeface="Helvetica"/>
                <a:cs typeface="Helvetica"/>
              </a:rPr>
              <a:t>may</a:t>
            </a:r>
            <a:r>
              <a:rPr kumimoji="1" lang="zh-CN" altLang="en-US" b="0" dirty="0">
                <a:latin typeface="Helvetica"/>
                <a:cs typeface="Helvetica"/>
              </a:rPr>
              <a:t> </a:t>
            </a:r>
            <a:r>
              <a:rPr kumimoji="1" lang="en-US" altLang="zh-CN" b="0" dirty="0">
                <a:latin typeface="Helvetica"/>
                <a:cs typeface="Helvetica"/>
              </a:rPr>
              <a:t>lead</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a:latin typeface="Helvetica"/>
                <a:cs typeface="Helvetica"/>
              </a:rPr>
              <a:t>inconsistency</a:t>
            </a:r>
            <a:endParaRPr kumimoji="1" lang="zh-CN" altLang="en-US" b="0" dirty="0">
              <a:latin typeface="Helvetica"/>
              <a:cs typeface="Helvetica"/>
            </a:endParaRPr>
          </a:p>
        </p:txBody>
      </p:sp>
    </p:spTree>
    <p:extLst>
      <p:ext uri="{BB962C8B-B14F-4D97-AF65-F5344CB8AC3E}">
        <p14:creationId xmlns:p14="http://schemas.microsoft.com/office/powerpoint/2010/main" val="65370013"/>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04AEB50-5F79-D898-DC6A-30B489E50F38}"/>
              </a:ext>
            </a:extLst>
          </p:cNvPr>
          <p:cNvSpPr>
            <a:spLocks noGrp="1"/>
          </p:cNvSpPr>
          <p:nvPr>
            <p:ph idx="1"/>
          </p:nvPr>
        </p:nvSpPr>
        <p:spPr>
          <a:xfrm>
            <a:off x="609600" y="914400"/>
            <a:ext cx="7924800" cy="2743200"/>
          </a:xfrm>
        </p:spPr>
        <p:txBody>
          <a:bodyPr/>
          <a:lstStyle/>
          <a:p>
            <a:pPr marL="0" indent="0">
              <a:buNone/>
            </a:pPr>
            <a:endParaRPr lang="en-US" altLang="zh-CN" dirty="0"/>
          </a:p>
          <a:p>
            <a:pPr marL="0" indent="0">
              <a:buNone/>
            </a:pPr>
            <a:endParaRPr lang="en-US" altLang="zh-CN" dirty="0"/>
          </a:p>
          <a:p>
            <a:pPr marL="0" indent="0">
              <a:buNone/>
            </a:pPr>
            <a:r>
              <a:rPr lang="en-US" altLang="zh-CN" dirty="0"/>
              <a:t>There are only two hard things in Computer Science: cache invalidation and naming things. </a:t>
            </a:r>
          </a:p>
          <a:p>
            <a:pPr marL="0" indent="0">
              <a:buNone/>
            </a:pPr>
            <a:endParaRPr lang="en-US" altLang="zh-CN" dirty="0"/>
          </a:p>
          <a:p>
            <a:pPr marL="0" indent="0">
              <a:buNone/>
            </a:pPr>
            <a:r>
              <a:rPr lang="en-US" altLang="zh-CN" dirty="0"/>
              <a:t>-- Phil </a:t>
            </a:r>
            <a:r>
              <a:rPr lang="en-US" altLang="zh-CN" dirty="0" err="1"/>
              <a:t>Karlton</a:t>
            </a:r>
            <a:r>
              <a:rPr lang="en-US" altLang="zh-CN" dirty="0"/>
              <a:t>.</a:t>
            </a:r>
            <a:endParaRPr kumimoji="1" lang="zh-CN" altLang="en-US" dirty="0"/>
          </a:p>
        </p:txBody>
      </p:sp>
      <p:sp>
        <p:nvSpPr>
          <p:cNvPr id="4" name="内容占位符 2">
            <a:extLst>
              <a:ext uri="{FF2B5EF4-FFF2-40B4-BE49-F238E27FC236}">
                <a16:creationId xmlns:a16="http://schemas.microsoft.com/office/drawing/2014/main" id="{D63616DA-C2AF-291E-542A-F64EEAE1B14E}"/>
              </a:ext>
            </a:extLst>
          </p:cNvPr>
          <p:cNvSpPr txBox="1">
            <a:spLocks/>
          </p:cNvSpPr>
          <p:nvPr/>
        </p:nvSpPr>
        <p:spPr bwMode="auto">
          <a:xfrm>
            <a:off x="685800" y="4572000"/>
            <a:ext cx="7924800" cy="160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0478" tIns="44445" rIns="90478" bIns="44445" numCol="1" anchor="t" anchorCtr="0" compatLnSpc="1">
            <a:prstTxWarp prst="textNoShape">
              <a:avLst/>
            </a:prstTxWarp>
          </a:bodyPr>
          <a:lst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a:lstStyle>
          <a:p>
            <a:pPr marL="0" indent="0">
              <a:buFontTx/>
              <a:buNone/>
            </a:pPr>
            <a:endParaRPr lang="en-US" altLang="zh-CN" b="0" kern="0" dirty="0"/>
          </a:p>
          <a:p>
            <a:pPr marL="0" indent="0">
              <a:buFontTx/>
              <a:buNone/>
            </a:pPr>
            <a:r>
              <a:rPr lang="en-US" altLang="zh-CN" b="0" kern="0" dirty="0"/>
              <a:t>The</a:t>
            </a:r>
            <a:r>
              <a:rPr lang="zh-CN" altLang="en-US" b="0" kern="0" dirty="0"/>
              <a:t> </a:t>
            </a:r>
            <a:r>
              <a:rPr lang="en-US" altLang="zh-CN" b="0" kern="0" dirty="0"/>
              <a:t>third</a:t>
            </a:r>
            <a:r>
              <a:rPr lang="zh-CN" altLang="en-US" b="0" kern="0" dirty="0"/>
              <a:t> </a:t>
            </a:r>
            <a:r>
              <a:rPr lang="en-US" altLang="zh-CN" b="0" kern="0" dirty="0"/>
              <a:t>one?</a:t>
            </a:r>
          </a:p>
          <a:p>
            <a:pPr marL="0" indent="0">
              <a:buFontTx/>
              <a:buNone/>
            </a:pPr>
            <a:r>
              <a:rPr lang="en-US" altLang="zh-CN" b="0" kern="0" dirty="0"/>
              <a:t>Off-by-one</a:t>
            </a:r>
            <a:r>
              <a:rPr lang="zh-CN" altLang="en-US" b="0" kern="0" dirty="0"/>
              <a:t> </a:t>
            </a:r>
            <a:r>
              <a:rPr lang="en-US" altLang="zh-CN" b="0" kern="0" dirty="0"/>
              <a:t>error</a:t>
            </a:r>
          </a:p>
        </p:txBody>
      </p:sp>
    </p:spTree>
    <p:extLst>
      <p:ext uri="{BB962C8B-B14F-4D97-AF65-F5344CB8AC3E}">
        <p14:creationId xmlns:p14="http://schemas.microsoft.com/office/powerpoint/2010/main" val="2927740513"/>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6561138" y="865188"/>
            <a:ext cx="2430462" cy="1466850"/>
            <a:chOff x="2304" y="672"/>
            <a:chExt cx="1824" cy="1127"/>
          </a:xfrm>
        </p:grpSpPr>
        <p:grpSp>
          <p:nvGrpSpPr>
            <p:cNvPr id="13352" name="Group 3"/>
            <p:cNvGrpSpPr>
              <a:grpSpLocks/>
            </p:cNvGrpSpPr>
            <p:nvPr/>
          </p:nvGrpSpPr>
          <p:grpSpPr bwMode="auto">
            <a:xfrm>
              <a:off x="2304" y="672"/>
              <a:ext cx="981" cy="1127"/>
              <a:chOff x="2043" y="624"/>
              <a:chExt cx="981" cy="1127"/>
            </a:xfrm>
          </p:grpSpPr>
          <p:pic>
            <p:nvPicPr>
              <p:cNvPr id="13358" name="Picture 4" descr="MCj0398435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 y="624"/>
                <a:ext cx="981" cy="8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359" name="Text Box 5"/>
              <p:cNvSpPr txBox="1">
                <a:spLocks noChangeArrowheads="1"/>
              </p:cNvSpPr>
              <p:nvPr/>
            </p:nvSpPr>
            <p:spPr bwMode="auto">
              <a:xfrm>
                <a:off x="2070" y="1469"/>
                <a:ext cx="677" cy="2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Server</a:t>
                </a:r>
              </a:p>
            </p:txBody>
          </p:sp>
        </p:grpSp>
        <p:grpSp>
          <p:nvGrpSpPr>
            <p:cNvPr id="13353" name="Group 6"/>
            <p:cNvGrpSpPr>
              <a:grpSpLocks/>
            </p:cNvGrpSpPr>
            <p:nvPr/>
          </p:nvGrpSpPr>
          <p:grpSpPr bwMode="auto">
            <a:xfrm>
              <a:off x="3600" y="720"/>
              <a:ext cx="528" cy="864"/>
              <a:chOff x="3600" y="720"/>
              <a:chExt cx="528" cy="864"/>
            </a:xfrm>
          </p:grpSpPr>
          <p:sp>
            <p:nvSpPr>
              <p:cNvPr id="13355" name="AutoShape 7"/>
              <p:cNvSpPr>
                <a:spLocks noChangeArrowheads="1"/>
              </p:cNvSpPr>
              <p:nvPr/>
            </p:nvSpPr>
            <p:spPr bwMode="auto">
              <a:xfrm>
                <a:off x="3600" y="720"/>
                <a:ext cx="336" cy="483"/>
              </a:xfrm>
              <a:prstGeom prst="can">
                <a:avLst>
                  <a:gd name="adj" fmla="val 35711"/>
                </a:avLst>
              </a:prstGeom>
              <a:solidFill>
                <a:srgbClr val="FF66CC"/>
              </a:solidFill>
              <a:ln w="38100">
                <a:solidFill>
                  <a:schemeClr val="tx1"/>
                </a:solidFill>
                <a:round/>
                <a:headEnd/>
                <a:tailEnd/>
              </a:ln>
            </p:spPr>
            <p:txBody>
              <a:bodyPr wrap="none" lIns="90478" tIns="44445" rIns="90478" bIns="44445" anchor="ctr"/>
              <a:lstStyle/>
              <a:p>
                <a:endParaRPr lang="zh-CN">
                  <a:latin typeface="Helvetica" charset="0"/>
                </a:endParaRPr>
              </a:p>
            </p:txBody>
          </p:sp>
          <p:sp>
            <p:nvSpPr>
              <p:cNvPr id="13356" name="AutoShape 8"/>
              <p:cNvSpPr>
                <a:spLocks noChangeArrowheads="1"/>
              </p:cNvSpPr>
              <p:nvPr/>
            </p:nvSpPr>
            <p:spPr bwMode="auto">
              <a:xfrm>
                <a:off x="3697" y="912"/>
                <a:ext cx="335" cy="479"/>
              </a:xfrm>
              <a:prstGeom prst="can">
                <a:avLst>
                  <a:gd name="adj" fmla="val 35713"/>
                </a:avLst>
              </a:prstGeom>
              <a:solidFill>
                <a:srgbClr val="FF66CC"/>
              </a:solidFill>
              <a:ln w="38100">
                <a:solidFill>
                  <a:schemeClr val="tx1"/>
                </a:solidFill>
                <a:round/>
                <a:headEnd/>
                <a:tailEnd/>
              </a:ln>
            </p:spPr>
            <p:txBody>
              <a:bodyPr wrap="none" lIns="90478" tIns="44445" rIns="90478" bIns="44445" anchor="ctr"/>
              <a:lstStyle/>
              <a:p>
                <a:endParaRPr lang="zh-CN">
                  <a:latin typeface="Helvetica" charset="0"/>
                </a:endParaRPr>
              </a:p>
            </p:txBody>
          </p:sp>
          <p:sp>
            <p:nvSpPr>
              <p:cNvPr id="13357" name="AutoShape 9"/>
              <p:cNvSpPr>
                <a:spLocks noChangeArrowheads="1"/>
              </p:cNvSpPr>
              <p:nvPr/>
            </p:nvSpPr>
            <p:spPr bwMode="auto">
              <a:xfrm>
                <a:off x="3792" y="1104"/>
                <a:ext cx="336" cy="483"/>
              </a:xfrm>
              <a:prstGeom prst="can">
                <a:avLst>
                  <a:gd name="adj" fmla="val 35711"/>
                </a:avLst>
              </a:prstGeom>
              <a:solidFill>
                <a:srgbClr val="FF66CC"/>
              </a:solidFill>
              <a:ln w="38100">
                <a:solidFill>
                  <a:schemeClr val="tx1"/>
                </a:solidFill>
                <a:round/>
                <a:headEnd/>
                <a:tailEnd/>
              </a:ln>
            </p:spPr>
            <p:txBody>
              <a:bodyPr wrap="none" lIns="90478" tIns="44445" rIns="90478" bIns="44445" anchor="ctr"/>
              <a:lstStyle/>
              <a:p>
                <a:endParaRPr lang="zh-CN">
                  <a:latin typeface="Helvetica" charset="0"/>
                </a:endParaRPr>
              </a:p>
            </p:txBody>
          </p:sp>
        </p:grpSp>
        <p:sp>
          <p:nvSpPr>
            <p:cNvPr id="13354" name="AutoShape 10"/>
            <p:cNvSpPr>
              <a:spLocks noChangeArrowheads="1"/>
            </p:cNvSpPr>
            <p:nvPr/>
          </p:nvSpPr>
          <p:spPr bwMode="auto">
            <a:xfrm>
              <a:off x="3072" y="1007"/>
              <a:ext cx="430" cy="337"/>
            </a:xfrm>
            <a:prstGeom prst="leftRightArrow">
              <a:avLst>
                <a:gd name="adj1" fmla="val 50000"/>
                <a:gd name="adj2" fmla="val 25714"/>
              </a:avLst>
            </a:prstGeom>
            <a:solidFill>
              <a:srgbClr val="00FFFF"/>
            </a:solidFill>
            <a:ln w="38100">
              <a:solidFill>
                <a:schemeClr val="tx1"/>
              </a:solidFill>
              <a:miter lim="800000"/>
              <a:headEnd/>
              <a:tailEnd/>
            </a:ln>
          </p:spPr>
          <p:txBody>
            <a:bodyPr wrap="none" lIns="90478" tIns="44445" rIns="90478" bIns="44445" anchor="ctr"/>
            <a:lstStyle/>
            <a:p>
              <a:endParaRPr lang="zh-CN">
                <a:latin typeface="Helvetica" charset="0"/>
              </a:endParaRPr>
            </a:p>
          </p:txBody>
        </p:sp>
      </p:grpSp>
      <p:sp>
        <p:nvSpPr>
          <p:cNvPr id="1068043" name="Rectangle 11"/>
          <p:cNvSpPr>
            <a:spLocks noChangeArrowheads="1"/>
          </p:cNvSpPr>
          <p:nvPr/>
        </p:nvSpPr>
        <p:spPr bwMode="auto">
          <a:xfrm>
            <a:off x="7475538" y="1855788"/>
            <a:ext cx="838200" cy="914400"/>
          </a:xfrm>
          <a:prstGeom prst="rect">
            <a:avLst/>
          </a:prstGeom>
          <a:solidFill>
            <a:srgbClr val="53FB25"/>
          </a:solidFill>
          <a:ln w="38100">
            <a:solidFill>
              <a:schemeClr val="tx1"/>
            </a:solidFill>
            <a:miter lim="800000"/>
            <a:headEnd/>
            <a:tailEnd/>
          </a:ln>
        </p:spPr>
        <p:txBody>
          <a:bodyPr wrap="none" lIns="90478" tIns="44445" rIns="90478" bIns="44445"/>
          <a:lstStyle/>
          <a:p>
            <a:pPr marL="228600" indent="-228600"/>
            <a:r>
              <a:rPr lang="en-US" altLang="zh-CN" sz="2000">
                <a:latin typeface="Helvetica" charset="0"/>
              </a:rPr>
              <a:t>cache</a:t>
            </a:r>
            <a:endParaRPr lang="en-US" altLang="zh-CN">
              <a:latin typeface="Helvetica" charset="0"/>
            </a:endParaRPr>
          </a:p>
        </p:txBody>
      </p:sp>
      <p:sp>
        <p:nvSpPr>
          <p:cNvPr id="1068044" name="Rectangle 12"/>
          <p:cNvSpPr>
            <a:spLocks noChangeArrowheads="1"/>
          </p:cNvSpPr>
          <p:nvPr/>
        </p:nvSpPr>
        <p:spPr bwMode="auto">
          <a:xfrm>
            <a:off x="7531100" y="2236788"/>
            <a:ext cx="698500" cy="368300"/>
          </a:xfrm>
          <a:prstGeom prst="rect">
            <a:avLst/>
          </a:prstGeom>
          <a:solidFill>
            <a:srgbClr val="FFFFFF"/>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F1:V1</a:t>
            </a:r>
          </a:p>
        </p:txBody>
      </p:sp>
      <p:sp>
        <p:nvSpPr>
          <p:cNvPr id="1068045" name="Rectangle 13"/>
          <p:cNvSpPr>
            <a:spLocks noChangeArrowheads="1"/>
          </p:cNvSpPr>
          <p:nvPr/>
        </p:nvSpPr>
        <p:spPr bwMode="auto">
          <a:xfrm>
            <a:off x="7531100" y="2236788"/>
            <a:ext cx="698500" cy="368300"/>
          </a:xfrm>
          <a:prstGeom prst="rect">
            <a:avLst/>
          </a:prstGeom>
          <a:solidFill>
            <a:srgbClr val="FFFF00"/>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F1:V2</a:t>
            </a:r>
          </a:p>
        </p:txBody>
      </p:sp>
      <p:sp>
        <p:nvSpPr>
          <p:cNvPr id="1068046" name="Cloud"/>
          <p:cNvSpPr>
            <a:spLocks noChangeAspect="1" noEditPoints="1" noChangeArrowheads="1"/>
          </p:cNvSpPr>
          <p:nvPr/>
        </p:nvSpPr>
        <p:spPr bwMode="auto">
          <a:xfrm>
            <a:off x="4275138" y="636588"/>
            <a:ext cx="2286000" cy="2590800"/>
          </a:xfrm>
          <a:custGeom>
            <a:avLst/>
            <a:gdLst>
              <a:gd name="T0" fmla="*/ 750464 w 21600"/>
              <a:gd name="T1" fmla="*/ 155376037 h 21600"/>
              <a:gd name="T2" fmla="*/ 120967509 w 21600"/>
              <a:gd name="T3" fmla="*/ 310421028 h 21600"/>
              <a:gd name="T4" fmla="*/ 241733300 w 21600"/>
              <a:gd name="T5" fmla="*/ 155376037 h 21600"/>
              <a:gd name="T6" fmla="*/ 120967509 w 21600"/>
              <a:gd name="T7" fmla="*/ 17767492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1" y="8613"/>
                  <a:pt x="-1" y="10137"/>
                </a:cubicBezTo>
                <a:cubicBezTo>
                  <a:pt x="-1" y="11192"/>
                  <a:pt x="409" y="12169"/>
                  <a:pt x="1074" y="12702"/>
                </a:cubicBezTo>
                <a:lnTo>
                  <a:pt x="1063" y="12668"/>
                </a:lnTo>
                <a:cubicBezTo>
                  <a:pt x="685" y="13217"/>
                  <a:pt x="474" y="13940"/>
                  <a:pt x="474" y="14690"/>
                </a:cubicBezTo>
                <a:cubicBezTo>
                  <a:pt x="475" y="16325"/>
                  <a:pt x="1451" y="17650"/>
                  <a:pt x="2655" y="17650"/>
                </a:cubicBezTo>
                <a:cubicBezTo>
                  <a:pt x="2739" y="17650"/>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1"/>
                  <a:pt x="16758" y="-1"/>
                </a:cubicBezTo>
                <a:cubicBezTo>
                  <a:pt x="16044" y="-1"/>
                  <a:pt x="15367" y="426"/>
                  <a:pt x="14905" y="1165"/>
                </a:cubicBezTo>
                <a:lnTo>
                  <a:pt x="14909" y="1170"/>
                </a:lnTo>
                <a:cubicBezTo>
                  <a:pt x="14497" y="432"/>
                  <a:pt x="13855" y="-1"/>
                  <a:pt x="13174" y="-1"/>
                </a:cubicBezTo>
                <a:cubicBezTo>
                  <a:pt x="12347" y="-1"/>
                  <a:pt x="11590" y="637"/>
                  <a:pt x="11221" y="1645"/>
                </a:cubicBezTo>
                <a:lnTo>
                  <a:pt x="11229" y="1694"/>
                </a:lnTo>
                <a:cubicBezTo>
                  <a:pt x="10730" y="1024"/>
                  <a:pt x="10058" y="649"/>
                  <a:pt x="9358" y="649"/>
                </a:cubicBezTo>
                <a:cubicBezTo>
                  <a:pt x="8372" y="649"/>
                  <a:pt x="7466" y="1391"/>
                  <a:pt x="7003" y="2578"/>
                </a:cubicBezTo>
                <a:lnTo>
                  <a:pt x="6995" y="2602"/>
                </a:lnTo>
                <a:cubicBezTo>
                  <a:pt x="6477" y="2189"/>
                  <a:pt x="5888" y="1971"/>
                  <a:pt x="5288" y="1971"/>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FFFF"/>
          </a:solidFill>
          <a:ln w="9525">
            <a:solidFill>
              <a:srgbClr val="000000"/>
            </a:solidFill>
            <a:miter lim="800000"/>
            <a:headEnd/>
            <a:tailEnd/>
          </a:ln>
          <a:effectLst>
            <a:outerShdw blurRad="63500" dist="107763" dir="2700000" algn="ctr" rotWithShape="0">
              <a:srgbClr val="000000">
                <a:alpha val="74997"/>
              </a:srgbClr>
            </a:outerShdw>
          </a:effectLst>
        </p:spPr>
        <p:txBody>
          <a:bodyPr anchor="ctr"/>
          <a:lstStyle/>
          <a:p>
            <a:endParaRPr lang="zh-CN" altLang="en-US"/>
          </a:p>
        </p:txBody>
      </p:sp>
      <p:sp>
        <p:nvSpPr>
          <p:cNvPr id="13319" name="Rectangle 15"/>
          <p:cNvSpPr>
            <a:spLocks noGrp="1" noChangeArrowheads="1"/>
          </p:cNvSpPr>
          <p:nvPr>
            <p:ph type="title"/>
          </p:nvPr>
        </p:nvSpPr>
        <p:spPr>
          <a:xfrm>
            <a:off x="609600" y="152400"/>
            <a:ext cx="7848600" cy="533400"/>
          </a:xfrm>
        </p:spPr>
        <p:txBody>
          <a:bodyPr/>
          <a:lstStyle/>
          <a:p>
            <a:r>
              <a:rPr lang="en-US" altLang="ko-KR">
                <a:latin typeface="Helvetica" charset="0"/>
                <a:ea typeface="MS PGothic" charset="0"/>
              </a:rPr>
              <a:t>Use Caching to Reduce Network Load</a:t>
            </a:r>
          </a:p>
        </p:txBody>
      </p:sp>
      <p:grpSp>
        <p:nvGrpSpPr>
          <p:cNvPr id="5" name="Group 16"/>
          <p:cNvGrpSpPr>
            <a:grpSpLocks/>
          </p:cNvGrpSpPr>
          <p:nvPr/>
        </p:nvGrpSpPr>
        <p:grpSpPr bwMode="auto">
          <a:xfrm>
            <a:off x="4419600" y="938213"/>
            <a:ext cx="2057400" cy="366712"/>
            <a:chOff x="1877" y="446"/>
            <a:chExt cx="1060" cy="231"/>
          </a:xfrm>
        </p:grpSpPr>
        <p:sp>
          <p:nvSpPr>
            <p:cNvPr id="13350" name="Line 17"/>
            <p:cNvSpPr>
              <a:spLocks noChangeShapeType="1"/>
            </p:cNvSpPr>
            <p:nvPr/>
          </p:nvSpPr>
          <p:spPr bwMode="auto">
            <a:xfrm flipV="1">
              <a:off x="1877" y="628"/>
              <a:ext cx="1060"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3351" name="Text Box 18"/>
            <p:cNvSpPr txBox="1">
              <a:spLocks noChangeArrowheads="1"/>
            </p:cNvSpPr>
            <p:nvPr/>
          </p:nvSpPr>
          <p:spPr bwMode="auto">
            <a:xfrm>
              <a:off x="2055" y="446"/>
              <a:ext cx="74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Read (RPC)</a:t>
              </a:r>
            </a:p>
          </p:txBody>
        </p:sp>
      </p:grpSp>
      <p:grpSp>
        <p:nvGrpSpPr>
          <p:cNvPr id="6" name="Group 19"/>
          <p:cNvGrpSpPr>
            <a:grpSpLocks/>
          </p:cNvGrpSpPr>
          <p:nvPr/>
        </p:nvGrpSpPr>
        <p:grpSpPr bwMode="auto">
          <a:xfrm>
            <a:off x="4359275" y="1322388"/>
            <a:ext cx="2043113" cy="366712"/>
            <a:chOff x="1877" y="912"/>
            <a:chExt cx="1060" cy="231"/>
          </a:xfrm>
        </p:grpSpPr>
        <p:sp>
          <p:nvSpPr>
            <p:cNvPr id="13348" name="Line 20"/>
            <p:cNvSpPr>
              <a:spLocks noChangeShapeType="1"/>
            </p:cNvSpPr>
            <p:nvPr/>
          </p:nvSpPr>
          <p:spPr bwMode="auto">
            <a:xfrm flipH="1" flipV="1">
              <a:off x="1877" y="932"/>
              <a:ext cx="1060"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sp>
          <p:nvSpPr>
            <p:cNvPr id="13349" name="Text Box 21"/>
            <p:cNvSpPr txBox="1">
              <a:spLocks noChangeArrowheads="1"/>
            </p:cNvSpPr>
            <p:nvPr/>
          </p:nvSpPr>
          <p:spPr bwMode="auto">
            <a:xfrm>
              <a:off x="2012" y="912"/>
              <a:ext cx="853"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Return (Data)</a:t>
              </a:r>
            </a:p>
          </p:txBody>
        </p:sp>
      </p:grpSp>
      <p:grpSp>
        <p:nvGrpSpPr>
          <p:cNvPr id="7" name="Group 22"/>
          <p:cNvGrpSpPr>
            <a:grpSpLocks/>
          </p:cNvGrpSpPr>
          <p:nvPr/>
        </p:nvGrpSpPr>
        <p:grpSpPr bwMode="auto">
          <a:xfrm rot="-1562509">
            <a:off x="4560888" y="1897063"/>
            <a:ext cx="1982787" cy="366712"/>
            <a:chOff x="2016" y="1322"/>
            <a:chExt cx="1036" cy="231"/>
          </a:xfrm>
        </p:grpSpPr>
        <p:sp>
          <p:nvSpPr>
            <p:cNvPr id="13346" name="Text Box 23"/>
            <p:cNvSpPr txBox="1">
              <a:spLocks noChangeArrowheads="1"/>
            </p:cNvSpPr>
            <p:nvPr/>
          </p:nvSpPr>
          <p:spPr bwMode="auto">
            <a:xfrm>
              <a:off x="2176" y="1322"/>
              <a:ext cx="763"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Write (RPC)</a:t>
              </a:r>
            </a:p>
          </p:txBody>
        </p:sp>
        <p:sp>
          <p:nvSpPr>
            <p:cNvPr id="13347" name="Line 24"/>
            <p:cNvSpPr>
              <a:spLocks noChangeShapeType="1"/>
            </p:cNvSpPr>
            <p:nvPr/>
          </p:nvSpPr>
          <p:spPr bwMode="auto">
            <a:xfrm flipV="1">
              <a:off x="2015" y="1530"/>
              <a:ext cx="1036"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grpSp>
      <p:grpSp>
        <p:nvGrpSpPr>
          <p:cNvPr id="8" name="Group 25"/>
          <p:cNvGrpSpPr>
            <a:grpSpLocks/>
          </p:cNvGrpSpPr>
          <p:nvPr/>
        </p:nvGrpSpPr>
        <p:grpSpPr bwMode="auto">
          <a:xfrm rot="-1590130">
            <a:off x="4672013" y="2374900"/>
            <a:ext cx="2030412" cy="376238"/>
            <a:chOff x="2016" y="1844"/>
            <a:chExt cx="1036" cy="237"/>
          </a:xfrm>
        </p:grpSpPr>
        <p:sp>
          <p:nvSpPr>
            <p:cNvPr id="13344" name="Text Box 26"/>
            <p:cNvSpPr txBox="1">
              <a:spLocks noChangeArrowheads="1"/>
            </p:cNvSpPr>
            <p:nvPr/>
          </p:nvSpPr>
          <p:spPr bwMode="auto">
            <a:xfrm>
              <a:off x="2032" y="1850"/>
              <a:ext cx="1006"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ACK</a:t>
              </a:r>
            </a:p>
          </p:txBody>
        </p:sp>
        <p:sp>
          <p:nvSpPr>
            <p:cNvPr id="13345" name="Line 27"/>
            <p:cNvSpPr>
              <a:spLocks noChangeShapeType="1"/>
            </p:cNvSpPr>
            <p:nvPr/>
          </p:nvSpPr>
          <p:spPr bwMode="auto">
            <a:xfrm flipH="1" flipV="1">
              <a:off x="2015" y="1843"/>
              <a:ext cx="1036" cy="0"/>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lIns="90478" tIns="44445" rIns="90478" bIns="44445" anchor="ctr"/>
            <a:lstStyle/>
            <a:p>
              <a:endParaRPr lang="en-US"/>
            </a:p>
          </p:txBody>
        </p:sp>
      </p:grpSp>
      <p:grpSp>
        <p:nvGrpSpPr>
          <p:cNvPr id="13324" name="Group 28"/>
          <p:cNvGrpSpPr>
            <a:grpSpLocks/>
          </p:cNvGrpSpPr>
          <p:nvPr/>
        </p:nvGrpSpPr>
        <p:grpSpPr bwMode="auto">
          <a:xfrm>
            <a:off x="3055938" y="609600"/>
            <a:ext cx="1295400" cy="1400175"/>
            <a:chOff x="528" y="768"/>
            <a:chExt cx="973" cy="1076"/>
          </a:xfrm>
        </p:grpSpPr>
        <p:pic>
          <p:nvPicPr>
            <p:cNvPr id="13342" name="Picture 29" descr="MCj0398505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768"/>
              <a:ext cx="973" cy="7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343" name="Text Box 30"/>
            <p:cNvSpPr txBox="1">
              <a:spLocks noChangeArrowheads="1"/>
            </p:cNvSpPr>
            <p:nvPr/>
          </p:nvSpPr>
          <p:spPr bwMode="auto">
            <a:xfrm>
              <a:off x="614" y="1562"/>
              <a:ext cx="628" cy="2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Client</a:t>
              </a:r>
            </a:p>
          </p:txBody>
        </p:sp>
      </p:grpSp>
      <p:sp>
        <p:nvSpPr>
          <p:cNvPr id="1068063" name="Rectangle 31"/>
          <p:cNvSpPr>
            <a:spLocks noChangeArrowheads="1"/>
          </p:cNvSpPr>
          <p:nvPr/>
        </p:nvSpPr>
        <p:spPr bwMode="auto">
          <a:xfrm>
            <a:off x="2217738" y="941388"/>
            <a:ext cx="838200" cy="838200"/>
          </a:xfrm>
          <a:prstGeom prst="rect">
            <a:avLst/>
          </a:prstGeom>
          <a:solidFill>
            <a:srgbClr val="53FB25"/>
          </a:solidFill>
          <a:ln w="38100">
            <a:solidFill>
              <a:schemeClr val="tx1"/>
            </a:solidFill>
            <a:miter lim="800000"/>
            <a:headEnd/>
            <a:tailEnd/>
          </a:ln>
        </p:spPr>
        <p:txBody>
          <a:bodyPr wrap="none" lIns="90478" tIns="44445" rIns="90478" bIns="44445"/>
          <a:lstStyle/>
          <a:p>
            <a:pPr marL="228600" indent="-228600"/>
            <a:r>
              <a:rPr lang="en-US" altLang="zh-CN" sz="2000">
                <a:latin typeface="Helvetica" charset="0"/>
              </a:rPr>
              <a:t>cache</a:t>
            </a:r>
            <a:endParaRPr lang="en-US" altLang="zh-CN">
              <a:latin typeface="Helvetica" charset="0"/>
            </a:endParaRPr>
          </a:p>
        </p:txBody>
      </p:sp>
      <p:grpSp>
        <p:nvGrpSpPr>
          <p:cNvPr id="13326" name="Group 32"/>
          <p:cNvGrpSpPr>
            <a:grpSpLocks/>
          </p:cNvGrpSpPr>
          <p:nvPr/>
        </p:nvGrpSpPr>
        <p:grpSpPr bwMode="auto">
          <a:xfrm>
            <a:off x="3360738" y="2160588"/>
            <a:ext cx="1296987" cy="1400175"/>
            <a:chOff x="528" y="768"/>
            <a:chExt cx="973" cy="1075"/>
          </a:xfrm>
        </p:grpSpPr>
        <p:pic>
          <p:nvPicPr>
            <p:cNvPr id="13340" name="Picture 33" descr="MCj0398505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768"/>
              <a:ext cx="973" cy="7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341" name="Text Box 34"/>
            <p:cNvSpPr txBox="1">
              <a:spLocks noChangeArrowheads="1"/>
            </p:cNvSpPr>
            <p:nvPr/>
          </p:nvSpPr>
          <p:spPr bwMode="auto">
            <a:xfrm>
              <a:off x="614" y="1561"/>
              <a:ext cx="629" cy="2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1800">
                  <a:latin typeface="Helvetica" charset="0"/>
                </a:rPr>
                <a:t>Client</a:t>
              </a:r>
            </a:p>
          </p:txBody>
        </p:sp>
      </p:grpSp>
      <p:sp>
        <p:nvSpPr>
          <p:cNvPr id="1068067" name="Rectangle 35"/>
          <p:cNvSpPr>
            <a:spLocks noChangeArrowheads="1"/>
          </p:cNvSpPr>
          <p:nvPr/>
        </p:nvSpPr>
        <p:spPr bwMode="auto">
          <a:xfrm>
            <a:off x="2522538" y="2617788"/>
            <a:ext cx="838200" cy="838200"/>
          </a:xfrm>
          <a:prstGeom prst="rect">
            <a:avLst/>
          </a:prstGeom>
          <a:solidFill>
            <a:srgbClr val="53FB25"/>
          </a:solidFill>
          <a:ln w="38100">
            <a:solidFill>
              <a:schemeClr val="tx1"/>
            </a:solidFill>
            <a:miter lim="800000"/>
            <a:headEnd/>
            <a:tailEnd/>
          </a:ln>
        </p:spPr>
        <p:txBody>
          <a:bodyPr wrap="none" lIns="90478" tIns="44445" rIns="90478" bIns="44445"/>
          <a:lstStyle/>
          <a:p>
            <a:pPr marL="228600" indent="-228600"/>
            <a:r>
              <a:rPr lang="en-US" altLang="zh-CN" sz="2000">
                <a:latin typeface="Helvetica" charset="0"/>
              </a:rPr>
              <a:t>cache</a:t>
            </a:r>
            <a:endParaRPr lang="en-US" altLang="zh-CN">
              <a:latin typeface="Helvetica" charset="0"/>
            </a:endParaRPr>
          </a:p>
        </p:txBody>
      </p:sp>
      <p:sp>
        <p:nvSpPr>
          <p:cNvPr id="1068068" name="Rectangle 36"/>
          <p:cNvSpPr>
            <a:spLocks noGrp="1" noChangeArrowheads="1"/>
          </p:cNvSpPr>
          <p:nvPr>
            <p:ph type="body" idx="1"/>
          </p:nvPr>
        </p:nvSpPr>
        <p:spPr>
          <a:xfrm>
            <a:off x="152400" y="3657600"/>
            <a:ext cx="8902700" cy="3043238"/>
          </a:xfrm>
        </p:spPr>
        <p:txBody>
          <a:bodyPr/>
          <a:lstStyle/>
          <a:p>
            <a:pPr>
              <a:lnSpc>
                <a:spcPct val="80000"/>
              </a:lnSpc>
              <a:spcBef>
                <a:spcPct val="15000"/>
              </a:spcBef>
            </a:pPr>
            <a:r>
              <a:rPr lang="en-US" altLang="ko-KR" dirty="0">
                <a:latin typeface="Helvetica" charset="0"/>
                <a:ea typeface="Gulim" charset="0"/>
                <a:cs typeface="Gulim" charset="0"/>
              </a:rPr>
              <a:t>Advantage: if open/read/write/close can be done locally, don’t need to do any network traffic…fast!</a:t>
            </a:r>
          </a:p>
          <a:p>
            <a:pPr>
              <a:lnSpc>
                <a:spcPct val="80000"/>
              </a:lnSpc>
              <a:spcBef>
                <a:spcPct val="15000"/>
              </a:spcBef>
            </a:pPr>
            <a:endParaRPr lang="en-US" altLang="ko-KR" dirty="0">
              <a:latin typeface="Helvetica" charset="0"/>
              <a:ea typeface="Gulim" charset="0"/>
              <a:cs typeface="Gulim" charset="0"/>
            </a:endParaRPr>
          </a:p>
          <a:p>
            <a:pPr>
              <a:lnSpc>
                <a:spcPct val="80000"/>
              </a:lnSpc>
              <a:spcBef>
                <a:spcPct val="15000"/>
              </a:spcBef>
            </a:pPr>
            <a:r>
              <a:rPr lang="en-US" altLang="ko-KR" dirty="0">
                <a:latin typeface="Helvetica" charset="0"/>
                <a:ea typeface="Gulim" charset="0"/>
                <a:cs typeface="Gulim" charset="0"/>
              </a:rPr>
              <a:t>Problems: </a:t>
            </a:r>
          </a:p>
          <a:p>
            <a:pPr lvl="1">
              <a:lnSpc>
                <a:spcPct val="80000"/>
              </a:lnSpc>
              <a:spcBef>
                <a:spcPct val="15000"/>
              </a:spcBef>
            </a:pPr>
            <a:r>
              <a:rPr lang="en-US" altLang="ko-KR" dirty="0">
                <a:latin typeface="Helvetica" charset="0"/>
                <a:ea typeface="Gulim" charset="0"/>
                <a:cs typeface="Gulim" charset="0"/>
              </a:rPr>
              <a:t>Cache consistency!</a:t>
            </a:r>
          </a:p>
          <a:p>
            <a:pPr lvl="2">
              <a:lnSpc>
                <a:spcPct val="80000"/>
              </a:lnSpc>
              <a:spcBef>
                <a:spcPct val="15000"/>
              </a:spcBef>
            </a:pPr>
            <a:r>
              <a:rPr lang="en-US" altLang="ko-KR" dirty="0">
                <a:latin typeface="Helvetica" charset="0"/>
                <a:ea typeface="Gulim" charset="0"/>
                <a:cs typeface="Gulim" charset="0"/>
              </a:rPr>
              <a:t>Client caches not consistent with server/each other</a:t>
            </a:r>
          </a:p>
          <a:p>
            <a:pPr lvl="2">
              <a:lnSpc>
                <a:spcPct val="80000"/>
              </a:lnSpc>
              <a:spcBef>
                <a:spcPct val="15000"/>
              </a:spcBef>
            </a:pPr>
            <a:r>
              <a:rPr lang="en-US" altLang="ko-KR" dirty="0">
                <a:latin typeface="Helvetica" charset="0"/>
                <a:ea typeface="Gulim" charset="0"/>
                <a:cs typeface="Gulim" charset="0"/>
              </a:rPr>
              <a:t>Who</a:t>
            </a:r>
            <a:r>
              <a:rPr lang="zh-CN" altLang="en-US" dirty="0">
                <a:latin typeface="Helvetica" charset="0"/>
                <a:ea typeface="Gulim" charset="0"/>
                <a:cs typeface="Gulim" charset="0"/>
              </a:rPr>
              <a:t> </a:t>
            </a:r>
            <a:r>
              <a:rPr lang="en-US" altLang="zh-CN" dirty="0">
                <a:latin typeface="Helvetica" charset="0"/>
                <a:ea typeface="Gulim" charset="0"/>
                <a:cs typeface="Gulim" charset="0"/>
              </a:rPr>
              <a:t>cached</a:t>
            </a:r>
            <a:r>
              <a:rPr lang="zh-CN" altLang="en-US" dirty="0">
                <a:latin typeface="Helvetica" charset="0"/>
                <a:ea typeface="Gulim" charset="0"/>
                <a:cs typeface="Gulim" charset="0"/>
              </a:rPr>
              <a:t> </a:t>
            </a:r>
            <a:r>
              <a:rPr lang="en-US" altLang="zh-CN" dirty="0">
                <a:latin typeface="Helvetica" charset="0"/>
                <a:ea typeface="Gulim" charset="0"/>
                <a:cs typeface="Gulim" charset="0"/>
              </a:rPr>
              <a:t>what?</a:t>
            </a:r>
            <a:endParaRPr lang="en-US" altLang="ko-KR" dirty="0">
              <a:latin typeface="Helvetica" charset="0"/>
              <a:ea typeface="Gulim" charset="0"/>
              <a:cs typeface="Gulim" charset="0"/>
            </a:endParaRPr>
          </a:p>
          <a:p>
            <a:pPr lvl="1">
              <a:lnSpc>
                <a:spcPct val="80000"/>
              </a:lnSpc>
              <a:spcBef>
                <a:spcPct val="15000"/>
              </a:spcBef>
            </a:pPr>
            <a:r>
              <a:rPr lang="en-US" altLang="ko-KR" dirty="0">
                <a:latin typeface="Helvetica" charset="0"/>
                <a:ea typeface="Gulim" charset="0"/>
                <a:cs typeface="Gulim" charset="0"/>
              </a:rPr>
              <a:t>Failure:</a:t>
            </a:r>
          </a:p>
          <a:p>
            <a:pPr lvl="2">
              <a:lnSpc>
                <a:spcPct val="80000"/>
              </a:lnSpc>
              <a:spcBef>
                <a:spcPct val="15000"/>
              </a:spcBef>
            </a:pPr>
            <a:r>
              <a:rPr lang="en-US" altLang="ko-KR" dirty="0">
                <a:latin typeface="Helvetica" charset="0"/>
                <a:ea typeface="Gulim" charset="0"/>
                <a:cs typeface="Gulim" charset="0"/>
              </a:rPr>
              <a:t>Client caches have data not committed at server</a:t>
            </a:r>
          </a:p>
        </p:txBody>
      </p:sp>
      <p:sp>
        <p:nvSpPr>
          <p:cNvPr id="1068069" name="Rectangle 37"/>
          <p:cNvSpPr>
            <a:spLocks noChangeArrowheads="1"/>
          </p:cNvSpPr>
          <p:nvPr/>
        </p:nvSpPr>
        <p:spPr bwMode="auto">
          <a:xfrm>
            <a:off x="2286000" y="1322388"/>
            <a:ext cx="698500" cy="368300"/>
          </a:xfrm>
          <a:prstGeom prst="rect">
            <a:avLst/>
          </a:prstGeom>
          <a:solidFill>
            <a:srgbClr val="FFFFFF"/>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F1:V1</a:t>
            </a:r>
          </a:p>
        </p:txBody>
      </p:sp>
      <p:sp>
        <p:nvSpPr>
          <p:cNvPr id="1068070" name="Rectangle 38"/>
          <p:cNvSpPr>
            <a:spLocks noChangeArrowheads="1"/>
          </p:cNvSpPr>
          <p:nvPr/>
        </p:nvSpPr>
        <p:spPr bwMode="auto">
          <a:xfrm>
            <a:off x="2590800" y="2998788"/>
            <a:ext cx="698500" cy="368300"/>
          </a:xfrm>
          <a:prstGeom prst="rect">
            <a:avLst/>
          </a:prstGeom>
          <a:solidFill>
            <a:srgbClr val="FFFF00"/>
          </a:solidFill>
          <a:ln w="38100">
            <a:solidFill>
              <a:schemeClr val="tx1"/>
            </a:solidFill>
            <a:miter lim="800000"/>
            <a:headEnd/>
            <a:tailEnd/>
          </a:ln>
        </p:spPr>
        <p:txBody>
          <a:bodyPr wrap="none" lIns="90478" tIns="44445" rIns="90478" bIns="44445" anchor="ctr"/>
          <a:lstStyle/>
          <a:p>
            <a:pPr marL="228600" indent="-228600"/>
            <a:r>
              <a:rPr lang="en-US" altLang="zh-CN" sz="1600">
                <a:latin typeface="Helvetica" charset="0"/>
              </a:rPr>
              <a:t>F1:V2</a:t>
            </a:r>
          </a:p>
        </p:txBody>
      </p:sp>
      <p:sp>
        <p:nvSpPr>
          <p:cNvPr id="1068071" name="Text Box 39"/>
          <p:cNvSpPr txBox="1">
            <a:spLocks noChangeArrowheads="1"/>
          </p:cNvSpPr>
          <p:nvPr/>
        </p:nvSpPr>
        <p:spPr bwMode="auto">
          <a:xfrm>
            <a:off x="196850" y="788988"/>
            <a:ext cx="1216025"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p>
        </p:txBody>
      </p:sp>
      <p:sp>
        <p:nvSpPr>
          <p:cNvPr id="1068072" name="Text Box 40"/>
          <p:cNvSpPr txBox="1">
            <a:spLocks noChangeArrowheads="1"/>
          </p:cNvSpPr>
          <p:nvPr/>
        </p:nvSpPr>
        <p:spPr bwMode="auto">
          <a:xfrm>
            <a:off x="204788" y="2870200"/>
            <a:ext cx="1281112"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write(f1)</a:t>
            </a:r>
          </a:p>
        </p:txBody>
      </p:sp>
      <p:sp>
        <p:nvSpPr>
          <p:cNvPr id="1068073" name="Text Box 41"/>
          <p:cNvSpPr txBox="1">
            <a:spLocks noChangeArrowheads="1"/>
          </p:cNvSpPr>
          <p:nvPr/>
        </p:nvSpPr>
        <p:spPr bwMode="auto">
          <a:xfrm>
            <a:off x="1284288" y="776288"/>
            <a:ext cx="80645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sym typeface="Symbol" charset="0"/>
              </a:rPr>
              <a:t>V1</a:t>
            </a:r>
          </a:p>
        </p:txBody>
      </p:sp>
      <p:sp>
        <p:nvSpPr>
          <p:cNvPr id="1068074" name="Text Box 42"/>
          <p:cNvSpPr txBox="1">
            <a:spLocks noChangeArrowheads="1"/>
          </p:cNvSpPr>
          <p:nvPr/>
        </p:nvSpPr>
        <p:spPr bwMode="auto">
          <a:xfrm>
            <a:off x="201613" y="1093788"/>
            <a:ext cx="184150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r>
              <a:rPr lang="en-US" altLang="zh-CN" sz="2200">
                <a:latin typeface="Helvetica" charset="0"/>
                <a:sym typeface="Symbol" charset="0"/>
              </a:rPr>
              <a:t>V1</a:t>
            </a:r>
          </a:p>
        </p:txBody>
      </p:sp>
      <p:sp>
        <p:nvSpPr>
          <p:cNvPr id="1068075" name="Text Box 43"/>
          <p:cNvSpPr txBox="1">
            <a:spLocks noChangeArrowheads="1"/>
          </p:cNvSpPr>
          <p:nvPr/>
        </p:nvSpPr>
        <p:spPr bwMode="auto">
          <a:xfrm>
            <a:off x="201613" y="1398588"/>
            <a:ext cx="184150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r>
              <a:rPr lang="en-US" altLang="zh-CN" sz="2200">
                <a:latin typeface="Helvetica" charset="0"/>
                <a:sym typeface="Symbol" charset="0"/>
              </a:rPr>
              <a:t>V1</a:t>
            </a:r>
          </a:p>
        </p:txBody>
      </p:sp>
      <p:sp>
        <p:nvSpPr>
          <p:cNvPr id="1068076" name="Text Box 44"/>
          <p:cNvSpPr txBox="1">
            <a:spLocks noChangeArrowheads="1"/>
          </p:cNvSpPr>
          <p:nvPr/>
        </p:nvSpPr>
        <p:spPr bwMode="auto">
          <a:xfrm>
            <a:off x="1328738" y="2846388"/>
            <a:ext cx="900112"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sym typeface="Symbol" charset="0"/>
              </a:rPr>
              <a:t>OK</a:t>
            </a:r>
          </a:p>
        </p:txBody>
      </p:sp>
      <p:sp>
        <p:nvSpPr>
          <p:cNvPr id="1068077" name="Text Box 45"/>
          <p:cNvSpPr txBox="1">
            <a:spLocks noChangeArrowheads="1"/>
          </p:cNvSpPr>
          <p:nvPr/>
        </p:nvSpPr>
        <p:spPr bwMode="auto">
          <a:xfrm>
            <a:off x="201613" y="1727200"/>
            <a:ext cx="184150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r>
              <a:rPr lang="en-US" altLang="zh-CN" sz="2200">
                <a:latin typeface="Helvetica" charset="0"/>
                <a:sym typeface="Symbol" charset="0"/>
              </a:rPr>
              <a:t>V1</a:t>
            </a:r>
          </a:p>
        </p:txBody>
      </p:sp>
      <p:sp>
        <p:nvSpPr>
          <p:cNvPr id="1068078" name="Text Box 46"/>
          <p:cNvSpPr txBox="1">
            <a:spLocks noChangeArrowheads="1"/>
          </p:cNvSpPr>
          <p:nvPr/>
        </p:nvSpPr>
        <p:spPr bwMode="auto">
          <a:xfrm>
            <a:off x="201613" y="3151188"/>
            <a:ext cx="1841500" cy="42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478" tIns="44445" rIns="90478" bIns="44445">
            <a:spAutoFit/>
          </a:bodyPr>
          <a:lstStyle>
            <a:lvl1pPr marL="228600" indent="-228600" eaLnBrk="0" hangingPunct="0">
              <a:defRPr sz="2400" b="1">
                <a:solidFill>
                  <a:schemeClr val="tx1"/>
                </a:solidFill>
                <a:latin typeface="Comic Sans MS" charset="0"/>
                <a:ea typeface="MS PGothic" charset="0"/>
                <a:cs typeface="MS PGothic" charset="0"/>
              </a:defRPr>
            </a:lvl1pPr>
            <a:lvl2pPr marL="742950" indent="-285750" eaLnBrk="0" hangingPunct="0">
              <a:defRPr sz="2400" b="1">
                <a:solidFill>
                  <a:schemeClr val="tx1"/>
                </a:solidFill>
                <a:latin typeface="Comic Sans MS" charset="0"/>
                <a:ea typeface="MS PGothic" charset="0"/>
                <a:cs typeface="MS PGothic" charset="0"/>
              </a:defRPr>
            </a:lvl2pPr>
            <a:lvl3pPr marL="1143000" indent="-228600" eaLnBrk="0" hangingPunct="0">
              <a:defRPr sz="2400" b="1">
                <a:solidFill>
                  <a:schemeClr val="tx1"/>
                </a:solidFill>
                <a:latin typeface="Comic Sans MS" charset="0"/>
                <a:ea typeface="MS PGothic" charset="0"/>
                <a:cs typeface="MS PGothic" charset="0"/>
              </a:defRPr>
            </a:lvl3pPr>
            <a:lvl4pPr marL="1600200" indent="-228600" eaLnBrk="0" hangingPunct="0">
              <a:defRPr sz="2400" b="1">
                <a:solidFill>
                  <a:schemeClr val="tx1"/>
                </a:solidFill>
                <a:latin typeface="Comic Sans MS" charset="0"/>
                <a:ea typeface="MS PGothic" charset="0"/>
                <a:cs typeface="MS PGothic" charset="0"/>
              </a:defRPr>
            </a:lvl4pPr>
            <a:lvl5pPr marL="2057400" indent="-228600" eaLnBrk="0" hangingPunct="0">
              <a:defRPr sz="2400" b="1">
                <a:solidFill>
                  <a:schemeClr val="tx1"/>
                </a:solidFill>
                <a:latin typeface="Comic Sans MS" charset="0"/>
                <a:ea typeface="MS PGothic" charset="0"/>
                <a:cs typeface="MS PGothic" charset="0"/>
              </a:defRPr>
            </a:lvl5pPr>
            <a:lvl6pPr marL="25146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6pPr>
            <a:lvl7pPr marL="29718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7pPr>
            <a:lvl8pPr marL="34290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8pPr>
            <a:lvl9pPr marL="3886200" indent="-228600" eaLnBrk="0" fontAlgn="base" hangingPunct="0">
              <a:spcBef>
                <a:spcPct val="0"/>
              </a:spcBef>
              <a:spcAft>
                <a:spcPct val="0"/>
              </a:spcAft>
              <a:defRPr sz="2400" b="1">
                <a:solidFill>
                  <a:schemeClr val="tx1"/>
                </a:solidFill>
                <a:latin typeface="Comic Sans MS" charset="0"/>
                <a:ea typeface="MS PGothic" charset="0"/>
                <a:cs typeface="MS PGothic" charset="0"/>
              </a:defRPr>
            </a:lvl9pPr>
          </a:lstStyle>
          <a:p>
            <a:pPr algn="ctr" eaLnBrk="1" hangingPunct="1">
              <a:spcBef>
                <a:spcPct val="20000"/>
              </a:spcBef>
            </a:pPr>
            <a:r>
              <a:rPr lang="en-US" altLang="zh-CN" sz="2200">
                <a:latin typeface="Helvetica" charset="0"/>
              </a:rPr>
              <a:t>read(f1)</a:t>
            </a:r>
            <a:r>
              <a:rPr lang="en-US" altLang="zh-CN" sz="2200">
                <a:latin typeface="Helvetica" charset="0"/>
                <a:sym typeface="Symbol" charset="0"/>
              </a:rPr>
              <a:t>V2</a:t>
            </a:r>
          </a:p>
        </p:txBody>
      </p:sp>
      <p:sp>
        <p:nvSpPr>
          <p:cNvPr id="47" name="圆角矩形 46">
            <a:extLst>
              <a:ext uri="{FF2B5EF4-FFF2-40B4-BE49-F238E27FC236}">
                <a16:creationId xmlns:a16="http://schemas.microsoft.com/office/drawing/2014/main" id="{132DBB21-CD1E-22C9-4BE4-3750D2BEB887}"/>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Consistency</a:t>
            </a:r>
            <a:r>
              <a:rPr kumimoji="1" lang="zh-CN" altLang="en-US" b="0" dirty="0">
                <a:latin typeface="Helvetica"/>
                <a:cs typeface="Helvetica"/>
              </a:rPr>
              <a:t> </a:t>
            </a:r>
            <a:r>
              <a:rPr kumimoji="1" lang="en-US" altLang="zh-CN" b="0" dirty="0">
                <a:latin typeface="Helvetica"/>
                <a:cs typeface="Helvetica"/>
              </a:rPr>
              <a:t>/</a:t>
            </a:r>
            <a:r>
              <a:rPr kumimoji="1" lang="zh-CN" altLang="en-US" b="0" dirty="0">
                <a:latin typeface="Helvetica"/>
                <a:cs typeface="Helvetica"/>
              </a:rPr>
              <a:t> </a:t>
            </a:r>
            <a:r>
              <a:rPr kumimoji="1" lang="en-US" altLang="zh-CN" b="0" dirty="0">
                <a:latin typeface="Helvetica"/>
                <a:cs typeface="Helvetica"/>
              </a:rPr>
              <a:t>invalidation</a:t>
            </a:r>
            <a:endParaRPr kumimoji="1" lang="zh-CN" altLang="en-US" b="0" dirty="0">
              <a:latin typeface="Helvetica"/>
              <a:cs typeface="Helvetica"/>
            </a:endParaRPr>
          </a:p>
        </p:txBody>
      </p:sp>
      <p:sp>
        <p:nvSpPr>
          <p:cNvPr id="48" name="圆角矩形 47">
            <a:extLst>
              <a:ext uri="{FF2B5EF4-FFF2-40B4-BE49-F238E27FC236}">
                <a16:creationId xmlns:a16="http://schemas.microsoft.com/office/drawing/2014/main" id="{AC028086-0F63-B575-7A96-6FF7ADF1B682}"/>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Use</a:t>
            </a:r>
            <a:r>
              <a:rPr kumimoji="1" lang="zh-CN" altLang="en-US" b="0" dirty="0">
                <a:latin typeface="Helvetica"/>
                <a:cs typeface="Helvetica"/>
              </a:rPr>
              <a:t> </a:t>
            </a:r>
            <a:r>
              <a:rPr kumimoji="1" lang="en-US" altLang="zh-CN" b="0" dirty="0">
                <a:latin typeface="Helvetica"/>
                <a:cs typeface="Helvetica"/>
              </a:rPr>
              <a:t>cache</a:t>
            </a:r>
            <a:r>
              <a:rPr kumimoji="1" lang="zh-CN" altLang="en-US" b="0" dirty="0">
                <a:latin typeface="Helvetica"/>
                <a:cs typeface="Helvetica"/>
              </a:rPr>
              <a:t> </a:t>
            </a:r>
            <a:r>
              <a:rPr kumimoji="1" lang="en-US" altLang="zh-CN" b="0" dirty="0">
                <a:latin typeface="Helvetica"/>
                <a:cs typeface="Helvetica"/>
              </a:rPr>
              <a:t>leads</a:t>
            </a:r>
            <a:r>
              <a:rPr kumimoji="1" lang="zh-CN" altLang="en-US" b="0" dirty="0">
                <a:latin typeface="Helvetica"/>
                <a:cs typeface="Helvetica"/>
              </a:rPr>
              <a:t> </a:t>
            </a:r>
            <a:r>
              <a:rPr kumimoji="1" lang="en-US" altLang="zh-CN" b="0" dirty="0">
                <a:latin typeface="Helvetica"/>
                <a:cs typeface="Helvetica"/>
              </a:rPr>
              <a:t>to</a:t>
            </a:r>
            <a:r>
              <a:rPr kumimoji="1" lang="zh-CN" altLang="en-US" b="0" dirty="0">
                <a:latin typeface="Helvetica"/>
                <a:cs typeface="Helvetica"/>
              </a:rPr>
              <a:t> </a:t>
            </a:r>
            <a:r>
              <a:rPr kumimoji="1" lang="en-US" altLang="zh-CN" b="0" dirty="0">
                <a:latin typeface="Helvetica"/>
                <a:cs typeface="Helvetica"/>
              </a:rPr>
              <a:t>extra</a:t>
            </a:r>
            <a:r>
              <a:rPr kumimoji="1" lang="zh-CN" altLang="en-US" b="0" dirty="0">
                <a:latin typeface="Helvetica"/>
                <a:cs typeface="Helvetica"/>
              </a:rPr>
              <a:t> </a:t>
            </a:r>
            <a:r>
              <a:rPr kumimoji="1" lang="en-US" altLang="zh-CN" b="0" dirty="0">
                <a:latin typeface="Helvetica"/>
                <a:cs typeface="Helvetica"/>
              </a:rPr>
              <a:t>issues</a:t>
            </a:r>
          </a:p>
        </p:txBody>
      </p:sp>
    </p:spTree>
    <p:extLst>
      <p:ext uri="{BB962C8B-B14F-4D97-AF65-F5344CB8AC3E}">
        <p14:creationId xmlns:p14="http://schemas.microsoft.com/office/powerpoint/2010/main" val="819829619"/>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BD7D6A27-112A-FD4A-9F6A-E454F83BCDC7}"/>
              </a:ext>
            </a:extLst>
          </p:cNvPr>
          <p:cNvSpPr>
            <a:spLocks noGrp="1" noChangeArrowheads="1"/>
          </p:cNvSpPr>
          <p:nvPr>
            <p:ph type="title"/>
          </p:nvPr>
        </p:nvSpPr>
        <p:spPr/>
        <p:txBody>
          <a:bodyPr/>
          <a:lstStyle/>
          <a:p>
            <a:r>
              <a:rPr lang="en-US" altLang="zh-CN" dirty="0"/>
              <a:t>Popular</a:t>
            </a:r>
            <a:r>
              <a:rPr lang="zh-CN" altLang="en-US" dirty="0"/>
              <a:t> </a:t>
            </a:r>
            <a:r>
              <a:rPr lang="en-US" altLang="en-US" dirty="0"/>
              <a:t>Semantics of File Sharing</a:t>
            </a:r>
          </a:p>
        </p:txBody>
      </p:sp>
      <p:sp>
        <p:nvSpPr>
          <p:cNvPr id="124931" name="Slide Number Placeholder 6">
            <a:extLst>
              <a:ext uri="{FF2B5EF4-FFF2-40B4-BE49-F238E27FC236}">
                <a16:creationId xmlns:a16="http://schemas.microsoft.com/office/drawing/2014/main" id="{7A4AE575-6AD3-8E4C-BB9B-607D0B55FE49}"/>
              </a:ext>
            </a:extLst>
          </p:cNvPr>
          <p:cNvSpPr>
            <a:spLocks noGrp="1"/>
          </p:cNvSpPr>
          <p:nvPr>
            <p:ph type="sldNum" sz="quarter" idx="12"/>
          </p:nvPr>
        </p:nvSpPr>
        <p:spPr>
          <a:xfrm>
            <a:off x="861060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ClrTx/>
              <a:buFontTx/>
              <a:buNone/>
            </a:pPr>
            <a:fld id="{F5D08561-63DB-7B43-8526-C5AEAED4EA36}" type="slidenum">
              <a:rPr lang="en-CN" smtClean="0"/>
              <a:pPr>
                <a:spcBef>
                  <a:spcPct val="0"/>
                </a:spcBef>
                <a:buClrTx/>
                <a:buFontTx/>
                <a:buNone/>
              </a:pPr>
              <a:t>62</a:t>
            </a:fld>
            <a:endParaRPr lang="en-US" altLang="en-US" sz="1050"/>
          </a:p>
        </p:txBody>
      </p:sp>
      <p:pic>
        <p:nvPicPr>
          <p:cNvPr id="124932" name="Picture 4" descr="11-17T">
            <a:extLst>
              <a:ext uri="{FF2B5EF4-FFF2-40B4-BE49-F238E27FC236}">
                <a16:creationId xmlns:a16="http://schemas.microsoft.com/office/drawing/2014/main" id="{9E295769-C787-EE48-9EBB-10C2D1B21CEA}"/>
              </a:ext>
            </a:extLst>
          </p:cNvPr>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358739" y="2416647"/>
            <a:ext cx="8426522" cy="2024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a:extLst>
              <a:ext uri="{FF2B5EF4-FFF2-40B4-BE49-F238E27FC236}">
                <a16:creationId xmlns:a16="http://schemas.microsoft.com/office/drawing/2014/main" id="{CCF35BC8-40BF-AA6F-29BD-3D6420E07BED}"/>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Definition</a:t>
            </a:r>
            <a:r>
              <a:rPr kumimoji="1" lang="zh-CN" altLang="en-US" b="0" dirty="0">
                <a:latin typeface="Helvetica"/>
                <a:cs typeface="Helvetica"/>
              </a:rPr>
              <a:t> </a:t>
            </a:r>
            <a:r>
              <a:rPr kumimoji="1" lang="en-US" altLang="zh-CN" b="0" dirty="0">
                <a:latin typeface="Helvetica"/>
                <a:cs typeface="Helvetica"/>
              </a:rPr>
              <a:t>of</a:t>
            </a:r>
            <a:r>
              <a:rPr kumimoji="1" lang="zh-CN" altLang="en-US" b="0" dirty="0">
                <a:latin typeface="Helvetica"/>
                <a:cs typeface="Helvetica"/>
              </a:rPr>
              <a:t> </a:t>
            </a:r>
            <a:r>
              <a:rPr kumimoji="1" lang="en-US" altLang="zh-CN" b="0" dirty="0">
                <a:latin typeface="Helvetica"/>
                <a:cs typeface="Helvetica"/>
              </a:rPr>
              <a:t>what</a:t>
            </a:r>
            <a:r>
              <a:rPr kumimoji="1" lang="zh-CN" altLang="en-US" b="0" dirty="0">
                <a:latin typeface="Helvetica"/>
                <a:cs typeface="Helvetica"/>
              </a:rPr>
              <a:t> </a:t>
            </a:r>
            <a:r>
              <a:rPr kumimoji="1" lang="en-US" altLang="zh-CN" b="0" dirty="0">
                <a:latin typeface="Helvetica"/>
                <a:cs typeface="Helvetica"/>
              </a:rPr>
              <a:t>is</a:t>
            </a:r>
            <a:r>
              <a:rPr kumimoji="1" lang="zh-CN" altLang="en-US" b="0" dirty="0">
                <a:latin typeface="Helvetica"/>
                <a:cs typeface="Helvetica"/>
              </a:rPr>
              <a:t> </a:t>
            </a:r>
            <a:r>
              <a:rPr kumimoji="1" lang="en-US" altLang="zh-CN" b="0" dirty="0">
                <a:latin typeface="Helvetica"/>
                <a:cs typeface="Helvetica"/>
              </a:rPr>
              <a:t>“correct”</a:t>
            </a:r>
            <a:r>
              <a:rPr kumimoji="1" lang="zh-CN" altLang="en-US" b="0" dirty="0">
                <a:latin typeface="Helvetica"/>
                <a:cs typeface="Helvetica"/>
              </a:rPr>
              <a:t> </a:t>
            </a:r>
            <a:r>
              <a:rPr kumimoji="1" lang="en-US" altLang="zh-CN" b="0" dirty="0">
                <a:latin typeface="Helvetica"/>
                <a:cs typeface="Helvetica"/>
              </a:rPr>
              <a:t>caching?</a:t>
            </a:r>
            <a:endParaRPr kumimoji="1" lang="zh-CN" altLang="en-US" b="0" dirty="0">
              <a:latin typeface="Helvetica"/>
              <a:cs typeface="Helvetica"/>
            </a:endParaRPr>
          </a:p>
        </p:txBody>
      </p:sp>
      <p:sp>
        <p:nvSpPr>
          <p:cNvPr id="3" name="圆角矩形 2">
            <a:extLst>
              <a:ext uri="{FF2B5EF4-FFF2-40B4-BE49-F238E27FC236}">
                <a16:creationId xmlns:a16="http://schemas.microsoft.com/office/drawing/2014/main" id="{C0B3010E-F71B-EAFA-55D9-C5D02096DD2C}"/>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Can</a:t>
            </a:r>
            <a:r>
              <a:rPr kumimoji="1" lang="zh-CN" altLang="en-US" b="0" dirty="0">
                <a:latin typeface="Helvetica"/>
                <a:cs typeface="Helvetica"/>
              </a:rPr>
              <a:t> </a:t>
            </a:r>
            <a:r>
              <a:rPr kumimoji="1" lang="en-US" altLang="zh-CN" b="0" dirty="0">
                <a:latin typeface="Helvetica"/>
                <a:cs typeface="Helvetica"/>
              </a:rPr>
              <a:t>we</a:t>
            </a:r>
            <a:r>
              <a:rPr kumimoji="1" lang="zh-CN" altLang="en-US" b="0" dirty="0">
                <a:latin typeface="Helvetica"/>
                <a:cs typeface="Helvetica"/>
              </a:rPr>
              <a:t> </a:t>
            </a:r>
            <a:r>
              <a:rPr kumimoji="1" lang="en-US" altLang="zh-CN" b="0" dirty="0">
                <a:latin typeface="Helvetica"/>
                <a:cs typeface="Helvetica"/>
              </a:rPr>
              <a:t>use</a:t>
            </a:r>
            <a:r>
              <a:rPr kumimoji="1" lang="zh-CN" altLang="en-US" b="0" dirty="0">
                <a:latin typeface="Helvetica"/>
                <a:cs typeface="Helvetica"/>
              </a:rPr>
              <a:t> </a:t>
            </a:r>
            <a:r>
              <a:rPr kumimoji="1" lang="en-US" altLang="zh-CN" b="0" dirty="0">
                <a:latin typeface="Helvetica"/>
                <a:cs typeface="Helvetica"/>
              </a:rPr>
              <a:t>non-perfect</a:t>
            </a:r>
            <a:r>
              <a:rPr kumimoji="1" lang="zh-CN" altLang="en-US" b="0" dirty="0">
                <a:latin typeface="Helvetica"/>
                <a:cs typeface="Helvetica"/>
              </a:rPr>
              <a:t> </a:t>
            </a:r>
            <a:r>
              <a:rPr kumimoji="1" lang="en-US" altLang="zh-CN" b="0" dirty="0">
                <a:latin typeface="Helvetica"/>
                <a:cs typeface="Helvetica"/>
              </a:rPr>
              <a:t>caching?</a:t>
            </a:r>
          </a:p>
        </p:txBody>
      </p:sp>
    </p:spTree>
    <p:extLst>
      <p:ext uri="{BB962C8B-B14F-4D97-AF65-F5344CB8AC3E}">
        <p14:creationId xmlns:p14="http://schemas.microsoft.com/office/powerpoint/2010/main" val="3811994357"/>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488842-2C25-9A3D-3DE3-E90367542AD6}"/>
              </a:ext>
            </a:extLst>
          </p:cNvPr>
          <p:cNvSpPr>
            <a:spLocks noGrp="1"/>
          </p:cNvSpPr>
          <p:nvPr>
            <p:ph type="title"/>
          </p:nvPr>
        </p:nvSpPr>
        <p:spPr>
          <a:xfrm>
            <a:off x="685800" y="3886200"/>
            <a:ext cx="8040687" cy="1362075"/>
          </a:xfrm>
        </p:spPr>
        <p:txBody>
          <a:bodyPr/>
          <a:lstStyle/>
          <a:p>
            <a:r>
              <a:rPr kumimoji="1" lang="en-US" altLang="zh-CN" dirty="0"/>
              <a:t>Performance:</a:t>
            </a:r>
            <a:br>
              <a:rPr kumimoji="1" lang="en-US" altLang="zh-CN" dirty="0"/>
            </a:br>
            <a:br>
              <a:rPr kumimoji="1" lang="en-US" altLang="zh-CN" dirty="0"/>
            </a:br>
            <a:r>
              <a:rPr kumimoji="1" lang="en-US" altLang="zh-CN" dirty="0"/>
              <a:t>Batching</a:t>
            </a:r>
            <a:r>
              <a:rPr kumimoji="1" lang="zh-CN" altLang="en-US" dirty="0"/>
              <a:t> </a:t>
            </a:r>
            <a:r>
              <a:rPr kumimoji="1" lang="en-US" altLang="zh-CN" dirty="0"/>
              <a:t>and</a:t>
            </a:r>
            <a:r>
              <a:rPr kumimoji="1" lang="zh-CN" altLang="en-US" dirty="0"/>
              <a:t> </a:t>
            </a:r>
            <a:r>
              <a:rPr kumimoji="1" lang="en-US" altLang="zh-CN" dirty="0"/>
              <a:t>parallelism</a:t>
            </a:r>
            <a:endParaRPr kumimoji="1" lang="zh-CN" altLang="en-US" dirty="0"/>
          </a:p>
        </p:txBody>
      </p:sp>
    </p:spTree>
    <p:extLst>
      <p:ext uri="{BB962C8B-B14F-4D97-AF65-F5344CB8AC3E}">
        <p14:creationId xmlns:p14="http://schemas.microsoft.com/office/powerpoint/2010/main" val="411879760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F97D48-762F-28A1-9B05-AF72B3536402}"/>
              </a:ext>
            </a:extLst>
          </p:cNvPr>
          <p:cNvSpPr>
            <a:spLocks noGrp="1"/>
          </p:cNvSpPr>
          <p:nvPr>
            <p:ph type="title"/>
          </p:nvPr>
        </p:nvSpPr>
        <p:spPr/>
        <p:txBody>
          <a:bodyPr/>
          <a:lstStyle/>
          <a:p>
            <a:r>
              <a:rPr kumimoji="1" lang="en-US" altLang="zh-CN" dirty="0"/>
              <a:t>Parallelism</a:t>
            </a:r>
            <a:r>
              <a:rPr kumimoji="1" lang="zh-CN" altLang="en-US" dirty="0"/>
              <a:t> </a:t>
            </a:r>
            <a:r>
              <a:rPr kumimoji="1" lang="en-US" altLang="zh-CN" dirty="0"/>
              <a:t>makes</a:t>
            </a:r>
            <a:r>
              <a:rPr kumimoji="1" lang="zh-CN" altLang="en-US" dirty="0"/>
              <a:t> </a:t>
            </a:r>
            <a:r>
              <a:rPr kumimoji="1" lang="en-US" altLang="zh-CN" dirty="0"/>
              <a:t>modern</a:t>
            </a:r>
            <a:r>
              <a:rPr kumimoji="1" lang="zh-CN" altLang="en-US" dirty="0"/>
              <a:t> </a:t>
            </a:r>
            <a:r>
              <a:rPr kumimoji="1" lang="en-US" altLang="zh-CN" dirty="0"/>
              <a:t>computer</a:t>
            </a:r>
            <a:r>
              <a:rPr kumimoji="1" lang="zh-CN" altLang="en-US" dirty="0"/>
              <a:t> </a:t>
            </a:r>
            <a:r>
              <a:rPr kumimoji="1" lang="en-US" altLang="zh-CN" dirty="0"/>
              <a:t>systems</a:t>
            </a:r>
            <a:r>
              <a:rPr kumimoji="1" lang="zh-CN" altLang="en-US" dirty="0"/>
              <a:t> </a:t>
            </a:r>
            <a:r>
              <a:rPr kumimoji="1" lang="en-US" altLang="zh-CN" dirty="0"/>
              <a:t>work</a:t>
            </a:r>
            <a:endParaRPr kumimoji="1" lang="zh-CN" altLang="en-US" dirty="0"/>
          </a:p>
        </p:txBody>
      </p:sp>
      <p:sp>
        <p:nvSpPr>
          <p:cNvPr id="3" name="内容占位符 2">
            <a:extLst>
              <a:ext uri="{FF2B5EF4-FFF2-40B4-BE49-F238E27FC236}">
                <a16:creationId xmlns:a16="http://schemas.microsoft.com/office/drawing/2014/main" id="{A3AD2D53-9085-3A02-FF4C-CD76FE164F62}"/>
              </a:ext>
            </a:extLst>
          </p:cNvPr>
          <p:cNvSpPr>
            <a:spLocks noGrp="1"/>
          </p:cNvSpPr>
          <p:nvPr>
            <p:ph idx="1"/>
          </p:nvPr>
        </p:nvSpPr>
        <p:spPr>
          <a:xfrm>
            <a:off x="609600" y="914400"/>
            <a:ext cx="4419600" cy="5791200"/>
          </a:xfrm>
        </p:spPr>
        <p:txBody>
          <a:bodyPr/>
          <a:lstStyle/>
          <a:p>
            <a:r>
              <a:rPr kumimoji="1" lang="en-US" altLang="zh-CN" sz="1800" dirty="0"/>
              <a:t>Parallelism</a:t>
            </a:r>
            <a:r>
              <a:rPr kumimoji="1" lang="zh-CN" altLang="en-US" sz="1800" dirty="0"/>
              <a:t> </a:t>
            </a:r>
            <a:r>
              <a:rPr kumimoji="1" lang="en-US" altLang="zh-CN" sz="1800" dirty="0"/>
              <a:t>is</a:t>
            </a:r>
            <a:r>
              <a:rPr kumimoji="1" lang="zh-CN" altLang="en-US" sz="1800" dirty="0"/>
              <a:t> </a:t>
            </a:r>
            <a:r>
              <a:rPr kumimoji="1" lang="en-US" altLang="zh-CN" sz="1800" dirty="0"/>
              <a:t>at</a:t>
            </a:r>
            <a:r>
              <a:rPr kumimoji="1" lang="zh-CN" altLang="en-US" sz="1800" dirty="0"/>
              <a:t> </a:t>
            </a:r>
            <a:r>
              <a:rPr kumimoji="1" lang="en-US" altLang="zh-CN" sz="1800" dirty="0"/>
              <a:t>different</a:t>
            </a:r>
            <a:r>
              <a:rPr kumimoji="1" lang="zh-CN" altLang="en-US" sz="1800" dirty="0"/>
              <a:t> </a:t>
            </a:r>
            <a:r>
              <a:rPr kumimoji="1" lang="en-US" altLang="zh-CN" sz="1800" dirty="0"/>
              <a:t>levels</a:t>
            </a:r>
          </a:p>
          <a:p>
            <a:r>
              <a:rPr kumimoji="1" lang="en-US" altLang="zh-CN" sz="1800" dirty="0"/>
              <a:t>Architecture</a:t>
            </a:r>
            <a:r>
              <a:rPr kumimoji="1" lang="zh-CN" altLang="en-US" sz="1800" dirty="0"/>
              <a:t> </a:t>
            </a:r>
            <a:r>
              <a:rPr kumimoji="1" lang="en-US" altLang="zh-CN" sz="1800" dirty="0"/>
              <a:t>level</a:t>
            </a:r>
          </a:p>
          <a:p>
            <a:pPr lvl="1"/>
            <a:r>
              <a:rPr kumimoji="1" lang="en-US" altLang="zh-CN" sz="1800" dirty="0"/>
              <a:t>Pipelines</a:t>
            </a:r>
          </a:p>
          <a:p>
            <a:pPr lvl="1"/>
            <a:r>
              <a:rPr kumimoji="1" lang="en-US" altLang="zh-CN" sz="1800" dirty="0"/>
              <a:t>SIMD</a:t>
            </a:r>
          </a:p>
          <a:p>
            <a:pPr lvl="1"/>
            <a:r>
              <a:rPr kumimoji="1" lang="en-US" altLang="zh-CN" sz="1800" dirty="0"/>
              <a:t>Multi-core</a:t>
            </a:r>
            <a:r>
              <a:rPr kumimoji="1" lang="zh-CN" altLang="en-US" sz="1800" dirty="0"/>
              <a:t> </a:t>
            </a:r>
            <a:r>
              <a:rPr kumimoji="1" lang="en-US" altLang="zh-CN" sz="1800" dirty="0"/>
              <a:t>-&gt;</a:t>
            </a:r>
            <a:r>
              <a:rPr kumimoji="1" lang="zh-CN" altLang="en-US" sz="1800" dirty="0"/>
              <a:t> </a:t>
            </a:r>
            <a:r>
              <a:rPr kumimoji="1" lang="en-US" altLang="zh-CN" sz="1800" dirty="0"/>
              <a:t>GPUs</a:t>
            </a:r>
          </a:p>
          <a:p>
            <a:pPr lvl="1"/>
            <a:r>
              <a:rPr kumimoji="1" lang="en-US" altLang="zh-CN" sz="1800" dirty="0"/>
              <a:t>DMA</a:t>
            </a:r>
          </a:p>
          <a:p>
            <a:r>
              <a:rPr kumimoji="1" lang="en-US" altLang="zh-CN" sz="1800" dirty="0"/>
              <a:t>Storage</a:t>
            </a:r>
          </a:p>
          <a:p>
            <a:pPr lvl="1"/>
            <a:r>
              <a:rPr kumimoji="1" lang="en-US" altLang="zh-CN" sz="1600" dirty="0"/>
              <a:t>SSDs</a:t>
            </a:r>
          </a:p>
          <a:p>
            <a:pPr lvl="1"/>
            <a:r>
              <a:rPr kumimoji="1" lang="en-US" altLang="zh-CN" sz="1600" dirty="0"/>
              <a:t>RAID</a:t>
            </a:r>
          </a:p>
          <a:p>
            <a:r>
              <a:rPr kumimoji="1" lang="en-US" altLang="zh-CN" sz="1800" dirty="0"/>
              <a:t>OS</a:t>
            </a:r>
            <a:r>
              <a:rPr kumimoji="1" lang="zh-CN" altLang="en-US" sz="1800" dirty="0"/>
              <a:t> </a:t>
            </a:r>
            <a:r>
              <a:rPr kumimoji="1" lang="en-US" altLang="zh-CN" sz="1800" dirty="0"/>
              <a:t>level</a:t>
            </a:r>
          </a:p>
          <a:p>
            <a:pPr lvl="1"/>
            <a:r>
              <a:rPr kumimoji="1" lang="en-US" altLang="zh-CN" sz="1800" dirty="0"/>
              <a:t>Threads</a:t>
            </a:r>
          </a:p>
          <a:p>
            <a:pPr lvl="1"/>
            <a:r>
              <a:rPr kumimoji="1" lang="en-US" altLang="zh-CN" sz="1800" dirty="0"/>
              <a:t>Processes</a:t>
            </a:r>
          </a:p>
          <a:p>
            <a:pPr lvl="1"/>
            <a:r>
              <a:rPr kumimoji="1" lang="en-US" altLang="zh-CN" sz="1800" dirty="0"/>
              <a:t>I/O</a:t>
            </a:r>
            <a:r>
              <a:rPr kumimoji="1" lang="zh-CN" altLang="en-US" sz="1800" dirty="0"/>
              <a:t> </a:t>
            </a:r>
            <a:r>
              <a:rPr kumimoji="1" lang="en-US" altLang="zh-CN" sz="1800" dirty="0"/>
              <a:t>–</a:t>
            </a:r>
            <a:r>
              <a:rPr kumimoji="1" lang="zh-CN" altLang="en-US" sz="1800" dirty="0"/>
              <a:t> </a:t>
            </a:r>
            <a:r>
              <a:rPr kumimoji="1" lang="en-US" altLang="zh-CN" sz="1800" dirty="0"/>
              <a:t>CPU</a:t>
            </a:r>
          </a:p>
          <a:p>
            <a:pPr lvl="1"/>
            <a:r>
              <a:rPr kumimoji="1" lang="en-US" altLang="zh-CN" sz="1800" dirty="0"/>
              <a:t>Transactions</a:t>
            </a:r>
          </a:p>
          <a:p>
            <a:r>
              <a:rPr kumimoji="1" lang="en-US" altLang="zh-CN" sz="1800" dirty="0"/>
              <a:t>Networking</a:t>
            </a:r>
          </a:p>
          <a:p>
            <a:pPr lvl="1"/>
            <a:r>
              <a:rPr kumimoji="1" lang="en-US" altLang="zh-CN" sz="1600" dirty="0"/>
              <a:t>Sending</a:t>
            </a:r>
            <a:r>
              <a:rPr kumimoji="1" lang="zh-CN" altLang="en-US" sz="1600" dirty="0"/>
              <a:t> </a:t>
            </a:r>
            <a:r>
              <a:rPr kumimoji="1" lang="en-US" altLang="zh-CN" sz="1600" dirty="0"/>
              <a:t>multiple</a:t>
            </a:r>
            <a:r>
              <a:rPr kumimoji="1" lang="zh-CN" altLang="en-US" sz="1600" dirty="0"/>
              <a:t> </a:t>
            </a:r>
            <a:r>
              <a:rPr kumimoji="1" lang="en-US" altLang="zh-CN" sz="1600" dirty="0"/>
              <a:t>packets</a:t>
            </a:r>
            <a:r>
              <a:rPr kumimoji="1" lang="zh-CN" altLang="en-US" sz="1600" dirty="0"/>
              <a:t> </a:t>
            </a:r>
            <a:r>
              <a:rPr kumimoji="1" lang="en-US" altLang="zh-CN" sz="1600" dirty="0"/>
              <a:t>without</a:t>
            </a:r>
            <a:r>
              <a:rPr kumimoji="1" lang="zh-CN" altLang="en-US" sz="1600" dirty="0"/>
              <a:t> </a:t>
            </a:r>
            <a:r>
              <a:rPr kumimoji="1" lang="en-US" altLang="zh-CN" sz="1600" dirty="0"/>
              <a:t>ACK</a:t>
            </a:r>
          </a:p>
          <a:p>
            <a:r>
              <a:rPr kumimoji="1" lang="en-US" altLang="zh-CN" sz="1800" dirty="0"/>
              <a:t>Human</a:t>
            </a:r>
            <a:r>
              <a:rPr kumimoji="1" lang="zh-CN" altLang="en-US" sz="1800" dirty="0"/>
              <a:t> </a:t>
            </a:r>
            <a:r>
              <a:rPr kumimoji="1" lang="en-US" altLang="zh-CN" sz="1800" dirty="0"/>
              <a:t>Papalism</a:t>
            </a:r>
          </a:p>
          <a:p>
            <a:pPr lvl="1"/>
            <a:r>
              <a:rPr kumimoji="1" lang="en-US" altLang="zh-CN" sz="1600" dirty="0"/>
              <a:t>Git</a:t>
            </a:r>
          </a:p>
        </p:txBody>
      </p:sp>
      <p:sp>
        <p:nvSpPr>
          <p:cNvPr id="4" name="内容占位符 2">
            <a:extLst>
              <a:ext uri="{FF2B5EF4-FFF2-40B4-BE49-F238E27FC236}">
                <a16:creationId xmlns:a16="http://schemas.microsoft.com/office/drawing/2014/main" id="{ECA0551D-990D-96FA-328E-AA826ED69059}"/>
              </a:ext>
            </a:extLst>
          </p:cNvPr>
          <p:cNvSpPr txBox="1">
            <a:spLocks/>
          </p:cNvSpPr>
          <p:nvPr/>
        </p:nvSpPr>
        <p:spPr bwMode="auto">
          <a:xfrm>
            <a:off x="4712855" y="2514600"/>
            <a:ext cx="4114800" cy="2895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0478" tIns="44445" rIns="90478" bIns="44445" numCol="1" anchor="t" anchorCtr="0" compatLnSpc="1">
            <a:prstTxWarp prst="textNoShape">
              <a:avLst/>
            </a:prstTxWarp>
          </a:bodyPr>
          <a:lstStyle>
            <a:lvl1pPr marL="285750" indent="-285750" algn="l" rtl="0" eaLnBrk="1" fontAlgn="base" hangingPunct="1">
              <a:lnSpc>
                <a:spcPct val="90000"/>
              </a:lnSpc>
              <a:spcBef>
                <a:spcPct val="30000"/>
              </a:spcBef>
              <a:spcAft>
                <a:spcPct val="0"/>
              </a:spcAft>
              <a:buSzPct val="100000"/>
              <a:buChar char="•"/>
              <a:defRPr sz="2400">
                <a:solidFill>
                  <a:schemeClr val="tx1"/>
                </a:solidFill>
                <a:latin typeface="Helvetica"/>
                <a:ea typeface="ＭＳ Ｐゴシック" charset="-128"/>
                <a:cs typeface="ＭＳ Ｐゴシック" charset="-128"/>
              </a:defRPr>
            </a:lvl1pPr>
            <a:lvl2pPr marL="685800" indent="-228600" algn="l" rtl="0" eaLnBrk="1" fontAlgn="base" hangingPunct="1">
              <a:lnSpc>
                <a:spcPct val="90000"/>
              </a:lnSpc>
              <a:spcBef>
                <a:spcPct val="30000"/>
              </a:spcBef>
              <a:spcAft>
                <a:spcPct val="0"/>
              </a:spcAft>
              <a:buSzPct val="100000"/>
              <a:buChar char="–"/>
              <a:defRPr sz="2200">
                <a:solidFill>
                  <a:schemeClr val="tx1"/>
                </a:solidFill>
                <a:latin typeface="Helvetica"/>
                <a:ea typeface="ＭＳ Ｐゴシック" charset="-128"/>
              </a:defRPr>
            </a:lvl2pPr>
            <a:lvl3pPr marL="1143000" indent="-22860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3pPr>
            <a:lvl4pPr marL="15430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4pPr>
            <a:lvl5pPr marL="2000250" indent="-171450" algn="l" rtl="0" eaLnBrk="1" fontAlgn="base" hangingPunct="1">
              <a:lnSpc>
                <a:spcPct val="90000"/>
              </a:lnSpc>
              <a:spcBef>
                <a:spcPct val="30000"/>
              </a:spcBef>
              <a:spcAft>
                <a:spcPct val="0"/>
              </a:spcAft>
              <a:buSzPct val="100000"/>
              <a:buChar char="–"/>
              <a:defRPr sz="2000">
                <a:solidFill>
                  <a:schemeClr val="tx1"/>
                </a:solidFill>
                <a:latin typeface="Helvetica"/>
                <a:ea typeface="ＭＳ Ｐゴシック" charset="-128"/>
              </a:defRPr>
            </a:lvl5pPr>
            <a:lvl6pPr marL="24574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6pPr>
            <a:lvl7pPr marL="29146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7pPr>
            <a:lvl8pPr marL="33718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8pPr>
            <a:lvl9pPr marL="3829050" indent="-171450" algn="l" rtl="0" eaLnBrk="1" fontAlgn="base" hangingPunct="1">
              <a:lnSpc>
                <a:spcPct val="90000"/>
              </a:lnSpc>
              <a:spcBef>
                <a:spcPct val="30000"/>
              </a:spcBef>
              <a:spcAft>
                <a:spcPct val="0"/>
              </a:spcAft>
              <a:buSzPct val="100000"/>
              <a:buChar char="–"/>
              <a:defRPr sz="2000" b="1">
                <a:solidFill>
                  <a:schemeClr val="tx1"/>
                </a:solidFill>
                <a:latin typeface="+mn-lt"/>
                <a:ea typeface="ＭＳ Ｐゴシック" charset="-128"/>
              </a:defRPr>
            </a:lvl9pPr>
          </a:lstStyle>
          <a:p>
            <a:r>
              <a:rPr kumimoji="1" lang="en-US" altLang="zh-CN" sz="2000" b="0" kern="0" dirty="0"/>
              <a:t>When</a:t>
            </a:r>
            <a:r>
              <a:rPr kumimoji="1" lang="zh-CN" altLang="en-US" sz="2000" b="0" kern="0" dirty="0"/>
              <a:t> </a:t>
            </a:r>
            <a:r>
              <a:rPr kumimoji="1" lang="en-US" altLang="zh-CN" sz="2000" b="0" kern="0" dirty="0"/>
              <a:t>can</a:t>
            </a:r>
            <a:r>
              <a:rPr kumimoji="1" lang="zh-CN" altLang="en-US" sz="2000" b="0" kern="0" dirty="0"/>
              <a:t> </a:t>
            </a:r>
            <a:r>
              <a:rPr kumimoji="1" lang="en-US" altLang="zh-CN" sz="2000" b="0" kern="0" dirty="0"/>
              <a:t>we</a:t>
            </a:r>
            <a:r>
              <a:rPr kumimoji="1" lang="zh-CN" altLang="en-US" sz="2000" b="0" kern="0" dirty="0"/>
              <a:t> </a:t>
            </a:r>
            <a:r>
              <a:rPr kumimoji="1" lang="en-US" altLang="zh-CN" sz="2000" b="0" kern="0" dirty="0"/>
              <a:t>use</a:t>
            </a:r>
            <a:r>
              <a:rPr kumimoji="1" lang="zh-CN" altLang="en-US" sz="2000" b="0" kern="0" dirty="0"/>
              <a:t> </a:t>
            </a:r>
            <a:r>
              <a:rPr kumimoji="1" lang="en-US" altLang="zh-CN" sz="2000" b="0" kern="0" dirty="0"/>
              <a:t>parallelism?</a:t>
            </a:r>
          </a:p>
          <a:p>
            <a:pPr lvl="1"/>
            <a:r>
              <a:rPr kumimoji="1" lang="en-US" altLang="zh-CN" sz="1800" b="0" kern="0" dirty="0"/>
              <a:t>Can</a:t>
            </a:r>
            <a:r>
              <a:rPr kumimoji="1" lang="zh-CN" altLang="en-US" sz="1800" b="0" kern="0" dirty="0"/>
              <a:t> </a:t>
            </a:r>
            <a:r>
              <a:rPr kumimoji="1" lang="en-US" altLang="zh-CN" sz="1800" b="0" kern="0" dirty="0"/>
              <a:t>we</a:t>
            </a:r>
            <a:r>
              <a:rPr kumimoji="1" lang="zh-CN" altLang="en-US" sz="1800" b="0" kern="0" dirty="0"/>
              <a:t> </a:t>
            </a:r>
            <a:r>
              <a:rPr kumimoji="1" lang="en-US" altLang="zh-CN" sz="1800" b="0" kern="0" dirty="0"/>
              <a:t>do</a:t>
            </a:r>
            <a:r>
              <a:rPr kumimoji="1" lang="zh-CN" altLang="en-US" sz="1800" b="0" kern="0" dirty="0"/>
              <a:t> </a:t>
            </a:r>
            <a:r>
              <a:rPr kumimoji="1" lang="en-US" altLang="zh-CN" sz="1800" b="0" kern="0" dirty="0"/>
              <a:t>it</a:t>
            </a:r>
            <a:r>
              <a:rPr kumimoji="1" lang="zh-CN" altLang="en-US" sz="1800" b="0" kern="0" dirty="0"/>
              <a:t> </a:t>
            </a:r>
            <a:r>
              <a:rPr kumimoji="1" lang="en-US" altLang="zh-CN" sz="1800" b="0" kern="0" dirty="0"/>
              <a:t>automatically?</a:t>
            </a:r>
          </a:p>
          <a:p>
            <a:endParaRPr kumimoji="1" lang="en-US" altLang="zh-CN" sz="2000" b="0" kern="0" dirty="0"/>
          </a:p>
          <a:p>
            <a:r>
              <a:rPr kumimoji="1" lang="en-US" altLang="zh-CN" sz="2000" b="0" kern="0" dirty="0"/>
              <a:t>What</a:t>
            </a:r>
            <a:r>
              <a:rPr kumimoji="1" lang="zh-CN" altLang="en-US" sz="2000" b="0" kern="0" dirty="0"/>
              <a:t> </a:t>
            </a:r>
            <a:r>
              <a:rPr kumimoji="1" lang="en-US" altLang="zh-CN" sz="2000" b="0" kern="0" dirty="0"/>
              <a:t>are</a:t>
            </a:r>
            <a:r>
              <a:rPr kumimoji="1" lang="zh-CN" altLang="en-US" sz="2000" b="0" kern="0" dirty="0"/>
              <a:t> </a:t>
            </a:r>
            <a:r>
              <a:rPr kumimoji="1" lang="en-US" altLang="zh-CN" sz="2000" b="0" kern="0" dirty="0"/>
              <a:t>potential</a:t>
            </a:r>
            <a:r>
              <a:rPr kumimoji="1" lang="zh-CN" altLang="en-US" sz="2000" b="0" kern="0" dirty="0"/>
              <a:t> </a:t>
            </a:r>
            <a:r>
              <a:rPr kumimoji="1" lang="en-US" altLang="zh-CN" sz="2000" b="0" kern="0" dirty="0"/>
              <a:t>problems?</a:t>
            </a:r>
          </a:p>
          <a:p>
            <a:pPr lvl="1"/>
            <a:r>
              <a:rPr kumimoji="1" lang="en-US" altLang="zh-CN" sz="1800" b="0" kern="0" dirty="0"/>
              <a:t>Managing</a:t>
            </a:r>
            <a:r>
              <a:rPr kumimoji="1" lang="zh-CN" altLang="en-US" sz="1800" b="0" kern="0" dirty="0"/>
              <a:t> </a:t>
            </a:r>
            <a:r>
              <a:rPr kumimoji="1" lang="en-US" altLang="zh-CN" sz="1800" b="0" kern="0" dirty="0"/>
              <a:t>shared</a:t>
            </a:r>
            <a:r>
              <a:rPr kumimoji="1" lang="zh-CN" altLang="en-US" sz="1800" b="0" kern="0" dirty="0"/>
              <a:t> </a:t>
            </a:r>
            <a:r>
              <a:rPr kumimoji="1" lang="en-US" altLang="zh-CN" sz="1800" b="0" kern="0" dirty="0"/>
              <a:t>resources</a:t>
            </a:r>
          </a:p>
          <a:p>
            <a:pPr lvl="1"/>
            <a:r>
              <a:rPr kumimoji="1" lang="en-US" altLang="zh-CN" sz="1800" b="0" kern="0" dirty="0"/>
              <a:t>Deadlocks</a:t>
            </a:r>
          </a:p>
          <a:p>
            <a:pPr lvl="1"/>
            <a:r>
              <a:rPr kumimoji="1" lang="en-US" altLang="zh-CN" sz="1800" b="0" kern="0" dirty="0"/>
              <a:t>Concurrency</a:t>
            </a:r>
            <a:r>
              <a:rPr kumimoji="1" lang="zh-CN" altLang="en-US" sz="1800" b="0" kern="0" dirty="0"/>
              <a:t> </a:t>
            </a:r>
            <a:r>
              <a:rPr kumimoji="1" lang="en-US" altLang="zh-CN" sz="1800" b="0" kern="0" dirty="0"/>
              <a:t>problems</a:t>
            </a:r>
          </a:p>
          <a:p>
            <a:endParaRPr kumimoji="1" lang="en-US" altLang="zh-CN" sz="2000" b="0" kern="0" dirty="0"/>
          </a:p>
        </p:txBody>
      </p:sp>
    </p:spTree>
    <p:extLst>
      <p:ext uri="{BB962C8B-B14F-4D97-AF65-F5344CB8AC3E}">
        <p14:creationId xmlns:p14="http://schemas.microsoft.com/office/powerpoint/2010/main" val="1847919650"/>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9B135D30-72F3-BFF0-E799-3A250D2595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45890"/>
            <a:ext cx="9144000" cy="5166220"/>
          </a:xfrm>
          <a:prstGeom prst="rect">
            <a:avLst/>
          </a:prstGeom>
        </p:spPr>
      </p:pic>
      <p:sp>
        <p:nvSpPr>
          <p:cNvPr id="5" name="圆角矩形 4">
            <a:extLst>
              <a:ext uri="{FF2B5EF4-FFF2-40B4-BE49-F238E27FC236}">
                <a16:creationId xmlns:a16="http://schemas.microsoft.com/office/drawing/2014/main" id="{AD136EF1-EB5E-B300-F1EC-A1152592D19B}"/>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Pipelines</a:t>
            </a:r>
            <a:r>
              <a:rPr kumimoji="1" lang="zh-CN" altLang="en-US" b="0" dirty="0">
                <a:latin typeface="Helvetica"/>
                <a:cs typeface="Helvetica"/>
              </a:rPr>
              <a:t> </a:t>
            </a:r>
          </a:p>
        </p:txBody>
      </p:sp>
      <p:sp>
        <p:nvSpPr>
          <p:cNvPr id="6" name="圆角矩形 5">
            <a:extLst>
              <a:ext uri="{FF2B5EF4-FFF2-40B4-BE49-F238E27FC236}">
                <a16:creationId xmlns:a16="http://schemas.microsoft.com/office/drawing/2014/main" id="{E4E99127-0AD9-0A8F-2E5D-CF936D5EB74B}"/>
              </a:ext>
            </a:extLst>
          </p:cNvPr>
          <p:cNvSpPr/>
          <p:nvPr/>
        </p:nvSpPr>
        <p:spPr bwMode="auto">
          <a:xfrm rot="20580792">
            <a:off x="35309" y="684520"/>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Frequency</a:t>
            </a:r>
            <a:r>
              <a:rPr kumimoji="1" lang="zh-CN" altLang="en-US" b="0" dirty="0">
                <a:latin typeface="Helvetica"/>
                <a:cs typeface="Helvetica"/>
              </a:rPr>
              <a:t> </a:t>
            </a:r>
            <a:r>
              <a:rPr kumimoji="1" lang="en-US" altLang="zh-CN" b="0" dirty="0">
                <a:latin typeface="Helvetica"/>
                <a:cs typeface="Helvetica"/>
              </a:rPr>
              <a:t>-</a:t>
            </a:r>
            <a:r>
              <a:rPr kumimoji="1" lang="zh-CN" altLang="en-US" b="0" dirty="0">
                <a:latin typeface="Helvetica"/>
                <a:cs typeface="Helvetica"/>
              </a:rPr>
              <a:t> </a:t>
            </a:r>
            <a:r>
              <a:rPr kumimoji="1" lang="en-US" altLang="zh-CN" b="0" dirty="0">
                <a:latin typeface="Helvetica"/>
                <a:cs typeface="Helvetica"/>
              </a:rPr>
              <a:t>Utilization</a:t>
            </a:r>
            <a:endParaRPr kumimoji="1" lang="zh-CN" altLang="en-US" b="0" dirty="0">
              <a:latin typeface="Helvetica"/>
              <a:cs typeface="Helvetica"/>
            </a:endParaRPr>
          </a:p>
        </p:txBody>
      </p:sp>
    </p:spTree>
    <p:extLst>
      <p:ext uri="{BB962C8B-B14F-4D97-AF65-F5344CB8AC3E}">
        <p14:creationId xmlns:p14="http://schemas.microsoft.com/office/powerpoint/2010/main" val="1427609882"/>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18686E5D-5D04-477B-4C7E-A13AE96A69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48EA490E-4A23-A8D0-6AAF-A47F2D832DAE}"/>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Parallelism</a:t>
            </a:r>
            <a:r>
              <a:rPr kumimoji="1" lang="zh-CN" altLang="en-US" b="0" dirty="0">
                <a:latin typeface="Helvetica"/>
                <a:cs typeface="Helvetica"/>
              </a:rPr>
              <a:t> </a:t>
            </a:r>
            <a:r>
              <a:rPr kumimoji="1" lang="en-US" altLang="zh-CN" b="0" dirty="0">
                <a:latin typeface="Helvetica"/>
                <a:cs typeface="Helvetica"/>
              </a:rPr>
              <a:t>at</a:t>
            </a:r>
            <a:r>
              <a:rPr kumimoji="1" lang="zh-CN" altLang="en-US" b="0" dirty="0">
                <a:latin typeface="Helvetica"/>
                <a:cs typeface="Helvetica"/>
              </a:rPr>
              <a:t> </a:t>
            </a:r>
            <a:r>
              <a:rPr kumimoji="1" lang="en-US" altLang="zh-CN" b="0" dirty="0">
                <a:latin typeface="Helvetica"/>
                <a:cs typeface="Helvetica"/>
              </a:rPr>
              <a:t>different</a:t>
            </a:r>
            <a:r>
              <a:rPr kumimoji="1" lang="zh-CN" altLang="en-US" b="0" dirty="0">
                <a:latin typeface="Helvetica"/>
                <a:cs typeface="Helvetica"/>
              </a:rPr>
              <a:t> </a:t>
            </a:r>
            <a:r>
              <a:rPr kumimoji="1" lang="en-US" altLang="zh-CN" b="0" dirty="0">
                <a:latin typeface="Helvetica"/>
                <a:cs typeface="Helvetica"/>
              </a:rPr>
              <a:t>levels</a:t>
            </a:r>
            <a:r>
              <a:rPr kumimoji="1" lang="zh-CN" altLang="en-US" b="0" dirty="0">
                <a:latin typeface="Helvetica"/>
                <a:cs typeface="Helvetica"/>
              </a:rPr>
              <a:t> </a:t>
            </a:r>
          </a:p>
        </p:txBody>
      </p:sp>
      <p:sp>
        <p:nvSpPr>
          <p:cNvPr id="5" name="圆角矩形 4">
            <a:extLst>
              <a:ext uri="{FF2B5EF4-FFF2-40B4-BE49-F238E27FC236}">
                <a16:creationId xmlns:a16="http://schemas.microsoft.com/office/drawing/2014/main" id="{69BEF44B-0474-E6AA-5DE6-7E41D7645BFD}"/>
              </a:ext>
            </a:extLst>
          </p:cNvPr>
          <p:cNvSpPr/>
          <p:nvPr/>
        </p:nvSpPr>
        <p:spPr bwMode="auto">
          <a:xfrm rot="20580792">
            <a:off x="21454" y="58532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Power</a:t>
            </a:r>
            <a:r>
              <a:rPr kumimoji="1" lang="zh-CN" altLang="en-US" b="0" dirty="0">
                <a:latin typeface="Helvetica"/>
                <a:cs typeface="Helvetica"/>
              </a:rPr>
              <a:t> </a:t>
            </a:r>
            <a:r>
              <a:rPr kumimoji="1" lang="en-US" altLang="zh-CN" b="0" dirty="0">
                <a:latin typeface="Helvetica"/>
                <a:cs typeface="Helvetica"/>
              </a:rPr>
              <a:t>Wall</a:t>
            </a:r>
          </a:p>
        </p:txBody>
      </p:sp>
      <p:sp>
        <p:nvSpPr>
          <p:cNvPr id="6" name="圆角矩形 5">
            <a:extLst>
              <a:ext uri="{FF2B5EF4-FFF2-40B4-BE49-F238E27FC236}">
                <a16:creationId xmlns:a16="http://schemas.microsoft.com/office/drawing/2014/main" id="{0F878EA7-4E8B-C55D-7929-24219D1F0375}"/>
              </a:ext>
            </a:extLst>
          </p:cNvPr>
          <p:cNvSpPr/>
          <p:nvPr/>
        </p:nvSpPr>
        <p:spPr bwMode="auto">
          <a:xfrm rot="20580792">
            <a:off x="44545" y="3989232"/>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Memory</a:t>
            </a:r>
            <a:r>
              <a:rPr kumimoji="1" lang="zh-CN" altLang="en-US" b="0" dirty="0">
                <a:latin typeface="Helvetica"/>
                <a:cs typeface="Helvetica"/>
              </a:rPr>
              <a:t> </a:t>
            </a:r>
            <a:r>
              <a:rPr kumimoji="1" lang="en-US" altLang="zh-CN" b="0" dirty="0">
                <a:latin typeface="Helvetica"/>
                <a:cs typeface="Helvetica"/>
              </a:rPr>
              <a:t>Wall</a:t>
            </a:r>
          </a:p>
        </p:txBody>
      </p:sp>
    </p:spTree>
    <p:extLst>
      <p:ext uri="{BB962C8B-B14F-4D97-AF65-F5344CB8AC3E}">
        <p14:creationId xmlns:p14="http://schemas.microsoft.com/office/powerpoint/2010/main" val="3151631089"/>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40929276-C431-5589-FAB3-2803B9D9C6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2CE14386-DA3A-AD79-8A68-C8644BD196DA}"/>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SIMD</a:t>
            </a:r>
            <a:r>
              <a:rPr kumimoji="1" lang="zh-CN" altLang="en-US" b="0" dirty="0">
                <a:latin typeface="Helvetica"/>
                <a:cs typeface="Helvetica"/>
              </a:rPr>
              <a:t> </a:t>
            </a:r>
          </a:p>
        </p:txBody>
      </p:sp>
      <p:sp>
        <p:nvSpPr>
          <p:cNvPr id="5" name="圆角矩形 4">
            <a:extLst>
              <a:ext uri="{FF2B5EF4-FFF2-40B4-BE49-F238E27FC236}">
                <a16:creationId xmlns:a16="http://schemas.microsoft.com/office/drawing/2014/main" id="{DCFEF76E-9A84-4D2A-9B01-07AB2B194F11}"/>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Power</a:t>
            </a:r>
            <a:r>
              <a:rPr kumimoji="1" lang="zh-CN" altLang="en-US" b="0" dirty="0">
                <a:latin typeface="Helvetica"/>
                <a:cs typeface="Helvetica"/>
              </a:rPr>
              <a:t> </a:t>
            </a:r>
            <a:r>
              <a:rPr kumimoji="1" lang="en-US" altLang="zh-CN" b="0" dirty="0">
                <a:latin typeface="Helvetica"/>
                <a:cs typeface="Helvetica"/>
              </a:rPr>
              <a:t>Wall</a:t>
            </a:r>
          </a:p>
        </p:txBody>
      </p:sp>
    </p:spTree>
    <p:extLst>
      <p:ext uri="{BB962C8B-B14F-4D97-AF65-F5344CB8AC3E}">
        <p14:creationId xmlns:p14="http://schemas.microsoft.com/office/powerpoint/2010/main" val="2136077395"/>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E5B3C262-6753-8837-BD8F-79621FA0633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92753"/>
            <a:ext cx="9144000" cy="5472493"/>
          </a:xfrm>
          <a:prstGeom prst="rect">
            <a:avLst/>
          </a:prstGeom>
        </p:spPr>
      </p:pic>
      <p:sp>
        <p:nvSpPr>
          <p:cNvPr id="5" name="圆角矩形 4">
            <a:extLst>
              <a:ext uri="{FF2B5EF4-FFF2-40B4-BE49-F238E27FC236}">
                <a16:creationId xmlns:a16="http://schemas.microsoft.com/office/drawing/2014/main" id="{5B326442-BDB3-72D7-D77E-F375D28D94F2}"/>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Storage</a:t>
            </a:r>
            <a:r>
              <a:rPr kumimoji="1" lang="zh-CN" altLang="en-US" b="0" dirty="0">
                <a:latin typeface="Helvetica"/>
                <a:cs typeface="Helvetica"/>
              </a:rPr>
              <a:t> </a:t>
            </a:r>
            <a:r>
              <a:rPr kumimoji="1" lang="en-US" altLang="zh-CN" b="0" dirty="0">
                <a:latin typeface="Helvetica"/>
                <a:cs typeface="Helvetica"/>
              </a:rPr>
              <a:t>Speed</a:t>
            </a:r>
          </a:p>
        </p:txBody>
      </p:sp>
      <p:sp>
        <p:nvSpPr>
          <p:cNvPr id="6" name="圆角矩形 5">
            <a:extLst>
              <a:ext uri="{FF2B5EF4-FFF2-40B4-BE49-F238E27FC236}">
                <a16:creationId xmlns:a16="http://schemas.microsoft.com/office/drawing/2014/main" id="{B49E45DC-7043-7B25-85B9-47A596E12A55}"/>
              </a:ext>
            </a:extLst>
          </p:cNvPr>
          <p:cNvSpPr/>
          <p:nvPr/>
        </p:nvSpPr>
        <p:spPr bwMode="auto">
          <a:xfrm rot="1127902">
            <a:off x="5411565" y="585330"/>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Storage</a:t>
            </a:r>
            <a:r>
              <a:rPr kumimoji="1" lang="zh-CN" altLang="en-US" b="0" dirty="0">
                <a:latin typeface="Helvetica"/>
                <a:cs typeface="Helvetica"/>
              </a:rPr>
              <a:t> </a:t>
            </a:r>
            <a:r>
              <a:rPr kumimoji="1" lang="en-US" altLang="zh-CN" b="0" dirty="0">
                <a:latin typeface="Helvetica"/>
                <a:cs typeface="Helvetica"/>
              </a:rPr>
              <a:t>parallelism</a:t>
            </a:r>
            <a:endParaRPr kumimoji="1" lang="zh-CN" altLang="en-US" b="0" dirty="0">
              <a:latin typeface="Helvetica"/>
              <a:cs typeface="Helvetica"/>
            </a:endParaRPr>
          </a:p>
        </p:txBody>
      </p:sp>
    </p:spTree>
    <p:extLst>
      <p:ext uri="{BB962C8B-B14F-4D97-AF65-F5344CB8AC3E}">
        <p14:creationId xmlns:p14="http://schemas.microsoft.com/office/powerpoint/2010/main" val="4293473447"/>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ko-KR">
                <a:latin typeface="Helvetica" charset="0"/>
                <a:ea typeface="Gulim" charset="0"/>
                <a:cs typeface="Gulim" charset="0"/>
              </a:rPr>
              <a:t>Four requirements for Deadlock</a:t>
            </a:r>
          </a:p>
        </p:txBody>
      </p:sp>
      <p:sp>
        <p:nvSpPr>
          <p:cNvPr id="34819" name="Rectangle 3"/>
          <p:cNvSpPr>
            <a:spLocks noGrp="1" noChangeArrowheads="1"/>
          </p:cNvSpPr>
          <p:nvPr>
            <p:ph idx="1"/>
          </p:nvPr>
        </p:nvSpPr>
        <p:spPr>
          <a:xfrm>
            <a:off x="228600" y="762000"/>
            <a:ext cx="8534400" cy="5943600"/>
          </a:xfrm>
        </p:spPr>
        <p:txBody>
          <a:bodyPr/>
          <a:lstStyle/>
          <a:p>
            <a:pPr>
              <a:spcBef>
                <a:spcPct val="20000"/>
              </a:spcBef>
            </a:pPr>
            <a:r>
              <a:rPr lang="en-US" altLang="ko-KR">
                <a:solidFill>
                  <a:schemeClr val="hlink"/>
                </a:solidFill>
                <a:latin typeface="Helvetica" charset="0"/>
                <a:ea typeface="Gulim" charset="0"/>
                <a:cs typeface="Gulim" charset="0"/>
              </a:rPr>
              <a:t>Mutual exclusion</a:t>
            </a:r>
          </a:p>
          <a:p>
            <a:pPr lvl="1">
              <a:spcBef>
                <a:spcPct val="20000"/>
              </a:spcBef>
            </a:pPr>
            <a:r>
              <a:rPr lang="en-US" altLang="ko-KR">
                <a:latin typeface="Helvetica" charset="0"/>
                <a:ea typeface="Gulim" charset="0"/>
                <a:cs typeface="Gulim" charset="0"/>
              </a:rPr>
              <a:t>Only one thread at a time can use a resource</a:t>
            </a:r>
          </a:p>
          <a:p>
            <a:pPr>
              <a:spcBef>
                <a:spcPct val="20000"/>
              </a:spcBef>
            </a:pPr>
            <a:r>
              <a:rPr lang="en-US" altLang="ko-KR">
                <a:solidFill>
                  <a:schemeClr val="hlink"/>
                </a:solidFill>
                <a:latin typeface="Helvetica" charset="0"/>
                <a:ea typeface="Gulim" charset="0"/>
                <a:cs typeface="Gulim" charset="0"/>
              </a:rPr>
              <a:t>Hold and wait</a:t>
            </a:r>
          </a:p>
          <a:p>
            <a:pPr lvl="1">
              <a:spcBef>
                <a:spcPct val="20000"/>
              </a:spcBef>
            </a:pPr>
            <a:r>
              <a:rPr lang="en-US" altLang="ko-KR">
                <a:latin typeface="Helvetica" charset="0"/>
                <a:ea typeface="Gulim" charset="0"/>
                <a:cs typeface="Gulim" charset="0"/>
              </a:rPr>
              <a:t>Thread holding at least one resource is waiting to acquire additional resources held by other threads</a:t>
            </a:r>
          </a:p>
          <a:p>
            <a:pPr>
              <a:spcBef>
                <a:spcPct val="20000"/>
              </a:spcBef>
            </a:pPr>
            <a:r>
              <a:rPr lang="en-US" altLang="ko-KR">
                <a:solidFill>
                  <a:schemeClr val="hlink"/>
                </a:solidFill>
                <a:latin typeface="Helvetica" charset="0"/>
                <a:ea typeface="Gulim" charset="0"/>
                <a:cs typeface="Gulim" charset="0"/>
              </a:rPr>
              <a:t>No preemption</a:t>
            </a:r>
          </a:p>
          <a:p>
            <a:pPr lvl="1">
              <a:spcBef>
                <a:spcPct val="20000"/>
              </a:spcBef>
            </a:pPr>
            <a:r>
              <a:rPr lang="en-US" altLang="ko-KR">
                <a:latin typeface="Helvetica" charset="0"/>
                <a:ea typeface="Gulim" charset="0"/>
                <a:cs typeface="Gulim" charset="0"/>
              </a:rPr>
              <a:t>Resources are released only voluntarily by the thread holding the resource, after thread is finished with it</a:t>
            </a:r>
          </a:p>
          <a:p>
            <a:pPr>
              <a:spcBef>
                <a:spcPct val="20000"/>
              </a:spcBef>
            </a:pPr>
            <a:r>
              <a:rPr lang="en-US" altLang="ko-KR">
                <a:solidFill>
                  <a:schemeClr val="hlink"/>
                </a:solidFill>
                <a:latin typeface="Helvetica" charset="0"/>
                <a:ea typeface="Gulim" charset="0"/>
                <a:cs typeface="Gulim" charset="0"/>
              </a:rPr>
              <a:t>Circular wait</a:t>
            </a:r>
          </a:p>
          <a:p>
            <a:pPr lvl="1">
              <a:spcBef>
                <a:spcPct val="20000"/>
              </a:spcBef>
            </a:pPr>
            <a:r>
              <a:rPr lang="en-US" altLang="ko-KR">
                <a:latin typeface="Helvetica" charset="0"/>
                <a:ea typeface="Gulim" charset="0"/>
                <a:cs typeface="Gulim" charset="0"/>
              </a:rPr>
              <a:t>There exists a set {</a:t>
            </a:r>
            <a:r>
              <a:rPr lang="en-US" altLang="ko-KR" i="1">
                <a:latin typeface="Helvetica" charset="0"/>
                <a:ea typeface="Gulim" charset="0"/>
                <a:cs typeface="Gulim" charset="0"/>
              </a:rPr>
              <a:t>T</a:t>
            </a:r>
            <a:r>
              <a:rPr lang="en-US" altLang="ko-KR" baseline="-25000">
                <a:latin typeface="Helvetica" charset="0"/>
                <a:ea typeface="Gulim" charset="0"/>
                <a:cs typeface="Gulim" charset="0"/>
              </a:rPr>
              <a:t>1</a:t>
            </a:r>
            <a:r>
              <a:rPr lang="en-US" altLang="ko-KR">
                <a:latin typeface="Helvetica" charset="0"/>
                <a:ea typeface="Gulim" charset="0"/>
                <a:cs typeface="Gulim" charset="0"/>
              </a:rPr>
              <a:t>, …, </a:t>
            </a:r>
            <a:r>
              <a:rPr lang="en-US" altLang="ko-KR" i="1">
                <a:latin typeface="Helvetica" charset="0"/>
                <a:ea typeface="Gulim" charset="0"/>
                <a:cs typeface="Gulim" charset="0"/>
              </a:rPr>
              <a:t>T</a:t>
            </a:r>
            <a:r>
              <a:rPr lang="en-US" altLang="ko-KR" baseline="-25000">
                <a:latin typeface="Helvetica" charset="0"/>
                <a:ea typeface="Gulim" charset="0"/>
                <a:cs typeface="Gulim" charset="0"/>
              </a:rPr>
              <a:t>n</a:t>
            </a:r>
            <a:r>
              <a:rPr lang="en-US" altLang="ko-KR">
                <a:latin typeface="Helvetica" charset="0"/>
                <a:ea typeface="Gulim" charset="0"/>
                <a:cs typeface="Gulim" charset="0"/>
              </a:rPr>
              <a:t>} of waiting threads</a:t>
            </a:r>
          </a:p>
          <a:p>
            <a:pPr lvl="2">
              <a:spcBef>
                <a:spcPct val="20000"/>
              </a:spcBef>
            </a:pPr>
            <a:r>
              <a:rPr lang="en-US" altLang="ko-KR" i="1">
                <a:latin typeface="Helvetica" charset="0"/>
                <a:ea typeface="Gulim" charset="0"/>
                <a:cs typeface="Gulim" charset="0"/>
              </a:rPr>
              <a:t>T</a:t>
            </a:r>
            <a:r>
              <a:rPr lang="en-US" altLang="ko-KR" baseline="-25000">
                <a:latin typeface="Helvetica" charset="0"/>
                <a:ea typeface="Gulim" charset="0"/>
                <a:cs typeface="Gulim" charset="0"/>
              </a:rPr>
              <a:t>1 </a:t>
            </a:r>
            <a:r>
              <a:rPr lang="en-US" altLang="ko-KR">
                <a:latin typeface="Helvetica" charset="0"/>
                <a:ea typeface="Gulim" charset="0"/>
                <a:cs typeface="Gulim" charset="0"/>
              </a:rPr>
              <a:t>is waiting for a resource that is held by </a:t>
            </a:r>
            <a:r>
              <a:rPr lang="en-US" altLang="ko-KR" i="1">
                <a:latin typeface="Helvetica" charset="0"/>
                <a:ea typeface="Gulim" charset="0"/>
                <a:cs typeface="Gulim" charset="0"/>
              </a:rPr>
              <a:t>T</a:t>
            </a:r>
            <a:r>
              <a:rPr lang="en-US" altLang="ko-KR" baseline="-25000">
                <a:latin typeface="Helvetica" charset="0"/>
                <a:ea typeface="Gulim" charset="0"/>
                <a:cs typeface="Gulim" charset="0"/>
              </a:rPr>
              <a:t>2</a:t>
            </a:r>
            <a:endParaRPr lang="en-US" altLang="ko-KR">
              <a:latin typeface="Helvetica" charset="0"/>
              <a:ea typeface="Gulim" charset="0"/>
              <a:cs typeface="Gulim" charset="0"/>
            </a:endParaRPr>
          </a:p>
          <a:p>
            <a:pPr lvl="2">
              <a:spcBef>
                <a:spcPct val="20000"/>
              </a:spcBef>
            </a:pPr>
            <a:r>
              <a:rPr lang="en-US" altLang="ko-KR" i="1">
                <a:latin typeface="Helvetica" charset="0"/>
                <a:ea typeface="Gulim" charset="0"/>
                <a:cs typeface="Gulim" charset="0"/>
              </a:rPr>
              <a:t>T</a:t>
            </a:r>
            <a:r>
              <a:rPr lang="en-US" altLang="ko-KR" baseline="-25000">
                <a:latin typeface="Helvetica" charset="0"/>
                <a:ea typeface="Gulim" charset="0"/>
                <a:cs typeface="Gulim" charset="0"/>
              </a:rPr>
              <a:t>2</a:t>
            </a:r>
            <a:r>
              <a:rPr lang="en-US" altLang="ko-KR">
                <a:latin typeface="Helvetica" charset="0"/>
                <a:ea typeface="Gulim" charset="0"/>
                <a:cs typeface="Gulim" charset="0"/>
              </a:rPr>
              <a:t> is waiting for a resource that is held by </a:t>
            </a:r>
            <a:r>
              <a:rPr lang="en-US" altLang="ko-KR" i="1">
                <a:latin typeface="Helvetica" charset="0"/>
                <a:ea typeface="Gulim" charset="0"/>
                <a:cs typeface="Gulim" charset="0"/>
              </a:rPr>
              <a:t>T</a:t>
            </a:r>
            <a:r>
              <a:rPr lang="en-US" altLang="ko-KR" baseline="-25000">
                <a:latin typeface="Helvetica" charset="0"/>
                <a:ea typeface="Gulim" charset="0"/>
                <a:cs typeface="Gulim" charset="0"/>
              </a:rPr>
              <a:t>3</a:t>
            </a:r>
            <a:endParaRPr lang="en-US" altLang="ko-KR">
              <a:latin typeface="Helvetica" charset="0"/>
              <a:ea typeface="Gulim" charset="0"/>
              <a:cs typeface="Gulim" charset="0"/>
            </a:endParaRPr>
          </a:p>
          <a:p>
            <a:pPr lvl="2">
              <a:spcBef>
                <a:spcPct val="20000"/>
              </a:spcBef>
            </a:pPr>
            <a:r>
              <a:rPr lang="en-US" altLang="ko-KR">
                <a:latin typeface="Helvetica" charset="0"/>
                <a:ea typeface="Gulim" charset="0"/>
                <a:cs typeface="Gulim" charset="0"/>
              </a:rPr>
              <a:t>…</a:t>
            </a:r>
          </a:p>
          <a:p>
            <a:pPr lvl="2">
              <a:spcBef>
                <a:spcPct val="20000"/>
              </a:spcBef>
            </a:pPr>
            <a:r>
              <a:rPr lang="en-US" altLang="ko-KR" i="1">
                <a:latin typeface="Helvetica" charset="0"/>
                <a:ea typeface="Gulim" charset="0"/>
                <a:cs typeface="Gulim" charset="0"/>
              </a:rPr>
              <a:t>T</a:t>
            </a:r>
            <a:r>
              <a:rPr lang="en-US" altLang="ko-KR" i="1" baseline="-25000">
                <a:latin typeface="Helvetica" charset="0"/>
                <a:ea typeface="Gulim" charset="0"/>
                <a:cs typeface="Gulim" charset="0"/>
              </a:rPr>
              <a:t>n</a:t>
            </a:r>
            <a:r>
              <a:rPr lang="en-US" altLang="ko-KR">
                <a:latin typeface="Helvetica" charset="0"/>
                <a:ea typeface="Gulim" charset="0"/>
                <a:cs typeface="Gulim" charset="0"/>
              </a:rPr>
              <a:t> is waiting for a resource that is held by </a:t>
            </a:r>
            <a:r>
              <a:rPr lang="en-US" altLang="ko-KR" i="1">
                <a:latin typeface="Helvetica" charset="0"/>
                <a:ea typeface="Gulim" charset="0"/>
                <a:cs typeface="Gulim" charset="0"/>
              </a:rPr>
              <a:t>T</a:t>
            </a:r>
            <a:r>
              <a:rPr lang="en-US" altLang="ko-KR" baseline="-25000">
                <a:latin typeface="Helvetica" charset="0"/>
                <a:ea typeface="Gulim" charset="0"/>
                <a:cs typeface="Gulim" charset="0"/>
              </a:rPr>
              <a:t>1</a:t>
            </a:r>
            <a:endParaRPr lang="en-US" altLang="ko-KR">
              <a:latin typeface="Helvetica" charset="0"/>
              <a:ea typeface="Gulim" charset="0"/>
              <a:cs typeface="Gulim" charset="0"/>
            </a:endParaRPr>
          </a:p>
        </p:txBody>
      </p:sp>
      <p:sp>
        <p:nvSpPr>
          <p:cNvPr id="4" name="圆角矩形 3">
            <a:extLst>
              <a:ext uri="{FF2B5EF4-FFF2-40B4-BE49-F238E27FC236}">
                <a16:creationId xmlns:a16="http://schemas.microsoft.com/office/drawing/2014/main" id="{D8D999BC-EC22-830D-4CAA-9D5873FABF24}"/>
              </a:ext>
            </a:extLst>
          </p:cNvPr>
          <p:cNvSpPr/>
          <p:nvPr/>
        </p:nvSpPr>
        <p:spPr bwMode="auto">
          <a:xfrm rot="1127902">
            <a:off x="5411565" y="617657"/>
            <a:ext cx="3733800" cy="609600"/>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Issues:</a:t>
            </a:r>
            <a:r>
              <a:rPr kumimoji="1" lang="zh-CN" altLang="en-US" b="0" dirty="0">
                <a:latin typeface="Helvetica"/>
                <a:cs typeface="Helvetica"/>
              </a:rPr>
              <a:t> </a:t>
            </a:r>
            <a:r>
              <a:rPr kumimoji="1" lang="en-US" altLang="zh-CN" b="0" dirty="0">
                <a:latin typeface="Helvetica"/>
                <a:cs typeface="Helvetica"/>
              </a:rPr>
              <a:t>deadlocks</a:t>
            </a:r>
            <a:endParaRPr kumimoji="1" lang="zh-CN" altLang="en-US" b="0" dirty="0">
              <a:latin typeface="Helvetica"/>
              <a:cs typeface="Helvetica"/>
            </a:endParaRPr>
          </a:p>
        </p:txBody>
      </p:sp>
      <p:sp>
        <p:nvSpPr>
          <p:cNvPr id="5" name="圆角矩形 4">
            <a:extLst>
              <a:ext uri="{FF2B5EF4-FFF2-40B4-BE49-F238E27FC236}">
                <a16:creationId xmlns:a16="http://schemas.microsoft.com/office/drawing/2014/main" id="{B6BF9603-405A-319F-EB02-1D46243CADAA}"/>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Issues</a:t>
            </a:r>
            <a:r>
              <a:rPr kumimoji="1" lang="zh-CN" altLang="en-US" b="0" dirty="0">
                <a:latin typeface="Helvetica"/>
                <a:cs typeface="Helvetica"/>
              </a:rPr>
              <a:t> </a:t>
            </a:r>
            <a:r>
              <a:rPr kumimoji="1" lang="en-US" altLang="zh-CN" b="0" dirty="0">
                <a:latin typeface="Helvetica"/>
                <a:cs typeface="Helvetica"/>
              </a:rPr>
              <a:t>created</a:t>
            </a:r>
            <a:r>
              <a:rPr kumimoji="1" lang="zh-CN" altLang="en-US" b="0" dirty="0">
                <a:latin typeface="Helvetica"/>
                <a:cs typeface="Helvetica"/>
              </a:rPr>
              <a:t> </a:t>
            </a:r>
            <a:r>
              <a:rPr kumimoji="1" lang="en-US" altLang="zh-CN" b="0" dirty="0">
                <a:latin typeface="Helvetica"/>
                <a:cs typeface="Helvetica"/>
              </a:rPr>
              <a:t>by</a:t>
            </a:r>
            <a:r>
              <a:rPr kumimoji="1" lang="zh-CN" altLang="en-US" b="0" dirty="0">
                <a:latin typeface="Helvetica"/>
                <a:cs typeface="Helvetica"/>
              </a:rPr>
              <a:t> </a:t>
            </a:r>
            <a:r>
              <a:rPr kumimoji="1" lang="en-US" altLang="zh-CN" b="0" dirty="0">
                <a:latin typeface="Helvetica"/>
                <a:cs typeface="Helvetica"/>
              </a:rPr>
              <a:t>concurrency</a:t>
            </a:r>
          </a:p>
        </p:txBody>
      </p:sp>
    </p:spTree>
    <p:extLst>
      <p:ext uri="{BB962C8B-B14F-4D97-AF65-F5344CB8AC3E}">
        <p14:creationId xmlns:p14="http://schemas.microsoft.com/office/powerpoint/2010/main" val="35727725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C3C2F7-6365-884E-8FF9-C0C2E531A856}"/>
              </a:ext>
            </a:extLst>
          </p:cNvPr>
          <p:cNvSpPr>
            <a:spLocks noGrp="1"/>
          </p:cNvSpPr>
          <p:nvPr>
            <p:ph type="title"/>
          </p:nvPr>
        </p:nvSpPr>
        <p:spPr/>
        <p:txBody>
          <a:bodyPr/>
          <a:lstStyle/>
          <a:p>
            <a:r>
              <a:rPr kumimoji="1" lang="en-US" altLang="zh-CN" dirty="0"/>
              <a:t>Git</a:t>
            </a:r>
            <a:r>
              <a:rPr kumimoji="1" lang="zh-CN" altLang="en-US" dirty="0"/>
              <a:t> </a:t>
            </a:r>
            <a:r>
              <a:rPr kumimoji="1" lang="en-US" altLang="zh-CN" dirty="0"/>
              <a:t>Merging</a:t>
            </a:r>
            <a:r>
              <a:rPr kumimoji="1" lang="zh-CN" altLang="en-US" dirty="0"/>
              <a:t> </a:t>
            </a:r>
            <a:r>
              <a:rPr kumimoji="1" lang="en-US" altLang="zh-CN" dirty="0"/>
              <a:t>Conflict</a:t>
            </a:r>
            <a:endParaRPr kumimoji="1" lang="zh-CN" altLang="en-US" dirty="0"/>
          </a:p>
        </p:txBody>
      </p:sp>
      <p:pic>
        <p:nvPicPr>
          <p:cNvPr id="4" name="图片 3">
            <a:extLst>
              <a:ext uri="{FF2B5EF4-FFF2-40B4-BE49-F238E27FC236}">
                <a16:creationId xmlns:a16="http://schemas.microsoft.com/office/drawing/2014/main" id="{86B846FD-5A48-6A4C-BB07-2EE5D05210C7}"/>
              </a:ext>
            </a:extLst>
          </p:cNvPr>
          <p:cNvPicPr>
            <a:picLocks noChangeAspect="1"/>
          </p:cNvPicPr>
          <p:nvPr/>
        </p:nvPicPr>
        <p:blipFill>
          <a:blip r:embed="rId2"/>
          <a:stretch>
            <a:fillRect/>
          </a:stretch>
        </p:blipFill>
        <p:spPr>
          <a:xfrm>
            <a:off x="0" y="882291"/>
            <a:ext cx="9144000" cy="5093417"/>
          </a:xfrm>
          <a:prstGeom prst="rect">
            <a:avLst/>
          </a:prstGeom>
        </p:spPr>
      </p:pic>
      <p:sp>
        <p:nvSpPr>
          <p:cNvPr id="5" name="圆角矩形 4">
            <a:extLst>
              <a:ext uri="{FF2B5EF4-FFF2-40B4-BE49-F238E27FC236}">
                <a16:creationId xmlns:a16="http://schemas.microsoft.com/office/drawing/2014/main" id="{601C7430-7318-7C16-BCB9-DD7872CF8E1E}"/>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Human</a:t>
            </a:r>
            <a:r>
              <a:rPr kumimoji="1" lang="zh-CN" altLang="en-US" b="0" dirty="0">
                <a:latin typeface="Helvetica"/>
                <a:cs typeface="Helvetica"/>
              </a:rPr>
              <a:t> </a:t>
            </a:r>
            <a:r>
              <a:rPr kumimoji="1" lang="en-US" altLang="zh-CN" b="0" dirty="0">
                <a:latin typeface="Helvetica"/>
                <a:cs typeface="Helvetica"/>
              </a:rPr>
              <a:t>parallelism</a:t>
            </a:r>
          </a:p>
          <a:p>
            <a:pPr algn="ctr"/>
            <a:r>
              <a:rPr kumimoji="1" lang="en-US" altLang="zh-CN" b="0" dirty="0">
                <a:latin typeface="Helvetica"/>
                <a:cs typeface="Helvetica"/>
              </a:rPr>
              <a:t>Solving</a:t>
            </a:r>
            <a:r>
              <a:rPr kumimoji="1" lang="zh-CN" altLang="en-US" b="0" dirty="0">
                <a:latin typeface="Helvetica"/>
                <a:cs typeface="Helvetica"/>
              </a:rPr>
              <a:t> </a:t>
            </a:r>
            <a:r>
              <a:rPr kumimoji="1" lang="en-US" altLang="zh-CN" b="0" dirty="0">
                <a:latin typeface="Helvetica"/>
                <a:cs typeface="Helvetica"/>
              </a:rPr>
              <a:t>conflicts</a:t>
            </a:r>
            <a:r>
              <a:rPr kumimoji="1" lang="zh-CN" altLang="en-US" b="0" dirty="0">
                <a:latin typeface="Helvetica"/>
                <a:cs typeface="Helvetica"/>
              </a:rPr>
              <a:t> </a:t>
            </a:r>
          </a:p>
        </p:txBody>
      </p:sp>
      <p:sp>
        <p:nvSpPr>
          <p:cNvPr id="6" name="圆角矩形 5">
            <a:extLst>
              <a:ext uri="{FF2B5EF4-FFF2-40B4-BE49-F238E27FC236}">
                <a16:creationId xmlns:a16="http://schemas.microsoft.com/office/drawing/2014/main" id="{E97055AB-7601-3CA9-4F1F-7B0E4FD5EB2F}"/>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Issues</a:t>
            </a:r>
            <a:r>
              <a:rPr kumimoji="1" lang="zh-CN" altLang="en-US" b="0" dirty="0">
                <a:latin typeface="Helvetica"/>
                <a:cs typeface="Helvetica"/>
              </a:rPr>
              <a:t> </a:t>
            </a:r>
            <a:r>
              <a:rPr kumimoji="1" lang="en-US" altLang="zh-CN" b="0" dirty="0">
                <a:latin typeface="Helvetica"/>
                <a:cs typeface="Helvetica"/>
              </a:rPr>
              <a:t>created</a:t>
            </a:r>
            <a:r>
              <a:rPr kumimoji="1" lang="zh-CN" altLang="en-US" b="0" dirty="0">
                <a:latin typeface="Helvetica"/>
                <a:cs typeface="Helvetica"/>
              </a:rPr>
              <a:t> </a:t>
            </a:r>
            <a:r>
              <a:rPr kumimoji="1" lang="en-US" altLang="zh-CN" b="0" dirty="0">
                <a:latin typeface="Helvetica"/>
                <a:cs typeface="Helvetica"/>
              </a:rPr>
              <a:t>by</a:t>
            </a:r>
            <a:r>
              <a:rPr kumimoji="1" lang="zh-CN" altLang="en-US" b="0" dirty="0">
                <a:latin typeface="Helvetica"/>
                <a:cs typeface="Helvetica"/>
              </a:rPr>
              <a:t> </a:t>
            </a:r>
            <a:r>
              <a:rPr kumimoji="1" lang="en-US" altLang="zh-CN" b="0" dirty="0">
                <a:latin typeface="Helvetica"/>
                <a:cs typeface="Helvetica"/>
              </a:rPr>
              <a:t>concurrency</a:t>
            </a:r>
          </a:p>
        </p:txBody>
      </p:sp>
    </p:spTree>
    <p:extLst>
      <p:ext uri="{BB962C8B-B14F-4D97-AF65-F5344CB8AC3E}">
        <p14:creationId xmlns:p14="http://schemas.microsoft.com/office/powerpoint/2010/main" val="3497212001"/>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AB125B-47CE-6E57-C0AB-D757D651F6C8}"/>
              </a:ext>
            </a:extLst>
          </p:cNvPr>
          <p:cNvSpPr>
            <a:spLocks noGrp="1"/>
          </p:cNvSpPr>
          <p:nvPr>
            <p:ph type="title"/>
          </p:nvPr>
        </p:nvSpPr>
        <p:spPr/>
        <p:txBody>
          <a:bodyPr/>
          <a:lstStyle/>
          <a:p>
            <a:r>
              <a:rPr kumimoji="1" lang="en-US" altLang="zh-CN" dirty="0"/>
              <a:t>Interfaces</a:t>
            </a:r>
            <a:r>
              <a:rPr kumimoji="1" lang="zh-CN" altLang="en-US" dirty="0"/>
              <a:t> </a:t>
            </a:r>
            <a:r>
              <a:rPr kumimoji="1" lang="en-US" altLang="zh-CN" dirty="0"/>
              <a:t>to</a:t>
            </a:r>
            <a:r>
              <a:rPr kumimoji="1" lang="zh-CN" altLang="en-US" dirty="0"/>
              <a:t> </a:t>
            </a:r>
            <a:r>
              <a:rPr kumimoji="1" lang="en-US" altLang="zh-CN" dirty="0"/>
              <a:t>Parallelism</a:t>
            </a:r>
            <a:endParaRPr kumimoji="1" lang="zh-CN" altLang="en-US" dirty="0"/>
          </a:p>
        </p:txBody>
      </p:sp>
      <p:sp>
        <p:nvSpPr>
          <p:cNvPr id="3" name="内容占位符 2">
            <a:extLst>
              <a:ext uri="{FF2B5EF4-FFF2-40B4-BE49-F238E27FC236}">
                <a16:creationId xmlns:a16="http://schemas.microsoft.com/office/drawing/2014/main" id="{A3FB246F-4912-DFBC-D862-D3252067E5C4}"/>
              </a:ext>
            </a:extLst>
          </p:cNvPr>
          <p:cNvSpPr>
            <a:spLocks noGrp="1"/>
          </p:cNvSpPr>
          <p:nvPr>
            <p:ph idx="1"/>
          </p:nvPr>
        </p:nvSpPr>
        <p:spPr/>
        <p:txBody>
          <a:bodyPr/>
          <a:lstStyle/>
          <a:p>
            <a:r>
              <a:rPr kumimoji="1" lang="en-US" altLang="zh-CN" dirty="0"/>
              <a:t>Interface</a:t>
            </a:r>
            <a:r>
              <a:rPr kumimoji="1" lang="zh-CN" altLang="en-US" dirty="0"/>
              <a:t> </a:t>
            </a:r>
            <a:r>
              <a:rPr kumimoji="1" lang="en-US" altLang="zh-CN" dirty="0"/>
              <a:t>to</a:t>
            </a:r>
            <a:r>
              <a:rPr kumimoji="1" lang="zh-CN" altLang="en-US" dirty="0"/>
              <a:t> </a:t>
            </a:r>
            <a:r>
              <a:rPr kumimoji="1" lang="en-US" altLang="zh-CN" dirty="0"/>
              <a:t>CPU</a:t>
            </a:r>
            <a:r>
              <a:rPr kumimoji="1" lang="zh-CN" altLang="en-US" dirty="0"/>
              <a:t> </a:t>
            </a:r>
            <a:r>
              <a:rPr kumimoji="1" lang="en-US" altLang="zh-CN" dirty="0" err="1"/>
              <a:t>parallelsm</a:t>
            </a:r>
            <a:endParaRPr kumimoji="1" lang="en-US" altLang="zh-CN" dirty="0"/>
          </a:p>
          <a:p>
            <a:pPr lvl="1"/>
            <a:r>
              <a:rPr kumimoji="1" lang="en-US" altLang="zh-CN" dirty="0"/>
              <a:t>SIMD</a:t>
            </a:r>
            <a:r>
              <a:rPr kumimoji="1" lang="zh-CN" altLang="en-US" dirty="0"/>
              <a:t> </a:t>
            </a:r>
            <a:r>
              <a:rPr kumimoji="1" lang="en-US" altLang="zh-CN" dirty="0"/>
              <a:t>instructions</a:t>
            </a:r>
          </a:p>
          <a:p>
            <a:pPr lvl="1"/>
            <a:r>
              <a:rPr kumimoji="1" lang="en-US" altLang="zh-CN" dirty="0"/>
              <a:t>Compiler</a:t>
            </a:r>
            <a:r>
              <a:rPr kumimoji="1" lang="zh-CN" altLang="en-US" dirty="0"/>
              <a:t> </a:t>
            </a:r>
            <a:r>
              <a:rPr kumimoji="1" lang="en-US" altLang="zh-CN" dirty="0"/>
              <a:t>auto-optimization</a:t>
            </a:r>
            <a:r>
              <a:rPr kumimoji="1" lang="zh-CN" altLang="en-US" dirty="0"/>
              <a:t> </a:t>
            </a:r>
            <a:r>
              <a:rPr kumimoji="1" lang="en-US" altLang="zh-CN" dirty="0"/>
              <a:t>(Static</a:t>
            </a:r>
            <a:r>
              <a:rPr kumimoji="1" lang="zh-CN" altLang="en-US" dirty="0"/>
              <a:t> </a:t>
            </a:r>
            <a:r>
              <a:rPr kumimoji="1" lang="en-US" altLang="zh-CN" dirty="0"/>
              <a:t>analysis)</a:t>
            </a:r>
          </a:p>
          <a:p>
            <a:pPr lvl="1"/>
            <a:r>
              <a:rPr kumimoji="1" lang="en-US" altLang="zh-CN" dirty="0"/>
              <a:t>Processes</a:t>
            </a:r>
          </a:p>
          <a:p>
            <a:pPr lvl="1"/>
            <a:r>
              <a:rPr kumimoji="1" lang="en-US" altLang="zh-CN" dirty="0"/>
              <a:t>Threads</a:t>
            </a:r>
          </a:p>
          <a:p>
            <a:endParaRPr kumimoji="1" lang="en-US" altLang="zh-CN" dirty="0"/>
          </a:p>
          <a:p>
            <a:r>
              <a:rPr kumimoji="1" lang="en-US" altLang="zh-CN" dirty="0"/>
              <a:t>Interfaces</a:t>
            </a:r>
            <a:r>
              <a:rPr kumimoji="1" lang="zh-CN" altLang="en-US" dirty="0"/>
              <a:t> </a:t>
            </a:r>
            <a:r>
              <a:rPr kumimoji="1" lang="en-US" altLang="zh-CN" dirty="0"/>
              <a:t>for</a:t>
            </a:r>
            <a:r>
              <a:rPr kumimoji="1" lang="zh-CN" altLang="en-US" dirty="0"/>
              <a:t> </a:t>
            </a:r>
            <a:r>
              <a:rPr kumimoji="1" lang="en-US" altLang="zh-CN" dirty="0"/>
              <a:t>I/O</a:t>
            </a:r>
            <a:r>
              <a:rPr kumimoji="1" lang="zh-CN" altLang="en-US" dirty="0"/>
              <a:t> </a:t>
            </a:r>
            <a:r>
              <a:rPr kumimoji="1" lang="en-US" altLang="zh-CN" dirty="0"/>
              <a:t>parallelism</a:t>
            </a:r>
          </a:p>
          <a:p>
            <a:pPr lvl="1"/>
            <a:r>
              <a:rPr kumimoji="1" lang="en-US" altLang="zh-CN" dirty="0"/>
              <a:t>Transparent</a:t>
            </a:r>
            <a:r>
              <a:rPr kumimoji="1" lang="zh-CN" altLang="en-US" dirty="0"/>
              <a:t> </a:t>
            </a:r>
            <a:r>
              <a:rPr kumimoji="1" lang="en-US" altLang="zh-CN" dirty="0"/>
              <a:t>(hardware)</a:t>
            </a:r>
          </a:p>
          <a:p>
            <a:pPr lvl="1"/>
            <a:r>
              <a:rPr kumimoji="1" lang="en-US" altLang="zh-CN" dirty="0" err="1"/>
              <a:t>Mmap</a:t>
            </a:r>
            <a:endParaRPr kumimoji="1" lang="en-US" altLang="zh-CN" dirty="0"/>
          </a:p>
          <a:p>
            <a:pPr lvl="1"/>
            <a:r>
              <a:rPr kumimoji="1" lang="en-US" altLang="zh-CN" dirty="0"/>
              <a:t>Buffer</a:t>
            </a:r>
            <a:r>
              <a:rPr kumimoji="1" lang="zh-CN" altLang="en-US" dirty="0"/>
              <a:t> </a:t>
            </a:r>
            <a:r>
              <a:rPr kumimoji="1" lang="en-US" altLang="zh-CN" dirty="0"/>
              <a:t>cache</a:t>
            </a:r>
            <a:r>
              <a:rPr kumimoji="1" lang="zh-CN" altLang="en-US" dirty="0"/>
              <a:t> </a:t>
            </a:r>
            <a:r>
              <a:rPr kumimoji="1" lang="en-US" altLang="zh-CN" dirty="0"/>
              <a:t>/</a:t>
            </a:r>
            <a:r>
              <a:rPr kumimoji="1" lang="zh-CN" altLang="en-US" dirty="0"/>
              <a:t> </a:t>
            </a:r>
            <a:r>
              <a:rPr kumimoji="1" lang="en-US" altLang="zh-CN" dirty="0"/>
              <a:t>write</a:t>
            </a:r>
            <a:r>
              <a:rPr kumimoji="1" lang="zh-CN" altLang="en-US" dirty="0"/>
              <a:t> </a:t>
            </a:r>
            <a:r>
              <a:rPr kumimoji="1" lang="en-US" altLang="zh-CN" dirty="0"/>
              <a:t>back</a:t>
            </a:r>
          </a:p>
          <a:p>
            <a:pPr lvl="1"/>
            <a:r>
              <a:rPr kumimoji="1" lang="en-US" altLang="zh-CN" dirty="0"/>
              <a:t>Transactions</a:t>
            </a:r>
          </a:p>
          <a:p>
            <a:pPr lvl="1"/>
            <a:r>
              <a:rPr kumimoji="1" lang="en-US" altLang="zh-CN" dirty="0"/>
              <a:t>Interrupts</a:t>
            </a:r>
            <a:r>
              <a:rPr kumimoji="1" lang="zh-CN" altLang="en-US" dirty="0"/>
              <a:t> </a:t>
            </a:r>
            <a:endParaRPr kumimoji="1" lang="en-US" altLang="zh-CN" dirty="0"/>
          </a:p>
        </p:txBody>
      </p:sp>
    </p:spTree>
    <p:extLst>
      <p:ext uri="{BB962C8B-B14F-4D97-AF65-F5344CB8AC3E}">
        <p14:creationId xmlns:p14="http://schemas.microsoft.com/office/powerpoint/2010/main" val="1493196566"/>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86956B-65BE-B556-BD0B-9BB54B65E5AB}"/>
              </a:ext>
            </a:extLst>
          </p:cNvPr>
          <p:cNvSpPr>
            <a:spLocks noGrp="1"/>
          </p:cNvSpPr>
          <p:nvPr>
            <p:ph type="title"/>
          </p:nvPr>
        </p:nvSpPr>
        <p:spPr>
          <a:xfrm>
            <a:off x="609600" y="3200400"/>
            <a:ext cx="7772400" cy="1362075"/>
          </a:xfrm>
        </p:spPr>
        <p:txBody>
          <a:bodyPr/>
          <a:lstStyle/>
          <a:p>
            <a:r>
              <a:rPr kumimoji="1" lang="en-US" altLang="zh-CN" dirty="0"/>
              <a:t>Time</a:t>
            </a:r>
            <a:r>
              <a:rPr kumimoji="1" lang="zh-CN" altLang="en-US" dirty="0"/>
              <a:t> </a:t>
            </a:r>
            <a:r>
              <a:rPr kumimoji="1" lang="en-US" altLang="zh-CN" dirty="0"/>
              <a:t>sharing</a:t>
            </a:r>
            <a:r>
              <a:rPr kumimoji="1" lang="zh-CN" altLang="en-US" dirty="0"/>
              <a:t> </a:t>
            </a:r>
            <a:r>
              <a:rPr kumimoji="1" lang="en-US" altLang="zh-CN" dirty="0"/>
              <a:t>/</a:t>
            </a:r>
            <a:r>
              <a:rPr kumimoji="1" lang="zh-CN" altLang="en-US" dirty="0"/>
              <a:t> </a:t>
            </a:r>
            <a:r>
              <a:rPr kumimoji="1" lang="en-US" altLang="zh-CN" dirty="0"/>
              <a:t>multiplexing</a:t>
            </a:r>
            <a:endParaRPr kumimoji="1" lang="zh-CN" altLang="en-US" dirty="0"/>
          </a:p>
        </p:txBody>
      </p:sp>
      <p:sp>
        <p:nvSpPr>
          <p:cNvPr id="3" name="文本占位符 2">
            <a:extLst>
              <a:ext uri="{FF2B5EF4-FFF2-40B4-BE49-F238E27FC236}">
                <a16:creationId xmlns:a16="http://schemas.microsoft.com/office/drawing/2014/main" id="{2782967A-8B7C-8A93-B7C1-B8EEDE098742}"/>
              </a:ext>
            </a:extLst>
          </p:cNvPr>
          <p:cNvSpPr>
            <a:spLocks noGrp="1"/>
          </p:cNvSpPr>
          <p:nvPr>
            <p:ph type="body" idx="1"/>
          </p:nvPr>
        </p:nvSpPr>
        <p:spPr>
          <a:xfrm>
            <a:off x="609600" y="4419600"/>
            <a:ext cx="7772400" cy="1500187"/>
          </a:xfrm>
        </p:spPr>
        <p:txBody>
          <a:bodyPr/>
          <a:lstStyle/>
          <a:p>
            <a:r>
              <a:rPr kumimoji="1" lang="en-US" altLang="zh-CN" dirty="0"/>
              <a:t>Different</a:t>
            </a:r>
            <a:r>
              <a:rPr kumimoji="1" lang="zh-CN" altLang="en-US" dirty="0"/>
              <a:t> </a:t>
            </a:r>
            <a:r>
              <a:rPr kumimoji="1" lang="en-US" altLang="zh-CN" dirty="0"/>
              <a:t>goal</a:t>
            </a:r>
            <a:r>
              <a:rPr kumimoji="1" lang="zh-CN" altLang="en-US" dirty="0"/>
              <a:t> </a:t>
            </a:r>
            <a:r>
              <a:rPr kumimoji="1" lang="en-US" altLang="zh-CN" dirty="0"/>
              <a:t>from</a:t>
            </a:r>
            <a:r>
              <a:rPr kumimoji="1" lang="zh-CN" altLang="en-US" dirty="0"/>
              <a:t> </a:t>
            </a:r>
            <a:r>
              <a:rPr kumimoji="1" lang="en-US" altLang="zh-CN" dirty="0"/>
              <a:t>papalism</a:t>
            </a:r>
            <a:r>
              <a:rPr kumimoji="1" lang="zh-CN" altLang="en-US" dirty="0"/>
              <a:t> </a:t>
            </a:r>
            <a:r>
              <a:rPr kumimoji="1" lang="en-US" altLang="zh-CN" dirty="0"/>
              <a:t>–</a:t>
            </a:r>
            <a:r>
              <a:rPr kumimoji="1" lang="zh-CN" altLang="en-US" dirty="0"/>
              <a:t> </a:t>
            </a:r>
            <a:r>
              <a:rPr kumimoji="1" lang="en-US" altLang="zh-CN" dirty="0"/>
              <a:t>you</a:t>
            </a:r>
            <a:r>
              <a:rPr kumimoji="1" lang="zh-CN" altLang="en-US" dirty="0"/>
              <a:t> </a:t>
            </a:r>
            <a:r>
              <a:rPr kumimoji="1" lang="en-US" altLang="zh-CN" dirty="0"/>
              <a:t>only</a:t>
            </a:r>
            <a:r>
              <a:rPr kumimoji="1" lang="zh-CN" altLang="en-US" dirty="0"/>
              <a:t> </a:t>
            </a:r>
            <a:r>
              <a:rPr kumimoji="1" lang="en-US" altLang="zh-CN" dirty="0"/>
              <a:t>have</a:t>
            </a:r>
            <a:r>
              <a:rPr kumimoji="1" lang="zh-CN" altLang="en-US" dirty="0"/>
              <a:t> </a:t>
            </a:r>
            <a:r>
              <a:rPr kumimoji="1" lang="en-US" altLang="zh-CN" dirty="0"/>
              <a:t>a</a:t>
            </a:r>
            <a:r>
              <a:rPr kumimoji="1" lang="zh-CN" altLang="en-US" dirty="0"/>
              <a:t> </a:t>
            </a:r>
            <a:r>
              <a:rPr kumimoji="1" lang="en-US" altLang="zh-CN" dirty="0"/>
              <a:t>single</a:t>
            </a:r>
            <a:r>
              <a:rPr kumimoji="1" lang="zh-CN" altLang="en-US" dirty="0"/>
              <a:t> </a:t>
            </a:r>
            <a:r>
              <a:rPr kumimoji="1" lang="en-US" altLang="zh-CN" dirty="0"/>
              <a:t>resource,</a:t>
            </a:r>
            <a:r>
              <a:rPr kumimoji="1" lang="zh-CN" altLang="en-US" dirty="0"/>
              <a:t> </a:t>
            </a:r>
            <a:r>
              <a:rPr kumimoji="1" lang="en-US" altLang="zh-CN" dirty="0"/>
              <a:t>but</a:t>
            </a:r>
            <a:r>
              <a:rPr kumimoji="1" lang="zh-CN" altLang="en-US" dirty="0"/>
              <a:t> </a:t>
            </a:r>
            <a:r>
              <a:rPr kumimoji="1" lang="en-US" altLang="zh-CN" dirty="0"/>
              <a:t>you</a:t>
            </a:r>
            <a:r>
              <a:rPr kumimoji="1" lang="zh-CN" altLang="en-US" dirty="0"/>
              <a:t> </a:t>
            </a:r>
            <a:r>
              <a:rPr kumimoji="1" lang="en-US" altLang="zh-CN" dirty="0"/>
              <a:t>pretend</a:t>
            </a:r>
            <a:r>
              <a:rPr kumimoji="1" lang="zh-CN" altLang="en-US" dirty="0"/>
              <a:t> </a:t>
            </a:r>
            <a:r>
              <a:rPr kumimoji="1" lang="en-US" altLang="zh-CN" dirty="0"/>
              <a:t>to</a:t>
            </a:r>
            <a:r>
              <a:rPr kumimoji="1" lang="zh-CN" altLang="en-US" dirty="0"/>
              <a:t> </a:t>
            </a:r>
            <a:r>
              <a:rPr kumimoji="1" lang="en-US" altLang="zh-CN" dirty="0"/>
              <a:t>have</a:t>
            </a:r>
            <a:r>
              <a:rPr kumimoji="1" lang="zh-CN" altLang="en-US" dirty="0"/>
              <a:t> </a:t>
            </a:r>
            <a:r>
              <a:rPr kumimoji="1" lang="en-US" altLang="zh-CN" dirty="0"/>
              <a:t>more</a:t>
            </a:r>
            <a:r>
              <a:rPr kumimoji="1" lang="zh-CN" altLang="en-US" dirty="0"/>
              <a:t> </a:t>
            </a:r>
            <a:r>
              <a:rPr kumimoji="1" lang="en-US" altLang="zh-CN" dirty="0"/>
              <a:t>than</a:t>
            </a:r>
            <a:r>
              <a:rPr kumimoji="1" lang="zh-CN" altLang="en-US" dirty="0"/>
              <a:t> </a:t>
            </a:r>
            <a:r>
              <a:rPr kumimoji="1" lang="en-US" altLang="zh-CN" dirty="0"/>
              <a:t>one</a:t>
            </a:r>
            <a:r>
              <a:rPr kumimoji="1" lang="zh-CN" altLang="en-US" dirty="0"/>
              <a:t> </a:t>
            </a:r>
            <a:r>
              <a:rPr kumimoji="1" lang="en-US" altLang="zh-CN" dirty="0"/>
              <a:t>for</a:t>
            </a:r>
            <a:r>
              <a:rPr kumimoji="1" lang="zh-CN" altLang="en-US" dirty="0"/>
              <a:t> </a:t>
            </a:r>
            <a:r>
              <a:rPr kumimoji="1" lang="en-US" altLang="zh-CN" dirty="0"/>
              <a:t>different</a:t>
            </a:r>
            <a:r>
              <a:rPr kumimoji="1" lang="zh-CN" altLang="en-US" dirty="0"/>
              <a:t> </a:t>
            </a:r>
            <a:r>
              <a:rPr kumimoji="1" lang="en-US" altLang="zh-CN" dirty="0"/>
              <a:t>users.</a:t>
            </a:r>
            <a:endParaRPr kumimoji="1" lang="zh-CN" altLang="en-US" dirty="0"/>
          </a:p>
        </p:txBody>
      </p:sp>
    </p:spTree>
    <p:extLst>
      <p:ext uri="{BB962C8B-B14F-4D97-AF65-F5344CB8AC3E}">
        <p14:creationId xmlns:p14="http://schemas.microsoft.com/office/powerpoint/2010/main" val="2100736408"/>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930B3C80-2AD7-1FC4-3E5B-0082ADC931B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5" name="圆角矩形 4">
            <a:extLst>
              <a:ext uri="{FF2B5EF4-FFF2-40B4-BE49-F238E27FC236}">
                <a16:creationId xmlns:a16="http://schemas.microsoft.com/office/drawing/2014/main" id="{3BFFD966-2EAF-DD57-93C5-4F03876297D5}"/>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I/O</a:t>
            </a:r>
            <a:r>
              <a:rPr kumimoji="1" lang="zh-CN" altLang="en-US" b="0" dirty="0">
                <a:latin typeface="Helvetica"/>
                <a:cs typeface="Helvetica"/>
              </a:rPr>
              <a:t> </a:t>
            </a:r>
            <a:r>
              <a:rPr kumimoji="1" lang="en-US" altLang="zh-CN" b="0" dirty="0">
                <a:latin typeface="Helvetica"/>
                <a:cs typeface="Helvetica"/>
              </a:rPr>
              <a:t>too</a:t>
            </a:r>
            <a:r>
              <a:rPr kumimoji="1" lang="zh-CN" altLang="en-US" b="0" dirty="0">
                <a:latin typeface="Helvetica"/>
                <a:cs typeface="Helvetica"/>
              </a:rPr>
              <a:t> </a:t>
            </a:r>
            <a:r>
              <a:rPr kumimoji="1" lang="en-US" altLang="zh-CN" b="0" dirty="0">
                <a:latin typeface="Helvetica"/>
                <a:cs typeface="Helvetica"/>
              </a:rPr>
              <a:t>slow</a:t>
            </a:r>
          </a:p>
        </p:txBody>
      </p:sp>
      <p:sp>
        <p:nvSpPr>
          <p:cNvPr id="2" name="圆角矩形 1">
            <a:extLst>
              <a:ext uri="{FF2B5EF4-FFF2-40B4-BE49-F238E27FC236}">
                <a16:creationId xmlns:a16="http://schemas.microsoft.com/office/drawing/2014/main" id="{E9F5BD06-4E32-067F-D501-5C3C7FA716A9}"/>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Processes</a:t>
            </a:r>
            <a:endParaRPr kumimoji="1" lang="zh-CN" altLang="en-US" b="0" dirty="0">
              <a:latin typeface="Helvetica"/>
              <a:cs typeface="Helvetica"/>
            </a:endParaRPr>
          </a:p>
        </p:txBody>
      </p:sp>
    </p:spTree>
    <p:extLst>
      <p:ext uri="{BB962C8B-B14F-4D97-AF65-F5344CB8AC3E}">
        <p14:creationId xmlns:p14="http://schemas.microsoft.com/office/powerpoint/2010/main" val="748021533"/>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95300" y="304800"/>
            <a:ext cx="8229600" cy="533400"/>
          </a:xfrm>
        </p:spPr>
        <p:txBody>
          <a:bodyPr/>
          <a:lstStyle/>
          <a:p>
            <a:r>
              <a:rPr lang="en-US" dirty="0">
                <a:latin typeface="Helvetica" charset="0"/>
                <a:ea typeface="MS PGothic" charset="0"/>
              </a:rPr>
              <a:t>Multiple Processes</a:t>
            </a:r>
            <a:r>
              <a:rPr lang="zh-CN" altLang="en-US" dirty="0">
                <a:latin typeface="Helvetica" charset="0"/>
                <a:ea typeface="MS PGothic" charset="0"/>
              </a:rPr>
              <a:t> </a:t>
            </a:r>
            <a:r>
              <a:rPr lang="en-US" altLang="zh-CN" dirty="0">
                <a:latin typeface="Helvetica" charset="0"/>
                <a:ea typeface="MS PGothic" charset="0"/>
              </a:rPr>
              <a:t>/</a:t>
            </a:r>
            <a:r>
              <a:rPr lang="zh-CN" altLang="en-US" dirty="0">
                <a:latin typeface="Helvetica" charset="0"/>
                <a:ea typeface="MS PGothic" charset="0"/>
              </a:rPr>
              <a:t> </a:t>
            </a:r>
            <a:r>
              <a:rPr lang="en-US" altLang="zh-CN" dirty="0">
                <a:latin typeface="Helvetica" charset="0"/>
                <a:ea typeface="MS PGothic" charset="0"/>
              </a:rPr>
              <a:t>Threads</a:t>
            </a:r>
            <a:r>
              <a:rPr lang="en-US" dirty="0">
                <a:latin typeface="Helvetica" charset="0"/>
                <a:ea typeface="MS PGothic" charset="0"/>
              </a:rPr>
              <a:t> </a:t>
            </a:r>
            <a:br>
              <a:rPr lang="en-US" dirty="0">
                <a:latin typeface="Helvetica" charset="0"/>
                <a:ea typeface="MS PGothic" charset="0"/>
              </a:rPr>
            </a:br>
            <a:r>
              <a:rPr lang="en-US" dirty="0">
                <a:latin typeface="Helvetica" charset="0"/>
                <a:ea typeface="MS PGothic" charset="0"/>
              </a:rPr>
              <a:t>Collaborate on a Task</a:t>
            </a:r>
            <a:r>
              <a:rPr lang="zh-CN" altLang="en-US" dirty="0">
                <a:latin typeface="Helvetica" charset="0"/>
                <a:ea typeface="MS PGothic" charset="0"/>
              </a:rPr>
              <a:t> </a:t>
            </a:r>
            <a:endParaRPr lang="en-US" dirty="0">
              <a:latin typeface="Helvetica" charset="0"/>
              <a:ea typeface="MS PGothic" charset="0"/>
            </a:endParaRPr>
          </a:p>
        </p:txBody>
      </p:sp>
      <p:sp>
        <p:nvSpPr>
          <p:cNvPr id="322563" name="Rectangle 3"/>
          <p:cNvSpPr>
            <a:spLocks noGrp="1" noChangeArrowheads="1"/>
          </p:cNvSpPr>
          <p:nvPr>
            <p:ph type="body" idx="1"/>
          </p:nvPr>
        </p:nvSpPr>
        <p:spPr>
          <a:xfrm>
            <a:off x="381000" y="3048000"/>
            <a:ext cx="8458200" cy="3290888"/>
          </a:xfrm>
        </p:spPr>
        <p:txBody>
          <a:bodyPr/>
          <a:lstStyle/>
          <a:p>
            <a:pPr>
              <a:lnSpc>
                <a:spcPct val="80000"/>
              </a:lnSpc>
            </a:pPr>
            <a:r>
              <a:rPr lang="en-US">
                <a:latin typeface="Helvetica" charset="0"/>
                <a:ea typeface="MS PGothic" charset="0"/>
              </a:rPr>
              <a:t>Need Communication mechanism:</a:t>
            </a:r>
          </a:p>
          <a:p>
            <a:pPr lvl="1">
              <a:lnSpc>
                <a:spcPct val="80000"/>
              </a:lnSpc>
            </a:pPr>
            <a:r>
              <a:rPr lang="en-US">
                <a:latin typeface="Helvetica" charset="0"/>
                <a:ea typeface="MS PGothic" charset="0"/>
              </a:rPr>
              <a:t>Separate address spaces isolates processes</a:t>
            </a:r>
          </a:p>
          <a:p>
            <a:pPr lvl="1">
              <a:lnSpc>
                <a:spcPct val="80000"/>
              </a:lnSpc>
            </a:pPr>
            <a:r>
              <a:rPr lang="en-US">
                <a:latin typeface="Helvetica" charset="0"/>
                <a:ea typeface="MS PGothic" charset="0"/>
              </a:rPr>
              <a:t>Shared-Memory Mapping</a:t>
            </a:r>
          </a:p>
          <a:p>
            <a:pPr lvl="2">
              <a:lnSpc>
                <a:spcPct val="80000"/>
              </a:lnSpc>
            </a:pPr>
            <a:r>
              <a:rPr lang="en-US">
                <a:latin typeface="Helvetica" charset="0"/>
                <a:ea typeface="MS PGothic" charset="0"/>
              </a:rPr>
              <a:t>Accomplished by mapping addresses to common DRAM</a:t>
            </a:r>
          </a:p>
          <a:p>
            <a:pPr lvl="2">
              <a:lnSpc>
                <a:spcPct val="80000"/>
              </a:lnSpc>
            </a:pPr>
            <a:r>
              <a:rPr lang="en-US">
                <a:latin typeface="Helvetica" charset="0"/>
                <a:ea typeface="MS PGothic" charset="0"/>
              </a:rPr>
              <a:t>Read and Write through memory</a:t>
            </a:r>
          </a:p>
          <a:p>
            <a:pPr lvl="1">
              <a:lnSpc>
                <a:spcPct val="80000"/>
              </a:lnSpc>
            </a:pPr>
            <a:r>
              <a:rPr lang="en-US">
                <a:latin typeface="Helvetica" charset="0"/>
                <a:ea typeface="MS PGothic" charset="0"/>
              </a:rPr>
              <a:t>Message Passing</a:t>
            </a:r>
          </a:p>
          <a:p>
            <a:pPr lvl="2">
              <a:lnSpc>
                <a:spcPct val="80000"/>
              </a:lnSpc>
            </a:pPr>
            <a:r>
              <a:rPr lang="en-US">
                <a:latin typeface="Courier New" charset="0"/>
                <a:ea typeface="MS PGothic" charset="0"/>
              </a:rPr>
              <a:t>send()</a:t>
            </a:r>
            <a:r>
              <a:rPr lang="en-US">
                <a:latin typeface="Helvetica" charset="0"/>
                <a:ea typeface="MS PGothic" charset="0"/>
              </a:rPr>
              <a:t> and </a:t>
            </a:r>
            <a:r>
              <a:rPr lang="en-US">
                <a:latin typeface="Courier New" charset="0"/>
                <a:ea typeface="MS PGothic" charset="0"/>
              </a:rPr>
              <a:t>receive()</a:t>
            </a:r>
            <a:r>
              <a:rPr lang="en-US">
                <a:latin typeface="Helvetica" charset="0"/>
                <a:ea typeface="MS PGothic" charset="0"/>
              </a:rPr>
              <a:t> messages</a:t>
            </a:r>
          </a:p>
          <a:p>
            <a:pPr lvl="2">
              <a:lnSpc>
                <a:spcPct val="80000"/>
              </a:lnSpc>
            </a:pPr>
            <a:r>
              <a:rPr lang="en-US">
                <a:latin typeface="Helvetica" charset="0"/>
                <a:ea typeface="MS PGothic" charset="0"/>
              </a:rPr>
              <a:t>Works across network</a:t>
            </a:r>
          </a:p>
        </p:txBody>
      </p:sp>
      <p:sp>
        <p:nvSpPr>
          <p:cNvPr id="39940" name="Rectangle 4"/>
          <p:cNvSpPr>
            <a:spLocks noChangeArrowheads="1"/>
          </p:cNvSpPr>
          <p:nvPr/>
        </p:nvSpPr>
        <p:spPr bwMode="auto">
          <a:xfrm>
            <a:off x="1676400" y="1143000"/>
            <a:ext cx="1219200" cy="1600200"/>
          </a:xfrm>
          <a:prstGeom prst="rect">
            <a:avLst/>
          </a:prstGeom>
          <a:solidFill>
            <a:srgbClr val="FF66CC"/>
          </a:solidFill>
          <a:ln w="57150">
            <a:solidFill>
              <a:schemeClr val="tx1"/>
            </a:solidFill>
            <a:miter lim="800000"/>
            <a:headEnd/>
            <a:tailEnd/>
          </a:ln>
        </p:spPr>
        <p:txBody>
          <a:bodyPr wrap="none" anchor="ctr"/>
          <a:lstStyle/>
          <a:p>
            <a:pPr algn="ctr"/>
            <a:r>
              <a:rPr lang="en-US" sz="2400">
                <a:latin typeface="Helvetica" charset="0"/>
              </a:rPr>
              <a:t>Proc 1</a:t>
            </a:r>
          </a:p>
        </p:txBody>
      </p:sp>
      <p:sp>
        <p:nvSpPr>
          <p:cNvPr id="39941" name="Rectangle 5"/>
          <p:cNvSpPr>
            <a:spLocks noChangeArrowheads="1"/>
          </p:cNvSpPr>
          <p:nvPr/>
        </p:nvSpPr>
        <p:spPr bwMode="auto">
          <a:xfrm>
            <a:off x="3962400" y="1143000"/>
            <a:ext cx="1219200" cy="1600200"/>
          </a:xfrm>
          <a:prstGeom prst="rect">
            <a:avLst/>
          </a:prstGeom>
          <a:solidFill>
            <a:srgbClr val="FF66CC"/>
          </a:solidFill>
          <a:ln w="57150">
            <a:solidFill>
              <a:schemeClr val="tx1"/>
            </a:solidFill>
            <a:miter lim="800000"/>
            <a:headEnd/>
            <a:tailEnd/>
          </a:ln>
        </p:spPr>
        <p:txBody>
          <a:bodyPr wrap="none" anchor="ctr"/>
          <a:lstStyle/>
          <a:p>
            <a:pPr algn="ctr"/>
            <a:r>
              <a:rPr lang="en-US" sz="2400">
                <a:latin typeface="Helvetica" charset="0"/>
              </a:rPr>
              <a:t>Proc 2</a:t>
            </a:r>
          </a:p>
        </p:txBody>
      </p:sp>
      <p:sp>
        <p:nvSpPr>
          <p:cNvPr id="39942" name="Rectangle 6"/>
          <p:cNvSpPr>
            <a:spLocks noChangeArrowheads="1"/>
          </p:cNvSpPr>
          <p:nvPr/>
        </p:nvSpPr>
        <p:spPr bwMode="auto">
          <a:xfrm>
            <a:off x="6248400" y="1143000"/>
            <a:ext cx="1219200" cy="1600200"/>
          </a:xfrm>
          <a:prstGeom prst="rect">
            <a:avLst/>
          </a:prstGeom>
          <a:solidFill>
            <a:srgbClr val="FF66CC"/>
          </a:solidFill>
          <a:ln w="57150">
            <a:solidFill>
              <a:schemeClr val="tx1"/>
            </a:solidFill>
            <a:miter lim="800000"/>
            <a:headEnd/>
            <a:tailEnd/>
          </a:ln>
        </p:spPr>
        <p:txBody>
          <a:bodyPr wrap="none" anchor="ctr"/>
          <a:lstStyle/>
          <a:p>
            <a:pPr algn="ctr"/>
            <a:r>
              <a:rPr lang="en-US" sz="2400">
                <a:latin typeface="Helvetica" charset="0"/>
              </a:rPr>
              <a:t>Proc 3</a:t>
            </a:r>
          </a:p>
        </p:txBody>
      </p:sp>
      <p:sp>
        <p:nvSpPr>
          <p:cNvPr id="39943" name="AutoShape 7"/>
          <p:cNvSpPr>
            <a:spLocks noChangeArrowheads="1"/>
          </p:cNvSpPr>
          <p:nvPr/>
        </p:nvSpPr>
        <p:spPr bwMode="auto">
          <a:xfrm>
            <a:off x="2895600" y="1600200"/>
            <a:ext cx="1066800" cy="685800"/>
          </a:xfrm>
          <a:prstGeom prst="leftRightArrow">
            <a:avLst>
              <a:gd name="adj1" fmla="val 50000"/>
              <a:gd name="adj2" fmla="val 31111"/>
            </a:avLst>
          </a:prstGeom>
          <a:solidFill>
            <a:schemeClr val="bg1"/>
          </a:solidFill>
          <a:ln w="57150">
            <a:solidFill>
              <a:schemeClr val="tx1"/>
            </a:solidFill>
            <a:miter lim="800000"/>
            <a:headEnd/>
            <a:tailEnd/>
          </a:ln>
        </p:spPr>
        <p:txBody>
          <a:bodyPr wrap="none" anchor="ctr"/>
          <a:lstStyle/>
          <a:p>
            <a:endParaRPr lang="en-US">
              <a:latin typeface="Helvetica" charset="0"/>
            </a:endParaRPr>
          </a:p>
        </p:txBody>
      </p:sp>
      <p:sp>
        <p:nvSpPr>
          <p:cNvPr id="39944" name="AutoShape 8"/>
          <p:cNvSpPr>
            <a:spLocks noChangeArrowheads="1"/>
          </p:cNvSpPr>
          <p:nvPr/>
        </p:nvSpPr>
        <p:spPr bwMode="auto">
          <a:xfrm>
            <a:off x="5181600" y="1600200"/>
            <a:ext cx="1066800" cy="685800"/>
          </a:xfrm>
          <a:prstGeom prst="leftRightArrow">
            <a:avLst>
              <a:gd name="adj1" fmla="val 50000"/>
              <a:gd name="adj2" fmla="val 31111"/>
            </a:avLst>
          </a:prstGeom>
          <a:solidFill>
            <a:schemeClr val="bg1"/>
          </a:solidFill>
          <a:ln w="57150">
            <a:solidFill>
              <a:schemeClr val="tx1"/>
            </a:solidFill>
            <a:miter lim="800000"/>
            <a:headEnd/>
            <a:tailEnd/>
          </a:ln>
        </p:spPr>
        <p:txBody>
          <a:bodyPr wrap="none" anchor="ctr"/>
          <a:lstStyle/>
          <a:p>
            <a:endParaRPr lang="en-US">
              <a:latin typeface="Helvetica" charset="0"/>
            </a:endParaRPr>
          </a:p>
        </p:txBody>
      </p:sp>
      <p:sp>
        <p:nvSpPr>
          <p:cNvPr id="9" name="圆角矩形 8">
            <a:extLst>
              <a:ext uri="{FF2B5EF4-FFF2-40B4-BE49-F238E27FC236}">
                <a16:creationId xmlns:a16="http://schemas.microsoft.com/office/drawing/2014/main" id="{8FC104D2-F29C-937A-CDDE-4766B4FCAC97}"/>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Modularity</a:t>
            </a:r>
          </a:p>
          <a:p>
            <a:pPr algn="ctr"/>
            <a:r>
              <a:rPr kumimoji="1" lang="en-US" altLang="zh-CN" b="0" dirty="0">
                <a:latin typeface="Helvetica"/>
                <a:cs typeface="Helvetica"/>
              </a:rPr>
              <a:t>(Maybe</a:t>
            </a:r>
            <a:r>
              <a:rPr kumimoji="1" lang="zh-CN" altLang="en-US" b="0" dirty="0">
                <a:latin typeface="Helvetica"/>
                <a:cs typeface="Helvetica"/>
              </a:rPr>
              <a:t> </a:t>
            </a:r>
            <a:r>
              <a:rPr kumimoji="1" lang="en-US" altLang="zh-CN" b="0" dirty="0">
                <a:latin typeface="Helvetica"/>
                <a:cs typeface="Helvetica"/>
              </a:rPr>
              <a:t>performance)</a:t>
            </a:r>
          </a:p>
        </p:txBody>
      </p:sp>
      <p:sp>
        <p:nvSpPr>
          <p:cNvPr id="2" name="圆角矩形 1">
            <a:extLst>
              <a:ext uri="{FF2B5EF4-FFF2-40B4-BE49-F238E27FC236}">
                <a16:creationId xmlns:a16="http://schemas.microsoft.com/office/drawing/2014/main" id="{81860B64-9E04-9177-2FC3-D05A132FD7B4}"/>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Processes</a:t>
            </a:r>
            <a:r>
              <a:rPr kumimoji="1" lang="zh-CN" altLang="en-US" b="0" dirty="0">
                <a:latin typeface="Helvetica"/>
                <a:cs typeface="Helvetica"/>
              </a:rPr>
              <a:t> </a:t>
            </a:r>
            <a:r>
              <a:rPr kumimoji="1" lang="en-US" altLang="zh-CN" b="0" dirty="0">
                <a:latin typeface="Helvetica"/>
                <a:cs typeface="Helvetica"/>
              </a:rPr>
              <a:t>as</a:t>
            </a:r>
            <a:r>
              <a:rPr kumimoji="1" lang="zh-CN" altLang="en-US" b="0" dirty="0">
                <a:latin typeface="Helvetica"/>
                <a:cs typeface="Helvetica"/>
              </a:rPr>
              <a:t> </a:t>
            </a:r>
            <a:r>
              <a:rPr kumimoji="1" lang="en-US" altLang="zh-CN" b="0" dirty="0">
                <a:latin typeface="Helvetica"/>
                <a:cs typeface="Helvetica"/>
              </a:rPr>
              <a:t>units</a:t>
            </a:r>
            <a:r>
              <a:rPr kumimoji="1" lang="zh-CN" altLang="en-US" b="0" dirty="0">
                <a:latin typeface="Helvetica"/>
                <a:cs typeface="Helvetica"/>
              </a:rPr>
              <a:t> </a:t>
            </a:r>
            <a:r>
              <a:rPr kumimoji="1" lang="en-US" altLang="zh-CN" b="0" dirty="0">
                <a:latin typeface="Helvetica"/>
                <a:cs typeface="Helvetica"/>
              </a:rPr>
              <a:t>for</a:t>
            </a:r>
            <a:r>
              <a:rPr kumimoji="1" lang="zh-CN" altLang="en-US" b="0" dirty="0">
                <a:latin typeface="Helvetica"/>
                <a:cs typeface="Helvetica"/>
              </a:rPr>
              <a:t> </a:t>
            </a:r>
            <a:r>
              <a:rPr kumimoji="1" lang="en-US" altLang="zh-CN" b="0" dirty="0">
                <a:latin typeface="Helvetica"/>
                <a:cs typeface="Helvetica"/>
              </a:rPr>
              <a:t>protection</a:t>
            </a:r>
            <a:r>
              <a:rPr kumimoji="1" lang="zh-CN" altLang="en-US" b="0" dirty="0">
                <a:latin typeface="Helvetica"/>
                <a:cs typeface="Helvetica"/>
              </a:rPr>
              <a:t> </a:t>
            </a:r>
            <a:r>
              <a:rPr kumimoji="1" lang="en-US" altLang="zh-CN" b="0" dirty="0">
                <a:latin typeface="Helvetica"/>
                <a:cs typeface="Helvetica"/>
              </a:rPr>
              <a:t>and</a:t>
            </a:r>
            <a:r>
              <a:rPr kumimoji="1" lang="zh-CN" altLang="en-US" b="0" dirty="0">
                <a:latin typeface="Helvetica"/>
                <a:cs typeface="Helvetica"/>
              </a:rPr>
              <a:t> </a:t>
            </a:r>
            <a:r>
              <a:rPr kumimoji="1" lang="en-US" altLang="zh-CN" b="0" dirty="0">
                <a:latin typeface="Helvetica"/>
                <a:cs typeface="Helvetica"/>
              </a:rPr>
              <a:t>resource</a:t>
            </a:r>
            <a:r>
              <a:rPr kumimoji="1" lang="zh-CN" altLang="en-US" b="0" dirty="0">
                <a:latin typeface="Helvetica"/>
                <a:cs typeface="Helvetica"/>
              </a:rPr>
              <a:t> </a:t>
            </a:r>
            <a:r>
              <a:rPr kumimoji="1" lang="en-US" altLang="zh-CN" b="0" dirty="0">
                <a:latin typeface="Helvetica"/>
                <a:cs typeface="Helvetica"/>
              </a:rPr>
              <a:t>allocation</a:t>
            </a:r>
            <a:endParaRPr kumimoji="1" lang="zh-CN" altLang="en-US" b="0" dirty="0">
              <a:latin typeface="Helvetica"/>
              <a:cs typeface="Helvetica"/>
            </a:endParaRPr>
          </a:p>
        </p:txBody>
      </p:sp>
    </p:spTree>
    <p:extLst>
      <p:ext uri="{BB962C8B-B14F-4D97-AF65-F5344CB8AC3E}">
        <p14:creationId xmlns:p14="http://schemas.microsoft.com/office/powerpoint/2010/main" val="2233173919"/>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8F756727-1604-332E-E7B6-0CD3262FB68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23217"/>
            <a:ext cx="9144000" cy="5611565"/>
          </a:xfrm>
          <a:prstGeom prst="rect">
            <a:avLst/>
          </a:prstGeom>
        </p:spPr>
      </p:pic>
      <p:sp>
        <p:nvSpPr>
          <p:cNvPr id="5" name="圆角矩形 4">
            <a:extLst>
              <a:ext uri="{FF2B5EF4-FFF2-40B4-BE49-F238E27FC236}">
                <a16:creationId xmlns:a16="http://schemas.microsoft.com/office/drawing/2014/main" id="{7B5D88D5-5C81-C69C-CE0C-D57DCC5C3769}"/>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With</a:t>
            </a:r>
            <a:r>
              <a:rPr kumimoji="1" lang="zh-CN" altLang="en-US" b="0" dirty="0">
                <a:latin typeface="Helvetica"/>
                <a:cs typeface="Helvetica"/>
              </a:rPr>
              <a:t> </a:t>
            </a:r>
            <a:r>
              <a:rPr kumimoji="1" lang="en-US" altLang="zh-CN" b="0" dirty="0">
                <a:latin typeface="Helvetica"/>
                <a:cs typeface="Helvetica"/>
              </a:rPr>
              <a:t>in</a:t>
            </a:r>
            <a:r>
              <a:rPr kumimoji="1" lang="zh-CN" altLang="en-US" b="0" dirty="0">
                <a:latin typeface="Helvetica"/>
                <a:cs typeface="Helvetica"/>
              </a:rPr>
              <a:t> </a:t>
            </a:r>
            <a:r>
              <a:rPr kumimoji="1" lang="en-US" altLang="zh-CN" b="0" dirty="0">
                <a:latin typeface="Helvetica"/>
                <a:cs typeface="Helvetica"/>
              </a:rPr>
              <a:t>a</a:t>
            </a:r>
            <a:r>
              <a:rPr kumimoji="1" lang="zh-CN" altLang="en-US" b="0" dirty="0">
                <a:latin typeface="Helvetica"/>
                <a:cs typeface="Helvetica"/>
              </a:rPr>
              <a:t> </a:t>
            </a:r>
            <a:r>
              <a:rPr kumimoji="1" lang="en-US" altLang="zh-CN" b="0" dirty="0">
                <a:latin typeface="Helvetica"/>
                <a:cs typeface="Helvetica"/>
              </a:rPr>
              <a:t>process,</a:t>
            </a:r>
            <a:r>
              <a:rPr kumimoji="1" lang="zh-CN" altLang="en-US" b="0" dirty="0">
                <a:latin typeface="Helvetica"/>
                <a:cs typeface="Helvetica"/>
              </a:rPr>
              <a:t> </a:t>
            </a:r>
            <a:r>
              <a:rPr kumimoji="1" lang="en-US" altLang="zh-CN" b="0" dirty="0">
                <a:latin typeface="Helvetica"/>
                <a:cs typeface="Helvetica"/>
              </a:rPr>
              <a:t>still</a:t>
            </a:r>
            <a:r>
              <a:rPr kumimoji="1" lang="zh-CN" altLang="en-US" b="0" dirty="0">
                <a:latin typeface="Helvetica"/>
                <a:cs typeface="Helvetica"/>
              </a:rPr>
              <a:t> </a:t>
            </a:r>
            <a:r>
              <a:rPr kumimoji="1" lang="en-US" altLang="zh-CN" b="0" dirty="0">
                <a:latin typeface="Helvetica"/>
                <a:cs typeface="Helvetica"/>
              </a:rPr>
              <a:t>need</a:t>
            </a:r>
            <a:r>
              <a:rPr kumimoji="1" lang="zh-CN" altLang="en-US" b="0" dirty="0">
                <a:latin typeface="Helvetica"/>
                <a:cs typeface="Helvetica"/>
              </a:rPr>
              <a:t> </a:t>
            </a:r>
            <a:r>
              <a:rPr kumimoji="1" lang="en-US" altLang="zh-CN" b="0" dirty="0">
                <a:latin typeface="Helvetica"/>
                <a:cs typeface="Helvetica"/>
              </a:rPr>
              <a:t>more</a:t>
            </a:r>
            <a:r>
              <a:rPr kumimoji="1" lang="zh-CN" altLang="en-US" b="0" dirty="0">
                <a:latin typeface="Helvetica"/>
                <a:cs typeface="Helvetica"/>
              </a:rPr>
              <a:t> </a:t>
            </a:r>
            <a:r>
              <a:rPr kumimoji="1" lang="en-US" altLang="zh-CN" b="0" dirty="0">
                <a:latin typeface="Helvetica"/>
                <a:cs typeface="Helvetica"/>
              </a:rPr>
              <a:t>parallelism</a:t>
            </a:r>
          </a:p>
        </p:txBody>
      </p:sp>
      <p:sp>
        <p:nvSpPr>
          <p:cNvPr id="2" name="圆角矩形 1">
            <a:extLst>
              <a:ext uri="{FF2B5EF4-FFF2-40B4-BE49-F238E27FC236}">
                <a16:creationId xmlns:a16="http://schemas.microsoft.com/office/drawing/2014/main" id="{8B375B48-37BE-59F3-9E60-108A876A6E36}"/>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Threads</a:t>
            </a:r>
            <a:r>
              <a:rPr kumimoji="1" lang="zh-CN" altLang="en-US" b="0" dirty="0">
                <a:latin typeface="Helvetica"/>
                <a:cs typeface="Helvetica"/>
              </a:rPr>
              <a:t> </a:t>
            </a:r>
            <a:r>
              <a:rPr kumimoji="1" lang="en-US" altLang="zh-CN" b="0" dirty="0">
                <a:latin typeface="Helvetica"/>
                <a:cs typeface="Helvetica"/>
              </a:rPr>
              <a:t>as</a:t>
            </a:r>
            <a:r>
              <a:rPr kumimoji="1" lang="zh-CN" altLang="en-US" b="0" dirty="0">
                <a:latin typeface="Helvetica"/>
                <a:cs typeface="Helvetica"/>
              </a:rPr>
              <a:t> </a:t>
            </a:r>
            <a:r>
              <a:rPr kumimoji="1" lang="en-US" altLang="zh-CN" b="0" dirty="0">
                <a:latin typeface="Helvetica"/>
                <a:cs typeface="Helvetica"/>
              </a:rPr>
              <a:t>modules</a:t>
            </a:r>
            <a:r>
              <a:rPr kumimoji="1" lang="zh-CN" altLang="en-US" b="0" dirty="0">
                <a:latin typeface="Helvetica"/>
                <a:cs typeface="Helvetica"/>
              </a:rPr>
              <a:t> </a:t>
            </a:r>
            <a:r>
              <a:rPr kumimoji="1" lang="en-US" altLang="zh-CN" b="0" dirty="0">
                <a:latin typeface="Helvetica"/>
                <a:cs typeface="Helvetica"/>
              </a:rPr>
              <a:t>for</a:t>
            </a:r>
            <a:r>
              <a:rPr kumimoji="1" lang="zh-CN" altLang="en-US" b="0" dirty="0">
                <a:latin typeface="Helvetica"/>
                <a:cs typeface="Helvetica"/>
              </a:rPr>
              <a:t> </a:t>
            </a:r>
            <a:r>
              <a:rPr kumimoji="1" lang="en-US" altLang="zh-CN" b="0" dirty="0">
                <a:latin typeface="Helvetica"/>
                <a:cs typeface="Helvetica"/>
              </a:rPr>
              <a:t>execution</a:t>
            </a:r>
            <a:endParaRPr kumimoji="1" lang="zh-CN" altLang="en-US" b="0" dirty="0">
              <a:latin typeface="Helvetica"/>
              <a:cs typeface="Helvetica"/>
            </a:endParaRPr>
          </a:p>
        </p:txBody>
      </p:sp>
    </p:spTree>
    <p:extLst>
      <p:ext uri="{BB962C8B-B14F-4D97-AF65-F5344CB8AC3E}">
        <p14:creationId xmlns:p14="http://schemas.microsoft.com/office/powerpoint/2010/main" val="3157631944"/>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009BB-1CAB-5F44-87EB-A5030968B800}"/>
              </a:ext>
            </a:extLst>
          </p:cNvPr>
          <p:cNvSpPr>
            <a:spLocks noGrp="1"/>
          </p:cNvSpPr>
          <p:nvPr>
            <p:ph type="title"/>
          </p:nvPr>
        </p:nvSpPr>
        <p:spPr>
          <a:xfrm>
            <a:off x="990600" y="258367"/>
            <a:ext cx="7162800" cy="533400"/>
          </a:xfrm>
        </p:spPr>
        <p:txBody>
          <a:bodyPr/>
          <a:lstStyle/>
          <a:p>
            <a:r>
              <a:rPr lang="en-CN" dirty="0"/>
              <a:t>Packet Switching — Statistical Multiplexing</a:t>
            </a:r>
          </a:p>
        </p:txBody>
      </p:sp>
      <p:sp>
        <p:nvSpPr>
          <p:cNvPr id="3" name="Content Placeholder 2">
            <a:extLst>
              <a:ext uri="{FF2B5EF4-FFF2-40B4-BE49-F238E27FC236}">
                <a16:creationId xmlns:a16="http://schemas.microsoft.com/office/drawing/2014/main" id="{C25C09B6-9622-114E-8EA4-3DB1B3EC9C8B}"/>
              </a:ext>
            </a:extLst>
          </p:cNvPr>
          <p:cNvSpPr>
            <a:spLocks noGrp="1"/>
          </p:cNvSpPr>
          <p:nvPr>
            <p:ph idx="1"/>
          </p:nvPr>
        </p:nvSpPr>
        <p:spPr>
          <a:xfrm>
            <a:off x="628650" y="2226469"/>
            <a:ext cx="7886700" cy="3644741"/>
          </a:xfrm>
        </p:spPr>
        <p:txBody>
          <a:bodyPr>
            <a:normAutofit fontScale="92500" lnSpcReduction="10000"/>
          </a:bodyPr>
          <a:lstStyle/>
          <a:p>
            <a:endParaRPr lang="en-CN" dirty="0"/>
          </a:p>
          <a:p>
            <a:endParaRPr lang="en-CN" dirty="0"/>
          </a:p>
          <a:p>
            <a:endParaRPr lang="en-CN" dirty="0"/>
          </a:p>
          <a:p>
            <a:endParaRPr lang="en-CN" dirty="0"/>
          </a:p>
          <a:p>
            <a:endParaRPr lang="en-CN" dirty="0"/>
          </a:p>
          <a:p>
            <a:endParaRPr lang="en-CN" dirty="0"/>
          </a:p>
          <a:p>
            <a:r>
              <a:rPr lang="en-CN" dirty="0"/>
              <a:t>Swtiches arbitrate between inputs</a:t>
            </a:r>
          </a:p>
          <a:p>
            <a:r>
              <a:rPr lang="en-CN" dirty="0"/>
              <a:t>Can send from any input that’s ready</a:t>
            </a:r>
          </a:p>
          <a:p>
            <a:pPr lvl="1"/>
            <a:r>
              <a:rPr lang="en-CN" dirty="0"/>
              <a:t>Links never idle </a:t>
            </a:r>
            <a:r>
              <a:rPr lang="en-CN"/>
              <a:t>when </a:t>
            </a:r>
            <a:r>
              <a:rPr lang="en-US" altLang="zh-CN" dirty="0"/>
              <a:t>there</a:t>
            </a:r>
            <a:r>
              <a:rPr lang="zh-CN" altLang="en-US" dirty="0"/>
              <a:t> </a:t>
            </a:r>
            <a:r>
              <a:rPr lang="en-US" altLang="zh-CN" dirty="0"/>
              <a:t>is</a:t>
            </a:r>
            <a:r>
              <a:rPr lang="zh-CN" altLang="en-US" dirty="0"/>
              <a:t> </a:t>
            </a:r>
            <a:r>
              <a:rPr lang="en-CN"/>
              <a:t>traffic </a:t>
            </a:r>
            <a:r>
              <a:rPr lang="en-CN" dirty="0"/>
              <a:t>to send</a:t>
            </a:r>
          </a:p>
          <a:p>
            <a:pPr lvl="1"/>
            <a:r>
              <a:rPr lang="en-CN" dirty="0"/>
              <a:t>Efficiency</a:t>
            </a:r>
          </a:p>
        </p:txBody>
      </p:sp>
      <p:grpSp>
        <p:nvGrpSpPr>
          <p:cNvPr id="45" name="Group 44">
            <a:extLst>
              <a:ext uri="{FF2B5EF4-FFF2-40B4-BE49-F238E27FC236}">
                <a16:creationId xmlns:a16="http://schemas.microsoft.com/office/drawing/2014/main" id="{670B553E-B838-6846-8E57-D4845D68CFFC}"/>
              </a:ext>
            </a:extLst>
          </p:cNvPr>
          <p:cNvGrpSpPr/>
          <p:nvPr/>
        </p:nvGrpSpPr>
        <p:grpSpPr>
          <a:xfrm>
            <a:off x="1400175" y="1593003"/>
            <a:ext cx="6343650" cy="2286000"/>
            <a:chOff x="457200" y="1600200"/>
            <a:chExt cx="8458200" cy="3048000"/>
          </a:xfrm>
        </p:grpSpPr>
        <p:sp>
          <p:nvSpPr>
            <p:cNvPr id="5" name="Rectangle 2">
              <a:extLst>
                <a:ext uri="{FF2B5EF4-FFF2-40B4-BE49-F238E27FC236}">
                  <a16:creationId xmlns:a16="http://schemas.microsoft.com/office/drawing/2014/main" id="{8EEB01BC-D96D-5141-8C76-2AF2FEB743CD}"/>
                </a:ext>
              </a:extLst>
            </p:cNvPr>
            <p:cNvSpPr>
              <a:spLocks noChangeArrowheads="1"/>
            </p:cNvSpPr>
            <p:nvPr/>
          </p:nvSpPr>
          <p:spPr bwMode="auto">
            <a:xfrm>
              <a:off x="457200" y="1600200"/>
              <a:ext cx="8458200" cy="3048000"/>
            </a:xfrm>
            <a:prstGeom prst="rect">
              <a:avLst/>
            </a:prstGeom>
            <a:solidFill>
              <a:srgbClr val="FFFFFF"/>
            </a:solidFill>
            <a:ln w="9525">
              <a:solidFill>
                <a:schemeClr val="tx1"/>
              </a:solidFill>
              <a:miter lim="800000"/>
              <a:headEnd/>
              <a:tailEnd/>
            </a:ln>
            <a:effectLst>
              <a:outerShdw blurRad="63500" dist="107763" dir="2700000" algn="ctr" rotWithShape="0">
                <a:schemeClr val="bg2">
                  <a:alpha val="74998"/>
                </a:schemeClr>
              </a:outerShdw>
            </a:effectLst>
          </p:spPr>
          <p:txBody>
            <a:bodyPr wrap="none" lIns="68558" tIns="34281" rIns="68558" bIns="34281" anchor="ctr"/>
            <a:lstStyle/>
            <a:p>
              <a:pPr>
                <a:defRPr/>
              </a:pPr>
              <a:endParaRPr lang="en-US">
                <a:latin typeface="Times New Roman" charset="0"/>
                <a:ea typeface="+mn-ea"/>
              </a:endParaRPr>
            </a:p>
          </p:txBody>
        </p:sp>
        <p:sp>
          <p:nvSpPr>
            <p:cNvPr id="6" name="Oval 4">
              <a:extLst>
                <a:ext uri="{FF2B5EF4-FFF2-40B4-BE49-F238E27FC236}">
                  <a16:creationId xmlns:a16="http://schemas.microsoft.com/office/drawing/2014/main" id="{BF67FEAE-7A3E-B446-8372-71BAB976CA28}"/>
                </a:ext>
              </a:extLst>
            </p:cNvPr>
            <p:cNvSpPr>
              <a:spLocks noChangeArrowheads="1"/>
            </p:cNvSpPr>
            <p:nvPr/>
          </p:nvSpPr>
          <p:spPr bwMode="auto">
            <a:xfrm>
              <a:off x="1765300" y="2647950"/>
              <a:ext cx="990600" cy="914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7" name="Oval 5">
              <a:extLst>
                <a:ext uri="{FF2B5EF4-FFF2-40B4-BE49-F238E27FC236}">
                  <a16:creationId xmlns:a16="http://schemas.microsoft.com/office/drawing/2014/main" id="{FA671240-B1A5-AA48-8BA2-F1928613A8F5}"/>
                </a:ext>
              </a:extLst>
            </p:cNvPr>
            <p:cNvSpPr>
              <a:spLocks noChangeArrowheads="1"/>
            </p:cNvSpPr>
            <p:nvPr/>
          </p:nvSpPr>
          <p:spPr bwMode="auto">
            <a:xfrm>
              <a:off x="6413500" y="2647950"/>
              <a:ext cx="990600" cy="914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8" name="Line 6">
              <a:extLst>
                <a:ext uri="{FF2B5EF4-FFF2-40B4-BE49-F238E27FC236}">
                  <a16:creationId xmlns:a16="http://schemas.microsoft.com/office/drawing/2014/main" id="{DFE5B4A5-BA29-FB4C-A535-4894120AE6FA}"/>
                </a:ext>
              </a:extLst>
            </p:cNvPr>
            <p:cNvSpPr>
              <a:spLocks noChangeShapeType="1"/>
            </p:cNvSpPr>
            <p:nvPr/>
          </p:nvSpPr>
          <p:spPr bwMode="auto">
            <a:xfrm>
              <a:off x="2568575" y="3087688"/>
              <a:ext cx="457200"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lIns="68558" tIns="34281" rIns="68558" bIns="34281" anchor="ctr"/>
            <a:lstStyle/>
            <a:p>
              <a:endParaRPr lang="en-CN"/>
            </a:p>
          </p:txBody>
        </p:sp>
        <p:sp>
          <p:nvSpPr>
            <p:cNvPr id="9" name="Line 7">
              <a:extLst>
                <a:ext uri="{FF2B5EF4-FFF2-40B4-BE49-F238E27FC236}">
                  <a16:creationId xmlns:a16="http://schemas.microsoft.com/office/drawing/2014/main" id="{A7187A76-F8D0-F844-9CEC-E2F99AAC5B4A}"/>
                </a:ext>
              </a:extLst>
            </p:cNvPr>
            <p:cNvSpPr>
              <a:spLocks noChangeShapeType="1"/>
            </p:cNvSpPr>
            <p:nvPr/>
          </p:nvSpPr>
          <p:spPr bwMode="auto">
            <a:xfrm>
              <a:off x="6364288" y="3101975"/>
              <a:ext cx="457200"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lIns="68558" tIns="34281" rIns="68558" bIns="34281" anchor="ctr"/>
            <a:lstStyle/>
            <a:p>
              <a:endParaRPr lang="en-CN"/>
            </a:p>
          </p:txBody>
        </p:sp>
        <p:sp>
          <p:nvSpPr>
            <p:cNvPr id="10" name="Rectangle 8">
              <a:extLst>
                <a:ext uri="{FF2B5EF4-FFF2-40B4-BE49-F238E27FC236}">
                  <a16:creationId xmlns:a16="http://schemas.microsoft.com/office/drawing/2014/main" id="{9F976DA9-5049-3E40-B035-CE79705DDCA7}"/>
                </a:ext>
              </a:extLst>
            </p:cNvPr>
            <p:cNvSpPr>
              <a:spLocks noChangeArrowheads="1"/>
            </p:cNvSpPr>
            <p:nvPr/>
          </p:nvSpPr>
          <p:spPr bwMode="auto">
            <a:xfrm>
              <a:off x="6261100" y="2876550"/>
              <a:ext cx="76200" cy="457200"/>
            </a:xfrm>
            <a:prstGeom prst="rect">
              <a:avLst/>
            </a:prstGeom>
            <a:solidFill>
              <a:schemeClr val="tx1"/>
            </a:solidFill>
            <a:ln w="9525">
              <a:solidFill>
                <a:schemeClr val="bg2"/>
              </a:solidFill>
              <a:miter lim="800000"/>
              <a:headEnd/>
              <a:tailEnd/>
            </a:ln>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11" name="Rectangle 9">
              <a:extLst>
                <a:ext uri="{FF2B5EF4-FFF2-40B4-BE49-F238E27FC236}">
                  <a16:creationId xmlns:a16="http://schemas.microsoft.com/office/drawing/2014/main" id="{908A3506-764C-084A-8C04-C6261EDA7975}"/>
                </a:ext>
              </a:extLst>
            </p:cNvPr>
            <p:cNvSpPr>
              <a:spLocks noChangeArrowheads="1"/>
            </p:cNvSpPr>
            <p:nvPr/>
          </p:nvSpPr>
          <p:spPr bwMode="auto">
            <a:xfrm>
              <a:off x="3136900" y="2876550"/>
              <a:ext cx="76200" cy="457200"/>
            </a:xfrm>
            <a:prstGeom prst="rect">
              <a:avLst/>
            </a:prstGeom>
            <a:solidFill>
              <a:schemeClr val="tx1"/>
            </a:solidFill>
            <a:ln w="9525">
              <a:solidFill>
                <a:schemeClr val="tx1"/>
              </a:solidFill>
              <a:miter lim="800000"/>
              <a:headEnd/>
              <a:tailEnd/>
            </a:ln>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12" name="Rectangle 10">
              <a:extLst>
                <a:ext uri="{FF2B5EF4-FFF2-40B4-BE49-F238E27FC236}">
                  <a16:creationId xmlns:a16="http://schemas.microsoft.com/office/drawing/2014/main" id="{0BDE646A-AD17-054E-B0DC-8CF3C36D2058}"/>
                </a:ext>
              </a:extLst>
            </p:cNvPr>
            <p:cNvSpPr>
              <a:spLocks noChangeArrowheads="1"/>
            </p:cNvSpPr>
            <p:nvPr/>
          </p:nvSpPr>
          <p:spPr bwMode="auto">
            <a:xfrm>
              <a:off x="3517900" y="2876550"/>
              <a:ext cx="228600" cy="457200"/>
            </a:xfrm>
            <a:prstGeom prst="rect">
              <a:avLst/>
            </a:prstGeom>
            <a:solidFill>
              <a:schemeClr val="folHlink"/>
            </a:solidFill>
            <a:ln w="9525">
              <a:solidFill>
                <a:schemeClr val="folHlink"/>
              </a:solidFill>
              <a:miter lim="800000"/>
              <a:headEnd/>
              <a:tailEnd/>
            </a:ln>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13" name="Rectangle 11">
              <a:extLst>
                <a:ext uri="{FF2B5EF4-FFF2-40B4-BE49-F238E27FC236}">
                  <a16:creationId xmlns:a16="http://schemas.microsoft.com/office/drawing/2014/main" id="{79834072-C14D-7942-80BB-8A1576D01C44}"/>
                </a:ext>
              </a:extLst>
            </p:cNvPr>
            <p:cNvSpPr>
              <a:spLocks noChangeArrowheads="1"/>
            </p:cNvSpPr>
            <p:nvPr/>
          </p:nvSpPr>
          <p:spPr bwMode="auto">
            <a:xfrm>
              <a:off x="3975100" y="2876550"/>
              <a:ext cx="228600" cy="457200"/>
            </a:xfrm>
            <a:prstGeom prst="rect">
              <a:avLst/>
            </a:prstGeom>
            <a:solidFill>
              <a:schemeClr val="hlink"/>
            </a:solidFill>
            <a:ln w="9525">
              <a:solidFill>
                <a:schemeClr val="tx1"/>
              </a:solidFill>
              <a:miter lim="800000"/>
              <a:headEnd/>
              <a:tailEnd/>
            </a:ln>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14" name="Rectangle 12">
              <a:extLst>
                <a:ext uri="{FF2B5EF4-FFF2-40B4-BE49-F238E27FC236}">
                  <a16:creationId xmlns:a16="http://schemas.microsoft.com/office/drawing/2014/main" id="{B2F1FD1C-0477-684B-8F67-B5EC728843D0}"/>
                </a:ext>
              </a:extLst>
            </p:cNvPr>
            <p:cNvSpPr>
              <a:spLocks noChangeArrowheads="1"/>
            </p:cNvSpPr>
            <p:nvPr/>
          </p:nvSpPr>
          <p:spPr bwMode="auto">
            <a:xfrm>
              <a:off x="4432300" y="2876550"/>
              <a:ext cx="76200" cy="457200"/>
            </a:xfrm>
            <a:prstGeom prst="rect">
              <a:avLst/>
            </a:prstGeom>
            <a:solidFill>
              <a:schemeClr val="tx1"/>
            </a:solidFill>
            <a:ln w="9525">
              <a:solidFill>
                <a:schemeClr val="bg2"/>
              </a:solidFill>
              <a:miter lim="800000"/>
              <a:headEnd/>
              <a:tailEnd/>
            </a:ln>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15" name="Rectangle 13">
              <a:extLst>
                <a:ext uri="{FF2B5EF4-FFF2-40B4-BE49-F238E27FC236}">
                  <a16:creationId xmlns:a16="http://schemas.microsoft.com/office/drawing/2014/main" id="{5CB78D28-AE00-084E-80F1-B73715A59194}"/>
                </a:ext>
              </a:extLst>
            </p:cNvPr>
            <p:cNvSpPr>
              <a:spLocks noChangeArrowheads="1"/>
            </p:cNvSpPr>
            <p:nvPr/>
          </p:nvSpPr>
          <p:spPr bwMode="auto">
            <a:xfrm>
              <a:off x="4584700" y="2876550"/>
              <a:ext cx="762000" cy="457200"/>
            </a:xfrm>
            <a:prstGeom prst="rect">
              <a:avLst/>
            </a:prstGeom>
            <a:solidFill>
              <a:schemeClr val="folHlink"/>
            </a:solidFill>
            <a:ln w="9525">
              <a:solidFill>
                <a:schemeClr val="tx1"/>
              </a:solidFill>
              <a:miter lim="800000"/>
              <a:headEnd/>
              <a:tailEnd/>
            </a:ln>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16" name="Rectangle 14">
              <a:extLst>
                <a:ext uri="{FF2B5EF4-FFF2-40B4-BE49-F238E27FC236}">
                  <a16:creationId xmlns:a16="http://schemas.microsoft.com/office/drawing/2014/main" id="{B02BEA5B-1B02-274B-8E1B-AB0872E9593A}"/>
                </a:ext>
              </a:extLst>
            </p:cNvPr>
            <p:cNvSpPr>
              <a:spLocks noChangeArrowheads="1"/>
            </p:cNvSpPr>
            <p:nvPr/>
          </p:nvSpPr>
          <p:spPr bwMode="auto">
            <a:xfrm>
              <a:off x="5651500" y="2876550"/>
              <a:ext cx="76200" cy="457200"/>
            </a:xfrm>
            <a:prstGeom prst="rect">
              <a:avLst/>
            </a:prstGeom>
            <a:solidFill>
              <a:schemeClr val="bg2"/>
            </a:solidFill>
            <a:ln w="9525">
              <a:solidFill>
                <a:schemeClr val="tx1"/>
              </a:solidFill>
              <a:miter lim="800000"/>
              <a:headEnd/>
              <a:tailEnd/>
            </a:ln>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17" name="Rectangle 15">
              <a:extLst>
                <a:ext uri="{FF2B5EF4-FFF2-40B4-BE49-F238E27FC236}">
                  <a16:creationId xmlns:a16="http://schemas.microsoft.com/office/drawing/2014/main" id="{85FDF0C8-3387-6F42-A046-C1C0613C8DAA}"/>
                </a:ext>
              </a:extLst>
            </p:cNvPr>
            <p:cNvSpPr>
              <a:spLocks noChangeArrowheads="1"/>
            </p:cNvSpPr>
            <p:nvPr/>
          </p:nvSpPr>
          <p:spPr bwMode="auto">
            <a:xfrm>
              <a:off x="5880100" y="2876550"/>
              <a:ext cx="228600" cy="457200"/>
            </a:xfrm>
            <a:prstGeom prst="rect">
              <a:avLst/>
            </a:prstGeom>
            <a:solidFill>
              <a:schemeClr val="hlink"/>
            </a:solidFill>
            <a:ln w="9525">
              <a:solidFill>
                <a:schemeClr val="tx1"/>
              </a:solidFill>
              <a:miter lim="800000"/>
              <a:headEnd/>
              <a:tailEnd/>
            </a:ln>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sp>
          <p:nvSpPr>
            <p:cNvPr id="18" name="Rectangle 16">
              <a:extLst>
                <a:ext uri="{FF2B5EF4-FFF2-40B4-BE49-F238E27FC236}">
                  <a16:creationId xmlns:a16="http://schemas.microsoft.com/office/drawing/2014/main" id="{3A34D2E0-8030-B442-B54A-5A45D20F8167}"/>
                </a:ext>
              </a:extLst>
            </p:cNvPr>
            <p:cNvSpPr>
              <a:spLocks noChangeArrowheads="1"/>
            </p:cNvSpPr>
            <p:nvPr/>
          </p:nvSpPr>
          <p:spPr bwMode="auto">
            <a:xfrm>
              <a:off x="4279900" y="2876550"/>
              <a:ext cx="76200" cy="457200"/>
            </a:xfrm>
            <a:prstGeom prst="rect">
              <a:avLst/>
            </a:prstGeom>
            <a:solidFill>
              <a:schemeClr val="tx1"/>
            </a:solidFill>
            <a:ln w="9525">
              <a:solidFill>
                <a:schemeClr val="bg2"/>
              </a:solidFill>
              <a:miter lim="800000"/>
              <a:headEnd/>
              <a:tailEnd/>
            </a:ln>
          </p:spPr>
          <p:txBody>
            <a:bodyPr wrap="none" lIns="68558" tIns="34281" rIns="68558" bIns="34281" anchor="ct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CN" altLang="en-CN" sz="1800"/>
            </a:p>
          </p:txBody>
        </p:sp>
        <p:grpSp>
          <p:nvGrpSpPr>
            <p:cNvPr id="19" name="Group 17">
              <a:extLst>
                <a:ext uri="{FF2B5EF4-FFF2-40B4-BE49-F238E27FC236}">
                  <a16:creationId xmlns:a16="http://schemas.microsoft.com/office/drawing/2014/main" id="{EE7ED7C9-D718-1648-932C-DEBA084E2DEE}"/>
                </a:ext>
              </a:extLst>
            </p:cNvPr>
            <p:cNvGrpSpPr>
              <a:grpSpLocks/>
            </p:cNvGrpSpPr>
            <p:nvPr/>
          </p:nvGrpSpPr>
          <p:grpSpPr bwMode="auto">
            <a:xfrm>
              <a:off x="2039938" y="2928938"/>
              <a:ext cx="504825" cy="354012"/>
              <a:chOff x="1285" y="2229"/>
              <a:chExt cx="318" cy="223"/>
            </a:xfrm>
          </p:grpSpPr>
          <p:sp>
            <p:nvSpPr>
              <p:cNvPr id="20" name="Freeform 18">
                <a:extLst>
                  <a:ext uri="{FF2B5EF4-FFF2-40B4-BE49-F238E27FC236}">
                    <a16:creationId xmlns:a16="http://schemas.microsoft.com/office/drawing/2014/main" id="{911D8F0E-0EEA-E942-9105-136ED86B0A54}"/>
                  </a:ext>
                </a:extLst>
              </p:cNvPr>
              <p:cNvSpPr>
                <a:spLocks/>
              </p:cNvSpPr>
              <p:nvPr/>
            </p:nvSpPr>
            <p:spPr bwMode="auto">
              <a:xfrm>
                <a:off x="1285" y="2229"/>
                <a:ext cx="318" cy="215"/>
              </a:xfrm>
              <a:custGeom>
                <a:avLst/>
                <a:gdLst>
                  <a:gd name="T0" fmla="*/ 0 w 1012"/>
                  <a:gd name="T1" fmla="*/ 0 h 292"/>
                  <a:gd name="T2" fmla="*/ 0 w 1012"/>
                  <a:gd name="T3" fmla="*/ 0 h 292"/>
                  <a:gd name="T4" fmla="*/ 0 w 1012"/>
                  <a:gd name="T5" fmla="*/ 34 h 292"/>
                  <a:gd name="T6" fmla="*/ 0 w 1012"/>
                  <a:gd name="T7" fmla="*/ 34 h 292"/>
                  <a:gd name="T8" fmla="*/ 0 60000 65536"/>
                  <a:gd name="T9" fmla="*/ 0 60000 65536"/>
                  <a:gd name="T10" fmla="*/ 0 60000 65536"/>
                  <a:gd name="T11" fmla="*/ 0 60000 65536"/>
                  <a:gd name="T12" fmla="*/ 0 w 1012"/>
                  <a:gd name="T13" fmla="*/ 0 h 292"/>
                  <a:gd name="T14" fmla="*/ 1012 w 1012"/>
                  <a:gd name="T15" fmla="*/ 292 h 292"/>
                </a:gdLst>
                <a:ahLst/>
                <a:cxnLst>
                  <a:cxn ang="T8">
                    <a:pos x="T0" y="T1"/>
                  </a:cxn>
                  <a:cxn ang="T9">
                    <a:pos x="T2" y="T3"/>
                  </a:cxn>
                  <a:cxn ang="T10">
                    <a:pos x="T4" y="T5"/>
                  </a:cxn>
                  <a:cxn ang="T11">
                    <a:pos x="T6" y="T7"/>
                  </a:cxn>
                </a:cxnLst>
                <a:rect l="T12" t="T13" r="T14" b="T15"/>
                <a:pathLst>
                  <a:path w="1012" h="292">
                    <a:moveTo>
                      <a:pt x="0" y="0"/>
                    </a:moveTo>
                    <a:lnTo>
                      <a:pt x="1009" y="0"/>
                    </a:lnTo>
                    <a:lnTo>
                      <a:pt x="1012" y="292"/>
                    </a:lnTo>
                    <a:lnTo>
                      <a:pt x="18" y="291"/>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CN"/>
              </a:p>
            </p:txBody>
          </p:sp>
          <p:sp>
            <p:nvSpPr>
              <p:cNvPr id="21" name="Line 19">
                <a:extLst>
                  <a:ext uri="{FF2B5EF4-FFF2-40B4-BE49-F238E27FC236}">
                    <a16:creationId xmlns:a16="http://schemas.microsoft.com/office/drawing/2014/main" id="{B81A2ADB-209C-ED45-950E-09A40C118F8C}"/>
                  </a:ext>
                </a:extLst>
              </p:cNvPr>
              <p:cNvSpPr>
                <a:spLocks noChangeShapeType="1"/>
              </p:cNvSpPr>
              <p:nvPr/>
            </p:nvSpPr>
            <p:spPr bwMode="auto">
              <a:xfrm>
                <a:off x="1500" y="2238"/>
                <a:ext cx="0" cy="2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N"/>
              </a:p>
            </p:txBody>
          </p:sp>
          <p:sp>
            <p:nvSpPr>
              <p:cNvPr id="22" name="Line 20">
                <a:extLst>
                  <a:ext uri="{FF2B5EF4-FFF2-40B4-BE49-F238E27FC236}">
                    <a16:creationId xmlns:a16="http://schemas.microsoft.com/office/drawing/2014/main" id="{06692411-2C09-2A4E-B099-142B2AD8FA98}"/>
                  </a:ext>
                </a:extLst>
              </p:cNvPr>
              <p:cNvSpPr>
                <a:spLocks noChangeShapeType="1"/>
              </p:cNvSpPr>
              <p:nvPr/>
            </p:nvSpPr>
            <p:spPr bwMode="auto">
              <a:xfrm>
                <a:off x="1431" y="2237"/>
                <a:ext cx="0" cy="2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N"/>
              </a:p>
            </p:txBody>
          </p:sp>
        </p:grpSp>
        <p:sp>
          <p:nvSpPr>
            <p:cNvPr id="23" name="Text Box 21">
              <a:extLst>
                <a:ext uri="{FF2B5EF4-FFF2-40B4-BE49-F238E27FC236}">
                  <a16:creationId xmlns:a16="http://schemas.microsoft.com/office/drawing/2014/main" id="{932F3E94-00F1-804E-980F-65FFC0E411B5}"/>
                </a:ext>
              </a:extLst>
            </p:cNvPr>
            <p:cNvSpPr txBox="1">
              <a:spLocks noChangeArrowheads="1"/>
            </p:cNvSpPr>
            <p:nvPr/>
          </p:nvSpPr>
          <p:spPr bwMode="auto">
            <a:xfrm>
              <a:off x="3760788" y="1828800"/>
              <a:ext cx="1291693" cy="46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38" tIns="34272" rIns="68538" bIns="34272">
              <a:spAutoFit/>
            </a:bodyPr>
            <a:lstStyle>
              <a:lvl1pPr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sz="1800" dirty="0">
                  <a:solidFill>
                    <a:srgbClr val="000000"/>
                  </a:solidFill>
                  <a:latin typeface="+mn-lt"/>
                </a:rPr>
                <a:t>Packets</a:t>
              </a:r>
            </a:p>
          </p:txBody>
        </p:sp>
        <p:pic>
          <p:nvPicPr>
            <p:cNvPr id="24" name="Picture 22" descr="Click To Preview">
              <a:extLst>
                <a:ext uri="{FF2B5EF4-FFF2-40B4-BE49-F238E27FC236}">
                  <a16:creationId xmlns:a16="http://schemas.microsoft.com/office/drawing/2014/main" id="{958B68A7-3623-A549-A5C3-860666FDB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3886200"/>
              <a:ext cx="7318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3" descr="Click To Preview">
              <a:extLst>
                <a:ext uri="{FF2B5EF4-FFF2-40B4-BE49-F238E27FC236}">
                  <a16:creationId xmlns:a16="http://schemas.microsoft.com/office/drawing/2014/main" id="{31B67AC1-E8F7-1D40-9378-8E8B95837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8401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4" descr="Click To Preview">
              <a:extLst>
                <a:ext uri="{FF2B5EF4-FFF2-40B4-BE49-F238E27FC236}">
                  <a16:creationId xmlns:a16="http://schemas.microsoft.com/office/drawing/2014/main" id="{A4D52D7D-DCC5-1543-80D0-574D82AA8D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763" y="27432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5" descr="Click To Preview">
              <a:extLst>
                <a:ext uri="{FF2B5EF4-FFF2-40B4-BE49-F238E27FC236}">
                  <a16:creationId xmlns:a16="http://schemas.microsoft.com/office/drawing/2014/main" id="{C8F96DC0-7044-6440-9FC2-B6EE4671E7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763" y="1630363"/>
              <a:ext cx="731837"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26" descr="Click To Preview">
              <a:extLst>
                <a:ext uri="{FF2B5EF4-FFF2-40B4-BE49-F238E27FC236}">
                  <a16:creationId xmlns:a16="http://schemas.microsoft.com/office/drawing/2014/main" id="{A8E7C83A-37B1-1B4C-A540-FA8CB0F49B30}"/>
                </a:ext>
              </a:extLst>
            </p:cNvPr>
            <p:cNvPicPr>
              <a:picLocks noChangeAspect="1" noChangeArrowheads="1"/>
            </p:cNvPicPr>
            <p:nvPr/>
          </p:nvPicPr>
          <p:blipFill>
            <a:blip r:embed="rId5">
              <a:grayscl/>
              <a:extLst>
                <a:ext uri="{28A0092B-C50C-407E-A947-70E740481C1C}">
                  <a14:useLocalDpi xmlns:a14="http://schemas.microsoft.com/office/drawing/2010/main" val="0"/>
                </a:ext>
              </a:extLst>
            </a:blip>
            <a:srcRect/>
            <a:stretch>
              <a:fillRect/>
            </a:stretch>
          </p:blipFill>
          <p:spPr bwMode="auto">
            <a:xfrm>
              <a:off x="8031163" y="1752600"/>
              <a:ext cx="73183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7" descr="Click To Preview">
              <a:extLst>
                <a:ext uri="{FF2B5EF4-FFF2-40B4-BE49-F238E27FC236}">
                  <a16:creationId xmlns:a16="http://schemas.microsoft.com/office/drawing/2014/main" id="{3629ED4D-F409-3B43-9D6B-517BE2FE70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01000" y="2773363"/>
              <a:ext cx="73183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Line 28">
              <a:extLst>
                <a:ext uri="{FF2B5EF4-FFF2-40B4-BE49-F238E27FC236}">
                  <a16:creationId xmlns:a16="http://schemas.microsoft.com/office/drawing/2014/main" id="{E9D28FBB-EFC9-9B45-B3FE-ECFB24953B78}"/>
                </a:ext>
              </a:extLst>
            </p:cNvPr>
            <p:cNvSpPr>
              <a:spLocks noChangeShapeType="1"/>
            </p:cNvSpPr>
            <p:nvPr/>
          </p:nvSpPr>
          <p:spPr bwMode="auto">
            <a:xfrm>
              <a:off x="2679700" y="3333750"/>
              <a:ext cx="38100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lIns="68558" tIns="34281" rIns="68558" bIns="34281" anchor="ctr"/>
            <a:lstStyle/>
            <a:p>
              <a:endParaRPr lang="en-CN"/>
            </a:p>
          </p:txBody>
        </p:sp>
        <p:sp>
          <p:nvSpPr>
            <p:cNvPr id="31" name="Line 29">
              <a:extLst>
                <a:ext uri="{FF2B5EF4-FFF2-40B4-BE49-F238E27FC236}">
                  <a16:creationId xmlns:a16="http://schemas.microsoft.com/office/drawing/2014/main" id="{95C75A0D-206A-B84A-81E6-DE48CB96315D}"/>
                </a:ext>
              </a:extLst>
            </p:cNvPr>
            <p:cNvSpPr>
              <a:spLocks noChangeShapeType="1"/>
            </p:cNvSpPr>
            <p:nvPr/>
          </p:nvSpPr>
          <p:spPr bwMode="auto">
            <a:xfrm>
              <a:off x="2679700" y="2876550"/>
              <a:ext cx="38100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lIns="68558" tIns="34281" rIns="68558" bIns="34281" anchor="ctr"/>
            <a:lstStyle/>
            <a:p>
              <a:endParaRPr lang="en-CN"/>
            </a:p>
          </p:txBody>
        </p:sp>
        <p:sp>
          <p:nvSpPr>
            <p:cNvPr id="32" name="Line 30">
              <a:extLst>
                <a:ext uri="{FF2B5EF4-FFF2-40B4-BE49-F238E27FC236}">
                  <a16:creationId xmlns:a16="http://schemas.microsoft.com/office/drawing/2014/main" id="{1674DD54-1E4A-144C-BE3C-6508B18C96B8}"/>
                </a:ext>
              </a:extLst>
            </p:cNvPr>
            <p:cNvSpPr>
              <a:spLocks noChangeShapeType="1"/>
            </p:cNvSpPr>
            <p:nvPr/>
          </p:nvSpPr>
          <p:spPr bwMode="auto">
            <a:xfrm>
              <a:off x="4343400" y="2209800"/>
              <a:ext cx="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68558" tIns="34281" rIns="68558" bIns="34281"/>
            <a:lstStyle/>
            <a:p>
              <a:endParaRPr lang="en-CN"/>
            </a:p>
          </p:txBody>
        </p:sp>
        <p:grpSp>
          <p:nvGrpSpPr>
            <p:cNvPr id="33" name="Group 31">
              <a:extLst>
                <a:ext uri="{FF2B5EF4-FFF2-40B4-BE49-F238E27FC236}">
                  <a16:creationId xmlns:a16="http://schemas.microsoft.com/office/drawing/2014/main" id="{E12EC01B-06E4-C34D-A755-361F8E0F5CF3}"/>
                </a:ext>
              </a:extLst>
            </p:cNvPr>
            <p:cNvGrpSpPr>
              <a:grpSpLocks/>
            </p:cNvGrpSpPr>
            <p:nvPr/>
          </p:nvGrpSpPr>
          <p:grpSpPr bwMode="auto">
            <a:xfrm>
              <a:off x="1371600" y="2133600"/>
              <a:ext cx="914400" cy="2057400"/>
              <a:chOff x="864" y="1728"/>
              <a:chExt cx="576" cy="1296"/>
            </a:xfrm>
          </p:grpSpPr>
          <p:sp>
            <p:nvSpPr>
              <p:cNvPr id="34" name="Line 32">
                <a:extLst>
                  <a:ext uri="{FF2B5EF4-FFF2-40B4-BE49-F238E27FC236}">
                    <a16:creationId xmlns:a16="http://schemas.microsoft.com/office/drawing/2014/main" id="{A01D69F1-4D95-C24F-89EC-AAA63E50B130}"/>
                  </a:ext>
                </a:extLst>
              </p:cNvPr>
              <p:cNvSpPr>
                <a:spLocks noChangeShapeType="1"/>
              </p:cNvSpPr>
              <p:nvPr/>
            </p:nvSpPr>
            <p:spPr bwMode="auto">
              <a:xfrm>
                <a:off x="912" y="1728"/>
                <a:ext cx="528" cy="62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none"/>
              <a:lstStyle/>
              <a:p>
                <a:endParaRPr lang="en-CN"/>
              </a:p>
            </p:txBody>
          </p:sp>
          <p:sp>
            <p:nvSpPr>
              <p:cNvPr id="35" name="Line 33">
                <a:extLst>
                  <a:ext uri="{FF2B5EF4-FFF2-40B4-BE49-F238E27FC236}">
                    <a16:creationId xmlns:a16="http://schemas.microsoft.com/office/drawing/2014/main" id="{9E983198-DBDA-3846-9B96-066C37B00787}"/>
                  </a:ext>
                </a:extLst>
              </p:cNvPr>
              <p:cNvSpPr>
                <a:spLocks noChangeShapeType="1"/>
              </p:cNvSpPr>
              <p:nvPr/>
            </p:nvSpPr>
            <p:spPr bwMode="auto">
              <a:xfrm>
                <a:off x="912" y="2352"/>
                <a:ext cx="528" cy="0"/>
              </a:xfrm>
              <a:prstGeom prst="line">
                <a:avLst/>
              </a:prstGeom>
              <a:noFill/>
              <a:ln w="38100">
                <a:solidFill>
                  <a:schemeClr val="hlink"/>
                </a:solidFill>
                <a:round/>
                <a:headEnd type="oval" w="med" len="med"/>
                <a:tailEnd type="oval" w="med" len="med"/>
              </a:ln>
              <a:extLst>
                <a:ext uri="{909E8E84-426E-40DD-AFC4-6F175D3DCCD1}">
                  <a14:hiddenFill xmlns:a14="http://schemas.microsoft.com/office/drawing/2010/main">
                    <a:noFill/>
                  </a14:hiddenFill>
                </a:ext>
              </a:extLst>
            </p:spPr>
            <p:txBody>
              <a:bodyPr wrap="none"/>
              <a:lstStyle/>
              <a:p>
                <a:endParaRPr lang="en-CN"/>
              </a:p>
            </p:txBody>
          </p:sp>
          <p:sp>
            <p:nvSpPr>
              <p:cNvPr id="36" name="Line 34">
                <a:extLst>
                  <a:ext uri="{FF2B5EF4-FFF2-40B4-BE49-F238E27FC236}">
                    <a16:creationId xmlns:a16="http://schemas.microsoft.com/office/drawing/2014/main" id="{FF644A87-53F6-0E49-98AB-B407691B9769}"/>
                  </a:ext>
                </a:extLst>
              </p:cNvPr>
              <p:cNvSpPr>
                <a:spLocks noChangeShapeType="1"/>
              </p:cNvSpPr>
              <p:nvPr/>
            </p:nvSpPr>
            <p:spPr bwMode="auto">
              <a:xfrm flipV="1">
                <a:off x="864" y="2352"/>
                <a:ext cx="576" cy="672"/>
              </a:xfrm>
              <a:prstGeom prst="line">
                <a:avLst/>
              </a:prstGeom>
              <a:noFill/>
              <a:ln w="38100">
                <a:solidFill>
                  <a:schemeClr val="folHlink"/>
                </a:solidFill>
                <a:round/>
                <a:headEnd type="oval" w="med" len="med"/>
                <a:tailEnd type="oval" w="med" len="med"/>
              </a:ln>
              <a:extLst>
                <a:ext uri="{909E8E84-426E-40DD-AFC4-6F175D3DCCD1}">
                  <a14:hiddenFill xmlns:a14="http://schemas.microsoft.com/office/drawing/2010/main">
                    <a:noFill/>
                  </a14:hiddenFill>
                </a:ext>
              </a:extLst>
            </p:spPr>
            <p:txBody>
              <a:bodyPr wrap="none"/>
              <a:lstStyle/>
              <a:p>
                <a:endParaRPr lang="en-CN"/>
              </a:p>
            </p:txBody>
          </p:sp>
        </p:grpSp>
        <p:grpSp>
          <p:nvGrpSpPr>
            <p:cNvPr id="37" name="Group 35">
              <a:extLst>
                <a:ext uri="{FF2B5EF4-FFF2-40B4-BE49-F238E27FC236}">
                  <a16:creationId xmlns:a16="http://schemas.microsoft.com/office/drawing/2014/main" id="{52875A5C-5F92-2A4F-A531-C6D0928E1161}"/>
                </a:ext>
              </a:extLst>
            </p:cNvPr>
            <p:cNvGrpSpPr>
              <a:grpSpLocks/>
            </p:cNvGrpSpPr>
            <p:nvPr/>
          </p:nvGrpSpPr>
          <p:grpSpPr bwMode="auto">
            <a:xfrm rot="10800000">
              <a:off x="7010400" y="2057400"/>
              <a:ext cx="914400" cy="2057400"/>
              <a:chOff x="864" y="1728"/>
              <a:chExt cx="576" cy="1296"/>
            </a:xfrm>
          </p:grpSpPr>
          <p:sp>
            <p:nvSpPr>
              <p:cNvPr id="38" name="Line 36">
                <a:extLst>
                  <a:ext uri="{FF2B5EF4-FFF2-40B4-BE49-F238E27FC236}">
                    <a16:creationId xmlns:a16="http://schemas.microsoft.com/office/drawing/2014/main" id="{1CC1C1B3-A750-594E-908D-E768921CA8A9}"/>
                  </a:ext>
                </a:extLst>
              </p:cNvPr>
              <p:cNvSpPr>
                <a:spLocks noChangeShapeType="1"/>
              </p:cNvSpPr>
              <p:nvPr/>
            </p:nvSpPr>
            <p:spPr bwMode="auto">
              <a:xfrm>
                <a:off x="912" y="1728"/>
                <a:ext cx="528" cy="62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none"/>
              <a:lstStyle/>
              <a:p>
                <a:endParaRPr lang="en-CN"/>
              </a:p>
            </p:txBody>
          </p:sp>
          <p:sp>
            <p:nvSpPr>
              <p:cNvPr id="39" name="Line 37">
                <a:extLst>
                  <a:ext uri="{FF2B5EF4-FFF2-40B4-BE49-F238E27FC236}">
                    <a16:creationId xmlns:a16="http://schemas.microsoft.com/office/drawing/2014/main" id="{652E7503-7A65-A74B-8540-1D5B5B5A3A36}"/>
                  </a:ext>
                </a:extLst>
              </p:cNvPr>
              <p:cNvSpPr>
                <a:spLocks noChangeShapeType="1"/>
              </p:cNvSpPr>
              <p:nvPr/>
            </p:nvSpPr>
            <p:spPr bwMode="auto">
              <a:xfrm>
                <a:off x="912" y="2352"/>
                <a:ext cx="528" cy="0"/>
              </a:xfrm>
              <a:prstGeom prst="line">
                <a:avLst/>
              </a:prstGeom>
              <a:noFill/>
              <a:ln w="38100">
                <a:solidFill>
                  <a:schemeClr val="hlink"/>
                </a:solidFill>
                <a:round/>
                <a:headEnd type="oval" w="med" len="med"/>
                <a:tailEnd type="oval" w="med" len="med"/>
              </a:ln>
              <a:extLst>
                <a:ext uri="{909E8E84-426E-40DD-AFC4-6F175D3DCCD1}">
                  <a14:hiddenFill xmlns:a14="http://schemas.microsoft.com/office/drawing/2010/main">
                    <a:noFill/>
                  </a14:hiddenFill>
                </a:ext>
              </a:extLst>
            </p:spPr>
            <p:txBody>
              <a:bodyPr wrap="none"/>
              <a:lstStyle/>
              <a:p>
                <a:endParaRPr lang="en-CN"/>
              </a:p>
            </p:txBody>
          </p:sp>
          <p:sp>
            <p:nvSpPr>
              <p:cNvPr id="40" name="Line 38">
                <a:extLst>
                  <a:ext uri="{FF2B5EF4-FFF2-40B4-BE49-F238E27FC236}">
                    <a16:creationId xmlns:a16="http://schemas.microsoft.com/office/drawing/2014/main" id="{0C3436EC-39BD-FA49-B58D-A73D5B60B08E}"/>
                  </a:ext>
                </a:extLst>
              </p:cNvPr>
              <p:cNvSpPr>
                <a:spLocks noChangeShapeType="1"/>
              </p:cNvSpPr>
              <p:nvPr/>
            </p:nvSpPr>
            <p:spPr bwMode="auto">
              <a:xfrm flipV="1">
                <a:off x="864" y="2352"/>
                <a:ext cx="576" cy="672"/>
              </a:xfrm>
              <a:prstGeom prst="line">
                <a:avLst/>
              </a:prstGeom>
              <a:noFill/>
              <a:ln w="38100">
                <a:solidFill>
                  <a:schemeClr val="folHlink"/>
                </a:solidFill>
                <a:round/>
                <a:headEnd type="oval" w="med" len="med"/>
                <a:tailEnd type="oval" w="med" len="med"/>
              </a:ln>
              <a:extLst>
                <a:ext uri="{909E8E84-426E-40DD-AFC4-6F175D3DCCD1}">
                  <a14:hiddenFill xmlns:a14="http://schemas.microsoft.com/office/drawing/2010/main">
                    <a:noFill/>
                  </a14:hiddenFill>
                </a:ext>
              </a:extLst>
            </p:spPr>
            <p:txBody>
              <a:bodyPr wrap="none"/>
              <a:lstStyle/>
              <a:p>
                <a:endParaRPr lang="en-CN"/>
              </a:p>
            </p:txBody>
          </p:sp>
        </p:grpSp>
        <p:grpSp>
          <p:nvGrpSpPr>
            <p:cNvPr id="41" name="Group 39">
              <a:extLst>
                <a:ext uri="{FF2B5EF4-FFF2-40B4-BE49-F238E27FC236}">
                  <a16:creationId xmlns:a16="http://schemas.microsoft.com/office/drawing/2014/main" id="{13D7B995-AF86-7F41-8541-C7E84CD21417}"/>
                </a:ext>
              </a:extLst>
            </p:cNvPr>
            <p:cNvGrpSpPr>
              <a:grpSpLocks/>
            </p:cNvGrpSpPr>
            <p:nvPr/>
          </p:nvGrpSpPr>
          <p:grpSpPr bwMode="auto">
            <a:xfrm>
              <a:off x="6781800" y="2928938"/>
              <a:ext cx="504825" cy="354012"/>
              <a:chOff x="1285" y="2229"/>
              <a:chExt cx="318" cy="223"/>
            </a:xfrm>
          </p:grpSpPr>
          <p:sp>
            <p:nvSpPr>
              <p:cNvPr id="42" name="Freeform 40">
                <a:extLst>
                  <a:ext uri="{FF2B5EF4-FFF2-40B4-BE49-F238E27FC236}">
                    <a16:creationId xmlns:a16="http://schemas.microsoft.com/office/drawing/2014/main" id="{865A55D3-7B21-E34B-859F-BDFB3C7638A4}"/>
                  </a:ext>
                </a:extLst>
              </p:cNvPr>
              <p:cNvSpPr>
                <a:spLocks/>
              </p:cNvSpPr>
              <p:nvPr/>
            </p:nvSpPr>
            <p:spPr bwMode="auto">
              <a:xfrm>
                <a:off x="1285" y="2229"/>
                <a:ext cx="318" cy="215"/>
              </a:xfrm>
              <a:custGeom>
                <a:avLst/>
                <a:gdLst>
                  <a:gd name="T0" fmla="*/ 0 w 1012"/>
                  <a:gd name="T1" fmla="*/ 0 h 292"/>
                  <a:gd name="T2" fmla="*/ 0 w 1012"/>
                  <a:gd name="T3" fmla="*/ 0 h 292"/>
                  <a:gd name="T4" fmla="*/ 0 w 1012"/>
                  <a:gd name="T5" fmla="*/ 34 h 292"/>
                  <a:gd name="T6" fmla="*/ 0 w 1012"/>
                  <a:gd name="T7" fmla="*/ 34 h 292"/>
                  <a:gd name="T8" fmla="*/ 0 60000 65536"/>
                  <a:gd name="T9" fmla="*/ 0 60000 65536"/>
                  <a:gd name="T10" fmla="*/ 0 60000 65536"/>
                  <a:gd name="T11" fmla="*/ 0 60000 65536"/>
                  <a:gd name="T12" fmla="*/ 0 w 1012"/>
                  <a:gd name="T13" fmla="*/ 0 h 292"/>
                  <a:gd name="T14" fmla="*/ 1012 w 1012"/>
                  <a:gd name="T15" fmla="*/ 292 h 292"/>
                </a:gdLst>
                <a:ahLst/>
                <a:cxnLst>
                  <a:cxn ang="T8">
                    <a:pos x="T0" y="T1"/>
                  </a:cxn>
                  <a:cxn ang="T9">
                    <a:pos x="T2" y="T3"/>
                  </a:cxn>
                  <a:cxn ang="T10">
                    <a:pos x="T4" y="T5"/>
                  </a:cxn>
                  <a:cxn ang="T11">
                    <a:pos x="T6" y="T7"/>
                  </a:cxn>
                </a:cxnLst>
                <a:rect l="T12" t="T13" r="T14" b="T15"/>
                <a:pathLst>
                  <a:path w="1012" h="292">
                    <a:moveTo>
                      <a:pt x="0" y="0"/>
                    </a:moveTo>
                    <a:lnTo>
                      <a:pt x="1009" y="0"/>
                    </a:lnTo>
                    <a:lnTo>
                      <a:pt x="1012" y="292"/>
                    </a:lnTo>
                    <a:lnTo>
                      <a:pt x="18" y="291"/>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CN"/>
              </a:p>
            </p:txBody>
          </p:sp>
          <p:sp>
            <p:nvSpPr>
              <p:cNvPr id="43" name="Line 41">
                <a:extLst>
                  <a:ext uri="{FF2B5EF4-FFF2-40B4-BE49-F238E27FC236}">
                    <a16:creationId xmlns:a16="http://schemas.microsoft.com/office/drawing/2014/main" id="{53A7D0EA-F2BE-4746-9F61-40D37B0C359A}"/>
                  </a:ext>
                </a:extLst>
              </p:cNvPr>
              <p:cNvSpPr>
                <a:spLocks noChangeShapeType="1"/>
              </p:cNvSpPr>
              <p:nvPr/>
            </p:nvSpPr>
            <p:spPr bwMode="auto">
              <a:xfrm>
                <a:off x="1500" y="2238"/>
                <a:ext cx="0" cy="2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N"/>
              </a:p>
            </p:txBody>
          </p:sp>
          <p:sp>
            <p:nvSpPr>
              <p:cNvPr id="44" name="Line 42">
                <a:extLst>
                  <a:ext uri="{FF2B5EF4-FFF2-40B4-BE49-F238E27FC236}">
                    <a16:creationId xmlns:a16="http://schemas.microsoft.com/office/drawing/2014/main" id="{2CC4703C-22C4-C640-979A-374B303211C2}"/>
                  </a:ext>
                </a:extLst>
              </p:cNvPr>
              <p:cNvSpPr>
                <a:spLocks noChangeShapeType="1"/>
              </p:cNvSpPr>
              <p:nvPr/>
            </p:nvSpPr>
            <p:spPr bwMode="auto">
              <a:xfrm>
                <a:off x="1431" y="2237"/>
                <a:ext cx="0" cy="2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N"/>
              </a:p>
            </p:txBody>
          </p:sp>
        </p:grpSp>
      </p:grpSp>
      <p:sp>
        <p:nvSpPr>
          <p:cNvPr id="46" name="圆角矩形 45">
            <a:extLst>
              <a:ext uri="{FF2B5EF4-FFF2-40B4-BE49-F238E27FC236}">
                <a16:creationId xmlns:a16="http://schemas.microsoft.com/office/drawing/2014/main" id="{0AF9A043-45E0-9940-2DF9-9AE599D560D8}"/>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Capacity</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Cost</a:t>
            </a:r>
          </a:p>
        </p:txBody>
      </p:sp>
      <p:sp>
        <p:nvSpPr>
          <p:cNvPr id="4" name="圆角矩形 3">
            <a:extLst>
              <a:ext uri="{FF2B5EF4-FFF2-40B4-BE49-F238E27FC236}">
                <a16:creationId xmlns:a16="http://schemas.microsoft.com/office/drawing/2014/main" id="{D80852BC-A67F-BA6C-118F-1171F3611472}"/>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Sharing</a:t>
            </a:r>
            <a:r>
              <a:rPr kumimoji="1" lang="zh-CN" altLang="en-US" b="0" dirty="0">
                <a:latin typeface="Helvetica"/>
                <a:cs typeface="Helvetica"/>
              </a:rPr>
              <a:t> </a:t>
            </a:r>
            <a:r>
              <a:rPr kumimoji="1" lang="en-US" altLang="zh-CN" b="0" dirty="0">
                <a:latin typeface="Helvetica"/>
                <a:cs typeface="Helvetica"/>
              </a:rPr>
              <a:t>a</a:t>
            </a:r>
            <a:r>
              <a:rPr kumimoji="1" lang="zh-CN" altLang="en-US" b="0" dirty="0">
                <a:latin typeface="Helvetica"/>
                <a:cs typeface="Helvetica"/>
              </a:rPr>
              <a:t> </a:t>
            </a:r>
            <a:r>
              <a:rPr kumimoji="1" lang="en-US" altLang="zh-CN" b="0" dirty="0">
                <a:latin typeface="Helvetica"/>
                <a:cs typeface="Helvetica"/>
              </a:rPr>
              <a:t>network</a:t>
            </a:r>
            <a:r>
              <a:rPr kumimoji="1" lang="zh-CN" altLang="en-US" b="0" dirty="0">
                <a:latin typeface="Helvetica"/>
                <a:cs typeface="Helvetica"/>
              </a:rPr>
              <a:t> </a:t>
            </a:r>
            <a:r>
              <a:rPr kumimoji="1" lang="en-US" altLang="zh-CN" b="0" dirty="0">
                <a:latin typeface="Helvetica"/>
                <a:cs typeface="Helvetica"/>
              </a:rPr>
              <a:t>link</a:t>
            </a:r>
            <a:endParaRPr kumimoji="1" lang="zh-CN" altLang="en-US" b="0" dirty="0">
              <a:latin typeface="Helvetica"/>
              <a:cs typeface="Helvetica"/>
            </a:endParaRPr>
          </a:p>
        </p:txBody>
      </p:sp>
    </p:spTree>
    <p:extLst>
      <p:ext uri="{BB962C8B-B14F-4D97-AF65-F5344CB8AC3E}">
        <p14:creationId xmlns:p14="http://schemas.microsoft.com/office/powerpoint/2010/main" val="1077174797"/>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723900" y="-218090"/>
            <a:ext cx="7772400" cy="1143000"/>
          </a:xfrm>
        </p:spPr>
        <p:txBody>
          <a:bodyPr lIns="90488" tIns="44450" rIns="90488" bIns="44450"/>
          <a:lstStyle/>
          <a:p>
            <a:pPr eaLnBrk="1" hangingPunct="1"/>
            <a:r>
              <a:rPr lang="en-US" altLang="zh-CN" dirty="0">
                <a:latin typeface="Tahoma" charset="0"/>
                <a:ea typeface="MS PGothic" charset="-128"/>
              </a:rPr>
              <a:t>Concurrent Execution &amp; Transactions</a:t>
            </a:r>
          </a:p>
        </p:txBody>
      </p:sp>
      <p:sp>
        <p:nvSpPr>
          <p:cNvPr id="6147" name="Rectangle 3"/>
          <p:cNvSpPr>
            <a:spLocks noGrp="1" noChangeArrowheads="1"/>
          </p:cNvSpPr>
          <p:nvPr>
            <p:ph idx="1"/>
          </p:nvPr>
        </p:nvSpPr>
        <p:spPr>
          <a:xfrm>
            <a:off x="304800" y="1066800"/>
            <a:ext cx="8610600" cy="4876800"/>
          </a:xfrm>
        </p:spPr>
        <p:txBody>
          <a:bodyPr lIns="90488" tIns="44450" rIns="90488" bIns="44450"/>
          <a:lstStyle/>
          <a:p>
            <a:pPr eaLnBrk="1" hangingPunct="1"/>
            <a:r>
              <a:rPr lang="en-US" altLang="zh-CN" dirty="0">
                <a:latin typeface="Tahoma" charset="0"/>
                <a:ea typeface="MS PGothic" charset="-128"/>
              </a:rPr>
              <a:t>Concurrent execution essential for good performance</a:t>
            </a:r>
          </a:p>
          <a:p>
            <a:pPr lvl="1" eaLnBrk="1" hangingPunct="1">
              <a:buSzPct val="75000"/>
            </a:pPr>
            <a:r>
              <a:rPr lang="en-US" altLang="zh-CN" dirty="0">
                <a:latin typeface="Tahoma" charset="0"/>
                <a:ea typeface="MS PGothic" charset="-128"/>
              </a:rPr>
              <a:t>Disk slow, so need to keep the CPU busy by working on several user programs concurrently</a:t>
            </a:r>
          </a:p>
          <a:p>
            <a:pPr eaLnBrk="1" hangingPunct="1"/>
            <a:endParaRPr lang="en-US" altLang="zh-CN" dirty="0">
              <a:latin typeface="Tahoma" charset="0"/>
              <a:ea typeface="MS PGothic" charset="-128"/>
            </a:endParaRPr>
          </a:p>
          <a:p>
            <a:pPr eaLnBrk="1" hangingPunct="1"/>
            <a:r>
              <a:rPr lang="en-US" altLang="zh-CN" dirty="0">
                <a:latin typeface="Tahoma" charset="0"/>
                <a:ea typeface="MS PGothic" charset="-128"/>
              </a:rPr>
              <a:t>DBMS only concerned about what data is read/written from/to the database</a:t>
            </a:r>
          </a:p>
          <a:p>
            <a:pPr lvl="1" eaLnBrk="1" hangingPunct="1"/>
            <a:r>
              <a:rPr lang="en-US" altLang="zh-CN" dirty="0">
                <a:latin typeface="Tahoma" charset="0"/>
                <a:ea typeface="MS PGothic" charset="-128"/>
              </a:rPr>
              <a:t>Not concerned about other operations performed by program on data</a:t>
            </a:r>
          </a:p>
          <a:p>
            <a:pPr eaLnBrk="1" hangingPunct="1"/>
            <a:endParaRPr lang="en-US" altLang="zh-CN" i="1" u="sng" dirty="0">
              <a:solidFill>
                <a:schemeClr val="accent2"/>
              </a:solidFill>
              <a:latin typeface="Tahoma" charset="0"/>
              <a:ea typeface="MS PGothic" charset="-128"/>
            </a:endParaRPr>
          </a:p>
          <a:p>
            <a:pPr eaLnBrk="1" hangingPunct="1"/>
            <a:r>
              <a:rPr lang="en-US" altLang="zh-CN" b="1" dirty="0">
                <a:solidFill>
                  <a:srgbClr val="000000"/>
                </a:solidFill>
                <a:latin typeface="Tahoma" charset="0"/>
                <a:ea typeface="MS PGothic" charset="-128"/>
              </a:rPr>
              <a:t>Transaction</a:t>
            </a:r>
            <a:r>
              <a:rPr lang="en-US" altLang="zh-CN" dirty="0">
                <a:solidFill>
                  <a:schemeClr val="accent2"/>
                </a:solidFill>
                <a:latin typeface="Tahoma" charset="0"/>
                <a:ea typeface="MS PGothic" charset="-128"/>
              </a:rPr>
              <a:t> </a:t>
            </a:r>
            <a:r>
              <a:rPr lang="en-US" altLang="zh-CN" dirty="0">
                <a:latin typeface="Tahoma" charset="0"/>
                <a:ea typeface="MS PGothic" charset="-128"/>
              </a:rPr>
              <a:t>– DBMS</a:t>
            </a:r>
            <a:r>
              <a:rPr lang="en-US" altLang="en-US" dirty="0">
                <a:latin typeface="Tahoma" charset="0"/>
                <a:ea typeface="MS PGothic" charset="-128"/>
              </a:rPr>
              <a:t>’</a:t>
            </a:r>
            <a:r>
              <a:rPr lang="en-US" altLang="ja-JP" dirty="0">
                <a:latin typeface="Tahoma" charset="0"/>
                <a:ea typeface="MS PGothic" charset="-128"/>
              </a:rPr>
              <a:t>s abstract view of a user program, i.e., a sequence of reads and writes.</a:t>
            </a:r>
          </a:p>
          <a:p>
            <a:pPr eaLnBrk="1" hangingPunct="1"/>
            <a:endParaRPr lang="en-US" altLang="ja-JP" dirty="0">
              <a:latin typeface="Tahoma" charset="0"/>
              <a:ea typeface="MS PGothic" charset="-128"/>
            </a:endParaRPr>
          </a:p>
          <a:p>
            <a:pPr eaLnBrk="1" hangingPunct="1"/>
            <a:r>
              <a:rPr lang="en-US" altLang="zh-CN" dirty="0">
                <a:latin typeface="Tahoma" charset="0"/>
                <a:ea typeface="MS PGothic" charset="-128"/>
              </a:rPr>
              <a:t>Locks are an important part of concurrency control. </a:t>
            </a:r>
          </a:p>
        </p:txBody>
      </p:sp>
      <p:sp>
        <p:nvSpPr>
          <p:cNvPr id="30723" name="Footer Placeholder 3"/>
          <p:cNvSpPr>
            <a:spLocks noGrp="1"/>
          </p:cNvSpPr>
          <p:nvPr>
            <p:ph type="ftr" sz="quarter" idx="4294967295"/>
          </p:nvPr>
        </p:nvSpPr>
        <p:spPr bwMode="auto">
          <a:xfrm>
            <a:off x="0" y="6453188"/>
            <a:ext cx="2895600" cy="403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endParaRPr lang="en-US" altLang="zh-CN" sz="1200">
              <a:latin typeface="Times New Roman" charset="0"/>
            </a:endParaRPr>
          </a:p>
          <a:p>
            <a:endParaRPr lang="en-US" altLang="zh-CN" sz="1200">
              <a:solidFill>
                <a:schemeClr val="tx2"/>
              </a:solidFill>
              <a:latin typeface="Times New Roman" charset="0"/>
            </a:endParaRPr>
          </a:p>
        </p:txBody>
      </p:sp>
      <p:sp>
        <p:nvSpPr>
          <p:cNvPr id="5" name="圆角矩形 4">
            <a:extLst>
              <a:ext uri="{FF2B5EF4-FFF2-40B4-BE49-F238E27FC236}">
                <a16:creationId xmlns:a16="http://schemas.microsoft.com/office/drawing/2014/main" id="{2E8D25CD-C84E-65E6-728C-3B09792F99E3}"/>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I/O</a:t>
            </a:r>
            <a:r>
              <a:rPr kumimoji="1" lang="zh-CN" altLang="en-US" b="0" dirty="0">
                <a:latin typeface="Helvetica"/>
                <a:cs typeface="Helvetica"/>
              </a:rPr>
              <a:t> </a:t>
            </a:r>
            <a:r>
              <a:rPr kumimoji="1" lang="en-US" altLang="zh-CN" b="0" dirty="0">
                <a:latin typeface="Helvetica"/>
                <a:cs typeface="Helvetica"/>
              </a:rPr>
              <a:t>too</a:t>
            </a:r>
            <a:r>
              <a:rPr kumimoji="1" lang="zh-CN" altLang="en-US" b="0" dirty="0">
                <a:latin typeface="Helvetica"/>
                <a:cs typeface="Helvetica"/>
              </a:rPr>
              <a:t> </a:t>
            </a:r>
            <a:r>
              <a:rPr kumimoji="1" lang="en-US" altLang="zh-CN" b="0" dirty="0">
                <a:latin typeface="Helvetica"/>
                <a:cs typeface="Helvetica"/>
              </a:rPr>
              <a:t>slow</a:t>
            </a:r>
          </a:p>
        </p:txBody>
      </p:sp>
      <p:sp>
        <p:nvSpPr>
          <p:cNvPr id="2" name="圆角矩形 1">
            <a:extLst>
              <a:ext uri="{FF2B5EF4-FFF2-40B4-BE49-F238E27FC236}">
                <a16:creationId xmlns:a16="http://schemas.microsoft.com/office/drawing/2014/main" id="{8A563267-727D-9CB9-A603-523CEE549E69}"/>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Concurrent</a:t>
            </a:r>
            <a:r>
              <a:rPr kumimoji="1" lang="zh-CN" altLang="en-US" b="0" dirty="0">
                <a:latin typeface="Helvetica"/>
                <a:cs typeface="Helvetica"/>
              </a:rPr>
              <a:t> </a:t>
            </a:r>
            <a:r>
              <a:rPr kumimoji="1" lang="en-US" altLang="zh-CN" b="0" dirty="0">
                <a:latin typeface="Helvetica"/>
                <a:cs typeface="Helvetica"/>
              </a:rPr>
              <a:t>Transactions</a:t>
            </a:r>
            <a:endParaRPr kumimoji="1" lang="zh-CN" altLang="en-US" b="0" dirty="0">
              <a:latin typeface="Helvetica"/>
              <a:cs typeface="Helvetica"/>
            </a:endParaRPr>
          </a:p>
        </p:txBody>
      </p:sp>
    </p:spTree>
    <p:extLst>
      <p:ext uri="{BB962C8B-B14F-4D97-AF65-F5344CB8AC3E}">
        <p14:creationId xmlns:p14="http://schemas.microsoft.com/office/powerpoint/2010/main" val="1981510290"/>
      </p:ext>
    </p:extLst>
  </p:cSld>
  <p:clrMapOvr>
    <a:masterClrMapping/>
  </p:clrMapOvr>
  <p:transition>
    <p:cu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1143000" y="0"/>
            <a:ext cx="7772400" cy="1143000"/>
          </a:xfrm>
        </p:spPr>
        <p:txBody>
          <a:bodyPr lIns="90488" tIns="44450" rIns="90488" bIns="44450"/>
          <a:lstStyle/>
          <a:p>
            <a:pPr eaLnBrk="1" hangingPunct="1"/>
            <a:r>
              <a:rPr lang="en-US" altLang="zh-CN">
                <a:latin typeface="Tahoma" charset="0"/>
                <a:ea typeface="MS PGothic" charset="-128"/>
              </a:rPr>
              <a:t>Two-Phase Locking (2PL)</a:t>
            </a:r>
          </a:p>
        </p:txBody>
      </p:sp>
      <p:sp>
        <p:nvSpPr>
          <p:cNvPr id="67587" name="Rectangle 3"/>
          <p:cNvSpPr>
            <a:spLocks noGrp="1" noChangeArrowheads="1"/>
          </p:cNvSpPr>
          <p:nvPr>
            <p:ph idx="1"/>
          </p:nvPr>
        </p:nvSpPr>
        <p:spPr>
          <a:xfrm>
            <a:off x="152400" y="1066800"/>
            <a:ext cx="8686800" cy="3276600"/>
          </a:xfrm>
        </p:spPr>
        <p:txBody>
          <a:bodyPr lIns="90488" tIns="44450" rIns="90488" bIns="44450"/>
          <a:lstStyle/>
          <a:p>
            <a:pPr eaLnBrk="1" hangingPunct="1">
              <a:buSzPct val="75000"/>
              <a:buFontTx/>
              <a:buNone/>
            </a:pPr>
            <a:r>
              <a:rPr lang="en-US" altLang="zh-CN">
                <a:latin typeface="Tahoma" charset="0"/>
                <a:ea typeface="MS PGothic" charset="-128"/>
              </a:rPr>
              <a:t>1) Each transaction must obtain: </a:t>
            </a:r>
          </a:p>
          <a:p>
            <a:pPr lvl="1" eaLnBrk="1" hangingPunct="1">
              <a:buSzPct val="75000"/>
            </a:pPr>
            <a:r>
              <a:rPr lang="en-US" altLang="zh-CN">
                <a:latin typeface="Tahoma" charset="0"/>
                <a:ea typeface="MS PGothic" charset="-128"/>
              </a:rPr>
              <a:t>S (</a:t>
            </a:r>
            <a:r>
              <a:rPr lang="en-US" altLang="zh-CN" i="1">
                <a:latin typeface="Tahoma" charset="0"/>
                <a:ea typeface="MS PGothic" charset="-128"/>
              </a:rPr>
              <a:t>shared</a:t>
            </a:r>
            <a:r>
              <a:rPr lang="en-US" altLang="zh-CN">
                <a:latin typeface="Tahoma" charset="0"/>
                <a:ea typeface="MS PGothic" charset="-128"/>
              </a:rPr>
              <a:t>) or X (</a:t>
            </a:r>
            <a:r>
              <a:rPr lang="en-US" altLang="zh-CN" i="1">
                <a:latin typeface="Tahoma" charset="0"/>
                <a:ea typeface="MS PGothic" charset="-128"/>
              </a:rPr>
              <a:t>exclusive</a:t>
            </a:r>
            <a:r>
              <a:rPr lang="en-US" altLang="zh-CN">
                <a:latin typeface="Tahoma" charset="0"/>
                <a:ea typeface="MS PGothic" charset="-128"/>
              </a:rPr>
              <a:t>) lock on data before reading, </a:t>
            </a:r>
          </a:p>
          <a:p>
            <a:pPr lvl="1" eaLnBrk="1" hangingPunct="1">
              <a:buSzPct val="75000"/>
            </a:pPr>
            <a:r>
              <a:rPr lang="en-US" altLang="zh-CN">
                <a:latin typeface="Tahoma" charset="0"/>
                <a:ea typeface="MS PGothic" charset="-128"/>
              </a:rPr>
              <a:t>X (</a:t>
            </a:r>
            <a:r>
              <a:rPr lang="en-US" altLang="zh-CN" i="1">
                <a:latin typeface="Tahoma" charset="0"/>
                <a:ea typeface="MS PGothic" charset="-128"/>
              </a:rPr>
              <a:t>exclusive</a:t>
            </a:r>
            <a:r>
              <a:rPr lang="en-US" altLang="zh-CN">
                <a:latin typeface="Tahoma" charset="0"/>
                <a:ea typeface="MS PGothic" charset="-128"/>
              </a:rPr>
              <a:t>) lock on data before writing</a:t>
            </a:r>
          </a:p>
          <a:p>
            <a:pPr eaLnBrk="1" hangingPunct="1">
              <a:buSzPct val="75000"/>
              <a:buFontTx/>
              <a:buNone/>
            </a:pPr>
            <a:r>
              <a:rPr lang="en-US" altLang="zh-CN">
                <a:solidFill>
                  <a:srgbClr val="000000"/>
                </a:solidFill>
                <a:latin typeface="Tahoma" charset="0"/>
                <a:ea typeface="MS PGothic" charset="-128"/>
              </a:rPr>
              <a:t>2) A transaction can not request additional locks once it </a:t>
            </a:r>
            <a:r>
              <a:rPr lang="en-US" altLang="zh-CN">
                <a:latin typeface="Tahoma" charset="0"/>
                <a:ea typeface="MS PGothic" charset="-128"/>
              </a:rPr>
              <a:t>releases any locks</a:t>
            </a:r>
          </a:p>
          <a:p>
            <a:pPr eaLnBrk="1" hangingPunct="1">
              <a:buSzPct val="75000"/>
              <a:buFontTx/>
              <a:buNone/>
            </a:pPr>
            <a:r>
              <a:rPr lang="en-US" altLang="zh-CN">
                <a:latin typeface="Tahoma" charset="0"/>
                <a:ea typeface="MS PGothic" charset="-128"/>
              </a:rPr>
              <a:t>Thus, each transaction has a </a:t>
            </a:r>
            <a:r>
              <a:rPr lang="ja-JP" altLang="en-US">
                <a:latin typeface="Tahoma" charset="0"/>
                <a:ea typeface="MS PGothic" charset="-128"/>
              </a:rPr>
              <a:t>“</a:t>
            </a:r>
            <a:r>
              <a:rPr lang="en-US" altLang="ja-JP">
                <a:latin typeface="Tahoma" charset="0"/>
                <a:ea typeface="MS PGothic" charset="-128"/>
              </a:rPr>
              <a:t>growing phase</a:t>
            </a:r>
            <a:r>
              <a:rPr lang="ja-JP" altLang="en-US">
                <a:latin typeface="Tahoma" charset="0"/>
                <a:ea typeface="MS PGothic" charset="-128"/>
              </a:rPr>
              <a:t>”</a:t>
            </a:r>
            <a:r>
              <a:rPr lang="en-US" altLang="ja-JP">
                <a:latin typeface="Tahoma" charset="0"/>
                <a:ea typeface="MS PGothic" charset="-128"/>
              </a:rPr>
              <a:t> followed by a </a:t>
            </a:r>
            <a:r>
              <a:rPr lang="ja-JP" altLang="en-US">
                <a:latin typeface="Tahoma" charset="0"/>
                <a:ea typeface="MS PGothic" charset="-128"/>
              </a:rPr>
              <a:t>“</a:t>
            </a:r>
            <a:r>
              <a:rPr lang="en-US" altLang="ja-JP">
                <a:latin typeface="Tahoma" charset="0"/>
                <a:ea typeface="MS PGothic" charset="-128"/>
              </a:rPr>
              <a:t>shrinking phase</a:t>
            </a:r>
            <a:r>
              <a:rPr lang="ja-JP" altLang="en-US">
                <a:latin typeface="Tahoma" charset="0"/>
                <a:ea typeface="MS PGothic" charset="-128"/>
              </a:rPr>
              <a:t>”</a:t>
            </a:r>
            <a:endParaRPr lang="en-US" altLang="ja-JP">
              <a:latin typeface="Tahoma" charset="0"/>
              <a:ea typeface="MS PGothic" charset="-128"/>
            </a:endParaRPr>
          </a:p>
          <a:p>
            <a:pPr eaLnBrk="1" hangingPunct="1">
              <a:buSzPct val="75000"/>
            </a:pPr>
            <a:endParaRPr lang="en-US" altLang="zh-CN">
              <a:latin typeface="Tahoma" charset="0"/>
              <a:ea typeface="MS PGothic" charset="-128"/>
            </a:endParaRPr>
          </a:p>
        </p:txBody>
      </p:sp>
      <p:graphicFrame>
        <p:nvGraphicFramePr>
          <p:cNvPr id="6" name="Chart 5"/>
          <p:cNvGraphicFramePr/>
          <p:nvPr/>
        </p:nvGraphicFramePr>
        <p:xfrm>
          <a:off x="2743200" y="3814762"/>
          <a:ext cx="5791200" cy="2743200"/>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Connector 7"/>
          <p:cNvCxnSpPr>
            <a:cxnSpLocks noChangeShapeType="1"/>
          </p:cNvCxnSpPr>
          <p:nvPr/>
        </p:nvCxnSpPr>
        <p:spPr bwMode="auto">
          <a:xfrm rot="5400000">
            <a:off x="4801394" y="5109369"/>
            <a:ext cx="3200400" cy="1588"/>
          </a:xfrm>
          <a:prstGeom prst="line">
            <a:avLst/>
          </a:prstGeom>
          <a:noFill/>
          <a:ln w="28575">
            <a:solidFill>
              <a:srgbClr val="FF0000"/>
            </a:solidFill>
            <a:prstDash val="dash"/>
            <a:round/>
            <a:headEnd type="none" w="sm" len="sm"/>
            <a:tailEnd type="none" w="sm" len="sm"/>
          </a:ln>
          <a:extLst>
            <a:ext uri="{909E8E84-426E-40DD-AFC4-6F175D3DCCD1}">
              <a14:hiddenFill xmlns:a14="http://schemas.microsoft.com/office/drawing/2010/main">
                <a:noFill/>
              </a14:hiddenFill>
            </a:ext>
          </a:extLst>
        </p:spPr>
      </p:cxnSp>
      <p:sp>
        <p:nvSpPr>
          <p:cNvPr id="9" name="TextBox 8"/>
          <p:cNvSpPr txBox="1">
            <a:spLocks noChangeArrowheads="1"/>
          </p:cNvSpPr>
          <p:nvPr/>
        </p:nvSpPr>
        <p:spPr bwMode="auto">
          <a:xfrm>
            <a:off x="3429000" y="3967163"/>
            <a:ext cx="13303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CF0E30"/>
                </a:solidFill>
                <a:latin typeface="Helvetica" charset="0"/>
              </a:rPr>
              <a:t>Growing</a:t>
            </a:r>
          </a:p>
          <a:p>
            <a:pPr eaLnBrk="1" hangingPunct="1"/>
            <a:r>
              <a:rPr lang="en-US" altLang="zh-CN" b="0">
                <a:solidFill>
                  <a:srgbClr val="CF0E30"/>
                </a:solidFill>
                <a:latin typeface="Helvetica" charset="0"/>
              </a:rPr>
              <a:t>Phase</a:t>
            </a:r>
          </a:p>
        </p:txBody>
      </p:sp>
      <p:sp>
        <p:nvSpPr>
          <p:cNvPr id="10" name="TextBox 9"/>
          <p:cNvSpPr txBox="1">
            <a:spLocks noChangeArrowheads="1"/>
          </p:cNvSpPr>
          <p:nvPr/>
        </p:nvSpPr>
        <p:spPr bwMode="auto">
          <a:xfrm>
            <a:off x="6642100" y="3967163"/>
            <a:ext cx="14684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algn="r" eaLnBrk="1" hangingPunct="1"/>
            <a:r>
              <a:rPr lang="en-US" altLang="zh-CN" b="0">
                <a:solidFill>
                  <a:srgbClr val="CF0E30"/>
                </a:solidFill>
                <a:latin typeface="Helvetica" charset="0"/>
              </a:rPr>
              <a:t>Shrinking</a:t>
            </a:r>
          </a:p>
          <a:p>
            <a:pPr algn="r" eaLnBrk="1" hangingPunct="1"/>
            <a:r>
              <a:rPr lang="en-US" altLang="zh-CN" b="0">
                <a:solidFill>
                  <a:srgbClr val="CF0E30"/>
                </a:solidFill>
                <a:latin typeface="Helvetica" charset="0"/>
              </a:rPr>
              <a:t>Phase</a:t>
            </a:r>
          </a:p>
        </p:txBody>
      </p:sp>
      <p:grpSp>
        <p:nvGrpSpPr>
          <p:cNvPr id="2" name="Group 14"/>
          <p:cNvGrpSpPr>
            <a:grpSpLocks/>
          </p:cNvGrpSpPr>
          <p:nvPr/>
        </p:nvGrpSpPr>
        <p:grpSpPr bwMode="auto">
          <a:xfrm>
            <a:off x="6400800" y="3429000"/>
            <a:ext cx="2006600" cy="614363"/>
            <a:chOff x="6400800" y="3576935"/>
            <a:chExt cx="2006776" cy="614065"/>
          </a:xfrm>
        </p:grpSpPr>
        <p:cxnSp>
          <p:nvCxnSpPr>
            <p:cNvPr id="76808" name="Straight Connector 11"/>
            <p:cNvCxnSpPr>
              <a:cxnSpLocks noChangeShapeType="1"/>
            </p:cNvCxnSpPr>
            <p:nvPr/>
          </p:nvCxnSpPr>
          <p:spPr bwMode="auto">
            <a:xfrm rot="5400000">
              <a:off x="6400800" y="3886200"/>
              <a:ext cx="304800" cy="304800"/>
            </a:xfrm>
            <a:prstGeom prst="line">
              <a:avLst/>
            </a:prstGeom>
            <a:noFill/>
            <a:ln w="28575">
              <a:solidFill>
                <a:srgbClr val="FF0000"/>
              </a:solidFill>
              <a:round/>
              <a:headEnd type="none" w="sm" len="sm"/>
              <a:tailEnd type="stealth" w="lg" len="lg"/>
            </a:ln>
            <a:extLst>
              <a:ext uri="{909E8E84-426E-40DD-AFC4-6F175D3DCCD1}">
                <a14:hiddenFill xmlns:a14="http://schemas.microsoft.com/office/drawing/2010/main">
                  <a:noFill/>
                </a14:hiddenFill>
              </a:ext>
            </a:extLst>
          </p:spPr>
        </p:cxnSp>
        <p:sp>
          <p:nvSpPr>
            <p:cNvPr id="76809" name="TextBox 12"/>
            <p:cNvSpPr txBox="1">
              <a:spLocks noChangeArrowheads="1"/>
            </p:cNvSpPr>
            <p:nvPr/>
          </p:nvSpPr>
          <p:spPr bwMode="auto">
            <a:xfrm>
              <a:off x="6700258" y="3576935"/>
              <a:ext cx="1707318" cy="46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MS PGothic" charset="-128"/>
                </a:defRPr>
              </a:lvl1pPr>
              <a:lvl2pPr marL="742950" indent="-285750" eaLnBrk="0" hangingPunct="0">
                <a:defRPr sz="2400" b="1">
                  <a:solidFill>
                    <a:schemeClr val="tx1"/>
                  </a:solidFill>
                  <a:latin typeface="Comic Sans MS" charset="0"/>
                  <a:ea typeface="MS PGothic" charset="-128"/>
                </a:defRPr>
              </a:lvl2pPr>
              <a:lvl3pPr marL="1143000" indent="-228600" eaLnBrk="0" hangingPunct="0">
                <a:defRPr sz="2400" b="1">
                  <a:solidFill>
                    <a:schemeClr val="tx1"/>
                  </a:solidFill>
                  <a:latin typeface="Comic Sans MS" charset="0"/>
                  <a:ea typeface="MS PGothic" charset="-128"/>
                </a:defRPr>
              </a:lvl3pPr>
              <a:lvl4pPr marL="1600200" indent="-228600" eaLnBrk="0" hangingPunct="0">
                <a:defRPr sz="2400" b="1">
                  <a:solidFill>
                    <a:schemeClr val="tx1"/>
                  </a:solidFill>
                  <a:latin typeface="Comic Sans MS" charset="0"/>
                  <a:ea typeface="MS PGothic" charset="-128"/>
                </a:defRPr>
              </a:lvl4pPr>
              <a:lvl5pPr marL="2057400" indent="-228600" eaLnBrk="0" hangingPunct="0">
                <a:defRPr sz="2400" b="1">
                  <a:solidFill>
                    <a:schemeClr val="tx1"/>
                  </a:solidFill>
                  <a:latin typeface="Comic Sans MS" charset="0"/>
                  <a:ea typeface="MS PGothic" charset="-128"/>
                </a:defRPr>
              </a:lvl5pPr>
              <a:lvl6pPr marL="2514600" indent="-228600" eaLnBrk="0" fontAlgn="base" hangingPunct="0">
                <a:spcBef>
                  <a:spcPct val="0"/>
                </a:spcBef>
                <a:spcAft>
                  <a:spcPct val="0"/>
                </a:spcAft>
                <a:defRPr sz="2400" b="1">
                  <a:solidFill>
                    <a:schemeClr val="tx1"/>
                  </a:solidFill>
                  <a:latin typeface="Comic Sans MS" charset="0"/>
                  <a:ea typeface="MS PGothic" charset="-128"/>
                </a:defRPr>
              </a:lvl6pPr>
              <a:lvl7pPr marL="2971800" indent="-228600" eaLnBrk="0" fontAlgn="base" hangingPunct="0">
                <a:spcBef>
                  <a:spcPct val="0"/>
                </a:spcBef>
                <a:spcAft>
                  <a:spcPct val="0"/>
                </a:spcAft>
                <a:defRPr sz="2400" b="1">
                  <a:solidFill>
                    <a:schemeClr val="tx1"/>
                  </a:solidFill>
                  <a:latin typeface="Comic Sans MS" charset="0"/>
                  <a:ea typeface="MS PGothic" charset="-128"/>
                </a:defRPr>
              </a:lvl7pPr>
              <a:lvl8pPr marL="3429000" indent="-228600" eaLnBrk="0" fontAlgn="base" hangingPunct="0">
                <a:spcBef>
                  <a:spcPct val="0"/>
                </a:spcBef>
                <a:spcAft>
                  <a:spcPct val="0"/>
                </a:spcAft>
                <a:defRPr sz="2400" b="1">
                  <a:solidFill>
                    <a:schemeClr val="tx1"/>
                  </a:solidFill>
                  <a:latin typeface="Comic Sans MS" charset="0"/>
                  <a:ea typeface="MS PGothic" charset="-128"/>
                </a:defRPr>
              </a:lvl8pPr>
              <a:lvl9pPr marL="3886200" indent="-228600" eaLnBrk="0" fontAlgn="base" hangingPunct="0">
                <a:spcBef>
                  <a:spcPct val="0"/>
                </a:spcBef>
                <a:spcAft>
                  <a:spcPct val="0"/>
                </a:spcAft>
                <a:defRPr sz="2400" b="1">
                  <a:solidFill>
                    <a:schemeClr val="tx1"/>
                  </a:solidFill>
                  <a:latin typeface="Comic Sans MS" charset="0"/>
                  <a:ea typeface="MS PGothic" charset="-128"/>
                </a:defRPr>
              </a:lvl9pPr>
            </a:lstStyle>
            <a:p>
              <a:pPr eaLnBrk="1" hangingPunct="1"/>
              <a:r>
                <a:rPr lang="en-US" altLang="zh-CN" b="0">
                  <a:solidFill>
                    <a:srgbClr val="CF0E30"/>
                  </a:solidFill>
                  <a:latin typeface="Helvetica" charset="0"/>
                </a:rPr>
                <a:t>Lock Point!</a:t>
              </a:r>
            </a:p>
          </p:txBody>
        </p:sp>
      </p:grpSp>
      <p:sp>
        <p:nvSpPr>
          <p:cNvPr id="3" name="圆角矩形 2">
            <a:extLst>
              <a:ext uri="{FF2B5EF4-FFF2-40B4-BE49-F238E27FC236}">
                <a16:creationId xmlns:a16="http://schemas.microsoft.com/office/drawing/2014/main" id="{5CBEF4BF-CF0A-16B0-2D8D-2A20D189DA0F}"/>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How</a:t>
            </a:r>
            <a:r>
              <a:rPr kumimoji="1" lang="zh-CN" altLang="en-US" b="0" dirty="0">
                <a:latin typeface="Helvetica"/>
                <a:cs typeface="Helvetica"/>
              </a:rPr>
              <a:t> </a:t>
            </a:r>
            <a:r>
              <a:rPr kumimoji="1" lang="en-US" altLang="zh-CN" b="0" dirty="0">
                <a:latin typeface="Helvetica"/>
                <a:cs typeface="Helvetica"/>
              </a:rPr>
              <a:t>do</a:t>
            </a:r>
            <a:r>
              <a:rPr kumimoji="1" lang="zh-CN" altLang="en-US" b="0" dirty="0">
                <a:latin typeface="Helvetica"/>
                <a:cs typeface="Helvetica"/>
              </a:rPr>
              <a:t> </a:t>
            </a:r>
            <a:r>
              <a:rPr kumimoji="1" lang="en-US" altLang="zh-CN" b="0" dirty="0">
                <a:latin typeface="Helvetica"/>
                <a:cs typeface="Helvetica"/>
              </a:rPr>
              <a:t>you</a:t>
            </a:r>
            <a:r>
              <a:rPr kumimoji="1" lang="zh-CN" altLang="en-US" b="0" dirty="0">
                <a:latin typeface="Helvetica"/>
                <a:cs typeface="Helvetica"/>
              </a:rPr>
              <a:t> </a:t>
            </a:r>
            <a:r>
              <a:rPr kumimoji="1" lang="en-US" altLang="zh-CN" b="0" dirty="0">
                <a:latin typeface="Helvetica"/>
                <a:cs typeface="Helvetica"/>
              </a:rPr>
              <a:t>increase</a:t>
            </a:r>
            <a:r>
              <a:rPr kumimoji="1" lang="zh-CN" altLang="en-US" b="0" dirty="0">
                <a:latin typeface="Helvetica"/>
                <a:cs typeface="Helvetica"/>
              </a:rPr>
              <a:t> </a:t>
            </a:r>
            <a:r>
              <a:rPr kumimoji="1" lang="en-US" altLang="zh-CN" b="0" dirty="0">
                <a:latin typeface="Helvetica"/>
                <a:cs typeface="Helvetica"/>
              </a:rPr>
              <a:t>level</a:t>
            </a:r>
            <a:r>
              <a:rPr kumimoji="1" lang="zh-CN" altLang="en-US" b="0" dirty="0">
                <a:latin typeface="Helvetica"/>
                <a:cs typeface="Helvetica"/>
              </a:rPr>
              <a:t> </a:t>
            </a:r>
            <a:r>
              <a:rPr kumimoji="1" lang="en-US" altLang="zh-CN" b="0" dirty="0">
                <a:latin typeface="Helvetica"/>
                <a:cs typeface="Helvetica"/>
              </a:rPr>
              <a:t>of</a:t>
            </a:r>
            <a:r>
              <a:rPr kumimoji="1" lang="zh-CN" altLang="en-US" b="0" dirty="0">
                <a:latin typeface="Helvetica"/>
                <a:cs typeface="Helvetica"/>
              </a:rPr>
              <a:t> </a:t>
            </a:r>
            <a:r>
              <a:rPr kumimoji="1" lang="en-US" altLang="zh-CN" b="0" dirty="0">
                <a:latin typeface="Helvetica"/>
                <a:cs typeface="Helvetica"/>
              </a:rPr>
              <a:t>sharing?</a:t>
            </a:r>
          </a:p>
        </p:txBody>
      </p:sp>
      <p:sp>
        <p:nvSpPr>
          <p:cNvPr id="5" name="圆角矩形 4">
            <a:extLst>
              <a:ext uri="{FF2B5EF4-FFF2-40B4-BE49-F238E27FC236}">
                <a16:creationId xmlns:a16="http://schemas.microsoft.com/office/drawing/2014/main" id="{0273186D-1749-BE7F-A8AB-29E469792358}"/>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Only</a:t>
            </a:r>
            <a:r>
              <a:rPr kumimoji="1" lang="zh-CN" altLang="en-US" b="0" dirty="0">
                <a:latin typeface="Helvetica"/>
                <a:cs typeface="Helvetica"/>
              </a:rPr>
              <a:t> </a:t>
            </a:r>
            <a:r>
              <a:rPr kumimoji="1" lang="en-US" altLang="zh-CN" b="0" dirty="0">
                <a:latin typeface="Helvetica"/>
                <a:cs typeface="Helvetica"/>
              </a:rPr>
              <a:t>get</a:t>
            </a:r>
            <a:r>
              <a:rPr kumimoji="1" lang="zh-CN" altLang="en-US" b="0" dirty="0">
                <a:latin typeface="Helvetica"/>
                <a:cs typeface="Helvetica"/>
              </a:rPr>
              <a:t> </a:t>
            </a:r>
            <a:r>
              <a:rPr kumimoji="1" lang="en-US" altLang="zh-CN" b="0" dirty="0">
                <a:latin typeface="Helvetica"/>
                <a:cs typeface="Helvetica"/>
              </a:rPr>
              <a:t>locks</a:t>
            </a:r>
            <a:r>
              <a:rPr kumimoji="1" lang="zh-CN" altLang="en-US" b="0" dirty="0">
                <a:latin typeface="Helvetica"/>
                <a:cs typeface="Helvetica"/>
              </a:rPr>
              <a:t> </a:t>
            </a:r>
            <a:r>
              <a:rPr kumimoji="1" lang="en-US" altLang="zh-CN" b="0" dirty="0">
                <a:latin typeface="Helvetica"/>
                <a:cs typeface="Helvetica"/>
              </a:rPr>
              <a:t>when</a:t>
            </a:r>
            <a:r>
              <a:rPr kumimoji="1" lang="zh-CN" altLang="en-US" b="0" dirty="0">
                <a:latin typeface="Helvetica"/>
                <a:cs typeface="Helvetica"/>
              </a:rPr>
              <a:t> </a:t>
            </a:r>
            <a:r>
              <a:rPr kumimoji="1" lang="en-US" altLang="zh-CN" b="0" dirty="0">
                <a:latin typeface="Helvetica"/>
                <a:cs typeface="Helvetica"/>
              </a:rPr>
              <a:t>you</a:t>
            </a:r>
            <a:r>
              <a:rPr kumimoji="1" lang="zh-CN" altLang="en-US" b="0" dirty="0">
                <a:latin typeface="Helvetica"/>
                <a:cs typeface="Helvetica"/>
              </a:rPr>
              <a:t> </a:t>
            </a:r>
            <a:r>
              <a:rPr kumimoji="1" lang="en-US" altLang="zh-CN" b="0" dirty="0">
                <a:latin typeface="Helvetica"/>
                <a:cs typeface="Helvetica"/>
              </a:rPr>
              <a:t>need</a:t>
            </a:r>
            <a:r>
              <a:rPr kumimoji="1" lang="zh-CN" altLang="en-US" b="0" dirty="0">
                <a:latin typeface="Helvetica"/>
                <a:cs typeface="Helvetica"/>
              </a:rPr>
              <a:t> </a:t>
            </a:r>
            <a:r>
              <a:rPr kumimoji="1" lang="en-US" altLang="zh-CN" b="0" dirty="0">
                <a:latin typeface="Helvetica"/>
                <a:cs typeface="Helvetica"/>
              </a:rPr>
              <a:t>them!</a:t>
            </a:r>
            <a:endParaRPr kumimoji="1" lang="zh-CN" altLang="en-US" b="0" dirty="0">
              <a:latin typeface="Helvetica"/>
              <a:cs typeface="Helvetica"/>
            </a:endParaRPr>
          </a:p>
        </p:txBody>
      </p:sp>
    </p:spTree>
    <p:extLst>
      <p:ext uri="{BB962C8B-B14F-4D97-AF65-F5344CB8AC3E}">
        <p14:creationId xmlns:p14="http://schemas.microsoft.com/office/powerpoint/2010/main" val="2994035371"/>
      </p:ext>
    </p:extLst>
  </p:cSld>
  <p:clrMapOvr>
    <a:masterClrMapping/>
  </p:clrMapOvr>
  <p:transition spd="slow">
    <p:cu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ko-KR">
                <a:latin typeface="Helvetica" charset="0"/>
                <a:ea typeface="Gulim" charset="0"/>
                <a:cs typeface="Gulim" charset="0"/>
              </a:rPr>
              <a:t>Four requirements for Deadlock</a:t>
            </a:r>
          </a:p>
        </p:txBody>
      </p:sp>
      <p:sp>
        <p:nvSpPr>
          <p:cNvPr id="34819" name="Rectangle 3"/>
          <p:cNvSpPr>
            <a:spLocks noGrp="1" noChangeArrowheads="1"/>
          </p:cNvSpPr>
          <p:nvPr>
            <p:ph idx="1"/>
          </p:nvPr>
        </p:nvSpPr>
        <p:spPr>
          <a:xfrm>
            <a:off x="228600" y="762000"/>
            <a:ext cx="8534400" cy="5943600"/>
          </a:xfrm>
        </p:spPr>
        <p:txBody>
          <a:bodyPr/>
          <a:lstStyle/>
          <a:p>
            <a:pPr>
              <a:spcBef>
                <a:spcPct val="20000"/>
              </a:spcBef>
            </a:pPr>
            <a:r>
              <a:rPr lang="en-US" altLang="ko-KR">
                <a:solidFill>
                  <a:schemeClr val="hlink"/>
                </a:solidFill>
                <a:latin typeface="Helvetica" charset="0"/>
                <a:ea typeface="Gulim" charset="0"/>
                <a:cs typeface="Gulim" charset="0"/>
              </a:rPr>
              <a:t>Mutual exclusion</a:t>
            </a:r>
          </a:p>
          <a:p>
            <a:pPr lvl="1">
              <a:spcBef>
                <a:spcPct val="20000"/>
              </a:spcBef>
            </a:pPr>
            <a:r>
              <a:rPr lang="en-US" altLang="ko-KR">
                <a:latin typeface="Helvetica" charset="0"/>
                <a:ea typeface="Gulim" charset="0"/>
                <a:cs typeface="Gulim" charset="0"/>
              </a:rPr>
              <a:t>Only one thread at a time can use a resource</a:t>
            </a:r>
          </a:p>
          <a:p>
            <a:pPr>
              <a:spcBef>
                <a:spcPct val="20000"/>
              </a:spcBef>
            </a:pPr>
            <a:r>
              <a:rPr lang="en-US" altLang="ko-KR">
                <a:solidFill>
                  <a:schemeClr val="hlink"/>
                </a:solidFill>
                <a:latin typeface="Helvetica" charset="0"/>
                <a:ea typeface="Gulim" charset="0"/>
                <a:cs typeface="Gulim" charset="0"/>
              </a:rPr>
              <a:t>Hold and wait</a:t>
            </a:r>
          </a:p>
          <a:p>
            <a:pPr lvl="1">
              <a:spcBef>
                <a:spcPct val="20000"/>
              </a:spcBef>
            </a:pPr>
            <a:r>
              <a:rPr lang="en-US" altLang="ko-KR">
                <a:latin typeface="Helvetica" charset="0"/>
                <a:ea typeface="Gulim" charset="0"/>
                <a:cs typeface="Gulim" charset="0"/>
              </a:rPr>
              <a:t>Thread holding at least one resource is waiting to acquire additional resources held by other threads</a:t>
            </a:r>
          </a:p>
          <a:p>
            <a:pPr>
              <a:spcBef>
                <a:spcPct val="20000"/>
              </a:spcBef>
            </a:pPr>
            <a:r>
              <a:rPr lang="en-US" altLang="ko-KR">
                <a:solidFill>
                  <a:schemeClr val="hlink"/>
                </a:solidFill>
                <a:latin typeface="Helvetica" charset="0"/>
                <a:ea typeface="Gulim" charset="0"/>
                <a:cs typeface="Gulim" charset="0"/>
              </a:rPr>
              <a:t>No preemption</a:t>
            </a:r>
          </a:p>
          <a:p>
            <a:pPr lvl="1">
              <a:spcBef>
                <a:spcPct val="20000"/>
              </a:spcBef>
            </a:pPr>
            <a:r>
              <a:rPr lang="en-US" altLang="ko-KR">
                <a:latin typeface="Helvetica" charset="0"/>
                <a:ea typeface="Gulim" charset="0"/>
                <a:cs typeface="Gulim" charset="0"/>
              </a:rPr>
              <a:t>Resources are released only voluntarily by the thread holding the resource, after thread is finished with it</a:t>
            </a:r>
          </a:p>
          <a:p>
            <a:pPr>
              <a:spcBef>
                <a:spcPct val="20000"/>
              </a:spcBef>
            </a:pPr>
            <a:r>
              <a:rPr lang="en-US" altLang="ko-KR">
                <a:solidFill>
                  <a:schemeClr val="hlink"/>
                </a:solidFill>
                <a:latin typeface="Helvetica" charset="0"/>
                <a:ea typeface="Gulim" charset="0"/>
                <a:cs typeface="Gulim" charset="0"/>
              </a:rPr>
              <a:t>Circular wait</a:t>
            </a:r>
          </a:p>
          <a:p>
            <a:pPr lvl="1">
              <a:spcBef>
                <a:spcPct val="20000"/>
              </a:spcBef>
            </a:pPr>
            <a:r>
              <a:rPr lang="en-US" altLang="ko-KR">
                <a:latin typeface="Helvetica" charset="0"/>
                <a:ea typeface="Gulim" charset="0"/>
                <a:cs typeface="Gulim" charset="0"/>
              </a:rPr>
              <a:t>There exists a set {</a:t>
            </a:r>
            <a:r>
              <a:rPr lang="en-US" altLang="ko-KR" i="1">
                <a:latin typeface="Helvetica" charset="0"/>
                <a:ea typeface="Gulim" charset="0"/>
                <a:cs typeface="Gulim" charset="0"/>
              </a:rPr>
              <a:t>T</a:t>
            </a:r>
            <a:r>
              <a:rPr lang="en-US" altLang="ko-KR" baseline="-25000">
                <a:latin typeface="Helvetica" charset="0"/>
                <a:ea typeface="Gulim" charset="0"/>
                <a:cs typeface="Gulim" charset="0"/>
              </a:rPr>
              <a:t>1</a:t>
            </a:r>
            <a:r>
              <a:rPr lang="en-US" altLang="ko-KR">
                <a:latin typeface="Helvetica" charset="0"/>
                <a:ea typeface="Gulim" charset="0"/>
                <a:cs typeface="Gulim" charset="0"/>
              </a:rPr>
              <a:t>, …, </a:t>
            </a:r>
            <a:r>
              <a:rPr lang="en-US" altLang="ko-KR" i="1">
                <a:latin typeface="Helvetica" charset="0"/>
                <a:ea typeface="Gulim" charset="0"/>
                <a:cs typeface="Gulim" charset="0"/>
              </a:rPr>
              <a:t>T</a:t>
            </a:r>
            <a:r>
              <a:rPr lang="en-US" altLang="ko-KR" baseline="-25000">
                <a:latin typeface="Helvetica" charset="0"/>
                <a:ea typeface="Gulim" charset="0"/>
                <a:cs typeface="Gulim" charset="0"/>
              </a:rPr>
              <a:t>n</a:t>
            </a:r>
            <a:r>
              <a:rPr lang="en-US" altLang="ko-KR">
                <a:latin typeface="Helvetica" charset="0"/>
                <a:ea typeface="Gulim" charset="0"/>
                <a:cs typeface="Gulim" charset="0"/>
              </a:rPr>
              <a:t>} of waiting threads</a:t>
            </a:r>
          </a:p>
          <a:p>
            <a:pPr lvl="2">
              <a:spcBef>
                <a:spcPct val="20000"/>
              </a:spcBef>
            </a:pPr>
            <a:r>
              <a:rPr lang="en-US" altLang="ko-KR" i="1">
                <a:latin typeface="Helvetica" charset="0"/>
                <a:ea typeface="Gulim" charset="0"/>
                <a:cs typeface="Gulim" charset="0"/>
              </a:rPr>
              <a:t>T</a:t>
            </a:r>
            <a:r>
              <a:rPr lang="en-US" altLang="ko-KR" baseline="-25000">
                <a:latin typeface="Helvetica" charset="0"/>
                <a:ea typeface="Gulim" charset="0"/>
                <a:cs typeface="Gulim" charset="0"/>
              </a:rPr>
              <a:t>1 </a:t>
            </a:r>
            <a:r>
              <a:rPr lang="en-US" altLang="ko-KR">
                <a:latin typeface="Helvetica" charset="0"/>
                <a:ea typeface="Gulim" charset="0"/>
                <a:cs typeface="Gulim" charset="0"/>
              </a:rPr>
              <a:t>is waiting for a resource that is held by </a:t>
            </a:r>
            <a:r>
              <a:rPr lang="en-US" altLang="ko-KR" i="1">
                <a:latin typeface="Helvetica" charset="0"/>
                <a:ea typeface="Gulim" charset="0"/>
                <a:cs typeface="Gulim" charset="0"/>
              </a:rPr>
              <a:t>T</a:t>
            </a:r>
            <a:r>
              <a:rPr lang="en-US" altLang="ko-KR" baseline="-25000">
                <a:latin typeface="Helvetica" charset="0"/>
                <a:ea typeface="Gulim" charset="0"/>
                <a:cs typeface="Gulim" charset="0"/>
              </a:rPr>
              <a:t>2</a:t>
            </a:r>
            <a:endParaRPr lang="en-US" altLang="ko-KR">
              <a:latin typeface="Helvetica" charset="0"/>
              <a:ea typeface="Gulim" charset="0"/>
              <a:cs typeface="Gulim" charset="0"/>
            </a:endParaRPr>
          </a:p>
          <a:p>
            <a:pPr lvl="2">
              <a:spcBef>
                <a:spcPct val="20000"/>
              </a:spcBef>
            </a:pPr>
            <a:r>
              <a:rPr lang="en-US" altLang="ko-KR" i="1">
                <a:latin typeface="Helvetica" charset="0"/>
                <a:ea typeface="Gulim" charset="0"/>
                <a:cs typeface="Gulim" charset="0"/>
              </a:rPr>
              <a:t>T</a:t>
            </a:r>
            <a:r>
              <a:rPr lang="en-US" altLang="ko-KR" baseline="-25000">
                <a:latin typeface="Helvetica" charset="0"/>
                <a:ea typeface="Gulim" charset="0"/>
                <a:cs typeface="Gulim" charset="0"/>
              </a:rPr>
              <a:t>2</a:t>
            </a:r>
            <a:r>
              <a:rPr lang="en-US" altLang="ko-KR">
                <a:latin typeface="Helvetica" charset="0"/>
                <a:ea typeface="Gulim" charset="0"/>
                <a:cs typeface="Gulim" charset="0"/>
              </a:rPr>
              <a:t> is waiting for a resource that is held by </a:t>
            </a:r>
            <a:r>
              <a:rPr lang="en-US" altLang="ko-KR" i="1">
                <a:latin typeface="Helvetica" charset="0"/>
                <a:ea typeface="Gulim" charset="0"/>
                <a:cs typeface="Gulim" charset="0"/>
              </a:rPr>
              <a:t>T</a:t>
            </a:r>
            <a:r>
              <a:rPr lang="en-US" altLang="ko-KR" baseline="-25000">
                <a:latin typeface="Helvetica" charset="0"/>
                <a:ea typeface="Gulim" charset="0"/>
                <a:cs typeface="Gulim" charset="0"/>
              </a:rPr>
              <a:t>3</a:t>
            </a:r>
            <a:endParaRPr lang="en-US" altLang="ko-KR">
              <a:latin typeface="Helvetica" charset="0"/>
              <a:ea typeface="Gulim" charset="0"/>
              <a:cs typeface="Gulim" charset="0"/>
            </a:endParaRPr>
          </a:p>
          <a:p>
            <a:pPr lvl="2">
              <a:spcBef>
                <a:spcPct val="20000"/>
              </a:spcBef>
            </a:pPr>
            <a:r>
              <a:rPr lang="en-US" altLang="ko-KR">
                <a:latin typeface="Helvetica" charset="0"/>
                <a:ea typeface="Gulim" charset="0"/>
                <a:cs typeface="Gulim" charset="0"/>
              </a:rPr>
              <a:t>…</a:t>
            </a:r>
          </a:p>
          <a:p>
            <a:pPr lvl="2">
              <a:spcBef>
                <a:spcPct val="20000"/>
              </a:spcBef>
            </a:pPr>
            <a:r>
              <a:rPr lang="en-US" altLang="ko-KR" i="1">
                <a:latin typeface="Helvetica" charset="0"/>
                <a:ea typeface="Gulim" charset="0"/>
                <a:cs typeface="Gulim" charset="0"/>
              </a:rPr>
              <a:t>T</a:t>
            </a:r>
            <a:r>
              <a:rPr lang="en-US" altLang="ko-KR" i="1" baseline="-25000">
                <a:latin typeface="Helvetica" charset="0"/>
                <a:ea typeface="Gulim" charset="0"/>
                <a:cs typeface="Gulim" charset="0"/>
              </a:rPr>
              <a:t>n</a:t>
            </a:r>
            <a:r>
              <a:rPr lang="en-US" altLang="ko-KR">
                <a:latin typeface="Helvetica" charset="0"/>
                <a:ea typeface="Gulim" charset="0"/>
                <a:cs typeface="Gulim" charset="0"/>
              </a:rPr>
              <a:t> is waiting for a resource that is held by </a:t>
            </a:r>
            <a:r>
              <a:rPr lang="en-US" altLang="ko-KR" i="1">
                <a:latin typeface="Helvetica" charset="0"/>
                <a:ea typeface="Gulim" charset="0"/>
                <a:cs typeface="Gulim" charset="0"/>
              </a:rPr>
              <a:t>T</a:t>
            </a:r>
            <a:r>
              <a:rPr lang="en-US" altLang="ko-KR" baseline="-25000">
                <a:latin typeface="Helvetica" charset="0"/>
                <a:ea typeface="Gulim" charset="0"/>
                <a:cs typeface="Gulim" charset="0"/>
              </a:rPr>
              <a:t>1</a:t>
            </a:r>
            <a:endParaRPr lang="en-US" altLang="ko-KR">
              <a:latin typeface="Helvetica" charset="0"/>
              <a:ea typeface="Gulim" charset="0"/>
              <a:cs typeface="Gulim" charset="0"/>
            </a:endParaRPr>
          </a:p>
        </p:txBody>
      </p:sp>
      <p:sp>
        <p:nvSpPr>
          <p:cNvPr id="2" name="圆角矩形 1">
            <a:extLst>
              <a:ext uri="{FF2B5EF4-FFF2-40B4-BE49-F238E27FC236}">
                <a16:creationId xmlns:a16="http://schemas.microsoft.com/office/drawing/2014/main" id="{CBB909FA-5434-52E6-9EBE-03204FD86684}"/>
              </a:ext>
            </a:extLst>
          </p:cNvPr>
          <p:cNvSpPr/>
          <p:nvPr/>
        </p:nvSpPr>
        <p:spPr bwMode="auto">
          <a:xfrm rot="20580792">
            <a:off x="7600" y="553892"/>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Get</a:t>
            </a:r>
            <a:r>
              <a:rPr kumimoji="1" lang="zh-CN" altLang="en-US" b="0" dirty="0">
                <a:latin typeface="Helvetica"/>
                <a:cs typeface="Helvetica"/>
              </a:rPr>
              <a:t> </a:t>
            </a:r>
            <a:r>
              <a:rPr kumimoji="1" lang="en-US" altLang="zh-CN" b="0" dirty="0">
                <a:latin typeface="Helvetica"/>
                <a:cs typeface="Helvetica"/>
              </a:rPr>
              <a:t>resources</a:t>
            </a:r>
            <a:r>
              <a:rPr kumimoji="1" lang="zh-CN" altLang="en-US" b="0" dirty="0">
                <a:latin typeface="Helvetica"/>
                <a:cs typeface="Helvetica"/>
              </a:rPr>
              <a:t> </a:t>
            </a:r>
            <a:r>
              <a:rPr kumimoji="1" lang="en-US" altLang="zh-CN" b="0" dirty="0">
                <a:latin typeface="Helvetica"/>
                <a:cs typeface="Helvetica"/>
              </a:rPr>
              <a:t>as</a:t>
            </a:r>
            <a:r>
              <a:rPr kumimoji="1" lang="zh-CN" altLang="en-US" b="0" dirty="0">
                <a:latin typeface="Helvetica"/>
                <a:cs typeface="Helvetica"/>
              </a:rPr>
              <a:t> </a:t>
            </a:r>
            <a:r>
              <a:rPr kumimoji="1" lang="en-US" altLang="zh-CN" b="0" dirty="0">
                <a:latin typeface="Helvetica"/>
                <a:cs typeface="Helvetica"/>
              </a:rPr>
              <a:t>you</a:t>
            </a:r>
            <a:r>
              <a:rPr kumimoji="1" lang="zh-CN" altLang="en-US" b="0" dirty="0">
                <a:latin typeface="Helvetica"/>
                <a:cs typeface="Helvetica"/>
              </a:rPr>
              <a:t> </a:t>
            </a:r>
            <a:r>
              <a:rPr kumimoji="1" lang="en-US" altLang="zh-CN" b="0" dirty="0">
                <a:latin typeface="Helvetica"/>
                <a:cs typeface="Helvetica"/>
              </a:rPr>
              <a:t>go</a:t>
            </a:r>
            <a:r>
              <a:rPr kumimoji="1" lang="zh-CN" altLang="en-US" b="0" dirty="0">
                <a:latin typeface="Helvetica"/>
                <a:cs typeface="Helvetica"/>
              </a:rPr>
              <a:t> </a:t>
            </a:r>
            <a:r>
              <a:rPr kumimoji="1" lang="en-US" altLang="zh-CN" b="0" dirty="0">
                <a:latin typeface="Helvetica"/>
                <a:cs typeface="Helvetica"/>
              </a:rPr>
              <a:t>improves</a:t>
            </a:r>
            <a:r>
              <a:rPr kumimoji="1" lang="zh-CN" altLang="en-US" b="0" dirty="0">
                <a:latin typeface="Helvetica"/>
                <a:cs typeface="Helvetica"/>
              </a:rPr>
              <a:t> </a:t>
            </a:r>
            <a:r>
              <a:rPr kumimoji="1" lang="en-US" altLang="zh-CN" b="0" dirty="0">
                <a:latin typeface="Helvetica"/>
                <a:cs typeface="Helvetica"/>
              </a:rPr>
              <a:t>sharing</a:t>
            </a:r>
          </a:p>
        </p:txBody>
      </p:sp>
      <p:sp>
        <p:nvSpPr>
          <p:cNvPr id="3" name="圆角矩形 2">
            <a:extLst>
              <a:ext uri="{FF2B5EF4-FFF2-40B4-BE49-F238E27FC236}">
                <a16:creationId xmlns:a16="http://schemas.microsoft.com/office/drawing/2014/main" id="{72260762-9B20-0412-E0C2-A79869CC4A75}"/>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But</a:t>
            </a:r>
            <a:r>
              <a:rPr kumimoji="1" lang="zh-CN" altLang="en-US" b="0" dirty="0">
                <a:latin typeface="Helvetica"/>
                <a:cs typeface="Helvetica"/>
              </a:rPr>
              <a:t> </a:t>
            </a:r>
            <a:r>
              <a:rPr kumimoji="1" lang="en-US" altLang="zh-CN" b="0" dirty="0">
                <a:latin typeface="Helvetica"/>
                <a:cs typeface="Helvetica"/>
              </a:rPr>
              <a:t>may</a:t>
            </a:r>
            <a:r>
              <a:rPr kumimoji="1" lang="zh-CN" altLang="en-US" b="0" dirty="0">
                <a:latin typeface="Helvetica"/>
                <a:cs typeface="Helvetica"/>
              </a:rPr>
              <a:t> </a:t>
            </a:r>
            <a:r>
              <a:rPr kumimoji="1" lang="en-US" altLang="zh-CN" b="0" dirty="0">
                <a:latin typeface="Helvetica"/>
                <a:cs typeface="Helvetica"/>
              </a:rPr>
              <a:t>create</a:t>
            </a:r>
            <a:r>
              <a:rPr kumimoji="1" lang="zh-CN" altLang="en-US" b="0" dirty="0">
                <a:latin typeface="Helvetica"/>
                <a:cs typeface="Helvetica"/>
              </a:rPr>
              <a:t> </a:t>
            </a:r>
            <a:r>
              <a:rPr kumimoji="1" lang="en-US" altLang="zh-CN" b="0" dirty="0">
                <a:latin typeface="Helvetica"/>
                <a:cs typeface="Helvetica"/>
              </a:rPr>
              <a:t>hold-and-wait</a:t>
            </a:r>
            <a:r>
              <a:rPr kumimoji="1" lang="zh-CN" altLang="en-US" b="0" dirty="0">
                <a:latin typeface="Helvetica"/>
                <a:cs typeface="Helvetica"/>
              </a:rPr>
              <a:t> </a:t>
            </a:r>
            <a:r>
              <a:rPr kumimoji="1" lang="en-US" altLang="zh-CN" b="0" dirty="0">
                <a:latin typeface="Helvetica"/>
                <a:cs typeface="Helvetica"/>
              </a:rPr>
              <a:t>con</a:t>
            </a:r>
            <a:endParaRPr kumimoji="1" lang="zh-CN" altLang="en-US" b="0" dirty="0">
              <a:latin typeface="Helvetica"/>
              <a:cs typeface="Helvetica"/>
            </a:endParaRPr>
          </a:p>
        </p:txBody>
      </p:sp>
    </p:spTree>
    <p:extLst>
      <p:ext uri="{BB962C8B-B14F-4D97-AF65-F5344CB8AC3E}">
        <p14:creationId xmlns:p14="http://schemas.microsoft.com/office/powerpoint/2010/main" val="35993211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131AE3-1C65-438D-5051-F51D45934ED0}"/>
              </a:ext>
            </a:extLst>
          </p:cNvPr>
          <p:cNvSpPr>
            <a:spLocks noGrp="1"/>
          </p:cNvSpPr>
          <p:nvPr>
            <p:ph type="title"/>
          </p:nvPr>
        </p:nvSpPr>
        <p:spPr/>
        <p:txBody>
          <a:bodyPr/>
          <a:lstStyle/>
          <a:p>
            <a:r>
              <a:rPr kumimoji="1" lang="en-US" altLang="zh-CN" dirty="0"/>
              <a:t>Intuitive</a:t>
            </a:r>
            <a:r>
              <a:rPr kumimoji="1" lang="zh-CN" altLang="en-US" dirty="0"/>
              <a:t> </a:t>
            </a:r>
            <a:r>
              <a:rPr kumimoji="1" lang="en-US" altLang="zh-CN" dirty="0"/>
              <a:t>TCP</a:t>
            </a:r>
            <a:r>
              <a:rPr kumimoji="1" lang="zh-CN" altLang="en-US" dirty="0"/>
              <a:t> </a:t>
            </a:r>
            <a:r>
              <a:rPr kumimoji="1" lang="en-US" altLang="zh-CN" dirty="0"/>
              <a:t>flow</a:t>
            </a:r>
            <a:r>
              <a:rPr kumimoji="1" lang="zh-CN" altLang="en-US" dirty="0"/>
              <a:t> </a:t>
            </a:r>
            <a:r>
              <a:rPr kumimoji="1" lang="en-US" altLang="zh-CN" dirty="0"/>
              <a:t>control</a:t>
            </a:r>
            <a:endParaRPr kumimoji="1" lang="zh-CN" altLang="en-US" dirty="0"/>
          </a:p>
        </p:txBody>
      </p:sp>
      <p:sp>
        <p:nvSpPr>
          <p:cNvPr id="3" name="文本框 2">
            <a:extLst>
              <a:ext uri="{FF2B5EF4-FFF2-40B4-BE49-F238E27FC236}">
                <a16:creationId xmlns:a16="http://schemas.microsoft.com/office/drawing/2014/main" id="{0E4ABC1B-E192-4D27-D405-C89326B38849}"/>
              </a:ext>
            </a:extLst>
          </p:cNvPr>
          <p:cNvSpPr txBox="1"/>
          <p:nvPr/>
        </p:nvSpPr>
        <p:spPr>
          <a:xfrm>
            <a:off x="381000" y="1066800"/>
            <a:ext cx="7772400" cy="3170099"/>
          </a:xfrm>
          <a:prstGeom prst="rect">
            <a:avLst/>
          </a:prstGeom>
          <a:noFill/>
        </p:spPr>
        <p:txBody>
          <a:bodyPr wrap="square" rtlCol="0">
            <a:spAutoFit/>
          </a:bodyPr>
          <a:lstStyle/>
          <a:p>
            <a:pPr marL="342900" indent="-342900">
              <a:buFont typeface="Arial" panose="020B0604020202020204" pitchFamily="34" charset="0"/>
              <a:buChar char="•"/>
            </a:pPr>
            <a:r>
              <a:rPr kumimoji="1" lang="en-US" altLang="zh-CN" sz="2000" b="0" dirty="0">
                <a:latin typeface="Helvetica"/>
                <a:cs typeface="Helvetica"/>
              </a:rPr>
              <a:t>Retransmit</a:t>
            </a:r>
            <a:r>
              <a:rPr kumimoji="1" lang="zh-CN" altLang="en-US" sz="2000" b="0" dirty="0">
                <a:latin typeface="Helvetica"/>
                <a:cs typeface="Helvetica"/>
              </a:rPr>
              <a:t> </a:t>
            </a:r>
            <a:r>
              <a:rPr kumimoji="1" lang="en-US" altLang="zh-CN" sz="2000" b="0" dirty="0">
                <a:latin typeface="Helvetica"/>
                <a:cs typeface="Helvetica"/>
              </a:rPr>
              <a:t>lost</a:t>
            </a:r>
            <a:r>
              <a:rPr kumimoji="1" lang="zh-CN" altLang="en-US" sz="2000" b="0" dirty="0">
                <a:latin typeface="Helvetica"/>
                <a:cs typeface="Helvetica"/>
              </a:rPr>
              <a:t> </a:t>
            </a:r>
            <a:r>
              <a:rPr kumimoji="1" lang="en-US" altLang="zh-CN" sz="2000" b="0" dirty="0">
                <a:latin typeface="Helvetica"/>
                <a:cs typeface="Helvetica"/>
              </a:rPr>
              <a:t>packets</a:t>
            </a:r>
            <a:endParaRPr kumimoji="1" lang="zh-CN" altLang="en-US" sz="2000" b="0" dirty="0">
              <a:latin typeface="Helvetica"/>
              <a:cs typeface="Helvetica"/>
            </a:endParaRPr>
          </a:p>
          <a:p>
            <a:pPr marL="800100" lvl="1" indent="-342900">
              <a:buFont typeface="Arial" panose="020B0604020202020204" pitchFamily="34" charset="0"/>
              <a:buChar char="•"/>
            </a:pPr>
            <a:r>
              <a:rPr kumimoji="1" lang="en-US" altLang="zh-CN" sz="2000" b="0" dirty="0">
                <a:latin typeface="Helvetica"/>
                <a:cs typeface="Helvetica"/>
              </a:rPr>
              <a:t>Keep</a:t>
            </a:r>
            <a:r>
              <a:rPr kumimoji="1" lang="zh-CN" altLang="en-US" sz="2000" b="0" dirty="0">
                <a:latin typeface="Helvetica"/>
                <a:cs typeface="Helvetica"/>
              </a:rPr>
              <a:t> </a:t>
            </a:r>
            <a:r>
              <a:rPr kumimoji="1" lang="en-US" altLang="zh-CN" sz="2000" b="0" dirty="0">
                <a:latin typeface="Helvetica"/>
                <a:cs typeface="Helvetica"/>
              </a:rPr>
              <a:t>a</a:t>
            </a:r>
            <a:r>
              <a:rPr kumimoji="1" lang="zh-CN" altLang="en-US" sz="2000" b="0" dirty="0">
                <a:latin typeface="Helvetica"/>
                <a:cs typeface="Helvetica"/>
              </a:rPr>
              <a:t> </a:t>
            </a:r>
            <a:r>
              <a:rPr kumimoji="1" lang="en-US" altLang="zh-CN" sz="2000" b="0" dirty="0">
                <a:latin typeface="Helvetica"/>
                <a:cs typeface="Helvetica"/>
              </a:rPr>
              <a:t>sequence</a:t>
            </a:r>
            <a:r>
              <a:rPr kumimoji="1" lang="zh-CN" altLang="en-US" sz="2000" b="0" dirty="0">
                <a:latin typeface="Helvetica"/>
                <a:cs typeface="Helvetica"/>
              </a:rPr>
              <a:t> </a:t>
            </a:r>
            <a:r>
              <a:rPr kumimoji="1" lang="en-US" altLang="zh-CN" sz="2000" b="0" dirty="0">
                <a:latin typeface="Helvetica"/>
                <a:cs typeface="Helvetica"/>
              </a:rPr>
              <a:t>number</a:t>
            </a:r>
            <a:r>
              <a:rPr kumimoji="1" lang="zh-CN" altLang="en-US" sz="2000" b="0" dirty="0">
                <a:latin typeface="Helvetica"/>
                <a:cs typeface="Helvetica"/>
              </a:rPr>
              <a:t> </a:t>
            </a:r>
            <a:r>
              <a:rPr kumimoji="1" lang="en-US" altLang="zh-CN" sz="2000" b="0" dirty="0">
                <a:latin typeface="Helvetica"/>
                <a:cs typeface="Helvetica"/>
              </a:rPr>
              <a:t>on</a:t>
            </a:r>
            <a:r>
              <a:rPr kumimoji="1" lang="zh-CN" altLang="en-US" sz="2000" b="0" dirty="0">
                <a:latin typeface="Helvetica"/>
                <a:cs typeface="Helvetica"/>
              </a:rPr>
              <a:t> </a:t>
            </a:r>
            <a:r>
              <a:rPr kumimoji="1" lang="en-US" altLang="zh-CN" sz="2000" b="0" dirty="0">
                <a:latin typeface="Helvetica"/>
                <a:cs typeface="Helvetica"/>
              </a:rPr>
              <a:t>each</a:t>
            </a:r>
            <a:r>
              <a:rPr kumimoji="1" lang="zh-CN" altLang="en-US" sz="2000" b="0" dirty="0">
                <a:latin typeface="Helvetica"/>
                <a:cs typeface="Helvetica"/>
              </a:rPr>
              <a:t> </a:t>
            </a:r>
            <a:r>
              <a:rPr kumimoji="1" lang="en-US" altLang="zh-CN" sz="2000" b="0" dirty="0">
                <a:latin typeface="Helvetica"/>
                <a:cs typeface="Helvetica"/>
              </a:rPr>
              <a:t>packet</a:t>
            </a:r>
          </a:p>
          <a:p>
            <a:pPr marL="342900" indent="-342900">
              <a:buFont typeface="Arial" panose="020B0604020202020204" pitchFamily="34" charset="0"/>
              <a:buChar char="•"/>
            </a:pPr>
            <a:r>
              <a:rPr kumimoji="1" lang="en-US" altLang="zh-CN" sz="2000" b="0" dirty="0">
                <a:latin typeface="Helvetica"/>
                <a:cs typeface="Helvetica"/>
              </a:rPr>
              <a:t>Figuring</a:t>
            </a:r>
            <a:r>
              <a:rPr kumimoji="1" lang="zh-CN" altLang="en-US" sz="2000" b="0" dirty="0">
                <a:latin typeface="Helvetica"/>
                <a:cs typeface="Helvetica"/>
              </a:rPr>
              <a:t> </a:t>
            </a:r>
            <a:r>
              <a:rPr kumimoji="1" lang="en-US" altLang="zh-CN" sz="2000" b="0" dirty="0">
                <a:latin typeface="Helvetica"/>
                <a:cs typeface="Helvetica"/>
              </a:rPr>
              <a:t>out</a:t>
            </a:r>
            <a:r>
              <a:rPr kumimoji="1" lang="zh-CN" altLang="en-US" sz="2000" b="0" dirty="0">
                <a:latin typeface="Helvetica"/>
                <a:cs typeface="Helvetica"/>
              </a:rPr>
              <a:t> </a:t>
            </a:r>
            <a:r>
              <a:rPr kumimoji="1" lang="en-US" altLang="zh-CN" sz="2000" b="0" dirty="0">
                <a:latin typeface="Helvetica"/>
                <a:cs typeface="Helvetica"/>
              </a:rPr>
              <a:t>the</a:t>
            </a:r>
            <a:r>
              <a:rPr kumimoji="1" lang="zh-CN" altLang="en-US" sz="2000" b="0" dirty="0">
                <a:latin typeface="Helvetica"/>
                <a:cs typeface="Helvetica"/>
              </a:rPr>
              <a:t> </a:t>
            </a:r>
            <a:r>
              <a:rPr kumimoji="1" lang="en-US" altLang="zh-CN" sz="2000" b="0" dirty="0">
                <a:latin typeface="Helvetica"/>
                <a:cs typeface="Helvetica"/>
              </a:rPr>
              <a:t>rate</a:t>
            </a:r>
          </a:p>
          <a:p>
            <a:pPr marL="800100" lvl="1" indent="-342900">
              <a:buFont typeface="Arial" panose="020B0604020202020204" pitchFamily="34" charset="0"/>
              <a:buChar char="•"/>
            </a:pPr>
            <a:r>
              <a:rPr kumimoji="1" lang="en-US" altLang="zh-CN" sz="2000" b="0" dirty="0">
                <a:latin typeface="Helvetica"/>
                <a:cs typeface="Helvetica"/>
              </a:rPr>
              <a:t>Slow</a:t>
            </a:r>
            <a:r>
              <a:rPr kumimoji="1" lang="zh-CN" altLang="en-US" sz="2000" b="0" dirty="0">
                <a:latin typeface="Helvetica"/>
                <a:cs typeface="Helvetica"/>
              </a:rPr>
              <a:t> </a:t>
            </a:r>
            <a:r>
              <a:rPr kumimoji="1" lang="en-US" altLang="zh-CN" sz="2000" b="0" dirty="0">
                <a:latin typeface="Helvetica"/>
                <a:cs typeface="Helvetica"/>
              </a:rPr>
              <a:t>start</a:t>
            </a:r>
          </a:p>
          <a:p>
            <a:pPr marL="1257300" lvl="2" indent="-342900">
              <a:buFont typeface="Arial" panose="020B0604020202020204" pitchFamily="34" charset="0"/>
              <a:buChar char="•"/>
            </a:pPr>
            <a:r>
              <a:rPr kumimoji="1" lang="en-US" altLang="zh-CN" sz="2000" b="0" dirty="0">
                <a:latin typeface="Helvetica"/>
                <a:cs typeface="Helvetica"/>
              </a:rPr>
              <a:t>Start</a:t>
            </a:r>
            <a:r>
              <a:rPr kumimoji="1" lang="zh-CN" altLang="en-US" sz="2000" b="0" dirty="0">
                <a:latin typeface="Helvetica"/>
                <a:cs typeface="Helvetica"/>
              </a:rPr>
              <a:t> </a:t>
            </a:r>
            <a:r>
              <a:rPr kumimoji="1" lang="en-US" altLang="zh-CN" sz="2000" b="0" dirty="0">
                <a:latin typeface="Helvetica"/>
                <a:cs typeface="Helvetica"/>
              </a:rPr>
              <a:t>with</a:t>
            </a:r>
            <a:r>
              <a:rPr kumimoji="1" lang="zh-CN" altLang="en-US" sz="2000" b="0" dirty="0">
                <a:latin typeface="Helvetica"/>
                <a:cs typeface="Helvetica"/>
              </a:rPr>
              <a:t> </a:t>
            </a:r>
            <a:r>
              <a:rPr kumimoji="1" lang="en-US" altLang="zh-CN" sz="2000" b="0" dirty="0">
                <a:latin typeface="Helvetica"/>
                <a:cs typeface="Helvetica"/>
              </a:rPr>
              <a:t>very</a:t>
            </a:r>
            <a:r>
              <a:rPr kumimoji="1" lang="zh-CN" altLang="en-US" sz="2000" b="0" dirty="0">
                <a:latin typeface="Helvetica"/>
                <a:cs typeface="Helvetica"/>
              </a:rPr>
              <a:t> </a:t>
            </a:r>
            <a:r>
              <a:rPr kumimoji="1" lang="en-US" altLang="zh-CN" sz="2000" b="0" dirty="0">
                <a:latin typeface="Helvetica"/>
                <a:cs typeface="Helvetica"/>
              </a:rPr>
              <a:t>small</a:t>
            </a:r>
            <a:r>
              <a:rPr kumimoji="1" lang="zh-CN" altLang="en-US" sz="2000" b="0" dirty="0">
                <a:latin typeface="Helvetica"/>
                <a:cs typeface="Helvetica"/>
              </a:rPr>
              <a:t> </a:t>
            </a:r>
            <a:r>
              <a:rPr kumimoji="1" lang="en-US" altLang="zh-CN" sz="2000" b="0" dirty="0">
                <a:latin typeface="Helvetica"/>
                <a:cs typeface="Helvetica"/>
              </a:rPr>
              <a:t>sending</a:t>
            </a:r>
            <a:r>
              <a:rPr kumimoji="1" lang="zh-CN" altLang="en-US" sz="2000" b="0" dirty="0">
                <a:latin typeface="Helvetica"/>
                <a:cs typeface="Helvetica"/>
              </a:rPr>
              <a:t> </a:t>
            </a:r>
            <a:r>
              <a:rPr kumimoji="1" lang="en-US" altLang="zh-CN" sz="2000" b="0" dirty="0">
                <a:latin typeface="Helvetica"/>
                <a:cs typeface="Helvetica"/>
              </a:rPr>
              <a:t>rate,</a:t>
            </a:r>
            <a:r>
              <a:rPr kumimoji="1" lang="zh-CN" altLang="en-US" sz="2000" b="0" dirty="0">
                <a:latin typeface="Helvetica"/>
                <a:cs typeface="Helvetica"/>
              </a:rPr>
              <a:t> </a:t>
            </a:r>
            <a:r>
              <a:rPr kumimoji="1" lang="en-US" altLang="zh-CN" sz="2000" b="0" dirty="0">
                <a:latin typeface="Helvetica"/>
                <a:cs typeface="Helvetica"/>
              </a:rPr>
              <a:t>increase</a:t>
            </a:r>
            <a:r>
              <a:rPr kumimoji="1" lang="zh-CN" altLang="en-US" sz="2000" b="0" dirty="0">
                <a:latin typeface="Helvetica"/>
                <a:cs typeface="Helvetica"/>
              </a:rPr>
              <a:t> </a:t>
            </a:r>
            <a:r>
              <a:rPr kumimoji="1" lang="en-US" altLang="zh-CN" sz="2000" b="0" dirty="0">
                <a:latin typeface="Helvetica"/>
                <a:cs typeface="Helvetica"/>
              </a:rPr>
              <a:t>fast</a:t>
            </a:r>
          </a:p>
          <a:p>
            <a:pPr marL="1257300" lvl="2" indent="-342900">
              <a:buFont typeface="Arial" panose="020B0604020202020204" pitchFamily="34" charset="0"/>
              <a:buChar char="•"/>
            </a:pPr>
            <a:r>
              <a:rPr kumimoji="1" lang="en-US" altLang="zh-CN" sz="2000" b="0" dirty="0">
                <a:latin typeface="Helvetica"/>
                <a:cs typeface="Helvetica"/>
              </a:rPr>
              <a:t>Until</a:t>
            </a:r>
            <a:r>
              <a:rPr kumimoji="1" lang="zh-CN" altLang="en-US" sz="2000" b="0" dirty="0">
                <a:latin typeface="Helvetica"/>
                <a:cs typeface="Helvetica"/>
              </a:rPr>
              <a:t> </a:t>
            </a:r>
            <a:r>
              <a:rPr kumimoji="1" lang="en-US" altLang="zh-CN" sz="2000" b="0" dirty="0">
                <a:latin typeface="Helvetica"/>
                <a:cs typeface="Helvetica"/>
              </a:rPr>
              <a:t>detect</a:t>
            </a:r>
            <a:r>
              <a:rPr kumimoji="1" lang="zh-CN" altLang="en-US" sz="2000" b="0" dirty="0">
                <a:latin typeface="Helvetica"/>
                <a:cs typeface="Helvetica"/>
              </a:rPr>
              <a:t> </a:t>
            </a:r>
            <a:r>
              <a:rPr kumimoji="1" lang="en-US" altLang="zh-CN" sz="2000" b="0" dirty="0">
                <a:latin typeface="Helvetica"/>
                <a:cs typeface="Helvetica"/>
              </a:rPr>
              <a:t>overflow</a:t>
            </a:r>
            <a:r>
              <a:rPr kumimoji="1" lang="zh-CN" altLang="en-US" sz="2000" b="0" dirty="0">
                <a:latin typeface="Helvetica"/>
                <a:cs typeface="Helvetica"/>
              </a:rPr>
              <a:t> </a:t>
            </a:r>
            <a:r>
              <a:rPr kumimoji="1" lang="en-US" altLang="zh-CN" sz="2000" b="0" dirty="0">
                <a:latin typeface="Helvetica"/>
                <a:cs typeface="Helvetica"/>
              </a:rPr>
              <a:t>(how?)</a:t>
            </a:r>
          </a:p>
          <a:p>
            <a:pPr marL="800100" lvl="1" indent="-342900">
              <a:buFont typeface="Arial" panose="020B0604020202020204" pitchFamily="34" charset="0"/>
              <a:buChar char="•"/>
            </a:pPr>
            <a:r>
              <a:rPr kumimoji="1" lang="en-US" altLang="zh-CN" sz="2000" b="0" dirty="0">
                <a:latin typeface="Helvetica"/>
                <a:cs typeface="Helvetica"/>
              </a:rPr>
              <a:t>Slowdown</a:t>
            </a:r>
            <a:r>
              <a:rPr kumimoji="1" lang="zh-CN" altLang="en-US" sz="2000" b="0" dirty="0">
                <a:latin typeface="Helvetica"/>
                <a:cs typeface="Helvetica"/>
              </a:rPr>
              <a:t> </a:t>
            </a:r>
            <a:r>
              <a:rPr kumimoji="1" lang="en-US" altLang="zh-CN" sz="2000" b="0" dirty="0">
                <a:latin typeface="Helvetica"/>
                <a:cs typeface="Helvetica"/>
              </a:rPr>
              <a:t>quickly,</a:t>
            </a:r>
            <a:r>
              <a:rPr kumimoji="1" lang="zh-CN" altLang="en-US" sz="2000" b="0" dirty="0">
                <a:latin typeface="Helvetica"/>
                <a:cs typeface="Helvetica"/>
              </a:rPr>
              <a:t> </a:t>
            </a:r>
            <a:r>
              <a:rPr kumimoji="1" lang="en-US" altLang="zh-CN" sz="2000" b="0" dirty="0">
                <a:latin typeface="Helvetica"/>
                <a:cs typeface="Helvetica"/>
              </a:rPr>
              <a:t>then</a:t>
            </a:r>
            <a:r>
              <a:rPr kumimoji="1" lang="zh-CN" altLang="en-US" sz="2000" b="0" dirty="0">
                <a:latin typeface="Helvetica"/>
                <a:cs typeface="Helvetica"/>
              </a:rPr>
              <a:t> </a:t>
            </a:r>
            <a:r>
              <a:rPr kumimoji="1" lang="en-US" altLang="zh-CN" sz="2000" b="0" dirty="0">
                <a:latin typeface="Helvetica"/>
                <a:cs typeface="Helvetica"/>
              </a:rPr>
              <a:t>increase</a:t>
            </a:r>
            <a:r>
              <a:rPr kumimoji="1" lang="zh-CN" altLang="en-US" sz="2000" b="0" dirty="0">
                <a:latin typeface="Helvetica"/>
                <a:cs typeface="Helvetica"/>
              </a:rPr>
              <a:t> </a:t>
            </a:r>
            <a:r>
              <a:rPr kumimoji="1" lang="en-US" altLang="zh-CN" sz="2000" b="0" dirty="0">
                <a:latin typeface="Helvetica"/>
                <a:cs typeface="Helvetica"/>
              </a:rPr>
              <a:t>slowly</a:t>
            </a:r>
            <a:r>
              <a:rPr kumimoji="1" lang="zh-CN" altLang="en-US" sz="2000" b="0" dirty="0">
                <a:latin typeface="Helvetica"/>
                <a:cs typeface="Helvetica"/>
              </a:rPr>
              <a:t> </a:t>
            </a:r>
            <a:r>
              <a:rPr kumimoji="1" lang="en-US" altLang="zh-CN" sz="2000" b="0" dirty="0">
                <a:latin typeface="Helvetica"/>
                <a:cs typeface="Helvetica"/>
              </a:rPr>
              <a:t>until</a:t>
            </a:r>
            <a:r>
              <a:rPr kumimoji="1" lang="zh-CN" altLang="en-US" sz="2000" b="0" dirty="0">
                <a:latin typeface="Helvetica"/>
                <a:cs typeface="Helvetica"/>
              </a:rPr>
              <a:t> </a:t>
            </a:r>
            <a:r>
              <a:rPr kumimoji="1" lang="en-US" altLang="zh-CN" sz="2000" b="0" dirty="0">
                <a:latin typeface="Helvetica"/>
                <a:cs typeface="Helvetica"/>
              </a:rPr>
              <a:t>overflow</a:t>
            </a:r>
            <a:r>
              <a:rPr kumimoji="1" lang="zh-CN" altLang="en-US" sz="2000" b="0" dirty="0">
                <a:latin typeface="Helvetica"/>
                <a:cs typeface="Helvetica"/>
              </a:rPr>
              <a:t> </a:t>
            </a:r>
            <a:r>
              <a:rPr kumimoji="1" lang="en-US" altLang="zh-CN" sz="2000" b="0" dirty="0">
                <a:latin typeface="Helvetica"/>
                <a:cs typeface="Helvetica"/>
              </a:rPr>
              <a:t>again</a:t>
            </a:r>
          </a:p>
          <a:p>
            <a:pPr marL="800100" lvl="1" indent="-342900">
              <a:buFont typeface="Arial" panose="020B0604020202020204" pitchFamily="34" charset="0"/>
              <a:buChar char="•"/>
            </a:pPr>
            <a:r>
              <a:rPr kumimoji="1" lang="en-US" altLang="zh-CN" sz="2000" b="0" dirty="0">
                <a:latin typeface="Helvetica"/>
                <a:cs typeface="Helvetica"/>
              </a:rPr>
              <a:t>AIMD</a:t>
            </a:r>
            <a:r>
              <a:rPr kumimoji="1" lang="zh-CN" altLang="en-US" sz="2000" b="0" dirty="0">
                <a:latin typeface="Helvetica"/>
                <a:cs typeface="Helvetica"/>
              </a:rPr>
              <a:t> </a:t>
            </a:r>
            <a:r>
              <a:rPr kumimoji="1" lang="en-US" altLang="zh-CN" sz="2000" b="0" dirty="0">
                <a:latin typeface="Helvetica"/>
                <a:cs typeface="Helvetica"/>
              </a:rPr>
              <a:t>=</a:t>
            </a:r>
            <a:r>
              <a:rPr kumimoji="1" lang="zh-CN" altLang="en-US" sz="2000" b="0" dirty="0">
                <a:latin typeface="Helvetica"/>
                <a:cs typeface="Helvetica"/>
              </a:rPr>
              <a:t> </a:t>
            </a:r>
            <a:r>
              <a:rPr kumimoji="1" lang="en-US" altLang="zh-CN" sz="2000" b="0" dirty="0">
                <a:latin typeface="Helvetica"/>
                <a:cs typeface="Helvetica"/>
              </a:rPr>
              <a:t>additive</a:t>
            </a:r>
            <a:r>
              <a:rPr kumimoji="1" lang="zh-CN" altLang="en-US" sz="2000" b="0" dirty="0">
                <a:latin typeface="Helvetica"/>
                <a:cs typeface="Helvetica"/>
              </a:rPr>
              <a:t> </a:t>
            </a:r>
            <a:r>
              <a:rPr kumimoji="1" lang="en-US" altLang="zh-CN" sz="2000" b="0" dirty="0">
                <a:latin typeface="Helvetica"/>
                <a:cs typeface="Helvetica"/>
              </a:rPr>
              <a:t>increment</a:t>
            </a:r>
            <a:r>
              <a:rPr kumimoji="1" lang="zh-CN" altLang="en-US" sz="2000" b="0" dirty="0">
                <a:latin typeface="Helvetica"/>
                <a:cs typeface="Helvetica"/>
              </a:rPr>
              <a:t> </a:t>
            </a:r>
            <a:r>
              <a:rPr kumimoji="1" lang="en-US" altLang="zh-CN" sz="2000" b="0" dirty="0">
                <a:latin typeface="Helvetica"/>
                <a:cs typeface="Helvetica"/>
              </a:rPr>
              <a:t>multiplicative</a:t>
            </a:r>
            <a:r>
              <a:rPr kumimoji="1" lang="zh-CN" altLang="en-US" sz="2000" b="0" dirty="0">
                <a:latin typeface="Helvetica"/>
                <a:cs typeface="Helvetica"/>
              </a:rPr>
              <a:t> </a:t>
            </a:r>
            <a:r>
              <a:rPr kumimoji="1" lang="en-US" altLang="zh-CN" sz="2000" b="0" dirty="0">
                <a:latin typeface="Helvetica"/>
                <a:cs typeface="Helvetica"/>
              </a:rPr>
              <a:t>decrement</a:t>
            </a:r>
          </a:p>
          <a:p>
            <a:pPr marL="342900" indent="-342900">
              <a:buFont typeface="Arial" panose="020B0604020202020204" pitchFamily="34" charset="0"/>
              <a:buChar char="•"/>
            </a:pPr>
            <a:endParaRPr kumimoji="1" lang="en-US" altLang="zh-CN" sz="2000" b="0" dirty="0">
              <a:latin typeface="Helvetica"/>
              <a:cs typeface="Helvetica"/>
            </a:endParaRPr>
          </a:p>
          <a:p>
            <a:pPr marL="342900" indent="-342900">
              <a:buFont typeface="Arial" panose="020B0604020202020204" pitchFamily="34" charset="0"/>
              <a:buChar char="•"/>
            </a:pPr>
            <a:r>
              <a:rPr kumimoji="1" lang="en-US" altLang="zh-CN" sz="2000" b="0" dirty="0">
                <a:latin typeface="Helvetica"/>
                <a:cs typeface="Helvetica"/>
              </a:rPr>
              <a:t>Many</a:t>
            </a:r>
            <a:r>
              <a:rPr kumimoji="1" lang="zh-CN" altLang="en-US" sz="2000" b="0" dirty="0">
                <a:latin typeface="Helvetica"/>
                <a:cs typeface="Helvetica"/>
              </a:rPr>
              <a:t> </a:t>
            </a:r>
            <a:r>
              <a:rPr kumimoji="1" lang="en-US" altLang="zh-CN" sz="2000" b="0" dirty="0">
                <a:latin typeface="Helvetica"/>
                <a:cs typeface="Helvetica"/>
              </a:rPr>
              <a:t>details</a:t>
            </a:r>
            <a:r>
              <a:rPr kumimoji="1" lang="zh-CN" altLang="en-US" sz="2000" b="0" dirty="0">
                <a:latin typeface="Helvetica"/>
                <a:cs typeface="Helvetica"/>
              </a:rPr>
              <a:t> </a:t>
            </a:r>
            <a:r>
              <a:rPr kumimoji="1" lang="en-US" altLang="zh-CN" sz="2000" b="0" dirty="0">
                <a:latin typeface="Helvetica"/>
                <a:cs typeface="Helvetica"/>
              </a:rPr>
              <a:t>+</a:t>
            </a:r>
            <a:r>
              <a:rPr kumimoji="1" lang="zh-CN" altLang="en-US" sz="2000" b="0" dirty="0">
                <a:latin typeface="Helvetica"/>
                <a:cs typeface="Helvetica"/>
              </a:rPr>
              <a:t> </a:t>
            </a:r>
            <a:r>
              <a:rPr kumimoji="1" lang="en-US" altLang="zh-CN" sz="2000" b="0" dirty="0">
                <a:latin typeface="Helvetica"/>
                <a:cs typeface="Helvetica"/>
              </a:rPr>
              <a:t>optimizations</a:t>
            </a:r>
            <a:r>
              <a:rPr kumimoji="1" lang="zh-CN" altLang="en-US" sz="2000" b="0" dirty="0">
                <a:latin typeface="Helvetica"/>
                <a:cs typeface="Helvetica"/>
              </a:rPr>
              <a:t> </a:t>
            </a:r>
            <a:r>
              <a:rPr kumimoji="1" lang="en-US" altLang="zh-CN" sz="2000" b="0" dirty="0">
                <a:latin typeface="Helvetica"/>
                <a:cs typeface="Helvetica"/>
              </a:rPr>
              <a:t>in</a:t>
            </a:r>
            <a:r>
              <a:rPr kumimoji="1" lang="zh-CN" altLang="en-US" sz="2000" b="0" dirty="0">
                <a:latin typeface="Helvetica"/>
                <a:cs typeface="Helvetica"/>
              </a:rPr>
              <a:t> </a:t>
            </a:r>
            <a:r>
              <a:rPr kumimoji="1" lang="en-US" altLang="zh-CN" sz="2000" b="0" dirty="0">
                <a:latin typeface="Helvetica"/>
                <a:cs typeface="Helvetica"/>
              </a:rPr>
              <a:t>networking</a:t>
            </a:r>
            <a:r>
              <a:rPr kumimoji="1" lang="zh-CN" altLang="en-US" sz="2000" b="0" dirty="0">
                <a:latin typeface="Helvetica"/>
                <a:cs typeface="Helvetica"/>
              </a:rPr>
              <a:t> </a:t>
            </a:r>
            <a:r>
              <a:rPr kumimoji="1" lang="en-US" altLang="zh-CN" sz="2000" b="0" dirty="0">
                <a:latin typeface="Helvetica"/>
                <a:cs typeface="Helvetica"/>
              </a:rPr>
              <a:t>course</a:t>
            </a:r>
          </a:p>
        </p:txBody>
      </p:sp>
      <p:pic>
        <p:nvPicPr>
          <p:cNvPr id="66562" name="Picture 2" descr="Dynamics of TCP Congestion Control | Download Scientific Diagram">
            <a:extLst>
              <a:ext uri="{FF2B5EF4-FFF2-40B4-BE49-F238E27FC236}">
                <a16:creationId xmlns:a16="http://schemas.microsoft.com/office/drawing/2014/main" id="{A1101F84-458D-79F6-5232-4EC4E4FB4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4332968"/>
            <a:ext cx="3657600" cy="2492375"/>
          </a:xfrm>
          <a:prstGeom prst="rect">
            <a:avLst/>
          </a:prstGeom>
          <a:noFill/>
          <a:extLst>
            <a:ext uri="{909E8E84-426E-40DD-AFC4-6F175D3DCCD1}">
              <a14:hiddenFill xmlns:a14="http://schemas.microsoft.com/office/drawing/2010/main">
                <a:solidFill>
                  <a:srgbClr val="FFFFFF"/>
                </a:solidFill>
              </a14:hiddenFill>
            </a:ext>
          </a:extLst>
        </p:spPr>
      </p:pic>
      <p:sp>
        <p:nvSpPr>
          <p:cNvPr id="4" name="圆角矩形 3">
            <a:extLst>
              <a:ext uri="{FF2B5EF4-FFF2-40B4-BE49-F238E27FC236}">
                <a16:creationId xmlns:a16="http://schemas.microsoft.com/office/drawing/2014/main" id="{472553E9-ACA8-3FEC-5AEE-DC47455C261F}"/>
              </a:ext>
            </a:extLst>
          </p:cNvPr>
          <p:cNvSpPr/>
          <p:nvPr/>
        </p:nvSpPr>
        <p:spPr bwMode="auto">
          <a:xfrm rot="20580792">
            <a:off x="7600" y="553892"/>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Fairness</a:t>
            </a:r>
            <a:r>
              <a:rPr kumimoji="1" lang="zh-CN" altLang="en-US" b="0" dirty="0">
                <a:latin typeface="Helvetica"/>
                <a:cs typeface="Helvetica"/>
              </a:rPr>
              <a:t> </a:t>
            </a:r>
            <a:r>
              <a:rPr kumimoji="1" lang="en-US" altLang="zh-CN" b="0" dirty="0">
                <a:latin typeface="Helvetica"/>
                <a:cs typeface="Helvetica"/>
              </a:rPr>
              <a:t>in</a:t>
            </a:r>
            <a:r>
              <a:rPr kumimoji="1" lang="zh-CN" altLang="en-US" b="0" dirty="0">
                <a:latin typeface="Helvetica"/>
                <a:cs typeface="Helvetica"/>
              </a:rPr>
              <a:t> </a:t>
            </a:r>
            <a:r>
              <a:rPr kumimoji="1" lang="en-US" altLang="zh-CN" b="0" dirty="0">
                <a:latin typeface="Helvetica"/>
                <a:cs typeface="Helvetica"/>
              </a:rPr>
              <a:t>Sharing</a:t>
            </a:r>
            <a:r>
              <a:rPr kumimoji="1" lang="zh-CN" altLang="en-US" b="0" dirty="0">
                <a:latin typeface="Helvetica"/>
                <a:cs typeface="Helvetica"/>
              </a:rPr>
              <a:t> </a:t>
            </a:r>
            <a:r>
              <a:rPr kumimoji="1" lang="en-US" altLang="zh-CN" b="0" dirty="0">
                <a:latin typeface="Helvetica"/>
                <a:cs typeface="Helvetica"/>
              </a:rPr>
              <a:t>/</a:t>
            </a:r>
            <a:r>
              <a:rPr kumimoji="1" lang="zh-CN" altLang="en-US" b="0" dirty="0">
                <a:latin typeface="Helvetica"/>
                <a:cs typeface="Helvetica"/>
              </a:rPr>
              <a:t> </a:t>
            </a:r>
            <a:r>
              <a:rPr kumimoji="1" lang="en-US" altLang="zh-CN" b="0" dirty="0">
                <a:latin typeface="Helvetica"/>
                <a:cs typeface="Helvetica"/>
              </a:rPr>
              <a:t>avoid</a:t>
            </a:r>
            <a:r>
              <a:rPr kumimoji="1" lang="zh-CN" altLang="en-US" b="0" dirty="0">
                <a:latin typeface="Helvetica"/>
                <a:cs typeface="Helvetica"/>
              </a:rPr>
              <a:t> </a:t>
            </a:r>
            <a:r>
              <a:rPr kumimoji="1" lang="en-US" altLang="zh-CN" b="0" dirty="0">
                <a:latin typeface="Helvetica"/>
                <a:cs typeface="Helvetica"/>
              </a:rPr>
              <a:t>congestion</a:t>
            </a:r>
          </a:p>
        </p:txBody>
      </p:sp>
      <p:sp>
        <p:nvSpPr>
          <p:cNvPr id="5" name="圆角矩形 4">
            <a:extLst>
              <a:ext uri="{FF2B5EF4-FFF2-40B4-BE49-F238E27FC236}">
                <a16:creationId xmlns:a16="http://schemas.microsoft.com/office/drawing/2014/main" id="{875F3E8E-649B-1370-BCE8-50BF41F0738B}"/>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Flow</a:t>
            </a:r>
            <a:r>
              <a:rPr kumimoji="1" lang="zh-CN" altLang="en-US" b="0" dirty="0">
                <a:latin typeface="Helvetica"/>
                <a:cs typeface="Helvetica"/>
              </a:rPr>
              <a:t> </a:t>
            </a:r>
            <a:r>
              <a:rPr kumimoji="1" lang="en-US" altLang="zh-CN" b="0" dirty="0">
                <a:latin typeface="Helvetica"/>
                <a:cs typeface="Helvetica"/>
              </a:rPr>
              <a:t>and</a:t>
            </a:r>
            <a:r>
              <a:rPr kumimoji="1" lang="zh-CN" altLang="en-US" b="0" dirty="0">
                <a:latin typeface="Helvetica"/>
                <a:cs typeface="Helvetica"/>
              </a:rPr>
              <a:t> </a:t>
            </a:r>
            <a:r>
              <a:rPr kumimoji="1" lang="en-US" altLang="zh-CN" b="0" dirty="0">
                <a:latin typeface="Helvetica"/>
                <a:cs typeface="Helvetica"/>
              </a:rPr>
              <a:t>congestion</a:t>
            </a:r>
            <a:r>
              <a:rPr kumimoji="1" lang="zh-CN" altLang="en-US" b="0" dirty="0">
                <a:latin typeface="Helvetica"/>
                <a:cs typeface="Helvetica"/>
              </a:rPr>
              <a:t> </a:t>
            </a:r>
            <a:r>
              <a:rPr kumimoji="1" lang="en-US" altLang="zh-CN" b="0" dirty="0">
                <a:latin typeface="Helvetica"/>
                <a:cs typeface="Helvetica"/>
              </a:rPr>
              <a:t>control</a:t>
            </a:r>
            <a:endParaRPr kumimoji="1" lang="zh-CN" altLang="en-US" b="0" dirty="0">
              <a:latin typeface="Helvetica"/>
              <a:cs typeface="Helvetica"/>
            </a:endParaRPr>
          </a:p>
        </p:txBody>
      </p:sp>
    </p:spTree>
    <p:extLst>
      <p:ext uri="{BB962C8B-B14F-4D97-AF65-F5344CB8AC3E}">
        <p14:creationId xmlns:p14="http://schemas.microsoft.com/office/powerpoint/2010/main" val="2294694499"/>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A43985-09DB-3116-5628-E9CE070560F9}"/>
              </a:ext>
            </a:extLst>
          </p:cNvPr>
          <p:cNvSpPr>
            <a:spLocks noGrp="1"/>
          </p:cNvSpPr>
          <p:nvPr>
            <p:ph type="title"/>
          </p:nvPr>
        </p:nvSpPr>
        <p:spPr/>
        <p:txBody>
          <a:bodyPr/>
          <a:lstStyle/>
          <a:p>
            <a:r>
              <a:rPr kumimoji="1" lang="en-US" altLang="zh-CN" dirty="0"/>
              <a:t>Indirection</a:t>
            </a:r>
            <a:r>
              <a:rPr kumimoji="1" lang="zh-CN" altLang="en-US" dirty="0"/>
              <a:t> </a:t>
            </a:r>
            <a:br>
              <a:rPr kumimoji="1" lang="en-US" altLang="zh-CN" dirty="0"/>
            </a:br>
            <a:r>
              <a:rPr kumimoji="1" lang="en-US" altLang="zh-CN" dirty="0"/>
              <a:t>(name</a:t>
            </a:r>
            <a:r>
              <a:rPr kumimoji="1" lang="zh-CN" altLang="en-US" dirty="0"/>
              <a:t> </a:t>
            </a:r>
            <a:r>
              <a:rPr kumimoji="1" lang="en-US" altLang="zh-CN" dirty="0"/>
              <a:t>resolution)</a:t>
            </a:r>
            <a:endParaRPr kumimoji="1" lang="zh-CN" altLang="en-US" dirty="0"/>
          </a:p>
        </p:txBody>
      </p:sp>
      <p:sp>
        <p:nvSpPr>
          <p:cNvPr id="3" name="文本占位符 2">
            <a:extLst>
              <a:ext uri="{FF2B5EF4-FFF2-40B4-BE49-F238E27FC236}">
                <a16:creationId xmlns:a16="http://schemas.microsoft.com/office/drawing/2014/main" id="{89D2C703-F7FF-42BA-B013-7A805AC29A98}"/>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428357197"/>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4A7405C5-D60A-7D4D-F151-AE93F079CA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771939"/>
            <a:ext cx="9144000" cy="5314122"/>
          </a:xfrm>
          <a:prstGeom prst="rect">
            <a:avLst/>
          </a:prstGeom>
        </p:spPr>
      </p:pic>
      <p:sp>
        <p:nvSpPr>
          <p:cNvPr id="3" name="圆角矩形 2">
            <a:extLst>
              <a:ext uri="{FF2B5EF4-FFF2-40B4-BE49-F238E27FC236}">
                <a16:creationId xmlns:a16="http://schemas.microsoft.com/office/drawing/2014/main" id="{96FC3A58-955D-C884-3319-CAFD6E9FDC91}"/>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VM</a:t>
            </a:r>
            <a:r>
              <a:rPr kumimoji="1" lang="zh-CN" altLang="en-US" b="0" dirty="0">
                <a:latin typeface="Helvetica"/>
                <a:cs typeface="Helvetica"/>
              </a:rPr>
              <a:t> </a:t>
            </a:r>
            <a:r>
              <a:rPr kumimoji="1" lang="en-US" altLang="zh-CN" b="0" dirty="0">
                <a:latin typeface="Helvetica"/>
                <a:cs typeface="Helvetica"/>
              </a:rPr>
              <a:t>tricks</a:t>
            </a:r>
            <a:endParaRPr kumimoji="1" lang="zh-CN" altLang="en-US" b="0" dirty="0">
              <a:latin typeface="Helvetica"/>
              <a:cs typeface="Helvetica"/>
            </a:endParaRPr>
          </a:p>
        </p:txBody>
      </p:sp>
      <p:sp>
        <p:nvSpPr>
          <p:cNvPr id="5" name="圆角矩形 4">
            <a:extLst>
              <a:ext uri="{FF2B5EF4-FFF2-40B4-BE49-F238E27FC236}">
                <a16:creationId xmlns:a16="http://schemas.microsoft.com/office/drawing/2014/main" id="{7DC594F4-8D3C-AA02-77D5-98B13689AEE0}"/>
              </a:ext>
            </a:extLst>
          </p:cNvPr>
          <p:cNvSpPr/>
          <p:nvPr/>
        </p:nvSpPr>
        <p:spPr bwMode="auto">
          <a:xfrm rot="20580792">
            <a:off x="16812" y="637163"/>
            <a:ext cx="3733800" cy="672674"/>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Sharing</a:t>
            </a:r>
          </a:p>
          <a:p>
            <a:pPr algn="ctr"/>
            <a:r>
              <a:rPr kumimoji="1" lang="en-US" altLang="zh-CN" b="0" dirty="0">
                <a:latin typeface="Helvetica"/>
                <a:cs typeface="Helvetica"/>
              </a:rPr>
              <a:t>Different</a:t>
            </a:r>
            <a:r>
              <a:rPr kumimoji="1" lang="zh-CN" altLang="en-US" b="0" dirty="0">
                <a:latin typeface="Helvetica"/>
                <a:cs typeface="Helvetica"/>
              </a:rPr>
              <a:t> </a:t>
            </a:r>
            <a:r>
              <a:rPr kumimoji="1" lang="en-US" altLang="zh-CN" b="0" dirty="0">
                <a:latin typeface="Helvetica"/>
                <a:cs typeface="Helvetica"/>
              </a:rPr>
              <a:t>protection</a:t>
            </a:r>
          </a:p>
        </p:txBody>
      </p:sp>
    </p:spTree>
    <p:extLst>
      <p:ext uri="{BB962C8B-B14F-4D97-AF65-F5344CB8AC3E}">
        <p14:creationId xmlns:p14="http://schemas.microsoft.com/office/powerpoint/2010/main" val="4013642472"/>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2A6AECBE-BD7D-1FC4-7CFE-15DDE8049B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36C0508B-A682-6912-3F0E-E182066972E3}"/>
              </a:ext>
            </a:extLst>
          </p:cNvPr>
          <p:cNvSpPr/>
          <p:nvPr/>
        </p:nvSpPr>
        <p:spPr bwMode="auto">
          <a:xfrm rot="20580792">
            <a:off x="16812" y="637163"/>
            <a:ext cx="3733800" cy="672674"/>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Different</a:t>
            </a:r>
            <a:r>
              <a:rPr kumimoji="1" lang="zh-CN" altLang="en-US" b="0" dirty="0">
                <a:latin typeface="Helvetica"/>
                <a:cs typeface="Helvetica"/>
              </a:rPr>
              <a:t> </a:t>
            </a:r>
            <a:r>
              <a:rPr kumimoji="1" lang="en-US" altLang="zh-CN" b="0" dirty="0">
                <a:latin typeface="Helvetica"/>
                <a:cs typeface="Helvetica"/>
              </a:rPr>
              <a:t>protection</a:t>
            </a:r>
          </a:p>
          <a:p>
            <a:pPr algn="ctr"/>
            <a:r>
              <a:rPr kumimoji="1" lang="en-US" altLang="zh-CN" b="0" dirty="0">
                <a:latin typeface="Helvetica"/>
                <a:cs typeface="Helvetica"/>
              </a:rPr>
              <a:t>Sharing</a:t>
            </a:r>
            <a:r>
              <a:rPr kumimoji="1" lang="zh-CN" altLang="en-US" b="0" dirty="0">
                <a:latin typeface="Helvetica"/>
                <a:cs typeface="Helvetica"/>
              </a:rPr>
              <a:t> </a:t>
            </a:r>
            <a:r>
              <a:rPr kumimoji="1" lang="en-US" altLang="zh-CN" b="0" dirty="0">
                <a:latin typeface="Helvetica"/>
                <a:cs typeface="Helvetica"/>
              </a:rPr>
              <a:t>files</a:t>
            </a:r>
          </a:p>
        </p:txBody>
      </p:sp>
      <p:sp>
        <p:nvSpPr>
          <p:cNvPr id="5" name="圆角矩形 4">
            <a:extLst>
              <a:ext uri="{FF2B5EF4-FFF2-40B4-BE49-F238E27FC236}">
                <a16:creationId xmlns:a16="http://schemas.microsoft.com/office/drawing/2014/main" id="{2EC360E8-D95F-85E3-6588-514E237D0AB7}"/>
              </a:ext>
            </a:extLst>
          </p:cNvPr>
          <p:cNvSpPr/>
          <p:nvPr/>
        </p:nvSpPr>
        <p:spPr bwMode="auto">
          <a:xfrm rot="1127902">
            <a:off x="5382289" y="587408"/>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FS</a:t>
            </a:r>
            <a:r>
              <a:rPr kumimoji="1" lang="zh-CN" altLang="en-US" b="0" dirty="0">
                <a:latin typeface="Helvetica"/>
                <a:cs typeface="Helvetica"/>
              </a:rPr>
              <a:t> </a:t>
            </a:r>
            <a:r>
              <a:rPr kumimoji="1" lang="en-US" altLang="zh-CN" b="0" dirty="0">
                <a:latin typeface="Helvetica"/>
                <a:cs typeface="Helvetica"/>
              </a:rPr>
              <a:t>Tricks</a:t>
            </a:r>
            <a:endParaRPr kumimoji="1" lang="zh-CN" altLang="en-US" b="0" dirty="0">
              <a:latin typeface="Helvetica"/>
              <a:cs typeface="Helvetica"/>
            </a:endParaRPr>
          </a:p>
        </p:txBody>
      </p:sp>
    </p:spTree>
    <p:extLst>
      <p:ext uri="{BB962C8B-B14F-4D97-AF65-F5344CB8AC3E}">
        <p14:creationId xmlns:p14="http://schemas.microsoft.com/office/powerpoint/2010/main" val="1767250774"/>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8409D0-97E0-376E-B646-EBB102EB1324}"/>
              </a:ext>
            </a:extLst>
          </p:cNvPr>
          <p:cNvSpPr>
            <a:spLocks noGrp="1"/>
          </p:cNvSpPr>
          <p:nvPr>
            <p:ph type="title"/>
          </p:nvPr>
        </p:nvSpPr>
        <p:spPr/>
        <p:txBody>
          <a:bodyPr/>
          <a:lstStyle/>
          <a:p>
            <a:r>
              <a:rPr kumimoji="1" lang="en-US" altLang="zh-CN" dirty="0"/>
              <a:t>Protection</a:t>
            </a:r>
            <a:br>
              <a:rPr kumimoji="1" lang="en-US" altLang="zh-CN" dirty="0"/>
            </a:br>
            <a:r>
              <a:rPr kumimoji="1" lang="en-US" altLang="zh-CN" dirty="0"/>
              <a:t>(against</a:t>
            </a:r>
            <a:r>
              <a:rPr kumimoji="1" lang="zh-CN" altLang="en-US" dirty="0"/>
              <a:t> </a:t>
            </a:r>
            <a:r>
              <a:rPr kumimoji="1" lang="en-US" altLang="zh-CN" dirty="0"/>
              <a:t>stupidness)</a:t>
            </a:r>
            <a:endParaRPr kumimoji="1" lang="zh-CN" altLang="en-US" dirty="0"/>
          </a:p>
        </p:txBody>
      </p:sp>
      <p:sp>
        <p:nvSpPr>
          <p:cNvPr id="3" name="文本占位符 2">
            <a:extLst>
              <a:ext uri="{FF2B5EF4-FFF2-40B4-BE49-F238E27FC236}">
                <a16:creationId xmlns:a16="http://schemas.microsoft.com/office/drawing/2014/main" id="{653B6A3F-27AF-9174-CCFE-262FB2DA93F2}"/>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3935446983"/>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2F3852DB-D4FA-1D0A-4360-8650CA6C68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D9A453F9-E984-6D44-78AD-23103171A16A}"/>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Users</a:t>
            </a:r>
            <a:r>
              <a:rPr kumimoji="1" lang="zh-CN" altLang="en-US" b="0" dirty="0">
                <a:latin typeface="Helvetica"/>
                <a:cs typeface="Helvetica"/>
              </a:rPr>
              <a:t> </a:t>
            </a:r>
            <a:r>
              <a:rPr kumimoji="1" lang="en-US" altLang="zh-CN" b="0" dirty="0">
                <a:latin typeface="Helvetica"/>
                <a:cs typeface="Helvetica"/>
              </a:rPr>
              <a:t>are</a:t>
            </a:r>
            <a:r>
              <a:rPr kumimoji="1" lang="zh-CN" altLang="en-US" b="0" dirty="0">
                <a:latin typeface="Helvetica"/>
                <a:cs typeface="Helvetica"/>
              </a:rPr>
              <a:t> </a:t>
            </a:r>
            <a:r>
              <a:rPr kumimoji="1" lang="en-US" altLang="zh-CN" b="0" dirty="0">
                <a:latin typeface="Helvetica"/>
                <a:cs typeface="Helvetica"/>
              </a:rPr>
              <a:t>stupid</a:t>
            </a:r>
          </a:p>
        </p:txBody>
      </p:sp>
      <p:sp>
        <p:nvSpPr>
          <p:cNvPr id="5" name="圆角矩形 4">
            <a:extLst>
              <a:ext uri="{FF2B5EF4-FFF2-40B4-BE49-F238E27FC236}">
                <a16:creationId xmlns:a16="http://schemas.microsoft.com/office/drawing/2014/main" id="{7E86CC56-30D4-8B22-2889-F1DB8EA45B42}"/>
              </a:ext>
            </a:extLst>
          </p:cNvPr>
          <p:cNvSpPr/>
          <p:nvPr/>
        </p:nvSpPr>
        <p:spPr bwMode="auto">
          <a:xfrm rot="1127902">
            <a:off x="5382289" y="677667"/>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Human</a:t>
            </a:r>
            <a:r>
              <a:rPr kumimoji="1" lang="zh-CN" altLang="en-US" b="0" dirty="0">
                <a:latin typeface="Helvetica"/>
                <a:cs typeface="Helvetica"/>
              </a:rPr>
              <a:t> </a:t>
            </a:r>
            <a:r>
              <a:rPr kumimoji="1" lang="en-US" altLang="zh-CN" b="0" dirty="0">
                <a:latin typeface="Helvetica"/>
                <a:cs typeface="Helvetica"/>
              </a:rPr>
              <a:t>concurrency</a:t>
            </a:r>
          </a:p>
          <a:p>
            <a:pPr algn="ctr"/>
            <a:r>
              <a:rPr kumimoji="1" lang="en-US" altLang="zh-CN" b="0" dirty="0">
                <a:latin typeface="Helvetica"/>
                <a:cs typeface="Helvetica"/>
              </a:rPr>
              <a:t>Solving</a:t>
            </a:r>
            <a:r>
              <a:rPr kumimoji="1" lang="zh-CN" altLang="en-US" b="0" dirty="0">
                <a:latin typeface="Helvetica"/>
                <a:cs typeface="Helvetica"/>
              </a:rPr>
              <a:t> </a:t>
            </a:r>
            <a:r>
              <a:rPr kumimoji="1" lang="en-US" altLang="zh-CN" b="0" dirty="0">
                <a:latin typeface="Helvetica"/>
                <a:cs typeface="Helvetica"/>
              </a:rPr>
              <a:t>conflicts</a:t>
            </a:r>
            <a:r>
              <a:rPr kumimoji="1" lang="zh-CN" altLang="en-US" b="0" dirty="0">
                <a:latin typeface="Helvetica"/>
                <a:cs typeface="Helvetica"/>
              </a:rPr>
              <a:t> </a:t>
            </a:r>
          </a:p>
        </p:txBody>
      </p:sp>
    </p:spTree>
    <p:extLst>
      <p:ext uri="{BB962C8B-B14F-4D97-AF65-F5344CB8AC3E}">
        <p14:creationId xmlns:p14="http://schemas.microsoft.com/office/powerpoint/2010/main" val="3828574476"/>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ED7AF399-38AD-116D-E085-4AD8D23B7C4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12787"/>
            <a:ext cx="9144000" cy="5632426"/>
          </a:xfrm>
          <a:prstGeom prst="rect">
            <a:avLst/>
          </a:prstGeom>
        </p:spPr>
      </p:pic>
      <p:sp>
        <p:nvSpPr>
          <p:cNvPr id="3" name="圆角矩形 2">
            <a:extLst>
              <a:ext uri="{FF2B5EF4-FFF2-40B4-BE49-F238E27FC236}">
                <a16:creationId xmlns:a16="http://schemas.microsoft.com/office/drawing/2014/main" id="{F32E75A5-0383-0E1E-0B9D-ABA738FB336F}"/>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Users</a:t>
            </a:r>
            <a:r>
              <a:rPr kumimoji="1" lang="zh-CN" altLang="en-US" b="0" dirty="0">
                <a:latin typeface="Helvetica"/>
                <a:cs typeface="Helvetica"/>
              </a:rPr>
              <a:t> </a:t>
            </a:r>
            <a:r>
              <a:rPr kumimoji="1" lang="en-US" altLang="zh-CN" b="0" dirty="0">
                <a:latin typeface="Helvetica"/>
                <a:cs typeface="Helvetica"/>
              </a:rPr>
              <a:t>are</a:t>
            </a:r>
            <a:r>
              <a:rPr kumimoji="1" lang="zh-CN" altLang="en-US" b="0" dirty="0">
                <a:latin typeface="Helvetica"/>
                <a:cs typeface="Helvetica"/>
              </a:rPr>
              <a:t> </a:t>
            </a:r>
            <a:r>
              <a:rPr kumimoji="1" lang="en-US" altLang="zh-CN" b="0" dirty="0">
                <a:latin typeface="Helvetica"/>
                <a:cs typeface="Helvetica"/>
              </a:rPr>
              <a:t>stupid</a:t>
            </a:r>
          </a:p>
        </p:txBody>
      </p:sp>
      <p:sp>
        <p:nvSpPr>
          <p:cNvPr id="5" name="圆角矩形 4">
            <a:extLst>
              <a:ext uri="{FF2B5EF4-FFF2-40B4-BE49-F238E27FC236}">
                <a16:creationId xmlns:a16="http://schemas.microsoft.com/office/drawing/2014/main" id="{137528D6-EB22-8D5A-456C-83B4D2CC8D73}"/>
              </a:ext>
            </a:extLst>
          </p:cNvPr>
          <p:cNvSpPr/>
          <p:nvPr/>
        </p:nvSpPr>
        <p:spPr bwMode="auto">
          <a:xfrm rot="1127902">
            <a:off x="5422915" y="684593"/>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VM</a:t>
            </a:r>
            <a:r>
              <a:rPr kumimoji="1" lang="zh-CN" altLang="en-US" b="0" dirty="0">
                <a:latin typeface="Helvetica"/>
                <a:cs typeface="Helvetica"/>
              </a:rPr>
              <a:t> </a:t>
            </a:r>
            <a:r>
              <a:rPr kumimoji="1" lang="en-US" altLang="zh-CN" b="0" dirty="0">
                <a:latin typeface="Helvetica"/>
                <a:cs typeface="Helvetica"/>
              </a:rPr>
              <a:t>for</a:t>
            </a:r>
            <a:r>
              <a:rPr kumimoji="1" lang="zh-CN" altLang="en-US" b="0" dirty="0">
                <a:latin typeface="Helvetica"/>
                <a:cs typeface="Helvetica"/>
              </a:rPr>
              <a:t> </a:t>
            </a:r>
            <a:r>
              <a:rPr kumimoji="1" lang="en-US" altLang="zh-CN" b="0" dirty="0">
                <a:latin typeface="Helvetica"/>
                <a:cs typeface="Helvetica"/>
              </a:rPr>
              <a:t>protection</a:t>
            </a:r>
            <a:endParaRPr kumimoji="1" lang="zh-CN" altLang="en-US" b="0" dirty="0">
              <a:latin typeface="Helvetica"/>
              <a:cs typeface="Helvetica"/>
            </a:endParaRPr>
          </a:p>
        </p:txBody>
      </p:sp>
    </p:spTree>
    <p:extLst>
      <p:ext uri="{BB962C8B-B14F-4D97-AF65-F5344CB8AC3E}">
        <p14:creationId xmlns:p14="http://schemas.microsoft.com/office/powerpoint/2010/main" val="2654054669"/>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D5A7097B-F2DD-EF64-478F-1F77721C91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44C6F518-E5A3-FD93-53C6-0DF2C0A4AB23}"/>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Users</a:t>
            </a:r>
            <a:r>
              <a:rPr kumimoji="1" lang="zh-CN" altLang="en-US" b="0" dirty="0">
                <a:latin typeface="Helvetica"/>
                <a:cs typeface="Helvetica"/>
              </a:rPr>
              <a:t> </a:t>
            </a:r>
            <a:r>
              <a:rPr kumimoji="1" lang="en-US" altLang="zh-CN" b="0" dirty="0">
                <a:latin typeface="Helvetica"/>
                <a:cs typeface="Helvetica"/>
              </a:rPr>
              <a:t>are</a:t>
            </a:r>
            <a:r>
              <a:rPr kumimoji="1" lang="zh-CN" altLang="en-US" b="0" dirty="0">
                <a:latin typeface="Helvetica"/>
                <a:cs typeface="Helvetica"/>
              </a:rPr>
              <a:t> </a:t>
            </a:r>
            <a:r>
              <a:rPr kumimoji="1" lang="en-US" altLang="zh-CN" b="0" dirty="0">
                <a:latin typeface="Helvetica"/>
                <a:cs typeface="Helvetica"/>
              </a:rPr>
              <a:t>stupid</a:t>
            </a:r>
          </a:p>
        </p:txBody>
      </p:sp>
      <p:sp>
        <p:nvSpPr>
          <p:cNvPr id="5" name="圆角矩形 4">
            <a:extLst>
              <a:ext uri="{FF2B5EF4-FFF2-40B4-BE49-F238E27FC236}">
                <a16:creationId xmlns:a16="http://schemas.microsoft.com/office/drawing/2014/main" id="{B5EC7E5A-BECD-03B3-3078-C8056F3A3DB3}"/>
              </a:ext>
            </a:extLst>
          </p:cNvPr>
          <p:cNvSpPr/>
          <p:nvPr/>
        </p:nvSpPr>
        <p:spPr bwMode="auto">
          <a:xfrm rot="1127902">
            <a:off x="5382289" y="677667"/>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Background</a:t>
            </a:r>
            <a:r>
              <a:rPr kumimoji="1" lang="zh-CN" altLang="en-US" b="0" dirty="0">
                <a:latin typeface="Helvetica"/>
                <a:cs typeface="Helvetica"/>
              </a:rPr>
              <a:t> </a:t>
            </a:r>
            <a:r>
              <a:rPr kumimoji="1" lang="en-US" altLang="zh-CN" b="0" dirty="0">
                <a:latin typeface="Helvetica"/>
                <a:cs typeface="Helvetica"/>
              </a:rPr>
              <a:t>task</a:t>
            </a:r>
            <a:endParaRPr kumimoji="1" lang="zh-CN" altLang="en-US" b="0" dirty="0">
              <a:latin typeface="Helvetica"/>
              <a:cs typeface="Helvetica"/>
            </a:endParaRPr>
          </a:p>
        </p:txBody>
      </p:sp>
    </p:spTree>
    <p:extLst>
      <p:ext uri="{BB962C8B-B14F-4D97-AF65-F5344CB8AC3E}">
        <p14:creationId xmlns:p14="http://schemas.microsoft.com/office/powerpoint/2010/main" val="2110381114"/>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8D33F58E-827B-54BA-5460-C5CFECA451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30171"/>
            <a:ext cx="9144000" cy="5597658"/>
          </a:xfrm>
          <a:prstGeom prst="rect">
            <a:avLst/>
          </a:prstGeom>
        </p:spPr>
      </p:pic>
      <p:sp>
        <p:nvSpPr>
          <p:cNvPr id="3" name="圆角矩形 2">
            <a:extLst>
              <a:ext uri="{FF2B5EF4-FFF2-40B4-BE49-F238E27FC236}">
                <a16:creationId xmlns:a16="http://schemas.microsoft.com/office/drawing/2014/main" id="{1D13AF0D-F639-0C56-4A7C-DE89C193BF1C}"/>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Users</a:t>
            </a:r>
            <a:r>
              <a:rPr kumimoji="1" lang="zh-CN" altLang="en-US" b="0" dirty="0">
                <a:latin typeface="Helvetica"/>
                <a:cs typeface="Helvetica"/>
              </a:rPr>
              <a:t> </a:t>
            </a:r>
            <a:r>
              <a:rPr kumimoji="1" lang="en-US" altLang="zh-CN" b="0" dirty="0">
                <a:latin typeface="Helvetica"/>
                <a:cs typeface="Helvetica"/>
              </a:rPr>
              <a:t>are</a:t>
            </a:r>
            <a:r>
              <a:rPr kumimoji="1" lang="zh-CN" altLang="en-US" b="0" dirty="0">
                <a:latin typeface="Helvetica"/>
                <a:cs typeface="Helvetica"/>
              </a:rPr>
              <a:t> </a:t>
            </a:r>
            <a:r>
              <a:rPr kumimoji="1" lang="en-US" altLang="zh-CN" b="0" dirty="0">
                <a:latin typeface="Helvetica"/>
                <a:cs typeface="Helvetica"/>
              </a:rPr>
              <a:t>stupid</a:t>
            </a:r>
          </a:p>
        </p:txBody>
      </p:sp>
      <p:sp>
        <p:nvSpPr>
          <p:cNvPr id="5" name="圆角矩形 4">
            <a:extLst>
              <a:ext uri="{FF2B5EF4-FFF2-40B4-BE49-F238E27FC236}">
                <a16:creationId xmlns:a16="http://schemas.microsoft.com/office/drawing/2014/main" id="{5E463636-9178-F7E2-A8B9-4F5536384DE1}"/>
              </a:ext>
            </a:extLst>
          </p:cNvPr>
          <p:cNvSpPr/>
          <p:nvPr/>
        </p:nvSpPr>
        <p:spPr bwMode="auto">
          <a:xfrm rot="1127902">
            <a:off x="5382289" y="677667"/>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Background</a:t>
            </a:r>
            <a:r>
              <a:rPr kumimoji="1" lang="zh-CN" altLang="en-US" b="0" dirty="0">
                <a:latin typeface="Helvetica"/>
                <a:cs typeface="Helvetica"/>
              </a:rPr>
              <a:t> </a:t>
            </a:r>
            <a:r>
              <a:rPr kumimoji="1" lang="en-US" altLang="zh-CN" b="0" dirty="0">
                <a:latin typeface="Helvetica"/>
                <a:cs typeface="Helvetica"/>
              </a:rPr>
              <a:t>tasks</a:t>
            </a:r>
          </a:p>
          <a:p>
            <a:pPr algn="ctr"/>
            <a:r>
              <a:rPr kumimoji="1" lang="en-US" altLang="zh-CN" b="0" dirty="0">
                <a:latin typeface="Helvetica"/>
                <a:cs typeface="Helvetica"/>
              </a:rPr>
              <a:t>Static</a:t>
            </a:r>
            <a:r>
              <a:rPr kumimoji="1" lang="zh-CN" altLang="en-US" b="0" dirty="0">
                <a:latin typeface="Helvetica"/>
                <a:cs typeface="Helvetica"/>
              </a:rPr>
              <a:t> </a:t>
            </a:r>
            <a:r>
              <a:rPr kumimoji="1" lang="en-US" altLang="zh-CN" b="0" dirty="0">
                <a:latin typeface="Helvetica"/>
                <a:cs typeface="Helvetica"/>
              </a:rPr>
              <a:t>Analysis</a:t>
            </a:r>
            <a:endParaRPr kumimoji="1" lang="zh-CN" altLang="en-US" b="0" dirty="0">
              <a:latin typeface="Helvetica"/>
              <a:cs typeface="Helvetica"/>
            </a:endParaRPr>
          </a:p>
        </p:txBody>
      </p:sp>
    </p:spTree>
    <p:extLst>
      <p:ext uri="{BB962C8B-B14F-4D97-AF65-F5344CB8AC3E}">
        <p14:creationId xmlns:p14="http://schemas.microsoft.com/office/powerpoint/2010/main" val="1629208091"/>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C4E9FD-9938-50C5-741F-C49168C3F1EC}"/>
              </a:ext>
            </a:extLst>
          </p:cNvPr>
          <p:cNvSpPr>
            <a:spLocks noGrp="1"/>
          </p:cNvSpPr>
          <p:nvPr>
            <p:ph type="title"/>
          </p:nvPr>
        </p:nvSpPr>
        <p:spPr/>
        <p:txBody>
          <a:bodyPr/>
          <a:lstStyle/>
          <a:p>
            <a:r>
              <a:rPr kumimoji="1" lang="en-US" altLang="zh-CN" dirty="0"/>
              <a:t>Separation</a:t>
            </a:r>
            <a:r>
              <a:rPr kumimoji="1" lang="zh-CN" altLang="en-US" dirty="0"/>
              <a:t> </a:t>
            </a:r>
            <a:r>
              <a:rPr kumimoji="1" lang="en-US" altLang="zh-CN" dirty="0"/>
              <a:t>of</a:t>
            </a:r>
            <a:r>
              <a:rPr kumimoji="1" lang="zh-CN" altLang="en-US" dirty="0"/>
              <a:t> </a:t>
            </a:r>
            <a:br>
              <a:rPr kumimoji="1" lang="en-US" altLang="zh-CN" dirty="0"/>
            </a:br>
            <a:r>
              <a:rPr kumimoji="1" lang="en-US" altLang="zh-CN" dirty="0"/>
              <a:t>Policy</a:t>
            </a:r>
            <a:r>
              <a:rPr kumimoji="1" lang="zh-CN" altLang="en-US" dirty="0"/>
              <a:t> </a:t>
            </a:r>
            <a:r>
              <a:rPr kumimoji="1" lang="en-US" altLang="zh-CN" dirty="0"/>
              <a:t>and</a:t>
            </a:r>
            <a:r>
              <a:rPr kumimoji="1" lang="zh-CN" altLang="en-US" dirty="0"/>
              <a:t> </a:t>
            </a:r>
            <a:r>
              <a:rPr kumimoji="1" lang="en-US" altLang="zh-CN" dirty="0"/>
              <a:t>mechanism</a:t>
            </a:r>
            <a:endParaRPr kumimoji="1" lang="zh-CN" altLang="en-US" dirty="0"/>
          </a:p>
        </p:txBody>
      </p:sp>
      <p:sp>
        <p:nvSpPr>
          <p:cNvPr id="3" name="文本占位符 2">
            <a:extLst>
              <a:ext uri="{FF2B5EF4-FFF2-40B4-BE49-F238E27FC236}">
                <a16:creationId xmlns:a16="http://schemas.microsoft.com/office/drawing/2014/main" id="{22890294-7916-00AE-1934-1898327D53FA}"/>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873317160"/>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形 21">
            <a:extLst>
              <a:ext uri="{FF2B5EF4-FFF2-40B4-BE49-F238E27FC236}">
                <a16:creationId xmlns:a16="http://schemas.microsoft.com/office/drawing/2014/main" id="{60458BBF-04BA-FE92-3998-64E68E3C3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4800" y="762000"/>
            <a:ext cx="5446591" cy="3321799"/>
          </a:xfrm>
          <a:prstGeom prst="rect">
            <a:avLst/>
          </a:prstGeom>
        </p:spPr>
      </p:pic>
      <p:pic>
        <p:nvPicPr>
          <p:cNvPr id="23" name="图形 22">
            <a:extLst>
              <a:ext uri="{FF2B5EF4-FFF2-40B4-BE49-F238E27FC236}">
                <a16:creationId xmlns:a16="http://schemas.microsoft.com/office/drawing/2014/main" id="{E2603F33-EE52-5F36-BA8C-3A7470D8CD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24400" y="2286000"/>
            <a:ext cx="4069953" cy="2470933"/>
          </a:xfrm>
          <a:prstGeom prst="rect">
            <a:avLst/>
          </a:prstGeom>
        </p:spPr>
      </p:pic>
      <p:pic>
        <p:nvPicPr>
          <p:cNvPr id="24" name="图形 23">
            <a:extLst>
              <a:ext uri="{FF2B5EF4-FFF2-40B4-BE49-F238E27FC236}">
                <a16:creationId xmlns:a16="http://schemas.microsoft.com/office/drawing/2014/main" id="{D2278212-50ED-95D4-DD5A-43F03D451E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9745" y="4116126"/>
            <a:ext cx="3733800" cy="2277192"/>
          </a:xfrm>
          <a:prstGeom prst="rect">
            <a:avLst/>
          </a:prstGeom>
        </p:spPr>
      </p:pic>
    </p:spTree>
    <p:extLst>
      <p:ext uri="{BB962C8B-B14F-4D97-AF65-F5344CB8AC3E}">
        <p14:creationId xmlns:p14="http://schemas.microsoft.com/office/powerpoint/2010/main" val="202321867"/>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B578357-C791-E8E9-D5F0-42F5C24C5033}"/>
              </a:ext>
            </a:extLst>
          </p:cNvPr>
          <p:cNvPicPr>
            <a:picLocks noChangeAspect="1"/>
          </p:cNvPicPr>
          <p:nvPr/>
        </p:nvPicPr>
        <p:blipFill>
          <a:blip r:embed="rId2"/>
          <a:stretch>
            <a:fillRect/>
          </a:stretch>
        </p:blipFill>
        <p:spPr>
          <a:xfrm>
            <a:off x="685800" y="1174648"/>
            <a:ext cx="7772400" cy="4508703"/>
          </a:xfrm>
          <a:prstGeom prst="rect">
            <a:avLst/>
          </a:prstGeom>
        </p:spPr>
      </p:pic>
    </p:spTree>
    <p:extLst>
      <p:ext uri="{BB962C8B-B14F-4D97-AF65-F5344CB8AC3E}">
        <p14:creationId xmlns:p14="http://schemas.microsoft.com/office/powerpoint/2010/main" val="926687792"/>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B5CFAA-271B-FA4D-BAE1-A11EC6453AF0}"/>
              </a:ext>
            </a:extLst>
          </p:cNvPr>
          <p:cNvSpPr>
            <a:spLocks noGrp="1"/>
          </p:cNvSpPr>
          <p:nvPr>
            <p:ph type="title"/>
          </p:nvPr>
        </p:nvSpPr>
        <p:spPr/>
        <p:txBody>
          <a:bodyPr/>
          <a:lstStyle/>
          <a:p>
            <a:r>
              <a:rPr kumimoji="1" lang="en-US" altLang="zh-CN" dirty="0"/>
              <a:t>Data</a:t>
            </a:r>
            <a:r>
              <a:rPr kumimoji="1" lang="zh-CN" altLang="en-US" dirty="0"/>
              <a:t> </a:t>
            </a:r>
            <a:r>
              <a:rPr kumimoji="1" lang="en-US" altLang="zh-CN" dirty="0"/>
              <a:t>structures</a:t>
            </a:r>
            <a:r>
              <a:rPr kumimoji="1" lang="zh-CN" altLang="en-US" dirty="0"/>
              <a:t> </a:t>
            </a:r>
            <a:r>
              <a:rPr kumimoji="1" lang="en-US" altLang="zh-CN" dirty="0"/>
              <a:t>in</a:t>
            </a:r>
            <a:r>
              <a:rPr kumimoji="1" lang="zh-CN" altLang="en-US" dirty="0"/>
              <a:t> </a:t>
            </a:r>
            <a:r>
              <a:rPr kumimoji="1" lang="en-US" altLang="zh-CN" dirty="0"/>
              <a:t>systems</a:t>
            </a:r>
            <a:endParaRPr kumimoji="1" lang="zh-CN" altLang="en-US" dirty="0"/>
          </a:p>
        </p:txBody>
      </p:sp>
      <p:sp>
        <p:nvSpPr>
          <p:cNvPr id="3" name="文本占位符 2">
            <a:extLst>
              <a:ext uri="{FF2B5EF4-FFF2-40B4-BE49-F238E27FC236}">
                <a16:creationId xmlns:a16="http://schemas.microsoft.com/office/drawing/2014/main" id="{DA6B5A38-5DC6-E9B8-399B-FE29ABC4864C}"/>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650753029"/>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64EDCFF-575E-F4B6-8E00-80FDB5B78F28}"/>
              </a:ext>
            </a:extLst>
          </p:cNvPr>
          <p:cNvPicPr>
            <a:picLocks noChangeAspect="1"/>
          </p:cNvPicPr>
          <p:nvPr/>
        </p:nvPicPr>
        <p:blipFill>
          <a:blip r:embed="rId2"/>
          <a:stretch>
            <a:fillRect/>
          </a:stretch>
        </p:blipFill>
        <p:spPr>
          <a:xfrm>
            <a:off x="381000" y="838200"/>
            <a:ext cx="6587326" cy="3911600"/>
          </a:xfrm>
          <a:prstGeom prst="rect">
            <a:avLst/>
          </a:prstGeom>
          <a:ln>
            <a:solidFill>
              <a:schemeClr val="accent1"/>
            </a:solidFill>
          </a:ln>
        </p:spPr>
      </p:pic>
      <p:sp>
        <p:nvSpPr>
          <p:cNvPr id="2" name="标题 1">
            <a:extLst>
              <a:ext uri="{FF2B5EF4-FFF2-40B4-BE49-F238E27FC236}">
                <a16:creationId xmlns:a16="http://schemas.microsoft.com/office/drawing/2014/main" id="{C49422D7-413E-0A62-429A-FBAB2CAC4393}"/>
              </a:ext>
            </a:extLst>
          </p:cNvPr>
          <p:cNvSpPr>
            <a:spLocks noGrp="1"/>
          </p:cNvSpPr>
          <p:nvPr>
            <p:ph type="title"/>
          </p:nvPr>
        </p:nvSpPr>
        <p:spPr/>
        <p:txBody>
          <a:bodyPr/>
          <a:lstStyle/>
          <a:p>
            <a:r>
              <a:rPr kumimoji="1" lang="en-US" altLang="zh-CN" dirty="0"/>
              <a:t>A</a:t>
            </a:r>
            <a:r>
              <a:rPr kumimoji="1" lang="zh-CN" altLang="en-US" dirty="0"/>
              <a:t> </a:t>
            </a:r>
            <a:r>
              <a:rPr kumimoji="1" lang="en-US" altLang="zh-CN" dirty="0"/>
              <a:t>chain</a:t>
            </a:r>
            <a:r>
              <a:rPr kumimoji="1" lang="zh-CN" altLang="en-US" dirty="0"/>
              <a:t> </a:t>
            </a:r>
            <a:r>
              <a:rPr kumimoji="1" lang="en-US" altLang="zh-CN" dirty="0"/>
              <a:t>of</a:t>
            </a:r>
            <a:r>
              <a:rPr kumimoji="1" lang="zh-CN" altLang="en-US" dirty="0"/>
              <a:t> </a:t>
            </a:r>
            <a:r>
              <a:rPr kumimoji="1" lang="en-US" altLang="zh-CN" dirty="0"/>
              <a:t>fixed</a:t>
            </a:r>
            <a:r>
              <a:rPr kumimoji="1" lang="zh-CN" altLang="en-US" dirty="0"/>
              <a:t> </a:t>
            </a:r>
            <a:r>
              <a:rPr kumimoji="1" lang="en-US" altLang="zh-CN" dirty="0"/>
              <a:t>sized</a:t>
            </a:r>
            <a:r>
              <a:rPr kumimoji="1" lang="zh-CN" altLang="en-US" dirty="0"/>
              <a:t> </a:t>
            </a:r>
            <a:r>
              <a:rPr kumimoji="1" lang="en-US" altLang="zh-CN" dirty="0"/>
              <a:t>blocks</a:t>
            </a:r>
            <a:endParaRPr kumimoji="1" lang="zh-CN" altLang="en-US" dirty="0"/>
          </a:p>
        </p:txBody>
      </p:sp>
      <p:pic>
        <p:nvPicPr>
          <p:cNvPr id="4" name="图片 3">
            <a:extLst>
              <a:ext uri="{FF2B5EF4-FFF2-40B4-BE49-F238E27FC236}">
                <a16:creationId xmlns:a16="http://schemas.microsoft.com/office/drawing/2014/main" id="{8D471FEC-72AC-F79B-14D4-6A05847A2B43}"/>
              </a:ext>
            </a:extLst>
          </p:cNvPr>
          <p:cNvPicPr>
            <a:picLocks noChangeAspect="1"/>
          </p:cNvPicPr>
          <p:nvPr/>
        </p:nvPicPr>
        <p:blipFill>
          <a:blip r:embed="rId3"/>
          <a:stretch>
            <a:fillRect/>
          </a:stretch>
        </p:blipFill>
        <p:spPr>
          <a:xfrm>
            <a:off x="2133600" y="2895600"/>
            <a:ext cx="6400800" cy="3652049"/>
          </a:xfrm>
          <a:prstGeom prst="rect">
            <a:avLst/>
          </a:prstGeom>
          <a:ln>
            <a:solidFill>
              <a:schemeClr val="accent1"/>
            </a:solidFill>
          </a:ln>
        </p:spPr>
      </p:pic>
      <p:sp>
        <p:nvSpPr>
          <p:cNvPr id="5" name="圆角矩形 4">
            <a:extLst>
              <a:ext uri="{FF2B5EF4-FFF2-40B4-BE49-F238E27FC236}">
                <a16:creationId xmlns:a16="http://schemas.microsoft.com/office/drawing/2014/main" id="{3493BE0D-BC5F-C909-740C-0CABAA94CEB7}"/>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Internal</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External</a:t>
            </a:r>
            <a:r>
              <a:rPr kumimoji="1" lang="zh-CN" altLang="en-US" b="0" dirty="0">
                <a:latin typeface="Helvetica"/>
                <a:cs typeface="Helvetica"/>
              </a:rPr>
              <a:t> </a:t>
            </a:r>
            <a:r>
              <a:rPr kumimoji="1" lang="en-US" altLang="zh-CN" b="0" dirty="0">
                <a:latin typeface="Helvetica"/>
                <a:cs typeface="Helvetica"/>
              </a:rPr>
              <a:t>Fragmentation</a:t>
            </a:r>
          </a:p>
        </p:txBody>
      </p:sp>
      <p:sp>
        <p:nvSpPr>
          <p:cNvPr id="8" name="圆角矩形 7">
            <a:extLst>
              <a:ext uri="{FF2B5EF4-FFF2-40B4-BE49-F238E27FC236}">
                <a16:creationId xmlns:a16="http://schemas.microsoft.com/office/drawing/2014/main" id="{E8EE67F6-D068-0E7B-861E-6645DEBB2E6A}"/>
              </a:ext>
            </a:extLst>
          </p:cNvPr>
          <p:cNvSpPr/>
          <p:nvPr/>
        </p:nvSpPr>
        <p:spPr bwMode="auto">
          <a:xfrm rot="1127902">
            <a:off x="5382289" y="677667"/>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Allocate</a:t>
            </a:r>
            <a:r>
              <a:rPr kumimoji="1" lang="zh-CN" altLang="en-US" b="0" dirty="0">
                <a:latin typeface="Helvetica"/>
                <a:cs typeface="Helvetica"/>
              </a:rPr>
              <a:t> </a:t>
            </a:r>
            <a:r>
              <a:rPr kumimoji="1" lang="en-US" altLang="zh-CN" b="0" dirty="0">
                <a:latin typeface="Helvetica"/>
                <a:cs typeface="Helvetica"/>
              </a:rPr>
              <a:t>in</a:t>
            </a:r>
            <a:r>
              <a:rPr kumimoji="1" lang="zh-CN" altLang="en-US" b="0" dirty="0">
                <a:latin typeface="Helvetica"/>
                <a:cs typeface="Helvetica"/>
              </a:rPr>
              <a:t> </a:t>
            </a:r>
            <a:r>
              <a:rPr kumimoji="1" lang="en-US" altLang="zh-CN" b="0" dirty="0">
                <a:latin typeface="Helvetica"/>
                <a:cs typeface="Helvetica"/>
              </a:rPr>
              <a:t>fixed</a:t>
            </a:r>
            <a:r>
              <a:rPr kumimoji="1" lang="zh-CN" altLang="en-US" b="0" dirty="0">
                <a:latin typeface="Helvetica"/>
                <a:cs typeface="Helvetica"/>
              </a:rPr>
              <a:t> </a:t>
            </a:r>
            <a:r>
              <a:rPr kumimoji="1" lang="en-US" altLang="zh-CN" b="0" dirty="0">
                <a:latin typeface="Helvetica"/>
                <a:cs typeface="Helvetica"/>
              </a:rPr>
              <a:t>sized</a:t>
            </a:r>
            <a:r>
              <a:rPr kumimoji="1" lang="zh-CN" altLang="en-US" b="0" dirty="0">
                <a:latin typeface="Helvetica"/>
                <a:cs typeface="Helvetica"/>
              </a:rPr>
              <a:t> </a:t>
            </a:r>
            <a:r>
              <a:rPr kumimoji="1" lang="en-US" altLang="zh-CN" b="0" dirty="0">
                <a:latin typeface="Helvetica"/>
                <a:cs typeface="Helvetica"/>
              </a:rPr>
              <a:t>blocks</a:t>
            </a:r>
            <a:endParaRPr kumimoji="1" lang="zh-CN" altLang="en-US" b="0" dirty="0">
              <a:latin typeface="Helvetica"/>
              <a:cs typeface="Helvetica"/>
            </a:endParaRPr>
          </a:p>
        </p:txBody>
      </p:sp>
    </p:spTree>
    <p:extLst>
      <p:ext uri="{BB962C8B-B14F-4D97-AF65-F5344CB8AC3E}">
        <p14:creationId xmlns:p14="http://schemas.microsoft.com/office/powerpoint/2010/main" val="908410983"/>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图形 66">
            <a:extLst>
              <a:ext uri="{FF2B5EF4-FFF2-40B4-BE49-F238E27FC236}">
                <a16:creationId xmlns:a16="http://schemas.microsoft.com/office/drawing/2014/main" id="{DD2E5F2A-B221-8F54-321C-3751756ACC8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58A4D9E5-398E-36B1-A128-E138AF2693BA}"/>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Lookup</a:t>
            </a:r>
            <a:r>
              <a:rPr kumimoji="1" lang="zh-CN" altLang="en-US" b="0" dirty="0">
                <a:latin typeface="Helvetica"/>
                <a:cs typeface="Helvetica"/>
              </a:rPr>
              <a:t> </a:t>
            </a:r>
            <a:r>
              <a:rPr kumimoji="1" lang="en-US" altLang="zh-CN" b="0" dirty="0">
                <a:latin typeface="Helvetica"/>
                <a:cs typeface="Helvetica"/>
              </a:rPr>
              <a:t>speed</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conflicts</a:t>
            </a:r>
          </a:p>
        </p:txBody>
      </p:sp>
      <p:sp>
        <p:nvSpPr>
          <p:cNvPr id="2" name="圆角矩形 1">
            <a:extLst>
              <a:ext uri="{FF2B5EF4-FFF2-40B4-BE49-F238E27FC236}">
                <a16:creationId xmlns:a16="http://schemas.microsoft.com/office/drawing/2014/main" id="{02E64781-CF74-EFBE-DFBA-E22F57D9950C}"/>
              </a:ext>
            </a:extLst>
          </p:cNvPr>
          <p:cNvSpPr/>
          <p:nvPr/>
        </p:nvSpPr>
        <p:spPr bwMode="auto">
          <a:xfrm rot="1127902">
            <a:off x="5382289" y="677667"/>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Set</a:t>
            </a:r>
            <a:r>
              <a:rPr kumimoji="1" lang="zh-CN" altLang="en-US" b="0" dirty="0">
                <a:latin typeface="Helvetica"/>
                <a:cs typeface="Helvetica"/>
              </a:rPr>
              <a:t> </a:t>
            </a:r>
            <a:r>
              <a:rPr kumimoji="1" lang="en-US" altLang="zh-CN" b="0" dirty="0">
                <a:latin typeface="Helvetica"/>
                <a:cs typeface="Helvetica"/>
              </a:rPr>
              <a:t>associativity</a:t>
            </a:r>
            <a:endParaRPr kumimoji="1" lang="zh-CN" altLang="en-US" b="0" dirty="0">
              <a:latin typeface="Helvetica"/>
              <a:cs typeface="Helvetica"/>
            </a:endParaRPr>
          </a:p>
        </p:txBody>
      </p:sp>
    </p:spTree>
    <p:extLst>
      <p:ext uri="{BB962C8B-B14F-4D97-AF65-F5344CB8AC3E}">
        <p14:creationId xmlns:p14="http://schemas.microsoft.com/office/powerpoint/2010/main" val="1715191218"/>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5D6A87F2-7A69-1C45-F308-039FEBDED0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5" name="圆角矩形 4">
            <a:extLst>
              <a:ext uri="{FF2B5EF4-FFF2-40B4-BE49-F238E27FC236}">
                <a16:creationId xmlns:a16="http://schemas.microsoft.com/office/drawing/2014/main" id="{E1F29517-9A41-52FD-3D3A-C5CFF834D252}"/>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Sparse</a:t>
            </a:r>
            <a:r>
              <a:rPr kumimoji="1" lang="zh-CN" altLang="en-US" b="0" dirty="0">
                <a:latin typeface="Helvetica"/>
                <a:cs typeface="Helvetica"/>
              </a:rPr>
              <a:t> </a:t>
            </a:r>
            <a:r>
              <a:rPr kumimoji="1" lang="en-US" altLang="zh-CN" b="0" dirty="0">
                <a:latin typeface="Helvetica"/>
                <a:cs typeface="Helvetica"/>
              </a:rPr>
              <a:t>allocation</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continuous</a:t>
            </a:r>
            <a:r>
              <a:rPr kumimoji="1" lang="zh-CN" altLang="en-US" b="0" dirty="0">
                <a:latin typeface="Helvetica"/>
                <a:cs typeface="Helvetica"/>
              </a:rPr>
              <a:t> </a:t>
            </a:r>
            <a:r>
              <a:rPr kumimoji="1" lang="en-US" altLang="zh-CN" b="0" dirty="0">
                <a:latin typeface="Helvetica"/>
                <a:cs typeface="Helvetica"/>
              </a:rPr>
              <a:t>allocations</a:t>
            </a:r>
          </a:p>
        </p:txBody>
      </p:sp>
      <p:sp>
        <p:nvSpPr>
          <p:cNvPr id="2" name="圆角矩形 1">
            <a:extLst>
              <a:ext uri="{FF2B5EF4-FFF2-40B4-BE49-F238E27FC236}">
                <a16:creationId xmlns:a16="http://schemas.microsoft.com/office/drawing/2014/main" id="{16A731F3-0A8B-41AE-AEF8-3D2FFAC688E8}"/>
              </a:ext>
            </a:extLst>
          </p:cNvPr>
          <p:cNvSpPr/>
          <p:nvPr/>
        </p:nvSpPr>
        <p:spPr bwMode="auto">
          <a:xfrm rot="1127902">
            <a:off x="5382289" y="677667"/>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Multi-level</a:t>
            </a:r>
            <a:r>
              <a:rPr kumimoji="1" lang="zh-CN" altLang="en-US" b="0" dirty="0">
                <a:latin typeface="Helvetica"/>
                <a:cs typeface="Helvetica"/>
              </a:rPr>
              <a:t> </a:t>
            </a:r>
            <a:r>
              <a:rPr kumimoji="1" lang="en-US" altLang="zh-CN" b="0" dirty="0">
                <a:latin typeface="Helvetica"/>
                <a:cs typeface="Helvetica"/>
              </a:rPr>
              <a:t>page</a:t>
            </a:r>
            <a:r>
              <a:rPr kumimoji="1" lang="zh-CN" altLang="en-US" b="0" dirty="0">
                <a:latin typeface="Helvetica"/>
                <a:cs typeface="Helvetica"/>
              </a:rPr>
              <a:t> </a:t>
            </a:r>
            <a:r>
              <a:rPr kumimoji="1" lang="en-US" altLang="zh-CN" b="0" dirty="0">
                <a:latin typeface="Helvetica"/>
                <a:cs typeface="Helvetica"/>
              </a:rPr>
              <a:t>tables</a:t>
            </a:r>
            <a:endParaRPr kumimoji="1" lang="zh-CN" altLang="en-US" b="0" dirty="0">
              <a:latin typeface="Helvetica"/>
              <a:cs typeface="Helvetica"/>
            </a:endParaRPr>
          </a:p>
        </p:txBody>
      </p:sp>
    </p:spTree>
    <p:extLst>
      <p:ext uri="{BB962C8B-B14F-4D97-AF65-F5344CB8AC3E}">
        <p14:creationId xmlns:p14="http://schemas.microsoft.com/office/powerpoint/2010/main" val="2318794182"/>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46740B6C-AB8C-BDA9-CE8C-049310F47A2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96702"/>
            <a:ext cx="9144000" cy="5464596"/>
          </a:xfrm>
          <a:prstGeom prst="rect">
            <a:avLst/>
          </a:prstGeom>
        </p:spPr>
      </p:pic>
      <p:sp>
        <p:nvSpPr>
          <p:cNvPr id="3" name="圆角矩形 2">
            <a:extLst>
              <a:ext uri="{FF2B5EF4-FFF2-40B4-BE49-F238E27FC236}">
                <a16:creationId xmlns:a16="http://schemas.microsoft.com/office/drawing/2014/main" id="{4EA16D63-EF88-E54B-5794-3D569F986B7C}"/>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Large</a:t>
            </a:r>
            <a:r>
              <a:rPr kumimoji="1" lang="zh-CN" altLang="en-US" b="0" dirty="0">
                <a:latin typeface="Helvetica"/>
                <a:cs typeface="Helvetica"/>
              </a:rPr>
              <a:t> </a:t>
            </a:r>
            <a:r>
              <a:rPr kumimoji="1" lang="en-US" altLang="zh-CN" b="0" dirty="0">
                <a:latin typeface="Helvetica"/>
                <a:cs typeface="Helvetica"/>
              </a:rPr>
              <a:t>files</a:t>
            </a:r>
            <a:r>
              <a:rPr kumimoji="1" lang="zh-CN" altLang="en-US" b="0" dirty="0">
                <a:latin typeface="Helvetica"/>
                <a:cs typeface="Helvetica"/>
              </a:rPr>
              <a:t> </a:t>
            </a:r>
            <a:r>
              <a:rPr kumimoji="1" lang="en-US" altLang="zh-CN" b="0" dirty="0">
                <a:latin typeface="Helvetica"/>
                <a:cs typeface="Helvetica"/>
              </a:rPr>
              <a:t>vs.</a:t>
            </a:r>
            <a:r>
              <a:rPr kumimoji="1" lang="zh-CN" altLang="en-US" b="0" dirty="0">
                <a:latin typeface="Helvetica"/>
                <a:cs typeface="Helvetica"/>
              </a:rPr>
              <a:t> </a:t>
            </a:r>
            <a:r>
              <a:rPr kumimoji="1" lang="en-US" altLang="zh-CN" b="0" dirty="0">
                <a:latin typeface="Helvetica"/>
                <a:cs typeface="Helvetica"/>
              </a:rPr>
              <a:t>small</a:t>
            </a:r>
            <a:r>
              <a:rPr kumimoji="1" lang="zh-CN" altLang="en-US" b="0" dirty="0">
                <a:latin typeface="Helvetica"/>
                <a:cs typeface="Helvetica"/>
              </a:rPr>
              <a:t> </a:t>
            </a:r>
            <a:r>
              <a:rPr kumimoji="1" lang="en-US" altLang="zh-CN" b="0" dirty="0">
                <a:latin typeface="Helvetica"/>
                <a:cs typeface="Helvetica"/>
              </a:rPr>
              <a:t>files</a:t>
            </a:r>
          </a:p>
        </p:txBody>
      </p:sp>
      <p:sp>
        <p:nvSpPr>
          <p:cNvPr id="2" name="圆角矩形 1">
            <a:extLst>
              <a:ext uri="{FF2B5EF4-FFF2-40B4-BE49-F238E27FC236}">
                <a16:creationId xmlns:a16="http://schemas.microsoft.com/office/drawing/2014/main" id="{E3FE2483-83C4-A007-2785-44F82228E941}"/>
              </a:ext>
            </a:extLst>
          </p:cNvPr>
          <p:cNvSpPr/>
          <p:nvPr/>
        </p:nvSpPr>
        <p:spPr bwMode="auto">
          <a:xfrm rot="1127902">
            <a:off x="5382289" y="677667"/>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err="1">
                <a:latin typeface="Helvetica"/>
                <a:cs typeface="Helvetica"/>
              </a:rPr>
              <a:t>iNode</a:t>
            </a:r>
            <a:endParaRPr kumimoji="1" lang="zh-CN" altLang="en-US" b="0" dirty="0">
              <a:latin typeface="Helvetica"/>
              <a:cs typeface="Helvetica"/>
            </a:endParaRPr>
          </a:p>
        </p:txBody>
      </p:sp>
    </p:spTree>
    <p:extLst>
      <p:ext uri="{BB962C8B-B14F-4D97-AF65-F5344CB8AC3E}">
        <p14:creationId xmlns:p14="http://schemas.microsoft.com/office/powerpoint/2010/main" val="3925363917"/>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3">
            <a:extLst>
              <a:ext uri="{FF2B5EF4-FFF2-40B4-BE49-F238E27FC236}">
                <a16:creationId xmlns:a16="http://schemas.microsoft.com/office/drawing/2014/main" id="{5E42850F-3B23-8A8D-2497-004D6B62CD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0601"/>
            <a:ext cx="9144000" cy="5576797"/>
          </a:xfrm>
          <a:prstGeom prst="rect">
            <a:avLst/>
          </a:prstGeom>
        </p:spPr>
      </p:pic>
      <p:sp>
        <p:nvSpPr>
          <p:cNvPr id="3" name="圆角矩形 2">
            <a:extLst>
              <a:ext uri="{FF2B5EF4-FFF2-40B4-BE49-F238E27FC236}">
                <a16:creationId xmlns:a16="http://schemas.microsoft.com/office/drawing/2014/main" id="{A2CB1F1D-54C8-66EA-268B-80CB59D43563}"/>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Reduce</a:t>
            </a:r>
            <a:r>
              <a:rPr kumimoji="1" lang="zh-CN" altLang="en-US" b="0" dirty="0">
                <a:latin typeface="Helvetica"/>
                <a:cs typeface="Helvetica"/>
              </a:rPr>
              <a:t> </a:t>
            </a:r>
            <a:r>
              <a:rPr kumimoji="1" lang="en-US" altLang="zh-CN" b="0" dirty="0">
                <a:latin typeface="Helvetica"/>
                <a:cs typeface="Helvetica"/>
              </a:rPr>
              <a:t>management</a:t>
            </a:r>
            <a:r>
              <a:rPr kumimoji="1" lang="zh-CN" altLang="en-US" b="0" dirty="0">
                <a:latin typeface="Helvetica"/>
                <a:cs typeface="Helvetica"/>
              </a:rPr>
              <a:t> </a:t>
            </a:r>
            <a:r>
              <a:rPr kumimoji="1" lang="en-US" altLang="zh-CN" b="0" dirty="0">
                <a:latin typeface="Helvetica"/>
                <a:cs typeface="Helvetica"/>
              </a:rPr>
              <a:t>overhead:</a:t>
            </a:r>
            <a:r>
              <a:rPr kumimoji="1" lang="zh-CN" altLang="en-US" b="0" dirty="0">
                <a:latin typeface="Helvetica"/>
                <a:cs typeface="Helvetica"/>
              </a:rPr>
              <a:t> </a:t>
            </a:r>
            <a:r>
              <a:rPr kumimoji="1" lang="en-US" altLang="zh-CN" b="0" dirty="0">
                <a:latin typeface="Helvetica"/>
                <a:cs typeface="Helvetica"/>
              </a:rPr>
              <a:t>indices</a:t>
            </a:r>
          </a:p>
        </p:txBody>
      </p:sp>
      <p:sp>
        <p:nvSpPr>
          <p:cNvPr id="2" name="圆角矩形 1">
            <a:extLst>
              <a:ext uri="{FF2B5EF4-FFF2-40B4-BE49-F238E27FC236}">
                <a16:creationId xmlns:a16="http://schemas.microsoft.com/office/drawing/2014/main" id="{3E45DA99-AC5C-9E6F-1957-9C54E0D72FDF}"/>
              </a:ext>
            </a:extLst>
          </p:cNvPr>
          <p:cNvSpPr/>
          <p:nvPr/>
        </p:nvSpPr>
        <p:spPr bwMode="auto">
          <a:xfrm rot="1127902">
            <a:off x="5382289" y="677667"/>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bitmap</a:t>
            </a:r>
            <a:endParaRPr kumimoji="1" lang="zh-CN" altLang="en-US" b="0" dirty="0">
              <a:latin typeface="Helvetica"/>
              <a:cs typeface="Helvetica"/>
            </a:endParaRPr>
          </a:p>
        </p:txBody>
      </p:sp>
    </p:spTree>
    <p:extLst>
      <p:ext uri="{BB962C8B-B14F-4D97-AF65-F5344CB8AC3E}">
        <p14:creationId xmlns:p14="http://schemas.microsoft.com/office/powerpoint/2010/main" val="24655798"/>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Wr</a:t>
            </a:r>
            <a:r>
              <a:rPr lang="en-US" altLang="zh-CN" dirty="0"/>
              <a:t>ite-ahead</a:t>
            </a:r>
            <a:r>
              <a:rPr lang="zh-CN" altLang="en-US" dirty="0"/>
              <a:t> </a:t>
            </a:r>
            <a:r>
              <a:rPr lang="en-US" altLang="zh-CN" dirty="0"/>
              <a:t>logs</a:t>
            </a:r>
            <a:endParaRPr lang="en-US" dirty="0"/>
          </a:p>
        </p:txBody>
      </p:sp>
      <p:sp>
        <p:nvSpPr>
          <p:cNvPr id="9" name="Content Placeholder 8"/>
          <p:cNvSpPr>
            <a:spLocks noGrp="1"/>
          </p:cNvSpPr>
          <p:nvPr>
            <p:ph idx="1"/>
          </p:nvPr>
        </p:nvSpPr>
        <p:spPr>
          <a:xfrm>
            <a:off x="457200" y="1108316"/>
            <a:ext cx="4350995" cy="3828731"/>
          </a:xfrm>
        </p:spPr>
        <p:txBody>
          <a:bodyPr>
            <a:normAutofit/>
          </a:bodyPr>
          <a:lstStyle/>
          <a:p>
            <a:r>
              <a:rPr lang="en-US" dirty="0"/>
              <a:t>Scan log, find start</a:t>
            </a:r>
          </a:p>
          <a:p>
            <a:pPr lvl="1"/>
            <a:endParaRPr lang="en-US" sz="2400" dirty="0"/>
          </a:p>
          <a:p>
            <a:r>
              <a:rPr lang="en-US" dirty="0"/>
              <a:t>Find matching commit</a:t>
            </a:r>
          </a:p>
          <a:p>
            <a:pPr lvl="1"/>
            <a:endParaRPr lang="en-US" sz="2400" dirty="0"/>
          </a:p>
          <a:p>
            <a:r>
              <a:rPr lang="en-US" dirty="0"/>
              <a:t>Redo it as usual</a:t>
            </a:r>
          </a:p>
          <a:p>
            <a:pPr lvl="1"/>
            <a:r>
              <a:rPr lang="en-US" sz="2000" dirty="0"/>
              <a:t>Or just let it happen later</a:t>
            </a:r>
          </a:p>
          <a:p>
            <a:endParaRPr lang="en-US" dirty="0"/>
          </a:p>
        </p:txBody>
      </p:sp>
      <p:sp>
        <p:nvSpPr>
          <p:cNvPr id="10" name="Can 9"/>
          <p:cNvSpPr/>
          <p:nvPr/>
        </p:nvSpPr>
        <p:spPr>
          <a:xfrm>
            <a:off x="5609996" y="1622297"/>
            <a:ext cx="2099734" cy="3048000"/>
          </a:xfrm>
          <a:prstGeom prst="can">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8" name="TextBox 17"/>
          <p:cNvSpPr txBox="1"/>
          <p:nvPr/>
        </p:nvSpPr>
        <p:spPr>
          <a:xfrm>
            <a:off x="7780819" y="2843640"/>
            <a:ext cx="1287532" cy="369332"/>
          </a:xfrm>
          <a:prstGeom prst="rect">
            <a:avLst/>
          </a:prstGeom>
          <a:noFill/>
        </p:spPr>
        <p:txBody>
          <a:bodyPr wrap="none" rtlCol="0">
            <a:spAutoFit/>
          </a:bodyPr>
          <a:lstStyle/>
          <a:p>
            <a:r>
              <a:rPr lang="en-US" b="0" dirty="0">
                <a:latin typeface="Gill Sans" charset="0"/>
                <a:ea typeface="Gill Sans" charset="0"/>
                <a:cs typeface="Gill Sans" charset="0"/>
              </a:rPr>
              <a:t>Data blocks</a:t>
            </a:r>
          </a:p>
        </p:txBody>
      </p:sp>
      <p:sp>
        <p:nvSpPr>
          <p:cNvPr id="20" name="TextBox 19"/>
          <p:cNvSpPr txBox="1"/>
          <p:nvPr/>
        </p:nvSpPr>
        <p:spPr>
          <a:xfrm>
            <a:off x="7850854" y="2123750"/>
            <a:ext cx="1293146" cy="646331"/>
          </a:xfrm>
          <a:prstGeom prst="rect">
            <a:avLst/>
          </a:prstGeom>
          <a:noFill/>
        </p:spPr>
        <p:txBody>
          <a:bodyPr wrap="square" rtlCol="0">
            <a:spAutoFit/>
          </a:bodyPr>
          <a:lstStyle/>
          <a:p>
            <a:r>
              <a:rPr lang="en-US" b="0" dirty="0">
                <a:latin typeface="Gill Sans" charset="0"/>
                <a:ea typeface="Gill Sans" charset="0"/>
                <a:cs typeface="Gill Sans" charset="0"/>
              </a:rPr>
              <a:t>Free space map</a:t>
            </a:r>
          </a:p>
        </p:txBody>
      </p:sp>
      <p:grpSp>
        <p:nvGrpSpPr>
          <p:cNvPr id="21" name="Group 20"/>
          <p:cNvGrpSpPr/>
          <p:nvPr/>
        </p:nvGrpSpPr>
        <p:grpSpPr>
          <a:xfrm rot="16200000">
            <a:off x="6455590" y="2028473"/>
            <a:ext cx="415498" cy="1802120"/>
            <a:chOff x="7569976" y="1270135"/>
            <a:chExt cx="415498" cy="1802120"/>
          </a:xfrm>
        </p:grpSpPr>
        <p:sp>
          <p:nvSpPr>
            <p:cNvPr id="22" name="Rectangle 21"/>
            <p:cNvSpPr/>
            <p:nvPr/>
          </p:nvSpPr>
          <p:spPr>
            <a:xfrm>
              <a:off x="7605706" y="1270135"/>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3" name="Rectangle 22"/>
            <p:cNvSpPr/>
            <p:nvPr/>
          </p:nvSpPr>
          <p:spPr>
            <a:xfrm>
              <a:off x="7605706" y="1591319"/>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4" name="Rectangle 23"/>
            <p:cNvSpPr/>
            <p:nvPr/>
          </p:nvSpPr>
          <p:spPr>
            <a:xfrm>
              <a:off x="7605706" y="189790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5" name="Rectangle 24"/>
            <p:cNvSpPr/>
            <p:nvPr/>
          </p:nvSpPr>
          <p:spPr>
            <a:xfrm>
              <a:off x="7605706" y="2219088"/>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6" name="Rectangle 25"/>
            <p:cNvSpPr/>
            <p:nvPr/>
          </p:nvSpPr>
          <p:spPr>
            <a:xfrm>
              <a:off x="7605706" y="2751071"/>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7" name="TextBox 26"/>
            <p:cNvSpPr txBox="1"/>
            <p:nvPr/>
          </p:nvSpPr>
          <p:spPr>
            <a:xfrm>
              <a:off x="7569976" y="2425537"/>
              <a:ext cx="415498" cy="369332"/>
            </a:xfrm>
            <a:prstGeom prst="rect">
              <a:avLst/>
            </a:prstGeom>
            <a:noFill/>
          </p:spPr>
          <p:txBody>
            <a:bodyPr wrap="none" rtlCol="0">
              <a:spAutoFit/>
            </a:bodyPr>
            <a:lstStyle/>
            <a:p>
              <a:r>
                <a:rPr lang="en-US" b="0" dirty="0">
                  <a:latin typeface="Gill Sans" charset="0"/>
                  <a:ea typeface="Gill Sans" charset="0"/>
                  <a:cs typeface="Gill Sans" charset="0"/>
                </a:rPr>
                <a:t>…</a:t>
              </a:r>
            </a:p>
          </p:txBody>
        </p:sp>
      </p:grpSp>
      <p:grpSp>
        <p:nvGrpSpPr>
          <p:cNvPr id="35" name="Group 34"/>
          <p:cNvGrpSpPr/>
          <p:nvPr/>
        </p:nvGrpSpPr>
        <p:grpSpPr>
          <a:xfrm>
            <a:off x="6500681" y="2308416"/>
            <a:ext cx="640069" cy="121398"/>
            <a:chOff x="2607047" y="2031999"/>
            <a:chExt cx="1270137" cy="364957"/>
          </a:xfrm>
        </p:grpSpPr>
        <p:sp>
          <p:nvSpPr>
            <p:cNvPr id="29" name="Rectangle 28"/>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0" name="Rectangle 29"/>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1" name="Rectangle 30"/>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2" name="Rectangle 31"/>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36" name="Group 35"/>
          <p:cNvGrpSpPr/>
          <p:nvPr/>
        </p:nvGrpSpPr>
        <p:grpSpPr>
          <a:xfrm>
            <a:off x="7140750" y="2308416"/>
            <a:ext cx="640069" cy="121398"/>
            <a:chOff x="2607047" y="2031999"/>
            <a:chExt cx="1270137" cy="364957"/>
          </a:xfrm>
        </p:grpSpPr>
        <p:sp>
          <p:nvSpPr>
            <p:cNvPr id="37" name="Rectangle 3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8" name="Rectangle 3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39" name="Rectangle 3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0" name="Rectangle 3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1" name="Group 40"/>
          <p:cNvGrpSpPr/>
          <p:nvPr/>
        </p:nvGrpSpPr>
        <p:grpSpPr>
          <a:xfrm>
            <a:off x="5219534" y="2308416"/>
            <a:ext cx="640069" cy="121398"/>
            <a:chOff x="2607047" y="2031999"/>
            <a:chExt cx="1270137" cy="364957"/>
          </a:xfrm>
        </p:grpSpPr>
        <p:sp>
          <p:nvSpPr>
            <p:cNvPr id="42" name="Rectangle 41"/>
            <p:cNvSpPr/>
            <p:nvPr/>
          </p:nvSpPr>
          <p:spPr>
            <a:xfrm rot="16200000">
              <a:off x="2585160"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3" name="Rectangle 42"/>
            <p:cNvSpPr/>
            <p:nvPr/>
          </p:nvSpPr>
          <p:spPr>
            <a:xfrm rot="16200000">
              <a:off x="2906344"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4" name="Rectangle 43"/>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5" name="Rectangle 44"/>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46" name="Group 45"/>
          <p:cNvGrpSpPr/>
          <p:nvPr/>
        </p:nvGrpSpPr>
        <p:grpSpPr>
          <a:xfrm>
            <a:off x="5859603" y="2308416"/>
            <a:ext cx="640069" cy="121398"/>
            <a:chOff x="2607047" y="2031999"/>
            <a:chExt cx="1270137" cy="364957"/>
          </a:xfrm>
        </p:grpSpPr>
        <p:sp>
          <p:nvSpPr>
            <p:cNvPr id="47" name="Rectangle 4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8" name="Rectangle 4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49" name="Rectangle 48"/>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0" name="Rectangle 49"/>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69" name="Rectangle 68"/>
          <p:cNvSpPr/>
          <p:nvPr/>
        </p:nvSpPr>
        <p:spPr>
          <a:xfrm rot="16200000">
            <a:off x="708732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0" name="Rectangle 69"/>
          <p:cNvSpPr/>
          <p:nvPr/>
        </p:nvSpPr>
        <p:spPr>
          <a:xfrm rot="16200000">
            <a:off x="7328240"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1" name="Rectangle 70"/>
          <p:cNvSpPr/>
          <p:nvPr/>
        </p:nvSpPr>
        <p:spPr>
          <a:xfrm rot="16200000">
            <a:off x="7558209" y="3342493"/>
            <a:ext cx="242349" cy="240920"/>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nvGrpSpPr>
          <p:cNvPr id="55" name="Group 54"/>
          <p:cNvGrpSpPr/>
          <p:nvPr/>
        </p:nvGrpSpPr>
        <p:grpSpPr>
          <a:xfrm>
            <a:off x="5181077" y="3341778"/>
            <a:ext cx="952728" cy="242349"/>
            <a:chOff x="2607047" y="2031999"/>
            <a:chExt cx="1270137" cy="364957"/>
          </a:xfrm>
        </p:grpSpPr>
        <p:sp>
          <p:nvSpPr>
            <p:cNvPr id="61" name="Rectangle 60"/>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2" name="Rectangle 61"/>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3" name="Rectangle 62"/>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4" name="Rectangle 63"/>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56" name="Group 55"/>
          <p:cNvGrpSpPr/>
          <p:nvPr/>
        </p:nvGrpSpPr>
        <p:grpSpPr>
          <a:xfrm>
            <a:off x="6133805" y="3341778"/>
            <a:ext cx="952728" cy="242349"/>
            <a:chOff x="2607047" y="2031999"/>
            <a:chExt cx="1270137" cy="364957"/>
          </a:xfrm>
        </p:grpSpPr>
        <p:sp>
          <p:nvSpPr>
            <p:cNvPr id="57" name="Rectangle 56"/>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8" name="Rectangle 57"/>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59" name="Rectangle 58"/>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0" name="Rectangle 59"/>
            <p:cNvSpPr/>
            <p:nvPr/>
          </p:nvSpPr>
          <p:spPr>
            <a:xfrm rot="16200000">
              <a:off x="3534113"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73" name="TextBox 72"/>
          <p:cNvSpPr txBox="1"/>
          <p:nvPr/>
        </p:nvSpPr>
        <p:spPr>
          <a:xfrm>
            <a:off x="7884929" y="3284702"/>
            <a:ext cx="1251139" cy="369332"/>
          </a:xfrm>
          <a:prstGeom prst="rect">
            <a:avLst/>
          </a:prstGeom>
          <a:noFill/>
        </p:spPr>
        <p:txBody>
          <a:bodyPr wrap="none" rtlCol="0">
            <a:spAutoFit/>
          </a:bodyPr>
          <a:lstStyle/>
          <a:p>
            <a:r>
              <a:rPr lang="en-US" b="0" dirty="0" err="1">
                <a:latin typeface="Gill Sans" charset="0"/>
                <a:ea typeface="Gill Sans" charset="0"/>
                <a:cs typeface="Gill Sans" charset="0"/>
              </a:rPr>
              <a:t>Inode</a:t>
            </a:r>
            <a:r>
              <a:rPr lang="en-US" b="0" dirty="0">
                <a:latin typeface="Gill Sans" charset="0"/>
                <a:ea typeface="Gill Sans" charset="0"/>
                <a:cs typeface="Gill Sans" charset="0"/>
              </a:rPr>
              <a:t> table</a:t>
            </a:r>
          </a:p>
        </p:txBody>
      </p:sp>
      <p:grpSp>
        <p:nvGrpSpPr>
          <p:cNvPr id="83" name="Group 82"/>
          <p:cNvGrpSpPr/>
          <p:nvPr/>
        </p:nvGrpSpPr>
        <p:grpSpPr>
          <a:xfrm>
            <a:off x="5945908" y="3708339"/>
            <a:ext cx="1457827" cy="761444"/>
            <a:chOff x="1744000" y="2182577"/>
            <a:chExt cx="1430729" cy="918973"/>
          </a:xfrm>
        </p:grpSpPr>
        <p:sp>
          <p:nvSpPr>
            <p:cNvPr id="75" name="Rectangle 74"/>
            <p:cNvSpPr/>
            <p:nvPr/>
          </p:nvSpPr>
          <p:spPr>
            <a:xfrm rot="16200000">
              <a:off x="1882705"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6" name="Rectangle 75"/>
            <p:cNvSpPr/>
            <p:nvPr/>
          </p:nvSpPr>
          <p:spPr>
            <a:xfrm rot="16200000">
              <a:off x="2203889"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7" name="Rectangle 76"/>
            <p:cNvSpPr/>
            <p:nvPr/>
          </p:nvSpPr>
          <p:spPr>
            <a:xfrm rot="16200000">
              <a:off x="2510474"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8" name="Rectangle 77"/>
            <p:cNvSpPr/>
            <p:nvPr/>
          </p:nvSpPr>
          <p:spPr>
            <a:xfrm rot="16200000">
              <a:off x="2831658" y="2758480"/>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79" name="Rectangle 78"/>
            <p:cNvSpPr/>
            <p:nvPr/>
          </p:nvSpPr>
          <p:spPr>
            <a:xfrm rot="16200000">
              <a:off x="2781130"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1" name="Rectangle 80"/>
            <p:cNvSpPr/>
            <p:nvPr/>
          </p:nvSpPr>
          <p:spPr>
            <a:xfrm rot="16200000">
              <a:off x="1722113" y="220446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2" name="Rectangle 81"/>
            <p:cNvSpPr/>
            <p:nvPr/>
          </p:nvSpPr>
          <p:spPr>
            <a:xfrm rot="16200000">
              <a:off x="2206034" y="2234544"/>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84" name="TextBox 83"/>
          <p:cNvSpPr txBox="1"/>
          <p:nvPr/>
        </p:nvSpPr>
        <p:spPr>
          <a:xfrm>
            <a:off x="7892861" y="3982719"/>
            <a:ext cx="1110047" cy="646331"/>
          </a:xfrm>
          <a:prstGeom prst="rect">
            <a:avLst/>
          </a:prstGeom>
          <a:noFill/>
        </p:spPr>
        <p:txBody>
          <a:bodyPr wrap="none" rtlCol="0">
            <a:spAutoFit/>
          </a:bodyPr>
          <a:lstStyle/>
          <a:p>
            <a:r>
              <a:rPr lang="en-US" b="0" dirty="0">
                <a:latin typeface="Gill Sans" charset="0"/>
                <a:ea typeface="Gill Sans" charset="0"/>
                <a:cs typeface="Gill Sans" charset="0"/>
              </a:rPr>
              <a:t>Directory</a:t>
            </a:r>
          </a:p>
          <a:p>
            <a:r>
              <a:rPr lang="en-US" b="0" dirty="0">
                <a:latin typeface="Gill Sans" charset="0"/>
                <a:ea typeface="Gill Sans" charset="0"/>
                <a:cs typeface="Gill Sans" charset="0"/>
              </a:rPr>
              <a:t>entries</a:t>
            </a:r>
          </a:p>
        </p:txBody>
      </p:sp>
      <p:sp>
        <p:nvSpPr>
          <p:cNvPr id="86" name="Rectangle 85"/>
          <p:cNvSpPr/>
          <p:nvPr/>
        </p:nvSpPr>
        <p:spPr>
          <a:xfrm rot="16200000">
            <a:off x="6114238" y="3352203"/>
            <a:ext cx="242349" cy="240920"/>
          </a:xfrm>
          <a:prstGeom prst="rect">
            <a:avLst/>
          </a:prstGeom>
          <a:solidFill>
            <a:srgbClr val="FFFF00">
              <a:alpha val="16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88" name="Rectangle 87"/>
          <p:cNvSpPr/>
          <p:nvPr/>
        </p:nvSpPr>
        <p:spPr>
          <a:xfrm rot="16200000">
            <a:off x="6778696" y="4154950"/>
            <a:ext cx="302397" cy="327267"/>
          </a:xfrm>
          <a:prstGeom prst="rect">
            <a:avLst/>
          </a:prstGeom>
          <a:solidFill>
            <a:srgbClr val="FFFF00">
              <a:alpha val="2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66" name="Rectangle 65"/>
          <p:cNvSpPr/>
          <p:nvPr/>
        </p:nvSpPr>
        <p:spPr>
          <a:xfrm>
            <a:off x="756351" y="5336575"/>
            <a:ext cx="7930449" cy="623473"/>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2" name="TextBox 1"/>
          <p:cNvSpPr txBox="1"/>
          <p:nvPr/>
        </p:nvSpPr>
        <p:spPr>
          <a:xfrm>
            <a:off x="1019736" y="6229290"/>
            <a:ext cx="5355953" cy="400110"/>
          </a:xfrm>
          <a:prstGeom prst="rect">
            <a:avLst/>
          </a:prstGeom>
          <a:noFill/>
        </p:spPr>
        <p:txBody>
          <a:bodyPr wrap="none" rtlCol="0">
            <a:spAutoFit/>
          </a:bodyPr>
          <a:lstStyle/>
          <a:p>
            <a:r>
              <a:rPr lang="en-US" sz="2000" b="0" dirty="0">
                <a:latin typeface="Gill Sans" charset="0"/>
                <a:ea typeface="Gill Sans" charset="0"/>
                <a:cs typeface="Gill Sans" charset="0"/>
              </a:rPr>
              <a:t>Log: in non-volatile storage (Flash or on Disk)</a:t>
            </a:r>
          </a:p>
        </p:txBody>
      </p:sp>
      <p:sp>
        <p:nvSpPr>
          <p:cNvPr id="3" name="TextBox 2"/>
          <p:cNvSpPr txBox="1"/>
          <p:nvPr/>
        </p:nvSpPr>
        <p:spPr>
          <a:xfrm>
            <a:off x="8177156" y="4629050"/>
            <a:ext cx="624578" cy="369332"/>
          </a:xfrm>
          <a:prstGeom prst="rect">
            <a:avLst/>
          </a:prstGeom>
          <a:noFill/>
        </p:spPr>
        <p:txBody>
          <a:bodyPr wrap="none" rtlCol="0">
            <a:spAutoFit/>
          </a:bodyPr>
          <a:lstStyle/>
          <a:p>
            <a:r>
              <a:rPr lang="en-US" b="0" dirty="0">
                <a:solidFill>
                  <a:srgbClr val="FF0000"/>
                </a:solidFill>
                <a:latin typeface="Gill Sans" charset="0"/>
                <a:ea typeface="Gill Sans" charset="0"/>
                <a:cs typeface="Gill Sans" charset="0"/>
              </a:rPr>
              <a:t>head</a:t>
            </a:r>
          </a:p>
        </p:txBody>
      </p:sp>
      <p:cxnSp>
        <p:nvCxnSpPr>
          <p:cNvPr id="11" name="Straight Arrow Connector 10"/>
          <p:cNvCxnSpPr>
            <a:stCxn id="3" idx="2"/>
          </p:cNvCxnSpPr>
          <p:nvPr/>
        </p:nvCxnSpPr>
        <p:spPr>
          <a:xfrm>
            <a:off x="8489445" y="4998382"/>
            <a:ext cx="1669" cy="296947"/>
          </a:xfrm>
          <a:prstGeom prst="straightConnector1">
            <a:avLst/>
          </a:prstGeom>
          <a:ln>
            <a:solidFill>
              <a:srgbClr val="FC230C"/>
            </a:solidFill>
            <a:tailEnd type="arrow"/>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797878" y="4670297"/>
            <a:ext cx="461986" cy="369332"/>
          </a:xfrm>
          <a:prstGeom prst="rect">
            <a:avLst/>
          </a:prstGeom>
          <a:noFill/>
        </p:spPr>
        <p:txBody>
          <a:bodyPr wrap="none" rtlCol="0">
            <a:spAutoFit/>
          </a:bodyPr>
          <a:lstStyle/>
          <a:p>
            <a:r>
              <a:rPr lang="en-US" b="0" dirty="0">
                <a:latin typeface="Gill Sans" charset="0"/>
                <a:ea typeface="Gill Sans" charset="0"/>
                <a:cs typeface="Gill Sans" charset="0"/>
              </a:rPr>
              <a:t>tail</a:t>
            </a:r>
          </a:p>
        </p:txBody>
      </p:sp>
      <p:cxnSp>
        <p:nvCxnSpPr>
          <p:cNvPr id="74" name="Straight Arrow Connector 73"/>
          <p:cNvCxnSpPr>
            <a:stCxn id="72" idx="2"/>
          </p:cNvCxnSpPr>
          <p:nvPr/>
        </p:nvCxnSpPr>
        <p:spPr>
          <a:xfrm>
            <a:off x="3028871" y="5039629"/>
            <a:ext cx="82965" cy="2969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3111835" y="5346286"/>
            <a:ext cx="1583250" cy="613762"/>
          </a:xfrm>
          <a:prstGeom prst="rect">
            <a:avLst/>
          </a:prstGeom>
          <a:solidFill>
            <a:schemeClr val="accent6">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0" name="TextBox 89"/>
          <p:cNvSpPr txBox="1"/>
          <p:nvPr/>
        </p:nvSpPr>
        <p:spPr>
          <a:xfrm>
            <a:off x="3434873" y="5346286"/>
            <a:ext cx="902811" cy="369332"/>
          </a:xfrm>
          <a:prstGeom prst="rect">
            <a:avLst/>
          </a:prstGeom>
          <a:noFill/>
        </p:spPr>
        <p:txBody>
          <a:bodyPr wrap="none" rtlCol="0">
            <a:spAutoFit/>
          </a:bodyPr>
          <a:lstStyle/>
          <a:p>
            <a:r>
              <a:rPr lang="en-US" b="0" dirty="0">
                <a:latin typeface="Gill Sans" charset="0"/>
                <a:ea typeface="Gill Sans" charset="0"/>
                <a:cs typeface="Gill Sans" charset="0"/>
              </a:rPr>
              <a:t>pending</a:t>
            </a:r>
          </a:p>
        </p:txBody>
      </p:sp>
      <p:sp>
        <p:nvSpPr>
          <p:cNvPr id="91" name="TextBox 90"/>
          <p:cNvSpPr txBox="1"/>
          <p:nvPr/>
        </p:nvSpPr>
        <p:spPr>
          <a:xfrm>
            <a:off x="2026450" y="5349778"/>
            <a:ext cx="663801" cy="369332"/>
          </a:xfrm>
          <a:prstGeom prst="rect">
            <a:avLst/>
          </a:prstGeom>
          <a:noFill/>
        </p:spPr>
        <p:txBody>
          <a:bodyPr wrap="none" rtlCol="0">
            <a:spAutoFit/>
          </a:bodyPr>
          <a:lstStyle/>
          <a:p>
            <a:r>
              <a:rPr lang="en-US" b="0" dirty="0">
                <a:latin typeface="Gill Sans" charset="0"/>
                <a:ea typeface="Gill Sans" charset="0"/>
                <a:cs typeface="Gill Sans" charset="0"/>
              </a:rPr>
              <a:t>done</a:t>
            </a:r>
          </a:p>
        </p:txBody>
      </p:sp>
      <p:sp>
        <p:nvSpPr>
          <p:cNvPr id="12" name="TextBox 11"/>
          <p:cNvSpPr txBox="1"/>
          <p:nvPr/>
        </p:nvSpPr>
        <p:spPr>
          <a:xfrm rot="16200000">
            <a:off x="4581774" y="5465041"/>
            <a:ext cx="620683"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start</a:t>
            </a:r>
          </a:p>
        </p:txBody>
      </p:sp>
      <p:grpSp>
        <p:nvGrpSpPr>
          <p:cNvPr id="16" name="Group 15"/>
          <p:cNvGrpSpPr/>
          <p:nvPr/>
        </p:nvGrpSpPr>
        <p:grpSpPr>
          <a:xfrm>
            <a:off x="5076782" y="2429814"/>
            <a:ext cx="816103" cy="3530235"/>
            <a:chOff x="5076782" y="2429814"/>
            <a:chExt cx="816103" cy="3530235"/>
          </a:xfrm>
        </p:grpSpPr>
        <p:grpSp>
          <p:nvGrpSpPr>
            <p:cNvPr id="13" name="Group 12"/>
            <p:cNvGrpSpPr/>
            <p:nvPr/>
          </p:nvGrpSpPr>
          <p:grpSpPr>
            <a:xfrm>
              <a:off x="5135148" y="5628477"/>
              <a:ext cx="640069" cy="131108"/>
              <a:chOff x="5252815" y="1247958"/>
              <a:chExt cx="640069" cy="131108"/>
            </a:xfrm>
          </p:grpSpPr>
          <p:grpSp>
            <p:nvGrpSpPr>
              <p:cNvPr id="92" name="Group 91"/>
              <p:cNvGrpSpPr/>
              <p:nvPr/>
            </p:nvGrpSpPr>
            <p:grpSpPr>
              <a:xfrm>
                <a:off x="5252815" y="1247958"/>
                <a:ext cx="640069" cy="121398"/>
                <a:chOff x="2607047" y="2031999"/>
                <a:chExt cx="1270137" cy="364957"/>
              </a:xfrm>
            </p:grpSpPr>
            <p:sp>
              <p:nvSpPr>
                <p:cNvPr id="93" name="Rectangle 92"/>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4" name="Rectangle 93"/>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5" name="Rectangle 94"/>
                <p:cNvSpPr/>
                <p:nvPr/>
              </p:nvSpPr>
              <p:spPr>
                <a:xfrm rot="16200000">
                  <a:off x="3212929"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6" name="Rectangle 95"/>
                <p:cNvSpPr/>
                <p:nvPr/>
              </p:nvSpPr>
              <p:spPr>
                <a:xfrm rot="16200000">
                  <a:off x="3534113" y="2053886"/>
                  <a:ext cx="364957" cy="321184"/>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97" name="Rectangle 96"/>
              <p:cNvSpPr/>
              <p:nvPr/>
            </p:nvSpPr>
            <p:spPr>
              <a:xfrm rot="16200000">
                <a:off x="5282734" y="1237439"/>
                <a:ext cx="121398" cy="161856"/>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4" name="Rectangle 13"/>
            <p:cNvSpPr/>
            <p:nvPr/>
          </p:nvSpPr>
          <p:spPr>
            <a:xfrm>
              <a:off x="5076782" y="5349778"/>
              <a:ext cx="698435"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98" name="Freeform 97"/>
            <p:cNvSpPr/>
            <p:nvPr/>
          </p:nvSpPr>
          <p:spPr>
            <a:xfrm>
              <a:off x="5248206" y="2429814"/>
              <a:ext cx="644679" cy="3009496"/>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grpSp>
      <p:grpSp>
        <p:nvGrpSpPr>
          <p:cNvPr id="28" name="Group 27"/>
          <p:cNvGrpSpPr/>
          <p:nvPr/>
        </p:nvGrpSpPr>
        <p:grpSpPr>
          <a:xfrm>
            <a:off x="5786022" y="3654034"/>
            <a:ext cx="818671" cy="2301654"/>
            <a:chOff x="5786022" y="3654034"/>
            <a:chExt cx="818671" cy="2301654"/>
          </a:xfrm>
        </p:grpSpPr>
        <p:grpSp>
          <p:nvGrpSpPr>
            <p:cNvPr id="99" name="Group 98"/>
            <p:cNvGrpSpPr/>
            <p:nvPr/>
          </p:nvGrpSpPr>
          <p:grpSpPr>
            <a:xfrm>
              <a:off x="5892885" y="5589588"/>
              <a:ext cx="711808" cy="242349"/>
              <a:chOff x="2607047" y="2031999"/>
              <a:chExt cx="948953" cy="364957"/>
            </a:xfrm>
          </p:grpSpPr>
          <p:sp>
            <p:nvSpPr>
              <p:cNvPr id="100" name="Rectangle 99"/>
              <p:cNvSpPr/>
              <p:nvPr/>
            </p:nvSpPr>
            <p:spPr>
              <a:xfrm rot="16200000">
                <a:off x="2585160"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1" name="Rectangle 100"/>
              <p:cNvSpPr/>
              <p:nvPr/>
            </p:nvSpPr>
            <p:spPr>
              <a:xfrm rot="16200000">
                <a:off x="2906344"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2" name="Rectangle 101"/>
              <p:cNvSpPr/>
              <p:nvPr/>
            </p:nvSpPr>
            <p:spPr>
              <a:xfrm rot="16200000">
                <a:off x="3212929" y="2053886"/>
                <a:ext cx="364957" cy="321184"/>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sp>
          <p:nvSpPr>
            <p:cNvPr id="104" name="Rectangle 103"/>
            <p:cNvSpPr/>
            <p:nvPr/>
          </p:nvSpPr>
          <p:spPr>
            <a:xfrm rot="16200000">
              <a:off x="5873319" y="5600013"/>
              <a:ext cx="242349" cy="240920"/>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5" name="Freeform 104"/>
            <p:cNvSpPr/>
            <p:nvPr/>
          </p:nvSpPr>
          <p:spPr>
            <a:xfrm>
              <a:off x="5970966" y="3654034"/>
              <a:ext cx="212349" cy="2018098"/>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sp>
          <p:nvSpPr>
            <p:cNvPr id="108" name="Rectangle 107"/>
            <p:cNvSpPr/>
            <p:nvPr/>
          </p:nvSpPr>
          <p:spPr>
            <a:xfrm>
              <a:off x="5786022" y="5345417"/>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grpSp>
      <p:grpSp>
        <p:nvGrpSpPr>
          <p:cNvPr id="33" name="Group 32"/>
          <p:cNvGrpSpPr/>
          <p:nvPr/>
        </p:nvGrpSpPr>
        <p:grpSpPr>
          <a:xfrm>
            <a:off x="6500681" y="4469782"/>
            <a:ext cx="927883" cy="1480844"/>
            <a:chOff x="6500681" y="4469782"/>
            <a:chExt cx="927883" cy="1480844"/>
          </a:xfrm>
        </p:grpSpPr>
        <p:sp>
          <p:nvSpPr>
            <p:cNvPr id="106" name="Rectangle 105"/>
            <p:cNvSpPr/>
            <p:nvPr/>
          </p:nvSpPr>
          <p:spPr>
            <a:xfrm rot="16200000">
              <a:off x="6686856" y="5497369"/>
              <a:ext cx="302397" cy="327267"/>
            </a:xfrm>
            <a:prstGeom prst="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7" name="Rectangle 106"/>
            <p:cNvSpPr/>
            <p:nvPr/>
          </p:nvSpPr>
          <p:spPr>
            <a:xfrm rot="16200000">
              <a:off x="7014123" y="5500978"/>
              <a:ext cx="302397" cy="327267"/>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09" name="Rectangle 108"/>
            <p:cNvSpPr/>
            <p:nvPr/>
          </p:nvSpPr>
          <p:spPr>
            <a:xfrm>
              <a:off x="6609893" y="5340355"/>
              <a:ext cx="818671" cy="610271"/>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a:latin typeface="Gill Sans" charset="0"/>
                <a:ea typeface="Gill Sans" charset="0"/>
                <a:cs typeface="Gill Sans" charset="0"/>
              </a:endParaRPr>
            </a:p>
          </p:txBody>
        </p:sp>
        <p:sp>
          <p:nvSpPr>
            <p:cNvPr id="110" name="Freeform 109"/>
            <p:cNvSpPr/>
            <p:nvPr/>
          </p:nvSpPr>
          <p:spPr>
            <a:xfrm flipH="1">
              <a:off x="6500681" y="4469782"/>
              <a:ext cx="469611" cy="969527"/>
            </a:xfrm>
            <a:custGeom>
              <a:avLst/>
              <a:gdLst>
                <a:gd name="connsiteX0" fmla="*/ 14270 w 314088"/>
                <a:gd name="connsiteY0" fmla="*/ 485144 h 485144"/>
                <a:gd name="connsiteX1" fmla="*/ 28541 w 314088"/>
                <a:gd name="connsiteY1" fmla="*/ 242572 h 485144"/>
                <a:gd name="connsiteX2" fmla="*/ 271144 w 314088"/>
                <a:gd name="connsiteY2" fmla="*/ 214034 h 485144"/>
                <a:gd name="connsiteX3" fmla="*/ 313956 w 314088"/>
                <a:gd name="connsiteY3" fmla="*/ 0 h 485144"/>
                <a:gd name="connsiteX4" fmla="*/ 313956 w 314088"/>
                <a:gd name="connsiteY4" fmla="*/ 0 h 485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88" h="485144">
                  <a:moveTo>
                    <a:pt x="14270" y="485144"/>
                  </a:moveTo>
                  <a:cubicBezTo>
                    <a:pt x="-1" y="386450"/>
                    <a:pt x="-14271" y="287757"/>
                    <a:pt x="28541" y="242572"/>
                  </a:cubicBezTo>
                  <a:cubicBezTo>
                    <a:pt x="71353" y="197387"/>
                    <a:pt x="223575" y="254463"/>
                    <a:pt x="271144" y="214034"/>
                  </a:cubicBezTo>
                  <a:cubicBezTo>
                    <a:pt x="318713" y="173605"/>
                    <a:pt x="313956" y="0"/>
                    <a:pt x="313956" y="0"/>
                  </a:cubicBezTo>
                  <a:lnTo>
                    <a:pt x="313956" y="0"/>
                  </a:lnTo>
                </a:path>
              </a:pathLst>
            </a:custGeom>
            <a:ln>
              <a:solidFill>
                <a:srgbClr val="000090"/>
              </a:solidFill>
              <a:headEnd type="ova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0">
                <a:latin typeface="Gill Sans" charset="0"/>
                <a:ea typeface="Gill Sans" charset="0"/>
                <a:cs typeface="Gill Sans" charset="0"/>
              </a:endParaRPr>
            </a:p>
          </p:txBody>
        </p:sp>
      </p:grpSp>
      <p:sp>
        <p:nvSpPr>
          <p:cNvPr id="111" name="TextBox 110"/>
          <p:cNvSpPr txBox="1"/>
          <p:nvPr/>
        </p:nvSpPr>
        <p:spPr>
          <a:xfrm rot="16200000">
            <a:off x="7182036" y="5475454"/>
            <a:ext cx="903087" cy="369332"/>
          </a:xfrm>
          <a:prstGeom prst="rect">
            <a:avLst/>
          </a:prstGeom>
          <a:solidFill>
            <a:schemeClr val="accent3">
              <a:lumMod val="40000"/>
              <a:lumOff val="60000"/>
            </a:schemeClr>
          </a:solidFill>
          <a:ln>
            <a:solidFill>
              <a:srgbClr val="000090"/>
            </a:solidFill>
          </a:ln>
        </p:spPr>
        <p:txBody>
          <a:bodyPr wrap="none" rtlCol="0">
            <a:spAutoFit/>
          </a:bodyPr>
          <a:lstStyle/>
          <a:p>
            <a:r>
              <a:rPr lang="en-US" b="0" dirty="0">
                <a:latin typeface="Gill Sans" charset="0"/>
                <a:ea typeface="Gill Sans" charset="0"/>
                <a:cs typeface="Gill Sans" charset="0"/>
              </a:rPr>
              <a:t>commit</a:t>
            </a:r>
          </a:p>
        </p:txBody>
      </p:sp>
      <p:sp>
        <p:nvSpPr>
          <p:cNvPr id="103" name="圆角矩形 102">
            <a:extLst>
              <a:ext uri="{FF2B5EF4-FFF2-40B4-BE49-F238E27FC236}">
                <a16:creationId xmlns:a16="http://schemas.microsoft.com/office/drawing/2014/main" id="{B50FEE62-4837-B418-87F2-50BC34B1287C}"/>
              </a:ext>
            </a:extLst>
          </p:cNvPr>
          <p:cNvSpPr/>
          <p:nvPr/>
        </p:nvSpPr>
        <p:spPr bwMode="auto">
          <a:xfrm rot="20580792">
            <a:off x="7599" y="638539"/>
            <a:ext cx="3733800" cy="609600"/>
          </a:xfrm>
          <a:prstGeom prst="roundRect">
            <a:avLst/>
          </a:prstGeom>
          <a:gradFill>
            <a:gsLst>
              <a:gs pos="0">
                <a:schemeClr val="accent1">
                  <a:tint val="100000"/>
                  <a:shade val="100000"/>
                  <a:satMod val="130000"/>
                  <a:alpha val="0"/>
                </a:schemeClr>
              </a:gs>
              <a:gs pos="100000">
                <a:schemeClr val="accent1">
                  <a:tint val="50000"/>
                  <a:shade val="100000"/>
                  <a:satMod val="350000"/>
                </a:schemeClr>
              </a:gs>
            </a:gsLst>
          </a:gradFill>
          <a:ln>
            <a:headEnd type="triangl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b="0" dirty="0">
                <a:latin typeface="Helvetica"/>
                <a:cs typeface="Helvetica"/>
              </a:rPr>
              <a:t>Reliable</a:t>
            </a:r>
            <a:r>
              <a:rPr kumimoji="1" lang="zh-CN" altLang="en-US" b="0" dirty="0">
                <a:latin typeface="Helvetica"/>
                <a:cs typeface="Helvetica"/>
              </a:rPr>
              <a:t> </a:t>
            </a:r>
            <a:r>
              <a:rPr kumimoji="1" lang="en-US" altLang="zh-CN" b="0" dirty="0">
                <a:latin typeface="Helvetica"/>
                <a:cs typeface="Helvetica"/>
              </a:rPr>
              <a:t>and</a:t>
            </a:r>
            <a:r>
              <a:rPr kumimoji="1" lang="zh-CN" altLang="en-US" b="0" dirty="0">
                <a:latin typeface="Helvetica"/>
                <a:cs typeface="Helvetica"/>
              </a:rPr>
              <a:t> </a:t>
            </a:r>
            <a:r>
              <a:rPr kumimoji="1" lang="en-US" altLang="zh-CN" b="0" dirty="0">
                <a:latin typeface="Helvetica"/>
                <a:cs typeface="Helvetica"/>
              </a:rPr>
              <a:t>Append</a:t>
            </a:r>
            <a:r>
              <a:rPr kumimoji="1" lang="zh-CN" altLang="en-US" b="0" dirty="0">
                <a:latin typeface="Helvetica"/>
                <a:cs typeface="Helvetica"/>
              </a:rPr>
              <a:t> </a:t>
            </a:r>
            <a:r>
              <a:rPr kumimoji="1" lang="en-US" altLang="zh-CN" b="0" dirty="0">
                <a:latin typeface="Helvetica"/>
                <a:cs typeface="Helvetica"/>
              </a:rPr>
              <a:t>Only</a:t>
            </a:r>
            <a:r>
              <a:rPr kumimoji="1" lang="zh-CN" altLang="en-US" b="0" dirty="0">
                <a:latin typeface="Helvetica"/>
                <a:cs typeface="Helvetica"/>
              </a:rPr>
              <a:t> </a:t>
            </a:r>
            <a:r>
              <a:rPr kumimoji="1" lang="en-US" altLang="zh-CN" b="0" dirty="0">
                <a:latin typeface="Helvetica"/>
                <a:cs typeface="Helvetica"/>
              </a:rPr>
              <a:t>Data</a:t>
            </a:r>
            <a:r>
              <a:rPr kumimoji="1" lang="zh-CN" altLang="en-US" b="0" dirty="0">
                <a:latin typeface="Helvetica"/>
                <a:cs typeface="Helvetica"/>
              </a:rPr>
              <a:t> </a:t>
            </a:r>
            <a:r>
              <a:rPr kumimoji="1" lang="en-US" altLang="zh-CN" b="0" dirty="0">
                <a:latin typeface="Helvetica"/>
                <a:cs typeface="Helvetica"/>
              </a:rPr>
              <a:t>Structure</a:t>
            </a:r>
            <a:r>
              <a:rPr kumimoji="1" lang="zh-CN" altLang="en-US" b="0" dirty="0">
                <a:latin typeface="Helvetica"/>
                <a:cs typeface="Helvetica"/>
              </a:rPr>
              <a:t> </a:t>
            </a:r>
            <a:r>
              <a:rPr kumimoji="1" lang="en-US" altLang="zh-CN" b="0" dirty="0">
                <a:latin typeface="Helvetica"/>
                <a:cs typeface="Helvetica"/>
              </a:rPr>
              <a:t>that</a:t>
            </a:r>
            <a:r>
              <a:rPr kumimoji="1" lang="zh-CN" altLang="en-US" b="0" dirty="0">
                <a:latin typeface="Helvetica"/>
                <a:cs typeface="Helvetica"/>
              </a:rPr>
              <a:t> </a:t>
            </a:r>
            <a:r>
              <a:rPr kumimoji="1" lang="en-US" altLang="zh-CN" b="0" dirty="0">
                <a:latin typeface="Helvetica"/>
                <a:cs typeface="Helvetica"/>
              </a:rPr>
              <a:t>Survives</a:t>
            </a:r>
            <a:r>
              <a:rPr kumimoji="1" lang="zh-CN" altLang="en-US" b="0" dirty="0">
                <a:latin typeface="Helvetica"/>
                <a:cs typeface="Helvetica"/>
              </a:rPr>
              <a:t> </a:t>
            </a:r>
            <a:r>
              <a:rPr kumimoji="1" lang="en-US" altLang="zh-CN" b="0" dirty="0">
                <a:latin typeface="Helvetica"/>
                <a:cs typeface="Helvetica"/>
              </a:rPr>
              <a:t>Crashes</a:t>
            </a:r>
          </a:p>
        </p:txBody>
      </p:sp>
      <p:sp>
        <p:nvSpPr>
          <p:cNvPr id="4" name="圆角矩形 3">
            <a:extLst>
              <a:ext uri="{FF2B5EF4-FFF2-40B4-BE49-F238E27FC236}">
                <a16:creationId xmlns:a16="http://schemas.microsoft.com/office/drawing/2014/main" id="{A63C18FA-2C15-C660-6850-884DD9E51AF5}"/>
              </a:ext>
            </a:extLst>
          </p:cNvPr>
          <p:cNvSpPr/>
          <p:nvPr/>
        </p:nvSpPr>
        <p:spPr bwMode="auto">
          <a:xfrm rot="1127902">
            <a:off x="5382289" y="677667"/>
            <a:ext cx="3733800" cy="791303"/>
          </a:xfrm>
          <a:prstGeom prst="roundRect">
            <a:avLst/>
          </a:prstGeom>
          <a:gradFill>
            <a:gsLst>
              <a:gs pos="0">
                <a:schemeClr val="accent2">
                  <a:tint val="50000"/>
                  <a:satMod val="300000"/>
                  <a:alpha val="0"/>
                </a:schemeClr>
              </a:gs>
              <a:gs pos="35000">
                <a:schemeClr val="accent2">
                  <a:tint val="37000"/>
                  <a:satMod val="300000"/>
                </a:schemeClr>
              </a:gs>
              <a:gs pos="100000">
                <a:schemeClr val="accent2">
                  <a:tint val="15000"/>
                  <a:satMod val="350000"/>
                </a:schemeClr>
              </a:gs>
            </a:gsLst>
          </a:gradFill>
          <a:ln>
            <a:headEnd type="triangl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CN" b="0" dirty="0">
                <a:latin typeface="Helvetica"/>
                <a:cs typeface="Helvetica"/>
              </a:rPr>
              <a:t>Append</a:t>
            </a:r>
            <a:r>
              <a:rPr kumimoji="1" lang="zh-CN" altLang="en-US" b="0" dirty="0">
                <a:latin typeface="Helvetica"/>
                <a:cs typeface="Helvetica"/>
              </a:rPr>
              <a:t> </a:t>
            </a:r>
            <a:r>
              <a:rPr kumimoji="1" lang="en-US" altLang="zh-CN" b="0" dirty="0">
                <a:latin typeface="Helvetica"/>
                <a:cs typeface="Helvetica"/>
              </a:rPr>
              <a:t>only</a:t>
            </a:r>
            <a:r>
              <a:rPr kumimoji="1" lang="zh-CN" altLang="en-US" b="0" dirty="0">
                <a:latin typeface="Helvetica"/>
                <a:cs typeface="Helvetica"/>
              </a:rPr>
              <a:t> </a:t>
            </a:r>
            <a:r>
              <a:rPr kumimoji="1" lang="en-US" altLang="zh-CN" b="0" dirty="0">
                <a:latin typeface="Helvetica"/>
                <a:cs typeface="Helvetica"/>
              </a:rPr>
              <a:t>logs</a:t>
            </a:r>
            <a:endParaRPr kumimoji="1" lang="zh-CN" altLang="en-US" b="0" dirty="0">
              <a:latin typeface="Helvetica"/>
              <a:cs typeface="Helvetica"/>
            </a:endParaRPr>
          </a:p>
        </p:txBody>
      </p:sp>
    </p:spTree>
    <p:extLst>
      <p:ext uri="{BB962C8B-B14F-4D97-AF65-F5344CB8AC3E}">
        <p14:creationId xmlns:p14="http://schemas.microsoft.com/office/powerpoint/2010/main" val="1080870174"/>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BA4413-C5D4-FC59-FE2E-FC2FD70CDAC1}"/>
              </a:ext>
            </a:extLst>
          </p:cNvPr>
          <p:cNvSpPr>
            <a:spLocks noGrp="1"/>
          </p:cNvSpPr>
          <p:nvPr>
            <p:ph type="title"/>
          </p:nvPr>
        </p:nvSpPr>
        <p:spPr/>
        <p:txBody>
          <a:bodyPr/>
          <a:lstStyle/>
          <a:p>
            <a:r>
              <a:rPr kumimoji="1" lang="en-US" altLang="zh-CN" dirty="0"/>
              <a:t>Final</a:t>
            </a:r>
            <a:r>
              <a:rPr kumimoji="1" lang="zh-CN" altLang="en-US" dirty="0"/>
              <a:t> </a:t>
            </a:r>
            <a:r>
              <a:rPr kumimoji="1" lang="en-US" altLang="zh-CN" dirty="0"/>
              <a:t>words</a:t>
            </a:r>
            <a:r>
              <a:rPr kumimoji="1" lang="zh-CN" altLang="en-US" dirty="0"/>
              <a:t> </a:t>
            </a:r>
            <a:r>
              <a:rPr kumimoji="1" lang="en-US" altLang="zh-CN" dirty="0"/>
              <a:t>…</a:t>
            </a:r>
            <a:endParaRPr kumimoji="1" lang="zh-CN" altLang="en-US" dirty="0"/>
          </a:p>
        </p:txBody>
      </p:sp>
      <p:sp>
        <p:nvSpPr>
          <p:cNvPr id="3" name="文本占位符 2">
            <a:extLst>
              <a:ext uri="{FF2B5EF4-FFF2-40B4-BE49-F238E27FC236}">
                <a16:creationId xmlns:a16="http://schemas.microsoft.com/office/drawing/2014/main" id="{ECA488E8-2318-D095-C49A-E9899C7858D9}"/>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166199014"/>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CCF4C1-1219-E78F-A2F8-078BB52CB8C0}"/>
              </a:ext>
            </a:extLst>
          </p:cNvPr>
          <p:cNvSpPr>
            <a:spLocks noGrp="1"/>
          </p:cNvSpPr>
          <p:nvPr>
            <p:ph type="title"/>
          </p:nvPr>
        </p:nvSpPr>
        <p:spPr/>
        <p:txBody>
          <a:bodyPr/>
          <a:lstStyle/>
          <a:p>
            <a:r>
              <a:rPr kumimoji="1" lang="en-US" altLang="zh-CN" dirty="0"/>
              <a:t>Systems</a:t>
            </a:r>
            <a:r>
              <a:rPr kumimoji="1" lang="zh-CN" altLang="en-US" dirty="0"/>
              <a:t> </a:t>
            </a:r>
            <a:r>
              <a:rPr kumimoji="1" lang="en-US" altLang="zh-CN" dirty="0"/>
              <a:t>courses</a:t>
            </a:r>
            <a:endParaRPr kumimoji="1" lang="zh-CN" altLang="en-US" dirty="0"/>
          </a:p>
        </p:txBody>
      </p:sp>
      <p:sp>
        <p:nvSpPr>
          <p:cNvPr id="3" name="内容占位符 2">
            <a:extLst>
              <a:ext uri="{FF2B5EF4-FFF2-40B4-BE49-F238E27FC236}">
                <a16:creationId xmlns:a16="http://schemas.microsoft.com/office/drawing/2014/main" id="{047D30BD-AAA2-C6E2-C0A9-ADC6E50A5A50}"/>
              </a:ext>
            </a:extLst>
          </p:cNvPr>
          <p:cNvSpPr>
            <a:spLocks noGrp="1"/>
          </p:cNvSpPr>
          <p:nvPr>
            <p:ph idx="1"/>
          </p:nvPr>
        </p:nvSpPr>
        <p:spPr>
          <a:xfrm>
            <a:off x="609600" y="914400"/>
            <a:ext cx="6400800" cy="5105400"/>
          </a:xfrm>
        </p:spPr>
        <p:txBody>
          <a:bodyPr/>
          <a:lstStyle/>
          <a:p>
            <a:r>
              <a:rPr kumimoji="1" lang="en-US" altLang="zh-CN" sz="2000" dirty="0"/>
              <a:t>General</a:t>
            </a:r>
            <a:r>
              <a:rPr kumimoji="1" lang="zh-CN" altLang="en-US" sz="2000" dirty="0"/>
              <a:t> </a:t>
            </a:r>
            <a:r>
              <a:rPr kumimoji="1" lang="en-US" altLang="zh-CN" sz="2000" dirty="0"/>
              <a:t>Systems</a:t>
            </a:r>
          </a:p>
          <a:p>
            <a:pPr lvl="1"/>
            <a:r>
              <a:rPr kumimoji="1" lang="en-US" altLang="zh-CN" sz="2000" dirty="0"/>
              <a:t>Computer</a:t>
            </a:r>
            <a:r>
              <a:rPr kumimoji="1" lang="zh-CN" altLang="en-US" sz="2000" dirty="0"/>
              <a:t> </a:t>
            </a:r>
            <a:r>
              <a:rPr kumimoji="1" lang="en-US" altLang="zh-CN" sz="2000" dirty="0"/>
              <a:t>architecture</a:t>
            </a:r>
          </a:p>
          <a:p>
            <a:pPr lvl="1"/>
            <a:r>
              <a:rPr kumimoji="1" lang="en-US" altLang="zh-CN" sz="2000" dirty="0"/>
              <a:t>Compilers</a:t>
            </a:r>
          </a:p>
          <a:p>
            <a:pPr lvl="1"/>
            <a:r>
              <a:rPr kumimoji="1" lang="en-US" altLang="zh-CN" sz="2000" dirty="0"/>
              <a:t>Operating</a:t>
            </a:r>
            <a:r>
              <a:rPr kumimoji="1" lang="zh-CN" altLang="en-US" sz="2000" dirty="0"/>
              <a:t> </a:t>
            </a:r>
            <a:r>
              <a:rPr kumimoji="1" lang="en-US" altLang="zh-CN" sz="2000" dirty="0"/>
              <a:t>systems</a:t>
            </a:r>
          </a:p>
          <a:p>
            <a:pPr lvl="1"/>
            <a:r>
              <a:rPr kumimoji="1" lang="en-US" altLang="zh-CN" sz="2000" dirty="0"/>
              <a:t>Distributed</a:t>
            </a:r>
            <a:r>
              <a:rPr kumimoji="1" lang="zh-CN" altLang="en-US" sz="2000" dirty="0"/>
              <a:t> </a:t>
            </a:r>
            <a:r>
              <a:rPr kumimoji="1" lang="en-US" altLang="zh-CN" sz="2000" dirty="0"/>
              <a:t>systems</a:t>
            </a:r>
          </a:p>
          <a:p>
            <a:pPr lvl="1"/>
            <a:r>
              <a:rPr kumimoji="1" lang="en-US" altLang="zh-CN" sz="2000" dirty="0"/>
              <a:t>Database</a:t>
            </a:r>
            <a:r>
              <a:rPr kumimoji="1" lang="zh-CN" altLang="en-US" sz="2000" dirty="0"/>
              <a:t> </a:t>
            </a:r>
            <a:r>
              <a:rPr kumimoji="1" lang="en-US" altLang="zh-CN" sz="2000" dirty="0"/>
              <a:t>management</a:t>
            </a:r>
            <a:r>
              <a:rPr kumimoji="1" lang="zh-CN" altLang="en-US" sz="2000" dirty="0"/>
              <a:t> </a:t>
            </a:r>
            <a:r>
              <a:rPr kumimoji="1" lang="en-US" altLang="zh-CN" sz="2000" dirty="0"/>
              <a:t>systems</a:t>
            </a:r>
          </a:p>
          <a:p>
            <a:pPr lvl="1"/>
            <a:r>
              <a:rPr kumimoji="1" lang="en-US" altLang="zh-CN" sz="2000" dirty="0"/>
              <a:t>Computer</a:t>
            </a:r>
            <a:r>
              <a:rPr kumimoji="1" lang="zh-CN" altLang="en-US" sz="2000" dirty="0"/>
              <a:t> </a:t>
            </a:r>
            <a:r>
              <a:rPr kumimoji="1" lang="en-US" altLang="zh-CN" sz="2000" dirty="0"/>
              <a:t>networking</a:t>
            </a:r>
          </a:p>
          <a:p>
            <a:pPr lvl="1"/>
            <a:r>
              <a:rPr kumimoji="1" lang="en-US" altLang="zh-CN" sz="2000" dirty="0"/>
              <a:t>Software</a:t>
            </a:r>
            <a:r>
              <a:rPr kumimoji="1" lang="zh-CN" altLang="en-US" sz="2000" dirty="0"/>
              <a:t> </a:t>
            </a:r>
            <a:r>
              <a:rPr kumimoji="1" lang="en-US" altLang="zh-CN" sz="2000" dirty="0"/>
              <a:t>engineering</a:t>
            </a:r>
          </a:p>
          <a:p>
            <a:pPr lvl="1"/>
            <a:r>
              <a:rPr kumimoji="1" lang="en-US" altLang="zh-CN" sz="2000" dirty="0"/>
              <a:t>Cyber</a:t>
            </a:r>
            <a:r>
              <a:rPr kumimoji="1" lang="zh-CN" altLang="en-US" sz="2000" dirty="0"/>
              <a:t> </a:t>
            </a:r>
            <a:r>
              <a:rPr kumimoji="1" lang="en-US" altLang="zh-CN" sz="2000" dirty="0"/>
              <a:t>security</a:t>
            </a:r>
          </a:p>
          <a:p>
            <a:endParaRPr kumimoji="1" lang="en-US" altLang="zh-CN" sz="2000" dirty="0"/>
          </a:p>
          <a:p>
            <a:r>
              <a:rPr kumimoji="1" lang="en-US" altLang="zh-CN" sz="2000" dirty="0"/>
              <a:t>Specialized</a:t>
            </a:r>
            <a:r>
              <a:rPr kumimoji="1" lang="zh-CN" altLang="en-US" sz="2000" dirty="0"/>
              <a:t> </a:t>
            </a:r>
            <a:r>
              <a:rPr kumimoji="1" lang="en-US" altLang="zh-CN" sz="2000" dirty="0"/>
              <a:t>Systems</a:t>
            </a:r>
          </a:p>
          <a:p>
            <a:pPr lvl="1"/>
            <a:r>
              <a:rPr kumimoji="1" lang="en-US" altLang="zh-CN" sz="2000" dirty="0"/>
              <a:t>Big</a:t>
            </a:r>
            <a:r>
              <a:rPr kumimoji="1" lang="zh-CN" altLang="en-US" sz="2000" dirty="0"/>
              <a:t> </a:t>
            </a:r>
            <a:r>
              <a:rPr kumimoji="1" lang="en-US" altLang="zh-CN" sz="2000" dirty="0"/>
              <a:t>data</a:t>
            </a:r>
            <a:r>
              <a:rPr kumimoji="1" lang="zh-CN" altLang="en-US" sz="2000" dirty="0"/>
              <a:t> </a:t>
            </a:r>
            <a:r>
              <a:rPr kumimoji="1" lang="en-US" altLang="zh-CN" sz="2000" dirty="0"/>
              <a:t>systems</a:t>
            </a:r>
          </a:p>
          <a:p>
            <a:pPr lvl="1"/>
            <a:r>
              <a:rPr kumimoji="1" lang="en-US" altLang="zh-CN" sz="2000" dirty="0"/>
              <a:t>Deep</a:t>
            </a:r>
            <a:r>
              <a:rPr kumimoji="1" lang="zh-CN" altLang="en-US" sz="2000" dirty="0"/>
              <a:t> </a:t>
            </a:r>
            <a:r>
              <a:rPr kumimoji="1" lang="en-US" altLang="zh-CN" sz="2000" dirty="0"/>
              <a:t>learning</a:t>
            </a:r>
            <a:r>
              <a:rPr kumimoji="1" lang="zh-CN" altLang="en-US" sz="2000" dirty="0"/>
              <a:t> </a:t>
            </a:r>
            <a:r>
              <a:rPr kumimoji="1" lang="en-US" altLang="zh-CN" sz="2000" dirty="0"/>
              <a:t>systems</a:t>
            </a:r>
          </a:p>
          <a:p>
            <a:pPr lvl="1"/>
            <a:r>
              <a:rPr kumimoji="1" lang="en-US" altLang="zh-CN" sz="2000" dirty="0"/>
              <a:t>Embedded</a:t>
            </a:r>
            <a:r>
              <a:rPr kumimoji="1" lang="zh-CN" altLang="en-US" sz="2000" dirty="0"/>
              <a:t> </a:t>
            </a:r>
            <a:r>
              <a:rPr kumimoji="1" lang="en-US" altLang="zh-CN" sz="2000" dirty="0"/>
              <a:t>systems</a:t>
            </a:r>
            <a:r>
              <a:rPr kumimoji="1" lang="zh-CN" altLang="en-US" sz="2000" dirty="0"/>
              <a:t> </a:t>
            </a:r>
            <a:r>
              <a:rPr kumimoji="1" lang="en-US" altLang="zh-CN" sz="2000" dirty="0"/>
              <a:t>/</a:t>
            </a:r>
            <a:r>
              <a:rPr kumimoji="1" lang="zh-CN" altLang="en-US" sz="2000" dirty="0"/>
              <a:t> </a:t>
            </a:r>
            <a:r>
              <a:rPr kumimoji="1" lang="en-US" altLang="zh-CN" sz="2000" dirty="0"/>
              <a:t>IoTs</a:t>
            </a:r>
          </a:p>
          <a:p>
            <a:pPr lvl="1"/>
            <a:r>
              <a:rPr kumimoji="1" lang="en-US" altLang="zh-CN" sz="2000" dirty="0"/>
              <a:t>Real-time</a:t>
            </a:r>
            <a:r>
              <a:rPr kumimoji="1" lang="zh-CN" altLang="en-US" sz="2000" dirty="0"/>
              <a:t> </a:t>
            </a:r>
            <a:r>
              <a:rPr kumimoji="1" lang="en-US" altLang="zh-CN" sz="2000" dirty="0"/>
              <a:t>systems</a:t>
            </a:r>
            <a:r>
              <a:rPr kumimoji="1" lang="zh-CN" altLang="en-US" sz="2000" dirty="0"/>
              <a:t> </a:t>
            </a:r>
            <a:r>
              <a:rPr kumimoji="1" lang="en-US" altLang="zh-CN" sz="2000" dirty="0"/>
              <a:t>(cyber-physical</a:t>
            </a:r>
            <a:r>
              <a:rPr kumimoji="1" lang="zh-CN" altLang="en-US" sz="2000" dirty="0"/>
              <a:t> </a:t>
            </a:r>
            <a:r>
              <a:rPr kumimoji="1" lang="en-US" altLang="zh-CN" sz="2000" dirty="0"/>
              <a:t>systems)</a:t>
            </a:r>
            <a:endParaRPr kumimoji="1" lang="zh-CN" altLang="en-US" sz="2000" dirty="0"/>
          </a:p>
        </p:txBody>
      </p:sp>
    </p:spTree>
    <p:extLst>
      <p:ext uri="{BB962C8B-B14F-4D97-AF65-F5344CB8AC3E}">
        <p14:creationId xmlns:p14="http://schemas.microsoft.com/office/powerpoint/2010/main" val="3220939272"/>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DCFC26-E890-2DFD-5CC5-6C70867D1622}"/>
              </a:ext>
            </a:extLst>
          </p:cNvPr>
          <p:cNvSpPr>
            <a:spLocks noGrp="1"/>
          </p:cNvSpPr>
          <p:nvPr>
            <p:ph type="title"/>
          </p:nvPr>
        </p:nvSpPr>
        <p:spPr>
          <a:xfrm>
            <a:off x="990600" y="152400"/>
            <a:ext cx="7543800" cy="533400"/>
          </a:xfrm>
        </p:spPr>
        <p:txBody>
          <a:bodyPr/>
          <a:lstStyle/>
          <a:p>
            <a:r>
              <a:rPr kumimoji="1" lang="en-US" altLang="zh-CN" dirty="0"/>
              <a:t>Research</a:t>
            </a:r>
            <a:r>
              <a:rPr kumimoji="1" lang="zh-CN" altLang="en-US" dirty="0"/>
              <a:t> </a:t>
            </a:r>
            <a:r>
              <a:rPr kumimoji="1" lang="en-US" altLang="zh-CN" dirty="0"/>
              <a:t>/</a:t>
            </a:r>
            <a:r>
              <a:rPr kumimoji="1" lang="zh-CN" altLang="en-US" dirty="0"/>
              <a:t> </a:t>
            </a:r>
            <a:r>
              <a:rPr kumimoji="1" lang="en-US" altLang="zh-CN" dirty="0"/>
              <a:t>industry</a:t>
            </a:r>
            <a:r>
              <a:rPr kumimoji="1" lang="zh-CN" altLang="en-US" dirty="0"/>
              <a:t> </a:t>
            </a:r>
            <a:r>
              <a:rPr kumimoji="1" lang="en-US" altLang="zh-CN" dirty="0"/>
              <a:t>trend</a:t>
            </a:r>
            <a:r>
              <a:rPr kumimoji="1" lang="zh-CN" altLang="en-US" dirty="0"/>
              <a:t> </a:t>
            </a:r>
            <a:r>
              <a:rPr kumimoji="1" lang="en-US" altLang="zh-CN" dirty="0"/>
              <a:t>in</a:t>
            </a:r>
            <a:r>
              <a:rPr kumimoji="1" lang="zh-CN" altLang="en-US" dirty="0"/>
              <a:t> </a:t>
            </a:r>
            <a:r>
              <a:rPr kumimoji="1" lang="en-US" altLang="zh-CN" dirty="0"/>
              <a:t>systems</a:t>
            </a:r>
            <a:endParaRPr kumimoji="1" lang="zh-CN" altLang="en-US" dirty="0"/>
          </a:p>
        </p:txBody>
      </p:sp>
      <p:sp>
        <p:nvSpPr>
          <p:cNvPr id="3" name="内容占位符 2">
            <a:extLst>
              <a:ext uri="{FF2B5EF4-FFF2-40B4-BE49-F238E27FC236}">
                <a16:creationId xmlns:a16="http://schemas.microsoft.com/office/drawing/2014/main" id="{41347D69-06E7-A658-5C56-958312675ADE}"/>
              </a:ext>
            </a:extLst>
          </p:cNvPr>
          <p:cNvSpPr>
            <a:spLocks noGrp="1"/>
          </p:cNvSpPr>
          <p:nvPr>
            <p:ph idx="1"/>
          </p:nvPr>
        </p:nvSpPr>
        <p:spPr/>
        <p:txBody>
          <a:bodyPr/>
          <a:lstStyle/>
          <a:p>
            <a:r>
              <a:rPr kumimoji="1" lang="en-US" altLang="zh-CN" sz="1800" dirty="0"/>
              <a:t>Faster</a:t>
            </a:r>
          </a:p>
          <a:p>
            <a:pPr lvl="1"/>
            <a:r>
              <a:rPr kumimoji="1" lang="en-US" altLang="zh-CN" sz="1800" dirty="0"/>
              <a:t>Specialized</a:t>
            </a:r>
            <a:r>
              <a:rPr kumimoji="1" lang="zh-CN" altLang="en-US" sz="1800" dirty="0"/>
              <a:t> </a:t>
            </a:r>
            <a:r>
              <a:rPr kumimoji="1" lang="en-US" altLang="zh-CN" sz="1800" dirty="0"/>
              <a:t>accelerators</a:t>
            </a:r>
            <a:r>
              <a:rPr kumimoji="1" lang="zh-CN" altLang="en-US" sz="1800" dirty="0"/>
              <a:t> </a:t>
            </a:r>
            <a:r>
              <a:rPr kumimoji="1" lang="en-US" altLang="zh-CN" sz="1800" dirty="0"/>
              <a:t>(domain</a:t>
            </a:r>
            <a:r>
              <a:rPr kumimoji="1" lang="zh-CN" altLang="en-US" sz="1800" dirty="0"/>
              <a:t> </a:t>
            </a:r>
            <a:r>
              <a:rPr kumimoji="1" lang="en-US" altLang="zh-CN" sz="1800" dirty="0"/>
              <a:t>specific</a:t>
            </a:r>
            <a:r>
              <a:rPr kumimoji="1" lang="zh-CN" altLang="en-US" sz="1800" dirty="0"/>
              <a:t> </a:t>
            </a:r>
            <a:r>
              <a:rPr kumimoji="1" lang="en-US" altLang="zh-CN" sz="1800" dirty="0"/>
              <a:t>architecture)</a:t>
            </a:r>
          </a:p>
          <a:p>
            <a:r>
              <a:rPr kumimoji="1" lang="en-US" altLang="zh-CN" sz="1800" dirty="0"/>
              <a:t>Smaller</a:t>
            </a:r>
          </a:p>
          <a:p>
            <a:pPr lvl="1"/>
            <a:r>
              <a:rPr kumimoji="1" lang="en-US" altLang="zh-CN" sz="1800" dirty="0"/>
              <a:t>Phones,</a:t>
            </a:r>
            <a:r>
              <a:rPr kumimoji="1" lang="zh-CN" altLang="en-US" sz="1800" dirty="0"/>
              <a:t> </a:t>
            </a:r>
            <a:r>
              <a:rPr kumimoji="1" lang="en-US" altLang="zh-CN" sz="1800" dirty="0"/>
              <a:t>IoTs,</a:t>
            </a:r>
            <a:r>
              <a:rPr kumimoji="1" lang="zh-CN" altLang="en-US" sz="1800" dirty="0"/>
              <a:t> </a:t>
            </a:r>
            <a:r>
              <a:rPr kumimoji="1" lang="en-US" altLang="zh-CN" sz="1800" dirty="0"/>
              <a:t>sensors</a:t>
            </a:r>
          </a:p>
          <a:p>
            <a:pPr lvl="1"/>
            <a:r>
              <a:rPr kumimoji="1" lang="en-US" altLang="zh-CN" sz="1800" dirty="0"/>
              <a:t>Ubiquitous</a:t>
            </a:r>
            <a:r>
              <a:rPr kumimoji="1" lang="zh-CN" altLang="en-US" sz="1800" dirty="0"/>
              <a:t> </a:t>
            </a:r>
            <a:endParaRPr kumimoji="1" lang="en-US" altLang="zh-CN" sz="1800" dirty="0"/>
          </a:p>
          <a:p>
            <a:r>
              <a:rPr kumimoji="1" lang="en-US" altLang="zh-CN" sz="1800" dirty="0"/>
              <a:t>Larger</a:t>
            </a:r>
          </a:p>
          <a:p>
            <a:pPr lvl="1"/>
            <a:r>
              <a:rPr kumimoji="1" lang="en-US" altLang="zh-CN" sz="1800" dirty="0"/>
              <a:t>Data</a:t>
            </a:r>
            <a:r>
              <a:rPr kumimoji="1" lang="zh-CN" altLang="en-US" sz="1800" dirty="0"/>
              <a:t> </a:t>
            </a:r>
            <a:r>
              <a:rPr kumimoji="1" lang="en-US" altLang="zh-CN" sz="1800" dirty="0"/>
              <a:t>centers</a:t>
            </a:r>
            <a:r>
              <a:rPr kumimoji="1" lang="zh-CN" altLang="en-US" sz="1800" dirty="0"/>
              <a:t> </a:t>
            </a:r>
            <a:r>
              <a:rPr kumimoji="1" lang="en-US" altLang="zh-CN" sz="1800" dirty="0"/>
              <a:t>/</a:t>
            </a:r>
            <a:r>
              <a:rPr kumimoji="1" lang="zh-CN" altLang="en-US" sz="1800" dirty="0"/>
              <a:t> </a:t>
            </a:r>
            <a:r>
              <a:rPr kumimoji="1" lang="en-US" altLang="zh-CN" sz="1800" dirty="0"/>
              <a:t>Internet</a:t>
            </a:r>
            <a:r>
              <a:rPr kumimoji="1" lang="zh-CN" altLang="en-US" sz="1800" dirty="0"/>
              <a:t> </a:t>
            </a:r>
            <a:r>
              <a:rPr kumimoji="1" lang="en-US" altLang="zh-CN" sz="1800" dirty="0"/>
              <a:t>scale</a:t>
            </a:r>
          </a:p>
          <a:p>
            <a:pPr lvl="1"/>
            <a:r>
              <a:rPr kumimoji="1" lang="en-US" altLang="zh-CN" sz="1800" dirty="0"/>
              <a:t>Greener:</a:t>
            </a:r>
            <a:r>
              <a:rPr kumimoji="1" lang="zh-CN" altLang="en-US" sz="1800" dirty="0"/>
              <a:t> </a:t>
            </a:r>
            <a:r>
              <a:rPr kumimoji="1" lang="en-US" altLang="zh-CN" sz="1800" dirty="0"/>
              <a:t>less</a:t>
            </a:r>
            <a:r>
              <a:rPr kumimoji="1" lang="zh-CN" altLang="en-US" sz="1800" dirty="0"/>
              <a:t> </a:t>
            </a:r>
            <a:r>
              <a:rPr kumimoji="1" lang="en-US" altLang="zh-CN" sz="1800" dirty="0"/>
              <a:t>energy,</a:t>
            </a:r>
            <a:r>
              <a:rPr kumimoji="1" lang="zh-CN" altLang="en-US" sz="1800" dirty="0"/>
              <a:t> </a:t>
            </a:r>
            <a:r>
              <a:rPr kumimoji="1" lang="en-US" altLang="zh-CN" sz="1800" dirty="0"/>
              <a:t>more</a:t>
            </a:r>
            <a:r>
              <a:rPr kumimoji="1" lang="zh-CN" altLang="en-US" sz="1800" dirty="0"/>
              <a:t> </a:t>
            </a:r>
            <a:r>
              <a:rPr kumimoji="1" lang="en-US" altLang="zh-CN" sz="1800" dirty="0"/>
              <a:t>green</a:t>
            </a:r>
            <a:r>
              <a:rPr kumimoji="1" lang="zh-CN" altLang="en-US" sz="1800" dirty="0"/>
              <a:t> </a:t>
            </a:r>
            <a:r>
              <a:rPr kumimoji="1" lang="en-US" altLang="zh-CN" sz="1800" dirty="0"/>
              <a:t>energy</a:t>
            </a:r>
          </a:p>
          <a:p>
            <a:r>
              <a:rPr kumimoji="1" lang="en-US" altLang="zh-CN" sz="1800" dirty="0"/>
              <a:t>More</a:t>
            </a:r>
            <a:r>
              <a:rPr kumimoji="1" lang="zh-CN" altLang="en-US" sz="1800" dirty="0"/>
              <a:t> </a:t>
            </a:r>
            <a:r>
              <a:rPr kumimoji="1" lang="en-US" altLang="zh-CN" sz="1800" dirty="0"/>
              <a:t>reliable</a:t>
            </a:r>
            <a:r>
              <a:rPr kumimoji="1" lang="zh-CN" altLang="en-US" sz="1800" dirty="0"/>
              <a:t> </a:t>
            </a:r>
            <a:r>
              <a:rPr kumimoji="1" lang="en-US" altLang="zh-CN" sz="1800" dirty="0"/>
              <a:t>and</a:t>
            </a:r>
            <a:r>
              <a:rPr kumimoji="1" lang="zh-CN" altLang="en-US" sz="1800" dirty="0"/>
              <a:t> </a:t>
            </a:r>
            <a:r>
              <a:rPr kumimoji="1" lang="en-US" altLang="zh-CN" sz="1800" dirty="0"/>
              <a:t>secure</a:t>
            </a:r>
          </a:p>
          <a:p>
            <a:pPr lvl="1"/>
            <a:r>
              <a:rPr kumimoji="1" lang="en-US" altLang="zh-CN" sz="1800" dirty="0"/>
              <a:t>Trustless</a:t>
            </a:r>
            <a:r>
              <a:rPr kumimoji="1" lang="zh-CN" altLang="en-US" sz="1800" dirty="0"/>
              <a:t> </a:t>
            </a:r>
            <a:r>
              <a:rPr kumimoji="1" lang="en-US" altLang="zh-CN" sz="1800" dirty="0"/>
              <a:t>systems</a:t>
            </a:r>
            <a:r>
              <a:rPr kumimoji="1" lang="zh-CN" altLang="en-US" sz="1800" dirty="0"/>
              <a:t> </a:t>
            </a:r>
            <a:r>
              <a:rPr kumimoji="1" lang="en-US" altLang="zh-CN" sz="1800" dirty="0"/>
              <a:t>/</a:t>
            </a:r>
            <a:r>
              <a:rPr kumimoji="1" lang="zh-CN" altLang="en-US" sz="1800" dirty="0"/>
              <a:t> </a:t>
            </a:r>
            <a:r>
              <a:rPr kumimoji="1" lang="en-US" altLang="zh-CN" sz="1800" dirty="0"/>
              <a:t>blockchains</a:t>
            </a:r>
          </a:p>
          <a:p>
            <a:pPr lvl="1"/>
            <a:r>
              <a:rPr kumimoji="1" lang="en-US" altLang="zh-CN" sz="1800" dirty="0"/>
              <a:t>Privacy</a:t>
            </a:r>
            <a:r>
              <a:rPr kumimoji="1" lang="zh-CN" altLang="en-US" sz="1800" dirty="0"/>
              <a:t> </a:t>
            </a:r>
            <a:r>
              <a:rPr kumimoji="1" lang="en-US" altLang="zh-CN" sz="1800" dirty="0"/>
              <a:t>preservation</a:t>
            </a:r>
          </a:p>
          <a:p>
            <a:r>
              <a:rPr kumimoji="1" lang="en-US" altLang="zh-CN" sz="1800" dirty="0"/>
              <a:t>Easier</a:t>
            </a:r>
            <a:r>
              <a:rPr kumimoji="1" lang="zh-CN" altLang="en-US" sz="1800" dirty="0"/>
              <a:t> </a:t>
            </a:r>
            <a:r>
              <a:rPr kumimoji="1" lang="en-US" altLang="zh-CN" sz="1800" dirty="0"/>
              <a:t>to</a:t>
            </a:r>
            <a:r>
              <a:rPr kumimoji="1" lang="zh-CN" altLang="en-US" sz="1800" dirty="0"/>
              <a:t> </a:t>
            </a:r>
            <a:r>
              <a:rPr kumimoji="1" lang="en-US" altLang="zh-CN" sz="1800" dirty="0"/>
              <a:t>use</a:t>
            </a:r>
          </a:p>
          <a:p>
            <a:pPr lvl="1"/>
            <a:r>
              <a:rPr kumimoji="1" lang="en-US" altLang="zh-CN" sz="1600" dirty="0"/>
              <a:t>Automated</a:t>
            </a:r>
            <a:r>
              <a:rPr kumimoji="1" lang="zh-CN" altLang="en-US" sz="1600" dirty="0"/>
              <a:t> </a:t>
            </a:r>
            <a:r>
              <a:rPr kumimoji="1" lang="en-US" altLang="zh-CN" sz="1600" dirty="0"/>
              <a:t>/</a:t>
            </a:r>
            <a:r>
              <a:rPr kumimoji="1" lang="zh-CN" altLang="en-US" sz="1600" dirty="0"/>
              <a:t> </a:t>
            </a:r>
            <a:r>
              <a:rPr kumimoji="1" lang="en-US" altLang="zh-CN" sz="1600" dirty="0"/>
              <a:t>few</a:t>
            </a:r>
            <a:r>
              <a:rPr kumimoji="1" lang="zh-CN" altLang="en-US" sz="1600" dirty="0"/>
              <a:t> </a:t>
            </a:r>
            <a:r>
              <a:rPr kumimoji="1" lang="en-US" altLang="zh-CN" sz="1600" dirty="0"/>
              <a:t>code</a:t>
            </a:r>
          </a:p>
          <a:p>
            <a:pPr lvl="1"/>
            <a:r>
              <a:rPr kumimoji="1" lang="en-US" altLang="zh-CN" sz="1600" dirty="0"/>
              <a:t>Easier</a:t>
            </a:r>
            <a:r>
              <a:rPr kumimoji="1" lang="zh-CN" altLang="en-US" sz="1600" dirty="0"/>
              <a:t> </a:t>
            </a:r>
            <a:r>
              <a:rPr kumimoji="1" lang="en-US" altLang="zh-CN" sz="1600" dirty="0"/>
              <a:t>to</a:t>
            </a:r>
            <a:r>
              <a:rPr kumimoji="1" lang="zh-CN" altLang="en-US" sz="1600" dirty="0"/>
              <a:t> </a:t>
            </a:r>
            <a:r>
              <a:rPr kumimoji="1" lang="en-US" altLang="zh-CN" sz="1600" dirty="0"/>
              <a:t>operate:</a:t>
            </a:r>
            <a:r>
              <a:rPr kumimoji="1" lang="zh-CN" altLang="en-US" sz="1600" dirty="0"/>
              <a:t> </a:t>
            </a:r>
            <a:r>
              <a:rPr kumimoji="1" lang="en-US" altLang="zh-CN" sz="1600" dirty="0"/>
              <a:t>AIOps</a:t>
            </a:r>
          </a:p>
          <a:p>
            <a:r>
              <a:rPr kumimoji="1" lang="en-US" altLang="zh-CN" sz="1800" dirty="0"/>
              <a:t>Integrate</a:t>
            </a:r>
            <a:r>
              <a:rPr kumimoji="1" lang="zh-CN" altLang="en-US" sz="1800" dirty="0"/>
              <a:t> </a:t>
            </a:r>
            <a:r>
              <a:rPr kumimoji="1" lang="en-US" altLang="zh-CN" sz="1800" dirty="0"/>
              <a:t>into</a:t>
            </a:r>
            <a:r>
              <a:rPr kumimoji="1" lang="zh-CN" altLang="en-US" sz="1800" dirty="0"/>
              <a:t> </a:t>
            </a:r>
            <a:r>
              <a:rPr kumimoji="1" lang="en-US" altLang="zh-CN" sz="1800" dirty="0"/>
              <a:t>other</a:t>
            </a:r>
            <a:r>
              <a:rPr kumimoji="1" lang="zh-CN" altLang="en-US" sz="1800" dirty="0"/>
              <a:t> </a:t>
            </a:r>
            <a:r>
              <a:rPr kumimoji="1" lang="en-US" altLang="zh-CN" sz="1800" dirty="0"/>
              <a:t>areas</a:t>
            </a:r>
          </a:p>
          <a:p>
            <a:pPr lvl="1"/>
            <a:r>
              <a:rPr kumimoji="1" lang="en-US" altLang="zh-CN" sz="1800" dirty="0"/>
              <a:t>Industrial</a:t>
            </a:r>
            <a:r>
              <a:rPr kumimoji="1" lang="zh-CN" altLang="en-US" sz="1800" dirty="0"/>
              <a:t> </a:t>
            </a:r>
            <a:r>
              <a:rPr kumimoji="1" lang="en-US" altLang="zh-CN" sz="1800" dirty="0"/>
              <a:t>/</a:t>
            </a:r>
            <a:r>
              <a:rPr kumimoji="1" lang="zh-CN" altLang="en-US" sz="1800" dirty="0"/>
              <a:t> </a:t>
            </a:r>
            <a:r>
              <a:rPr kumimoji="1" lang="en-US" altLang="zh-CN" sz="1800" dirty="0"/>
              <a:t>aerospace</a:t>
            </a:r>
            <a:r>
              <a:rPr kumimoji="1" lang="zh-CN" altLang="en-US" sz="1800" dirty="0"/>
              <a:t> </a:t>
            </a:r>
            <a:r>
              <a:rPr kumimoji="1" lang="en-US" altLang="zh-CN" sz="1800" dirty="0"/>
              <a:t>/</a:t>
            </a:r>
            <a:r>
              <a:rPr kumimoji="1" lang="zh-CN" altLang="en-US" sz="1800" dirty="0"/>
              <a:t> </a:t>
            </a:r>
            <a:r>
              <a:rPr kumimoji="1" lang="en-US" altLang="zh-CN" sz="1800" dirty="0"/>
              <a:t>autonomous</a:t>
            </a:r>
            <a:r>
              <a:rPr kumimoji="1" lang="zh-CN" altLang="en-US" sz="1800" dirty="0"/>
              <a:t> </a:t>
            </a:r>
            <a:r>
              <a:rPr kumimoji="1" lang="en-US" altLang="zh-CN" sz="1800" dirty="0"/>
              <a:t>driving</a:t>
            </a:r>
            <a:r>
              <a:rPr kumimoji="1" lang="zh-CN" altLang="en-US" sz="1800" dirty="0"/>
              <a:t> </a:t>
            </a:r>
            <a:r>
              <a:rPr kumimoji="1" lang="en-US" altLang="zh-CN" sz="1800" dirty="0"/>
              <a:t>…</a:t>
            </a:r>
          </a:p>
          <a:p>
            <a:pPr lvl="1"/>
            <a:r>
              <a:rPr kumimoji="1" lang="en-US" altLang="zh-CN" sz="1800" dirty="0"/>
              <a:t>Sys</a:t>
            </a:r>
            <a:r>
              <a:rPr kumimoji="1" lang="zh-CN" altLang="en-US" sz="1800" dirty="0"/>
              <a:t> </a:t>
            </a:r>
            <a:r>
              <a:rPr kumimoji="1" lang="en-US" altLang="zh-CN" sz="1800" dirty="0"/>
              <a:t>for</a:t>
            </a:r>
            <a:r>
              <a:rPr kumimoji="1" lang="zh-CN" altLang="en-US" sz="1800" dirty="0"/>
              <a:t> </a:t>
            </a:r>
            <a:r>
              <a:rPr kumimoji="1" lang="en-US" altLang="zh-CN" sz="1800" dirty="0"/>
              <a:t>ML</a:t>
            </a:r>
          </a:p>
          <a:p>
            <a:endParaRPr kumimoji="1" lang="zh-CN" altLang="en-US" sz="1800" dirty="0"/>
          </a:p>
        </p:txBody>
      </p:sp>
    </p:spTree>
    <p:extLst>
      <p:ext uri="{BB962C8B-B14F-4D97-AF65-F5344CB8AC3E}">
        <p14:creationId xmlns:p14="http://schemas.microsoft.com/office/powerpoint/2010/main" val="682120554"/>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35C4FA-04CD-5253-039B-A1E7DEC01056}"/>
              </a:ext>
            </a:extLst>
          </p:cNvPr>
          <p:cNvSpPr>
            <a:spLocks noGrp="1"/>
          </p:cNvSpPr>
          <p:nvPr>
            <p:ph type="title"/>
          </p:nvPr>
        </p:nvSpPr>
        <p:spPr/>
        <p:txBody>
          <a:bodyPr/>
          <a:lstStyle/>
          <a:p>
            <a:r>
              <a:rPr kumimoji="1" lang="en-US" altLang="zh-CN" dirty="0"/>
              <a:t>Systems</a:t>
            </a:r>
            <a:r>
              <a:rPr kumimoji="1" lang="zh-CN" altLang="en-US" dirty="0"/>
              <a:t> </a:t>
            </a:r>
            <a:r>
              <a:rPr kumimoji="1" lang="en-US" altLang="zh-CN" dirty="0"/>
              <a:t>Courses</a:t>
            </a:r>
            <a:r>
              <a:rPr kumimoji="1" lang="zh-CN" altLang="en-US" dirty="0"/>
              <a:t> </a:t>
            </a:r>
            <a:r>
              <a:rPr kumimoji="1" lang="en-US" altLang="zh-CN" dirty="0"/>
              <a:t>@</a:t>
            </a:r>
            <a:r>
              <a:rPr kumimoji="1" lang="zh-CN" altLang="en-US"/>
              <a:t> </a:t>
            </a:r>
            <a:r>
              <a:rPr kumimoji="1" lang="en-US" altLang="zh-CN"/>
              <a:t>IIIS</a:t>
            </a:r>
            <a:endParaRPr kumimoji="1" lang="zh-CN" altLang="en-US" dirty="0"/>
          </a:p>
        </p:txBody>
      </p:sp>
      <p:sp>
        <p:nvSpPr>
          <p:cNvPr id="3" name="内容占位符 2">
            <a:extLst>
              <a:ext uri="{FF2B5EF4-FFF2-40B4-BE49-F238E27FC236}">
                <a16:creationId xmlns:a16="http://schemas.microsoft.com/office/drawing/2014/main" id="{A1A5B065-232B-2165-B4FA-FA923A3D4BD0}"/>
              </a:ext>
            </a:extLst>
          </p:cNvPr>
          <p:cNvSpPr>
            <a:spLocks noGrp="1"/>
          </p:cNvSpPr>
          <p:nvPr>
            <p:ph idx="1"/>
          </p:nvPr>
        </p:nvSpPr>
        <p:spPr>
          <a:xfrm>
            <a:off x="609600" y="1066800"/>
            <a:ext cx="8153400" cy="5105400"/>
          </a:xfrm>
        </p:spPr>
        <p:txBody>
          <a:bodyPr/>
          <a:lstStyle/>
          <a:p>
            <a:r>
              <a:rPr kumimoji="1" lang="en-US" altLang="zh-CN" dirty="0"/>
              <a:t>Computer</a:t>
            </a:r>
            <a:r>
              <a:rPr kumimoji="1" lang="zh-CN" altLang="en-US" dirty="0"/>
              <a:t> </a:t>
            </a:r>
            <a:r>
              <a:rPr kumimoji="1" lang="en-US" altLang="zh-CN" dirty="0"/>
              <a:t>architecture</a:t>
            </a:r>
          </a:p>
          <a:p>
            <a:pPr lvl="1"/>
            <a:r>
              <a:rPr kumimoji="1" lang="en-US" altLang="zh-CN" dirty="0" err="1"/>
              <a:t>Mingyu</a:t>
            </a:r>
            <a:r>
              <a:rPr kumimoji="1" lang="zh-CN" altLang="en-US" dirty="0"/>
              <a:t> </a:t>
            </a:r>
            <a:r>
              <a:rPr kumimoji="1" lang="en-US" altLang="zh-CN" dirty="0"/>
              <a:t>Gao</a:t>
            </a:r>
          </a:p>
          <a:p>
            <a:pPr lvl="1"/>
            <a:r>
              <a:rPr kumimoji="1" lang="en-US" altLang="zh-CN" dirty="0" err="1"/>
              <a:t>Kaisheng</a:t>
            </a:r>
            <a:r>
              <a:rPr kumimoji="1" lang="zh-CN" altLang="en-US" dirty="0"/>
              <a:t> </a:t>
            </a:r>
            <a:r>
              <a:rPr kumimoji="1" lang="en-US" altLang="zh-CN" dirty="0"/>
              <a:t>Ma</a:t>
            </a:r>
          </a:p>
          <a:p>
            <a:pPr lvl="1"/>
            <a:endParaRPr kumimoji="1" lang="en-US" altLang="zh-CN" dirty="0"/>
          </a:p>
          <a:p>
            <a:r>
              <a:rPr kumimoji="1" lang="en-US" altLang="zh-CN" dirty="0"/>
              <a:t>Databases</a:t>
            </a:r>
          </a:p>
          <a:p>
            <a:pPr lvl="1"/>
            <a:r>
              <a:rPr kumimoji="1" lang="en-US" altLang="zh-CN" dirty="0" err="1"/>
              <a:t>Huanchen</a:t>
            </a:r>
            <a:r>
              <a:rPr kumimoji="1" lang="zh-CN" altLang="en-US" dirty="0"/>
              <a:t> </a:t>
            </a:r>
            <a:r>
              <a:rPr kumimoji="1" lang="en-US" altLang="zh-CN" dirty="0"/>
              <a:t>Zhang</a:t>
            </a:r>
          </a:p>
          <a:p>
            <a:endParaRPr kumimoji="1" lang="en-US" altLang="zh-CN" dirty="0"/>
          </a:p>
          <a:p>
            <a:r>
              <a:rPr kumimoji="1" lang="en-US" altLang="zh-CN" dirty="0"/>
              <a:t>Distributed</a:t>
            </a:r>
            <a:r>
              <a:rPr kumimoji="1" lang="zh-CN" altLang="en-US" dirty="0"/>
              <a:t> </a:t>
            </a:r>
            <a:r>
              <a:rPr kumimoji="1" lang="en-US" altLang="zh-CN" dirty="0"/>
              <a:t>systems</a:t>
            </a:r>
            <a:r>
              <a:rPr kumimoji="1" lang="zh-CN" altLang="en-US" dirty="0"/>
              <a:t> </a:t>
            </a:r>
            <a:endParaRPr kumimoji="1" lang="en-US" altLang="zh-CN" dirty="0"/>
          </a:p>
          <a:p>
            <a:pPr lvl="1"/>
            <a:r>
              <a:rPr kumimoji="1" lang="en-US" altLang="zh-CN" dirty="0"/>
              <a:t>Wei</a:t>
            </a:r>
            <a:r>
              <a:rPr kumimoji="1" lang="zh-CN" altLang="en-US" dirty="0"/>
              <a:t> </a:t>
            </a:r>
            <a:r>
              <a:rPr kumimoji="1" lang="en-US" altLang="zh-CN" dirty="0"/>
              <a:t>Xu</a:t>
            </a:r>
            <a:endParaRPr kumimoji="1" lang="zh-CN" altLang="en-US" dirty="0"/>
          </a:p>
        </p:txBody>
      </p:sp>
    </p:spTree>
    <p:extLst>
      <p:ext uri="{BB962C8B-B14F-4D97-AF65-F5344CB8AC3E}">
        <p14:creationId xmlns:p14="http://schemas.microsoft.com/office/powerpoint/2010/main" val="79767639"/>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3D0DB4-F66C-331D-962A-740C757B57B9}"/>
              </a:ext>
            </a:extLst>
          </p:cNvPr>
          <p:cNvSpPr>
            <a:spLocks noGrp="1"/>
          </p:cNvSpPr>
          <p:nvPr>
            <p:ph type="title"/>
          </p:nvPr>
        </p:nvSpPr>
        <p:spPr>
          <a:xfrm>
            <a:off x="609600" y="2209800"/>
            <a:ext cx="7924800" cy="2286000"/>
          </a:xfrm>
        </p:spPr>
        <p:txBody>
          <a:bodyPr/>
          <a:lstStyle/>
          <a:p>
            <a:r>
              <a:rPr kumimoji="1" lang="en-US" altLang="zh-CN" dirty="0"/>
              <a:t>Thank</a:t>
            </a:r>
            <a:r>
              <a:rPr kumimoji="1" lang="zh-CN" altLang="en-US" dirty="0"/>
              <a:t> </a:t>
            </a:r>
            <a:r>
              <a:rPr kumimoji="1" lang="en-US" altLang="zh-CN" dirty="0"/>
              <a:t>you</a:t>
            </a:r>
            <a:r>
              <a:rPr kumimoji="1" lang="zh-CN" altLang="en-US" dirty="0"/>
              <a:t> </a:t>
            </a:r>
            <a:r>
              <a:rPr kumimoji="1" lang="en-US" altLang="zh-CN" dirty="0"/>
              <a:t>for</a:t>
            </a:r>
            <a:r>
              <a:rPr kumimoji="1" lang="zh-CN" altLang="en-US" dirty="0"/>
              <a:t> </a:t>
            </a:r>
            <a:r>
              <a:rPr kumimoji="1" lang="en-US" altLang="zh-CN" dirty="0"/>
              <a:t>the</a:t>
            </a:r>
            <a:r>
              <a:rPr kumimoji="1" lang="zh-CN" altLang="en-US" dirty="0"/>
              <a:t> </a:t>
            </a:r>
            <a:r>
              <a:rPr kumimoji="1" lang="en-US" altLang="zh-CN" dirty="0"/>
              <a:t>semester</a:t>
            </a:r>
            <a:br>
              <a:rPr kumimoji="1" lang="en-US" altLang="zh-CN" dirty="0"/>
            </a:br>
            <a:br>
              <a:rPr kumimoji="1" lang="en-US" altLang="zh-CN" dirty="0"/>
            </a:br>
            <a:r>
              <a:rPr kumimoji="1" lang="en-US" altLang="zh-CN" dirty="0"/>
              <a:t>Good</a:t>
            </a:r>
            <a:r>
              <a:rPr kumimoji="1" lang="zh-CN" altLang="en-US" dirty="0"/>
              <a:t> </a:t>
            </a:r>
            <a:r>
              <a:rPr kumimoji="1" lang="en-US" altLang="zh-CN" dirty="0"/>
              <a:t>luck</a:t>
            </a:r>
            <a:r>
              <a:rPr kumimoji="1" lang="zh-CN" altLang="en-US" dirty="0"/>
              <a:t> </a:t>
            </a:r>
            <a:r>
              <a:rPr kumimoji="1" lang="en-US" altLang="zh-CN" dirty="0"/>
              <a:t>in</a:t>
            </a:r>
            <a:r>
              <a:rPr kumimoji="1" lang="zh-CN" altLang="en-US" dirty="0"/>
              <a:t> </a:t>
            </a:r>
            <a:r>
              <a:rPr kumimoji="1" lang="en-US" altLang="zh-CN" dirty="0"/>
              <a:t>your</a:t>
            </a:r>
            <a:r>
              <a:rPr kumimoji="1" lang="zh-CN" altLang="en-US" dirty="0"/>
              <a:t> </a:t>
            </a:r>
            <a:r>
              <a:rPr kumimoji="1" lang="en-US" altLang="zh-CN" dirty="0"/>
              <a:t>exams</a:t>
            </a:r>
            <a:r>
              <a:rPr kumimoji="1" lang="zh-CN" altLang="en-US" dirty="0"/>
              <a:t> </a:t>
            </a:r>
            <a:r>
              <a:rPr kumimoji="1" lang="en-US" altLang="zh-CN" dirty="0"/>
              <a:t>and</a:t>
            </a:r>
            <a:r>
              <a:rPr kumimoji="1" lang="zh-CN" altLang="en-US" dirty="0"/>
              <a:t> </a:t>
            </a:r>
            <a:r>
              <a:rPr kumimoji="1" lang="en-US" altLang="zh-CN" dirty="0"/>
              <a:t>projects</a:t>
            </a:r>
            <a:br>
              <a:rPr kumimoji="1" lang="en-US" altLang="zh-CN" dirty="0"/>
            </a:br>
            <a:br>
              <a:rPr kumimoji="1" lang="en-US" altLang="zh-CN" dirty="0"/>
            </a:br>
            <a:r>
              <a:rPr kumimoji="1" lang="en-US" altLang="zh-CN" dirty="0"/>
              <a:t>Hope</a:t>
            </a:r>
            <a:r>
              <a:rPr kumimoji="1" lang="zh-CN" altLang="en-US" dirty="0"/>
              <a:t> </a:t>
            </a:r>
            <a:r>
              <a:rPr kumimoji="1" lang="en-US" altLang="zh-CN" dirty="0"/>
              <a:t>to</a:t>
            </a:r>
            <a:r>
              <a:rPr kumimoji="1" lang="zh-CN" altLang="en-US" dirty="0"/>
              <a:t> </a:t>
            </a:r>
            <a:r>
              <a:rPr kumimoji="1" lang="en-US" altLang="zh-CN" dirty="0"/>
              <a:t>see</a:t>
            </a:r>
            <a:r>
              <a:rPr kumimoji="1" lang="zh-CN" altLang="en-US" dirty="0"/>
              <a:t> </a:t>
            </a:r>
            <a:r>
              <a:rPr kumimoji="1" lang="en-US" altLang="zh-CN" dirty="0"/>
              <a:t>you</a:t>
            </a:r>
            <a:r>
              <a:rPr kumimoji="1" lang="zh-CN" altLang="en-US" dirty="0"/>
              <a:t> </a:t>
            </a:r>
            <a:r>
              <a:rPr kumimoji="1" lang="en-US" altLang="zh-CN" dirty="0"/>
              <a:t>again</a:t>
            </a:r>
            <a:r>
              <a:rPr kumimoji="1" lang="zh-CN" altLang="en-US" dirty="0"/>
              <a:t> </a:t>
            </a:r>
            <a:r>
              <a:rPr kumimoji="1" lang="en-US" altLang="zh-CN" dirty="0"/>
              <a:t>in</a:t>
            </a:r>
            <a:r>
              <a:rPr kumimoji="1" lang="zh-CN" altLang="en-US" dirty="0"/>
              <a:t> </a:t>
            </a:r>
            <a:r>
              <a:rPr kumimoji="1" lang="en-US" altLang="zh-CN" dirty="0"/>
              <a:t>1</a:t>
            </a:r>
            <a:r>
              <a:rPr kumimoji="1" lang="zh-CN" altLang="en-US" dirty="0"/>
              <a:t> </a:t>
            </a:r>
            <a:r>
              <a:rPr kumimoji="1" lang="en-US" altLang="zh-CN" dirty="0"/>
              <a:t>or</a:t>
            </a:r>
            <a:r>
              <a:rPr kumimoji="1" lang="zh-CN" altLang="en-US" dirty="0"/>
              <a:t> </a:t>
            </a:r>
            <a:r>
              <a:rPr kumimoji="1" lang="en-US" altLang="zh-CN" dirty="0"/>
              <a:t>2</a:t>
            </a:r>
            <a:r>
              <a:rPr kumimoji="1" lang="zh-CN" altLang="en-US" dirty="0"/>
              <a:t> </a:t>
            </a:r>
            <a:r>
              <a:rPr kumimoji="1" lang="en-US" altLang="zh-CN" dirty="0"/>
              <a:t>years</a:t>
            </a:r>
            <a:endParaRPr kumimoji="1" lang="zh-CN" altLang="en-US" dirty="0"/>
          </a:p>
        </p:txBody>
      </p:sp>
    </p:spTree>
    <p:extLst>
      <p:ext uri="{BB962C8B-B14F-4D97-AF65-F5344CB8AC3E}">
        <p14:creationId xmlns:p14="http://schemas.microsoft.com/office/powerpoint/2010/main" val="2637780850"/>
      </p:ext>
    </p:extLst>
  </p:cSld>
  <p:clrMapOvr>
    <a:masterClrMapping/>
  </p:clrMapOvr>
  <p:transition/>
</p:sld>
</file>

<file path=ppt/theme/theme1.xml><?xml version="1.0" encoding="utf-8"?>
<a:theme xmlns:a="http://schemas.openxmlformats.org/drawingml/2006/main" name="iiis-os">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AA"/>
        </a:solidFill>
        <a:ln w="25400" cap="flat" cmpd="sng" algn="ctr">
          <a:solidFill>
            <a:schemeClr val="tx1"/>
          </a:solidFill>
          <a:prstDash val="solid"/>
          <a:round/>
          <a:headEnd type="triangle" w="med" len="med"/>
          <a:tailEnd type="none" w="med" len="med"/>
        </a:ln>
        <a:effectLst/>
      </a:spPr>
      <a:bodyPr rtlCol="0" anchor="ctr"/>
      <a:lstStyle>
        <a:defPPr algn="ctr">
          <a:defRPr b="0" dirty="0" smtClean="0">
            <a:latin typeface="Helvetica"/>
            <a:cs typeface="Helvetica"/>
          </a:defRPr>
        </a:defPPr>
      </a:lstStyle>
    </a:spDef>
    <a:lnDef>
      <a:spPr bwMode="auto">
        <a:solidFill>
          <a:schemeClr val="bg1"/>
        </a:solidFill>
        <a:ln w="38100" cap="flat" cmpd="sng" algn="ctr">
          <a:solidFill>
            <a:schemeClr val="tx1"/>
          </a:solidFill>
          <a:prstDash val="solid"/>
          <a:round/>
          <a:headEnd type="none" w="med" len="med"/>
          <a:tailEnd type="triangle"/>
        </a:ln>
        <a:effectLst/>
      </a:spPr>
      <a:bodyPr/>
      <a:lstStyle/>
    </a:lnDef>
    <a:txDef>
      <a:spPr>
        <a:noFill/>
      </a:spPr>
      <a:bodyPr wrap="none" rtlCol="0">
        <a:spAutoFit/>
      </a:bodyPr>
      <a:lstStyle>
        <a:defPPr>
          <a:defRPr sz="2000" b="0" dirty="0" smtClean="0">
            <a:latin typeface="Helvetica"/>
            <a:cs typeface="Helvetica"/>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iiis-os</Template>
  <TotalTime>97219</TotalTime>
  <Pages>60</Pages>
  <Words>3635</Words>
  <Application>Microsoft Macintosh PowerPoint</Application>
  <PresentationFormat>全屏显示(4:3)</PresentationFormat>
  <Paragraphs>724</Paragraphs>
  <Slides>103</Slides>
  <Notes>21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103</vt:i4>
      </vt:variant>
    </vt:vector>
  </HeadingPairs>
  <TitlesOfParts>
    <vt:vector size="116" baseType="lpstr">
      <vt:lpstr>Gulim</vt:lpstr>
      <vt:lpstr>MS PGothic</vt:lpstr>
      <vt:lpstr>MS PGothic</vt:lpstr>
      <vt:lpstr>Arial</vt:lpstr>
      <vt:lpstr>Comic Sans MS</vt:lpstr>
      <vt:lpstr>Consolas</vt:lpstr>
      <vt:lpstr>Courier New</vt:lpstr>
      <vt:lpstr>Gill Sans</vt:lpstr>
      <vt:lpstr>Helvetica</vt:lpstr>
      <vt:lpstr>Prestige Elite Std</vt:lpstr>
      <vt:lpstr>Tahoma</vt:lpstr>
      <vt:lpstr>Times New Roman</vt:lpstr>
      <vt:lpstr>iiis-os</vt:lpstr>
      <vt:lpstr> Introduction to Computer Systems   Lecture 14  Great Ideas in Computer Systems  aka. Semester Review</vt:lpstr>
      <vt:lpstr>Final Administrivia</vt:lpstr>
      <vt:lpstr>PowerPoint 演示文稿</vt:lpstr>
      <vt:lpstr>Fundamental challenges in systems</vt:lpstr>
      <vt:lpstr>Everything should be made as simple as possible, but no simpler. (A. Einstein)   An engineer is a man who can do for a dime what any fool can do for a dollar. (Anonymous)</vt:lpstr>
      <vt:lpstr>Challenges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Four threads cross the entire course</vt:lpstr>
      <vt:lpstr>PowerPoint 演示文稿</vt:lpstr>
      <vt:lpstr>PowerPoint 演示文稿</vt:lpstr>
      <vt:lpstr>PowerPoint 演示文稿</vt:lpstr>
      <vt:lpstr>PowerPoint 演示文稿</vt:lpstr>
      <vt:lpstr>Interface: abstraction</vt:lpstr>
      <vt:lpstr>The key interfaces in systems?</vt:lpstr>
      <vt:lpstr>Design principles for a good interface</vt:lpstr>
      <vt:lpstr>Interface</vt:lpstr>
      <vt:lpstr>PowerPoint 演示文稿</vt:lpstr>
      <vt:lpstr>Great design of the Unix shell</vt:lpstr>
      <vt:lpstr>Five Layers Summary</vt:lpstr>
      <vt:lpstr>PowerPoint 演示文稿</vt:lpstr>
      <vt:lpstr>PowerPoint 演示文稿</vt:lpstr>
      <vt:lpstr>PowerPoint 演示文稿</vt:lpstr>
      <vt:lpstr>The Internet Hourglass</vt:lpstr>
      <vt:lpstr>PowerPoint 演示文稿</vt:lpstr>
      <vt:lpstr>Motivation for Monitors and Condition Variables</vt:lpstr>
      <vt:lpstr>Interface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Interface</vt:lpstr>
      <vt:lpstr>Atomic Operations</vt:lpstr>
      <vt:lpstr>The big picture of synchronization</vt:lpstr>
      <vt:lpstr>PowerPoint 演示文稿</vt:lpstr>
      <vt:lpstr> Monitor with Condition Variables</vt:lpstr>
      <vt:lpstr>Java Language High-level Synchronization</vt:lpstr>
      <vt:lpstr>The ACID properties of Transactions</vt:lpstr>
      <vt:lpstr>Read/Writer Lock</vt:lpstr>
      <vt:lpstr>Ex: Creating a file (as a transaction)</vt:lpstr>
      <vt:lpstr>Two-Phase Locking (2PL)</vt:lpstr>
      <vt:lpstr>Locality and caching</vt:lpstr>
      <vt:lpstr>Caching Ideas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Use Caching to Reduce Network Load</vt:lpstr>
      <vt:lpstr>Popular Semantics of File Sharing</vt:lpstr>
      <vt:lpstr>Performance:  Batching and parallelism</vt:lpstr>
      <vt:lpstr>Parallelism makes modern computer systems work</vt:lpstr>
      <vt:lpstr>PowerPoint 演示文稿</vt:lpstr>
      <vt:lpstr>PowerPoint 演示文稿</vt:lpstr>
      <vt:lpstr>PowerPoint 演示文稿</vt:lpstr>
      <vt:lpstr>PowerPoint 演示文稿</vt:lpstr>
      <vt:lpstr>Four requirements for Deadlock</vt:lpstr>
      <vt:lpstr>Git Merging Conflict</vt:lpstr>
      <vt:lpstr>Interfaces to Parallelism</vt:lpstr>
      <vt:lpstr>Time sharing / multiplexing</vt:lpstr>
      <vt:lpstr>PowerPoint 演示文稿</vt:lpstr>
      <vt:lpstr>Multiple Processes / Threads  Collaborate on a Task </vt:lpstr>
      <vt:lpstr>PowerPoint 演示文稿</vt:lpstr>
      <vt:lpstr>Packet Switching — Statistical Multiplexing</vt:lpstr>
      <vt:lpstr>Concurrent Execution &amp; Transactions</vt:lpstr>
      <vt:lpstr>Two-Phase Locking (2PL)</vt:lpstr>
      <vt:lpstr>Four requirements for Deadlock</vt:lpstr>
      <vt:lpstr>Intuitive TCP flow control</vt:lpstr>
      <vt:lpstr>Indirection  (name resolution)</vt:lpstr>
      <vt:lpstr>PowerPoint 演示文稿</vt:lpstr>
      <vt:lpstr>PowerPoint 演示文稿</vt:lpstr>
      <vt:lpstr>Protection (against stupidness)</vt:lpstr>
      <vt:lpstr>PowerPoint 演示文稿</vt:lpstr>
      <vt:lpstr>PowerPoint 演示文稿</vt:lpstr>
      <vt:lpstr>PowerPoint 演示文稿</vt:lpstr>
      <vt:lpstr>PowerPoint 演示文稿</vt:lpstr>
      <vt:lpstr>Separation of  Policy and mechanism</vt:lpstr>
      <vt:lpstr>PowerPoint 演示文稿</vt:lpstr>
      <vt:lpstr>PowerPoint 演示文稿</vt:lpstr>
      <vt:lpstr>Data structures in systems</vt:lpstr>
      <vt:lpstr>A chain of fixed sized blocks</vt:lpstr>
      <vt:lpstr>PowerPoint 演示文稿</vt:lpstr>
      <vt:lpstr>PowerPoint 演示文稿</vt:lpstr>
      <vt:lpstr>PowerPoint 演示文稿</vt:lpstr>
      <vt:lpstr>PowerPoint 演示文稿</vt:lpstr>
      <vt:lpstr>Write-ahead logs</vt:lpstr>
      <vt:lpstr>Final words …</vt:lpstr>
      <vt:lpstr>Systems courses</vt:lpstr>
      <vt:lpstr>Research / industry trend in systems</vt:lpstr>
      <vt:lpstr>Systems Courses @ IIIS</vt:lpstr>
      <vt:lpstr>Thank you for the semester  Good luck in your exams and projects  Hope to see you again in 1 or 2 years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Wei Xu</cp:lastModifiedBy>
  <cp:revision>1931</cp:revision>
  <cp:lastPrinted>2013-04-25T07:40:13Z</cp:lastPrinted>
  <dcterms:created xsi:type="dcterms:W3CDTF">2011-04-13T03:37:24Z</dcterms:created>
  <dcterms:modified xsi:type="dcterms:W3CDTF">2026-06-12T01:20:19Z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