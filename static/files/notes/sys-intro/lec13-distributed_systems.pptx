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550" r:id="rId1"/>
  </p:sldMasterIdLst>
  <p:notesMasterIdLst>
    <p:notesMasterId r:id="rId42"/>
  </p:notesMasterIdLst>
  <p:handoutMasterIdLst>
    <p:handoutMasterId r:id="rId43"/>
  </p:handoutMasterIdLst>
  <p:sldIdLst>
    <p:sldId id="449" r:id="rId2"/>
    <p:sldId id="1555" r:id="rId3"/>
    <p:sldId id="359" r:id="rId4"/>
    <p:sldId id="259" r:id="rId5"/>
    <p:sldId id="360" r:id="rId6"/>
    <p:sldId id="1548" r:id="rId7"/>
    <p:sldId id="1580" r:id="rId8"/>
    <p:sldId id="1549" r:id="rId9"/>
    <p:sldId id="260" r:id="rId10"/>
    <p:sldId id="262" r:id="rId11"/>
    <p:sldId id="363" r:id="rId12"/>
    <p:sldId id="1073" r:id="rId13"/>
    <p:sldId id="374" r:id="rId14"/>
    <p:sldId id="375" r:id="rId15"/>
    <p:sldId id="378" r:id="rId16"/>
    <p:sldId id="379" r:id="rId17"/>
    <p:sldId id="1540" r:id="rId18"/>
    <p:sldId id="1541" r:id="rId19"/>
    <p:sldId id="1544" r:id="rId20"/>
    <p:sldId id="439" r:id="rId21"/>
    <p:sldId id="440" r:id="rId22"/>
    <p:sldId id="420" r:id="rId23"/>
    <p:sldId id="421" r:id="rId24"/>
    <p:sldId id="479" r:id="rId25"/>
    <p:sldId id="358" r:id="rId26"/>
    <p:sldId id="450" r:id="rId27"/>
    <p:sldId id="1573" r:id="rId28"/>
    <p:sldId id="480" r:id="rId29"/>
    <p:sldId id="446" r:id="rId30"/>
    <p:sldId id="361" r:id="rId31"/>
    <p:sldId id="1574" r:id="rId32"/>
    <p:sldId id="1542" r:id="rId33"/>
    <p:sldId id="384" r:id="rId34"/>
    <p:sldId id="1543" r:id="rId35"/>
    <p:sldId id="1575" r:id="rId36"/>
    <p:sldId id="1576" r:id="rId37"/>
    <p:sldId id="493" r:id="rId38"/>
    <p:sldId id="494" r:id="rId39"/>
    <p:sldId id="495" r:id="rId40"/>
    <p:sldId id="1579" r:id="rId41"/>
  </p:sldIdLst>
  <p:sldSz cx="9144000" cy="6858000" type="screen4x3"/>
  <p:notesSz cx="9601200" cy="7315200"/>
  <p:kinsoku lang="zh-CN"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hiddenSlides="1" frameSlides="1"/>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39"/>
    <p:restoredTop sz="75242"/>
  </p:normalViewPr>
  <p:slideViewPr>
    <p:cSldViewPr>
      <p:cViewPr>
        <p:scale>
          <a:sx n="99" d="100"/>
          <a:sy n="99" d="100"/>
        </p:scale>
        <p:origin x="2248"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393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713AAB0F-AB5B-7055-3134-0F8A41D0C06F}"/>
              </a:ext>
            </a:extLst>
          </p:cNvPr>
          <p:cNvSpPr>
            <a:spLocks noChangeArrowheads="1"/>
          </p:cNvSpPr>
          <p:nvPr/>
        </p:nvSpPr>
        <p:spPr bwMode="auto">
          <a:xfrm>
            <a:off x="4405313" y="6956425"/>
            <a:ext cx="792162" cy="271463"/>
          </a:xfrm>
          <a:prstGeom prst="rect">
            <a:avLst/>
          </a:prstGeom>
          <a:noFill/>
          <a:ln w="12700">
            <a:noFill/>
            <a:miter lim="800000"/>
            <a:headEnd/>
            <a:tailEnd/>
          </a:ln>
        </p:spPr>
        <p:txBody>
          <a:bodyPr wrap="none" lIns="92315" tIns="46997" rIns="92315" bIns="46997">
            <a:spAutoFit/>
          </a:bodyPr>
          <a:lstStyle>
            <a:lvl1pPr defTabSz="917575" eaLnBrk="0" hangingPunct="0">
              <a:defRPr sz="2400" b="1">
                <a:solidFill>
                  <a:schemeClr val="tx1"/>
                </a:solidFill>
                <a:latin typeface="Comic Sans MS" panose="030F0902030302020204" pitchFamily="66" charset="0"/>
                <a:ea typeface="MS PGothic" panose="020B0600070205080204" pitchFamily="34" charset="-128"/>
              </a:defRPr>
            </a:lvl1pPr>
            <a:lvl2pPr marL="742950" indent="-285750" defTabSz="917575" eaLnBrk="0" hangingPunct="0">
              <a:defRPr sz="2400" b="1">
                <a:solidFill>
                  <a:schemeClr val="tx1"/>
                </a:solidFill>
                <a:latin typeface="Comic Sans MS" panose="030F0902030302020204" pitchFamily="66" charset="0"/>
                <a:ea typeface="MS PGothic" panose="020B0600070205080204" pitchFamily="34" charset="-128"/>
              </a:defRPr>
            </a:lvl2pPr>
            <a:lvl3pPr marL="1143000" indent="-228600" defTabSz="917575" eaLnBrk="0" hangingPunct="0">
              <a:defRPr sz="2400" b="1">
                <a:solidFill>
                  <a:schemeClr val="tx1"/>
                </a:solidFill>
                <a:latin typeface="Comic Sans MS" panose="030F0902030302020204" pitchFamily="66" charset="0"/>
                <a:ea typeface="MS PGothic" panose="020B0600070205080204" pitchFamily="34" charset="-128"/>
              </a:defRPr>
            </a:lvl3pPr>
            <a:lvl4pPr marL="1600200" indent="-228600" defTabSz="917575" eaLnBrk="0" hangingPunct="0">
              <a:defRPr sz="2400" b="1">
                <a:solidFill>
                  <a:schemeClr val="tx1"/>
                </a:solidFill>
                <a:latin typeface="Comic Sans MS" panose="030F0902030302020204" pitchFamily="66" charset="0"/>
                <a:ea typeface="MS PGothic" panose="020B0600070205080204" pitchFamily="34" charset="-128"/>
              </a:defRPr>
            </a:lvl4pPr>
            <a:lvl5pPr marL="2057400" indent="-228600" defTabSz="917575" eaLnBrk="0" hangingPunct="0">
              <a:defRPr sz="2400" b="1">
                <a:solidFill>
                  <a:schemeClr val="tx1"/>
                </a:solidFill>
                <a:latin typeface="Comic Sans MS" panose="030F0902030302020204" pitchFamily="66" charset="0"/>
                <a:ea typeface="MS PGothic"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9pPr>
          </a:lstStyle>
          <a:p>
            <a:pPr algn="ctr">
              <a:lnSpc>
                <a:spcPct val="90000"/>
              </a:lnSpc>
            </a:pPr>
            <a:r>
              <a:rPr lang="en-US" altLang="zh-CN" sz="1300" b="0"/>
              <a:t>Page </a:t>
            </a:r>
            <a:fld id="{ED1CB255-028B-0947-A6A7-F9B73D3B5669}" type="slidenum">
              <a:rPr lang="en-US" altLang="zh-CN" sz="1300" b="0"/>
              <a:pPr algn="ctr">
                <a:lnSpc>
                  <a:spcPct val="90000"/>
                </a:lnSpc>
              </a:pPr>
              <a:t>‹#›</a:t>
            </a:fld>
            <a:endParaRPr lang="en-US" altLang="zh-CN" sz="1300" b="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4AFB6C9A-9A51-77A9-FB98-3F8760320AAE}"/>
              </a:ext>
            </a:extLst>
          </p:cNvPr>
          <p:cNvSpPr>
            <a:spLocks noChangeArrowheads="1"/>
          </p:cNvSpPr>
          <p:nvPr/>
        </p:nvSpPr>
        <p:spPr bwMode="auto">
          <a:xfrm>
            <a:off x="4405313" y="6956425"/>
            <a:ext cx="792162" cy="271463"/>
          </a:xfrm>
          <a:prstGeom prst="rect">
            <a:avLst/>
          </a:prstGeom>
          <a:noFill/>
          <a:ln w="12700">
            <a:noFill/>
            <a:miter lim="800000"/>
            <a:headEnd/>
            <a:tailEnd/>
          </a:ln>
        </p:spPr>
        <p:txBody>
          <a:bodyPr wrap="none" lIns="92315" tIns="46997" rIns="92315" bIns="46997">
            <a:spAutoFit/>
          </a:bodyPr>
          <a:lstStyle>
            <a:lvl1pPr defTabSz="917575" eaLnBrk="0" hangingPunct="0">
              <a:defRPr sz="2400" b="1">
                <a:solidFill>
                  <a:schemeClr val="tx1"/>
                </a:solidFill>
                <a:latin typeface="Comic Sans MS" panose="030F0902030302020204" pitchFamily="66" charset="0"/>
                <a:ea typeface="MS PGothic" panose="020B0600070205080204" pitchFamily="34" charset="-128"/>
              </a:defRPr>
            </a:lvl1pPr>
            <a:lvl2pPr marL="742950" indent="-285750" defTabSz="917575" eaLnBrk="0" hangingPunct="0">
              <a:defRPr sz="2400" b="1">
                <a:solidFill>
                  <a:schemeClr val="tx1"/>
                </a:solidFill>
                <a:latin typeface="Comic Sans MS" panose="030F0902030302020204" pitchFamily="66" charset="0"/>
                <a:ea typeface="MS PGothic" panose="020B0600070205080204" pitchFamily="34" charset="-128"/>
              </a:defRPr>
            </a:lvl2pPr>
            <a:lvl3pPr marL="1143000" indent="-228600" defTabSz="917575" eaLnBrk="0" hangingPunct="0">
              <a:defRPr sz="2400" b="1">
                <a:solidFill>
                  <a:schemeClr val="tx1"/>
                </a:solidFill>
                <a:latin typeface="Comic Sans MS" panose="030F0902030302020204" pitchFamily="66" charset="0"/>
                <a:ea typeface="MS PGothic" panose="020B0600070205080204" pitchFamily="34" charset="-128"/>
              </a:defRPr>
            </a:lvl3pPr>
            <a:lvl4pPr marL="1600200" indent="-228600" defTabSz="917575" eaLnBrk="0" hangingPunct="0">
              <a:defRPr sz="2400" b="1">
                <a:solidFill>
                  <a:schemeClr val="tx1"/>
                </a:solidFill>
                <a:latin typeface="Comic Sans MS" panose="030F0902030302020204" pitchFamily="66" charset="0"/>
                <a:ea typeface="MS PGothic" panose="020B0600070205080204" pitchFamily="34" charset="-128"/>
              </a:defRPr>
            </a:lvl4pPr>
            <a:lvl5pPr marL="2057400" indent="-228600" defTabSz="917575" eaLnBrk="0" hangingPunct="0">
              <a:defRPr sz="2400" b="1">
                <a:solidFill>
                  <a:schemeClr val="tx1"/>
                </a:solidFill>
                <a:latin typeface="Comic Sans MS" panose="030F0902030302020204" pitchFamily="66" charset="0"/>
                <a:ea typeface="MS PGothic"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9pPr>
          </a:lstStyle>
          <a:p>
            <a:pPr algn="ctr">
              <a:lnSpc>
                <a:spcPct val="90000"/>
              </a:lnSpc>
            </a:pPr>
            <a:r>
              <a:rPr lang="en-US" altLang="zh-CN" sz="1300" b="0"/>
              <a:t>Page </a:t>
            </a:r>
            <a:fld id="{247FC3C1-0E12-004A-8847-DFA79F7280F6}" type="slidenum">
              <a:rPr lang="en-US" altLang="zh-CN" sz="1300" b="0"/>
              <a:pPr algn="ctr">
                <a:lnSpc>
                  <a:spcPct val="90000"/>
                </a:lnSpc>
              </a:pPr>
              <a:t>‹#›</a:t>
            </a:fld>
            <a:endParaRPr lang="en-US" altLang="zh-CN" sz="1300" b="0"/>
          </a:p>
        </p:txBody>
      </p:sp>
      <p:sp>
        <p:nvSpPr>
          <p:cNvPr id="26627" name="Rectangle 3">
            <a:extLst>
              <a:ext uri="{FF2B5EF4-FFF2-40B4-BE49-F238E27FC236}">
                <a16:creationId xmlns:a16="http://schemas.microsoft.com/office/drawing/2014/main" id="{F3C61290-B226-BF44-7297-7C56D17E9095}"/>
              </a:ext>
            </a:extLst>
          </p:cNvPr>
          <p:cNvSpPr>
            <a:spLocks noGrp="1" noRot="1" noChangeAspect="1" noChangeArrowheads="1" noTextEdit="1"/>
          </p:cNvSpPr>
          <p:nvPr>
            <p:ph type="sldImg" idx="2"/>
          </p:nvPr>
        </p:nvSpPr>
        <p:spPr bwMode="auto">
          <a:xfrm>
            <a:off x="2971800" y="547688"/>
            <a:ext cx="3659188" cy="27447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2" name="Rectangle 4">
            <a:extLst>
              <a:ext uri="{FF2B5EF4-FFF2-40B4-BE49-F238E27FC236}">
                <a16:creationId xmlns:a16="http://schemas.microsoft.com/office/drawing/2014/main" id="{862F0B79-47ED-A6D2-6F63-6B608175276C}"/>
              </a:ext>
            </a:extLst>
          </p:cNvPr>
          <p:cNvSpPr>
            <a:spLocks noGrp="1" noChangeArrowheads="1"/>
          </p:cNvSpPr>
          <p:nvPr>
            <p:ph type="body" sz="quarter" idx="3"/>
          </p:nvPr>
        </p:nvSpPr>
        <p:spPr bwMode="auto">
          <a:xfrm>
            <a:off x="1281113" y="3475038"/>
            <a:ext cx="7038975" cy="3292475"/>
          </a:xfrm>
          <a:prstGeom prst="rect">
            <a:avLst/>
          </a:prstGeom>
          <a:noFill/>
          <a:ln w="12700">
            <a:noFill/>
            <a:miter lim="800000"/>
            <a:headEnd/>
            <a:tailEnd/>
          </a:ln>
          <a:effectLst/>
        </p:spPr>
        <p:txBody>
          <a:bodyPr vert="horz" wrap="square" lIns="95672" tIns="46997" rIns="95672" bIns="46997"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charset="0"/>
        <a:ea typeface="MS PGothic" pitchFamily="34" charset="-128"/>
        <a:cs typeface="ＭＳ Ｐゴシック" charset="-128"/>
      </a:defRPr>
    </a:lvl1pPr>
    <a:lvl2pPr marL="457200" algn="l" rtl="0" eaLnBrk="0" fontAlgn="base" hangingPunct="0">
      <a:lnSpc>
        <a:spcPct val="90000"/>
      </a:lnSpc>
      <a:spcBef>
        <a:spcPct val="40000"/>
      </a:spcBef>
      <a:spcAft>
        <a:spcPct val="0"/>
      </a:spcAft>
      <a:defRPr sz="1200" kern="1200">
        <a:solidFill>
          <a:schemeClr val="tx1"/>
        </a:solidFill>
        <a:latin typeface="Comic Sans MS" charset="0"/>
        <a:ea typeface="MS PGothic" pitchFamily="34" charset="-128"/>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charset="0"/>
        <a:ea typeface="MS PGothic" pitchFamily="34" charset="-128"/>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charset="0"/>
        <a:ea typeface="MS PGothic" pitchFamily="34" charset="-128"/>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5C907514-A189-28D9-4B06-158DEE8FEC60}"/>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D32820D1-78B5-E708-F81B-92DC318A14B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Comic Sans MS" panose="030F0902030302020204" pitchFamily="66"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4261661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a:ln w="9525"/>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zh-CN">
              <a:ea typeface="MS PGothic" charset="0"/>
            </a:endParaRPr>
          </a:p>
        </p:txBody>
      </p:sp>
    </p:spTree>
    <p:extLst>
      <p:ext uri="{BB962C8B-B14F-4D97-AF65-F5344CB8AC3E}">
        <p14:creationId xmlns:p14="http://schemas.microsoft.com/office/powerpoint/2010/main" val="93472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ln w="9525"/>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zh-CN">
              <a:ea typeface="MS PGothic" charset="0"/>
            </a:endParaRPr>
          </a:p>
        </p:txBody>
      </p:sp>
    </p:spTree>
    <p:extLst>
      <p:ext uri="{BB962C8B-B14F-4D97-AF65-F5344CB8AC3E}">
        <p14:creationId xmlns:p14="http://schemas.microsoft.com/office/powerpoint/2010/main" val="32909892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noFill/>
          <a:ln w="9525"/>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zh-CN">
              <a:ea typeface="MS PGothic" charset="0"/>
            </a:endParaRPr>
          </a:p>
        </p:txBody>
      </p:sp>
    </p:spTree>
    <p:extLst>
      <p:ext uri="{BB962C8B-B14F-4D97-AF65-F5344CB8AC3E}">
        <p14:creationId xmlns:p14="http://schemas.microsoft.com/office/powerpoint/2010/main" val="2597910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w="9525"/>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zh-CN">
              <a:ea typeface="MS PGothic" charset="0"/>
            </a:endParaRPr>
          </a:p>
        </p:txBody>
      </p:sp>
    </p:spTree>
    <p:extLst>
      <p:ext uri="{BB962C8B-B14F-4D97-AF65-F5344CB8AC3E}">
        <p14:creationId xmlns:p14="http://schemas.microsoft.com/office/powerpoint/2010/main" val="3582266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1DCBEF38-2C0D-5244-837C-5F233DA167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A35FD93E-EF66-AF4F-843A-171C594E416E}" type="slidenum">
              <a:rPr lang="en-US" altLang="en-US"/>
              <a:pPr>
                <a:spcBef>
                  <a:spcPct val="0"/>
                </a:spcBef>
              </a:pPr>
              <a:t>20</a:t>
            </a:fld>
            <a:endParaRPr lang="en-US" altLang="en-US"/>
          </a:p>
        </p:txBody>
      </p:sp>
      <p:sp>
        <p:nvSpPr>
          <p:cNvPr id="52227" name="Rectangle 2">
            <a:extLst>
              <a:ext uri="{FF2B5EF4-FFF2-40B4-BE49-F238E27FC236}">
                <a16:creationId xmlns:a16="http://schemas.microsoft.com/office/drawing/2014/main" id="{6F9EA535-894B-504A-8A09-8A119B71174F}"/>
              </a:ext>
            </a:extLst>
          </p:cNvPr>
          <p:cNvSpPr>
            <a:spLocks noGrp="1" noRot="1" noChangeAspect="1" noChangeArrowheads="1" noTextEdit="1"/>
          </p:cNvSpPr>
          <p:nvPr>
            <p:ph type="sldImg"/>
          </p:nvPr>
        </p:nvSpPr>
        <p:spPr>
          <a:xfrm>
            <a:off x="3128963" y="731838"/>
            <a:ext cx="3343275" cy="2508250"/>
          </a:xfrm>
          <a:solidFill>
            <a:srgbClr val="FFFFFF"/>
          </a:solidFill>
          <a:ln/>
        </p:spPr>
      </p:sp>
      <p:sp>
        <p:nvSpPr>
          <p:cNvPr id="52228" name="Text Box 3">
            <a:extLst>
              <a:ext uri="{FF2B5EF4-FFF2-40B4-BE49-F238E27FC236}">
                <a16:creationId xmlns:a16="http://schemas.microsoft.com/office/drawing/2014/main" id="{1AEF596A-25EF-0646-903E-9F40519D3428}"/>
              </a:ext>
            </a:extLst>
          </p:cNvPr>
          <p:cNvSpPr>
            <a:spLocks noGrp="1" noChangeArrowheads="1"/>
          </p:cNvSpPr>
          <p:nvPr>
            <p:ph type="body" idx="1"/>
          </p:nvPr>
        </p:nvSpPr>
        <p:spPr>
          <a:xfrm>
            <a:off x="1465263" y="3482975"/>
            <a:ext cx="6678612" cy="2782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744" tIns="43372" rIns="86744" bIns="43372" anchor="ctr"/>
          <a:lstStyle/>
          <a:p>
            <a:r>
              <a:rPr lang="en-GB" altLang="en-US" dirty="0">
                <a:latin typeface="Arial" panose="020B0604020202020204" pitchFamily="34" charset="0"/>
                <a:ea typeface="ＭＳ Ｐゴシック" panose="020B0600070205080204" pitchFamily="34" charset="-128"/>
              </a:rPr>
              <a:t>Goal:</a:t>
            </a:r>
            <a:endParaRPr lang="en-US"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5180139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CFB5105E-9B33-5D4C-AC58-DFFD5304BC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7548C593-85E9-CC42-A574-098DC077D84B}" type="slidenum">
              <a:rPr lang="en-US" altLang="en-US"/>
              <a:pPr>
                <a:spcBef>
                  <a:spcPct val="0"/>
                </a:spcBef>
              </a:pPr>
              <a:t>21</a:t>
            </a:fld>
            <a:endParaRPr lang="en-US" altLang="en-US"/>
          </a:p>
        </p:txBody>
      </p:sp>
      <p:sp>
        <p:nvSpPr>
          <p:cNvPr id="54275" name="Rectangle 2">
            <a:extLst>
              <a:ext uri="{FF2B5EF4-FFF2-40B4-BE49-F238E27FC236}">
                <a16:creationId xmlns:a16="http://schemas.microsoft.com/office/drawing/2014/main" id="{81922AC0-271C-3642-AB20-59B8B32ED771}"/>
              </a:ext>
            </a:extLst>
          </p:cNvPr>
          <p:cNvSpPr>
            <a:spLocks noGrp="1" noRot="1" noChangeAspect="1" noChangeArrowheads="1" noTextEdit="1"/>
          </p:cNvSpPr>
          <p:nvPr>
            <p:ph type="sldImg"/>
          </p:nvPr>
        </p:nvSpPr>
        <p:spPr>
          <a:xfrm>
            <a:off x="3128963" y="731838"/>
            <a:ext cx="3343275" cy="2508250"/>
          </a:xfrm>
          <a:solidFill>
            <a:srgbClr val="FFFFFF"/>
          </a:solidFill>
          <a:ln/>
        </p:spPr>
      </p:sp>
      <p:sp>
        <p:nvSpPr>
          <p:cNvPr id="54276" name="Text Box 3">
            <a:extLst>
              <a:ext uri="{FF2B5EF4-FFF2-40B4-BE49-F238E27FC236}">
                <a16:creationId xmlns:a16="http://schemas.microsoft.com/office/drawing/2014/main" id="{31623F00-C5FA-3A45-A2D0-10024BEACB78}"/>
              </a:ext>
            </a:extLst>
          </p:cNvPr>
          <p:cNvSpPr>
            <a:spLocks noGrp="1" noChangeArrowheads="1"/>
          </p:cNvSpPr>
          <p:nvPr>
            <p:ph type="body" idx="1"/>
          </p:nvPr>
        </p:nvSpPr>
        <p:spPr>
          <a:xfrm>
            <a:off x="1465263" y="3482975"/>
            <a:ext cx="6678612" cy="2782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744" tIns="43372" rIns="86744" bIns="43372" anchor="ctr"/>
          <a:lstStyle/>
          <a:p>
            <a:r>
              <a:rPr lang="en-US" altLang="en-US">
                <a:latin typeface="Arial" panose="020B0604020202020204" pitchFamily="34" charset="0"/>
                <a:ea typeface="ＭＳ Ｐゴシック" panose="020B0600070205080204" pitchFamily="34" charset="-128"/>
              </a:rPr>
              <a:t>Question: What about Read/Read sharing? Why does AFS not have any assumptions about that? Because it does not matter and that does not cause consistency problems and files are cached locally anyways. </a:t>
            </a:r>
          </a:p>
        </p:txBody>
      </p:sp>
    </p:spTree>
    <p:extLst>
      <p:ext uri="{BB962C8B-B14F-4D97-AF65-F5344CB8AC3E}">
        <p14:creationId xmlns:p14="http://schemas.microsoft.com/office/powerpoint/2010/main" val="36058490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a:extLst>
              <a:ext uri="{FF2B5EF4-FFF2-40B4-BE49-F238E27FC236}">
                <a16:creationId xmlns:a16="http://schemas.microsoft.com/office/drawing/2014/main" id="{7471B54E-828B-4645-A148-9E208B4C150A}"/>
              </a:ext>
            </a:extLst>
          </p:cNvPr>
          <p:cNvSpPr>
            <a:spLocks noGrp="1" noRot="1" noChangeAspect="1" noChangeArrowheads="1" noTextEdit="1"/>
          </p:cNvSpPr>
          <p:nvPr>
            <p:ph type="sldImg"/>
          </p:nvPr>
        </p:nvSpPr>
        <p:spPr>
          <a:ln/>
        </p:spPr>
      </p:sp>
      <p:sp>
        <p:nvSpPr>
          <p:cNvPr id="75778" name="Notes Placeholder 2">
            <a:extLst>
              <a:ext uri="{FF2B5EF4-FFF2-40B4-BE49-F238E27FC236}">
                <a16:creationId xmlns:a16="http://schemas.microsoft.com/office/drawing/2014/main" id="{B8518288-591B-AE46-A0C6-BFC68511227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Another way that AFS improves performace (AFSv2) is to allow CallBacks to invalidate clients that have files cached. Think of “CallBacks” like promises by a AFS server that it will notify the clients in case the file changes (due to a write), which essentially invalidates their callback and that way the client knows that it needs to read the file again the next time since content has changed.  The nice part, its event driven rather than the clients having to constantly check with the server if the file changed and their cached copy is invalid. </a:t>
            </a:r>
          </a:p>
        </p:txBody>
      </p:sp>
      <p:sp>
        <p:nvSpPr>
          <p:cNvPr id="75779" name="Slide Number Placeholder 3">
            <a:extLst>
              <a:ext uri="{FF2B5EF4-FFF2-40B4-BE49-F238E27FC236}">
                <a16:creationId xmlns:a16="http://schemas.microsoft.com/office/drawing/2014/main" id="{72A9D120-F739-2E43-8225-074691C0CED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EB048692-A912-3142-AF5D-190277EFD959}" type="slidenum">
              <a:rPr lang="en-US" altLang="en-US" sz="1200"/>
              <a:pPr/>
              <a:t>23</a:t>
            </a:fld>
            <a:endParaRPr lang="en-US" altLang="en-US" sz="1200"/>
          </a:p>
        </p:txBody>
      </p:sp>
    </p:spTree>
    <p:extLst>
      <p:ext uri="{BB962C8B-B14F-4D97-AF65-F5344CB8AC3E}">
        <p14:creationId xmlns:p14="http://schemas.microsoft.com/office/powerpoint/2010/main" val="3925900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E3342987-A229-8047-84D7-5A1FBF9EBE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6C57C35A-1439-BF4D-B16B-4AE4ED575A24}" type="slidenum">
              <a:rPr lang="en-US" altLang="en-US"/>
              <a:pPr>
                <a:spcBef>
                  <a:spcPct val="0"/>
                </a:spcBef>
              </a:pPr>
              <a:t>25</a:t>
            </a:fld>
            <a:endParaRPr lang="en-US" altLang="en-US"/>
          </a:p>
        </p:txBody>
      </p:sp>
      <p:sp>
        <p:nvSpPr>
          <p:cNvPr id="79874" name="Rectangle 2">
            <a:extLst>
              <a:ext uri="{FF2B5EF4-FFF2-40B4-BE49-F238E27FC236}">
                <a16:creationId xmlns:a16="http://schemas.microsoft.com/office/drawing/2014/main" id="{D24A3441-8B3C-0342-AA33-BC96806567C7}"/>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858A5513-340B-F944-B7AD-61D11A0FD0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069876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a:extLst>
              <a:ext uri="{FF2B5EF4-FFF2-40B4-BE49-F238E27FC236}">
                <a16:creationId xmlns:a16="http://schemas.microsoft.com/office/drawing/2014/main" id="{64686EE0-DD13-844E-9D60-60232FD76F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B691DF7C-BB8F-1F4C-9D8E-8DAFBFF02198}" type="slidenum">
              <a:rPr lang="en-US" altLang="en-US"/>
              <a:pPr>
                <a:spcBef>
                  <a:spcPct val="0"/>
                </a:spcBef>
              </a:pPr>
              <a:t>26</a:t>
            </a:fld>
            <a:endParaRPr lang="en-US" altLang="en-US"/>
          </a:p>
        </p:txBody>
      </p:sp>
      <p:sp>
        <p:nvSpPr>
          <p:cNvPr id="125954" name="Rectangle 2">
            <a:extLst>
              <a:ext uri="{FF2B5EF4-FFF2-40B4-BE49-F238E27FC236}">
                <a16:creationId xmlns:a16="http://schemas.microsoft.com/office/drawing/2014/main" id="{586FBC26-3805-D14C-859D-CD938EEDE900}"/>
              </a:ext>
            </a:extLst>
          </p:cNvPr>
          <p:cNvSpPr>
            <a:spLocks noGrp="1" noRot="1" noChangeAspect="1" noChangeArrowheads="1" noTextEdit="1"/>
          </p:cNvSpPr>
          <p:nvPr>
            <p:ph type="sldImg"/>
          </p:nvPr>
        </p:nvSpPr>
        <p:spPr>
          <a:ln/>
        </p:spPr>
      </p:sp>
      <p:sp>
        <p:nvSpPr>
          <p:cNvPr id="125955" name="Rectangle 3">
            <a:extLst>
              <a:ext uri="{FF2B5EF4-FFF2-40B4-BE49-F238E27FC236}">
                <a16:creationId xmlns:a16="http://schemas.microsoft.com/office/drawing/2014/main" id="{FAA925ED-37A8-5142-8FC8-53B9792519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6831875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A8867F5C-A32D-DC4C-B887-7A03833E6E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7149FEFD-F690-C742-AA70-8955FD375154}" type="slidenum">
              <a:rPr lang="en-US" altLang="en-US"/>
              <a:pPr>
                <a:spcBef>
                  <a:spcPct val="0"/>
                </a:spcBef>
              </a:pPr>
              <a:t>27</a:t>
            </a:fld>
            <a:endParaRPr lang="en-US" altLang="en-US"/>
          </a:p>
        </p:txBody>
      </p:sp>
      <p:sp>
        <p:nvSpPr>
          <p:cNvPr id="81922" name="Rectangle 2">
            <a:extLst>
              <a:ext uri="{FF2B5EF4-FFF2-40B4-BE49-F238E27FC236}">
                <a16:creationId xmlns:a16="http://schemas.microsoft.com/office/drawing/2014/main" id="{85D0EBE2-9707-8B47-87DC-ECA360F7AF05}"/>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2CC5A5D7-0730-FC42-A98C-D06BF9DCDF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latin typeface="Arial" panose="020B0604020202020204" pitchFamily="34" charset="0"/>
                <a:ea typeface="ＭＳ Ｐゴシック" panose="020B0600070205080204" pitchFamily="34" charset="-128"/>
              </a:rPr>
              <a:t>Chunk-based I/O</a:t>
            </a:r>
          </a:p>
          <a:p>
            <a:pPr lvl="1"/>
            <a:r>
              <a:rPr lang="en-GB" altLang="en-US">
                <a:latin typeface="Arial" panose="020B0604020202020204" pitchFamily="34" charset="0"/>
                <a:ea typeface="ＭＳ Ｐゴシック" panose="020B0600070205080204" pitchFamily="34" charset="-128"/>
              </a:rPr>
              <a:t>No real consistency guarantees</a:t>
            </a:r>
          </a:p>
          <a:p>
            <a:pPr lvl="1"/>
            <a:r>
              <a:rPr lang="en-GB" altLang="en-US">
                <a:latin typeface="Arial" panose="020B0604020202020204" pitchFamily="34" charset="0"/>
                <a:ea typeface="ＭＳ Ｐゴシック" panose="020B0600070205080204" pitchFamily="34" charset="-128"/>
              </a:rPr>
              <a:t>close() failures surprising to many Unix programs</a:t>
            </a:r>
          </a:p>
          <a:p>
            <a:pPr lvl="2"/>
            <a:r>
              <a:rPr lang="en-GB" altLang="en-US">
                <a:latin typeface="Arial" panose="020B0604020202020204" pitchFamily="34" charset="0"/>
                <a:ea typeface="ＭＳ Ｐゴシック" panose="020B0600070205080204" pitchFamily="34" charset="-128"/>
              </a:rPr>
              <a:t>...and to early Linux kernels!</a:t>
            </a:r>
          </a:p>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967649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337DD5F4-3C05-A345-A4B1-B163DACCCE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7D5DDFED-E904-E54B-86E3-33DFB61FA74D}" type="slidenum">
              <a:rPr lang="en-US" altLang="en-US"/>
              <a:pPr>
                <a:spcBef>
                  <a:spcPct val="0"/>
                </a:spcBef>
              </a:pPr>
              <a:t>30</a:t>
            </a:fld>
            <a:endParaRPr lang="en-US" altLang="en-US"/>
          </a:p>
        </p:txBody>
      </p:sp>
      <p:sp>
        <p:nvSpPr>
          <p:cNvPr id="83971" name="Rectangle 2">
            <a:extLst>
              <a:ext uri="{FF2B5EF4-FFF2-40B4-BE49-F238E27FC236}">
                <a16:creationId xmlns:a16="http://schemas.microsoft.com/office/drawing/2014/main" id="{5FC50655-9F3E-974C-A708-E8E1518CD829}"/>
              </a:ext>
            </a:extLst>
          </p:cNvPr>
          <p:cNvSpPr>
            <a:spLocks noGrp="1" noRot="1" noChangeAspect="1" noChangeArrowheads="1" noTextEdit="1"/>
          </p:cNvSpPr>
          <p:nvPr>
            <p:ph type="sldImg"/>
          </p:nvPr>
        </p:nvSpPr>
        <p:spPr>
          <a:xfrm>
            <a:off x="3128963" y="731838"/>
            <a:ext cx="3343275" cy="2508250"/>
          </a:xfrm>
          <a:solidFill>
            <a:srgbClr val="FFFFFF"/>
          </a:solidFill>
          <a:ln/>
        </p:spPr>
      </p:sp>
      <p:sp>
        <p:nvSpPr>
          <p:cNvPr id="83972" name="Text Box 3">
            <a:extLst>
              <a:ext uri="{FF2B5EF4-FFF2-40B4-BE49-F238E27FC236}">
                <a16:creationId xmlns:a16="http://schemas.microsoft.com/office/drawing/2014/main" id="{2C288EF8-7CAA-3045-AF7E-195B2DEB41EC}"/>
              </a:ext>
            </a:extLst>
          </p:cNvPr>
          <p:cNvSpPr>
            <a:spLocks noGrp="1" noChangeArrowheads="1"/>
          </p:cNvSpPr>
          <p:nvPr>
            <p:ph type="body" idx="1"/>
          </p:nvPr>
        </p:nvSpPr>
        <p:spPr>
          <a:xfrm>
            <a:off x="1465263" y="3482975"/>
            <a:ext cx="6678612" cy="2782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744" tIns="43372" rIns="86744" bIns="43372" anchor="ctr"/>
          <a:lstStyle/>
          <a:p>
            <a:r>
              <a:rPr lang="en-US" altLang="en-US" dirty="0">
                <a:latin typeface="Arial" panose="020B0604020202020204" pitchFamily="34" charset="0"/>
                <a:ea typeface="ＭＳ Ｐゴシック" panose="020B0600070205080204" pitchFamily="34" charset="-128"/>
              </a:rPr>
              <a:t>AFS also operates on a file granularity, so the last writer wins.  Again, remember these assumptions come from the user model and workloads that AFS was designed for. Thought question: would this work for something like a collaborative document editing system like </a:t>
            </a:r>
            <a:r>
              <a:rPr lang="en-US" altLang="en-US" dirty="0" err="1">
                <a:latin typeface="Arial" panose="020B0604020202020204" pitchFamily="34" charset="0"/>
                <a:ea typeface="ＭＳ Ｐゴシック" panose="020B0600070205080204" pitchFamily="34" charset="-128"/>
              </a:rPr>
              <a:t>GoogleDocs</a:t>
            </a:r>
            <a:r>
              <a:rPr lang="en-US" altLang="en-US" dirty="0">
                <a:latin typeface="Arial" panose="020B0604020202020204" pitchFamily="34" charset="0"/>
                <a:ea typeface="ＭＳ Ｐゴシック" panose="020B0600070205080204" pitchFamily="34" charset="-128"/>
              </a:rPr>
              <a:t>? </a:t>
            </a:r>
          </a:p>
          <a:p>
            <a:endParaRPr lang="en-US"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2738872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a:ln w="9525"/>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zh-CN">
              <a:ea typeface="MS PGothic" charset="0"/>
            </a:endParaRPr>
          </a:p>
        </p:txBody>
      </p:sp>
    </p:spTree>
    <p:extLst>
      <p:ext uri="{BB962C8B-B14F-4D97-AF65-F5344CB8AC3E}">
        <p14:creationId xmlns:p14="http://schemas.microsoft.com/office/powerpoint/2010/main" val="23864272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a:ln w="9525"/>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zh-CN">
              <a:ea typeface="MS PGothic" charset="0"/>
            </a:endParaRPr>
          </a:p>
        </p:txBody>
      </p:sp>
    </p:spTree>
    <p:extLst>
      <p:ext uri="{BB962C8B-B14F-4D97-AF65-F5344CB8AC3E}">
        <p14:creationId xmlns:p14="http://schemas.microsoft.com/office/powerpoint/2010/main" val="6972386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685800" y="2130425"/>
            <a:ext cx="7772400" cy="1470025"/>
          </a:xfrm>
        </p:spPr>
        <p:txBody>
          <a:bodyPr/>
          <a:lstStyle>
            <a:lvl1pPr>
              <a:defRPr sz="3600"/>
            </a:lvl1pPr>
          </a:lstStyle>
          <a:p>
            <a:r>
              <a:rPr lang="zh-CN" altLang="en-US"/>
              <a:t>单击此处编辑母版标题样式</a:t>
            </a:r>
            <a:endParaRPr lang="en-US"/>
          </a:p>
        </p:txBody>
      </p:sp>
      <p:sp>
        <p:nvSpPr>
          <p:cNvPr id="128003"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a:t>单击此处编辑母版副标题样式</a:t>
            </a:r>
            <a:endParaRPr lang="en-US"/>
          </a:p>
        </p:txBody>
      </p:sp>
      <p:pic>
        <p:nvPicPr>
          <p:cNvPr id="4" name="Picture 1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6200"/>
            <a:ext cx="1270000" cy="974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aphicFrame>
        <p:nvGraphicFramePr>
          <p:cNvPr id="5" name="Object 2"/>
          <p:cNvGraphicFramePr>
            <a:graphicFrameLocks noChangeAspect="1"/>
          </p:cNvGraphicFramePr>
          <p:nvPr/>
        </p:nvGraphicFramePr>
        <p:xfrm>
          <a:off x="0" y="6781800"/>
          <a:ext cx="9144000" cy="87313"/>
        </p:xfrm>
        <a:graphic>
          <a:graphicData uri="http://schemas.openxmlformats.org/presentationml/2006/ole">
            <mc:AlternateContent xmlns:mc="http://schemas.openxmlformats.org/markup-compatibility/2006">
              <mc:Choice xmlns:v="urn:schemas-microsoft-com:vml" Requires="v">
                <p:oleObj name="Image" r:id="rId3" imgW="10057143" imgH="1269841" progId="Photoshop.Image.7">
                  <p:embed/>
                </p:oleObj>
              </mc:Choice>
              <mc:Fallback>
                <p:oleObj name="Image" r:id="rId3" imgW="10057143" imgH="1269841" progId="Photoshop.Image.7">
                  <p:embed/>
                  <p:pic>
                    <p:nvPicPr>
                      <p:cNvPr id="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781800"/>
                        <a:ext cx="9144000" cy="873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74139187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32387577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413802143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09600" y="914400"/>
            <a:ext cx="38862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4648200" y="914400"/>
            <a:ext cx="38862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21062480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76234160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Tree>
    <p:extLst>
      <p:ext uri="{BB962C8B-B14F-4D97-AF65-F5344CB8AC3E}">
        <p14:creationId xmlns:p14="http://schemas.microsoft.com/office/powerpoint/2010/main" val="251683873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21696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93321437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4809383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188345701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152400"/>
            <a:ext cx="1981200" cy="5867400"/>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09600" y="152400"/>
            <a:ext cx="5791200" cy="58674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1406899497"/>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Title 1"/>
          <p:cNvSpPr>
            <a:spLocks noGrp="1"/>
          </p:cNvSpPr>
          <p:nvPr>
            <p:ph type="title"/>
          </p:nvPr>
        </p:nvSpPr>
        <p:spPr>
          <a:xfrm>
            <a:off x="990600" y="152400"/>
            <a:ext cx="7162800" cy="533400"/>
          </a:xfrm>
        </p:spPr>
        <p:txBody>
          <a:bodyPr/>
          <a:lstStyle/>
          <a:p>
            <a:r>
              <a:rPr lang="zh-CN" altLang="en-US"/>
              <a:t>单击此处编辑母版标题样式</a:t>
            </a:r>
            <a:endParaRPr lang="en-US"/>
          </a:p>
        </p:txBody>
      </p:sp>
      <p:sp>
        <p:nvSpPr>
          <p:cNvPr id="3" name="Text Placeholder 2"/>
          <p:cNvSpPr>
            <a:spLocks noGrp="1"/>
          </p:cNvSpPr>
          <p:nvPr>
            <p:ph type="body" sz="half" idx="1"/>
          </p:nvPr>
        </p:nvSpPr>
        <p:spPr>
          <a:xfrm>
            <a:off x="609600" y="914400"/>
            <a:ext cx="3886200" cy="5105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4648200" y="914400"/>
            <a:ext cx="3886200" cy="5105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225232808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90600" y="152400"/>
            <a:ext cx="7162800" cy="533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0478" tIns="44445" rIns="90478" bIns="44445" numCol="1" anchor="ctr" anchorCtr="0" compatLnSpc="1">
            <a:prstTxWarp prst="textNoShape">
              <a:avLst/>
            </a:prstTxWarp>
          </a:bodyPr>
          <a:lstStyle/>
          <a:p>
            <a:pPr lvl="0"/>
            <a:r>
              <a:rPr lang="en-US"/>
              <a:t>Slide Title</a:t>
            </a:r>
          </a:p>
        </p:txBody>
      </p:sp>
      <p:sp>
        <p:nvSpPr>
          <p:cNvPr id="1027" name="Rectangle 3"/>
          <p:cNvSpPr>
            <a:spLocks noGrp="1" noChangeArrowheads="1"/>
          </p:cNvSpPr>
          <p:nvPr>
            <p:ph type="body" idx="1"/>
          </p:nvPr>
        </p:nvSpPr>
        <p:spPr bwMode="auto">
          <a:xfrm>
            <a:off x="609600" y="914400"/>
            <a:ext cx="7924800" cy="510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0478" tIns="44445" rIns="90478" bIns="44445" numCol="1" anchor="t" anchorCtr="0" compatLnSpc="1">
            <a:prstTxWarp prst="textNoShape">
              <a:avLst/>
            </a:prstTxWarp>
          </a:bodyPr>
          <a:lstStyle/>
          <a:p>
            <a:pPr lvl="0"/>
            <a:r>
              <a:rPr lang="en-US"/>
              <a:t>Body Text</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ChangeArrowheads="1"/>
          </p:cNvSpPr>
          <p:nvPr/>
        </p:nvSpPr>
        <p:spPr bwMode="auto">
          <a:xfrm>
            <a:off x="8034081" y="6397625"/>
            <a:ext cx="402147" cy="305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78" tIns="44445" rIns="90478" bIns="44445">
            <a:spAutoFit/>
          </a:bodyPr>
          <a:lstStyle/>
          <a:p>
            <a:pPr algn="ctr"/>
            <a:fld id="{223A0746-0397-CE44-BE95-6B0EE6063BB3}" type="slidenum">
              <a:rPr lang="en-US" sz="1400" b="0" smtClean="0">
                <a:solidFill>
                  <a:srgbClr val="2A40E2"/>
                </a:solidFill>
                <a:latin typeface="Helvetica" charset="0"/>
              </a:rPr>
              <a:pPr algn="ctr"/>
              <a:t>‹#›</a:t>
            </a:fld>
            <a:endParaRPr lang="en-US" sz="1400" b="0" dirty="0">
              <a:solidFill>
                <a:srgbClr val="2A40E2"/>
              </a:solidFill>
              <a:latin typeface="Helvetica" charset="0"/>
            </a:endParaRPr>
          </a:p>
        </p:txBody>
      </p:sp>
      <p:pic>
        <p:nvPicPr>
          <p:cNvPr id="7" name="Picture 1"/>
          <p:cNvPicPr>
            <a:picLocks noChangeAspect="1"/>
          </p:cNvPicPr>
          <p:nvPr/>
        </p:nvPicPr>
        <p:blipFill>
          <a:blip r:embed="rId14">
            <a:extLst>
              <a:ext uri="{28A0092B-C50C-407E-A947-70E740481C1C}">
                <a14:useLocalDpi xmlns:a14="http://schemas.microsoft.com/office/drawing/2010/main" val="0"/>
              </a:ext>
            </a:extLst>
          </a:blip>
          <a:srcRect l="10925" r="75185"/>
          <a:stretch>
            <a:fillRect/>
          </a:stretch>
        </p:blipFill>
        <p:spPr bwMode="auto">
          <a:xfrm>
            <a:off x="38100" y="76200"/>
            <a:ext cx="794266" cy="609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8486280"/>
      </p:ext>
    </p:extLst>
  </p:cSld>
  <p:clrMap bg1="lt1" tx1="dk1" bg2="lt2" tx2="dk2" accent1="accent1" accent2="accent2" accent3="accent3" accent4="accent4" accent5="accent5" accent6="accent6" hlink="hlink" folHlink="folHlink"/>
  <p:sldLayoutIdLst>
    <p:sldLayoutId id="2147484551" r:id="rId1"/>
    <p:sldLayoutId id="2147484552" r:id="rId2"/>
    <p:sldLayoutId id="2147484553" r:id="rId3"/>
    <p:sldLayoutId id="2147484554" r:id="rId4"/>
    <p:sldLayoutId id="2147484555" r:id="rId5"/>
    <p:sldLayoutId id="2147484556" r:id="rId6"/>
    <p:sldLayoutId id="2147484557" r:id="rId7"/>
    <p:sldLayoutId id="2147484558" r:id="rId8"/>
    <p:sldLayoutId id="2147484559" r:id="rId9"/>
    <p:sldLayoutId id="2147484560" r:id="rId10"/>
    <p:sldLayoutId id="2147484561" r:id="rId11"/>
    <p:sldLayoutId id="2147484562" r:id="rId12"/>
  </p:sldLayoutIdLst>
  <p:transition/>
  <p:txStyles>
    <p:titleStyle>
      <a:lvl1pPr algn="ctr" rtl="0" eaLnBrk="1" fontAlgn="base" hangingPunct="1">
        <a:lnSpc>
          <a:spcPct val="90000"/>
        </a:lnSpc>
        <a:spcBef>
          <a:spcPct val="0"/>
        </a:spcBef>
        <a:spcAft>
          <a:spcPct val="0"/>
        </a:spcAft>
        <a:defRPr sz="3200" b="1">
          <a:solidFill>
            <a:srgbClr val="2A40E2"/>
          </a:solidFill>
          <a:latin typeface="Helvetica"/>
          <a:ea typeface="ＭＳ Ｐゴシック" charset="-128"/>
          <a:cs typeface="ＭＳ Ｐゴシック" charset="-128"/>
        </a:defRPr>
      </a:lvl1pPr>
      <a:lvl2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2pPr>
      <a:lvl3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3pPr>
      <a:lvl4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4pPr>
      <a:lvl5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5pPr>
      <a:lvl6pPr marL="457200" algn="ctr" rtl="0" eaLnBrk="1" fontAlgn="base" hangingPunct="1">
        <a:lnSpc>
          <a:spcPct val="90000"/>
        </a:lnSpc>
        <a:spcBef>
          <a:spcPct val="0"/>
        </a:spcBef>
        <a:spcAft>
          <a:spcPct val="0"/>
        </a:spcAft>
        <a:defRPr sz="2400" b="1">
          <a:solidFill>
            <a:srgbClr val="2A40E2"/>
          </a:solidFill>
          <a:latin typeface="Comic Sans MS" charset="0"/>
        </a:defRPr>
      </a:lvl6pPr>
      <a:lvl7pPr marL="914400" algn="ctr" rtl="0" eaLnBrk="1" fontAlgn="base" hangingPunct="1">
        <a:lnSpc>
          <a:spcPct val="90000"/>
        </a:lnSpc>
        <a:spcBef>
          <a:spcPct val="0"/>
        </a:spcBef>
        <a:spcAft>
          <a:spcPct val="0"/>
        </a:spcAft>
        <a:defRPr sz="2400" b="1">
          <a:solidFill>
            <a:srgbClr val="2A40E2"/>
          </a:solidFill>
          <a:latin typeface="Comic Sans MS" charset="0"/>
        </a:defRPr>
      </a:lvl7pPr>
      <a:lvl8pPr marL="1371600" algn="ctr" rtl="0" eaLnBrk="1" fontAlgn="base" hangingPunct="1">
        <a:lnSpc>
          <a:spcPct val="90000"/>
        </a:lnSpc>
        <a:spcBef>
          <a:spcPct val="0"/>
        </a:spcBef>
        <a:spcAft>
          <a:spcPct val="0"/>
        </a:spcAft>
        <a:defRPr sz="2400" b="1">
          <a:solidFill>
            <a:srgbClr val="2A40E2"/>
          </a:solidFill>
          <a:latin typeface="Comic Sans MS" charset="0"/>
        </a:defRPr>
      </a:lvl8pPr>
      <a:lvl9pPr marL="1828800" algn="ctr" rtl="0" eaLnBrk="1" fontAlgn="base" hangingPunct="1">
        <a:lnSpc>
          <a:spcPct val="90000"/>
        </a:lnSpc>
        <a:spcBef>
          <a:spcPct val="0"/>
        </a:spcBef>
        <a:spcAft>
          <a:spcPct val="0"/>
        </a:spcAft>
        <a:defRPr sz="2400" b="1">
          <a:solidFill>
            <a:srgbClr val="2A40E2"/>
          </a:solidFill>
          <a:latin typeface="Comic Sans MS" charset="0"/>
        </a:defRPr>
      </a:lvl9pPr>
    </p:titleStyle>
    <p:bodyStyle>
      <a:lvl1pPr marL="285750" indent="-285750" algn="l" rtl="0" eaLnBrk="1" fontAlgn="base" hangingPunct="1">
        <a:lnSpc>
          <a:spcPct val="90000"/>
        </a:lnSpc>
        <a:spcBef>
          <a:spcPct val="30000"/>
        </a:spcBef>
        <a:spcAft>
          <a:spcPct val="0"/>
        </a:spcAft>
        <a:buSzPct val="100000"/>
        <a:buChar char="•"/>
        <a:defRPr sz="2400">
          <a:solidFill>
            <a:schemeClr val="tx1"/>
          </a:solidFill>
          <a:latin typeface="Helvetica"/>
          <a:ea typeface="ＭＳ Ｐゴシック" charset="-128"/>
          <a:cs typeface="ＭＳ Ｐゴシック" charset="-128"/>
        </a:defRPr>
      </a:lvl1pPr>
      <a:lvl2pPr marL="685800" indent="-228600" algn="l" rtl="0" eaLnBrk="1" fontAlgn="base" hangingPunct="1">
        <a:lnSpc>
          <a:spcPct val="90000"/>
        </a:lnSpc>
        <a:spcBef>
          <a:spcPct val="30000"/>
        </a:spcBef>
        <a:spcAft>
          <a:spcPct val="0"/>
        </a:spcAft>
        <a:buSzPct val="100000"/>
        <a:buChar char="–"/>
        <a:defRPr sz="2200">
          <a:solidFill>
            <a:schemeClr val="tx1"/>
          </a:solidFill>
          <a:latin typeface="Helvetica"/>
          <a:ea typeface="ＭＳ Ｐゴシック" charset="-128"/>
        </a:defRPr>
      </a:lvl2pPr>
      <a:lvl3pPr marL="1143000" indent="-22860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3pPr>
      <a:lvl4pPr marL="15430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4pPr>
      <a:lvl5pPr marL="20002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5pPr>
      <a:lvl6pPr marL="24574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6pPr>
      <a:lvl7pPr marL="29146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7pPr>
      <a:lvl8pPr marL="33718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8pPr>
      <a:lvl9pPr marL="38290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wmf"/></Relationships>
</file>

<file path=ppt/slides/_rels/slide1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Box 3">
            <a:extLst>
              <a:ext uri="{FF2B5EF4-FFF2-40B4-BE49-F238E27FC236}">
                <a16:creationId xmlns:a16="http://schemas.microsoft.com/office/drawing/2014/main" id="{300D91A7-E0FF-CA67-5510-1772A75D07D3}"/>
              </a:ext>
            </a:extLst>
          </p:cNvPr>
          <p:cNvSpPr txBox="1">
            <a:spLocks noChangeArrowheads="1"/>
          </p:cNvSpPr>
          <p:nvPr/>
        </p:nvSpPr>
        <p:spPr bwMode="auto">
          <a:xfrm>
            <a:off x="8720138" y="4368800"/>
            <a:ext cx="1857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9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9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9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9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9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9pPr>
          </a:lstStyle>
          <a:p>
            <a:pPr eaLnBrk="1" hangingPunct="1"/>
            <a:endParaRPr lang="zh-CN" altLang="zh-CN" sz="2000" b="0">
              <a:latin typeface="Helvetica" pitchFamily="2" charset="0"/>
            </a:endParaRPr>
          </a:p>
        </p:txBody>
      </p:sp>
      <p:sp>
        <p:nvSpPr>
          <p:cNvPr id="3075" name="Text Box 4">
            <a:extLst>
              <a:ext uri="{FF2B5EF4-FFF2-40B4-BE49-F238E27FC236}">
                <a16:creationId xmlns:a16="http://schemas.microsoft.com/office/drawing/2014/main" id="{6B571BE3-4526-479A-0E2A-B5CA907FFD24}"/>
              </a:ext>
            </a:extLst>
          </p:cNvPr>
          <p:cNvSpPr txBox="1">
            <a:spLocks noChangeArrowheads="1"/>
          </p:cNvSpPr>
          <p:nvPr/>
        </p:nvSpPr>
        <p:spPr bwMode="auto">
          <a:xfrm>
            <a:off x="381000" y="5791200"/>
            <a:ext cx="83820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spAutoFit/>
          </a:bodyPr>
          <a:lstStyle>
            <a:lvl1pPr eaLnBrk="0" hangingPunct="0">
              <a:defRPr sz="2400" b="1">
                <a:solidFill>
                  <a:schemeClr val="tx1"/>
                </a:solidFill>
                <a:latin typeface="Comic Sans MS" panose="030F09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9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9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9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9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9pPr>
          </a:lstStyle>
          <a:p>
            <a:pPr eaLnBrk="1" hangingPunct="1"/>
            <a:r>
              <a:rPr lang="en-US" altLang="zh-CN" sz="1400" b="0">
                <a:latin typeface="Helvetica" pitchFamily="2" charset="0"/>
              </a:rPr>
              <a:t>Note: Some slides and/or pictures in the following are adapted from slides ©2005 Silberschatz, Galvin, and Gagne. Slides courtesy of Anthony D. Joseph, John Kubiatowicz, AJ Shankar, George Necula, Alex Aiken, Eric Brewer, Ras Bodik, Ion Stoica, Doug Tygar, David Wagner, and John Canny .</a:t>
            </a:r>
          </a:p>
        </p:txBody>
      </p:sp>
      <p:sp>
        <p:nvSpPr>
          <p:cNvPr id="7" name="Rectangle 3">
            <a:extLst>
              <a:ext uri="{FF2B5EF4-FFF2-40B4-BE49-F238E27FC236}">
                <a16:creationId xmlns:a16="http://schemas.microsoft.com/office/drawing/2014/main" id="{A3302C6D-32B4-9813-CA13-87C68FC56C99}"/>
              </a:ext>
            </a:extLst>
          </p:cNvPr>
          <p:cNvSpPr txBox="1">
            <a:spLocks noChangeArrowheads="1"/>
          </p:cNvSpPr>
          <p:nvPr/>
        </p:nvSpPr>
        <p:spPr bwMode="auto">
          <a:xfrm>
            <a:off x="609600" y="4572000"/>
            <a:ext cx="8001000" cy="1066800"/>
          </a:xfrm>
          <a:prstGeom prst="rect">
            <a:avLst/>
          </a:prstGeom>
          <a:noFill/>
          <a:ln w="12700">
            <a:noFill/>
            <a:miter lim="800000"/>
            <a:headEnd/>
            <a:tailEnd/>
          </a:ln>
        </p:spPr>
        <p:txBody>
          <a:bodyPr lIns="90478" tIns="44445" rIns="90478" bIns="44445"/>
          <a:lstStyle/>
          <a:p>
            <a:pPr marL="285750" indent="-285750" algn="ctr" eaLnBrk="0" hangingPunct="0">
              <a:lnSpc>
                <a:spcPct val="90000"/>
              </a:lnSpc>
              <a:spcBef>
                <a:spcPct val="30000"/>
              </a:spcBef>
              <a:buSzPct val="100000"/>
              <a:defRPr/>
            </a:pPr>
            <a:r>
              <a:rPr lang="en-US" altLang="zh-CN" sz="2400" b="0" kern="0" dirty="0">
                <a:latin typeface="Helvetica" charset="0"/>
                <a:ea typeface="MS PGothic" charset="0"/>
                <a:cs typeface="ＭＳ Ｐゴシック" charset="-128"/>
              </a:rPr>
              <a:t>Wei</a:t>
            </a:r>
            <a:r>
              <a:rPr lang="zh-CN" altLang="en-US" sz="2400" b="0" kern="0" dirty="0">
                <a:latin typeface="Helvetica" charset="0"/>
                <a:ea typeface="MS PGothic" charset="0"/>
                <a:cs typeface="ＭＳ Ｐゴシック" charset="-128"/>
              </a:rPr>
              <a:t> </a:t>
            </a:r>
            <a:r>
              <a:rPr lang="en-US" altLang="zh-CN" sz="2400" b="0" kern="0" dirty="0">
                <a:latin typeface="Helvetica" charset="0"/>
                <a:ea typeface="MS PGothic" charset="0"/>
                <a:cs typeface="ＭＳ Ｐゴシック" charset="-128"/>
              </a:rPr>
              <a:t>Xu</a:t>
            </a:r>
            <a:endParaRPr lang="en-US" sz="2400" b="0" kern="0" dirty="0">
              <a:latin typeface="Helvetica" charset="0"/>
              <a:ea typeface="MS PGothic" charset="0"/>
              <a:cs typeface="ＭＳ Ｐゴシック" charset="-128"/>
            </a:endParaRPr>
          </a:p>
        </p:txBody>
      </p:sp>
      <p:sp>
        <p:nvSpPr>
          <p:cNvPr id="3077" name="Rectangle 2">
            <a:extLst>
              <a:ext uri="{FF2B5EF4-FFF2-40B4-BE49-F238E27FC236}">
                <a16:creationId xmlns:a16="http://schemas.microsoft.com/office/drawing/2014/main" id="{84015085-39EB-ABAF-4614-B1B7D7508CD4}"/>
              </a:ext>
            </a:extLst>
          </p:cNvPr>
          <p:cNvSpPr>
            <a:spLocks noGrp="1" noChangeArrowheads="1"/>
          </p:cNvSpPr>
          <p:nvPr>
            <p:ph type="ctrTitle"/>
          </p:nvPr>
        </p:nvSpPr>
        <p:spPr>
          <a:xfrm>
            <a:off x="609600" y="990600"/>
            <a:ext cx="7848600" cy="2895600"/>
          </a:xfrm>
        </p:spPr>
        <p:txBody>
          <a:bodyPr/>
          <a:lstStyle/>
          <a:p>
            <a:br>
              <a:rPr lang="en-US" altLang="zh-CN" sz="3000" dirty="0">
                <a:latin typeface="Helvetica" charset="0"/>
                <a:ea typeface="ＭＳ Ｐゴシック" charset="0"/>
                <a:cs typeface="ＭＳ Ｐゴシック" charset="0"/>
              </a:rPr>
            </a:br>
            <a:r>
              <a:rPr lang="en-US" altLang="zh-CN" sz="3000" dirty="0">
                <a:latin typeface="Helvetica" charset="0"/>
                <a:ea typeface="ＭＳ Ｐゴシック" charset="0"/>
                <a:cs typeface="ＭＳ Ｐゴシック" charset="0"/>
              </a:rPr>
              <a:t>Introduction</a:t>
            </a:r>
            <a:r>
              <a:rPr lang="zh-CN" altLang="en-US" sz="3000" dirty="0">
                <a:latin typeface="Helvetica" charset="0"/>
                <a:ea typeface="ＭＳ Ｐゴシック" charset="0"/>
                <a:cs typeface="ＭＳ Ｐゴシック" charset="0"/>
              </a:rPr>
              <a:t> </a:t>
            </a:r>
            <a:r>
              <a:rPr lang="en-US" altLang="zh-CN" sz="3000" dirty="0">
                <a:latin typeface="Helvetica" charset="0"/>
                <a:ea typeface="ＭＳ Ｐゴシック" charset="0"/>
                <a:cs typeface="ＭＳ Ｐゴシック" charset="0"/>
              </a:rPr>
              <a:t>to</a:t>
            </a:r>
            <a:r>
              <a:rPr lang="zh-CN" altLang="en-US" sz="3000" dirty="0">
                <a:latin typeface="Helvetica" charset="0"/>
                <a:ea typeface="ＭＳ Ｐゴシック" charset="0"/>
                <a:cs typeface="ＭＳ Ｐゴシック" charset="0"/>
              </a:rPr>
              <a:t> </a:t>
            </a:r>
            <a:r>
              <a:rPr lang="en-US" altLang="zh-CN" sz="3000" dirty="0">
                <a:latin typeface="Helvetica" charset="0"/>
                <a:ea typeface="ＭＳ Ｐゴシック" charset="0"/>
                <a:cs typeface="ＭＳ Ｐゴシック" charset="0"/>
              </a:rPr>
              <a:t>Computer Systems </a:t>
            </a:r>
            <a:br>
              <a:rPr lang="en-US" altLang="zh-CN" sz="3000" dirty="0">
                <a:latin typeface="Helvetica" pitchFamily="2" charset="0"/>
              </a:rPr>
            </a:br>
            <a:br>
              <a:rPr lang="en-US" altLang="zh-CN" sz="3000" dirty="0">
                <a:latin typeface="Helvetica" pitchFamily="2" charset="0"/>
              </a:rPr>
            </a:br>
            <a:r>
              <a:rPr lang="en-US" altLang="zh-CN" sz="3000" dirty="0">
                <a:latin typeface="Helvetica" pitchFamily="2" charset="0"/>
              </a:rPr>
              <a:t>Lecture 13</a:t>
            </a:r>
            <a:br>
              <a:rPr lang="en-US" altLang="zh-CN" sz="3000" dirty="0">
                <a:latin typeface="Helvetica" pitchFamily="2" charset="0"/>
              </a:rPr>
            </a:br>
            <a:br>
              <a:rPr lang="en-US" altLang="zh-CN" sz="3000" dirty="0">
                <a:latin typeface="Helvetica" pitchFamily="2" charset="0"/>
              </a:rPr>
            </a:br>
            <a:r>
              <a:rPr lang="en-US" altLang="zh-CN" sz="3000" dirty="0">
                <a:latin typeface="Helvetica" pitchFamily="2" charset="0"/>
              </a:rPr>
              <a:t>Distributed</a:t>
            </a:r>
            <a:r>
              <a:rPr lang="zh-CN" altLang="en-US" sz="3000" dirty="0">
                <a:latin typeface="Helvetica" pitchFamily="2" charset="0"/>
              </a:rPr>
              <a:t> </a:t>
            </a:r>
            <a:r>
              <a:rPr lang="en-US" altLang="zh-CN" sz="3000" dirty="0">
                <a:latin typeface="Helvetica" pitchFamily="2" charset="0"/>
              </a:rPr>
              <a:t>Systems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AE0E2D-9B90-F46A-E29E-049D61354733}"/>
              </a:ext>
            </a:extLst>
          </p:cNvPr>
          <p:cNvSpPr>
            <a:spLocks noGrp="1"/>
          </p:cNvSpPr>
          <p:nvPr>
            <p:ph type="title"/>
          </p:nvPr>
        </p:nvSpPr>
        <p:spPr/>
        <p:txBody>
          <a:bodyPr/>
          <a:lstStyle/>
          <a:p>
            <a:r>
              <a:rPr kumimoji="1" lang="en-US" altLang="zh-CN" dirty="0"/>
              <a:t>Agenda</a:t>
            </a:r>
            <a:endParaRPr kumimoji="1" lang="zh-CN" altLang="en-US" dirty="0"/>
          </a:p>
        </p:txBody>
      </p:sp>
      <p:sp>
        <p:nvSpPr>
          <p:cNvPr id="3" name="内容占位符 2">
            <a:extLst>
              <a:ext uri="{FF2B5EF4-FFF2-40B4-BE49-F238E27FC236}">
                <a16:creationId xmlns:a16="http://schemas.microsoft.com/office/drawing/2014/main" id="{5F0203D9-B97E-C2F4-CEBD-E299210D34E5}"/>
              </a:ext>
            </a:extLst>
          </p:cNvPr>
          <p:cNvSpPr>
            <a:spLocks noGrp="1"/>
          </p:cNvSpPr>
          <p:nvPr>
            <p:ph idx="1"/>
          </p:nvPr>
        </p:nvSpPr>
        <p:spPr/>
        <p:txBody>
          <a:bodyPr/>
          <a:lstStyle/>
          <a:p>
            <a:r>
              <a:rPr kumimoji="1" lang="en-US" altLang="zh-CN" dirty="0"/>
              <a:t>What</a:t>
            </a:r>
            <a:r>
              <a:rPr kumimoji="1" lang="zh-CN" altLang="en-US" dirty="0"/>
              <a:t> </a:t>
            </a:r>
            <a:r>
              <a:rPr kumimoji="1" lang="en-US" altLang="zh-CN" dirty="0"/>
              <a:t>is</a:t>
            </a:r>
            <a:r>
              <a:rPr kumimoji="1" lang="zh-CN" altLang="en-US" dirty="0"/>
              <a:t> </a:t>
            </a:r>
            <a:r>
              <a:rPr kumimoji="1" lang="en-US" altLang="zh-CN" dirty="0"/>
              <a:t>an</a:t>
            </a:r>
            <a:r>
              <a:rPr kumimoji="1" lang="zh-CN" altLang="en-US" dirty="0"/>
              <a:t> </a:t>
            </a:r>
            <a:r>
              <a:rPr kumimoji="1" lang="en-US" altLang="zh-CN" dirty="0"/>
              <a:t>distributed</a:t>
            </a:r>
            <a:r>
              <a:rPr kumimoji="1" lang="zh-CN" altLang="en-US" dirty="0"/>
              <a:t> </a:t>
            </a:r>
            <a:r>
              <a:rPr kumimoji="1" lang="en-US" altLang="zh-CN" dirty="0"/>
              <a:t>system?</a:t>
            </a:r>
          </a:p>
          <a:p>
            <a:r>
              <a:rPr kumimoji="1" lang="en-US" altLang="zh-CN" dirty="0"/>
              <a:t>Communication</a:t>
            </a:r>
            <a:r>
              <a:rPr kumimoji="1" lang="zh-CN" altLang="en-US" dirty="0"/>
              <a:t> </a:t>
            </a:r>
            <a:r>
              <a:rPr kumimoji="1" lang="en-US" altLang="zh-CN" dirty="0"/>
              <a:t>building</a:t>
            </a:r>
            <a:r>
              <a:rPr kumimoji="1" lang="zh-CN" altLang="en-US" dirty="0"/>
              <a:t> </a:t>
            </a:r>
            <a:r>
              <a:rPr kumimoji="1" lang="en-US" altLang="zh-CN" dirty="0"/>
              <a:t>blocks</a:t>
            </a:r>
            <a:r>
              <a:rPr kumimoji="1" lang="zh-CN" altLang="en-US" dirty="0"/>
              <a:t> </a:t>
            </a:r>
            <a:r>
              <a:rPr kumimoji="1" lang="en-US" altLang="zh-CN" dirty="0"/>
              <a:t>(RPCs)</a:t>
            </a:r>
          </a:p>
          <a:p>
            <a:r>
              <a:rPr kumimoji="1" lang="en-US" altLang="zh-CN" dirty="0"/>
              <a:t>Challenges</a:t>
            </a:r>
            <a:r>
              <a:rPr kumimoji="1" lang="zh-CN" altLang="en-US" dirty="0"/>
              <a:t> </a:t>
            </a:r>
            <a:r>
              <a:rPr kumimoji="1" lang="en-US" altLang="zh-CN" dirty="0"/>
              <a:t>in</a:t>
            </a:r>
            <a:r>
              <a:rPr kumimoji="1" lang="zh-CN" altLang="en-US" dirty="0"/>
              <a:t> </a:t>
            </a:r>
            <a:r>
              <a:rPr kumimoji="1" lang="en-US" altLang="zh-CN" dirty="0"/>
              <a:t>distributed</a:t>
            </a:r>
            <a:r>
              <a:rPr kumimoji="1" lang="zh-CN" altLang="en-US" dirty="0"/>
              <a:t> </a:t>
            </a:r>
            <a:r>
              <a:rPr kumimoji="1" lang="en-US" altLang="zh-CN" dirty="0"/>
              <a:t>systems</a:t>
            </a:r>
          </a:p>
          <a:p>
            <a:r>
              <a:rPr kumimoji="1" lang="en-US" altLang="zh-CN" dirty="0"/>
              <a:t>Using</a:t>
            </a:r>
            <a:r>
              <a:rPr kumimoji="1" lang="zh-CN" altLang="en-US" dirty="0"/>
              <a:t> </a:t>
            </a:r>
            <a:r>
              <a:rPr kumimoji="1" lang="en-US" altLang="zh-CN" dirty="0"/>
              <a:t>distributed</a:t>
            </a:r>
            <a:r>
              <a:rPr kumimoji="1" lang="zh-CN" altLang="en-US" dirty="0"/>
              <a:t> </a:t>
            </a:r>
            <a:r>
              <a:rPr kumimoji="1" lang="en-US" altLang="zh-CN" dirty="0"/>
              <a:t>file</a:t>
            </a:r>
            <a:r>
              <a:rPr kumimoji="1" lang="zh-CN" altLang="en-US" dirty="0"/>
              <a:t> </a:t>
            </a:r>
            <a:r>
              <a:rPr kumimoji="1" lang="en-US" altLang="zh-CN" dirty="0"/>
              <a:t>systems</a:t>
            </a:r>
            <a:r>
              <a:rPr kumimoji="1" lang="zh-CN" altLang="en-US" dirty="0"/>
              <a:t> </a:t>
            </a:r>
            <a:r>
              <a:rPr kumimoji="1" lang="en-US" altLang="zh-CN" dirty="0"/>
              <a:t>as</a:t>
            </a:r>
            <a:r>
              <a:rPr kumimoji="1" lang="zh-CN" altLang="en-US" dirty="0"/>
              <a:t> </a:t>
            </a:r>
            <a:r>
              <a:rPr kumimoji="1" lang="en-US" altLang="zh-CN" dirty="0"/>
              <a:t>examples</a:t>
            </a:r>
            <a:endParaRPr kumimoji="1" lang="zh-CN" altLang="en-US" dirty="0"/>
          </a:p>
        </p:txBody>
      </p:sp>
    </p:spTree>
    <p:extLst>
      <p:ext uri="{BB962C8B-B14F-4D97-AF65-F5344CB8AC3E}">
        <p14:creationId xmlns:p14="http://schemas.microsoft.com/office/powerpoint/2010/main" val="104802974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a:t>
            </a:r>
            <a:r>
              <a:rPr lang="zh-CN" altLang="en-US" dirty="0"/>
              <a:t> </a:t>
            </a:r>
            <a:r>
              <a:rPr lang="en-US" altLang="zh-CN" dirty="0"/>
              <a:t>systems</a:t>
            </a:r>
            <a:r>
              <a:rPr lang="zh-CN" altLang="en-US" dirty="0"/>
              <a:t> </a:t>
            </a:r>
            <a:r>
              <a:rPr lang="en-US" altLang="zh-CN" dirty="0"/>
              <a:t>overview</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7494111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069CA-3AA7-E245-9EC9-B14532807F02}"/>
              </a:ext>
            </a:extLst>
          </p:cNvPr>
          <p:cNvSpPr>
            <a:spLocks noGrp="1"/>
          </p:cNvSpPr>
          <p:nvPr>
            <p:ph type="title"/>
          </p:nvPr>
        </p:nvSpPr>
        <p:spPr/>
        <p:txBody>
          <a:bodyPr/>
          <a:lstStyle/>
          <a:p>
            <a:r>
              <a:rPr lang="en-CN"/>
              <a:t>Why </a:t>
            </a:r>
            <a:r>
              <a:rPr lang="en-US" altLang="zh-CN" dirty="0"/>
              <a:t>distributed</a:t>
            </a:r>
            <a:r>
              <a:rPr lang="zh-CN" altLang="en-US" dirty="0"/>
              <a:t> </a:t>
            </a:r>
            <a:r>
              <a:rPr lang="en-US" altLang="zh-CN" dirty="0"/>
              <a:t>systems</a:t>
            </a:r>
            <a:r>
              <a:rPr lang="en-CN"/>
              <a:t>?</a:t>
            </a:r>
            <a:endParaRPr lang="en-CN" dirty="0"/>
          </a:p>
        </p:txBody>
      </p:sp>
      <p:sp>
        <p:nvSpPr>
          <p:cNvPr id="3" name="Content Placeholder 2">
            <a:extLst>
              <a:ext uri="{FF2B5EF4-FFF2-40B4-BE49-F238E27FC236}">
                <a16:creationId xmlns:a16="http://schemas.microsoft.com/office/drawing/2014/main" id="{E0254729-A39B-FD4B-9F3E-7F4716B54A7E}"/>
              </a:ext>
            </a:extLst>
          </p:cNvPr>
          <p:cNvSpPr>
            <a:spLocks noGrp="1"/>
          </p:cNvSpPr>
          <p:nvPr>
            <p:ph idx="1"/>
          </p:nvPr>
        </p:nvSpPr>
        <p:spPr>
          <a:xfrm>
            <a:off x="385737" y="953602"/>
            <a:ext cx="8372526" cy="5281888"/>
          </a:xfrm>
        </p:spPr>
        <p:txBody>
          <a:bodyPr/>
          <a:lstStyle/>
          <a:p>
            <a:r>
              <a:rPr lang="en-US" altLang="zh-CN" sz="2000" dirty="0"/>
              <a:t>Recall</a:t>
            </a:r>
            <a:r>
              <a:rPr lang="zh-CN" altLang="en-US" sz="2000" dirty="0"/>
              <a:t> </a:t>
            </a:r>
            <a:r>
              <a:rPr lang="en-US" altLang="zh-CN" sz="2000" dirty="0"/>
              <a:t>on</a:t>
            </a:r>
            <a:r>
              <a:rPr lang="zh-CN" altLang="en-US" sz="2000" dirty="0"/>
              <a:t> </a:t>
            </a:r>
            <a:r>
              <a:rPr lang="en-US" altLang="zh-CN" sz="2000" dirty="0"/>
              <a:t>a</a:t>
            </a:r>
            <a:r>
              <a:rPr lang="zh-CN" altLang="en-US" sz="2000" dirty="0"/>
              <a:t> </a:t>
            </a:r>
            <a:r>
              <a:rPr lang="en-US" altLang="zh-CN" sz="2000" dirty="0"/>
              <a:t>single</a:t>
            </a:r>
            <a:r>
              <a:rPr lang="zh-CN" altLang="en-US" sz="2000" dirty="0"/>
              <a:t> </a:t>
            </a:r>
            <a:r>
              <a:rPr lang="en-US" altLang="zh-CN" sz="2000" dirty="0"/>
              <a:t>machine</a:t>
            </a:r>
            <a:r>
              <a:rPr lang="zh-CN" altLang="en-US" sz="2000" dirty="0"/>
              <a:t> </a:t>
            </a:r>
            <a:r>
              <a:rPr lang="en-US" altLang="zh-CN" sz="2000" dirty="0"/>
              <a:t>(OS)</a:t>
            </a:r>
            <a:r>
              <a:rPr lang="zh-CN" altLang="en-US" sz="2000" dirty="0"/>
              <a:t> </a:t>
            </a:r>
            <a:r>
              <a:rPr lang="en-US" altLang="zh-CN" sz="2000" dirty="0"/>
              <a:t>–</a:t>
            </a:r>
            <a:r>
              <a:rPr lang="zh-CN" altLang="en-US" sz="2000" dirty="0"/>
              <a:t> </a:t>
            </a:r>
            <a:r>
              <a:rPr lang="en-US" altLang="zh-CN" sz="2000" dirty="0"/>
              <a:t>Multi-core</a:t>
            </a:r>
            <a:r>
              <a:rPr lang="zh-CN" altLang="en-US" sz="2000" dirty="0"/>
              <a:t> </a:t>
            </a:r>
            <a:r>
              <a:rPr lang="en-US" altLang="zh-CN" sz="2000" dirty="0"/>
              <a:t>and</a:t>
            </a:r>
            <a:r>
              <a:rPr lang="zh-CN" altLang="en-US" sz="2000" dirty="0"/>
              <a:t> </a:t>
            </a:r>
            <a:r>
              <a:rPr lang="en-US" altLang="zh-CN" sz="2000" dirty="0"/>
              <a:t>parallelism</a:t>
            </a:r>
            <a:r>
              <a:rPr lang="zh-CN" altLang="en-US" sz="2000" dirty="0"/>
              <a:t> </a:t>
            </a:r>
            <a:r>
              <a:rPr lang="en-CN" sz="2000"/>
              <a:t>…</a:t>
            </a:r>
            <a:endParaRPr lang="en-CN" sz="2000" dirty="0"/>
          </a:p>
          <a:p>
            <a:pPr lvl="1"/>
            <a:r>
              <a:rPr lang="en-US" altLang="zh-CN" sz="2000" dirty="0"/>
              <a:t>C</a:t>
            </a:r>
            <a:r>
              <a:rPr lang="en-CN" sz="2000"/>
              <a:t>ouldn’t </a:t>
            </a:r>
            <a:r>
              <a:rPr lang="en-CN" sz="2000" dirty="0"/>
              <a:t>increase GHz much more without CPU temperatures reaching solar levels</a:t>
            </a:r>
          </a:p>
          <a:p>
            <a:pPr lvl="1"/>
            <a:r>
              <a:rPr lang="en-CN" sz="2000" dirty="0"/>
              <a:t>But we can still stuff more transistors (Moore’s Law)</a:t>
            </a:r>
          </a:p>
          <a:p>
            <a:pPr lvl="1"/>
            <a:r>
              <a:rPr lang="en-CN" sz="2000" dirty="0"/>
              <a:t>Result: Multi-core and GPUs</a:t>
            </a:r>
          </a:p>
          <a:p>
            <a:pPr lvl="2"/>
            <a:r>
              <a:rPr lang="en-CN" sz="1800" dirty="0"/>
              <a:t>Your computer has became a parallel / distributed system</a:t>
            </a:r>
          </a:p>
          <a:p>
            <a:pPr marL="0" indent="0">
              <a:buNone/>
            </a:pPr>
            <a:endParaRPr lang="en-US" sz="2000" dirty="0"/>
          </a:p>
          <a:p>
            <a:r>
              <a:rPr lang="en-CN" sz="2000"/>
              <a:t>And </a:t>
            </a:r>
            <a:r>
              <a:rPr lang="en-CN" sz="2000" dirty="0"/>
              <a:t>the </a:t>
            </a:r>
            <a:r>
              <a:rPr lang="en-CN" sz="2000"/>
              <a:t>whole Internet</a:t>
            </a:r>
            <a:r>
              <a:rPr lang="zh-CN" altLang="en-US" sz="2000" dirty="0"/>
              <a:t> </a:t>
            </a:r>
            <a:r>
              <a:rPr lang="en-CN" sz="2000"/>
              <a:t>…</a:t>
            </a:r>
            <a:endParaRPr lang="en-CN" sz="2000" dirty="0"/>
          </a:p>
          <a:p>
            <a:pPr lvl="1"/>
            <a:r>
              <a:rPr lang="en-CN" sz="2000" dirty="0"/>
              <a:t>My iPhone syncs its calendar with Apple, which I can get on </a:t>
            </a:r>
            <a:r>
              <a:rPr lang="en-CN" sz="2000"/>
              <a:t>my desktop</a:t>
            </a:r>
            <a:endParaRPr lang="en-US" sz="2000" dirty="0"/>
          </a:p>
          <a:p>
            <a:pPr lvl="2"/>
            <a:r>
              <a:rPr lang="en-US" altLang="zh-CN" sz="1800" dirty="0"/>
              <a:t>And</a:t>
            </a:r>
            <a:r>
              <a:rPr lang="zh-CN" altLang="en-US" sz="1800" dirty="0"/>
              <a:t> </a:t>
            </a:r>
            <a:r>
              <a:rPr lang="en-US" altLang="zh-CN" sz="1800" dirty="0"/>
              <a:t>connectivity</a:t>
            </a:r>
            <a:r>
              <a:rPr lang="zh-CN" altLang="en-US" sz="1800" dirty="0"/>
              <a:t> </a:t>
            </a:r>
            <a:r>
              <a:rPr lang="en-US" altLang="zh-CN" sz="1800" dirty="0"/>
              <a:t>hugely</a:t>
            </a:r>
            <a:r>
              <a:rPr lang="zh-CN" altLang="en-US" sz="1800" dirty="0"/>
              <a:t> </a:t>
            </a:r>
            <a:r>
              <a:rPr lang="en-US" altLang="zh-CN" sz="1800" dirty="0"/>
              <a:t>changes</a:t>
            </a:r>
          </a:p>
          <a:p>
            <a:pPr lvl="1"/>
            <a:r>
              <a:rPr lang="en-CN" sz="2000"/>
              <a:t>Most </a:t>
            </a:r>
            <a:r>
              <a:rPr lang="en-CN" sz="2000" dirty="0"/>
              <a:t>things are distributed, and more each day</a:t>
            </a:r>
          </a:p>
        </p:txBody>
      </p:sp>
    </p:spTree>
    <p:extLst>
      <p:ext uri="{BB962C8B-B14F-4D97-AF65-F5344CB8AC3E}">
        <p14:creationId xmlns:p14="http://schemas.microsoft.com/office/powerpoint/2010/main" val="308130395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878" y="152400"/>
            <a:ext cx="7920383" cy="533400"/>
          </a:xfrm>
        </p:spPr>
        <p:txBody>
          <a:bodyPr/>
          <a:lstStyle/>
          <a:p>
            <a:r>
              <a:rPr lang="en-US" dirty="0"/>
              <a:t>Why do we want distributed systems?</a:t>
            </a:r>
          </a:p>
        </p:txBody>
      </p:sp>
      <p:sp>
        <p:nvSpPr>
          <p:cNvPr id="3" name="Content Placeholder 2"/>
          <p:cNvSpPr>
            <a:spLocks noGrp="1"/>
          </p:cNvSpPr>
          <p:nvPr>
            <p:ph idx="1"/>
          </p:nvPr>
        </p:nvSpPr>
        <p:spPr>
          <a:xfrm>
            <a:off x="553156" y="1143000"/>
            <a:ext cx="8357828" cy="5013960"/>
          </a:xfrm>
        </p:spPr>
        <p:txBody>
          <a:bodyPr/>
          <a:lstStyle/>
          <a:p>
            <a:pPr>
              <a:lnSpc>
                <a:spcPct val="80000"/>
              </a:lnSpc>
              <a:spcBef>
                <a:spcPct val="0"/>
              </a:spcBef>
            </a:pPr>
            <a:r>
              <a:rPr lang="en-US" altLang="ko-KR" sz="2800" dirty="0">
                <a:ea typeface="굴림" panose="020B0600000101010101" pitchFamily="34" charset="-127"/>
              </a:rPr>
              <a:t>Cheaper and easier to build lots of simple computers</a:t>
            </a:r>
          </a:p>
          <a:p>
            <a:pPr>
              <a:lnSpc>
                <a:spcPct val="80000"/>
              </a:lnSpc>
              <a:spcBef>
                <a:spcPct val="0"/>
              </a:spcBef>
            </a:pPr>
            <a:endParaRPr lang="en-US" altLang="ko-KR" sz="2800" dirty="0">
              <a:ea typeface="굴림" panose="020B0600000101010101" pitchFamily="34" charset="-127"/>
            </a:endParaRPr>
          </a:p>
          <a:p>
            <a:pPr>
              <a:lnSpc>
                <a:spcPct val="80000"/>
              </a:lnSpc>
              <a:spcBef>
                <a:spcPct val="0"/>
              </a:spcBef>
            </a:pPr>
            <a:r>
              <a:rPr lang="en-US" altLang="ko-KR" sz="2800" dirty="0">
                <a:ea typeface="굴림" panose="020B0600000101010101" pitchFamily="34" charset="-127"/>
              </a:rPr>
              <a:t>Easier to add power incrementally</a:t>
            </a:r>
          </a:p>
          <a:p>
            <a:pPr>
              <a:lnSpc>
                <a:spcPct val="80000"/>
              </a:lnSpc>
              <a:spcBef>
                <a:spcPct val="0"/>
              </a:spcBef>
            </a:pPr>
            <a:endParaRPr lang="en-US" altLang="ko-KR" sz="2800" dirty="0">
              <a:ea typeface="굴림" panose="020B0600000101010101" pitchFamily="34" charset="-127"/>
            </a:endParaRPr>
          </a:p>
          <a:p>
            <a:pPr>
              <a:lnSpc>
                <a:spcPct val="80000"/>
              </a:lnSpc>
              <a:spcBef>
                <a:spcPct val="0"/>
              </a:spcBef>
            </a:pPr>
            <a:r>
              <a:rPr lang="en-US" altLang="ko-KR" sz="2800" dirty="0">
                <a:ea typeface="굴림" panose="020B0600000101010101" pitchFamily="34" charset="-127"/>
              </a:rPr>
              <a:t>Administrative</a:t>
            </a:r>
            <a:r>
              <a:rPr lang="zh-CN" altLang="en-US" sz="2800" dirty="0">
                <a:ea typeface="굴림" panose="020B0600000101010101" pitchFamily="34" charset="-127"/>
              </a:rPr>
              <a:t> </a:t>
            </a:r>
            <a:r>
              <a:rPr lang="en-US" altLang="zh-CN" sz="2800" dirty="0">
                <a:ea typeface="굴림" panose="020B0600000101010101" pitchFamily="34" charset="-127"/>
              </a:rPr>
              <a:t>domain:</a:t>
            </a:r>
            <a:r>
              <a:rPr lang="zh-CN" altLang="en-US" sz="2800" dirty="0">
                <a:ea typeface="굴림" panose="020B0600000101010101" pitchFamily="34" charset="-127"/>
              </a:rPr>
              <a:t> </a:t>
            </a:r>
            <a:r>
              <a:rPr lang="en-US" altLang="zh-CN" sz="2800" dirty="0">
                <a:ea typeface="굴림" panose="020B0600000101010101" pitchFamily="34" charset="-127"/>
              </a:rPr>
              <a:t>u</a:t>
            </a:r>
            <a:r>
              <a:rPr lang="en-US" altLang="ko-KR" sz="2800" dirty="0">
                <a:ea typeface="굴림" panose="020B0600000101010101" pitchFamily="34" charset="-127"/>
              </a:rPr>
              <a:t>sers can have complete control over some components</a:t>
            </a:r>
          </a:p>
          <a:p>
            <a:pPr>
              <a:lnSpc>
                <a:spcPct val="80000"/>
              </a:lnSpc>
              <a:spcBef>
                <a:spcPct val="0"/>
              </a:spcBef>
            </a:pPr>
            <a:endParaRPr lang="en-US" altLang="ko-KR" sz="2800" dirty="0">
              <a:ea typeface="굴림" panose="020B0600000101010101" pitchFamily="34" charset="-127"/>
            </a:endParaRPr>
          </a:p>
          <a:p>
            <a:pPr>
              <a:lnSpc>
                <a:spcPct val="80000"/>
              </a:lnSpc>
              <a:spcBef>
                <a:spcPct val="0"/>
              </a:spcBef>
            </a:pPr>
            <a:r>
              <a:rPr lang="en-US" altLang="ko-KR" sz="2800" dirty="0">
                <a:ea typeface="굴림" panose="020B0600000101010101" pitchFamily="34" charset="-127"/>
              </a:rPr>
              <a:t>Collaboration: Much easier for users to collaborate through network resources</a:t>
            </a:r>
            <a:endParaRPr lang="en-US" sz="2800" dirty="0"/>
          </a:p>
        </p:txBody>
      </p:sp>
    </p:spTree>
    <p:extLst>
      <p:ext uri="{BB962C8B-B14F-4D97-AF65-F5344CB8AC3E}">
        <p14:creationId xmlns:p14="http://schemas.microsoft.com/office/powerpoint/2010/main" val="86160112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FED858-99F9-31B7-8860-C1D11DEEB2DD}"/>
              </a:ext>
            </a:extLst>
          </p:cNvPr>
          <p:cNvSpPr>
            <a:spLocks noGrp="1"/>
          </p:cNvSpPr>
          <p:nvPr>
            <p:ph type="title"/>
          </p:nvPr>
        </p:nvSpPr>
        <p:spPr/>
        <p:txBody>
          <a:bodyPr/>
          <a:lstStyle/>
          <a:p>
            <a:r>
              <a:rPr kumimoji="1" lang="en-US" altLang="zh-CN" dirty="0"/>
              <a:t>Examples</a:t>
            </a:r>
            <a:r>
              <a:rPr kumimoji="1" lang="zh-CN" altLang="en-US" dirty="0"/>
              <a:t> </a:t>
            </a:r>
            <a:r>
              <a:rPr kumimoji="1" lang="en-US" altLang="zh-CN" dirty="0"/>
              <a:t>of</a:t>
            </a:r>
            <a:r>
              <a:rPr kumimoji="1" lang="zh-CN" altLang="en-US" dirty="0"/>
              <a:t> </a:t>
            </a:r>
            <a:r>
              <a:rPr kumimoji="1" lang="en-US" altLang="zh-CN" dirty="0"/>
              <a:t>distributed</a:t>
            </a:r>
            <a:r>
              <a:rPr kumimoji="1" lang="zh-CN" altLang="en-US" dirty="0"/>
              <a:t> </a:t>
            </a:r>
            <a:r>
              <a:rPr kumimoji="1" lang="en-US" altLang="zh-CN" dirty="0"/>
              <a:t>systems</a:t>
            </a:r>
            <a:endParaRPr kumimoji="1" lang="zh-CN" altLang="en-US" dirty="0"/>
          </a:p>
        </p:txBody>
      </p:sp>
      <p:pic>
        <p:nvPicPr>
          <p:cNvPr id="4" name="图片 3">
            <a:extLst>
              <a:ext uri="{FF2B5EF4-FFF2-40B4-BE49-F238E27FC236}">
                <a16:creationId xmlns:a16="http://schemas.microsoft.com/office/drawing/2014/main" id="{D5476CE0-2B72-4C9A-E17A-3BBEC642C9F8}"/>
              </a:ext>
            </a:extLst>
          </p:cNvPr>
          <p:cNvPicPr>
            <a:picLocks noChangeAspect="1"/>
          </p:cNvPicPr>
          <p:nvPr/>
        </p:nvPicPr>
        <p:blipFill>
          <a:blip r:embed="rId2"/>
          <a:stretch>
            <a:fillRect/>
          </a:stretch>
        </p:blipFill>
        <p:spPr>
          <a:xfrm>
            <a:off x="546100" y="1244600"/>
            <a:ext cx="8051800" cy="4368800"/>
          </a:xfrm>
          <a:prstGeom prst="rect">
            <a:avLst/>
          </a:prstGeom>
        </p:spPr>
      </p:pic>
    </p:spTree>
    <p:extLst>
      <p:ext uri="{BB962C8B-B14F-4D97-AF65-F5344CB8AC3E}">
        <p14:creationId xmlns:p14="http://schemas.microsoft.com/office/powerpoint/2010/main" val="400003166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5499FC-04B4-0293-E034-214F4E32966C}"/>
              </a:ext>
            </a:extLst>
          </p:cNvPr>
          <p:cNvSpPr>
            <a:spLocks noGrp="1"/>
          </p:cNvSpPr>
          <p:nvPr>
            <p:ph type="title"/>
          </p:nvPr>
        </p:nvSpPr>
        <p:spPr>
          <a:xfrm>
            <a:off x="990600" y="152400"/>
            <a:ext cx="7620000" cy="533400"/>
          </a:xfrm>
        </p:spPr>
        <p:txBody>
          <a:bodyPr/>
          <a:lstStyle/>
          <a:p>
            <a:r>
              <a:rPr kumimoji="1" lang="en-US" altLang="zh-CN" dirty="0"/>
              <a:t>A</a:t>
            </a:r>
            <a:r>
              <a:rPr kumimoji="1" lang="zh-CN" altLang="en-US" dirty="0"/>
              <a:t> </a:t>
            </a:r>
            <a:r>
              <a:rPr kumimoji="1" lang="en-US" altLang="zh-CN" dirty="0"/>
              <a:t>Single</a:t>
            </a:r>
            <a:r>
              <a:rPr kumimoji="1" lang="zh-CN" altLang="en-US" dirty="0"/>
              <a:t> </a:t>
            </a:r>
            <a:r>
              <a:rPr kumimoji="1" lang="en-US" altLang="zh-CN" dirty="0"/>
              <a:t>Car</a:t>
            </a:r>
            <a:r>
              <a:rPr kumimoji="1" lang="zh-CN" altLang="en-US" dirty="0"/>
              <a:t> </a:t>
            </a:r>
            <a:r>
              <a:rPr kumimoji="1" lang="en-US" altLang="zh-CN" dirty="0"/>
              <a:t>is</a:t>
            </a:r>
            <a:r>
              <a:rPr kumimoji="1" lang="zh-CN" altLang="en-US" dirty="0"/>
              <a:t> </a:t>
            </a:r>
            <a:r>
              <a:rPr kumimoji="1" lang="en-US" altLang="zh-CN" dirty="0"/>
              <a:t>a</a:t>
            </a:r>
            <a:r>
              <a:rPr kumimoji="1" lang="zh-CN" altLang="en-US" dirty="0"/>
              <a:t> </a:t>
            </a:r>
            <a:r>
              <a:rPr kumimoji="1" lang="en-US" altLang="zh-CN" dirty="0"/>
              <a:t>Distributed</a:t>
            </a:r>
            <a:r>
              <a:rPr kumimoji="1" lang="zh-CN" altLang="en-US" dirty="0"/>
              <a:t> </a:t>
            </a:r>
            <a:r>
              <a:rPr kumimoji="1" lang="en-US" altLang="zh-CN" dirty="0"/>
              <a:t>System!</a:t>
            </a:r>
            <a:endParaRPr kumimoji="1" lang="zh-CN" altLang="en-US" dirty="0"/>
          </a:p>
        </p:txBody>
      </p:sp>
      <p:pic>
        <p:nvPicPr>
          <p:cNvPr id="1026" name="Picture 2">
            <a:extLst>
              <a:ext uri="{FF2B5EF4-FFF2-40B4-BE49-F238E27FC236}">
                <a16:creationId xmlns:a16="http://schemas.microsoft.com/office/drawing/2014/main" id="{B2D9F5A2-2A9B-B658-98AC-BFA98320E7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33575"/>
            <a:ext cx="9144000" cy="2989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939385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E686DC-AE0F-837B-230E-C6F22D7117D0}"/>
              </a:ext>
            </a:extLst>
          </p:cNvPr>
          <p:cNvSpPr>
            <a:spLocks noGrp="1"/>
          </p:cNvSpPr>
          <p:nvPr>
            <p:ph type="title"/>
          </p:nvPr>
        </p:nvSpPr>
        <p:spPr>
          <a:xfrm>
            <a:off x="990600" y="152400"/>
            <a:ext cx="7848600" cy="533400"/>
          </a:xfrm>
        </p:spPr>
        <p:txBody>
          <a:bodyPr/>
          <a:lstStyle/>
          <a:p>
            <a:r>
              <a:rPr kumimoji="1" lang="en-US" altLang="zh-CN" dirty="0"/>
              <a:t>Other</a:t>
            </a:r>
            <a:r>
              <a:rPr kumimoji="1" lang="zh-CN" altLang="en-US" dirty="0"/>
              <a:t> </a:t>
            </a:r>
            <a:r>
              <a:rPr kumimoji="1" lang="en-US" altLang="zh-CN" dirty="0"/>
              <a:t>examples</a:t>
            </a:r>
            <a:r>
              <a:rPr kumimoji="1" lang="zh-CN" altLang="en-US" dirty="0"/>
              <a:t> </a:t>
            </a:r>
            <a:r>
              <a:rPr kumimoji="1" lang="en-US" altLang="zh-CN" dirty="0"/>
              <a:t>of</a:t>
            </a:r>
            <a:r>
              <a:rPr kumimoji="1" lang="zh-CN" altLang="en-US" dirty="0"/>
              <a:t> </a:t>
            </a:r>
            <a:r>
              <a:rPr kumimoji="1" lang="en-US" altLang="zh-CN" dirty="0"/>
              <a:t>distributed</a:t>
            </a:r>
            <a:r>
              <a:rPr kumimoji="1" lang="zh-CN" altLang="en-US" dirty="0"/>
              <a:t> </a:t>
            </a:r>
            <a:r>
              <a:rPr kumimoji="1" lang="en-US" altLang="zh-CN" dirty="0"/>
              <a:t>systems</a:t>
            </a:r>
            <a:endParaRPr kumimoji="1" lang="zh-CN" altLang="en-US" dirty="0"/>
          </a:p>
        </p:txBody>
      </p:sp>
      <p:pic>
        <p:nvPicPr>
          <p:cNvPr id="4" name="图片 3">
            <a:extLst>
              <a:ext uri="{FF2B5EF4-FFF2-40B4-BE49-F238E27FC236}">
                <a16:creationId xmlns:a16="http://schemas.microsoft.com/office/drawing/2014/main" id="{629D3A3C-8732-A7A8-76BB-1341CFC4560C}"/>
              </a:ext>
            </a:extLst>
          </p:cNvPr>
          <p:cNvPicPr>
            <a:picLocks noChangeAspect="1"/>
          </p:cNvPicPr>
          <p:nvPr/>
        </p:nvPicPr>
        <p:blipFill>
          <a:blip r:embed="rId2"/>
          <a:stretch>
            <a:fillRect/>
          </a:stretch>
        </p:blipFill>
        <p:spPr>
          <a:xfrm>
            <a:off x="457200" y="685800"/>
            <a:ext cx="5822950" cy="4309584"/>
          </a:xfrm>
          <a:prstGeom prst="rect">
            <a:avLst/>
          </a:prstGeom>
        </p:spPr>
      </p:pic>
      <p:pic>
        <p:nvPicPr>
          <p:cNvPr id="5" name="图片 4">
            <a:extLst>
              <a:ext uri="{FF2B5EF4-FFF2-40B4-BE49-F238E27FC236}">
                <a16:creationId xmlns:a16="http://schemas.microsoft.com/office/drawing/2014/main" id="{0EEDF81F-3959-D2F8-8CAA-FAEFB0B8ED43}"/>
              </a:ext>
            </a:extLst>
          </p:cNvPr>
          <p:cNvPicPr>
            <a:picLocks noChangeAspect="1"/>
          </p:cNvPicPr>
          <p:nvPr/>
        </p:nvPicPr>
        <p:blipFill>
          <a:blip r:embed="rId3"/>
          <a:stretch>
            <a:fillRect/>
          </a:stretch>
        </p:blipFill>
        <p:spPr>
          <a:xfrm>
            <a:off x="3421427" y="3401857"/>
            <a:ext cx="5265373" cy="2770343"/>
          </a:xfrm>
          <a:prstGeom prst="rect">
            <a:avLst/>
          </a:prstGeom>
        </p:spPr>
      </p:pic>
    </p:spTree>
    <p:extLst>
      <p:ext uri="{BB962C8B-B14F-4D97-AF65-F5344CB8AC3E}">
        <p14:creationId xmlns:p14="http://schemas.microsoft.com/office/powerpoint/2010/main" val="19695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6FCCA-F7CA-364D-A030-89BBA2B41258}"/>
              </a:ext>
            </a:extLst>
          </p:cNvPr>
          <p:cNvSpPr>
            <a:spLocks noGrp="1"/>
          </p:cNvSpPr>
          <p:nvPr>
            <p:ph type="title"/>
          </p:nvPr>
        </p:nvSpPr>
        <p:spPr/>
        <p:txBody>
          <a:bodyPr/>
          <a:lstStyle/>
          <a:p>
            <a:r>
              <a:rPr lang="en-CN" dirty="0"/>
              <a:t>What Is A Distributed System?</a:t>
            </a:r>
          </a:p>
        </p:txBody>
      </p:sp>
      <p:sp>
        <p:nvSpPr>
          <p:cNvPr id="3" name="Content Placeholder 2">
            <a:extLst>
              <a:ext uri="{FF2B5EF4-FFF2-40B4-BE49-F238E27FC236}">
                <a16:creationId xmlns:a16="http://schemas.microsoft.com/office/drawing/2014/main" id="{91285B88-C1BB-9F46-BCE8-A2F5807CCDC7}"/>
              </a:ext>
            </a:extLst>
          </p:cNvPr>
          <p:cNvSpPr>
            <a:spLocks noGrp="1"/>
          </p:cNvSpPr>
          <p:nvPr>
            <p:ph idx="1"/>
          </p:nvPr>
        </p:nvSpPr>
        <p:spPr/>
        <p:txBody>
          <a:bodyPr/>
          <a:lstStyle/>
          <a:p>
            <a:r>
              <a:rPr lang="en-CN" dirty="0"/>
              <a:t>A collection of </a:t>
            </a:r>
            <a:r>
              <a:rPr lang="en-CN" dirty="0">
                <a:solidFill>
                  <a:srgbClr val="FF0000"/>
                </a:solidFill>
              </a:rPr>
              <a:t>independent computers</a:t>
            </a:r>
            <a:r>
              <a:rPr lang="en-CN" dirty="0"/>
              <a:t> that appears to its users as a </a:t>
            </a:r>
            <a:r>
              <a:rPr lang="en-CN" dirty="0">
                <a:solidFill>
                  <a:srgbClr val="FF0000"/>
                </a:solidFill>
              </a:rPr>
              <a:t>single coherent system</a:t>
            </a:r>
            <a:r>
              <a:rPr lang="en-CN" dirty="0"/>
              <a:t>.</a:t>
            </a:r>
          </a:p>
          <a:p>
            <a:pPr lvl="1"/>
            <a:r>
              <a:rPr lang="en-US" altLang="zh-CN" dirty="0"/>
              <a:t>“shared</a:t>
            </a:r>
            <a:r>
              <a:rPr lang="zh-CN" altLang="en-US" dirty="0"/>
              <a:t> </a:t>
            </a:r>
            <a:r>
              <a:rPr lang="en-US" altLang="zh-CN" dirty="0"/>
              <a:t>nothing</a:t>
            </a:r>
            <a:r>
              <a:rPr lang="zh-CN" altLang="en-US" dirty="0"/>
              <a:t> </a:t>
            </a:r>
            <a:r>
              <a:rPr lang="en-US" altLang="zh-CN" dirty="0"/>
              <a:t>architecture”</a:t>
            </a:r>
            <a:endParaRPr lang="en-CN" altLang="zh-CN"/>
          </a:p>
          <a:p>
            <a:endParaRPr lang="en-CN" dirty="0"/>
          </a:p>
          <a:p>
            <a:r>
              <a:rPr lang="en-CN" dirty="0"/>
              <a:t>Features:</a:t>
            </a:r>
          </a:p>
          <a:p>
            <a:pPr lvl="1"/>
            <a:r>
              <a:rPr lang="en-CN" dirty="0"/>
              <a:t>No shared memory — message-based communcation</a:t>
            </a:r>
          </a:p>
          <a:p>
            <a:pPr lvl="1"/>
            <a:r>
              <a:rPr lang="en-CN" dirty="0"/>
              <a:t>Each runs its own local OS</a:t>
            </a:r>
          </a:p>
          <a:p>
            <a:pPr lvl="1"/>
            <a:r>
              <a:rPr lang="en-CN"/>
              <a:t>Heterogeneity</a:t>
            </a:r>
            <a:endParaRPr lang="en-US" dirty="0"/>
          </a:p>
          <a:p>
            <a:pPr lvl="1"/>
            <a:endParaRPr lang="en-CN" dirty="0"/>
          </a:p>
          <a:p>
            <a:r>
              <a:rPr lang="en-CN" dirty="0"/>
              <a:t>Ideal: to present a single-system image:</a:t>
            </a:r>
          </a:p>
          <a:p>
            <a:pPr lvl="1"/>
            <a:r>
              <a:rPr lang="en-CN" dirty="0"/>
              <a:t>The distributed system “looks like” a single computer rather than a colelction of separate </a:t>
            </a:r>
            <a:r>
              <a:rPr lang="en-CN"/>
              <a:t>computers.</a:t>
            </a:r>
            <a:endParaRPr lang="en-US" dirty="0"/>
          </a:p>
        </p:txBody>
      </p:sp>
    </p:spTree>
    <p:extLst>
      <p:ext uri="{BB962C8B-B14F-4D97-AF65-F5344CB8AC3E}">
        <p14:creationId xmlns:p14="http://schemas.microsoft.com/office/powerpoint/2010/main" val="251495452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A2289-879B-2B4C-A56C-6E5CD05C4137}"/>
              </a:ext>
            </a:extLst>
          </p:cNvPr>
          <p:cNvSpPr>
            <a:spLocks noGrp="1"/>
          </p:cNvSpPr>
          <p:nvPr>
            <p:ph type="title"/>
          </p:nvPr>
        </p:nvSpPr>
        <p:spPr/>
        <p:txBody>
          <a:bodyPr/>
          <a:lstStyle/>
          <a:p>
            <a:r>
              <a:rPr lang="en-CN" dirty="0"/>
              <a:t>Distributed System Layer</a:t>
            </a:r>
          </a:p>
        </p:txBody>
      </p:sp>
      <p:pic>
        <p:nvPicPr>
          <p:cNvPr id="5" name="Content Placeholder 4" descr="01-01">
            <a:extLst>
              <a:ext uri="{FF2B5EF4-FFF2-40B4-BE49-F238E27FC236}">
                <a16:creationId xmlns:a16="http://schemas.microsoft.com/office/drawing/2014/main" id="{A494603E-AE3C-9741-AF9B-D3B036106B4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9518" y="1785155"/>
            <a:ext cx="7884969" cy="3287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26AB0861-81AF-724C-A1FB-90A5C7417012}"/>
              </a:ext>
            </a:extLst>
          </p:cNvPr>
          <p:cNvSpPr txBox="1"/>
          <p:nvPr/>
        </p:nvSpPr>
        <p:spPr>
          <a:xfrm>
            <a:off x="629518" y="5215975"/>
            <a:ext cx="7884969" cy="646331"/>
          </a:xfrm>
          <a:prstGeom prst="rect">
            <a:avLst/>
          </a:prstGeom>
          <a:noFill/>
        </p:spPr>
        <p:txBody>
          <a:bodyPr wrap="square" rtlCol="0">
            <a:spAutoFit/>
          </a:bodyPr>
          <a:lstStyle/>
          <a:p>
            <a:r>
              <a:rPr lang="en-CN" dirty="0">
                <a:latin typeface="Calibri" panose="020F0502020204030204" pitchFamily="34" charset="0"/>
                <a:cs typeface="Calibri" panose="020F0502020204030204" pitchFamily="34" charset="0"/>
              </a:rPr>
              <a:t>A distributed system organized as </a:t>
            </a:r>
            <a:r>
              <a:rPr lang="en-CN" dirty="0">
                <a:solidFill>
                  <a:srgbClr val="FF0000"/>
                </a:solidFill>
                <a:latin typeface="Calibri" panose="020F0502020204030204" pitchFamily="34" charset="0"/>
                <a:cs typeface="Calibri" panose="020F0502020204030204" pitchFamily="34" charset="0"/>
              </a:rPr>
              <a:t>middleware</a:t>
            </a:r>
            <a:r>
              <a:rPr lang="en-CN" dirty="0">
                <a:latin typeface="Calibri" panose="020F0502020204030204" pitchFamily="34" charset="0"/>
                <a:cs typeface="Calibri" panose="020F0502020204030204" pitchFamily="34" charset="0"/>
              </a:rPr>
              <a:t>. The middleware layer runs on all machines, and offers a uniform interface to the system.</a:t>
            </a:r>
          </a:p>
        </p:txBody>
      </p:sp>
    </p:spTree>
    <p:extLst>
      <p:ext uri="{BB962C8B-B14F-4D97-AF65-F5344CB8AC3E}">
        <p14:creationId xmlns:p14="http://schemas.microsoft.com/office/powerpoint/2010/main" val="230380972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990600" y="381000"/>
            <a:ext cx="7756504" cy="533400"/>
          </a:xfrm>
        </p:spPr>
        <p:txBody>
          <a:bodyPr/>
          <a:lstStyle/>
          <a:p>
            <a:r>
              <a:rPr lang="en-US" altLang="ko-KR" dirty="0">
                <a:ea typeface="굴림" panose="020B0600000101010101" pitchFamily="34" charset="-127"/>
              </a:rPr>
              <a:t>The</a:t>
            </a:r>
            <a:r>
              <a:rPr lang="zh-CN" altLang="en-US" dirty="0">
                <a:ea typeface="굴림" panose="020B0600000101010101" pitchFamily="34" charset="-127"/>
              </a:rPr>
              <a:t> </a:t>
            </a:r>
            <a:r>
              <a:rPr lang="en-US" altLang="zh-CN" dirty="0">
                <a:ea typeface="굴림" panose="020B0600000101010101" pitchFamily="34" charset="-127"/>
              </a:rPr>
              <a:t>Reality</a:t>
            </a:r>
            <a:r>
              <a:rPr lang="zh-CN" altLang="en-US" dirty="0">
                <a:ea typeface="굴림" panose="020B0600000101010101" pitchFamily="34" charset="-127"/>
              </a:rPr>
              <a:t> </a:t>
            </a:r>
            <a:r>
              <a:rPr lang="en-US" altLang="zh-CN" dirty="0">
                <a:ea typeface="굴림" panose="020B0600000101010101" pitchFamily="34" charset="-127"/>
              </a:rPr>
              <a:t>of</a:t>
            </a:r>
            <a:r>
              <a:rPr lang="zh-CN" altLang="en-US" dirty="0">
                <a:ea typeface="굴림" panose="020B0600000101010101" pitchFamily="34" charset="-127"/>
              </a:rPr>
              <a:t> </a:t>
            </a:r>
            <a:r>
              <a:rPr lang="en-US" altLang="zh-CN" dirty="0">
                <a:ea typeface="굴림" panose="020B0600000101010101" pitchFamily="34" charset="-127"/>
              </a:rPr>
              <a:t>(most)</a:t>
            </a:r>
            <a:r>
              <a:rPr lang="zh-CN" altLang="en-US" dirty="0">
                <a:ea typeface="굴림" panose="020B0600000101010101" pitchFamily="34" charset="-127"/>
              </a:rPr>
              <a:t> </a:t>
            </a:r>
            <a:r>
              <a:rPr lang="en-US" altLang="ko-KR" dirty="0">
                <a:ea typeface="굴림" panose="020B0600000101010101" pitchFamily="34" charset="-127"/>
              </a:rPr>
              <a:t>Distributed Systems</a:t>
            </a:r>
          </a:p>
        </p:txBody>
      </p:sp>
      <p:sp>
        <p:nvSpPr>
          <p:cNvPr id="28675" name="Rectangle 3"/>
          <p:cNvSpPr>
            <a:spLocks noGrp="1" noChangeArrowheads="1"/>
          </p:cNvSpPr>
          <p:nvPr>
            <p:ph type="body" idx="1"/>
          </p:nvPr>
        </p:nvSpPr>
        <p:spPr>
          <a:xfrm>
            <a:off x="228600" y="1173503"/>
            <a:ext cx="8686800" cy="5303497"/>
          </a:xfrm>
        </p:spPr>
        <p:txBody>
          <a:bodyPr/>
          <a:lstStyle/>
          <a:p>
            <a:pPr>
              <a:lnSpc>
                <a:spcPct val="80000"/>
              </a:lnSpc>
              <a:spcBef>
                <a:spcPct val="0"/>
              </a:spcBef>
            </a:pPr>
            <a:r>
              <a:rPr lang="en-US" altLang="ko-KR" dirty="0">
                <a:solidFill>
                  <a:srgbClr val="FF0000"/>
                </a:solidFill>
                <a:ea typeface="굴림" panose="020B0600000101010101" pitchFamily="34" charset="-127"/>
              </a:rPr>
              <a:t>Worse availability: </a:t>
            </a:r>
            <a:r>
              <a:rPr lang="en-US" altLang="ko-KR" dirty="0">
                <a:ea typeface="굴림" panose="020B0600000101010101" pitchFamily="34" charset="-127"/>
              </a:rPr>
              <a:t>depend on every machine being up</a:t>
            </a:r>
          </a:p>
          <a:p>
            <a:pPr>
              <a:lnSpc>
                <a:spcPct val="80000"/>
              </a:lnSpc>
              <a:spcBef>
                <a:spcPct val="0"/>
              </a:spcBef>
            </a:pPr>
            <a:endParaRPr lang="en-US" altLang="ko-KR" dirty="0">
              <a:ea typeface="굴림" panose="020B0600000101010101" pitchFamily="34" charset="-127"/>
            </a:endParaRPr>
          </a:p>
          <a:p>
            <a:pPr lvl="1">
              <a:lnSpc>
                <a:spcPct val="80000"/>
              </a:lnSpc>
              <a:spcBef>
                <a:spcPct val="0"/>
              </a:spcBef>
            </a:pPr>
            <a:r>
              <a:rPr lang="en-US" altLang="ko-KR" sz="2400" dirty="0" err="1">
                <a:ea typeface="굴림" panose="020B0600000101010101" pitchFamily="34" charset="-127"/>
              </a:rPr>
              <a:t>Lamport</a:t>
            </a:r>
            <a:r>
              <a:rPr lang="en-US" altLang="ko-KR" sz="2400" dirty="0">
                <a:ea typeface="굴림" panose="020B0600000101010101" pitchFamily="34" charset="-127"/>
              </a:rPr>
              <a:t>: “</a:t>
            </a:r>
            <a:r>
              <a:rPr lang="en-US" altLang="ko-KR" sz="2400" i="1" dirty="0">
                <a:ea typeface="굴림" panose="020B0600000101010101" pitchFamily="34" charset="-127"/>
              </a:rPr>
              <a:t>a distributed system is one where I can’t do work because some machine I’ve never heard of isn’t working!</a:t>
            </a:r>
            <a:r>
              <a:rPr lang="en-US" altLang="ko-KR" sz="2400" dirty="0">
                <a:ea typeface="굴림" panose="020B0600000101010101" pitchFamily="34" charset="-127"/>
              </a:rPr>
              <a:t>”</a:t>
            </a:r>
          </a:p>
          <a:p>
            <a:pPr lvl="1">
              <a:lnSpc>
                <a:spcPct val="80000"/>
              </a:lnSpc>
              <a:spcBef>
                <a:spcPct val="0"/>
              </a:spcBef>
            </a:pPr>
            <a:endParaRPr lang="en-US" altLang="ko-KR" sz="2400" dirty="0">
              <a:ea typeface="굴림" panose="020B0600000101010101" pitchFamily="34" charset="-127"/>
            </a:endParaRPr>
          </a:p>
          <a:p>
            <a:pPr>
              <a:lnSpc>
                <a:spcPct val="80000"/>
              </a:lnSpc>
              <a:spcBef>
                <a:spcPct val="0"/>
              </a:spcBef>
            </a:pPr>
            <a:r>
              <a:rPr lang="en-US" altLang="ko-KR" dirty="0">
                <a:solidFill>
                  <a:srgbClr val="FF0000"/>
                </a:solidFill>
                <a:ea typeface="굴림" panose="020B0600000101010101" pitchFamily="34" charset="-127"/>
              </a:rPr>
              <a:t>Worse reliability: </a:t>
            </a:r>
            <a:r>
              <a:rPr lang="en-US" altLang="ko-KR" dirty="0">
                <a:ea typeface="굴림" panose="020B0600000101010101" pitchFamily="34" charset="-127"/>
              </a:rPr>
              <a:t>can lose data if any machine crashes</a:t>
            </a:r>
          </a:p>
          <a:p>
            <a:pPr>
              <a:lnSpc>
                <a:spcPct val="80000"/>
              </a:lnSpc>
              <a:spcBef>
                <a:spcPct val="0"/>
              </a:spcBef>
            </a:pPr>
            <a:r>
              <a:rPr lang="en-US" altLang="ko-KR" dirty="0">
                <a:solidFill>
                  <a:srgbClr val="FF0000"/>
                </a:solidFill>
                <a:ea typeface="굴림" panose="020B0600000101010101" pitchFamily="34" charset="-127"/>
              </a:rPr>
              <a:t>Worse security: </a:t>
            </a:r>
            <a:r>
              <a:rPr lang="en-US" altLang="ko-KR" dirty="0">
                <a:ea typeface="굴림" panose="020B0600000101010101" pitchFamily="34" charset="-127"/>
              </a:rPr>
              <a:t>anyone in </a:t>
            </a:r>
            <a:r>
              <a:rPr lang="en-US" altLang="zh-CN" dirty="0">
                <a:ea typeface="굴림" panose="020B0600000101010101" pitchFamily="34" charset="-127"/>
              </a:rPr>
              <a:t>the</a:t>
            </a:r>
            <a:r>
              <a:rPr lang="zh-CN" altLang="en-US" dirty="0">
                <a:ea typeface="굴림" panose="020B0600000101010101" pitchFamily="34" charset="-127"/>
              </a:rPr>
              <a:t> </a:t>
            </a:r>
            <a:r>
              <a:rPr lang="en-US" altLang="ko-KR" dirty="0">
                <a:ea typeface="굴림" panose="020B0600000101010101" pitchFamily="34" charset="-127"/>
              </a:rPr>
              <a:t>world can break into system</a:t>
            </a:r>
          </a:p>
          <a:p>
            <a:pPr lvl="1">
              <a:lnSpc>
                <a:spcPct val="80000"/>
              </a:lnSpc>
              <a:spcBef>
                <a:spcPct val="0"/>
              </a:spcBef>
            </a:pPr>
            <a:endParaRPr lang="en-US" altLang="ko-KR" sz="2400" dirty="0">
              <a:ea typeface="굴림" panose="020B0600000101010101" pitchFamily="34" charset="-127"/>
            </a:endParaRPr>
          </a:p>
          <a:p>
            <a:pPr>
              <a:lnSpc>
                <a:spcPct val="80000"/>
              </a:lnSpc>
              <a:spcBef>
                <a:spcPct val="0"/>
              </a:spcBef>
            </a:pPr>
            <a:r>
              <a:rPr lang="en-US" altLang="ko-KR" dirty="0">
                <a:ea typeface="굴림" panose="020B0600000101010101" pitchFamily="34" charset="-127"/>
              </a:rPr>
              <a:t>Coordination is more difficult</a:t>
            </a:r>
          </a:p>
          <a:p>
            <a:pPr lvl="1">
              <a:lnSpc>
                <a:spcPct val="80000"/>
              </a:lnSpc>
              <a:spcBef>
                <a:spcPct val="0"/>
              </a:spcBef>
            </a:pPr>
            <a:r>
              <a:rPr lang="en-US" altLang="ko-KR" sz="2400" dirty="0">
                <a:ea typeface="굴림" panose="020B0600000101010101" pitchFamily="34" charset="-127"/>
              </a:rPr>
              <a:t>Must coordinate multiple copies of shared state information (using only a network)</a:t>
            </a:r>
          </a:p>
          <a:p>
            <a:pPr lvl="1">
              <a:lnSpc>
                <a:spcPct val="80000"/>
              </a:lnSpc>
              <a:spcBef>
                <a:spcPct val="0"/>
              </a:spcBef>
            </a:pPr>
            <a:r>
              <a:rPr lang="en-US" altLang="ko-KR" sz="2400" dirty="0">
                <a:ea typeface="굴림" panose="020B0600000101010101" pitchFamily="34" charset="-127"/>
              </a:rPr>
              <a:t>What would be easy in a centralized system becomes a lot more difficult</a:t>
            </a:r>
          </a:p>
        </p:txBody>
      </p:sp>
    </p:spTree>
    <p:extLst>
      <p:ext uri="{BB962C8B-B14F-4D97-AF65-F5344CB8AC3E}">
        <p14:creationId xmlns:p14="http://schemas.microsoft.com/office/powerpoint/2010/main" val="8535992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E69D93-0516-2149-8816-C19C43DAA7C6}"/>
              </a:ext>
            </a:extLst>
          </p:cNvPr>
          <p:cNvSpPr>
            <a:spLocks noGrp="1"/>
          </p:cNvSpPr>
          <p:nvPr>
            <p:ph type="title"/>
          </p:nvPr>
        </p:nvSpPr>
        <p:spPr>
          <a:xfrm>
            <a:off x="990600" y="224319"/>
            <a:ext cx="7162800" cy="533400"/>
          </a:xfrm>
        </p:spPr>
        <p:txBody>
          <a:bodyPr/>
          <a:lstStyle/>
          <a:p>
            <a:r>
              <a:rPr kumimoji="1" lang="en-US" altLang="zh-CN" dirty="0"/>
              <a:t>Key</a:t>
            </a:r>
            <a:r>
              <a:rPr kumimoji="1" lang="zh-CN" altLang="en-US" dirty="0"/>
              <a:t> </a:t>
            </a:r>
            <a:r>
              <a:rPr kumimoji="1" lang="en-US" altLang="zh-CN" dirty="0"/>
              <a:t>challenge:</a:t>
            </a:r>
            <a:r>
              <a:rPr kumimoji="1" lang="zh-CN" altLang="en-US" dirty="0"/>
              <a:t> </a:t>
            </a:r>
            <a:r>
              <a:rPr kumimoji="1" lang="en-US" altLang="zh-CN" dirty="0"/>
              <a:t>How</a:t>
            </a:r>
            <a:r>
              <a:rPr kumimoji="1" lang="zh-CN" altLang="en-US" dirty="0"/>
              <a:t> </a:t>
            </a:r>
            <a:r>
              <a:rPr kumimoji="1" lang="en-US" altLang="zh-CN" dirty="0"/>
              <a:t>to</a:t>
            </a:r>
            <a:r>
              <a:rPr kumimoji="1" lang="zh-CN" altLang="en-US" dirty="0"/>
              <a:t> </a:t>
            </a:r>
            <a:r>
              <a:rPr kumimoji="1" lang="en-US" altLang="zh-CN" dirty="0"/>
              <a:t>make</a:t>
            </a:r>
            <a:r>
              <a:rPr kumimoji="1" lang="zh-CN" altLang="en-US" dirty="0"/>
              <a:t> </a:t>
            </a:r>
            <a:r>
              <a:rPr kumimoji="1" lang="en-US" altLang="zh-CN" dirty="0"/>
              <a:t>them</a:t>
            </a:r>
            <a:r>
              <a:rPr kumimoji="1" lang="zh-CN" altLang="en-US" dirty="0"/>
              <a:t> </a:t>
            </a:r>
            <a:r>
              <a:rPr kumimoji="1" lang="en-US" altLang="zh-CN" dirty="0"/>
              <a:t>run</a:t>
            </a:r>
            <a:r>
              <a:rPr kumimoji="1" lang="zh-CN" altLang="en-US" dirty="0"/>
              <a:t> </a:t>
            </a:r>
            <a:r>
              <a:rPr kumimoji="1" lang="en-US" altLang="zh-CN" dirty="0"/>
              <a:t>in</a:t>
            </a:r>
            <a:r>
              <a:rPr kumimoji="1" lang="zh-CN" altLang="en-US" dirty="0"/>
              <a:t> </a:t>
            </a:r>
            <a:r>
              <a:rPr kumimoji="1" lang="en-US" altLang="zh-CN" dirty="0"/>
              <a:t>the</a:t>
            </a:r>
            <a:r>
              <a:rPr kumimoji="1" lang="zh-CN" altLang="en-US" dirty="0"/>
              <a:t> </a:t>
            </a:r>
            <a:r>
              <a:rPr kumimoji="1" lang="en-US" altLang="zh-CN" dirty="0"/>
              <a:t>same</a:t>
            </a:r>
            <a:r>
              <a:rPr kumimoji="1" lang="zh-CN" altLang="en-US" dirty="0"/>
              <a:t> </a:t>
            </a:r>
            <a:r>
              <a:rPr kumimoji="1" lang="en-US" altLang="zh-CN" dirty="0"/>
              <a:t>direction?</a:t>
            </a:r>
            <a:endParaRPr kumimoji="1" lang="zh-CN" altLang="en-US" dirty="0"/>
          </a:p>
        </p:txBody>
      </p:sp>
      <p:pic>
        <p:nvPicPr>
          <p:cNvPr id="4098" name="Picture 2" descr="Alaska State Sport | Dog Mushing">
            <a:extLst>
              <a:ext uri="{FF2B5EF4-FFF2-40B4-BE49-F238E27FC236}">
                <a16:creationId xmlns:a16="http://schemas.microsoft.com/office/drawing/2014/main" id="{1C038D8D-7703-0B4A-B156-A3104DA29F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4887" y="1625600"/>
            <a:ext cx="5179606" cy="3871074"/>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10004F82-8139-98D1-80B8-9FC4674B8819}"/>
              </a:ext>
            </a:extLst>
          </p:cNvPr>
          <p:cNvSpPr txBox="1"/>
          <p:nvPr/>
        </p:nvSpPr>
        <p:spPr>
          <a:xfrm>
            <a:off x="990600" y="5964445"/>
            <a:ext cx="6574236" cy="400110"/>
          </a:xfrm>
          <a:prstGeom prst="rect">
            <a:avLst/>
          </a:prstGeom>
          <a:noFill/>
        </p:spPr>
        <p:txBody>
          <a:bodyPr wrap="none" rtlCol="0">
            <a:spAutoFit/>
          </a:bodyPr>
          <a:lstStyle/>
          <a:p>
            <a:r>
              <a:rPr kumimoji="1" lang="en-US" altLang="zh-CN" sz="2000" b="0" dirty="0">
                <a:latin typeface="Helvetica"/>
                <a:cs typeface="Helvetica"/>
              </a:rPr>
              <a:t>In</a:t>
            </a:r>
            <a:r>
              <a:rPr kumimoji="1" lang="zh-CN" altLang="en-US" sz="2000" b="0" dirty="0">
                <a:latin typeface="Helvetica"/>
                <a:cs typeface="Helvetica"/>
              </a:rPr>
              <a:t> </a:t>
            </a:r>
            <a:r>
              <a:rPr kumimoji="1" lang="en-US" altLang="zh-CN" sz="2000" b="0" dirty="0">
                <a:latin typeface="Helvetica"/>
                <a:cs typeface="Helvetica"/>
              </a:rPr>
              <a:t>a</a:t>
            </a:r>
            <a:r>
              <a:rPr kumimoji="1" lang="zh-CN" altLang="en-US" sz="2000" b="0" dirty="0">
                <a:latin typeface="Helvetica"/>
                <a:cs typeface="Helvetica"/>
              </a:rPr>
              <a:t> </a:t>
            </a:r>
            <a:r>
              <a:rPr kumimoji="1" lang="en-US" altLang="zh-CN" sz="2000" b="0" dirty="0">
                <a:latin typeface="Helvetica"/>
                <a:cs typeface="Helvetica"/>
              </a:rPr>
              <a:t>more</a:t>
            </a:r>
            <a:r>
              <a:rPr kumimoji="1" lang="zh-CN" altLang="en-US" sz="2000" b="0" dirty="0">
                <a:latin typeface="Helvetica"/>
                <a:cs typeface="Helvetica"/>
              </a:rPr>
              <a:t> </a:t>
            </a:r>
            <a:r>
              <a:rPr kumimoji="1" lang="en-US" altLang="zh-CN" sz="2000" b="0" dirty="0">
                <a:latin typeface="Helvetica"/>
                <a:cs typeface="Helvetica"/>
              </a:rPr>
              <a:t>technical</a:t>
            </a:r>
            <a:r>
              <a:rPr kumimoji="1" lang="zh-CN" altLang="en-US" sz="2000" b="0" dirty="0">
                <a:latin typeface="Helvetica"/>
                <a:cs typeface="Helvetica"/>
              </a:rPr>
              <a:t> </a:t>
            </a:r>
            <a:r>
              <a:rPr kumimoji="1" lang="en-US" altLang="zh-CN" sz="2000" b="0" dirty="0">
                <a:latin typeface="Helvetica"/>
                <a:cs typeface="Helvetica"/>
              </a:rPr>
              <a:t>term:</a:t>
            </a:r>
            <a:r>
              <a:rPr kumimoji="1" lang="zh-CN" altLang="en-US" sz="2000" b="0" dirty="0">
                <a:latin typeface="Helvetica"/>
                <a:cs typeface="Helvetica"/>
              </a:rPr>
              <a:t>  </a:t>
            </a:r>
            <a:r>
              <a:rPr kumimoji="1" lang="en-US" altLang="zh-CN" sz="2000" b="0" dirty="0">
                <a:latin typeface="Helvetica"/>
                <a:cs typeface="Helvetica"/>
              </a:rPr>
              <a:t>How</a:t>
            </a:r>
            <a:r>
              <a:rPr kumimoji="1" lang="zh-CN" altLang="en-US" sz="2000" b="0" dirty="0">
                <a:latin typeface="Helvetica"/>
                <a:cs typeface="Helvetica"/>
              </a:rPr>
              <a:t> </a:t>
            </a:r>
            <a:r>
              <a:rPr kumimoji="1" lang="en-US" altLang="zh-CN" sz="2000" b="0" dirty="0">
                <a:latin typeface="Helvetica"/>
                <a:cs typeface="Helvetica"/>
              </a:rPr>
              <a:t>to</a:t>
            </a:r>
            <a:r>
              <a:rPr kumimoji="1" lang="zh-CN" altLang="en-US" sz="2000" b="0" dirty="0">
                <a:latin typeface="Helvetica"/>
                <a:cs typeface="Helvetica"/>
              </a:rPr>
              <a:t> </a:t>
            </a:r>
            <a:r>
              <a:rPr kumimoji="1" lang="en-US" altLang="zh-CN" sz="2000" b="0" dirty="0">
                <a:latin typeface="Helvetica"/>
                <a:cs typeface="Helvetica"/>
              </a:rPr>
              <a:t>keep</a:t>
            </a:r>
            <a:r>
              <a:rPr kumimoji="1" lang="zh-CN" altLang="en-US" sz="2000" b="0" dirty="0">
                <a:latin typeface="Helvetica"/>
                <a:cs typeface="Helvetica"/>
              </a:rPr>
              <a:t> </a:t>
            </a:r>
            <a:r>
              <a:rPr kumimoji="1" lang="en-US" altLang="zh-CN" sz="2000" b="0" dirty="0">
                <a:latin typeface="Helvetica"/>
                <a:cs typeface="Helvetica"/>
              </a:rPr>
              <a:t>them</a:t>
            </a:r>
            <a:r>
              <a:rPr kumimoji="1" lang="zh-CN" altLang="en-US" sz="2000" b="0" dirty="0">
                <a:latin typeface="Helvetica"/>
                <a:cs typeface="Helvetica"/>
              </a:rPr>
              <a:t> </a:t>
            </a:r>
            <a:r>
              <a:rPr kumimoji="1" lang="en-US" altLang="zh-CN" sz="2000" b="0" dirty="0">
                <a:latin typeface="Helvetica"/>
                <a:cs typeface="Helvetica"/>
              </a:rPr>
              <a:t>consistent?</a:t>
            </a:r>
            <a:endParaRPr kumimoji="1" lang="zh-CN" altLang="en-US" sz="2000" b="0" dirty="0">
              <a:latin typeface="Helvetica"/>
              <a:cs typeface="Helvetica"/>
            </a:endParaRPr>
          </a:p>
        </p:txBody>
      </p:sp>
    </p:spTree>
    <p:extLst>
      <p:ext uri="{BB962C8B-B14F-4D97-AF65-F5344CB8AC3E}">
        <p14:creationId xmlns:p14="http://schemas.microsoft.com/office/powerpoint/2010/main" val="79984185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network</a:t>
            </a:r>
            <a:r>
              <a:rPr lang="en-US" dirty="0"/>
              <a:t> file system</a:t>
            </a:r>
            <a:r>
              <a:rPr lang="zh-CN" altLang="en-US" dirty="0"/>
              <a:t> </a:t>
            </a:r>
            <a:r>
              <a:rPr lang="en-US" altLang="zh-CN" dirty="0"/>
              <a:t>(NFS)</a:t>
            </a:r>
            <a:r>
              <a:rPr lang="zh-CN" altLang="en-US" dirty="0"/>
              <a:t> </a:t>
            </a:r>
            <a:r>
              <a:rPr lang="en-US" altLang="zh-CN" dirty="0"/>
              <a:t>and</a:t>
            </a:r>
            <a:r>
              <a:rPr lang="zh-CN" altLang="en-US" dirty="0"/>
              <a:t> </a:t>
            </a:r>
            <a:r>
              <a:rPr lang="en-US" altLang="zh-CN" dirty="0"/>
              <a:t>Andrew</a:t>
            </a:r>
            <a:r>
              <a:rPr lang="zh-CN" altLang="en-US" dirty="0"/>
              <a:t> </a:t>
            </a:r>
            <a:r>
              <a:rPr lang="en-US" altLang="zh-CN" dirty="0"/>
              <a:t>file</a:t>
            </a:r>
            <a:r>
              <a:rPr lang="zh-CN" altLang="en-US" dirty="0"/>
              <a:t> </a:t>
            </a:r>
            <a:r>
              <a:rPr lang="en-US" altLang="zh-CN" dirty="0"/>
              <a:t>system</a:t>
            </a:r>
            <a:r>
              <a:rPr lang="zh-CN" altLang="en-US" dirty="0"/>
              <a:t> </a:t>
            </a:r>
            <a:r>
              <a:rPr lang="en-US" altLang="zh-CN" dirty="0"/>
              <a:t>(</a:t>
            </a:r>
            <a:r>
              <a:rPr lang="en-US" altLang="zh-CN" dirty="0" err="1"/>
              <a:t>afs</a:t>
            </a:r>
            <a:r>
              <a:rPr lang="en-US" altLang="zh-CN" dirty="0"/>
              <a:t>)</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2990962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a:latin typeface="Helvetica" charset="0"/>
                <a:ea typeface="MS PGothic" charset="0"/>
              </a:rPr>
              <a:t>Distributed File Systems</a:t>
            </a:r>
            <a:endParaRPr lang="en-US" dirty="0"/>
          </a:p>
        </p:txBody>
      </p:sp>
      <p:sp>
        <p:nvSpPr>
          <p:cNvPr id="3" name="Content Placeholder 2"/>
          <p:cNvSpPr>
            <a:spLocks noGrp="1"/>
          </p:cNvSpPr>
          <p:nvPr>
            <p:ph idx="1"/>
          </p:nvPr>
        </p:nvSpPr>
        <p:spPr>
          <a:xfrm>
            <a:off x="609600" y="3953978"/>
            <a:ext cx="7924800" cy="2065821"/>
          </a:xfrm>
        </p:spPr>
        <p:txBody>
          <a:bodyPr/>
          <a:lstStyle/>
          <a:p>
            <a:pPr>
              <a:lnSpc>
                <a:spcPct val="80000"/>
              </a:lnSpc>
              <a:spcBef>
                <a:spcPct val="5000"/>
              </a:spcBef>
            </a:pPr>
            <a:r>
              <a:rPr lang="en-US" altLang="ko-KR" dirty="0">
                <a:latin typeface="Helvetica" charset="0"/>
                <a:ea typeface="MS PGothic" charset="0"/>
              </a:rPr>
              <a:t>Distributed File System: </a:t>
            </a:r>
          </a:p>
          <a:p>
            <a:pPr lvl="1">
              <a:lnSpc>
                <a:spcPct val="80000"/>
              </a:lnSpc>
              <a:spcBef>
                <a:spcPct val="5000"/>
              </a:spcBef>
            </a:pPr>
            <a:r>
              <a:rPr lang="en-US" altLang="ko-KR" dirty="0">
                <a:latin typeface="Helvetica" charset="0"/>
                <a:ea typeface="MS PGothic" charset="0"/>
              </a:rPr>
              <a:t>Transparent access to files stored on a remote disk</a:t>
            </a:r>
          </a:p>
          <a:p>
            <a:endParaRPr lang="en-US" dirty="0"/>
          </a:p>
        </p:txBody>
      </p:sp>
      <p:grpSp>
        <p:nvGrpSpPr>
          <p:cNvPr id="5" name="Group 9"/>
          <p:cNvGrpSpPr>
            <a:grpSpLocks/>
          </p:cNvGrpSpPr>
          <p:nvPr/>
        </p:nvGrpSpPr>
        <p:grpSpPr bwMode="auto">
          <a:xfrm>
            <a:off x="1524000" y="1394291"/>
            <a:ext cx="6324600" cy="1925638"/>
            <a:chOff x="624" y="480"/>
            <a:chExt cx="4692" cy="1728"/>
          </a:xfrm>
        </p:grpSpPr>
        <p:pic>
          <p:nvPicPr>
            <p:cNvPr id="6" name="Picture 10" descr="MCj039843500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8" y="576"/>
              <a:ext cx="1155" cy="1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11" descr="MCj0398505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 y="624"/>
              <a:ext cx="1146" cy="10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12"/>
            <p:cNvSpPr>
              <a:spLocks noChangeArrowheads="1"/>
            </p:cNvSpPr>
            <p:nvPr/>
          </p:nvSpPr>
          <p:spPr bwMode="auto">
            <a:xfrm>
              <a:off x="1824" y="1056"/>
              <a:ext cx="1487" cy="242"/>
            </a:xfrm>
            <a:prstGeom prst="rect">
              <a:avLst/>
            </a:prstGeom>
            <a:solidFill>
              <a:srgbClr val="00FFFF"/>
            </a:solidFill>
            <a:ln w="38100">
              <a:solidFill>
                <a:schemeClr val="tx1"/>
              </a:solidFill>
              <a:miter lim="800000"/>
              <a:headEnd/>
              <a:tailEnd/>
            </a:ln>
          </p:spPr>
          <p:txBody>
            <a:bodyPr wrap="none" lIns="90478" tIns="44445" rIns="90478" bIns="44445" anchor="ctr"/>
            <a:lstStyle/>
            <a:p>
              <a:pPr marL="228600" indent="-228600"/>
              <a:r>
                <a:rPr lang="en-US" altLang="zh-CN">
                  <a:latin typeface="Helvetica" charset="0"/>
                </a:rPr>
                <a:t>Network</a:t>
              </a:r>
            </a:p>
          </p:txBody>
        </p:sp>
        <p:sp>
          <p:nvSpPr>
            <p:cNvPr id="9" name="Line 13"/>
            <p:cNvSpPr>
              <a:spLocks noChangeShapeType="1"/>
            </p:cNvSpPr>
            <p:nvPr/>
          </p:nvSpPr>
          <p:spPr bwMode="auto">
            <a:xfrm flipV="1">
              <a:off x="1776" y="912"/>
              <a:ext cx="1489"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lIns="90478" tIns="44445" rIns="90478" bIns="44445" anchor="ctr"/>
            <a:lstStyle/>
            <a:p>
              <a:endParaRPr lang="en-US"/>
            </a:p>
          </p:txBody>
        </p:sp>
        <p:sp>
          <p:nvSpPr>
            <p:cNvPr id="10" name="Line 14"/>
            <p:cNvSpPr>
              <a:spLocks noChangeShapeType="1"/>
            </p:cNvSpPr>
            <p:nvPr/>
          </p:nvSpPr>
          <p:spPr bwMode="auto">
            <a:xfrm flipH="1" flipV="1">
              <a:off x="1776" y="1440"/>
              <a:ext cx="1489"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lIns="90478" tIns="44445" rIns="90478" bIns="44445" anchor="ctr"/>
            <a:lstStyle/>
            <a:p>
              <a:endParaRPr lang="en-US"/>
            </a:p>
          </p:txBody>
        </p:sp>
        <p:sp>
          <p:nvSpPr>
            <p:cNvPr id="11" name="Text Box 15"/>
            <p:cNvSpPr txBox="1">
              <a:spLocks noChangeArrowheads="1"/>
            </p:cNvSpPr>
            <p:nvPr/>
          </p:nvSpPr>
          <p:spPr bwMode="auto">
            <a:xfrm>
              <a:off x="1989" y="548"/>
              <a:ext cx="1068" cy="3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rPr>
                <a:t>Read File</a:t>
              </a:r>
            </a:p>
          </p:txBody>
        </p:sp>
        <p:sp>
          <p:nvSpPr>
            <p:cNvPr id="12" name="Text Box 16"/>
            <p:cNvSpPr txBox="1">
              <a:spLocks noChangeArrowheads="1"/>
            </p:cNvSpPr>
            <p:nvPr/>
          </p:nvSpPr>
          <p:spPr bwMode="auto">
            <a:xfrm>
              <a:off x="2225" y="1489"/>
              <a:ext cx="590" cy="3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rPr>
                <a:t>Data</a:t>
              </a:r>
            </a:p>
          </p:txBody>
        </p:sp>
        <p:sp>
          <p:nvSpPr>
            <p:cNvPr id="13" name="Text Box 17"/>
            <p:cNvSpPr txBox="1">
              <a:spLocks noChangeArrowheads="1"/>
            </p:cNvSpPr>
            <p:nvPr/>
          </p:nvSpPr>
          <p:spPr bwMode="auto">
            <a:xfrm>
              <a:off x="737" y="1711"/>
              <a:ext cx="717" cy="38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rPr>
                <a:t>Client</a:t>
              </a:r>
            </a:p>
          </p:txBody>
        </p:sp>
        <p:sp>
          <p:nvSpPr>
            <p:cNvPr id="14" name="Text Box 18"/>
            <p:cNvSpPr txBox="1">
              <a:spLocks noChangeArrowheads="1"/>
            </p:cNvSpPr>
            <p:nvPr/>
          </p:nvSpPr>
          <p:spPr bwMode="auto">
            <a:xfrm>
              <a:off x="3359" y="1823"/>
              <a:ext cx="788" cy="38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rPr>
                <a:t>Server</a:t>
              </a:r>
            </a:p>
          </p:txBody>
        </p:sp>
        <p:grpSp>
          <p:nvGrpSpPr>
            <p:cNvPr id="15" name="Group 19"/>
            <p:cNvGrpSpPr>
              <a:grpSpLocks/>
            </p:cNvGrpSpPr>
            <p:nvPr/>
          </p:nvGrpSpPr>
          <p:grpSpPr bwMode="auto">
            <a:xfrm>
              <a:off x="4368" y="480"/>
              <a:ext cx="948" cy="1572"/>
              <a:chOff x="432" y="1933"/>
              <a:chExt cx="948" cy="1572"/>
            </a:xfrm>
          </p:grpSpPr>
          <p:pic>
            <p:nvPicPr>
              <p:cNvPr id="16" name="Picture 20"/>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2" y="2605"/>
                <a:ext cx="900" cy="8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7" name="Picture 21"/>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0" y="2365"/>
                <a:ext cx="900" cy="9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8" name="Picture 22"/>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0" y="2172"/>
                <a:ext cx="900" cy="8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9" name="Picture 23"/>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0" y="1933"/>
                <a:ext cx="900" cy="8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spTree>
    <p:extLst>
      <p:ext uri="{BB962C8B-B14F-4D97-AF65-F5344CB8AC3E}">
        <p14:creationId xmlns:p14="http://schemas.microsoft.com/office/powerpoint/2010/main" val="179344728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986" name="Cloud"/>
          <p:cNvSpPr>
            <a:spLocks noChangeAspect="1" noEditPoints="1" noChangeArrowheads="1"/>
          </p:cNvSpPr>
          <p:nvPr/>
        </p:nvSpPr>
        <p:spPr bwMode="auto">
          <a:xfrm>
            <a:off x="2895600" y="762000"/>
            <a:ext cx="2286000" cy="2590800"/>
          </a:xfrm>
          <a:custGeom>
            <a:avLst/>
            <a:gdLst>
              <a:gd name="T0" fmla="*/ 750464 w 21600"/>
              <a:gd name="T1" fmla="*/ 155376037 h 21600"/>
              <a:gd name="T2" fmla="*/ 120967509 w 21600"/>
              <a:gd name="T3" fmla="*/ 310421028 h 21600"/>
              <a:gd name="T4" fmla="*/ 241733300 w 21600"/>
              <a:gd name="T5" fmla="*/ 155376037 h 21600"/>
              <a:gd name="T6" fmla="*/ 120967509 w 21600"/>
              <a:gd name="T7" fmla="*/ 17767492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1" y="8613"/>
                  <a:pt x="-1" y="10137"/>
                </a:cubicBezTo>
                <a:cubicBezTo>
                  <a:pt x="-1" y="11192"/>
                  <a:pt x="409" y="12169"/>
                  <a:pt x="1074" y="12702"/>
                </a:cubicBezTo>
                <a:lnTo>
                  <a:pt x="1063" y="12668"/>
                </a:lnTo>
                <a:cubicBezTo>
                  <a:pt x="685" y="13217"/>
                  <a:pt x="474" y="13940"/>
                  <a:pt x="474" y="14690"/>
                </a:cubicBezTo>
                <a:cubicBezTo>
                  <a:pt x="475" y="16325"/>
                  <a:pt x="1451" y="17650"/>
                  <a:pt x="2655" y="17650"/>
                </a:cubicBezTo>
                <a:cubicBezTo>
                  <a:pt x="2739" y="17650"/>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1"/>
                  <a:pt x="16758" y="-1"/>
                </a:cubicBezTo>
                <a:cubicBezTo>
                  <a:pt x="16044" y="-1"/>
                  <a:pt x="15367" y="426"/>
                  <a:pt x="14905" y="1165"/>
                </a:cubicBezTo>
                <a:lnTo>
                  <a:pt x="14909" y="1170"/>
                </a:lnTo>
                <a:cubicBezTo>
                  <a:pt x="14497" y="432"/>
                  <a:pt x="13855" y="-1"/>
                  <a:pt x="13174" y="-1"/>
                </a:cubicBezTo>
                <a:cubicBezTo>
                  <a:pt x="12347" y="-1"/>
                  <a:pt x="11590" y="637"/>
                  <a:pt x="11221" y="1645"/>
                </a:cubicBezTo>
                <a:lnTo>
                  <a:pt x="11229" y="1694"/>
                </a:lnTo>
                <a:cubicBezTo>
                  <a:pt x="10730" y="1024"/>
                  <a:pt x="10058" y="649"/>
                  <a:pt x="9358" y="649"/>
                </a:cubicBezTo>
                <a:cubicBezTo>
                  <a:pt x="8372" y="649"/>
                  <a:pt x="7466" y="1391"/>
                  <a:pt x="7003" y="2578"/>
                </a:cubicBezTo>
                <a:lnTo>
                  <a:pt x="6995" y="2602"/>
                </a:lnTo>
                <a:cubicBezTo>
                  <a:pt x="6477" y="2189"/>
                  <a:pt x="5888" y="1971"/>
                  <a:pt x="5288" y="1971"/>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00FFFF"/>
          </a:solidFill>
          <a:ln w="9525">
            <a:solidFill>
              <a:srgbClr val="000000"/>
            </a:solidFill>
            <a:miter lim="800000"/>
            <a:headEnd/>
            <a:tailEnd/>
          </a:ln>
          <a:effectLst>
            <a:outerShdw blurRad="63500" dist="107763" dir="2700000" algn="ctr" rotWithShape="0">
              <a:srgbClr val="000000">
                <a:alpha val="74997"/>
              </a:srgbClr>
            </a:outerShdw>
          </a:effectLst>
        </p:spPr>
        <p:txBody>
          <a:bodyPr anchor="ctr"/>
          <a:lstStyle/>
          <a:p>
            <a:endParaRPr lang="zh-CN" altLang="en-US"/>
          </a:p>
        </p:txBody>
      </p:sp>
      <p:sp>
        <p:nvSpPr>
          <p:cNvPr id="12291" name="Rectangle 3"/>
          <p:cNvSpPr>
            <a:spLocks noGrp="1" noChangeArrowheads="1"/>
          </p:cNvSpPr>
          <p:nvPr>
            <p:ph type="title"/>
          </p:nvPr>
        </p:nvSpPr>
        <p:spPr/>
        <p:txBody>
          <a:bodyPr/>
          <a:lstStyle/>
          <a:p>
            <a:r>
              <a:rPr lang="en-US" altLang="ko-KR">
                <a:latin typeface="Helvetica" charset="0"/>
                <a:ea typeface="MS PGothic" charset="0"/>
              </a:rPr>
              <a:t>Simple Distributed File System</a:t>
            </a:r>
          </a:p>
        </p:txBody>
      </p:sp>
      <p:sp>
        <p:nvSpPr>
          <p:cNvPr id="12292" name="Rectangle 4"/>
          <p:cNvSpPr>
            <a:spLocks noGrp="1" noChangeArrowheads="1"/>
          </p:cNvSpPr>
          <p:nvPr>
            <p:ph type="body" idx="1"/>
          </p:nvPr>
        </p:nvSpPr>
        <p:spPr>
          <a:xfrm>
            <a:off x="190500" y="3657600"/>
            <a:ext cx="8724900" cy="3124200"/>
          </a:xfrm>
        </p:spPr>
        <p:txBody>
          <a:bodyPr/>
          <a:lstStyle/>
          <a:p>
            <a:pPr>
              <a:lnSpc>
                <a:spcPct val="80000"/>
              </a:lnSpc>
              <a:spcBef>
                <a:spcPct val="10000"/>
              </a:spcBef>
            </a:pPr>
            <a:r>
              <a:rPr lang="en-US" altLang="ko-KR">
                <a:latin typeface="Helvetica" charset="0"/>
                <a:ea typeface="MS PGothic" charset="0"/>
              </a:rPr>
              <a:t>EVERY read and write gets forwarded to server</a:t>
            </a:r>
          </a:p>
          <a:p>
            <a:pPr>
              <a:lnSpc>
                <a:spcPct val="80000"/>
              </a:lnSpc>
              <a:spcBef>
                <a:spcPct val="10000"/>
              </a:spcBef>
            </a:pPr>
            <a:endParaRPr lang="en-US" altLang="ko-KR">
              <a:latin typeface="Helvetica" charset="0"/>
              <a:ea typeface="MS PGothic" charset="0"/>
            </a:endParaRPr>
          </a:p>
          <a:p>
            <a:pPr>
              <a:lnSpc>
                <a:spcPct val="80000"/>
              </a:lnSpc>
              <a:spcBef>
                <a:spcPct val="10000"/>
              </a:spcBef>
            </a:pPr>
            <a:r>
              <a:rPr lang="en-US" altLang="ko-KR">
                <a:latin typeface="Helvetica" charset="0"/>
                <a:ea typeface="MS PGothic" charset="0"/>
              </a:rPr>
              <a:t>Advantage: Server provides completely consistent view of file system to multiple clients</a:t>
            </a:r>
          </a:p>
          <a:p>
            <a:pPr>
              <a:lnSpc>
                <a:spcPct val="80000"/>
              </a:lnSpc>
              <a:spcBef>
                <a:spcPct val="10000"/>
              </a:spcBef>
            </a:pPr>
            <a:endParaRPr lang="en-US" altLang="ko-KR">
              <a:latin typeface="Helvetica" charset="0"/>
              <a:ea typeface="MS PGothic" charset="0"/>
            </a:endParaRPr>
          </a:p>
          <a:p>
            <a:pPr>
              <a:lnSpc>
                <a:spcPct val="80000"/>
              </a:lnSpc>
              <a:spcBef>
                <a:spcPct val="10000"/>
              </a:spcBef>
            </a:pPr>
            <a:r>
              <a:rPr lang="en-US" altLang="ko-KR">
                <a:latin typeface="Helvetica" charset="0"/>
                <a:ea typeface="MS PGothic" charset="0"/>
              </a:rPr>
              <a:t>Problems?  Performance!</a:t>
            </a:r>
          </a:p>
          <a:p>
            <a:pPr lvl="1">
              <a:lnSpc>
                <a:spcPct val="80000"/>
              </a:lnSpc>
              <a:spcBef>
                <a:spcPct val="10000"/>
              </a:spcBef>
            </a:pPr>
            <a:r>
              <a:rPr lang="en-US" altLang="ko-KR">
                <a:latin typeface="Helvetica" charset="0"/>
                <a:ea typeface="MS PGothic" charset="0"/>
              </a:rPr>
              <a:t>Going over network is slower than going to local memory</a:t>
            </a:r>
          </a:p>
          <a:p>
            <a:pPr lvl="1">
              <a:lnSpc>
                <a:spcPct val="80000"/>
              </a:lnSpc>
              <a:spcBef>
                <a:spcPct val="10000"/>
              </a:spcBef>
            </a:pPr>
            <a:r>
              <a:rPr lang="en-US" altLang="ko-KR">
                <a:latin typeface="Helvetica" charset="0"/>
                <a:ea typeface="MS PGothic" charset="0"/>
              </a:rPr>
              <a:t>Server can be a bottleneck</a:t>
            </a:r>
          </a:p>
          <a:p>
            <a:pPr>
              <a:lnSpc>
                <a:spcPct val="80000"/>
              </a:lnSpc>
              <a:spcBef>
                <a:spcPct val="10000"/>
              </a:spcBef>
            </a:pPr>
            <a:endParaRPr lang="en-US" altLang="ko-KR">
              <a:latin typeface="Helvetica" charset="0"/>
              <a:ea typeface="MS PGothic" charset="0"/>
            </a:endParaRPr>
          </a:p>
        </p:txBody>
      </p:sp>
      <p:grpSp>
        <p:nvGrpSpPr>
          <p:cNvPr id="12293" name="Group 5"/>
          <p:cNvGrpSpPr>
            <a:grpSpLocks/>
          </p:cNvGrpSpPr>
          <p:nvPr/>
        </p:nvGrpSpPr>
        <p:grpSpPr bwMode="auto">
          <a:xfrm>
            <a:off x="1981200" y="2286000"/>
            <a:ext cx="1296988" cy="1352550"/>
            <a:chOff x="528" y="768"/>
            <a:chExt cx="973" cy="1039"/>
          </a:xfrm>
        </p:grpSpPr>
        <p:pic>
          <p:nvPicPr>
            <p:cNvPr id="12319" name="Picture 6" descr="MCj0398505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 y="768"/>
              <a:ext cx="973" cy="7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320" name="Text Box 7"/>
            <p:cNvSpPr txBox="1">
              <a:spLocks noChangeArrowheads="1"/>
            </p:cNvSpPr>
            <p:nvPr/>
          </p:nvSpPr>
          <p:spPr bwMode="auto">
            <a:xfrm>
              <a:off x="614" y="1561"/>
              <a:ext cx="628" cy="2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a:lnSpc>
                  <a:spcPct val="80000"/>
                </a:lnSpc>
                <a:spcBef>
                  <a:spcPct val="20000"/>
                </a:spcBef>
                <a:buSzPct val="100000"/>
              </a:pPr>
              <a:r>
                <a:rPr lang="en-US" altLang="zh-CN" sz="1800">
                  <a:latin typeface="Helvetica" charset="0"/>
                </a:rPr>
                <a:t>Client</a:t>
              </a:r>
            </a:p>
          </p:txBody>
        </p:sp>
      </p:grpSp>
      <p:grpSp>
        <p:nvGrpSpPr>
          <p:cNvPr id="12294" name="Group 8"/>
          <p:cNvGrpSpPr>
            <a:grpSpLocks/>
          </p:cNvGrpSpPr>
          <p:nvPr/>
        </p:nvGrpSpPr>
        <p:grpSpPr bwMode="auto">
          <a:xfrm>
            <a:off x="5181600" y="990600"/>
            <a:ext cx="2430463" cy="1419225"/>
            <a:chOff x="2304" y="672"/>
            <a:chExt cx="1824" cy="1091"/>
          </a:xfrm>
        </p:grpSpPr>
        <p:grpSp>
          <p:nvGrpSpPr>
            <p:cNvPr id="12311" name="Group 9"/>
            <p:cNvGrpSpPr>
              <a:grpSpLocks/>
            </p:cNvGrpSpPr>
            <p:nvPr/>
          </p:nvGrpSpPr>
          <p:grpSpPr bwMode="auto">
            <a:xfrm>
              <a:off x="2304" y="672"/>
              <a:ext cx="981" cy="1091"/>
              <a:chOff x="2043" y="624"/>
              <a:chExt cx="981" cy="1091"/>
            </a:xfrm>
          </p:grpSpPr>
          <p:pic>
            <p:nvPicPr>
              <p:cNvPr id="12317" name="Picture 10" descr="MCj0398435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3" y="624"/>
                <a:ext cx="981" cy="8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318" name="Text Box 11"/>
              <p:cNvSpPr txBox="1">
                <a:spLocks noChangeArrowheads="1"/>
              </p:cNvSpPr>
              <p:nvPr/>
            </p:nvSpPr>
            <p:spPr bwMode="auto">
              <a:xfrm>
                <a:off x="2070" y="1469"/>
                <a:ext cx="677" cy="2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a:lnSpc>
                    <a:spcPct val="80000"/>
                  </a:lnSpc>
                  <a:spcBef>
                    <a:spcPct val="20000"/>
                  </a:spcBef>
                  <a:buSzPct val="100000"/>
                </a:pPr>
                <a:r>
                  <a:rPr lang="en-US" altLang="zh-CN" sz="1800">
                    <a:latin typeface="Helvetica" charset="0"/>
                  </a:rPr>
                  <a:t>Server</a:t>
                </a:r>
              </a:p>
            </p:txBody>
          </p:sp>
        </p:grpSp>
        <p:grpSp>
          <p:nvGrpSpPr>
            <p:cNvPr id="12312" name="Group 12"/>
            <p:cNvGrpSpPr>
              <a:grpSpLocks/>
            </p:cNvGrpSpPr>
            <p:nvPr/>
          </p:nvGrpSpPr>
          <p:grpSpPr bwMode="auto">
            <a:xfrm>
              <a:off x="3600" y="720"/>
              <a:ext cx="528" cy="864"/>
              <a:chOff x="3600" y="720"/>
              <a:chExt cx="528" cy="864"/>
            </a:xfrm>
          </p:grpSpPr>
          <p:sp>
            <p:nvSpPr>
              <p:cNvPr id="12314" name="AutoShape 13"/>
              <p:cNvSpPr>
                <a:spLocks noChangeArrowheads="1"/>
              </p:cNvSpPr>
              <p:nvPr/>
            </p:nvSpPr>
            <p:spPr bwMode="auto">
              <a:xfrm>
                <a:off x="3600" y="720"/>
                <a:ext cx="336" cy="480"/>
              </a:xfrm>
              <a:prstGeom prst="can">
                <a:avLst>
                  <a:gd name="adj" fmla="val 35714"/>
                </a:avLst>
              </a:prstGeom>
              <a:solidFill>
                <a:srgbClr val="FF66CC"/>
              </a:solidFill>
              <a:ln w="38100">
                <a:solidFill>
                  <a:schemeClr val="tx1"/>
                </a:solidFill>
                <a:round/>
                <a:headEnd/>
                <a:tailEnd/>
              </a:ln>
            </p:spPr>
            <p:txBody>
              <a:bodyPr wrap="none" lIns="90478" tIns="44445" rIns="90478" bIns="44445" anchor="ctr"/>
              <a:lstStyle/>
              <a:p>
                <a:pPr algn="ctr" eaLnBrk="0" hangingPunct="0">
                  <a:lnSpc>
                    <a:spcPct val="80000"/>
                  </a:lnSpc>
                  <a:spcBef>
                    <a:spcPct val="20000"/>
                  </a:spcBef>
                  <a:buSzPct val="100000"/>
                </a:pPr>
                <a:endParaRPr lang="zh-CN">
                  <a:latin typeface="Helvetica" charset="0"/>
                </a:endParaRPr>
              </a:p>
            </p:txBody>
          </p:sp>
          <p:sp>
            <p:nvSpPr>
              <p:cNvPr id="12315" name="AutoShape 14"/>
              <p:cNvSpPr>
                <a:spLocks noChangeArrowheads="1"/>
              </p:cNvSpPr>
              <p:nvPr/>
            </p:nvSpPr>
            <p:spPr bwMode="auto">
              <a:xfrm>
                <a:off x="3696" y="912"/>
                <a:ext cx="336" cy="480"/>
              </a:xfrm>
              <a:prstGeom prst="can">
                <a:avLst>
                  <a:gd name="adj" fmla="val 35714"/>
                </a:avLst>
              </a:prstGeom>
              <a:solidFill>
                <a:srgbClr val="FF66CC"/>
              </a:solidFill>
              <a:ln w="38100">
                <a:solidFill>
                  <a:schemeClr val="tx1"/>
                </a:solidFill>
                <a:round/>
                <a:headEnd/>
                <a:tailEnd/>
              </a:ln>
            </p:spPr>
            <p:txBody>
              <a:bodyPr wrap="none" lIns="90478" tIns="44445" rIns="90478" bIns="44445" anchor="ctr"/>
              <a:lstStyle/>
              <a:p>
                <a:pPr algn="ctr" eaLnBrk="0" hangingPunct="0">
                  <a:lnSpc>
                    <a:spcPct val="80000"/>
                  </a:lnSpc>
                  <a:spcBef>
                    <a:spcPct val="20000"/>
                  </a:spcBef>
                  <a:buSzPct val="100000"/>
                </a:pPr>
                <a:endParaRPr lang="zh-CN">
                  <a:latin typeface="Helvetica" charset="0"/>
                </a:endParaRPr>
              </a:p>
            </p:txBody>
          </p:sp>
          <p:sp>
            <p:nvSpPr>
              <p:cNvPr id="12316" name="AutoShape 15"/>
              <p:cNvSpPr>
                <a:spLocks noChangeArrowheads="1"/>
              </p:cNvSpPr>
              <p:nvPr/>
            </p:nvSpPr>
            <p:spPr bwMode="auto">
              <a:xfrm>
                <a:off x="3792" y="1104"/>
                <a:ext cx="336" cy="480"/>
              </a:xfrm>
              <a:prstGeom prst="can">
                <a:avLst>
                  <a:gd name="adj" fmla="val 35714"/>
                </a:avLst>
              </a:prstGeom>
              <a:solidFill>
                <a:srgbClr val="FF66CC"/>
              </a:solidFill>
              <a:ln w="38100">
                <a:solidFill>
                  <a:schemeClr val="tx1"/>
                </a:solidFill>
                <a:round/>
                <a:headEnd/>
                <a:tailEnd/>
              </a:ln>
            </p:spPr>
            <p:txBody>
              <a:bodyPr wrap="none" lIns="90478" tIns="44445" rIns="90478" bIns="44445" anchor="ctr"/>
              <a:lstStyle/>
              <a:p>
                <a:pPr algn="ctr" eaLnBrk="0" hangingPunct="0">
                  <a:lnSpc>
                    <a:spcPct val="80000"/>
                  </a:lnSpc>
                  <a:spcBef>
                    <a:spcPct val="20000"/>
                  </a:spcBef>
                  <a:buSzPct val="100000"/>
                </a:pPr>
                <a:endParaRPr lang="zh-CN">
                  <a:latin typeface="Helvetica" charset="0"/>
                </a:endParaRPr>
              </a:p>
            </p:txBody>
          </p:sp>
        </p:grpSp>
        <p:sp>
          <p:nvSpPr>
            <p:cNvPr id="12313" name="AutoShape 16"/>
            <p:cNvSpPr>
              <a:spLocks noChangeArrowheads="1"/>
            </p:cNvSpPr>
            <p:nvPr/>
          </p:nvSpPr>
          <p:spPr bwMode="auto">
            <a:xfrm>
              <a:off x="3072" y="1008"/>
              <a:ext cx="432" cy="336"/>
            </a:xfrm>
            <a:prstGeom prst="leftRightArrow">
              <a:avLst>
                <a:gd name="adj1" fmla="val 50000"/>
                <a:gd name="adj2" fmla="val 25714"/>
              </a:avLst>
            </a:prstGeom>
            <a:solidFill>
              <a:srgbClr val="00FFFF"/>
            </a:solidFill>
            <a:ln w="38100">
              <a:solidFill>
                <a:schemeClr val="tx1"/>
              </a:solidFill>
              <a:miter lim="800000"/>
              <a:headEnd/>
              <a:tailEnd/>
            </a:ln>
          </p:spPr>
          <p:txBody>
            <a:bodyPr wrap="none" lIns="90478" tIns="44445" rIns="90478" bIns="44445" anchor="ctr"/>
            <a:lstStyle/>
            <a:p>
              <a:pPr algn="ctr" eaLnBrk="0" hangingPunct="0">
                <a:lnSpc>
                  <a:spcPct val="80000"/>
                </a:lnSpc>
                <a:spcBef>
                  <a:spcPct val="20000"/>
                </a:spcBef>
                <a:buSzPct val="100000"/>
              </a:pPr>
              <a:endParaRPr lang="zh-CN">
                <a:latin typeface="Helvetica" charset="0"/>
              </a:endParaRPr>
            </a:p>
          </p:txBody>
        </p:sp>
      </p:grpSp>
      <p:grpSp>
        <p:nvGrpSpPr>
          <p:cNvPr id="12295" name="Group 17"/>
          <p:cNvGrpSpPr>
            <a:grpSpLocks/>
          </p:cNvGrpSpPr>
          <p:nvPr/>
        </p:nvGrpSpPr>
        <p:grpSpPr bwMode="auto">
          <a:xfrm>
            <a:off x="3117850" y="1063625"/>
            <a:ext cx="1682750" cy="320675"/>
            <a:chOff x="1877" y="446"/>
            <a:chExt cx="1060" cy="202"/>
          </a:xfrm>
        </p:grpSpPr>
        <p:sp>
          <p:nvSpPr>
            <p:cNvPr id="12309" name="Line 18"/>
            <p:cNvSpPr>
              <a:spLocks noChangeShapeType="1"/>
            </p:cNvSpPr>
            <p:nvPr/>
          </p:nvSpPr>
          <p:spPr bwMode="auto">
            <a:xfrm flipV="1">
              <a:off x="1877" y="628"/>
              <a:ext cx="1060"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lIns="90478" tIns="44445" rIns="90478" bIns="44445" anchor="ctr"/>
            <a:lstStyle/>
            <a:p>
              <a:endParaRPr lang="en-US"/>
            </a:p>
          </p:txBody>
        </p:sp>
        <p:sp>
          <p:nvSpPr>
            <p:cNvPr id="12310" name="Text Box 19"/>
            <p:cNvSpPr txBox="1">
              <a:spLocks noChangeArrowheads="1"/>
            </p:cNvSpPr>
            <p:nvPr/>
          </p:nvSpPr>
          <p:spPr bwMode="auto">
            <a:xfrm>
              <a:off x="1972" y="446"/>
              <a:ext cx="91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a:lnSpc>
                  <a:spcPct val="80000"/>
                </a:lnSpc>
                <a:spcBef>
                  <a:spcPct val="20000"/>
                </a:spcBef>
                <a:buSzPct val="100000"/>
              </a:pPr>
              <a:r>
                <a:rPr lang="en-US" altLang="zh-CN" sz="1800">
                  <a:latin typeface="Helvetica" charset="0"/>
                </a:rPr>
                <a:t>Read (RPC)</a:t>
              </a:r>
            </a:p>
          </p:txBody>
        </p:sp>
      </p:grpSp>
      <p:grpSp>
        <p:nvGrpSpPr>
          <p:cNvPr id="12296" name="Group 20"/>
          <p:cNvGrpSpPr>
            <a:grpSpLocks/>
          </p:cNvGrpSpPr>
          <p:nvPr/>
        </p:nvGrpSpPr>
        <p:grpSpPr bwMode="auto">
          <a:xfrm>
            <a:off x="2979738" y="1447800"/>
            <a:ext cx="1714500" cy="320675"/>
            <a:chOff x="1877" y="912"/>
            <a:chExt cx="1080" cy="202"/>
          </a:xfrm>
        </p:grpSpPr>
        <p:sp>
          <p:nvSpPr>
            <p:cNvPr id="12307" name="Line 21"/>
            <p:cNvSpPr>
              <a:spLocks noChangeShapeType="1"/>
            </p:cNvSpPr>
            <p:nvPr/>
          </p:nvSpPr>
          <p:spPr bwMode="auto">
            <a:xfrm flipH="1" flipV="1">
              <a:off x="1877" y="932"/>
              <a:ext cx="1060"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lIns="90478" tIns="44445" rIns="90478" bIns="44445" anchor="ctr"/>
            <a:lstStyle/>
            <a:p>
              <a:endParaRPr lang="en-US"/>
            </a:p>
          </p:txBody>
        </p:sp>
        <p:sp>
          <p:nvSpPr>
            <p:cNvPr id="12308" name="Text Box 22"/>
            <p:cNvSpPr txBox="1">
              <a:spLocks noChangeArrowheads="1"/>
            </p:cNvSpPr>
            <p:nvPr/>
          </p:nvSpPr>
          <p:spPr bwMode="auto">
            <a:xfrm>
              <a:off x="1921" y="912"/>
              <a:ext cx="1036"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a:lnSpc>
                  <a:spcPct val="80000"/>
                </a:lnSpc>
                <a:spcBef>
                  <a:spcPct val="20000"/>
                </a:spcBef>
                <a:buSzPct val="100000"/>
              </a:pPr>
              <a:r>
                <a:rPr lang="en-US" altLang="zh-CN" sz="1800">
                  <a:latin typeface="Helvetica" charset="0"/>
                </a:rPr>
                <a:t>Return (Data)</a:t>
              </a:r>
            </a:p>
          </p:txBody>
        </p:sp>
      </p:grpSp>
      <p:grpSp>
        <p:nvGrpSpPr>
          <p:cNvPr id="12297" name="Group 23"/>
          <p:cNvGrpSpPr>
            <a:grpSpLocks/>
          </p:cNvGrpSpPr>
          <p:nvPr/>
        </p:nvGrpSpPr>
        <p:grpSpPr bwMode="auto">
          <a:xfrm>
            <a:off x="1676400" y="735013"/>
            <a:ext cx="1295400" cy="1352550"/>
            <a:chOff x="528" y="768"/>
            <a:chExt cx="973" cy="1040"/>
          </a:xfrm>
        </p:grpSpPr>
        <p:pic>
          <p:nvPicPr>
            <p:cNvPr id="12305" name="Picture 24" descr="MCj0398505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 y="768"/>
              <a:ext cx="973" cy="7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306" name="Text Box 25"/>
            <p:cNvSpPr txBox="1">
              <a:spLocks noChangeArrowheads="1"/>
            </p:cNvSpPr>
            <p:nvPr/>
          </p:nvSpPr>
          <p:spPr bwMode="auto">
            <a:xfrm>
              <a:off x="614" y="1562"/>
              <a:ext cx="628" cy="2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a:lnSpc>
                  <a:spcPct val="80000"/>
                </a:lnSpc>
                <a:spcBef>
                  <a:spcPct val="20000"/>
                </a:spcBef>
                <a:buSzPct val="100000"/>
              </a:pPr>
              <a:r>
                <a:rPr lang="en-US" altLang="zh-CN" sz="1800">
                  <a:latin typeface="Helvetica" charset="0"/>
                </a:rPr>
                <a:t>Client</a:t>
              </a:r>
            </a:p>
          </p:txBody>
        </p:sp>
      </p:grpSp>
      <p:grpSp>
        <p:nvGrpSpPr>
          <p:cNvPr id="12298" name="Group 26"/>
          <p:cNvGrpSpPr>
            <a:grpSpLocks/>
          </p:cNvGrpSpPr>
          <p:nvPr/>
        </p:nvGrpSpPr>
        <p:grpSpPr bwMode="auto">
          <a:xfrm rot="-1562509">
            <a:off x="3190875" y="2084388"/>
            <a:ext cx="1828800" cy="320675"/>
            <a:chOff x="2016" y="1339"/>
            <a:chExt cx="1036" cy="202"/>
          </a:xfrm>
        </p:grpSpPr>
        <p:sp>
          <p:nvSpPr>
            <p:cNvPr id="12303" name="Text Box 27"/>
            <p:cNvSpPr txBox="1">
              <a:spLocks noChangeArrowheads="1"/>
            </p:cNvSpPr>
            <p:nvPr/>
          </p:nvSpPr>
          <p:spPr bwMode="auto">
            <a:xfrm>
              <a:off x="2145" y="1339"/>
              <a:ext cx="828"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a:lnSpc>
                  <a:spcPct val="80000"/>
                </a:lnSpc>
                <a:spcBef>
                  <a:spcPct val="20000"/>
                </a:spcBef>
                <a:buSzPct val="100000"/>
              </a:pPr>
              <a:r>
                <a:rPr lang="en-US" altLang="zh-CN" sz="1800">
                  <a:latin typeface="Helvetica" charset="0"/>
                </a:rPr>
                <a:t>Write (RPC)</a:t>
              </a:r>
            </a:p>
          </p:txBody>
        </p:sp>
        <p:sp>
          <p:nvSpPr>
            <p:cNvPr id="12304" name="Line 28"/>
            <p:cNvSpPr>
              <a:spLocks noChangeShapeType="1"/>
            </p:cNvSpPr>
            <p:nvPr/>
          </p:nvSpPr>
          <p:spPr bwMode="auto">
            <a:xfrm flipV="1">
              <a:off x="2016" y="1533"/>
              <a:ext cx="1036"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lIns="90478" tIns="44445" rIns="90478" bIns="44445" anchor="ctr"/>
            <a:lstStyle/>
            <a:p>
              <a:endParaRPr lang="en-US"/>
            </a:p>
          </p:txBody>
        </p:sp>
      </p:grpSp>
      <p:grpSp>
        <p:nvGrpSpPr>
          <p:cNvPr id="12299" name="Group 29"/>
          <p:cNvGrpSpPr>
            <a:grpSpLocks/>
          </p:cNvGrpSpPr>
          <p:nvPr/>
        </p:nvGrpSpPr>
        <p:grpSpPr bwMode="auto">
          <a:xfrm rot="-1590130">
            <a:off x="3297238" y="2538413"/>
            <a:ext cx="1873250" cy="354012"/>
            <a:chOff x="2016" y="1844"/>
            <a:chExt cx="1036" cy="223"/>
          </a:xfrm>
        </p:grpSpPr>
        <p:sp>
          <p:nvSpPr>
            <p:cNvPr id="12301" name="Text Box 30"/>
            <p:cNvSpPr txBox="1">
              <a:spLocks noChangeArrowheads="1"/>
            </p:cNvSpPr>
            <p:nvPr/>
          </p:nvSpPr>
          <p:spPr bwMode="auto">
            <a:xfrm>
              <a:off x="2032" y="1865"/>
              <a:ext cx="1006"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a:lnSpc>
                  <a:spcPct val="80000"/>
                </a:lnSpc>
                <a:spcBef>
                  <a:spcPct val="20000"/>
                </a:spcBef>
                <a:buSzPct val="100000"/>
              </a:pPr>
              <a:r>
                <a:rPr lang="en-US" altLang="zh-CN" sz="1800">
                  <a:latin typeface="Helvetica" charset="0"/>
                </a:rPr>
                <a:t>ACK</a:t>
              </a:r>
            </a:p>
          </p:txBody>
        </p:sp>
        <p:sp>
          <p:nvSpPr>
            <p:cNvPr id="12302" name="Line 31"/>
            <p:cNvSpPr>
              <a:spLocks noChangeShapeType="1"/>
            </p:cNvSpPr>
            <p:nvPr/>
          </p:nvSpPr>
          <p:spPr bwMode="auto">
            <a:xfrm flipH="1" flipV="1">
              <a:off x="2016" y="1844"/>
              <a:ext cx="1036"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lIns="90478" tIns="44445" rIns="90478" bIns="44445" anchor="ctr"/>
            <a:lstStyle/>
            <a:p>
              <a:endParaRPr lang="en-US"/>
            </a:p>
          </p:txBody>
        </p:sp>
      </p:grpSp>
    </p:spTree>
    <p:extLst>
      <p:ext uri="{BB962C8B-B14F-4D97-AF65-F5344CB8AC3E}">
        <p14:creationId xmlns:p14="http://schemas.microsoft.com/office/powerpoint/2010/main" val="372391026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3314" name="Group 2"/>
          <p:cNvGrpSpPr>
            <a:grpSpLocks/>
          </p:cNvGrpSpPr>
          <p:nvPr/>
        </p:nvGrpSpPr>
        <p:grpSpPr bwMode="auto">
          <a:xfrm>
            <a:off x="6561138" y="865188"/>
            <a:ext cx="2430462" cy="1466850"/>
            <a:chOff x="2304" y="672"/>
            <a:chExt cx="1824" cy="1127"/>
          </a:xfrm>
        </p:grpSpPr>
        <p:grpSp>
          <p:nvGrpSpPr>
            <p:cNvPr id="13352" name="Group 3"/>
            <p:cNvGrpSpPr>
              <a:grpSpLocks/>
            </p:cNvGrpSpPr>
            <p:nvPr/>
          </p:nvGrpSpPr>
          <p:grpSpPr bwMode="auto">
            <a:xfrm>
              <a:off x="2304" y="672"/>
              <a:ext cx="981" cy="1127"/>
              <a:chOff x="2043" y="624"/>
              <a:chExt cx="981" cy="1127"/>
            </a:xfrm>
          </p:grpSpPr>
          <p:pic>
            <p:nvPicPr>
              <p:cNvPr id="13358" name="Picture 4" descr="MCj0398435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 y="624"/>
                <a:ext cx="981" cy="8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359" name="Text Box 5"/>
              <p:cNvSpPr txBox="1">
                <a:spLocks noChangeArrowheads="1"/>
              </p:cNvSpPr>
              <p:nvPr/>
            </p:nvSpPr>
            <p:spPr bwMode="auto">
              <a:xfrm>
                <a:off x="2070" y="1469"/>
                <a:ext cx="677" cy="2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Server</a:t>
                </a:r>
              </a:p>
            </p:txBody>
          </p:sp>
        </p:grpSp>
        <p:grpSp>
          <p:nvGrpSpPr>
            <p:cNvPr id="13353" name="Group 6"/>
            <p:cNvGrpSpPr>
              <a:grpSpLocks/>
            </p:cNvGrpSpPr>
            <p:nvPr/>
          </p:nvGrpSpPr>
          <p:grpSpPr bwMode="auto">
            <a:xfrm>
              <a:off x="3600" y="720"/>
              <a:ext cx="528" cy="864"/>
              <a:chOff x="3600" y="720"/>
              <a:chExt cx="528" cy="864"/>
            </a:xfrm>
          </p:grpSpPr>
          <p:sp>
            <p:nvSpPr>
              <p:cNvPr id="13355" name="AutoShape 7"/>
              <p:cNvSpPr>
                <a:spLocks noChangeArrowheads="1"/>
              </p:cNvSpPr>
              <p:nvPr/>
            </p:nvSpPr>
            <p:spPr bwMode="auto">
              <a:xfrm>
                <a:off x="3600" y="720"/>
                <a:ext cx="336" cy="483"/>
              </a:xfrm>
              <a:prstGeom prst="can">
                <a:avLst>
                  <a:gd name="adj" fmla="val 35711"/>
                </a:avLst>
              </a:prstGeom>
              <a:solidFill>
                <a:srgbClr val="FF66CC"/>
              </a:solidFill>
              <a:ln w="38100">
                <a:solidFill>
                  <a:schemeClr val="tx1"/>
                </a:solidFill>
                <a:round/>
                <a:headEnd/>
                <a:tailEnd/>
              </a:ln>
            </p:spPr>
            <p:txBody>
              <a:bodyPr wrap="none" lIns="90478" tIns="44445" rIns="90478" bIns="44445" anchor="ctr"/>
              <a:lstStyle/>
              <a:p>
                <a:endParaRPr lang="zh-CN">
                  <a:latin typeface="Helvetica" charset="0"/>
                </a:endParaRPr>
              </a:p>
            </p:txBody>
          </p:sp>
          <p:sp>
            <p:nvSpPr>
              <p:cNvPr id="13356" name="AutoShape 8"/>
              <p:cNvSpPr>
                <a:spLocks noChangeArrowheads="1"/>
              </p:cNvSpPr>
              <p:nvPr/>
            </p:nvSpPr>
            <p:spPr bwMode="auto">
              <a:xfrm>
                <a:off x="3697" y="912"/>
                <a:ext cx="335" cy="479"/>
              </a:xfrm>
              <a:prstGeom prst="can">
                <a:avLst>
                  <a:gd name="adj" fmla="val 35713"/>
                </a:avLst>
              </a:prstGeom>
              <a:solidFill>
                <a:srgbClr val="FF66CC"/>
              </a:solidFill>
              <a:ln w="38100">
                <a:solidFill>
                  <a:schemeClr val="tx1"/>
                </a:solidFill>
                <a:round/>
                <a:headEnd/>
                <a:tailEnd/>
              </a:ln>
            </p:spPr>
            <p:txBody>
              <a:bodyPr wrap="none" lIns="90478" tIns="44445" rIns="90478" bIns="44445" anchor="ctr"/>
              <a:lstStyle/>
              <a:p>
                <a:endParaRPr lang="zh-CN">
                  <a:latin typeface="Helvetica" charset="0"/>
                </a:endParaRPr>
              </a:p>
            </p:txBody>
          </p:sp>
          <p:sp>
            <p:nvSpPr>
              <p:cNvPr id="13357" name="AutoShape 9"/>
              <p:cNvSpPr>
                <a:spLocks noChangeArrowheads="1"/>
              </p:cNvSpPr>
              <p:nvPr/>
            </p:nvSpPr>
            <p:spPr bwMode="auto">
              <a:xfrm>
                <a:off x="3792" y="1104"/>
                <a:ext cx="336" cy="483"/>
              </a:xfrm>
              <a:prstGeom prst="can">
                <a:avLst>
                  <a:gd name="adj" fmla="val 35711"/>
                </a:avLst>
              </a:prstGeom>
              <a:solidFill>
                <a:srgbClr val="FF66CC"/>
              </a:solidFill>
              <a:ln w="38100">
                <a:solidFill>
                  <a:schemeClr val="tx1"/>
                </a:solidFill>
                <a:round/>
                <a:headEnd/>
                <a:tailEnd/>
              </a:ln>
            </p:spPr>
            <p:txBody>
              <a:bodyPr wrap="none" lIns="90478" tIns="44445" rIns="90478" bIns="44445" anchor="ctr"/>
              <a:lstStyle/>
              <a:p>
                <a:endParaRPr lang="zh-CN">
                  <a:latin typeface="Helvetica" charset="0"/>
                </a:endParaRPr>
              </a:p>
            </p:txBody>
          </p:sp>
        </p:grpSp>
        <p:sp>
          <p:nvSpPr>
            <p:cNvPr id="13354" name="AutoShape 10"/>
            <p:cNvSpPr>
              <a:spLocks noChangeArrowheads="1"/>
            </p:cNvSpPr>
            <p:nvPr/>
          </p:nvSpPr>
          <p:spPr bwMode="auto">
            <a:xfrm>
              <a:off x="3072" y="1007"/>
              <a:ext cx="430" cy="337"/>
            </a:xfrm>
            <a:prstGeom prst="leftRightArrow">
              <a:avLst>
                <a:gd name="adj1" fmla="val 50000"/>
                <a:gd name="adj2" fmla="val 25714"/>
              </a:avLst>
            </a:prstGeom>
            <a:solidFill>
              <a:srgbClr val="00FFFF"/>
            </a:solidFill>
            <a:ln w="38100">
              <a:solidFill>
                <a:schemeClr val="tx1"/>
              </a:solidFill>
              <a:miter lim="800000"/>
              <a:headEnd/>
              <a:tailEnd/>
            </a:ln>
          </p:spPr>
          <p:txBody>
            <a:bodyPr wrap="none" lIns="90478" tIns="44445" rIns="90478" bIns="44445" anchor="ctr"/>
            <a:lstStyle/>
            <a:p>
              <a:endParaRPr lang="zh-CN">
                <a:latin typeface="Helvetica" charset="0"/>
              </a:endParaRPr>
            </a:p>
          </p:txBody>
        </p:sp>
      </p:grpSp>
      <p:sp>
        <p:nvSpPr>
          <p:cNvPr id="1068043" name="Rectangle 11"/>
          <p:cNvSpPr>
            <a:spLocks noChangeArrowheads="1"/>
          </p:cNvSpPr>
          <p:nvPr/>
        </p:nvSpPr>
        <p:spPr bwMode="auto">
          <a:xfrm>
            <a:off x="7475538" y="1855788"/>
            <a:ext cx="838200" cy="914400"/>
          </a:xfrm>
          <a:prstGeom prst="rect">
            <a:avLst/>
          </a:prstGeom>
          <a:solidFill>
            <a:srgbClr val="53FB25"/>
          </a:solidFill>
          <a:ln w="38100">
            <a:solidFill>
              <a:schemeClr val="tx1"/>
            </a:solidFill>
            <a:miter lim="800000"/>
            <a:headEnd/>
            <a:tailEnd/>
          </a:ln>
        </p:spPr>
        <p:txBody>
          <a:bodyPr wrap="none" lIns="90478" tIns="44445" rIns="90478" bIns="44445"/>
          <a:lstStyle/>
          <a:p>
            <a:pPr marL="228600" indent="-228600"/>
            <a:r>
              <a:rPr lang="en-US" altLang="zh-CN" sz="2000">
                <a:latin typeface="Helvetica" charset="0"/>
              </a:rPr>
              <a:t>cache</a:t>
            </a:r>
            <a:endParaRPr lang="en-US" altLang="zh-CN">
              <a:latin typeface="Helvetica" charset="0"/>
            </a:endParaRPr>
          </a:p>
        </p:txBody>
      </p:sp>
      <p:sp>
        <p:nvSpPr>
          <p:cNvPr id="1068044" name="Rectangle 12"/>
          <p:cNvSpPr>
            <a:spLocks noChangeArrowheads="1"/>
          </p:cNvSpPr>
          <p:nvPr/>
        </p:nvSpPr>
        <p:spPr bwMode="auto">
          <a:xfrm>
            <a:off x="7531100" y="2236788"/>
            <a:ext cx="698500" cy="368300"/>
          </a:xfrm>
          <a:prstGeom prst="rect">
            <a:avLst/>
          </a:prstGeom>
          <a:solidFill>
            <a:srgbClr val="FFFFFF"/>
          </a:solidFill>
          <a:ln w="38100">
            <a:solidFill>
              <a:schemeClr val="tx1"/>
            </a:solidFill>
            <a:miter lim="800000"/>
            <a:headEnd/>
            <a:tailEnd/>
          </a:ln>
        </p:spPr>
        <p:txBody>
          <a:bodyPr wrap="none" lIns="90478" tIns="44445" rIns="90478" bIns="44445" anchor="ctr"/>
          <a:lstStyle/>
          <a:p>
            <a:pPr marL="228600" indent="-228600"/>
            <a:r>
              <a:rPr lang="en-US" altLang="zh-CN" sz="1600">
                <a:latin typeface="Helvetica" charset="0"/>
              </a:rPr>
              <a:t>F1:V1</a:t>
            </a:r>
          </a:p>
        </p:txBody>
      </p:sp>
      <p:sp>
        <p:nvSpPr>
          <p:cNvPr id="1068045" name="Rectangle 13"/>
          <p:cNvSpPr>
            <a:spLocks noChangeArrowheads="1"/>
          </p:cNvSpPr>
          <p:nvPr/>
        </p:nvSpPr>
        <p:spPr bwMode="auto">
          <a:xfrm>
            <a:off x="7531100" y="2236788"/>
            <a:ext cx="698500" cy="368300"/>
          </a:xfrm>
          <a:prstGeom prst="rect">
            <a:avLst/>
          </a:prstGeom>
          <a:solidFill>
            <a:srgbClr val="FFFF00"/>
          </a:solidFill>
          <a:ln w="38100">
            <a:solidFill>
              <a:schemeClr val="tx1"/>
            </a:solidFill>
            <a:miter lim="800000"/>
            <a:headEnd/>
            <a:tailEnd/>
          </a:ln>
        </p:spPr>
        <p:txBody>
          <a:bodyPr wrap="none" lIns="90478" tIns="44445" rIns="90478" bIns="44445" anchor="ctr"/>
          <a:lstStyle/>
          <a:p>
            <a:pPr marL="228600" indent="-228600"/>
            <a:r>
              <a:rPr lang="en-US" altLang="zh-CN" sz="1600">
                <a:latin typeface="Helvetica" charset="0"/>
              </a:rPr>
              <a:t>F1:V2</a:t>
            </a:r>
          </a:p>
        </p:txBody>
      </p:sp>
      <p:sp>
        <p:nvSpPr>
          <p:cNvPr id="1068046" name="Cloud"/>
          <p:cNvSpPr>
            <a:spLocks noChangeAspect="1" noEditPoints="1" noChangeArrowheads="1"/>
          </p:cNvSpPr>
          <p:nvPr/>
        </p:nvSpPr>
        <p:spPr bwMode="auto">
          <a:xfrm>
            <a:off x="4275138" y="636588"/>
            <a:ext cx="2286000" cy="2590800"/>
          </a:xfrm>
          <a:custGeom>
            <a:avLst/>
            <a:gdLst>
              <a:gd name="T0" fmla="*/ 750464 w 21600"/>
              <a:gd name="T1" fmla="*/ 155376037 h 21600"/>
              <a:gd name="T2" fmla="*/ 120967509 w 21600"/>
              <a:gd name="T3" fmla="*/ 310421028 h 21600"/>
              <a:gd name="T4" fmla="*/ 241733300 w 21600"/>
              <a:gd name="T5" fmla="*/ 155376037 h 21600"/>
              <a:gd name="T6" fmla="*/ 120967509 w 21600"/>
              <a:gd name="T7" fmla="*/ 17767492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1" y="8613"/>
                  <a:pt x="-1" y="10137"/>
                </a:cubicBezTo>
                <a:cubicBezTo>
                  <a:pt x="-1" y="11192"/>
                  <a:pt x="409" y="12169"/>
                  <a:pt x="1074" y="12702"/>
                </a:cubicBezTo>
                <a:lnTo>
                  <a:pt x="1063" y="12668"/>
                </a:lnTo>
                <a:cubicBezTo>
                  <a:pt x="685" y="13217"/>
                  <a:pt x="474" y="13940"/>
                  <a:pt x="474" y="14690"/>
                </a:cubicBezTo>
                <a:cubicBezTo>
                  <a:pt x="475" y="16325"/>
                  <a:pt x="1451" y="17650"/>
                  <a:pt x="2655" y="17650"/>
                </a:cubicBezTo>
                <a:cubicBezTo>
                  <a:pt x="2739" y="17650"/>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1"/>
                  <a:pt x="16758" y="-1"/>
                </a:cubicBezTo>
                <a:cubicBezTo>
                  <a:pt x="16044" y="-1"/>
                  <a:pt x="15367" y="426"/>
                  <a:pt x="14905" y="1165"/>
                </a:cubicBezTo>
                <a:lnTo>
                  <a:pt x="14909" y="1170"/>
                </a:lnTo>
                <a:cubicBezTo>
                  <a:pt x="14497" y="432"/>
                  <a:pt x="13855" y="-1"/>
                  <a:pt x="13174" y="-1"/>
                </a:cubicBezTo>
                <a:cubicBezTo>
                  <a:pt x="12347" y="-1"/>
                  <a:pt x="11590" y="637"/>
                  <a:pt x="11221" y="1645"/>
                </a:cubicBezTo>
                <a:lnTo>
                  <a:pt x="11229" y="1694"/>
                </a:lnTo>
                <a:cubicBezTo>
                  <a:pt x="10730" y="1024"/>
                  <a:pt x="10058" y="649"/>
                  <a:pt x="9358" y="649"/>
                </a:cubicBezTo>
                <a:cubicBezTo>
                  <a:pt x="8372" y="649"/>
                  <a:pt x="7466" y="1391"/>
                  <a:pt x="7003" y="2578"/>
                </a:cubicBezTo>
                <a:lnTo>
                  <a:pt x="6995" y="2602"/>
                </a:lnTo>
                <a:cubicBezTo>
                  <a:pt x="6477" y="2189"/>
                  <a:pt x="5888" y="1971"/>
                  <a:pt x="5288" y="1971"/>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00FFFF"/>
          </a:solidFill>
          <a:ln w="9525">
            <a:solidFill>
              <a:srgbClr val="000000"/>
            </a:solidFill>
            <a:miter lim="800000"/>
            <a:headEnd/>
            <a:tailEnd/>
          </a:ln>
          <a:effectLst>
            <a:outerShdw blurRad="63500" dist="107763" dir="2700000" algn="ctr" rotWithShape="0">
              <a:srgbClr val="000000">
                <a:alpha val="74997"/>
              </a:srgbClr>
            </a:outerShdw>
          </a:effectLst>
        </p:spPr>
        <p:txBody>
          <a:bodyPr anchor="ctr"/>
          <a:lstStyle/>
          <a:p>
            <a:endParaRPr lang="zh-CN" altLang="en-US"/>
          </a:p>
        </p:txBody>
      </p:sp>
      <p:sp>
        <p:nvSpPr>
          <p:cNvPr id="13319" name="Rectangle 15"/>
          <p:cNvSpPr>
            <a:spLocks noGrp="1" noChangeArrowheads="1"/>
          </p:cNvSpPr>
          <p:nvPr>
            <p:ph type="title"/>
          </p:nvPr>
        </p:nvSpPr>
        <p:spPr>
          <a:xfrm>
            <a:off x="609600" y="152400"/>
            <a:ext cx="7848600" cy="533400"/>
          </a:xfrm>
        </p:spPr>
        <p:txBody>
          <a:bodyPr/>
          <a:lstStyle/>
          <a:p>
            <a:r>
              <a:rPr lang="en-US" altLang="ko-KR">
                <a:latin typeface="Helvetica" charset="0"/>
                <a:ea typeface="MS PGothic" charset="0"/>
              </a:rPr>
              <a:t>Use Caching to Reduce Network Load</a:t>
            </a:r>
          </a:p>
        </p:txBody>
      </p:sp>
      <p:grpSp>
        <p:nvGrpSpPr>
          <p:cNvPr id="5" name="Group 16"/>
          <p:cNvGrpSpPr>
            <a:grpSpLocks/>
          </p:cNvGrpSpPr>
          <p:nvPr/>
        </p:nvGrpSpPr>
        <p:grpSpPr bwMode="auto">
          <a:xfrm>
            <a:off x="4419600" y="938213"/>
            <a:ext cx="2057400" cy="366712"/>
            <a:chOff x="1877" y="446"/>
            <a:chExt cx="1060" cy="231"/>
          </a:xfrm>
        </p:grpSpPr>
        <p:sp>
          <p:nvSpPr>
            <p:cNvPr id="13350" name="Line 17"/>
            <p:cNvSpPr>
              <a:spLocks noChangeShapeType="1"/>
            </p:cNvSpPr>
            <p:nvPr/>
          </p:nvSpPr>
          <p:spPr bwMode="auto">
            <a:xfrm flipV="1">
              <a:off x="1877" y="628"/>
              <a:ext cx="1060"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lIns="90478" tIns="44445" rIns="90478" bIns="44445" anchor="ctr"/>
            <a:lstStyle/>
            <a:p>
              <a:endParaRPr lang="en-US"/>
            </a:p>
          </p:txBody>
        </p:sp>
        <p:sp>
          <p:nvSpPr>
            <p:cNvPr id="13351" name="Text Box 18"/>
            <p:cNvSpPr txBox="1">
              <a:spLocks noChangeArrowheads="1"/>
            </p:cNvSpPr>
            <p:nvPr/>
          </p:nvSpPr>
          <p:spPr bwMode="auto">
            <a:xfrm>
              <a:off x="2055" y="446"/>
              <a:ext cx="74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Read (RPC)</a:t>
              </a:r>
            </a:p>
          </p:txBody>
        </p:sp>
      </p:grpSp>
      <p:grpSp>
        <p:nvGrpSpPr>
          <p:cNvPr id="6" name="Group 19"/>
          <p:cNvGrpSpPr>
            <a:grpSpLocks/>
          </p:cNvGrpSpPr>
          <p:nvPr/>
        </p:nvGrpSpPr>
        <p:grpSpPr bwMode="auto">
          <a:xfrm>
            <a:off x="4359275" y="1322388"/>
            <a:ext cx="2043113" cy="366712"/>
            <a:chOff x="1877" y="912"/>
            <a:chExt cx="1060" cy="231"/>
          </a:xfrm>
        </p:grpSpPr>
        <p:sp>
          <p:nvSpPr>
            <p:cNvPr id="13348" name="Line 20"/>
            <p:cNvSpPr>
              <a:spLocks noChangeShapeType="1"/>
            </p:cNvSpPr>
            <p:nvPr/>
          </p:nvSpPr>
          <p:spPr bwMode="auto">
            <a:xfrm flipH="1" flipV="1">
              <a:off x="1877" y="932"/>
              <a:ext cx="1060"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lIns="90478" tIns="44445" rIns="90478" bIns="44445" anchor="ctr"/>
            <a:lstStyle/>
            <a:p>
              <a:endParaRPr lang="en-US"/>
            </a:p>
          </p:txBody>
        </p:sp>
        <p:sp>
          <p:nvSpPr>
            <p:cNvPr id="13349" name="Text Box 21"/>
            <p:cNvSpPr txBox="1">
              <a:spLocks noChangeArrowheads="1"/>
            </p:cNvSpPr>
            <p:nvPr/>
          </p:nvSpPr>
          <p:spPr bwMode="auto">
            <a:xfrm>
              <a:off x="2012" y="912"/>
              <a:ext cx="853"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Return (Data)</a:t>
              </a:r>
            </a:p>
          </p:txBody>
        </p:sp>
      </p:grpSp>
      <p:grpSp>
        <p:nvGrpSpPr>
          <p:cNvPr id="7" name="Group 22"/>
          <p:cNvGrpSpPr>
            <a:grpSpLocks/>
          </p:cNvGrpSpPr>
          <p:nvPr/>
        </p:nvGrpSpPr>
        <p:grpSpPr bwMode="auto">
          <a:xfrm rot="-1562509">
            <a:off x="4560888" y="1897063"/>
            <a:ext cx="1982787" cy="366712"/>
            <a:chOff x="2016" y="1322"/>
            <a:chExt cx="1036" cy="231"/>
          </a:xfrm>
        </p:grpSpPr>
        <p:sp>
          <p:nvSpPr>
            <p:cNvPr id="13346" name="Text Box 23"/>
            <p:cNvSpPr txBox="1">
              <a:spLocks noChangeArrowheads="1"/>
            </p:cNvSpPr>
            <p:nvPr/>
          </p:nvSpPr>
          <p:spPr bwMode="auto">
            <a:xfrm>
              <a:off x="2176" y="1322"/>
              <a:ext cx="763"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Write (RPC)</a:t>
              </a:r>
            </a:p>
          </p:txBody>
        </p:sp>
        <p:sp>
          <p:nvSpPr>
            <p:cNvPr id="13347" name="Line 24"/>
            <p:cNvSpPr>
              <a:spLocks noChangeShapeType="1"/>
            </p:cNvSpPr>
            <p:nvPr/>
          </p:nvSpPr>
          <p:spPr bwMode="auto">
            <a:xfrm flipV="1">
              <a:off x="2015" y="1530"/>
              <a:ext cx="1036"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lIns="90478" tIns="44445" rIns="90478" bIns="44445" anchor="ctr"/>
            <a:lstStyle/>
            <a:p>
              <a:endParaRPr lang="en-US"/>
            </a:p>
          </p:txBody>
        </p:sp>
      </p:grpSp>
      <p:grpSp>
        <p:nvGrpSpPr>
          <p:cNvPr id="8" name="Group 25"/>
          <p:cNvGrpSpPr>
            <a:grpSpLocks/>
          </p:cNvGrpSpPr>
          <p:nvPr/>
        </p:nvGrpSpPr>
        <p:grpSpPr bwMode="auto">
          <a:xfrm rot="-1590130">
            <a:off x="4672013" y="2374900"/>
            <a:ext cx="2030412" cy="376238"/>
            <a:chOff x="2016" y="1844"/>
            <a:chExt cx="1036" cy="237"/>
          </a:xfrm>
        </p:grpSpPr>
        <p:sp>
          <p:nvSpPr>
            <p:cNvPr id="13344" name="Text Box 26"/>
            <p:cNvSpPr txBox="1">
              <a:spLocks noChangeArrowheads="1"/>
            </p:cNvSpPr>
            <p:nvPr/>
          </p:nvSpPr>
          <p:spPr bwMode="auto">
            <a:xfrm>
              <a:off x="2032" y="1850"/>
              <a:ext cx="100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ACK</a:t>
              </a:r>
            </a:p>
          </p:txBody>
        </p:sp>
        <p:sp>
          <p:nvSpPr>
            <p:cNvPr id="13345" name="Line 27"/>
            <p:cNvSpPr>
              <a:spLocks noChangeShapeType="1"/>
            </p:cNvSpPr>
            <p:nvPr/>
          </p:nvSpPr>
          <p:spPr bwMode="auto">
            <a:xfrm flipH="1" flipV="1">
              <a:off x="2015" y="1843"/>
              <a:ext cx="1036"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lIns="90478" tIns="44445" rIns="90478" bIns="44445" anchor="ctr"/>
            <a:lstStyle/>
            <a:p>
              <a:endParaRPr lang="en-US"/>
            </a:p>
          </p:txBody>
        </p:sp>
      </p:grpSp>
      <p:grpSp>
        <p:nvGrpSpPr>
          <p:cNvPr id="13324" name="Group 28"/>
          <p:cNvGrpSpPr>
            <a:grpSpLocks/>
          </p:cNvGrpSpPr>
          <p:nvPr/>
        </p:nvGrpSpPr>
        <p:grpSpPr bwMode="auto">
          <a:xfrm>
            <a:off x="3055938" y="609600"/>
            <a:ext cx="1295400" cy="1400175"/>
            <a:chOff x="528" y="768"/>
            <a:chExt cx="973" cy="1076"/>
          </a:xfrm>
        </p:grpSpPr>
        <p:pic>
          <p:nvPicPr>
            <p:cNvPr id="13342" name="Picture 29" descr="MCj0398505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 y="768"/>
              <a:ext cx="973" cy="7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343" name="Text Box 30"/>
            <p:cNvSpPr txBox="1">
              <a:spLocks noChangeArrowheads="1"/>
            </p:cNvSpPr>
            <p:nvPr/>
          </p:nvSpPr>
          <p:spPr bwMode="auto">
            <a:xfrm>
              <a:off x="614" y="1562"/>
              <a:ext cx="628" cy="2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Client</a:t>
              </a:r>
            </a:p>
          </p:txBody>
        </p:sp>
      </p:grpSp>
      <p:sp>
        <p:nvSpPr>
          <p:cNvPr id="1068063" name="Rectangle 31"/>
          <p:cNvSpPr>
            <a:spLocks noChangeArrowheads="1"/>
          </p:cNvSpPr>
          <p:nvPr/>
        </p:nvSpPr>
        <p:spPr bwMode="auto">
          <a:xfrm>
            <a:off x="2217738" y="941388"/>
            <a:ext cx="838200" cy="838200"/>
          </a:xfrm>
          <a:prstGeom prst="rect">
            <a:avLst/>
          </a:prstGeom>
          <a:solidFill>
            <a:srgbClr val="53FB25"/>
          </a:solidFill>
          <a:ln w="38100">
            <a:solidFill>
              <a:schemeClr val="tx1"/>
            </a:solidFill>
            <a:miter lim="800000"/>
            <a:headEnd/>
            <a:tailEnd/>
          </a:ln>
        </p:spPr>
        <p:txBody>
          <a:bodyPr wrap="none" lIns="90478" tIns="44445" rIns="90478" bIns="44445"/>
          <a:lstStyle/>
          <a:p>
            <a:pPr marL="228600" indent="-228600"/>
            <a:r>
              <a:rPr lang="en-US" altLang="zh-CN" sz="2000">
                <a:latin typeface="Helvetica" charset="0"/>
              </a:rPr>
              <a:t>cache</a:t>
            </a:r>
            <a:endParaRPr lang="en-US" altLang="zh-CN">
              <a:latin typeface="Helvetica" charset="0"/>
            </a:endParaRPr>
          </a:p>
        </p:txBody>
      </p:sp>
      <p:grpSp>
        <p:nvGrpSpPr>
          <p:cNvPr id="13326" name="Group 32"/>
          <p:cNvGrpSpPr>
            <a:grpSpLocks/>
          </p:cNvGrpSpPr>
          <p:nvPr/>
        </p:nvGrpSpPr>
        <p:grpSpPr bwMode="auto">
          <a:xfrm>
            <a:off x="3360738" y="2160588"/>
            <a:ext cx="1296987" cy="1400175"/>
            <a:chOff x="528" y="768"/>
            <a:chExt cx="973" cy="1075"/>
          </a:xfrm>
        </p:grpSpPr>
        <p:pic>
          <p:nvPicPr>
            <p:cNvPr id="13340" name="Picture 33" descr="MCj0398505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 y="768"/>
              <a:ext cx="973" cy="7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341" name="Text Box 34"/>
            <p:cNvSpPr txBox="1">
              <a:spLocks noChangeArrowheads="1"/>
            </p:cNvSpPr>
            <p:nvPr/>
          </p:nvSpPr>
          <p:spPr bwMode="auto">
            <a:xfrm>
              <a:off x="614" y="1561"/>
              <a:ext cx="629" cy="2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Client</a:t>
              </a:r>
            </a:p>
          </p:txBody>
        </p:sp>
      </p:grpSp>
      <p:sp>
        <p:nvSpPr>
          <p:cNvPr id="1068067" name="Rectangle 35"/>
          <p:cNvSpPr>
            <a:spLocks noChangeArrowheads="1"/>
          </p:cNvSpPr>
          <p:nvPr/>
        </p:nvSpPr>
        <p:spPr bwMode="auto">
          <a:xfrm>
            <a:off x="2522538" y="2617788"/>
            <a:ext cx="838200" cy="838200"/>
          </a:xfrm>
          <a:prstGeom prst="rect">
            <a:avLst/>
          </a:prstGeom>
          <a:solidFill>
            <a:srgbClr val="53FB25"/>
          </a:solidFill>
          <a:ln w="38100">
            <a:solidFill>
              <a:schemeClr val="tx1"/>
            </a:solidFill>
            <a:miter lim="800000"/>
            <a:headEnd/>
            <a:tailEnd/>
          </a:ln>
        </p:spPr>
        <p:txBody>
          <a:bodyPr wrap="none" lIns="90478" tIns="44445" rIns="90478" bIns="44445"/>
          <a:lstStyle/>
          <a:p>
            <a:pPr marL="228600" indent="-228600"/>
            <a:r>
              <a:rPr lang="en-US" altLang="zh-CN" sz="2000">
                <a:latin typeface="Helvetica" charset="0"/>
              </a:rPr>
              <a:t>cache</a:t>
            </a:r>
            <a:endParaRPr lang="en-US" altLang="zh-CN">
              <a:latin typeface="Helvetica" charset="0"/>
            </a:endParaRPr>
          </a:p>
        </p:txBody>
      </p:sp>
      <p:sp>
        <p:nvSpPr>
          <p:cNvPr id="1068068" name="Rectangle 36"/>
          <p:cNvSpPr>
            <a:spLocks noGrp="1" noChangeArrowheads="1"/>
          </p:cNvSpPr>
          <p:nvPr>
            <p:ph type="body" idx="1"/>
          </p:nvPr>
        </p:nvSpPr>
        <p:spPr>
          <a:xfrm>
            <a:off x="152400" y="3657600"/>
            <a:ext cx="8902700" cy="3043238"/>
          </a:xfrm>
        </p:spPr>
        <p:txBody>
          <a:bodyPr/>
          <a:lstStyle/>
          <a:p>
            <a:pPr>
              <a:lnSpc>
                <a:spcPct val="80000"/>
              </a:lnSpc>
              <a:spcBef>
                <a:spcPct val="15000"/>
              </a:spcBef>
            </a:pPr>
            <a:r>
              <a:rPr lang="en-US" altLang="ko-KR" dirty="0">
                <a:latin typeface="Helvetica" charset="0"/>
                <a:ea typeface="Gulim" charset="0"/>
                <a:cs typeface="Gulim" charset="0"/>
              </a:rPr>
              <a:t>Advantage: if open/read/write/close can be done locally, don’t need to do any network traffic…fast!</a:t>
            </a:r>
          </a:p>
          <a:p>
            <a:pPr>
              <a:lnSpc>
                <a:spcPct val="80000"/>
              </a:lnSpc>
              <a:spcBef>
                <a:spcPct val="15000"/>
              </a:spcBef>
            </a:pPr>
            <a:endParaRPr lang="en-US" altLang="ko-KR" dirty="0">
              <a:latin typeface="Helvetica" charset="0"/>
              <a:ea typeface="Gulim" charset="0"/>
              <a:cs typeface="Gulim" charset="0"/>
            </a:endParaRPr>
          </a:p>
          <a:p>
            <a:pPr>
              <a:lnSpc>
                <a:spcPct val="80000"/>
              </a:lnSpc>
              <a:spcBef>
                <a:spcPct val="15000"/>
              </a:spcBef>
            </a:pPr>
            <a:r>
              <a:rPr lang="en-US" altLang="ko-KR" dirty="0">
                <a:latin typeface="Helvetica" charset="0"/>
                <a:ea typeface="Gulim" charset="0"/>
                <a:cs typeface="Gulim" charset="0"/>
              </a:rPr>
              <a:t>Problems: </a:t>
            </a:r>
          </a:p>
          <a:p>
            <a:pPr lvl="1">
              <a:lnSpc>
                <a:spcPct val="80000"/>
              </a:lnSpc>
              <a:spcBef>
                <a:spcPct val="15000"/>
              </a:spcBef>
            </a:pPr>
            <a:r>
              <a:rPr lang="en-US" altLang="ko-KR" dirty="0">
                <a:latin typeface="Helvetica" charset="0"/>
                <a:ea typeface="Gulim" charset="0"/>
                <a:cs typeface="Gulim" charset="0"/>
              </a:rPr>
              <a:t>Cache consistency!</a:t>
            </a:r>
          </a:p>
          <a:p>
            <a:pPr lvl="2">
              <a:lnSpc>
                <a:spcPct val="80000"/>
              </a:lnSpc>
              <a:spcBef>
                <a:spcPct val="15000"/>
              </a:spcBef>
            </a:pPr>
            <a:r>
              <a:rPr lang="en-US" altLang="ko-KR" dirty="0">
                <a:latin typeface="Helvetica" charset="0"/>
                <a:ea typeface="Gulim" charset="0"/>
                <a:cs typeface="Gulim" charset="0"/>
              </a:rPr>
              <a:t>Client caches not consistent with server/each other</a:t>
            </a:r>
          </a:p>
          <a:p>
            <a:pPr lvl="2">
              <a:lnSpc>
                <a:spcPct val="80000"/>
              </a:lnSpc>
              <a:spcBef>
                <a:spcPct val="15000"/>
              </a:spcBef>
            </a:pPr>
            <a:r>
              <a:rPr lang="en-US" altLang="ko-KR" dirty="0">
                <a:latin typeface="Helvetica" charset="0"/>
                <a:ea typeface="Gulim" charset="0"/>
                <a:cs typeface="Gulim" charset="0"/>
              </a:rPr>
              <a:t>Who</a:t>
            </a:r>
            <a:r>
              <a:rPr lang="zh-CN" altLang="en-US" dirty="0">
                <a:latin typeface="Helvetica" charset="0"/>
                <a:ea typeface="Gulim" charset="0"/>
                <a:cs typeface="Gulim" charset="0"/>
              </a:rPr>
              <a:t> </a:t>
            </a:r>
            <a:r>
              <a:rPr lang="en-US" altLang="zh-CN" dirty="0">
                <a:latin typeface="Helvetica" charset="0"/>
                <a:ea typeface="Gulim" charset="0"/>
                <a:cs typeface="Gulim" charset="0"/>
              </a:rPr>
              <a:t>cached</a:t>
            </a:r>
            <a:r>
              <a:rPr lang="zh-CN" altLang="en-US" dirty="0">
                <a:latin typeface="Helvetica" charset="0"/>
                <a:ea typeface="Gulim" charset="0"/>
                <a:cs typeface="Gulim" charset="0"/>
              </a:rPr>
              <a:t> </a:t>
            </a:r>
            <a:r>
              <a:rPr lang="en-US" altLang="zh-CN" dirty="0">
                <a:latin typeface="Helvetica" charset="0"/>
                <a:ea typeface="Gulim" charset="0"/>
                <a:cs typeface="Gulim" charset="0"/>
              </a:rPr>
              <a:t>what?</a:t>
            </a:r>
            <a:endParaRPr lang="en-US" altLang="ko-KR" dirty="0">
              <a:latin typeface="Helvetica" charset="0"/>
              <a:ea typeface="Gulim" charset="0"/>
              <a:cs typeface="Gulim" charset="0"/>
            </a:endParaRPr>
          </a:p>
          <a:p>
            <a:pPr lvl="1">
              <a:lnSpc>
                <a:spcPct val="80000"/>
              </a:lnSpc>
              <a:spcBef>
                <a:spcPct val="15000"/>
              </a:spcBef>
            </a:pPr>
            <a:r>
              <a:rPr lang="en-US" altLang="ko-KR" dirty="0">
                <a:latin typeface="Helvetica" charset="0"/>
                <a:ea typeface="Gulim" charset="0"/>
                <a:cs typeface="Gulim" charset="0"/>
              </a:rPr>
              <a:t>Failure:</a:t>
            </a:r>
          </a:p>
          <a:p>
            <a:pPr lvl="2">
              <a:lnSpc>
                <a:spcPct val="80000"/>
              </a:lnSpc>
              <a:spcBef>
                <a:spcPct val="15000"/>
              </a:spcBef>
            </a:pPr>
            <a:r>
              <a:rPr lang="en-US" altLang="ko-KR" dirty="0">
                <a:latin typeface="Helvetica" charset="0"/>
                <a:ea typeface="Gulim" charset="0"/>
                <a:cs typeface="Gulim" charset="0"/>
              </a:rPr>
              <a:t>Client caches have data not committed at server</a:t>
            </a:r>
          </a:p>
        </p:txBody>
      </p:sp>
      <p:sp>
        <p:nvSpPr>
          <p:cNvPr id="1068069" name="Rectangle 37"/>
          <p:cNvSpPr>
            <a:spLocks noChangeArrowheads="1"/>
          </p:cNvSpPr>
          <p:nvPr/>
        </p:nvSpPr>
        <p:spPr bwMode="auto">
          <a:xfrm>
            <a:off x="2286000" y="1322388"/>
            <a:ext cx="698500" cy="368300"/>
          </a:xfrm>
          <a:prstGeom prst="rect">
            <a:avLst/>
          </a:prstGeom>
          <a:solidFill>
            <a:srgbClr val="FFFFFF"/>
          </a:solidFill>
          <a:ln w="38100">
            <a:solidFill>
              <a:schemeClr val="tx1"/>
            </a:solidFill>
            <a:miter lim="800000"/>
            <a:headEnd/>
            <a:tailEnd/>
          </a:ln>
        </p:spPr>
        <p:txBody>
          <a:bodyPr wrap="none" lIns="90478" tIns="44445" rIns="90478" bIns="44445" anchor="ctr"/>
          <a:lstStyle/>
          <a:p>
            <a:pPr marL="228600" indent="-228600"/>
            <a:r>
              <a:rPr lang="en-US" altLang="zh-CN" sz="1600">
                <a:latin typeface="Helvetica" charset="0"/>
              </a:rPr>
              <a:t>F1:V1</a:t>
            </a:r>
          </a:p>
        </p:txBody>
      </p:sp>
      <p:sp>
        <p:nvSpPr>
          <p:cNvPr id="1068070" name="Rectangle 38"/>
          <p:cNvSpPr>
            <a:spLocks noChangeArrowheads="1"/>
          </p:cNvSpPr>
          <p:nvPr/>
        </p:nvSpPr>
        <p:spPr bwMode="auto">
          <a:xfrm>
            <a:off x="2590800" y="2998788"/>
            <a:ext cx="698500" cy="368300"/>
          </a:xfrm>
          <a:prstGeom prst="rect">
            <a:avLst/>
          </a:prstGeom>
          <a:solidFill>
            <a:srgbClr val="FFFF00"/>
          </a:solidFill>
          <a:ln w="38100">
            <a:solidFill>
              <a:schemeClr val="tx1"/>
            </a:solidFill>
            <a:miter lim="800000"/>
            <a:headEnd/>
            <a:tailEnd/>
          </a:ln>
        </p:spPr>
        <p:txBody>
          <a:bodyPr wrap="none" lIns="90478" tIns="44445" rIns="90478" bIns="44445" anchor="ctr"/>
          <a:lstStyle/>
          <a:p>
            <a:pPr marL="228600" indent="-228600"/>
            <a:r>
              <a:rPr lang="en-US" altLang="zh-CN" sz="1600">
                <a:latin typeface="Helvetica" charset="0"/>
              </a:rPr>
              <a:t>F1:V2</a:t>
            </a:r>
          </a:p>
        </p:txBody>
      </p:sp>
      <p:sp>
        <p:nvSpPr>
          <p:cNvPr id="1068071" name="Text Box 39"/>
          <p:cNvSpPr txBox="1">
            <a:spLocks noChangeArrowheads="1"/>
          </p:cNvSpPr>
          <p:nvPr/>
        </p:nvSpPr>
        <p:spPr bwMode="auto">
          <a:xfrm>
            <a:off x="196850" y="788988"/>
            <a:ext cx="1216025"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rPr>
              <a:t>read(f1)</a:t>
            </a:r>
          </a:p>
        </p:txBody>
      </p:sp>
      <p:sp>
        <p:nvSpPr>
          <p:cNvPr id="1068072" name="Text Box 40"/>
          <p:cNvSpPr txBox="1">
            <a:spLocks noChangeArrowheads="1"/>
          </p:cNvSpPr>
          <p:nvPr/>
        </p:nvSpPr>
        <p:spPr bwMode="auto">
          <a:xfrm>
            <a:off x="204788" y="2870200"/>
            <a:ext cx="1281112"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rPr>
              <a:t>write(f1)</a:t>
            </a:r>
          </a:p>
        </p:txBody>
      </p:sp>
      <p:sp>
        <p:nvSpPr>
          <p:cNvPr id="1068073" name="Text Box 41"/>
          <p:cNvSpPr txBox="1">
            <a:spLocks noChangeArrowheads="1"/>
          </p:cNvSpPr>
          <p:nvPr/>
        </p:nvSpPr>
        <p:spPr bwMode="auto">
          <a:xfrm>
            <a:off x="1284288" y="776288"/>
            <a:ext cx="806450"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sym typeface="Symbol" charset="0"/>
              </a:rPr>
              <a:t>V1</a:t>
            </a:r>
          </a:p>
        </p:txBody>
      </p:sp>
      <p:sp>
        <p:nvSpPr>
          <p:cNvPr id="1068074" name="Text Box 42"/>
          <p:cNvSpPr txBox="1">
            <a:spLocks noChangeArrowheads="1"/>
          </p:cNvSpPr>
          <p:nvPr/>
        </p:nvSpPr>
        <p:spPr bwMode="auto">
          <a:xfrm>
            <a:off x="201613" y="1093788"/>
            <a:ext cx="1841500"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rPr>
              <a:t>read(f1)</a:t>
            </a:r>
            <a:r>
              <a:rPr lang="en-US" altLang="zh-CN" sz="2200">
                <a:latin typeface="Helvetica" charset="0"/>
                <a:sym typeface="Symbol" charset="0"/>
              </a:rPr>
              <a:t>V1</a:t>
            </a:r>
          </a:p>
        </p:txBody>
      </p:sp>
      <p:sp>
        <p:nvSpPr>
          <p:cNvPr id="1068075" name="Text Box 43"/>
          <p:cNvSpPr txBox="1">
            <a:spLocks noChangeArrowheads="1"/>
          </p:cNvSpPr>
          <p:nvPr/>
        </p:nvSpPr>
        <p:spPr bwMode="auto">
          <a:xfrm>
            <a:off x="201613" y="1398588"/>
            <a:ext cx="1841500"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rPr>
              <a:t>read(f1)</a:t>
            </a:r>
            <a:r>
              <a:rPr lang="en-US" altLang="zh-CN" sz="2200">
                <a:latin typeface="Helvetica" charset="0"/>
                <a:sym typeface="Symbol" charset="0"/>
              </a:rPr>
              <a:t>V1</a:t>
            </a:r>
          </a:p>
        </p:txBody>
      </p:sp>
      <p:sp>
        <p:nvSpPr>
          <p:cNvPr id="1068076" name="Text Box 44"/>
          <p:cNvSpPr txBox="1">
            <a:spLocks noChangeArrowheads="1"/>
          </p:cNvSpPr>
          <p:nvPr/>
        </p:nvSpPr>
        <p:spPr bwMode="auto">
          <a:xfrm>
            <a:off x="1328738" y="2846388"/>
            <a:ext cx="900112"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sym typeface="Symbol" charset="0"/>
              </a:rPr>
              <a:t>OK</a:t>
            </a:r>
          </a:p>
        </p:txBody>
      </p:sp>
      <p:sp>
        <p:nvSpPr>
          <p:cNvPr id="1068077" name="Text Box 45"/>
          <p:cNvSpPr txBox="1">
            <a:spLocks noChangeArrowheads="1"/>
          </p:cNvSpPr>
          <p:nvPr/>
        </p:nvSpPr>
        <p:spPr bwMode="auto">
          <a:xfrm>
            <a:off x="201613" y="1727200"/>
            <a:ext cx="1841500"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rPr>
              <a:t>read(f1)</a:t>
            </a:r>
            <a:r>
              <a:rPr lang="en-US" altLang="zh-CN" sz="2200">
                <a:latin typeface="Helvetica" charset="0"/>
                <a:sym typeface="Symbol" charset="0"/>
              </a:rPr>
              <a:t>V1</a:t>
            </a:r>
          </a:p>
        </p:txBody>
      </p:sp>
      <p:sp>
        <p:nvSpPr>
          <p:cNvPr id="1068078" name="Text Box 46"/>
          <p:cNvSpPr txBox="1">
            <a:spLocks noChangeArrowheads="1"/>
          </p:cNvSpPr>
          <p:nvPr/>
        </p:nvSpPr>
        <p:spPr bwMode="auto">
          <a:xfrm>
            <a:off x="201613" y="3151188"/>
            <a:ext cx="1841500"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rPr>
              <a:t>read(f1)</a:t>
            </a:r>
            <a:r>
              <a:rPr lang="en-US" altLang="zh-CN" sz="2200">
                <a:latin typeface="Helvetica" charset="0"/>
                <a:sym typeface="Symbol" charset="0"/>
              </a:rPr>
              <a:t>V2</a:t>
            </a:r>
          </a:p>
        </p:txBody>
      </p:sp>
    </p:spTree>
    <p:extLst>
      <p:ext uri="{BB962C8B-B14F-4D97-AF65-F5344CB8AC3E}">
        <p14:creationId xmlns:p14="http://schemas.microsoft.com/office/powerpoint/2010/main" val="81982961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NFS Caching</a:t>
            </a:r>
          </a:p>
        </p:txBody>
      </p:sp>
      <p:sp>
        <p:nvSpPr>
          <p:cNvPr id="3" name="Content Placeholder 2"/>
          <p:cNvSpPr>
            <a:spLocks noGrp="1"/>
          </p:cNvSpPr>
          <p:nvPr>
            <p:ph idx="1"/>
          </p:nvPr>
        </p:nvSpPr>
        <p:spPr>
          <a:xfrm>
            <a:off x="404075" y="914400"/>
            <a:ext cx="8312399" cy="5105400"/>
          </a:xfrm>
        </p:spPr>
        <p:txBody>
          <a:bodyPr/>
          <a:lstStyle/>
          <a:p>
            <a:pPr>
              <a:lnSpc>
                <a:spcPct val="80000"/>
              </a:lnSpc>
              <a:spcBef>
                <a:spcPct val="15000"/>
              </a:spcBef>
            </a:pPr>
            <a:r>
              <a:rPr lang="en-US" altLang="ko-KR" dirty="0">
                <a:solidFill>
                  <a:schemeClr val="hlink"/>
                </a:solidFill>
                <a:latin typeface="Helvetica" charset="0"/>
                <a:ea typeface="Gulim" charset="0"/>
                <a:cs typeface="Gulim" charset="0"/>
              </a:rPr>
              <a:t>Write-through caching:</a:t>
            </a:r>
            <a:r>
              <a:rPr lang="en-US" altLang="ko-KR" dirty="0">
                <a:latin typeface="Helvetica" charset="0"/>
                <a:ea typeface="Gulim" charset="0"/>
                <a:cs typeface="Gulim" charset="0"/>
              </a:rPr>
              <a:t> Modified data committed to server’s disk before results are returned to the client </a:t>
            </a:r>
          </a:p>
          <a:p>
            <a:pPr lvl="1">
              <a:lnSpc>
                <a:spcPct val="80000"/>
              </a:lnSpc>
              <a:spcBef>
                <a:spcPct val="15000"/>
              </a:spcBef>
            </a:pPr>
            <a:r>
              <a:rPr lang="en-US" altLang="ko-KR" dirty="0">
                <a:latin typeface="Helvetica" charset="0"/>
                <a:ea typeface="Gulim" charset="0"/>
                <a:cs typeface="Gulim" charset="0"/>
              </a:rPr>
              <a:t>Lose some of the advantages of caching</a:t>
            </a:r>
          </a:p>
          <a:p>
            <a:pPr lvl="1">
              <a:lnSpc>
                <a:spcPct val="80000"/>
              </a:lnSpc>
              <a:spcBef>
                <a:spcPct val="15000"/>
              </a:spcBef>
            </a:pPr>
            <a:r>
              <a:rPr lang="en-US" altLang="ko-KR" dirty="0">
                <a:latin typeface="Helvetica" charset="0"/>
                <a:ea typeface="Gulim" charset="0"/>
                <a:cs typeface="Gulim" charset="0"/>
              </a:rPr>
              <a:t>Time to perform write() can be long</a:t>
            </a:r>
          </a:p>
          <a:p>
            <a:pPr lvl="1">
              <a:lnSpc>
                <a:spcPct val="80000"/>
              </a:lnSpc>
              <a:spcBef>
                <a:spcPct val="15000"/>
              </a:spcBef>
            </a:pPr>
            <a:r>
              <a:rPr lang="en-US" altLang="ko-KR" dirty="0">
                <a:latin typeface="Helvetica" charset="0"/>
                <a:ea typeface="Gulim" charset="0"/>
                <a:cs typeface="Gulim" charset="0"/>
              </a:rPr>
              <a:t>Need some mechanism for readers to eventually notice changes! </a:t>
            </a:r>
            <a:endParaRPr lang="ko-KR" altLang="en-US" dirty="0">
              <a:latin typeface="Helvetica" charset="0"/>
              <a:ea typeface="Gulim" charset="0"/>
              <a:cs typeface="Gulim" charset="0"/>
            </a:endParaRPr>
          </a:p>
          <a:p>
            <a:endParaRPr lang="en-US" dirty="0"/>
          </a:p>
        </p:txBody>
      </p:sp>
    </p:spTree>
    <p:extLst>
      <p:ext uri="{BB962C8B-B14F-4D97-AF65-F5344CB8AC3E}">
        <p14:creationId xmlns:p14="http://schemas.microsoft.com/office/powerpoint/2010/main" val="68889712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6466" name="Rectangle 2"/>
          <p:cNvSpPr>
            <a:spLocks noGrp="1" noChangeArrowheads="1"/>
          </p:cNvSpPr>
          <p:nvPr>
            <p:ph type="body" idx="1"/>
          </p:nvPr>
        </p:nvSpPr>
        <p:spPr>
          <a:xfrm>
            <a:off x="133350" y="727075"/>
            <a:ext cx="8877300" cy="6130925"/>
          </a:xfrm>
        </p:spPr>
        <p:txBody>
          <a:bodyPr/>
          <a:lstStyle/>
          <a:p>
            <a:pPr>
              <a:lnSpc>
                <a:spcPct val="80000"/>
              </a:lnSpc>
              <a:spcBef>
                <a:spcPct val="20000"/>
              </a:spcBef>
            </a:pPr>
            <a:r>
              <a:rPr lang="en-US" altLang="ko-KR" dirty="0">
                <a:latin typeface="Helvetica" charset="0"/>
                <a:ea typeface="Gulim" charset="0"/>
                <a:cs typeface="Gulim" charset="0"/>
              </a:rPr>
              <a:t>NFS protocol: weak consistency</a:t>
            </a:r>
          </a:p>
          <a:p>
            <a:pPr lvl="1">
              <a:lnSpc>
                <a:spcPct val="80000"/>
              </a:lnSpc>
              <a:spcBef>
                <a:spcPct val="20000"/>
              </a:spcBef>
            </a:pPr>
            <a:r>
              <a:rPr lang="en-US" altLang="ko-KR" dirty="0">
                <a:latin typeface="Helvetica" charset="0"/>
                <a:ea typeface="Gulim" charset="0"/>
                <a:cs typeface="Gulim" charset="0"/>
              </a:rPr>
              <a:t>Client polls server periodically to check for changes</a:t>
            </a:r>
          </a:p>
          <a:p>
            <a:pPr lvl="2">
              <a:lnSpc>
                <a:spcPct val="80000"/>
              </a:lnSpc>
              <a:spcBef>
                <a:spcPct val="20000"/>
              </a:spcBef>
            </a:pPr>
            <a:r>
              <a:rPr lang="en-US" altLang="ko-KR" dirty="0">
                <a:latin typeface="Helvetica" charset="0"/>
                <a:ea typeface="Gulim" charset="0"/>
                <a:cs typeface="Gulim" charset="0"/>
              </a:rPr>
              <a:t>Polls server if data hasn’t been checked in last 3-30 seconds (exact timeout i</a:t>
            </a:r>
            <a:r>
              <a:rPr lang="en-US" altLang="zh-CN" dirty="0">
                <a:latin typeface="Helvetica" charset="0"/>
                <a:ea typeface="Gulim" charset="0"/>
                <a:cs typeface="Gulim" charset="0"/>
              </a:rPr>
              <a:t>s</a:t>
            </a:r>
            <a:r>
              <a:rPr lang="en-US" altLang="ko-KR" dirty="0">
                <a:latin typeface="Helvetica" charset="0"/>
                <a:ea typeface="Gulim" charset="0"/>
                <a:cs typeface="Gulim" charset="0"/>
              </a:rPr>
              <a:t> tunable parameter).</a:t>
            </a:r>
          </a:p>
          <a:p>
            <a:pPr lvl="2">
              <a:lnSpc>
                <a:spcPct val="80000"/>
              </a:lnSpc>
              <a:spcBef>
                <a:spcPct val="20000"/>
              </a:spcBef>
            </a:pPr>
            <a:r>
              <a:rPr lang="en-US" altLang="ko-KR" dirty="0">
                <a:latin typeface="Helvetica" charset="0"/>
                <a:ea typeface="Gulim" charset="0"/>
                <a:cs typeface="Gulim" charset="0"/>
              </a:rPr>
              <a:t>Thus, when file is changed on one client, server is notified, but other clients use old version of file until timeout.</a:t>
            </a:r>
          </a:p>
          <a:p>
            <a:pPr lvl="1">
              <a:lnSpc>
                <a:spcPct val="80000"/>
              </a:lnSpc>
              <a:spcBef>
                <a:spcPct val="20000"/>
              </a:spcBef>
            </a:pPr>
            <a:endParaRPr lang="en-US" altLang="ko-KR" dirty="0">
              <a:latin typeface="Helvetica" charset="0"/>
              <a:ea typeface="Gulim" charset="0"/>
              <a:cs typeface="Gulim" charset="0"/>
            </a:endParaRPr>
          </a:p>
          <a:p>
            <a:pPr lvl="1">
              <a:lnSpc>
                <a:spcPct val="80000"/>
              </a:lnSpc>
              <a:spcBef>
                <a:spcPct val="20000"/>
              </a:spcBef>
            </a:pPr>
            <a:endParaRPr lang="en-US" altLang="ko-KR" dirty="0">
              <a:latin typeface="Helvetica" charset="0"/>
              <a:ea typeface="Gulim" charset="0"/>
              <a:cs typeface="Gulim" charset="0"/>
            </a:endParaRPr>
          </a:p>
          <a:p>
            <a:pPr lvl="1">
              <a:lnSpc>
                <a:spcPct val="80000"/>
              </a:lnSpc>
              <a:spcBef>
                <a:spcPct val="20000"/>
              </a:spcBef>
            </a:pPr>
            <a:endParaRPr lang="en-US" altLang="ko-KR" dirty="0">
              <a:latin typeface="Helvetica" charset="0"/>
              <a:ea typeface="Gulim" charset="0"/>
              <a:cs typeface="Gulim" charset="0"/>
            </a:endParaRPr>
          </a:p>
          <a:p>
            <a:pPr lvl="1">
              <a:lnSpc>
                <a:spcPct val="80000"/>
              </a:lnSpc>
              <a:spcBef>
                <a:spcPct val="20000"/>
              </a:spcBef>
            </a:pPr>
            <a:endParaRPr lang="en-US" altLang="ko-KR" dirty="0">
              <a:latin typeface="Helvetica" charset="0"/>
              <a:ea typeface="Gulim" charset="0"/>
              <a:cs typeface="Gulim" charset="0"/>
            </a:endParaRPr>
          </a:p>
          <a:p>
            <a:pPr lvl="1">
              <a:lnSpc>
                <a:spcPct val="80000"/>
              </a:lnSpc>
              <a:spcBef>
                <a:spcPct val="20000"/>
              </a:spcBef>
            </a:pPr>
            <a:endParaRPr lang="en-US" altLang="ko-KR" dirty="0">
              <a:latin typeface="Helvetica" charset="0"/>
              <a:ea typeface="Gulim" charset="0"/>
              <a:cs typeface="Gulim" charset="0"/>
            </a:endParaRPr>
          </a:p>
          <a:p>
            <a:pPr lvl="1">
              <a:lnSpc>
                <a:spcPct val="80000"/>
              </a:lnSpc>
              <a:spcBef>
                <a:spcPct val="20000"/>
              </a:spcBef>
            </a:pPr>
            <a:endParaRPr lang="en-US" altLang="ko-KR" dirty="0">
              <a:latin typeface="Helvetica" charset="0"/>
              <a:ea typeface="Gulim" charset="0"/>
              <a:cs typeface="Gulim" charset="0"/>
            </a:endParaRPr>
          </a:p>
          <a:p>
            <a:pPr lvl="1">
              <a:lnSpc>
                <a:spcPct val="80000"/>
              </a:lnSpc>
              <a:spcBef>
                <a:spcPct val="20000"/>
              </a:spcBef>
            </a:pPr>
            <a:endParaRPr lang="en-US" altLang="ko-KR" dirty="0">
              <a:latin typeface="Helvetica" charset="0"/>
              <a:ea typeface="Gulim" charset="0"/>
              <a:cs typeface="Gulim" charset="0"/>
            </a:endParaRPr>
          </a:p>
          <a:p>
            <a:pPr lvl="1">
              <a:lnSpc>
                <a:spcPct val="80000"/>
              </a:lnSpc>
              <a:spcBef>
                <a:spcPct val="20000"/>
              </a:spcBef>
            </a:pPr>
            <a:endParaRPr lang="en-US" altLang="ko-KR" dirty="0">
              <a:latin typeface="Helvetica" charset="0"/>
              <a:ea typeface="Gulim" charset="0"/>
              <a:cs typeface="Gulim" charset="0"/>
            </a:endParaRPr>
          </a:p>
          <a:p>
            <a:pPr lvl="1">
              <a:lnSpc>
                <a:spcPct val="80000"/>
              </a:lnSpc>
              <a:spcBef>
                <a:spcPct val="20000"/>
              </a:spcBef>
            </a:pPr>
            <a:endParaRPr lang="en-US" altLang="ko-KR" dirty="0">
              <a:latin typeface="Helvetica" charset="0"/>
              <a:ea typeface="Gulim" charset="0"/>
              <a:cs typeface="Gulim" charset="0"/>
            </a:endParaRPr>
          </a:p>
          <a:p>
            <a:pPr lvl="1">
              <a:lnSpc>
                <a:spcPct val="80000"/>
              </a:lnSpc>
              <a:spcBef>
                <a:spcPct val="20000"/>
              </a:spcBef>
            </a:pPr>
            <a:r>
              <a:rPr lang="en-US" altLang="ko-KR" dirty="0">
                <a:latin typeface="Helvetica" charset="0"/>
                <a:ea typeface="Gulim" charset="0"/>
                <a:cs typeface="Gulim" charset="0"/>
              </a:rPr>
              <a:t>What if multiple clients write to same file? </a:t>
            </a:r>
          </a:p>
          <a:p>
            <a:pPr lvl="2">
              <a:lnSpc>
                <a:spcPct val="80000"/>
              </a:lnSpc>
              <a:spcBef>
                <a:spcPct val="20000"/>
              </a:spcBef>
            </a:pPr>
            <a:r>
              <a:rPr lang="en-US" altLang="ko-KR" dirty="0">
                <a:latin typeface="Helvetica" charset="0"/>
                <a:ea typeface="Gulim" charset="0"/>
                <a:cs typeface="Gulim" charset="0"/>
              </a:rPr>
              <a:t>In NFS, can get either version (or parts of both)</a:t>
            </a:r>
          </a:p>
          <a:p>
            <a:pPr lvl="2">
              <a:lnSpc>
                <a:spcPct val="80000"/>
              </a:lnSpc>
              <a:spcBef>
                <a:spcPct val="20000"/>
              </a:spcBef>
            </a:pPr>
            <a:r>
              <a:rPr lang="en-US" altLang="ko-KR" dirty="0">
                <a:latin typeface="Helvetica" charset="0"/>
                <a:ea typeface="Gulim" charset="0"/>
                <a:cs typeface="Gulim" charset="0"/>
              </a:rPr>
              <a:t>Completely arbitrary!</a:t>
            </a:r>
          </a:p>
        </p:txBody>
      </p:sp>
      <p:grpSp>
        <p:nvGrpSpPr>
          <p:cNvPr id="2" name="Group 3"/>
          <p:cNvGrpSpPr>
            <a:grpSpLocks/>
          </p:cNvGrpSpPr>
          <p:nvPr/>
        </p:nvGrpSpPr>
        <p:grpSpPr bwMode="auto">
          <a:xfrm>
            <a:off x="1295400" y="2595563"/>
            <a:ext cx="6773863" cy="2949575"/>
            <a:chOff x="816" y="1635"/>
            <a:chExt cx="4267" cy="1858"/>
          </a:xfrm>
        </p:grpSpPr>
        <p:sp>
          <p:nvSpPr>
            <p:cNvPr id="18444" name="Rectangle 4"/>
            <p:cNvSpPr>
              <a:spLocks noChangeArrowheads="1"/>
            </p:cNvSpPr>
            <p:nvPr/>
          </p:nvSpPr>
          <p:spPr bwMode="auto">
            <a:xfrm>
              <a:off x="4128" y="2420"/>
              <a:ext cx="528" cy="576"/>
            </a:xfrm>
            <a:prstGeom prst="rect">
              <a:avLst/>
            </a:prstGeom>
            <a:solidFill>
              <a:srgbClr val="53FB25"/>
            </a:solidFill>
            <a:ln w="38100">
              <a:solidFill>
                <a:schemeClr val="tx1"/>
              </a:solidFill>
              <a:miter lim="800000"/>
              <a:headEnd/>
              <a:tailEnd/>
            </a:ln>
          </p:spPr>
          <p:txBody>
            <a:bodyPr wrap="none" lIns="90478" tIns="44445" rIns="90478" bIns="44445"/>
            <a:lstStyle/>
            <a:p>
              <a:pPr marL="228600" indent="-228600"/>
              <a:r>
                <a:rPr lang="en-US" altLang="zh-CN" sz="2000">
                  <a:latin typeface="Helvetica" charset="0"/>
                </a:rPr>
                <a:t>cache</a:t>
              </a:r>
            </a:p>
          </p:txBody>
        </p:sp>
        <p:sp>
          <p:nvSpPr>
            <p:cNvPr id="18445" name="Rectangle 5"/>
            <p:cNvSpPr>
              <a:spLocks noChangeArrowheads="1"/>
            </p:cNvSpPr>
            <p:nvPr/>
          </p:nvSpPr>
          <p:spPr bwMode="auto">
            <a:xfrm>
              <a:off x="4163" y="2660"/>
              <a:ext cx="440" cy="232"/>
            </a:xfrm>
            <a:prstGeom prst="rect">
              <a:avLst/>
            </a:prstGeom>
            <a:solidFill>
              <a:srgbClr val="FFFF00"/>
            </a:solidFill>
            <a:ln w="38100">
              <a:solidFill>
                <a:schemeClr val="tx1"/>
              </a:solidFill>
              <a:miter lim="800000"/>
              <a:headEnd/>
              <a:tailEnd/>
            </a:ln>
          </p:spPr>
          <p:txBody>
            <a:bodyPr wrap="none" lIns="90478" tIns="44445" rIns="90478" bIns="44445" anchor="ctr"/>
            <a:lstStyle/>
            <a:p>
              <a:pPr marL="228600" indent="-228600"/>
              <a:r>
                <a:rPr lang="en-US" altLang="zh-CN" sz="1600">
                  <a:latin typeface="Helvetica" charset="0"/>
                </a:rPr>
                <a:t>F1:V2</a:t>
              </a:r>
            </a:p>
          </p:txBody>
        </p:sp>
        <p:grpSp>
          <p:nvGrpSpPr>
            <p:cNvPr id="18446" name="Group 6"/>
            <p:cNvGrpSpPr>
              <a:grpSpLocks/>
            </p:cNvGrpSpPr>
            <p:nvPr/>
          </p:nvGrpSpPr>
          <p:grpSpPr bwMode="auto">
            <a:xfrm>
              <a:off x="3552" y="1796"/>
              <a:ext cx="1531" cy="924"/>
              <a:chOff x="2304" y="672"/>
              <a:chExt cx="1824" cy="1127"/>
            </a:xfrm>
          </p:grpSpPr>
          <p:grpSp>
            <p:nvGrpSpPr>
              <p:cNvPr id="18464" name="Group 7"/>
              <p:cNvGrpSpPr>
                <a:grpSpLocks/>
              </p:cNvGrpSpPr>
              <p:nvPr/>
            </p:nvGrpSpPr>
            <p:grpSpPr bwMode="auto">
              <a:xfrm>
                <a:off x="2304" y="672"/>
                <a:ext cx="981" cy="1127"/>
                <a:chOff x="2043" y="624"/>
                <a:chExt cx="981" cy="1127"/>
              </a:xfrm>
            </p:grpSpPr>
            <p:pic>
              <p:nvPicPr>
                <p:cNvPr id="18470" name="Picture 8" descr="MCj0398435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 y="624"/>
                  <a:ext cx="981" cy="8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471" name="Text Box 9"/>
                <p:cNvSpPr txBox="1">
                  <a:spLocks noChangeArrowheads="1"/>
                </p:cNvSpPr>
                <p:nvPr/>
              </p:nvSpPr>
              <p:spPr bwMode="auto">
                <a:xfrm>
                  <a:off x="2070" y="1469"/>
                  <a:ext cx="677" cy="2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Server</a:t>
                  </a:r>
                </a:p>
              </p:txBody>
            </p:sp>
          </p:grpSp>
          <p:grpSp>
            <p:nvGrpSpPr>
              <p:cNvPr id="18465" name="Group 10"/>
              <p:cNvGrpSpPr>
                <a:grpSpLocks/>
              </p:cNvGrpSpPr>
              <p:nvPr/>
            </p:nvGrpSpPr>
            <p:grpSpPr bwMode="auto">
              <a:xfrm>
                <a:off x="3600" y="720"/>
                <a:ext cx="528" cy="864"/>
                <a:chOff x="3600" y="720"/>
                <a:chExt cx="528" cy="864"/>
              </a:xfrm>
            </p:grpSpPr>
            <p:sp>
              <p:nvSpPr>
                <p:cNvPr id="18467" name="AutoShape 11"/>
                <p:cNvSpPr>
                  <a:spLocks noChangeArrowheads="1"/>
                </p:cNvSpPr>
                <p:nvPr/>
              </p:nvSpPr>
              <p:spPr bwMode="auto">
                <a:xfrm>
                  <a:off x="3600" y="720"/>
                  <a:ext cx="336" cy="483"/>
                </a:xfrm>
                <a:prstGeom prst="can">
                  <a:avLst>
                    <a:gd name="adj" fmla="val 35711"/>
                  </a:avLst>
                </a:prstGeom>
                <a:solidFill>
                  <a:srgbClr val="FF66CC"/>
                </a:solidFill>
                <a:ln w="38100">
                  <a:solidFill>
                    <a:schemeClr val="tx1"/>
                  </a:solidFill>
                  <a:round/>
                  <a:headEnd/>
                  <a:tailEnd/>
                </a:ln>
              </p:spPr>
              <p:txBody>
                <a:bodyPr wrap="none" lIns="90478" tIns="44445" rIns="90478" bIns="44445" anchor="ctr"/>
                <a:lstStyle/>
                <a:p>
                  <a:endParaRPr lang="zh-CN">
                    <a:latin typeface="Helvetica" charset="0"/>
                  </a:endParaRPr>
                </a:p>
              </p:txBody>
            </p:sp>
            <p:sp>
              <p:nvSpPr>
                <p:cNvPr id="18468" name="AutoShape 12"/>
                <p:cNvSpPr>
                  <a:spLocks noChangeArrowheads="1"/>
                </p:cNvSpPr>
                <p:nvPr/>
              </p:nvSpPr>
              <p:spPr bwMode="auto">
                <a:xfrm>
                  <a:off x="3697" y="912"/>
                  <a:ext cx="335" cy="479"/>
                </a:xfrm>
                <a:prstGeom prst="can">
                  <a:avLst>
                    <a:gd name="adj" fmla="val 35713"/>
                  </a:avLst>
                </a:prstGeom>
                <a:solidFill>
                  <a:srgbClr val="FF66CC"/>
                </a:solidFill>
                <a:ln w="38100">
                  <a:solidFill>
                    <a:schemeClr val="tx1"/>
                  </a:solidFill>
                  <a:round/>
                  <a:headEnd/>
                  <a:tailEnd/>
                </a:ln>
              </p:spPr>
              <p:txBody>
                <a:bodyPr wrap="none" lIns="90478" tIns="44445" rIns="90478" bIns="44445" anchor="ctr"/>
                <a:lstStyle/>
                <a:p>
                  <a:endParaRPr lang="zh-CN">
                    <a:latin typeface="Helvetica" charset="0"/>
                  </a:endParaRPr>
                </a:p>
              </p:txBody>
            </p:sp>
            <p:sp>
              <p:nvSpPr>
                <p:cNvPr id="18469" name="AutoShape 13"/>
                <p:cNvSpPr>
                  <a:spLocks noChangeArrowheads="1"/>
                </p:cNvSpPr>
                <p:nvPr/>
              </p:nvSpPr>
              <p:spPr bwMode="auto">
                <a:xfrm>
                  <a:off x="3792" y="1104"/>
                  <a:ext cx="336" cy="483"/>
                </a:xfrm>
                <a:prstGeom prst="can">
                  <a:avLst>
                    <a:gd name="adj" fmla="val 35711"/>
                  </a:avLst>
                </a:prstGeom>
                <a:solidFill>
                  <a:srgbClr val="FF66CC"/>
                </a:solidFill>
                <a:ln w="38100">
                  <a:solidFill>
                    <a:schemeClr val="tx1"/>
                  </a:solidFill>
                  <a:round/>
                  <a:headEnd/>
                  <a:tailEnd/>
                </a:ln>
              </p:spPr>
              <p:txBody>
                <a:bodyPr wrap="none" lIns="90478" tIns="44445" rIns="90478" bIns="44445" anchor="ctr"/>
                <a:lstStyle/>
                <a:p>
                  <a:endParaRPr lang="zh-CN">
                    <a:latin typeface="Helvetica" charset="0"/>
                  </a:endParaRPr>
                </a:p>
              </p:txBody>
            </p:sp>
          </p:grpSp>
          <p:sp>
            <p:nvSpPr>
              <p:cNvPr id="18466" name="AutoShape 14"/>
              <p:cNvSpPr>
                <a:spLocks noChangeArrowheads="1"/>
              </p:cNvSpPr>
              <p:nvPr/>
            </p:nvSpPr>
            <p:spPr bwMode="auto">
              <a:xfrm>
                <a:off x="3072" y="1007"/>
                <a:ext cx="430" cy="337"/>
              </a:xfrm>
              <a:prstGeom prst="leftRightArrow">
                <a:avLst>
                  <a:gd name="adj1" fmla="val 50000"/>
                  <a:gd name="adj2" fmla="val 25714"/>
                </a:avLst>
              </a:prstGeom>
              <a:solidFill>
                <a:srgbClr val="00FFFF"/>
              </a:solidFill>
              <a:ln w="38100">
                <a:solidFill>
                  <a:schemeClr val="tx1"/>
                </a:solidFill>
                <a:miter lim="800000"/>
                <a:headEnd/>
                <a:tailEnd/>
              </a:ln>
            </p:spPr>
            <p:txBody>
              <a:bodyPr wrap="none" lIns="90478" tIns="44445" rIns="90478" bIns="44445" anchor="ctr"/>
              <a:lstStyle/>
              <a:p>
                <a:endParaRPr lang="zh-CN">
                  <a:latin typeface="Helvetica" charset="0"/>
                </a:endParaRPr>
              </a:p>
            </p:txBody>
          </p:sp>
        </p:grpSp>
        <p:sp>
          <p:nvSpPr>
            <p:cNvPr id="1086479" name="Cloud"/>
            <p:cNvSpPr>
              <a:spLocks noChangeAspect="1" noEditPoints="1" noChangeArrowheads="1"/>
            </p:cNvSpPr>
            <p:nvPr/>
          </p:nvSpPr>
          <p:spPr bwMode="auto">
            <a:xfrm>
              <a:off x="2112" y="1652"/>
              <a:ext cx="1440" cy="1632"/>
            </a:xfrm>
            <a:custGeom>
              <a:avLst/>
              <a:gdLst>
                <a:gd name="T0" fmla="*/ 0 w 21600"/>
                <a:gd name="T1" fmla="*/ 62 h 21600"/>
                <a:gd name="T2" fmla="*/ 48 w 21600"/>
                <a:gd name="T3" fmla="*/ 123 h 21600"/>
                <a:gd name="T4" fmla="*/ 96 w 21600"/>
                <a:gd name="T5" fmla="*/ 62 h 21600"/>
                <a:gd name="T6" fmla="*/ 48 w 21600"/>
                <a:gd name="T7" fmla="*/ 7 h 21600"/>
                <a:gd name="T8" fmla="*/ 0 60000 65536"/>
                <a:gd name="T9" fmla="*/ 0 60000 65536"/>
                <a:gd name="T10" fmla="*/ 0 60000 65536"/>
                <a:gd name="T11" fmla="*/ 0 60000 65536"/>
                <a:gd name="T12" fmla="*/ 2970 w 21600"/>
                <a:gd name="T13" fmla="*/ 3256 h 21600"/>
                <a:gd name="T14" fmla="*/ 17085 w 21600"/>
                <a:gd name="T15" fmla="*/ 17338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1" y="8613"/>
                    <a:pt x="-1" y="10137"/>
                  </a:cubicBezTo>
                  <a:cubicBezTo>
                    <a:pt x="-1" y="11192"/>
                    <a:pt x="409" y="12169"/>
                    <a:pt x="1074" y="12702"/>
                  </a:cubicBezTo>
                  <a:lnTo>
                    <a:pt x="1063" y="12668"/>
                  </a:lnTo>
                  <a:cubicBezTo>
                    <a:pt x="685" y="13217"/>
                    <a:pt x="474" y="13940"/>
                    <a:pt x="474" y="14690"/>
                  </a:cubicBezTo>
                  <a:cubicBezTo>
                    <a:pt x="475" y="16325"/>
                    <a:pt x="1451" y="17650"/>
                    <a:pt x="2655" y="17650"/>
                  </a:cubicBezTo>
                  <a:cubicBezTo>
                    <a:pt x="2739" y="17650"/>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1"/>
                    <a:pt x="16758" y="-1"/>
                  </a:cubicBezTo>
                  <a:cubicBezTo>
                    <a:pt x="16044" y="-1"/>
                    <a:pt x="15367" y="426"/>
                    <a:pt x="14905" y="1165"/>
                  </a:cubicBezTo>
                  <a:lnTo>
                    <a:pt x="14909" y="1170"/>
                  </a:lnTo>
                  <a:cubicBezTo>
                    <a:pt x="14497" y="432"/>
                    <a:pt x="13855" y="-1"/>
                    <a:pt x="13174" y="-1"/>
                  </a:cubicBezTo>
                  <a:cubicBezTo>
                    <a:pt x="12347" y="-1"/>
                    <a:pt x="11590" y="637"/>
                    <a:pt x="11221" y="1645"/>
                  </a:cubicBezTo>
                  <a:lnTo>
                    <a:pt x="11229" y="1694"/>
                  </a:lnTo>
                  <a:cubicBezTo>
                    <a:pt x="10730" y="1024"/>
                    <a:pt x="10058" y="649"/>
                    <a:pt x="9358" y="649"/>
                  </a:cubicBezTo>
                  <a:cubicBezTo>
                    <a:pt x="8372" y="649"/>
                    <a:pt x="7466" y="1391"/>
                    <a:pt x="7003" y="2578"/>
                  </a:cubicBezTo>
                  <a:lnTo>
                    <a:pt x="6995" y="2602"/>
                  </a:lnTo>
                  <a:cubicBezTo>
                    <a:pt x="6477" y="2189"/>
                    <a:pt x="5888" y="1971"/>
                    <a:pt x="5288" y="1971"/>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00FFFF"/>
            </a:solidFill>
            <a:ln w="9525">
              <a:solidFill>
                <a:srgbClr val="000000"/>
              </a:solidFill>
              <a:miter lim="800000"/>
              <a:headEnd/>
              <a:tailEnd/>
            </a:ln>
            <a:effectLst>
              <a:outerShdw blurRad="63500" dist="107763" dir="2700000" algn="ctr" rotWithShape="0">
                <a:srgbClr val="000000">
                  <a:alpha val="74997"/>
                </a:srgbClr>
              </a:outerShdw>
            </a:effectLst>
          </p:spPr>
          <p:txBody>
            <a:bodyPr anchor="ctr"/>
            <a:lstStyle/>
            <a:p>
              <a:endParaRPr lang="zh-CN" altLang="en-US"/>
            </a:p>
          </p:txBody>
        </p:sp>
        <p:grpSp>
          <p:nvGrpSpPr>
            <p:cNvPr id="18448" name="Group 16"/>
            <p:cNvGrpSpPr>
              <a:grpSpLocks/>
            </p:cNvGrpSpPr>
            <p:nvPr/>
          </p:nvGrpSpPr>
          <p:grpSpPr bwMode="auto">
            <a:xfrm rot="-1562509">
              <a:off x="2291" y="2445"/>
              <a:ext cx="1249" cy="231"/>
              <a:chOff x="2016" y="1321"/>
              <a:chExt cx="1036" cy="231"/>
            </a:xfrm>
          </p:grpSpPr>
          <p:sp>
            <p:nvSpPr>
              <p:cNvPr id="18462" name="Text Box 17"/>
              <p:cNvSpPr txBox="1">
                <a:spLocks noChangeArrowheads="1"/>
              </p:cNvSpPr>
              <p:nvPr/>
            </p:nvSpPr>
            <p:spPr bwMode="auto">
              <a:xfrm>
                <a:off x="2176" y="1321"/>
                <a:ext cx="763"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Write (RPC)</a:t>
                </a:r>
              </a:p>
            </p:txBody>
          </p:sp>
          <p:sp>
            <p:nvSpPr>
              <p:cNvPr id="18463" name="Line 18"/>
              <p:cNvSpPr>
                <a:spLocks noChangeShapeType="1"/>
              </p:cNvSpPr>
              <p:nvPr/>
            </p:nvSpPr>
            <p:spPr bwMode="auto">
              <a:xfrm flipV="1">
                <a:off x="2015" y="1530"/>
                <a:ext cx="1036"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lIns="90478" tIns="44445" rIns="90478" bIns="44445" anchor="ctr"/>
              <a:lstStyle/>
              <a:p>
                <a:endParaRPr lang="en-US"/>
              </a:p>
            </p:txBody>
          </p:sp>
        </p:grpSp>
        <p:grpSp>
          <p:nvGrpSpPr>
            <p:cNvPr id="18449" name="Group 19"/>
            <p:cNvGrpSpPr>
              <a:grpSpLocks/>
            </p:cNvGrpSpPr>
            <p:nvPr/>
          </p:nvGrpSpPr>
          <p:grpSpPr bwMode="auto">
            <a:xfrm rot="-1590130">
              <a:off x="2361" y="2747"/>
              <a:ext cx="1279" cy="238"/>
              <a:chOff x="2015" y="1843"/>
              <a:chExt cx="1036" cy="238"/>
            </a:xfrm>
          </p:grpSpPr>
          <p:sp>
            <p:nvSpPr>
              <p:cNvPr id="18460" name="Text Box 20"/>
              <p:cNvSpPr txBox="1">
                <a:spLocks noChangeArrowheads="1"/>
              </p:cNvSpPr>
              <p:nvPr/>
            </p:nvSpPr>
            <p:spPr bwMode="auto">
              <a:xfrm>
                <a:off x="2032" y="1849"/>
                <a:ext cx="100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ACK</a:t>
                </a:r>
              </a:p>
            </p:txBody>
          </p:sp>
          <p:sp>
            <p:nvSpPr>
              <p:cNvPr id="18461" name="Line 21"/>
              <p:cNvSpPr>
                <a:spLocks noChangeShapeType="1"/>
              </p:cNvSpPr>
              <p:nvPr/>
            </p:nvSpPr>
            <p:spPr bwMode="auto">
              <a:xfrm flipH="1" flipV="1">
                <a:off x="2015" y="1841"/>
                <a:ext cx="1036"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lIns="90478" tIns="44445" rIns="90478" bIns="44445" anchor="ctr"/>
              <a:lstStyle/>
              <a:p>
                <a:endParaRPr lang="en-US"/>
              </a:p>
            </p:txBody>
          </p:sp>
        </p:grpSp>
        <p:grpSp>
          <p:nvGrpSpPr>
            <p:cNvPr id="18450" name="Group 22"/>
            <p:cNvGrpSpPr>
              <a:grpSpLocks/>
            </p:cNvGrpSpPr>
            <p:nvPr/>
          </p:nvGrpSpPr>
          <p:grpSpPr bwMode="auto">
            <a:xfrm>
              <a:off x="1344" y="1635"/>
              <a:ext cx="816" cy="882"/>
              <a:chOff x="528" y="768"/>
              <a:chExt cx="973" cy="1076"/>
            </a:xfrm>
          </p:grpSpPr>
          <p:pic>
            <p:nvPicPr>
              <p:cNvPr id="18458" name="Picture 23" descr="MCj0398505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 y="768"/>
                <a:ext cx="973" cy="7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459" name="Text Box 24"/>
              <p:cNvSpPr txBox="1">
                <a:spLocks noChangeArrowheads="1"/>
              </p:cNvSpPr>
              <p:nvPr/>
            </p:nvSpPr>
            <p:spPr bwMode="auto">
              <a:xfrm>
                <a:off x="614" y="1562"/>
                <a:ext cx="628" cy="2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Client</a:t>
                </a:r>
              </a:p>
            </p:txBody>
          </p:sp>
        </p:grpSp>
        <p:sp>
          <p:nvSpPr>
            <p:cNvPr id="18451" name="Rectangle 25"/>
            <p:cNvSpPr>
              <a:spLocks noChangeArrowheads="1"/>
            </p:cNvSpPr>
            <p:nvPr/>
          </p:nvSpPr>
          <p:spPr bwMode="auto">
            <a:xfrm>
              <a:off x="816" y="1844"/>
              <a:ext cx="528" cy="528"/>
            </a:xfrm>
            <a:prstGeom prst="rect">
              <a:avLst/>
            </a:prstGeom>
            <a:solidFill>
              <a:srgbClr val="53FB25"/>
            </a:solidFill>
            <a:ln w="38100">
              <a:solidFill>
                <a:schemeClr val="tx1"/>
              </a:solidFill>
              <a:miter lim="800000"/>
              <a:headEnd/>
              <a:tailEnd/>
            </a:ln>
          </p:spPr>
          <p:txBody>
            <a:bodyPr wrap="none" lIns="90478" tIns="44445" rIns="90478" bIns="44445"/>
            <a:lstStyle/>
            <a:p>
              <a:pPr marL="228600" indent="-228600"/>
              <a:r>
                <a:rPr lang="en-US" altLang="zh-CN" sz="2000">
                  <a:latin typeface="Helvetica" charset="0"/>
                </a:rPr>
                <a:t>cache</a:t>
              </a:r>
            </a:p>
          </p:txBody>
        </p:sp>
        <p:grpSp>
          <p:nvGrpSpPr>
            <p:cNvPr id="18452" name="Group 26"/>
            <p:cNvGrpSpPr>
              <a:grpSpLocks/>
            </p:cNvGrpSpPr>
            <p:nvPr/>
          </p:nvGrpSpPr>
          <p:grpSpPr bwMode="auto">
            <a:xfrm>
              <a:off x="1536" y="2612"/>
              <a:ext cx="817" cy="881"/>
              <a:chOff x="528" y="768"/>
              <a:chExt cx="973" cy="1074"/>
            </a:xfrm>
          </p:grpSpPr>
          <p:pic>
            <p:nvPicPr>
              <p:cNvPr id="18456" name="Picture 27" descr="MCj0398505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 y="768"/>
                <a:ext cx="973" cy="7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457" name="Text Box 28"/>
              <p:cNvSpPr txBox="1">
                <a:spLocks noChangeArrowheads="1"/>
              </p:cNvSpPr>
              <p:nvPr/>
            </p:nvSpPr>
            <p:spPr bwMode="auto">
              <a:xfrm>
                <a:off x="615" y="1560"/>
                <a:ext cx="628" cy="2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Client</a:t>
                </a:r>
              </a:p>
            </p:txBody>
          </p:sp>
        </p:grpSp>
        <p:sp>
          <p:nvSpPr>
            <p:cNvPr id="18453" name="Rectangle 29"/>
            <p:cNvSpPr>
              <a:spLocks noChangeArrowheads="1"/>
            </p:cNvSpPr>
            <p:nvPr/>
          </p:nvSpPr>
          <p:spPr bwMode="auto">
            <a:xfrm>
              <a:off x="1008" y="2900"/>
              <a:ext cx="528" cy="528"/>
            </a:xfrm>
            <a:prstGeom prst="rect">
              <a:avLst/>
            </a:prstGeom>
            <a:solidFill>
              <a:srgbClr val="53FB25"/>
            </a:solidFill>
            <a:ln w="38100">
              <a:solidFill>
                <a:schemeClr val="tx1"/>
              </a:solidFill>
              <a:miter lim="800000"/>
              <a:headEnd/>
              <a:tailEnd/>
            </a:ln>
          </p:spPr>
          <p:txBody>
            <a:bodyPr wrap="none" lIns="90478" tIns="44445" rIns="90478" bIns="44445"/>
            <a:lstStyle/>
            <a:p>
              <a:pPr marL="228600" indent="-228600"/>
              <a:r>
                <a:rPr lang="en-US" altLang="zh-CN" sz="2000">
                  <a:latin typeface="Helvetica" charset="0"/>
                </a:rPr>
                <a:t>cache</a:t>
              </a:r>
              <a:endParaRPr lang="en-US" altLang="zh-CN">
                <a:latin typeface="Helvetica" charset="0"/>
              </a:endParaRPr>
            </a:p>
          </p:txBody>
        </p:sp>
        <p:sp>
          <p:nvSpPr>
            <p:cNvPr id="18454" name="Rectangle 30"/>
            <p:cNvSpPr>
              <a:spLocks noChangeArrowheads="1"/>
            </p:cNvSpPr>
            <p:nvPr/>
          </p:nvSpPr>
          <p:spPr bwMode="auto">
            <a:xfrm>
              <a:off x="859" y="2084"/>
              <a:ext cx="440" cy="232"/>
            </a:xfrm>
            <a:prstGeom prst="rect">
              <a:avLst/>
            </a:prstGeom>
            <a:solidFill>
              <a:srgbClr val="FFFFFF"/>
            </a:solidFill>
            <a:ln w="38100">
              <a:solidFill>
                <a:schemeClr val="tx1"/>
              </a:solidFill>
              <a:miter lim="800000"/>
              <a:headEnd/>
              <a:tailEnd/>
            </a:ln>
          </p:spPr>
          <p:txBody>
            <a:bodyPr wrap="none" lIns="90478" tIns="44445" rIns="90478" bIns="44445" anchor="ctr"/>
            <a:lstStyle/>
            <a:p>
              <a:pPr marL="228600" indent="-228600"/>
              <a:r>
                <a:rPr lang="en-US" altLang="zh-CN" sz="1600">
                  <a:latin typeface="Helvetica" charset="0"/>
                </a:rPr>
                <a:t>F1:V1</a:t>
              </a:r>
            </a:p>
          </p:txBody>
        </p:sp>
        <p:sp>
          <p:nvSpPr>
            <p:cNvPr id="18455" name="Rectangle 31"/>
            <p:cNvSpPr>
              <a:spLocks noChangeArrowheads="1"/>
            </p:cNvSpPr>
            <p:nvPr/>
          </p:nvSpPr>
          <p:spPr bwMode="auto">
            <a:xfrm>
              <a:off x="1056" y="3140"/>
              <a:ext cx="440" cy="232"/>
            </a:xfrm>
            <a:prstGeom prst="rect">
              <a:avLst/>
            </a:prstGeom>
            <a:solidFill>
              <a:srgbClr val="FFFF00"/>
            </a:solidFill>
            <a:ln w="38100">
              <a:solidFill>
                <a:schemeClr val="tx1"/>
              </a:solidFill>
              <a:miter lim="800000"/>
              <a:headEnd/>
              <a:tailEnd/>
            </a:ln>
          </p:spPr>
          <p:txBody>
            <a:bodyPr wrap="none" lIns="90478" tIns="44445" rIns="90478" bIns="44445" anchor="ctr"/>
            <a:lstStyle/>
            <a:p>
              <a:pPr marL="228600" indent="-228600"/>
              <a:r>
                <a:rPr lang="en-US" altLang="zh-CN" sz="1600">
                  <a:latin typeface="Helvetica" charset="0"/>
                </a:rPr>
                <a:t>F1:V2</a:t>
              </a:r>
            </a:p>
          </p:txBody>
        </p:sp>
      </p:grpSp>
      <p:sp>
        <p:nvSpPr>
          <p:cNvPr id="1086496" name="Rectangle 32"/>
          <p:cNvSpPr>
            <a:spLocks noChangeArrowheads="1"/>
          </p:cNvSpPr>
          <p:nvPr/>
        </p:nvSpPr>
        <p:spPr bwMode="auto">
          <a:xfrm>
            <a:off x="1363663" y="3294063"/>
            <a:ext cx="698500" cy="368300"/>
          </a:xfrm>
          <a:prstGeom prst="rect">
            <a:avLst/>
          </a:prstGeom>
          <a:solidFill>
            <a:srgbClr val="FFFF00"/>
          </a:solidFill>
          <a:ln w="38100">
            <a:solidFill>
              <a:schemeClr val="tx1"/>
            </a:solidFill>
            <a:miter lim="800000"/>
            <a:headEnd/>
            <a:tailEnd/>
          </a:ln>
        </p:spPr>
        <p:txBody>
          <a:bodyPr wrap="none" lIns="90478" tIns="44445" rIns="90478" bIns="44445" anchor="ctr"/>
          <a:lstStyle/>
          <a:p>
            <a:pPr marL="228600" indent="-228600"/>
            <a:r>
              <a:rPr lang="en-US" altLang="zh-CN" sz="1600">
                <a:latin typeface="Helvetica" charset="0"/>
              </a:rPr>
              <a:t>F1:V2</a:t>
            </a:r>
          </a:p>
        </p:txBody>
      </p:sp>
      <p:sp>
        <p:nvSpPr>
          <p:cNvPr id="18437" name="Rectangle 33"/>
          <p:cNvSpPr>
            <a:spLocks noGrp="1" noChangeArrowheads="1"/>
          </p:cNvSpPr>
          <p:nvPr>
            <p:ph type="title"/>
          </p:nvPr>
        </p:nvSpPr>
        <p:spPr/>
        <p:txBody>
          <a:bodyPr/>
          <a:lstStyle/>
          <a:p>
            <a:r>
              <a:rPr lang="en-US" altLang="ko-KR">
                <a:latin typeface="Helvetica" charset="0"/>
                <a:ea typeface="Gulim" charset="0"/>
                <a:cs typeface="Gulim" charset="0"/>
              </a:rPr>
              <a:t>NFS Cache consistency</a:t>
            </a:r>
          </a:p>
        </p:txBody>
      </p:sp>
      <p:grpSp>
        <p:nvGrpSpPr>
          <p:cNvPr id="10" name="Group 34"/>
          <p:cNvGrpSpPr>
            <a:grpSpLocks/>
          </p:cNvGrpSpPr>
          <p:nvPr/>
        </p:nvGrpSpPr>
        <p:grpSpPr bwMode="auto">
          <a:xfrm>
            <a:off x="3497263" y="2924175"/>
            <a:ext cx="2058987" cy="366713"/>
            <a:chOff x="1877" y="446"/>
            <a:chExt cx="1060" cy="231"/>
          </a:xfrm>
        </p:grpSpPr>
        <p:sp>
          <p:nvSpPr>
            <p:cNvPr id="18442" name="Line 35"/>
            <p:cNvSpPr>
              <a:spLocks noChangeShapeType="1"/>
            </p:cNvSpPr>
            <p:nvPr/>
          </p:nvSpPr>
          <p:spPr bwMode="auto">
            <a:xfrm flipV="1">
              <a:off x="1877" y="628"/>
              <a:ext cx="1060"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lIns="90478" tIns="44445" rIns="90478" bIns="44445" anchor="ctr"/>
            <a:lstStyle/>
            <a:p>
              <a:endParaRPr lang="en-US"/>
            </a:p>
          </p:txBody>
        </p:sp>
        <p:sp>
          <p:nvSpPr>
            <p:cNvPr id="18443" name="Text Box 36"/>
            <p:cNvSpPr txBox="1">
              <a:spLocks noChangeArrowheads="1"/>
            </p:cNvSpPr>
            <p:nvPr/>
          </p:nvSpPr>
          <p:spPr bwMode="auto">
            <a:xfrm>
              <a:off x="2071" y="446"/>
              <a:ext cx="715"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F1 still ok?</a:t>
              </a:r>
            </a:p>
          </p:txBody>
        </p:sp>
      </p:grpSp>
      <p:grpSp>
        <p:nvGrpSpPr>
          <p:cNvPr id="11" name="Group 37"/>
          <p:cNvGrpSpPr>
            <a:grpSpLocks/>
          </p:cNvGrpSpPr>
          <p:nvPr/>
        </p:nvGrpSpPr>
        <p:grpSpPr bwMode="auto">
          <a:xfrm>
            <a:off x="3436938" y="3308350"/>
            <a:ext cx="2043112" cy="366713"/>
            <a:chOff x="1877" y="912"/>
            <a:chExt cx="1060" cy="231"/>
          </a:xfrm>
        </p:grpSpPr>
        <p:sp>
          <p:nvSpPr>
            <p:cNvPr id="18440" name="Line 38"/>
            <p:cNvSpPr>
              <a:spLocks noChangeShapeType="1"/>
            </p:cNvSpPr>
            <p:nvPr/>
          </p:nvSpPr>
          <p:spPr bwMode="auto">
            <a:xfrm flipH="1" flipV="1">
              <a:off x="1877" y="932"/>
              <a:ext cx="1060"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lIns="90478" tIns="44445" rIns="90478" bIns="44445" anchor="ctr"/>
            <a:lstStyle/>
            <a:p>
              <a:endParaRPr lang="en-US"/>
            </a:p>
          </p:txBody>
        </p:sp>
        <p:sp>
          <p:nvSpPr>
            <p:cNvPr id="18441" name="Text Box 39"/>
            <p:cNvSpPr txBox="1">
              <a:spLocks noChangeArrowheads="1"/>
            </p:cNvSpPr>
            <p:nvPr/>
          </p:nvSpPr>
          <p:spPr bwMode="auto">
            <a:xfrm>
              <a:off x="2071" y="912"/>
              <a:ext cx="733"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No: (F1:V2)</a:t>
              </a:r>
            </a:p>
          </p:txBody>
        </p:sp>
      </p:grpSp>
    </p:spTree>
    <p:extLst>
      <p:ext uri="{BB962C8B-B14F-4D97-AF65-F5344CB8AC3E}">
        <p14:creationId xmlns:p14="http://schemas.microsoft.com/office/powerpoint/2010/main" val="29911050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86466">
                                            <p:txEl>
                                              <p:pRg st="0" end="0"/>
                                            </p:txEl>
                                          </p:spTgt>
                                        </p:tgtEl>
                                        <p:attrNameLst>
                                          <p:attrName>style.visibility</p:attrName>
                                        </p:attrNameLst>
                                      </p:cBhvr>
                                      <p:to>
                                        <p:strVal val="visible"/>
                                      </p:to>
                                    </p:set>
                                    <p:anim calcmode="lin" valueType="num">
                                      <p:cBhvr additive="base">
                                        <p:cTn id="7" dur="500" fill="hold"/>
                                        <p:tgtEl>
                                          <p:spTgt spid="108646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8646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86466">
                                            <p:txEl>
                                              <p:pRg st="1" end="1"/>
                                            </p:txEl>
                                          </p:spTgt>
                                        </p:tgtEl>
                                        <p:attrNameLst>
                                          <p:attrName>style.visibility</p:attrName>
                                        </p:attrNameLst>
                                      </p:cBhvr>
                                      <p:to>
                                        <p:strVal val="visible"/>
                                      </p:to>
                                    </p:set>
                                    <p:anim calcmode="lin" valueType="num">
                                      <p:cBhvr additive="base">
                                        <p:cTn id="13" dur="500" fill="hold"/>
                                        <p:tgtEl>
                                          <p:spTgt spid="1086466">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86466">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1086466">
                                            <p:txEl>
                                              <p:pRg st="2" end="2"/>
                                            </p:txEl>
                                          </p:spTgt>
                                        </p:tgtEl>
                                        <p:attrNameLst>
                                          <p:attrName>style.visibility</p:attrName>
                                        </p:attrNameLst>
                                      </p:cBhvr>
                                      <p:to>
                                        <p:strVal val="visible"/>
                                      </p:to>
                                    </p:set>
                                    <p:anim calcmode="lin" valueType="num">
                                      <p:cBhvr additive="base">
                                        <p:cTn id="17" dur="500" fill="hold"/>
                                        <p:tgtEl>
                                          <p:spTgt spid="1086466">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086466">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086466">
                                            <p:txEl>
                                              <p:pRg st="3" end="3"/>
                                            </p:txEl>
                                          </p:spTgt>
                                        </p:tgtEl>
                                        <p:attrNameLst>
                                          <p:attrName>style.visibility</p:attrName>
                                        </p:attrNameLst>
                                      </p:cBhvr>
                                      <p:to>
                                        <p:strVal val="visible"/>
                                      </p:to>
                                    </p:set>
                                    <p:anim calcmode="lin" valueType="num">
                                      <p:cBhvr additive="base">
                                        <p:cTn id="21" dur="500" fill="hold"/>
                                        <p:tgtEl>
                                          <p:spTgt spid="1086466">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08646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2"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right)">
                                      <p:cBhvr>
                                        <p:cTn id="36" dur="500"/>
                                        <p:tgtEl>
                                          <p:spTgt spid="11"/>
                                        </p:tgtEl>
                                      </p:cBhvr>
                                    </p:animEffect>
                                  </p:childTnLst>
                                </p:cTn>
                              </p:par>
                            </p:childTnLst>
                          </p:cTn>
                        </p:par>
                        <p:par>
                          <p:cTn id="37" fill="hold" nodeType="afterGroup">
                            <p:stCondLst>
                              <p:cond delay="500"/>
                            </p:stCondLst>
                            <p:childTnLst>
                              <p:par>
                                <p:cTn id="38" presetID="1" presetClass="entr" presetSubtype="0" fill="hold" grpId="0" nodeType="afterEffect">
                                  <p:stCondLst>
                                    <p:cond delay="0"/>
                                  </p:stCondLst>
                                  <p:childTnLst>
                                    <p:set>
                                      <p:cBhvr>
                                        <p:cTn id="39" dur="1" fill="hold">
                                          <p:stCondLst>
                                            <p:cond delay="0"/>
                                          </p:stCondLst>
                                        </p:cTn>
                                        <p:tgtEl>
                                          <p:spTgt spid="1086496"/>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2" fill="hold" grpId="0" nodeType="clickEffect">
                                  <p:stCondLst>
                                    <p:cond delay="0"/>
                                  </p:stCondLst>
                                  <p:childTnLst>
                                    <p:set>
                                      <p:cBhvr>
                                        <p:cTn id="43" dur="1" fill="hold">
                                          <p:stCondLst>
                                            <p:cond delay="0"/>
                                          </p:stCondLst>
                                        </p:cTn>
                                        <p:tgtEl>
                                          <p:spTgt spid="1086466">
                                            <p:txEl>
                                              <p:pRg st="13" end="13"/>
                                            </p:txEl>
                                          </p:spTgt>
                                        </p:tgtEl>
                                        <p:attrNameLst>
                                          <p:attrName>style.visibility</p:attrName>
                                        </p:attrNameLst>
                                      </p:cBhvr>
                                      <p:to>
                                        <p:strVal val="visible"/>
                                      </p:to>
                                    </p:set>
                                    <p:anim calcmode="lin" valueType="num">
                                      <p:cBhvr additive="base">
                                        <p:cTn id="44" dur="500" fill="hold"/>
                                        <p:tgtEl>
                                          <p:spTgt spid="1086466">
                                            <p:txEl>
                                              <p:pRg st="13" end="13"/>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1086466">
                                            <p:txEl>
                                              <p:pRg st="13" end="13"/>
                                            </p:txEl>
                                          </p:spTgt>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0"/>
                                  </p:stCondLst>
                                  <p:childTnLst>
                                    <p:set>
                                      <p:cBhvr>
                                        <p:cTn id="47" dur="1" fill="hold">
                                          <p:stCondLst>
                                            <p:cond delay="0"/>
                                          </p:stCondLst>
                                        </p:cTn>
                                        <p:tgtEl>
                                          <p:spTgt spid="1086466">
                                            <p:txEl>
                                              <p:pRg st="14" end="14"/>
                                            </p:txEl>
                                          </p:spTgt>
                                        </p:tgtEl>
                                        <p:attrNameLst>
                                          <p:attrName>style.visibility</p:attrName>
                                        </p:attrNameLst>
                                      </p:cBhvr>
                                      <p:to>
                                        <p:strVal val="visible"/>
                                      </p:to>
                                    </p:set>
                                    <p:anim calcmode="lin" valueType="num">
                                      <p:cBhvr additive="base">
                                        <p:cTn id="48" dur="500" fill="hold"/>
                                        <p:tgtEl>
                                          <p:spTgt spid="1086466">
                                            <p:txEl>
                                              <p:pRg st="14" end="14"/>
                                            </p:txEl>
                                          </p:spTgt>
                                        </p:tgtEl>
                                        <p:attrNameLst>
                                          <p:attrName>ppt_x</p:attrName>
                                        </p:attrNameLst>
                                      </p:cBhvr>
                                      <p:tavLst>
                                        <p:tav tm="0">
                                          <p:val>
                                            <p:strVal val="1+#ppt_w/2"/>
                                          </p:val>
                                        </p:tav>
                                        <p:tav tm="100000">
                                          <p:val>
                                            <p:strVal val="#ppt_x"/>
                                          </p:val>
                                        </p:tav>
                                      </p:tavLst>
                                    </p:anim>
                                    <p:anim calcmode="lin" valueType="num">
                                      <p:cBhvr additive="base">
                                        <p:cTn id="49" dur="500" fill="hold"/>
                                        <p:tgtEl>
                                          <p:spTgt spid="1086466">
                                            <p:txEl>
                                              <p:pRg st="14" end="14"/>
                                            </p:txEl>
                                          </p:spTgt>
                                        </p:tgtEl>
                                        <p:attrNameLst>
                                          <p:attrName>ppt_y</p:attrName>
                                        </p:attrNameLst>
                                      </p:cBhvr>
                                      <p:tavLst>
                                        <p:tav tm="0">
                                          <p:val>
                                            <p:strVal val="#ppt_y"/>
                                          </p:val>
                                        </p:tav>
                                        <p:tav tm="100000">
                                          <p:val>
                                            <p:strVal val="#ppt_y"/>
                                          </p:val>
                                        </p:tav>
                                      </p:tavLst>
                                    </p:anim>
                                  </p:childTnLst>
                                </p:cTn>
                              </p:par>
                              <p:par>
                                <p:cTn id="50" presetID="2" presetClass="entr" presetSubtype="2" fill="hold" grpId="0" nodeType="withEffect">
                                  <p:stCondLst>
                                    <p:cond delay="0"/>
                                  </p:stCondLst>
                                  <p:childTnLst>
                                    <p:set>
                                      <p:cBhvr>
                                        <p:cTn id="51" dur="1" fill="hold">
                                          <p:stCondLst>
                                            <p:cond delay="0"/>
                                          </p:stCondLst>
                                        </p:cTn>
                                        <p:tgtEl>
                                          <p:spTgt spid="1086466">
                                            <p:txEl>
                                              <p:pRg st="15" end="15"/>
                                            </p:txEl>
                                          </p:spTgt>
                                        </p:tgtEl>
                                        <p:attrNameLst>
                                          <p:attrName>style.visibility</p:attrName>
                                        </p:attrNameLst>
                                      </p:cBhvr>
                                      <p:to>
                                        <p:strVal val="visible"/>
                                      </p:to>
                                    </p:set>
                                    <p:anim calcmode="lin" valueType="num">
                                      <p:cBhvr additive="base">
                                        <p:cTn id="52" dur="500" fill="hold"/>
                                        <p:tgtEl>
                                          <p:spTgt spid="1086466">
                                            <p:txEl>
                                              <p:pRg st="15" end="15"/>
                                            </p:txEl>
                                          </p:spTgt>
                                        </p:tgtEl>
                                        <p:attrNameLst>
                                          <p:attrName>ppt_x</p:attrName>
                                        </p:attrNameLst>
                                      </p:cBhvr>
                                      <p:tavLst>
                                        <p:tav tm="0">
                                          <p:val>
                                            <p:strVal val="1+#ppt_w/2"/>
                                          </p:val>
                                        </p:tav>
                                        <p:tav tm="100000">
                                          <p:val>
                                            <p:strVal val="#ppt_x"/>
                                          </p:val>
                                        </p:tav>
                                      </p:tavLst>
                                    </p:anim>
                                    <p:anim calcmode="lin" valueType="num">
                                      <p:cBhvr additive="base">
                                        <p:cTn id="53" dur="500" fill="hold"/>
                                        <p:tgtEl>
                                          <p:spTgt spid="1086466">
                                            <p:txEl>
                                              <p:pRg st="15" end="1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6466" grpId="0" build="p"/>
      <p:bldP spid="108649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ko-KR" dirty="0">
                <a:latin typeface="Helvetica" charset="0"/>
                <a:ea typeface="Gulim" charset="0"/>
                <a:cs typeface="Gulim" charset="0"/>
              </a:rPr>
              <a:t>NFS Pros and Cons</a:t>
            </a:r>
          </a:p>
        </p:txBody>
      </p:sp>
      <p:sp>
        <p:nvSpPr>
          <p:cNvPr id="19459" name="Rectangle 3"/>
          <p:cNvSpPr>
            <a:spLocks noGrp="1" noChangeArrowheads="1"/>
          </p:cNvSpPr>
          <p:nvPr>
            <p:ph type="body" idx="1"/>
          </p:nvPr>
        </p:nvSpPr>
        <p:spPr/>
        <p:txBody>
          <a:bodyPr/>
          <a:lstStyle/>
          <a:p>
            <a:r>
              <a:rPr lang="en-US" altLang="ko-KR" dirty="0">
                <a:latin typeface="Helvetica" charset="0"/>
                <a:ea typeface="Gulim" charset="0"/>
                <a:cs typeface="Gulim" charset="0"/>
              </a:rPr>
              <a:t>NFS Pros:</a:t>
            </a:r>
          </a:p>
          <a:p>
            <a:pPr lvl="1"/>
            <a:r>
              <a:rPr lang="en-US" altLang="ko-KR" dirty="0">
                <a:latin typeface="Helvetica" charset="0"/>
                <a:ea typeface="Gulim" charset="0"/>
                <a:cs typeface="Gulim" charset="0"/>
              </a:rPr>
              <a:t>Simple, Highly portable</a:t>
            </a:r>
          </a:p>
          <a:p>
            <a:r>
              <a:rPr lang="en-US" altLang="ko-KR" dirty="0">
                <a:latin typeface="Helvetica" charset="0"/>
                <a:ea typeface="Gulim" charset="0"/>
                <a:cs typeface="Gulim" charset="0"/>
              </a:rPr>
              <a:t>NFS Cons:</a:t>
            </a:r>
          </a:p>
          <a:p>
            <a:pPr lvl="1"/>
            <a:r>
              <a:rPr lang="en-US" altLang="ko-KR" dirty="0">
                <a:latin typeface="Helvetica" charset="0"/>
                <a:ea typeface="Gulim" charset="0"/>
                <a:cs typeface="Gulim" charset="0"/>
              </a:rPr>
              <a:t>Sometimes inconsistent!</a:t>
            </a:r>
          </a:p>
          <a:p>
            <a:pPr lvl="1"/>
            <a:r>
              <a:rPr lang="en-US" altLang="ko-KR" dirty="0">
                <a:latin typeface="Helvetica" charset="0"/>
                <a:ea typeface="Gulim" charset="0"/>
                <a:cs typeface="Gulim" charset="0"/>
              </a:rPr>
              <a:t>Doesn’t scale to large # clients</a:t>
            </a:r>
          </a:p>
          <a:p>
            <a:pPr lvl="2"/>
            <a:r>
              <a:rPr lang="en-US" altLang="ko-KR" dirty="0">
                <a:latin typeface="Helvetica" charset="0"/>
                <a:ea typeface="Gulim" charset="0"/>
                <a:cs typeface="Gulim" charset="0"/>
              </a:rPr>
              <a:t>Must keep checking to see if caches out of date</a:t>
            </a:r>
          </a:p>
          <a:p>
            <a:pPr lvl="2"/>
            <a:r>
              <a:rPr lang="en-US" altLang="ko-KR" dirty="0">
                <a:latin typeface="Helvetica" charset="0"/>
                <a:ea typeface="Gulim" charset="0"/>
                <a:cs typeface="Gulim" charset="0"/>
              </a:rPr>
              <a:t>Server becomes bottleneck due to polling traffic</a:t>
            </a:r>
          </a:p>
          <a:p>
            <a:pPr lvl="2">
              <a:lnSpc>
                <a:spcPct val="80000"/>
              </a:lnSpc>
            </a:pPr>
            <a:r>
              <a:rPr lang="en-US" altLang="en-US" dirty="0">
                <a:latin typeface="Helvetica" charset="0"/>
                <a:ea typeface="Gulim" charset="0"/>
              </a:rPr>
              <a:t>Probably does</a:t>
            </a:r>
            <a:r>
              <a:rPr lang="zh-CN" altLang="en-US" dirty="0">
                <a:latin typeface="Helvetica" charset="0"/>
                <a:ea typeface="Gulim" charset="0"/>
              </a:rPr>
              <a:t> </a:t>
            </a:r>
            <a:r>
              <a:rPr lang="en-US" altLang="en-US" dirty="0">
                <a:latin typeface="Helvetica" charset="0"/>
                <a:ea typeface="Gulim" charset="0"/>
              </a:rPr>
              <a:t>n</a:t>
            </a:r>
            <a:r>
              <a:rPr lang="en-US" altLang="zh-CN" dirty="0">
                <a:latin typeface="Helvetica" charset="0"/>
                <a:ea typeface="Gulim" charset="0"/>
              </a:rPr>
              <a:t>o</a:t>
            </a:r>
            <a:r>
              <a:rPr lang="en-US" altLang="ja-JP" dirty="0">
                <a:latin typeface="Helvetica" charset="0"/>
                <a:ea typeface="Gulim" charset="0"/>
              </a:rPr>
              <a:t>t handle scale (* - you can buy huge NFS appliances today that will, but they</a:t>
            </a:r>
            <a:r>
              <a:rPr lang="ja-JP" altLang="en-US">
                <a:latin typeface="Helvetica" charset="0"/>
                <a:ea typeface="Gulim" charset="0"/>
              </a:rPr>
              <a:t>’</a:t>
            </a:r>
            <a:r>
              <a:rPr lang="en-US" altLang="ja-JP" dirty="0">
                <a:latin typeface="Helvetica" charset="0"/>
                <a:ea typeface="Gulim" charset="0"/>
              </a:rPr>
              <a:t>re $$$-y).</a:t>
            </a:r>
          </a:p>
          <a:p>
            <a:pPr lvl="2">
              <a:lnSpc>
                <a:spcPct val="80000"/>
              </a:lnSpc>
            </a:pPr>
            <a:r>
              <a:rPr lang="en-US" altLang="en-US" dirty="0">
                <a:latin typeface="Helvetica" charset="0"/>
                <a:ea typeface="Gulim" charset="0"/>
              </a:rPr>
              <a:t>Is very sensitive to network latency</a:t>
            </a:r>
          </a:p>
          <a:p>
            <a:endParaRPr lang="ko-KR" altLang="en-US" dirty="0">
              <a:latin typeface="Helvetica" charset="0"/>
              <a:ea typeface="Gulim" charset="0"/>
              <a:cs typeface="Gulim" charset="0"/>
            </a:endParaRPr>
          </a:p>
        </p:txBody>
      </p:sp>
    </p:spTree>
    <p:extLst>
      <p:ext uri="{BB962C8B-B14F-4D97-AF65-F5344CB8AC3E}">
        <p14:creationId xmlns:p14="http://schemas.microsoft.com/office/powerpoint/2010/main" val="8393706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9757B426-046C-E84F-80C5-ADC8D16E867C}"/>
              </a:ext>
            </a:extLst>
          </p:cNvPr>
          <p:cNvSpPr>
            <a:spLocks noGrp="1" noChangeArrowheads="1"/>
          </p:cNvSpPr>
          <p:nvPr>
            <p:ph type="title"/>
          </p:nvPr>
        </p:nvSpPr>
        <p:spPr/>
        <p:txBody>
          <a:bodyPr/>
          <a:lstStyle/>
          <a:p>
            <a:r>
              <a:rPr lang="en-US" altLang="zh-CN" dirty="0"/>
              <a:t>Andrew</a:t>
            </a:r>
            <a:r>
              <a:rPr lang="zh-CN" altLang="en-US" dirty="0"/>
              <a:t> </a:t>
            </a:r>
            <a:r>
              <a:rPr lang="en-US" altLang="zh-CN" dirty="0"/>
              <a:t>File</a:t>
            </a:r>
            <a:r>
              <a:rPr lang="zh-CN" altLang="en-US" dirty="0"/>
              <a:t> </a:t>
            </a:r>
            <a:r>
              <a:rPr lang="en-US" altLang="zh-CN" dirty="0"/>
              <a:t>System</a:t>
            </a:r>
            <a:endParaRPr lang="en-GB" altLang="en-US" dirty="0"/>
          </a:p>
        </p:txBody>
      </p:sp>
      <p:sp>
        <p:nvSpPr>
          <p:cNvPr id="51202" name="Rectangle 3">
            <a:extLst>
              <a:ext uri="{FF2B5EF4-FFF2-40B4-BE49-F238E27FC236}">
                <a16:creationId xmlns:a16="http://schemas.microsoft.com/office/drawing/2014/main" id="{FC9AACEF-0F65-D143-8BCA-4499B9AB9F54}"/>
              </a:ext>
            </a:extLst>
          </p:cNvPr>
          <p:cNvSpPr>
            <a:spLocks noGrp="1" noChangeArrowheads="1"/>
          </p:cNvSpPr>
          <p:nvPr>
            <p:ph type="body" idx="1"/>
          </p:nvPr>
        </p:nvSpPr>
        <p:spPr>
          <a:xfrm>
            <a:off x="609600" y="1201782"/>
            <a:ext cx="7924800" cy="4818017"/>
          </a:xfrm>
        </p:spPr>
        <p:txBody>
          <a:bodyPr/>
          <a:lstStyle/>
          <a:p>
            <a:r>
              <a:rPr lang="en-US" altLang="zh-CN" dirty="0"/>
              <a:t>Developed</a:t>
            </a:r>
            <a:r>
              <a:rPr lang="zh-CN" altLang="en-US" dirty="0"/>
              <a:t> </a:t>
            </a:r>
            <a:r>
              <a:rPr lang="en-US" altLang="zh-CN" dirty="0"/>
              <a:t>at</a:t>
            </a:r>
            <a:r>
              <a:rPr lang="zh-CN" altLang="en-US" dirty="0"/>
              <a:t> </a:t>
            </a:r>
            <a:r>
              <a:rPr lang="en-US" altLang="zh-CN" dirty="0"/>
              <a:t>CMU</a:t>
            </a:r>
            <a:r>
              <a:rPr lang="zh-CN" altLang="en-US" dirty="0"/>
              <a:t> </a:t>
            </a:r>
            <a:r>
              <a:rPr lang="en-US" altLang="zh-CN" dirty="0"/>
              <a:t>in</a:t>
            </a:r>
            <a:r>
              <a:rPr lang="zh-CN" altLang="en-US" dirty="0"/>
              <a:t> </a:t>
            </a:r>
            <a:r>
              <a:rPr lang="en-US" altLang="zh-CN" dirty="0"/>
              <a:t>the</a:t>
            </a:r>
            <a:r>
              <a:rPr lang="zh-CN" altLang="en-US" dirty="0"/>
              <a:t> </a:t>
            </a:r>
            <a:r>
              <a:rPr lang="en-US" altLang="zh-CN" dirty="0"/>
              <a:t>late</a:t>
            </a:r>
            <a:r>
              <a:rPr lang="zh-CN" altLang="en-US" dirty="0"/>
              <a:t> </a:t>
            </a:r>
            <a:r>
              <a:rPr lang="en-US" altLang="zh-CN" dirty="0"/>
              <a:t>1980s</a:t>
            </a:r>
            <a:endParaRPr lang="en-GB" altLang="en-US" dirty="0"/>
          </a:p>
          <a:p>
            <a:r>
              <a:rPr lang="en-GB" altLang="en-US" dirty="0"/>
              <a:t>Global distributed file system</a:t>
            </a:r>
          </a:p>
          <a:p>
            <a:pPr lvl="1"/>
            <a:r>
              <a:rPr lang="en-GB" altLang="en-US" dirty="0"/>
              <a:t>“One AFS”, like “one Internet”</a:t>
            </a:r>
          </a:p>
          <a:p>
            <a:pPr lvl="2"/>
            <a:r>
              <a:rPr lang="en-GB" altLang="en-US" dirty="0"/>
              <a:t>Why would you want more than one?</a:t>
            </a:r>
          </a:p>
          <a:p>
            <a:endParaRPr lang="en-GB" altLang="en-US" b="1" dirty="0">
              <a:solidFill>
                <a:srgbClr val="FF0000"/>
              </a:solidFill>
            </a:endParaRPr>
          </a:p>
          <a:p>
            <a:r>
              <a:rPr lang="en-GB" altLang="en-US" b="1" dirty="0">
                <a:solidFill>
                  <a:srgbClr val="FF0000"/>
                </a:solidFill>
              </a:rPr>
              <a:t>LARGE </a:t>
            </a:r>
            <a:r>
              <a:rPr lang="en-GB" altLang="en-US" dirty="0"/>
              <a:t>numbers of clients, servers</a:t>
            </a:r>
          </a:p>
          <a:p>
            <a:pPr lvl="1"/>
            <a:r>
              <a:rPr lang="en-GB" altLang="en-US" dirty="0"/>
              <a:t>1000 machines could cache a single file,</a:t>
            </a:r>
          </a:p>
          <a:p>
            <a:pPr lvl="1"/>
            <a:r>
              <a:rPr lang="en-GB" altLang="en-US" dirty="0"/>
              <a:t>Most local, some (very) remote</a:t>
            </a:r>
          </a:p>
          <a:p>
            <a:endParaRPr lang="en-GB" altLang="en-US" dirty="0"/>
          </a:p>
          <a:p>
            <a:r>
              <a:rPr lang="en-GB" altLang="en-US" dirty="0"/>
              <a:t>Goal: Minimize</a:t>
            </a:r>
            <a:r>
              <a:rPr lang="zh-CN" altLang="en-US" dirty="0"/>
              <a:t> </a:t>
            </a:r>
            <a:r>
              <a:rPr lang="en-GB" altLang="en-US" dirty="0"/>
              <a:t>/</a:t>
            </a:r>
            <a:r>
              <a:rPr lang="zh-CN" altLang="en-US" dirty="0"/>
              <a:t> </a:t>
            </a:r>
            <a:r>
              <a:rPr lang="en-GB" altLang="en-US" dirty="0"/>
              <a:t>eliminate work per client operation</a:t>
            </a:r>
          </a:p>
          <a:p>
            <a:pPr lvl="1"/>
            <a:r>
              <a:rPr lang="en-GB" altLang="en-US" dirty="0">
                <a:latin typeface="Arial" panose="020B0604020202020204" pitchFamily="34" charset="0"/>
                <a:ea typeface="ＭＳ Ｐゴシック" panose="020B0600070205080204" pitchFamily="34" charset="-128"/>
              </a:rPr>
              <a:t>O(1) </a:t>
            </a:r>
            <a:r>
              <a:rPr lang="en-US" altLang="zh-CN" dirty="0">
                <a:latin typeface="Arial" panose="020B0604020202020204" pitchFamily="34" charset="0"/>
                <a:ea typeface="ＭＳ Ｐゴシック" panose="020B0600070205080204" pitchFamily="34" charset="-128"/>
              </a:rPr>
              <a:t>work</a:t>
            </a:r>
            <a:r>
              <a:rPr lang="zh-CN" altLang="en-US" dirty="0">
                <a:latin typeface="Arial" panose="020B0604020202020204" pitchFamily="34" charset="0"/>
                <a:ea typeface="ＭＳ Ｐゴシック" panose="020B0600070205080204" pitchFamily="34" charset="-128"/>
              </a:rPr>
              <a:t> </a:t>
            </a:r>
            <a:r>
              <a:rPr lang="en-US" altLang="zh-CN" dirty="0">
                <a:latin typeface="Arial" panose="020B0604020202020204" pitchFamily="34" charset="0"/>
                <a:ea typeface="ＭＳ Ｐゴシック" panose="020B0600070205080204" pitchFamily="34" charset="-128"/>
              </a:rPr>
              <a:t>per</a:t>
            </a:r>
            <a:r>
              <a:rPr lang="zh-CN" altLang="en-US" dirty="0">
                <a:latin typeface="Arial" panose="020B0604020202020204" pitchFamily="34" charset="0"/>
                <a:ea typeface="ＭＳ Ｐゴシック" panose="020B0600070205080204" pitchFamily="34" charset="-128"/>
              </a:rPr>
              <a:t> </a:t>
            </a:r>
            <a:r>
              <a:rPr lang="en-US" altLang="zh-CN" dirty="0">
                <a:latin typeface="Arial" panose="020B0604020202020204" pitchFamily="34" charset="0"/>
                <a:ea typeface="ＭＳ Ｐゴシック" panose="020B0600070205080204" pitchFamily="34" charset="-128"/>
              </a:rPr>
              <a:t>client</a:t>
            </a:r>
            <a:r>
              <a:rPr lang="zh-CN" altLang="en-US" dirty="0">
                <a:latin typeface="Arial" panose="020B0604020202020204" pitchFamily="34" charset="0"/>
                <a:ea typeface="ＭＳ Ｐゴシック" panose="020B0600070205080204" pitchFamily="34" charset="-128"/>
              </a:rPr>
              <a:t> </a:t>
            </a:r>
            <a:r>
              <a:rPr lang="en-GB" altLang="en-US" dirty="0">
                <a:latin typeface="Arial" panose="020B0604020202020204" pitchFamily="34" charset="0"/>
                <a:ea typeface="ＭＳ Ｐゴシック" panose="020B0600070205080204" pitchFamily="34" charset="-128"/>
              </a:rPr>
              <a:t>may just be too expensive!</a:t>
            </a:r>
            <a:r>
              <a:rPr lang="en-GB" altLang="en-US" dirty="0"/>
              <a:t> </a:t>
            </a:r>
            <a:endParaRPr lang="en-GB" altLang="en-US" dirty="0">
              <a:latin typeface="Arial" panose="020B0604020202020204" pitchFamily="34" charset="0"/>
              <a:ea typeface="ＭＳ Ｐゴシック" panose="020B0600070205080204" pitchFamily="34" charset="-128"/>
            </a:endParaRPr>
          </a:p>
        </p:txBody>
      </p:sp>
      <p:sp>
        <p:nvSpPr>
          <p:cNvPr id="51203" name="Slide Number Placeholder 5">
            <a:extLst>
              <a:ext uri="{FF2B5EF4-FFF2-40B4-BE49-F238E27FC236}">
                <a16:creationId xmlns:a16="http://schemas.microsoft.com/office/drawing/2014/main" id="{5075E984-2CD6-6247-91C6-EF7865E83233}"/>
              </a:ext>
            </a:extLst>
          </p:cNvPr>
          <p:cNvSpPr>
            <a:spLocks noGrp="1"/>
          </p:cNvSpPr>
          <p:nvPr>
            <p:ph type="sldNum" sz="quarter" idx="12"/>
          </p:nvPr>
        </p:nvSpPr>
        <p:spPr>
          <a:xfrm>
            <a:off x="8610600" y="6356350"/>
            <a:ext cx="27432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buClrTx/>
              <a:buFontTx/>
              <a:buNone/>
            </a:pPr>
            <a:fld id="{F5D08561-63DB-7B43-8526-C5AEAED4EA36}" type="slidenum">
              <a:rPr lang="en-CN" smtClean="0"/>
              <a:pPr>
                <a:spcBef>
                  <a:spcPct val="0"/>
                </a:spcBef>
                <a:buClrTx/>
                <a:buFontTx/>
                <a:buNone/>
              </a:pPr>
              <a:t>20</a:t>
            </a:fld>
            <a:endParaRPr lang="en-US" altLang="en-US" sz="1050"/>
          </a:p>
        </p:txBody>
      </p:sp>
    </p:spTree>
    <p:extLst>
      <p:ext uri="{BB962C8B-B14F-4D97-AF65-F5344CB8AC3E}">
        <p14:creationId xmlns:p14="http://schemas.microsoft.com/office/powerpoint/2010/main" val="426622851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5F656819-A44C-D74F-BE63-3F9FB036861B}"/>
              </a:ext>
            </a:extLst>
          </p:cNvPr>
          <p:cNvSpPr>
            <a:spLocks noGrp="1" noChangeArrowheads="1"/>
          </p:cNvSpPr>
          <p:nvPr>
            <p:ph type="title"/>
          </p:nvPr>
        </p:nvSpPr>
        <p:spPr/>
        <p:txBody>
          <a:bodyPr/>
          <a:lstStyle/>
          <a:p>
            <a:r>
              <a:rPr lang="en-GB" altLang="en-US"/>
              <a:t>AFS Assumptions</a:t>
            </a:r>
          </a:p>
        </p:txBody>
      </p:sp>
      <p:sp>
        <p:nvSpPr>
          <p:cNvPr id="53250" name="Rectangle 3">
            <a:extLst>
              <a:ext uri="{FF2B5EF4-FFF2-40B4-BE49-F238E27FC236}">
                <a16:creationId xmlns:a16="http://schemas.microsoft.com/office/drawing/2014/main" id="{817B2074-409A-2B48-A06D-E54586AAA083}"/>
              </a:ext>
            </a:extLst>
          </p:cNvPr>
          <p:cNvSpPr>
            <a:spLocks noGrp="1" noChangeArrowheads="1"/>
          </p:cNvSpPr>
          <p:nvPr>
            <p:ph type="body" idx="1"/>
          </p:nvPr>
        </p:nvSpPr>
        <p:spPr/>
        <p:txBody>
          <a:bodyPr/>
          <a:lstStyle/>
          <a:p>
            <a:r>
              <a:rPr lang="en-GB" altLang="en-US" dirty="0"/>
              <a:t>Client machines have disks(!!)</a:t>
            </a:r>
          </a:p>
          <a:p>
            <a:pPr lvl="1"/>
            <a:r>
              <a:rPr lang="en-GB" altLang="en-US" dirty="0"/>
              <a:t>Can cache whole files over long periods</a:t>
            </a:r>
          </a:p>
          <a:p>
            <a:r>
              <a:rPr lang="en-GB" altLang="en-US" dirty="0"/>
              <a:t>Write/write and write/read sharing are rare</a:t>
            </a:r>
          </a:p>
          <a:p>
            <a:pPr lvl="1"/>
            <a:r>
              <a:rPr lang="en-GB" altLang="en-US" dirty="0"/>
              <a:t>Most files updated by one user, on one machine</a:t>
            </a:r>
          </a:p>
          <a:p>
            <a:r>
              <a:rPr lang="en-US" altLang="en-US" dirty="0"/>
              <a:t>Access from local disk is </a:t>
            </a:r>
            <a:r>
              <a:rPr lang="en-US" altLang="zh-CN" dirty="0"/>
              <a:t>faster</a:t>
            </a:r>
            <a:r>
              <a:rPr lang="zh-CN" altLang="en-US" dirty="0"/>
              <a:t> </a:t>
            </a:r>
            <a:r>
              <a:rPr lang="en-US" altLang="zh-CN" dirty="0"/>
              <a:t>and</a:t>
            </a:r>
            <a:r>
              <a:rPr lang="zh-CN" altLang="en-US" dirty="0"/>
              <a:t> </a:t>
            </a:r>
            <a:r>
              <a:rPr lang="en-US" altLang="zh-CN" dirty="0"/>
              <a:t>cheaper</a:t>
            </a:r>
            <a:r>
              <a:rPr lang="zh-CN" altLang="en-US" dirty="0"/>
              <a:t> </a:t>
            </a:r>
            <a:r>
              <a:rPr lang="en-US" altLang="zh-CN" dirty="0"/>
              <a:t>than</a:t>
            </a:r>
            <a:r>
              <a:rPr lang="zh-CN" altLang="en-US" dirty="0"/>
              <a:t> </a:t>
            </a:r>
            <a:r>
              <a:rPr lang="en-US" altLang="zh-CN" dirty="0"/>
              <a:t>from</a:t>
            </a:r>
            <a:r>
              <a:rPr lang="zh-CN" altLang="en-US" dirty="0"/>
              <a:t> </a:t>
            </a:r>
            <a:r>
              <a:rPr lang="en-US" altLang="zh-CN" dirty="0"/>
              <a:t>LANs</a:t>
            </a:r>
          </a:p>
          <a:p>
            <a:pPr lvl="1"/>
            <a:r>
              <a:rPr lang="en-US" altLang="zh-CN" dirty="0"/>
              <a:t>(Not</a:t>
            </a:r>
            <a:r>
              <a:rPr lang="zh-CN" altLang="en-US" dirty="0"/>
              <a:t> </a:t>
            </a:r>
            <a:r>
              <a:rPr lang="en-US" altLang="zh-CN" dirty="0"/>
              <a:t>so</a:t>
            </a:r>
            <a:r>
              <a:rPr lang="zh-CN" altLang="en-US" dirty="0"/>
              <a:t> </a:t>
            </a:r>
            <a:r>
              <a:rPr lang="en-US" altLang="zh-CN" dirty="0"/>
              <a:t>true</a:t>
            </a:r>
            <a:r>
              <a:rPr lang="zh-CN" altLang="en-US" dirty="0"/>
              <a:t> </a:t>
            </a:r>
            <a:r>
              <a:rPr lang="en-US" altLang="zh-CN" dirty="0"/>
              <a:t>now…)</a:t>
            </a:r>
            <a:endParaRPr lang="en-US" altLang="en-US" dirty="0"/>
          </a:p>
        </p:txBody>
      </p:sp>
      <p:sp>
        <p:nvSpPr>
          <p:cNvPr id="53251" name="Slide Number Placeholder 5">
            <a:extLst>
              <a:ext uri="{FF2B5EF4-FFF2-40B4-BE49-F238E27FC236}">
                <a16:creationId xmlns:a16="http://schemas.microsoft.com/office/drawing/2014/main" id="{AA3736D3-AD01-2F44-89D9-8FCCE8E0FC26}"/>
              </a:ext>
            </a:extLst>
          </p:cNvPr>
          <p:cNvSpPr>
            <a:spLocks noGrp="1"/>
          </p:cNvSpPr>
          <p:nvPr>
            <p:ph type="sldNum" sz="quarter" idx="12"/>
          </p:nvPr>
        </p:nvSpPr>
        <p:spPr>
          <a:xfrm>
            <a:off x="8610600" y="6356350"/>
            <a:ext cx="27432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buClrTx/>
              <a:buFontTx/>
              <a:buNone/>
            </a:pPr>
            <a:fld id="{F5D08561-63DB-7B43-8526-C5AEAED4EA36}" type="slidenum">
              <a:rPr lang="en-CN" smtClean="0"/>
              <a:pPr>
                <a:spcBef>
                  <a:spcPct val="0"/>
                </a:spcBef>
                <a:buClrTx/>
                <a:buFontTx/>
                <a:buNone/>
              </a:pPr>
              <a:t>21</a:t>
            </a:fld>
            <a:endParaRPr lang="en-US" altLang="en-US" sz="1050"/>
          </a:p>
        </p:txBody>
      </p:sp>
    </p:spTree>
    <p:extLst>
      <p:ext uri="{BB962C8B-B14F-4D97-AF65-F5344CB8AC3E}">
        <p14:creationId xmlns:p14="http://schemas.microsoft.com/office/powerpoint/2010/main" val="2230791428"/>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1">
            <a:extLst>
              <a:ext uri="{FF2B5EF4-FFF2-40B4-BE49-F238E27FC236}">
                <a16:creationId xmlns:a16="http://schemas.microsoft.com/office/drawing/2014/main" id="{87F14D8D-9A52-5140-BDA1-0351F1BBDDB9}"/>
              </a:ext>
            </a:extLst>
          </p:cNvPr>
          <p:cNvSpPr>
            <a:spLocks noGrp="1" noChangeArrowheads="1"/>
          </p:cNvSpPr>
          <p:nvPr>
            <p:ph type="title"/>
          </p:nvPr>
        </p:nvSpPr>
        <p:spPr/>
        <p:txBody>
          <a:bodyPr/>
          <a:lstStyle/>
          <a:p>
            <a:r>
              <a:rPr lang="en-US" altLang="ja-JP" dirty="0"/>
              <a:t>AFS</a:t>
            </a:r>
            <a:r>
              <a:rPr lang="zh-CN" altLang="en-US" dirty="0"/>
              <a:t> </a:t>
            </a:r>
            <a:r>
              <a:rPr lang="en-US" altLang="zh-CN" dirty="0"/>
              <a:t>Caching</a:t>
            </a:r>
            <a:endParaRPr lang="en-US" altLang="en-US" dirty="0"/>
          </a:p>
        </p:txBody>
      </p:sp>
      <p:sp>
        <p:nvSpPr>
          <p:cNvPr id="73730" name="Rectangle 2">
            <a:extLst>
              <a:ext uri="{FF2B5EF4-FFF2-40B4-BE49-F238E27FC236}">
                <a16:creationId xmlns:a16="http://schemas.microsoft.com/office/drawing/2014/main" id="{498A2B0F-648D-E148-A0BB-1051E91993F7}"/>
              </a:ext>
            </a:extLst>
          </p:cNvPr>
          <p:cNvSpPr>
            <a:spLocks noGrp="1" noChangeArrowheads="1"/>
          </p:cNvSpPr>
          <p:nvPr>
            <p:ph type="body" idx="1"/>
          </p:nvPr>
        </p:nvSpPr>
        <p:spPr/>
        <p:txBody>
          <a:bodyPr/>
          <a:lstStyle/>
          <a:p>
            <a:pPr>
              <a:lnSpc>
                <a:spcPct val="80000"/>
              </a:lnSpc>
            </a:pPr>
            <a:endParaRPr lang="en-US" altLang="en-US" dirty="0"/>
          </a:p>
          <a:p>
            <a:pPr>
              <a:lnSpc>
                <a:spcPct val="80000"/>
              </a:lnSpc>
            </a:pPr>
            <a:r>
              <a:rPr lang="en-US" altLang="en-US" sz="2200" dirty="0"/>
              <a:t>More aggressive caching (AFS caches on disk in addition to just in memory)</a:t>
            </a:r>
          </a:p>
          <a:p>
            <a:pPr lvl="1">
              <a:lnSpc>
                <a:spcPct val="80000"/>
              </a:lnSpc>
            </a:pPr>
            <a:r>
              <a:rPr lang="en-US" altLang="zh-CN" sz="2000" dirty="0"/>
              <a:t>Cache</a:t>
            </a:r>
            <a:r>
              <a:rPr lang="zh-CN" altLang="en-US" sz="2000" dirty="0"/>
              <a:t> </a:t>
            </a:r>
            <a:r>
              <a:rPr lang="en-US" altLang="zh-CN" sz="2000" dirty="0"/>
              <a:t>the</a:t>
            </a:r>
            <a:r>
              <a:rPr lang="zh-CN" altLang="en-US" sz="2000" dirty="0"/>
              <a:t> </a:t>
            </a:r>
            <a:r>
              <a:rPr lang="en-US" altLang="zh-CN" sz="2000" dirty="0"/>
              <a:t>whole</a:t>
            </a:r>
            <a:r>
              <a:rPr lang="zh-CN" altLang="en-US" sz="2000" dirty="0"/>
              <a:t> </a:t>
            </a:r>
            <a:r>
              <a:rPr lang="en-US" altLang="zh-CN" sz="2000" dirty="0"/>
              <a:t>file</a:t>
            </a:r>
            <a:endParaRPr lang="en-US" altLang="en-US" sz="2000" dirty="0"/>
          </a:p>
          <a:p>
            <a:pPr>
              <a:lnSpc>
                <a:spcPct val="80000"/>
              </a:lnSpc>
            </a:pPr>
            <a:endParaRPr lang="en-US" altLang="en-US" sz="2200" dirty="0"/>
          </a:p>
          <a:p>
            <a:pPr>
              <a:lnSpc>
                <a:spcPct val="80000"/>
              </a:lnSpc>
            </a:pPr>
            <a:r>
              <a:rPr lang="en-US" altLang="en-US" sz="2200" dirty="0"/>
              <a:t>Prefetching (on open,  AFS gets entire file from server, making later ops local &amp; fast).</a:t>
            </a:r>
          </a:p>
          <a:p>
            <a:pPr lvl="1">
              <a:lnSpc>
                <a:spcPct val="80000"/>
              </a:lnSpc>
            </a:pPr>
            <a:r>
              <a:rPr lang="en-US" altLang="en-US" dirty="0"/>
              <a:t>Remember:  with traditional hard drives, large sequential reads are much faster than small random writes.  </a:t>
            </a:r>
          </a:p>
          <a:p>
            <a:pPr lvl="1">
              <a:lnSpc>
                <a:spcPct val="80000"/>
              </a:lnSpc>
            </a:pPr>
            <a:r>
              <a:rPr lang="en-US" altLang="en-US" dirty="0"/>
              <a:t>So easier to support (client A:  read whole file;  client B: read whole file) than having them alternate.  </a:t>
            </a:r>
          </a:p>
          <a:p>
            <a:pPr lvl="1">
              <a:lnSpc>
                <a:spcPct val="80000"/>
              </a:lnSpc>
            </a:pPr>
            <a:r>
              <a:rPr lang="en-US" altLang="en-US" dirty="0"/>
              <a:t>Improves scalability, particularly if client is going to read whole file anyway eventually.</a:t>
            </a:r>
          </a:p>
        </p:txBody>
      </p:sp>
    </p:spTree>
    <p:extLst>
      <p:ext uri="{BB962C8B-B14F-4D97-AF65-F5344CB8AC3E}">
        <p14:creationId xmlns:p14="http://schemas.microsoft.com/office/powerpoint/2010/main" val="1995178069"/>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7373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73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3730">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3730">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3730">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373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1">
            <a:extLst>
              <a:ext uri="{FF2B5EF4-FFF2-40B4-BE49-F238E27FC236}">
                <a16:creationId xmlns:a16="http://schemas.microsoft.com/office/drawing/2014/main" id="{C6416A44-23C9-CD41-8F52-242F6FB5AFE0}"/>
              </a:ext>
            </a:extLst>
          </p:cNvPr>
          <p:cNvSpPr>
            <a:spLocks noGrp="1" noChangeArrowheads="1"/>
          </p:cNvSpPr>
          <p:nvPr>
            <p:ph type="title"/>
          </p:nvPr>
        </p:nvSpPr>
        <p:spPr/>
        <p:txBody>
          <a:bodyPr/>
          <a:lstStyle/>
          <a:p>
            <a:r>
              <a:rPr lang="en-US" altLang="en-US"/>
              <a:t>Client Caching in AFS</a:t>
            </a:r>
          </a:p>
        </p:txBody>
      </p:sp>
      <p:sp>
        <p:nvSpPr>
          <p:cNvPr id="74754" name="Rectangle 2">
            <a:extLst>
              <a:ext uri="{FF2B5EF4-FFF2-40B4-BE49-F238E27FC236}">
                <a16:creationId xmlns:a16="http://schemas.microsoft.com/office/drawing/2014/main" id="{EA436C1E-3092-4040-BF5B-890947AF63F2}"/>
              </a:ext>
            </a:extLst>
          </p:cNvPr>
          <p:cNvSpPr>
            <a:spLocks noGrp="1" noChangeArrowheads="1"/>
          </p:cNvSpPr>
          <p:nvPr>
            <p:ph type="body" idx="1"/>
          </p:nvPr>
        </p:nvSpPr>
        <p:spPr/>
        <p:txBody>
          <a:bodyPr/>
          <a:lstStyle/>
          <a:p>
            <a:r>
              <a:rPr lang="en-US" altLang="en-US" dirty="0"/>
              <a:t>Callbacks!  </a:t>
            </a:r>
          </a:p>
          <a:p>
            <a:pPr lvl="1"/>
            <a:r>
              <a:rPr lang="en-US" altLang="en-US" dirty="0"/>
              <a:t>Clients register with server that they have a copy of file;</a:t>
            </a:r>
          </a:p>
          <a:p>
            <a:pPr lvl="1"/>
            <a:r>
              <a:rPr lang="en-US" altLang="en-US" dirty="0"/>
              <a:t>Server tells them: </a:t>
            </a:r>
            <a:r>
              <a:rPr lang="ja-JP" altLang="en-US"/>
              <a:t>“</a:t>
            </a:r>
            <a:r>
              <a:rPr lang="en-US" altLang="ja-JP" dirty="0"/>
              <a:t>Invalidate!</a:t>
            </a:r>
            <a:r>
              <a:rPr lang="ja-JP" altLang="en-US"/>
              <a:t>”</a:t>
            </a:r>
            <a:r>
              <a:rPr lang="en-US" altLang="ja-JP" dirty="0"/>
              <a:t> if the file changes</a:t>
            </a:r>
          </a:p>
          <a:p>
            <a:pPr lvl="1"/>
            <a:r>
              <a:rPr lang="en-US" altLang="en-US" dirty="0"/>
              <a:t>This trades state for improved consistency</a:t>
            </a:r>
          </a:p>
          <a:p>
            <a:endParaRPr lang="en-US" altLang="en-US" dirty="0"/>
          </a:p>
          <a:p>
            <a:pPr lvl="1"/>
            <a:endParaRPr lang="en-US" altLang="en-US" dirty="0"/>
          </a:p>
        </p:txBody>
      </p:sp>
    </p:spTree>
    <p:extLst>
      <p:ext uri="{BB962C8B-B14F-4D97-AF65-F5344CB8AC3E}">
        <p14:creationId xmlns:p14="http://schemas.microsoft.com/office/powerpoint/2010/main" val="334673705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3BAA85-12A2-F147-85AC-46EB5D0FDA8B}"/>
              </a:ext>
            </a:extLst>
          </p:cNvPr>
          <p:cNvSpPr>
            <a:spLocks noGrp="1"/>
          </p:cNvSpPr>
          <p:nvPr>
            <p:ph type="title"/>
          </p:nvPr>
        </p:nvSpPr>
        <p:spPr/>
        <p:txBody>
          <a:bodyPr/>
          <a:lstStyle/>
          <a:p>
            <a:r>
              <a:rPr kumimoji="1" lang="en-US" altLang="zh-CN" dirty="0"/>
              <a:t>File</a:t>
            </a:r>
            <a:r>
              <a:rPr kumimoji="1" lang="zh-CN" altLang="en-US" dirty="0"/>
              <a:t> </a:t>
            </a:r>
            <a:r>
              <a:rPr kumimoji="1" lang="en-US" altLang="zh-CN" dirty="0"/>
              <a:t>access</a:t>
            </a:r>
            <a:r>
              <a:rPr kumimoji="1" lang="zh-CN" altLang="en-US" dirty="0"/>
              <a:t> </a:t>
            </a:r>
            <a:r>
              <a:rPr kumimoji="1" lang="en-US" altLang="zh-CN" dirty="0"/>
              <a:t>consistency</a:t>
            </a:r>
            <a:endParaRPr kumimoji="1" lang="zh-CN" altLang="en-US" dirty="0"/>
          </a:p>
        </p:txBody>
      </p:sp>
      <p:sp>
        <p:nvSpPr>
          <p:cNvPr id="3" name="文本占位符 2">
            <a:extLst>
              <a:ext uri="{FF2B5EF4-FFF2-40B4-BE49-F238E27FC236}">
                <a16:creationId xmlns:a16="http://schemas.microsoft.com/office/drawing/2014/main" id="{8B406BBB-7825-694C-AF56-165D1E740391}"/>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57644178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F64E6BEC-BE56-FA45-96F7-A203DB3B5921}"/>
              </a:ext>
            </a:extLst>
          </p:cNvPr>
          <p:cNvSpPr>
            <a:spLocks noGrp="1" noChangeArrowheads="1"/>
          </p:cNvSpPr>
          <p:nvPr>
            <p:ph type="title"/>
          </p:nvPr>
        </p:nvSpPr>
        <p:spPr/>
        <p:txBody>
          <a:bodyPr/>
          <a:lstStyle/>
          <a:p>
            <a:r>
              <a:rPr lang="en-US" altLang="en-US" dirty="0"/>
              <a:t>File Access Consistency</a:t>
            </a:r>
          </a:p>
        </p:txBody>
      </p:sp>
      <p:sp>
        <p:nvSpPr>
          <p:cNvPr id="78850" name="Rectangle 3">
            <a:extLst>
              <a:ext uri="{FF2B5EF4-FFF2-40B4-BE49-F238E27FC236}">
                <a16:creationId xmlns:a16="http://schemas.microsoft.com/office/drawing/2014/main" id="{3710216E-F13A-A64F-B58A-3071F326A0BA}"/>
              </a:ext>
            </a:extLst>
          </p:cNvPr>
          <p:cNvSpPr>
            <a:spLocks noGrp="1" noChangeArrowheads="1"/>
          </p:cNvSpPr>
          <p:nvPr>
            <p:ph type="body" idx="1"/>
          </p:nvPr>
        </p:nvSpPr>
        <p:spPr/>
        <p:txBody>
          <a:bodyPr/>
          <a:lstStyle/>
          <a:p>
            <a:r>
              <a:rPr lang="en-US" altLang="en-US" dirty="0"/>
              <a:t>In UNIX local file system, concurrent file reads and writes have “sequential” consistency semantics</a:t>
            </a:r>
          </a:p>
          <a:p>
            <a:pPr lvl="1"/>
            <a:r>
              <a:rPr lang="en-US" altLang="en-US" dirty="0"/>
              <a:t>Each file read/write from user-level app is an atomic operation</a:t>
            </a:r>
          </a:p>
          <a:p>
            <a:pPr lvl="2"/>
            <a:r>
              <a:rPr lang="en-US" altLang="en-US" dirty="0"/>
              <a:t>The kernel locks the file </a:t>
            </a:r>
            <a:r>
              <a:rPr lang="en-US" altLang="en-US" dirty="0" err="1"/>
              <a:t>vnode</a:t>
            </a:r>
            <a:endParaRPr lang="en-US" altLang="en-US" dirty="0"/>
          </a:p>
          <a:p>
            <a:pPr lvl="1"/>
            <a:r>
              <a:rPr lang="en-US" altLang="en-US" dirty="0"/>
              <a:t>Each file write is immediately visible to all file readers</a:t>
            </a:r>
          </a:p>
          <a:p>
            <a:endParaRPr lang="en-US" altLang="en-US" dirty="0"/>
          </a:p>
          <a:p>
            <a:r>
              <a:rPr lang="en-US" altLang="zh-CN" dirty="0"/>
              <a:t>Ideal:</a:t>
            </a:r>
            <a:r>
              <a:rPr lang="zh-CN" altLang="en-US" dirty="0"/>
              <a:t> </a:t>
            </a:r>
            <a:r>
              <a:rPr lang="en-US" altLang="zh-CN" dirty="0"/>
              <a:t>One</a:t>
            </a:r>
            <a:r>
              <a:rPr lang="zh-CN" altLang="en-US" dirty="0"/>
              <a:t> </a:t>
            </a:r>
            <a:r>
              <a:rPr lang="en-US" altLang="zh-CN" dirty="0"/>
              <a:t>Copy</a:t>
            </a:r>
            <a:r>
              <a:rPr lang="zh-CN" altLang="en-US" dirty="0"/>
              <a:t> </a:t>
            </a:r>
            <a:r>
              <a:rPr lang="en-US" altLang="zh-CN" dirty="0"/>
              <a:t>Semantics</a:t>
            </a:r>
            <a:endParaRPr lang="en-US" altLang="en-US" dirty="0"/>
          </a:p>
          <a:p>
            <a:endParaRPr lang="en-US" altLang="en-US" dirty="0"/>
          </a:p>
          <a:p>
            <a:r>
              <a:rPr lang="en-US" altLang="en-US" dirty="0"/>
              <a:t>Neither NFS nor AFS provides such concurrency control</a:t>
            </a:r>
          </a:p>
          <a:p>
            <a:pPr lvl="1"/>
            <a:r>
              <a:rPr lang="en-US" altLang="en-US" dirty="0"/>
              <a:t>NFS: “sometime within 30 seconds”</a:t>
            </a:r>
          </a:p>
          <a:p>
            <a:pPr lvl="1"/>
            <a:r>
              <a:rPr lang="en-US" altLang="en-US" dirty="0"/>
              <a:t>AFS: session semantics for consistency</a:t>
            </a:r>
          </a:p>
        </p:txBody>
      </p:sp>
      <p:sp>
        <p:nvSpPr>
          <p:cNvPr id="78851" name="Slide Number Placeholder 5">
            <a:extLst>
              <a:ext uri="{FF2B5EF4-FFF2-40B4-BE49-F238E27FC236}">
                <a16:creationId xmlns:a16="http://schemas.microsoft.com/office/drawing/2014/main" id="{4CF666C7-C29E-AB40-AE31-B29A7BACD5E0}"/>
              </a:ext>
            </a:extLst>
          </p:cNvPr>
          <p:cNvSpPr>
            <a:spLocks noGrp="1"/>
          </p:cNvSpPr>
          <p:nvPr>
            <p:ph type="sldNum" sz="quarter" idx="12"/>
          </p:nvPr>
        </p:nvSpPr>
        <p:spPr>
          <a:xfrm>
            <a:off x="8610600" y="6356350"/>
            <a:ext cx="27432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buClrTx/>
              <a:buFontTx/>
              <a:buNone/>
            </a:pPr>
            <a:fld id="{F5D08561-63DB-7B43-8526-C5AEAED4EA36}" type="slidenum">
              <a:rPr lang="en-CN" smtClean="0"/>
              <a:pPr>
                <a:spcBef>
                  <a:spcPct val="0"/>
                </a:spcBef>
                <a:buClrTx/>
                <a:buFontTx/>
                <a:buNone/>
              </a:pPr>
              <a:t>25</a:t>
            </a:fld>
            <a:endParaRPr lang="en-US" altLang="en-US" sz="1050"/>
          </a:p>
        </p:txBody>
      </p:sp>
    </p:spTree>
    <p:extLst>
      <p:ext uri="{BB962C8B-B14F-4D97-AF65-F5344CB8AC3E}">
        <p14:creationId xmlns:p14="http://schemas.microsoft.com/office/powerpoint/2010/main" val="3071409236"/>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BD7D6A27-112A-FD4A-9F6A-E454F83BCDC7}"/>
              </a:ext>
            </a:extLst>
          </p:cNvPr>
          <p:cNvSpPr>
            <a:spLocks noGrp="1" noChangeArrowheads="1"/>
          </p:cNvSpPr>
          <p:nvPr>
            <p:ph type="title"/>
          </p:nvPr>
        </p:nvSpPr>
        <p:spPr/>
        <p:txBody>
          <a:bodyPr/>
          <a:lstStyle/>
          <a:p>
            <a:r>
              <a:rPr lang="en-US" altLang="zh-CN" dirty="0"/>
              <a:t>Popular</a:t>
            </a:r>
            <a:r>
              <a:rPr lang="zh-CN" altLang="en-US" dirty="0"/>
              <a:t> </a:t>
            </a:r>
            <a:r>
              <a:rPr lang="en-US" altLang="en-US" dirty="0"/>
              <a:t>Semantics of File Sharing</a:t>
            </a:r>
          </a:p>
        </p:txBody>
      </p:sp>
      <p:sp>
        <p:nvSpPr>
          <p:cNvPr id="124931" name="Slide Number Placeholder 6">
            <a:extLst>
              <a:ext uri="{FF2B5EF4-FFF2-40B4-BE49-F238E27FC236}">
                <a16:creationId xmlns:a16="http://schemas.microsoft.com/office/drawing/2014/main" id="{7A4AE575-6AD3-8E4C-BB9B-607D0B55FE49}"/>
              </a:ext>
            </a:extLst>
          </p:cNvPr>
          <p:cNvSpPr>
            <a:spLocks noGrp="1"/>
          </p:cNvSpPr>
          <p:nvPr>
            <p:ph type="sldNum" sz="quarter" idx="12"/>
          </p:nvPr>
        </p:nvSpPr>
        <p:spPr>
          <a:xfrm>
            <a:off x="8610600" y="6356350"/>
            <a:ext cx="27432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buClrTx/>
              <a:buFontTx/>
              <a:buNone/>
            </a:pPr>
            <a:fld id="{F5D08561-63DB-7B43-8526-C5AEAED4EA36}" type="slidenum">
              <a:rPr lang="en-CN" smtClean="0"/>
              <a:pPr>
                <a:spcBef>
                  <a:spcPct val="0"/>
                </a:spcBef>
                <a:buClrTx/>
                <a:buFontTx/>
                <a:buNone/>
              </a:pPr>
              <a:t>26</a:t>
            </a:fld>
            <a:endParaRPr lang="en-US" altLang="en-US" sz="1050"/>
          </a:p>
        </p:txBody>
      </p:sp>
      <p:pic>
        <p:nvPicPr>
          <p:cNvPr id="124932" name="Picture 4" descr="11-17T">
            <a:extLst>
              <a:ext uri="{FF2B5EF4-FFF2-40B4-BE49-F238E27FC236}">
                <a16:creationId xmlns:a16="http://schemas.microsoft.com/office/drawing/2014/main" id="{9E295769-C787-EE48-9EBB-10C2D1B21CEA}"/>
              </a:ext>
            </a:extLst>
          </p:cNvPr>
          <p:cNvPicPr>
            <a:picLocks noChangeAspect="1" noChangeArrowheads="1"/>
          </p:cNvPicPr>
          <p:nvPr/>
        </p:nvPicPr>
        <p:blipFill>
          <a:blip r:embed="rId3">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358739" y="2416647"/>
            <a:ext cx="8426522" cy="2024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199435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ACECA64D-AEE7-834B-9CC6-1CD4DF6F60F5}"/>
              </a:ext>
            </a:extLst>
          </p:cNvPr>
          <p:cNvSpPr>
            <a:spLocks noGrp="1" noChangeArrowheads="1"/>
          </p:cNvSpPr>
          <p:nvPr>
            <p:ph type="title"/>
          </p:nvPr>
        </p:nvSpPr>
        <p:spPr/>
        <p:txBody>
          <a:bodyPr/>
          <a:lstStyle/>
          <a:p>
            <a:r>
              <a:rPr lang="en-US" altLang="en-US" dirty="0"/>
              <a:t>Session Semantics in AFS</a:t>
            </a:r>
          </a:p>
        </p:txBody>
      </p:sp>
      <p:sp>
        <p:nvSpPr>
          <p:cNvPr id="80898" name="Rectangle 3">
            <a:extLst>
              <a:ext uri="{FF2B5EF4-FFF2-40B4-BE49-F238E27FC236}">
                <a16:creationId xmlns:a16="http://schemas.microsoft.com/office/drawing/2014/main" id="{DBB36758-EA9C-3D40-A337-8B73A090E138}"/>
              </a:ext>
            </a:extLst>
          </p:cNvPr>
          <p:cNvSpPr>
            <a:spLocks noGrp="1" noChangeArrowheads="1"/>
          </p:cNvSpPr>
          <p:nvPr>
            <p:ph type="body" idx="1"/>
          </p:nvPr>
        </p:nvSpPr>
        <p:spPr/>
        <p:txBody>
          <a:bodyPr/>
          <a:lstStyle/>
          <a:p>
            <a:pPr>
              <a:lnSpc>
                <a:spcPct val="90000"/>
              </a:lnSpc>
            </a:pPr>
            <a:r>
              <a:rPr lang="en-US" altLang="en-US" dirty="0"/>
              <a:t>What it means:</a:t>
            </a:r>
          </a:p>
          <a:p>
            <a:pPr lvl="1">
              <a:lnSpc>
                <a:spcPct val="90000"/>
              </a:lnSpc>
            </a:pPr>
            <a:r>
              <a:rPr lang="en-US" altLang="en-US" dirty="0"/>
              <a:t>A file write is visible to processes on the same box immediately, but not visible to processes on other machines </a:t>
            </a:r>
            <a:r>
              <a:rPr lang="en-US" altLang="en-US" dirty="0">
                <a:solidFill>
                  <a:srgbClr val="FF0000"/>
                </a:solidFill>
              </a:rPr>
              <a:t>until the file is closed</a:t>
            </a:r>
          </a:p>
          <a:p>
            <a:pPr lvl="1">
              <a:lnSpc>
                <a:spcPct val="90000"/>
              </a:lnSpc>
            </a:pPr>
            <a:r>
              <a:rPr lang="en-US" altLang="en-US" dirty="0"/>
              <a:t>When a file is closed, changes are visible to </a:t>
            </a:r>
            <a:r>
              <a:rPr lang="en-US" altLang="en-US" dirty="0">
                <a:solidFill>
                  <a:srgbClr val="FF0000"/>
                </a:solidFill>
              </a:rPr>
              <a:t>new opens</a:t>
            </a:r>
            <a:r>
              <a:rPr lang="en-US" altLang="en-US" dirty="0"/>
              <a:t>, but are not visible to “old” opens</a:t>
            </a:r>
          </a:p>
          <a:p>
            <a:pPr lvl="1"/>
            <a:r>
              <a:rPr lang="en-US" altLang="en-US" dirty="0"/>
              <a:t>Last writer (i.e. the last close()) wins</a:t>
            </a:r>
          </a:p>
          <a:p>
            <a:pPr lvl="1"/>
            <a:endParaRPr lang="en-US" altLang="en-US" dirty="0"/>
          </a:p>
          <a:p>
            <a:pPr>
              <a:lnSpc>
                <a:spcPct val="90000"/>
              </a:lnSpc>
            </a:pPr>
            <a:r>
              <a:rPr lang="en-US" altLang="en-US" dirty="0"/>
              <a:t>Implementation</a:t>
            </a:r>
          </a:p>
          <a:p>
            <a:pPr lvl="1">
              <a:lnSpc>
                <a:spcPct val="90000"/>
              </a:lnSpc>
            </a:pPr>
            <a:r>
              <a:rPr lang="en-US" altLang="en-US" dirty="0"/>
              <a:t>Dirty data are buffered at the client machine until file close, then flushed back to server, which leads the server to send “break callback” to other clients</a:t>
            </a:r>
          </a:p>
        </p:txBody>
      </p:sp>
      <p:sp>
        <p:nvSpPr>
          <p:cNvPr id="80899" name="Slide Number Placeholder 5">
            <a:extLst>
              <a:ext uri="{FF2B5EF4-FFF2-40B4-BE49-F238E27FC236}">
                <a16:creationId xmlns:a16="http://schemas.microsoft.com/office/drawing/2014/main" id="{86CB7EB3-275E-984C-9795-775FE5F2AF1A}"/>
              </a:ext>
            </a:extLst>
          </p:cNvPr>
          <p:cNvSpPr>
            <a:spLocks noGrp="1"/>
          </p:cNvSpPr>
          <p:nvPr>
            <p:ph type="sldNum" sz="quarter" idx="12"/>
          </p:nvPr>
        </p:nvSpPr>
        <p:spPr>
          <a:xfrm>
            <a:off x="8610600" y="6356350"/>
            <a:ext cx="27432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buClrTx/>
              <a:buFontTx/>
              <a:buNone/>
            </a:pPr>
            <a:fld id="{F5D08561-63DB-7B43-8526-C5AEAED4EA36}" type="slidenum">
              <a:rPr lang="en-CN" smtClean="0"/>
              <a:pPr>
                <a:spcBef>
                  <a:spcPct val="0"/>
                </a:spcBef>
                <a:buClrTx/>
                <a:buFontTx/>
                <a:buNone/>
              </a:pPr>
              <a:t>27</a:t>
            </a:fld>
            <a:endParaRPr lang="en-US" altLang="en-US" sz="1050"/>
          </a:p>
        </p:txBody>
      </p:sp>
    </p:spTree>
    <p:extLst>
      <p:ext uri="{BB962C8B-B14F-4D97-AF65-F5344CB8AC3E}">
        <p14:creationId xmlns:p14="http://schemas.microsoft.com/office/powerpoint/2010/main" val="202189736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235304-B079-BA42-8268-727B48FBBF8F}"/>
              </a:ext>
            </a:extLst>
          </p:cNvPr>
          <p:cNvSpPr>
            <a:spLocks noGrp="1"/>
          </p:cNvSpPr>
          <p:nvPr>
            <p:ph type="title"/>
          </p:nvPr>
        </p:nvSpPr>
        <p:spPr/>
        <p:txBody>
          <a:bodyPr/>
          <a:lstStyle/>
          <a:p>
            <a:r>
              <a:rPr kumimoji="1" lang="en-US" altLang="zh-CN" dirty="0"/>
              <a:t>Session</a:t>
            </a:r>
            <a:r>
              <a:rPr kumimoji="1" lang="zh-CN" altLang="en-US" dirty="0"/>
              <a:t> </a:t>
            </a:r>
            <a:r>
              <a:rPr kumimoji="1" lang="en-US" altLang="zh-CN" dirty="0"/>
              <a:t>Semantics</a:t>
            </a:r>
            <a:endParaRPr kumimoji="1" lang="zh-CN" altLang="en-US" dirty="0"/>
          </a:p>
        </p:txBody>
      </p:sp>
      <p:pic>
        <p:nvPicPr>
          <p:cNvPr id="4" name="图片 3">
            <a:extLst>
              <a:ext uri="{FF2B5EF4-FFF2-40B4-BE49-F238E27FC236}">
                <a16:creationId xmlns:a16="http://schemas.microsoft.com/office/drawing/2014/main" id="{874378E3-6201-2E4C-BDBD-BAB0BBF87046}"/>
              </a:ext>
            </a:extLst>
          </p:cNvPr>
          <p:cNvPicPr>
            <a:picLocks noChangeAspect="1"/>
          </p:cNvPicPr>
          <p:nvPr/>
        </p:nvPicPr>
        <p:blipFill>
          <a:blip r:embed="rId2"/>
          <a:stretch>
            <a:fillRect/>
          </a:stretch>
        </p:blipFill>
        <p:spPr>
          <a:xfrm>
            <a:off x="573205" y="1627495"/>
            <a:ext cx="8235449" cy="3603009"/>
          </a:xfrm>
          <a:prstGeom prst="rect">
            <a:avLst/>
          </a:prstGeom>
        </p:spPr>
      </p:pic>
    </p:spTree>
    <p:extLst>
      <p:ext uri="{BB962C8B-B14F-4D97-AF65-F5344CB8AC3E}">
        <p14:creationId xmlns:p14="http://schemas.microsoft.com/office/powerpoint/2010/main" val="20539406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a:extLst>
              <a:ext uri="{FF2B5EF4-FFF2-40B4-BE49-F238E27FC236}">
                <a16:creationId xmlns:a16="http://schemas.microsoft.com/office/drawing/2014/main" id="{339345FA-A14F-C444-BF62-9327A0D8B455}"/>
              </a:ext>
            </a:extLst>
          </p:cNvPr>
          <p:cNvSpPr>
            <a:spLocks noGrp="1" noChangeArrowheads="1"/>
          </p:cNvSpPr>
          <p:nvPr>
            <p:ph type="title"/>
          </p:nvPr>
        </p:nvSpPr>
        <p:spPr/>
        <p:txBody>
          <a:bodyPr/>
          <a:lstStyle/>
          <a:p>
            <a:r>
              <a:rPr lang="en-US" altLang="en-US"/>
              <a:t>AFS: Cache Consistency Timeline</a:t>
            </a:r>
          </a:p>
        </p:txBody>
      </p:sp>
      <p:sp>
        <p:nvSpPr>
          <p:cNvPr id="84994" name="Slide Number Placeholder 4">
            <a:extLst>
              <a:ext uri="{FF2B5EF4-FFF2-40B4-BE49-F238E27FC236}">
                <a16:creationId xmlns:a16="http://schemas.microsoft.com/office/drawing/2014/main" id="{7848FBD6-3A08-F94B-9369-38D08832E292}"/>
              </a:ext>
            </a:extLst>
          </p:cNvPr>
          <p:cNvSpPr>
            <a:spLocks noGrp="1" noChangeArrowheads="1"/>
          </p:cNvSpPr>
          <p:nvPr>
            <p:ph type="sldNum" sz="quarter" idx="12"/>
          </p:nvPr>
        </p:nvSpPr>
        <p:spPr>
          <a:xfrm>
            <a:off x="8610600" y="6356350"/>
            <a:ext cx="27432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buClrTx/>
              <a:buFontTx/>
              <a:buNone/>
            </a:pPr>
            <a:fld id="{F5D08561-63DB-7B43-8526-C5AEAED4EA36}" type="slidenum">
              <a:rPr lang="en-CN" smtClean="0"/>
              <a:pPr>
                <a:spcBef>
                  <a:spcPct val="0"/>
                </a:spcBef>
                <a:buClrTx/>
                <a:buFontTx/>
                <a:buNone/>
              </a:pPr>
              <a:t>29</a:t>
            </a:fld>
            <a:endParaRPr lang="en-US" altLang="en-US" sz="1050"/>
          </a:p>
        </p:txBody>
      </p:sp>
      <p:pic>
        <p:nvPicPr>
          <p:cNvPr id="84995" name="Picture 5">
            <a:extLst>
              <a:ext uri="{FF2B5EF4-FFF2-40B4-BE49-F238E27FC236}">
                <a16:creationId xmlns:a16="http://schemas.microsoft.com/office/drawing/2014/main" id="{03D057B7-BF9D-5A46-B9CE-F75B82EBBF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4807"/>
          <a:stretch>
            <a:fillRect/>
          </a:stretch>
        </p:blipFill>
        <p:spPr bwMode="auto">
          <a:xfrm>
            <a:off x="1662469" y="853975"/>
            <a:ext cx="5830152" cy="575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6" name="TextBox 6">
            <a:extLst>
              <a:ext uri="{FF2B5EF4-FFF2-40B4-BE49-F238E27FC236}">
                <a16:creationId xmlns:a16="http://schemas.microsoft.com/office/drawing/2014/main" id="{E9498016-0514-FC4A-8E2B-2292340E9751}"/>
              </a:ext>
            </a:extLst>
          </p:cNvPr>
          <p:cNvSpPr txBox="1">
            <a:spLocks noChangeArrowheads="1"/>
          </p:cNvSpPr>
          <p:nvPr/>
        </p:nvSpPr>
        <p:spPr bwMode="auto">
          <a:xfrm>
            <a:off x="180924" y="6259810"/>
            <a:ext cx="20088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FontTx/>
              <a:buNone/>
            </a:pPr>
            <a:r>
              <a:rPr lang="en-US" altLang="en-US" sz="1200" dirty="0"/>
              <a:t>Source: </a:t>
            </a:r>
            <a:br>
              <a:rPr lang="en-US" altLang="en-US" sz="1200" dirty="0"/>
            </a:br>
            <a:r>
              <a:rPr lang="en-US" altLang="en-US" sz="1200" dirty="0" err="1"/>
              <a:t>Remzi</a:t>
            </a:r>
            <a:r>
              <a:rPr lang="en-US" altLang="en-US" sz="1200" dirty="0"/>
              <a:t>, OS Book,  “AFS” </a:t>
            </a:r>
          </a:p>
        </p:txBody>
      </p:sp>
    </p:spTree>
    <p:extLst>
      <p:ext uri="{BB962C8B-B14F-4D97-AF65-F5344CB8AC3E}">
        <p14:creationId xmlns:p14="http://schemas.microsoft.com/office/powerpoint/2010/main" val="409745778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9D900D9B-694D-5346-8CDD-4A1AE2223696}"/>
              </a:ext>
            </a:extLst>
          </p:cNvPr>
          <p:cNvSpPr>
            <a:spLocks noGrp="1" noChangeArrowheads="1"/>
          </p:cNvSpPr>
          <p:nvPr>
            <p:ph type="title"/>
          </p:nvPr>
        </p:nvSpPr>
        <p:spPr/>
        <p:txBody>
          <a:bodyPr/>
          <a:lstStyle/>
          <a:p>
            <a:r>
              <a:rPr lang="en-GB" altLang="en-US"/>
              <a:t>AFS Write Policy</a:t>
            </a:r>
          </a:p>
        </p:txBody>
      </p:sp>
      <p:sp>
        <p:nvSpPr>
          <p:cNvPr id="82946" name="Rectangle 3">
            <a:extLst>
              <a:ext uri="{FF2B5EF4-FFF2-40B4-BE49-F238E27FC236}">
                <a16:creationId xmlns:a16="http://schemas.microsoft.com/office/drawing/2014/main" id="{8FF355B4-91B2-DE43-A57D-489DB6F537CB}"/>
              </a:ext>
            </a:extLst>
          </p:cNvPr>
          <p:cNvSpPr>
            <a:spLocks noGrp="1" noChangeArrowheads="1"/>
          </p:cNvSpPr>
          <p:nvPr>
            <p:ph type="body" idx="1"/>
          </p:nvPr>
        </p:nvSpPr>
        <p:spPr/>
        <p:txBody>
          <a:bodyPr/>
          <a:lstStyle/>
          <a:p>
            <a:r>
              <a:rPr lang="en-GB" altLang="en-US" dirty="0"/>
              <a:t>Writeback cache</a:t>
            </a:r>
          </a:p>
          <a:p>
            <a:pPr lvl="1"/>
            <a:r>
              <a:rPr lang="en-GB" altLang="en-US" dirty="0"/>
              <a:t>Opposite of NFS “every write is sacred”</a:t>
            </a:r>
          </a:p>
          <a:p>
            <a:pPr lvl="1"/>
            <a:r>
              <a:rPr lang="en-GB" altLang="en-US" dirty="0"/>
              <a:t>Store chunk back to server</a:t>
            </a:r>
          </a:p>
          <a:p>
            <a:pPr lvl="2"/>
            <a:r>
              <a:rPr lang="en-GB" altLang="en-US" dirty="0"/>
              <a:t>When cache overflows</a:t>
            </a:r>
          </a:p>
          <a:p>
            <a:pPr lvl="2"/>
            <a:r>
              <a:rPr lang="en-GB" altLang="en-US" dirty="0"/>
              <a:t>On close()</a:t>
            </a:r>
          </a:p>
          <a:p>
            <a:pPr lvl="1"/>
            <a:r>
              <a:rPr lang="en-GB" altLang="en-US" dirty="0"/>
              <a:t>...or don't (if client machine crashes)</a:t>
            </a:r>
          </a:p>
          <a:p>
            <a:pPr lvl="1"/>
            <a:endParaRPr lang="en-GB" altLang="en-US" dirty="0"/>
          </a:p>
          <a:p>
            <a:r>
              <a:rPr lang="en-GB" altLang="en-US" dirty="0"/>
              <a:t>Is writeback crazy?</a:t>
            </a:r>
          </a:p>
          <a:p>
            <a:pPr lvl="1"/>
            <a:r>
              <a:rPr lang="en-GB" altLang="en-US" dirty="0"/>
              <a:t>Write conflicts “assumed rare”</a:t>
            </a:r>
          </a:p>
          <a:p>
            <a:pPr lvl="1"/>
            <a:r>
              <a:rPr lang="en-GB" altLang="en-US" dirty="0"/>
              <a:t>Who wants to see a half-written file?</a:t>
            </a:r>
          </a:p>
          <a:p>
            <a:pPr lvl="2"/>
            <a:r>
              <a:rPr lang="en-US" altLang="zh-CN" dirty="0"/>
              <a:t>Matters</a:t>
            </a:r>
            <a:r>
              <a:rPr lang="zh-CN" altLang="en-US" dirty="0"/>
              <a:t> </a:t>
            </a:r>
            <a:r>
              <a:rPr lang="en-US" altLang="zh-CN" dirty="0"/>
              <a:t>for</a:t>
            </a:r>
            <a:r>
              <a:rPr lang="zh-CN" altLang="en-US" dirty="0"/>
              <a:t> </a:t>
            </a:r>
            <a:r>
              <a:rPr lang="en-US" altLang="zh-CN" dirty="0"/>
              <a:t>collaborative</a:t>
            </a:r>
            <a:r>
              <a:rPr lang="zh-CN" altLang="en-US" dirty="0"/>
              <a:t> </a:t>
            </a:r>
            <a:r>
              <a:rPr lang="en-US" altLang="zh-CN" dirty="0"/>
              <a:t>editing</a:t>
            </a:r>
            <a:r>
              <a:rPr lang="zh-CN" altLang="en-US" dirty="0"/>
              <a:t> </a:t>
            </a:r>
            <a:r>
              <a:rPr lang="en-US" altLang="zh-CN" dirty="0"/>
              <a:t>apps</a:t>
            </a:r>
            <a:endParaRPr lang="en-GB" altLang="zh-CN" dirty="0"/>
          </a:p>
          <a:p>
            <a:r>
              <a:rPr lang="en-GB" altLang="en-US" dirty="0"/>
              <a:t>AFS also operates on a file granularity, so the last writer wins</a:t>
            </a:r>
          </a:p>
          <a:p>
            <a:pPr lvl="1"/>
            <a:endParaRPr lang="en-GB" altLang="en-US" dirty="0"/>
          </a:p>
        </p:txBody>
      </p:sp>
      <p:sp>
        <p:nvSpPr>
          <p:cNvPr id="82947" name="Slide Number Placeholder 5">
            <a:extLst>
              <a:ext uri="{FF2B5EF4-FFF2-40B4-BE49-F238E27FC236}">
                <a16:creationId xmlns:a16="http://schemas.microsoft.com/office/drawing/2014/main" id="{E46036CD-04AA-1445-A6BA-C5091A1A799A}"/>
              </a:ext>
            </a:extLst>
          </p:cNvPr>
          <p:cNvSpPr>
            <a:spLocks noGrp="1"/>
          </p:cNvSpPr>
          <p:nvPr>
            <p:ph type="sldNum" sz="quarter" idx="12"/>
          </p:nvPr>
        </p:nvSpPr>
        <p:spPr>
          <a:xfrm>
            <a:off x="8610600" y="6356350"/>
            <a:ext cx="27432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buClrTx/>
              <a:buFontTx/>
              <a:buNone/>
            </a:pPr>
            <a:fld id="{F5D08561-63DB-7B43-8526-C5AEAED4EA36}" type="slidenum">
              <a:rPr lang="en-CN" smtClean="0"/>
              <a:pPr>
                <a:spcBef>
                  <a:spcPct val="0"/>
                </a:spcBef>
                <a:buClrTx/>
                <a:buFontTx/>
                <a:buNone/>
              </a:pPr>
              <a:t>30</a:t>
            </a:fld>
            <a:endParaRPr lang="en-US" altLang="en-US" sz="1050"/>
          </a:p>
        </p:txBody>
      </p:sp>
    </p:spTree>
    <p:extLst>
      <p:ext uri="{BB962C8B-B14F-4D97-AF65-F5344CB8AC3E}">
        <p14:creationId xmlns:p14="http://schemas.microsoft.com/office/powerpoint/2010/main" val="1777358908"/>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B8D0B3-53C7-FB73-643E-7114605055D6}"/>
              </a:ext>
            </a:extLst>
          </p:cNvPr>
          <p:cNvSpPr>
            <a:spLocks noGrp="1"/>
          </p:cNvSpPr>
          <p:nvPr>
            <p:ph type="title"/>
          </p:nvPr>
        </p:nvSpPr>
        <p:spPr/>
        <p:txBody>
          <a:bodyPr/>
          <a:lstStyle/>
          <a:p>
            <a:r>
              <a:rPr kumimoji="1" lang="en-US" altLang="zh-CN" dirty="0"/>
              <a:t>Failure</a:t>
            </a:r>
            <a:r>
              <a:rPr kumimoji="1" lang="zh-CN" altLang="en-US" dirty="0"/>
              <a:t> </a:t>
            </a:r>
            <a:r>
              <a:rPr kumimoji="1" lang="en-US" altLang="zh-CN" dirty="0"/>
              <a:t>handling</a:t>
            </a:r>
            <a:endParaRPr kumimoji="1" lang="zh-CN" altLang="en-US" dirty="0"/>
          </a:p>
        </p:txBody>
      </p:sp>
      <p:sp>
        <p:nvSpPr>
          <p:cNvPr id="3" name="文本占位符 2">
            <a:extLst>
              <a:ext uri="{FF2B5EF4-FFF2-40B4-BE49-F238E27FC236}">
                <a16:creationId xmlns:a16="http://schemas.microsoft.com/office/drawing/2014/main" id="{0F2A116D-A773-1547-69CF-23586E5D8FC8}"/>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191952025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zh-CN" dirty="0">
                <a:latin typeface="Helvetica" charset="0"/>
                <a:ea typeface="Gulim" charset="0"/>
                <a:cs typeface="Gulim" charset="0"/>
              </a:rPr>
              <a:t>NFS</a:t>
            </a:r>
            <a:r>
              <a:rPr lang="zh-CN" altLang="en-US" dirty="0">
                <a:latin typeface="Helvetica" charset="0"/>
                <a:ea typeface="Gulim" charset="0"/>
                <a:cs typeface="Gulim" charset="0"/>
              </a:rPr>
              <a:t> </a:t>
            </a:r>
            <a:r>
              <a:rPr lang="en-US" altLang="ko-KR" dirty="0">
                <a:latin typeface="Helvetica" charset="0"/>
                <a:ea typeface="Gulim" charset="0"/>
                <a:cs typeface="Gulim" charset="0"/>
              </a:rPr>
              <a:t>Failures Handling</a:t>
            </a:r>
            <a:r>
              <a:rPr lang="en-US" altLang="zh-CN" dirty="0">
                <a:latin typeface="Helvetica" charset="0"/>
                <a:ea typeface="Gulim" charset="0"/>
                <a:cs typeface="Gulim" charset="0"/>
              </a:rPr>
              <a:t>:</a:t>
            </a:r>
            <a:r>
              <a:rPr lang="zh-CN" altLang="en-US" dirty="0">
                <a:latin typeface="Helvetica" charset="0"/>
                <a:ea typeface="Gulim" charset="0"/>
                <a:cs typeface="Gulim" charset="0"/>
              </a:rPr>
              <a:t> </a:t>
            </a:r>
            <a:r>
              <a:rPr lang="en-US" altLang="zh-CN" dirty="0">
                <a:latin typeface="Helvetica" charset="0"/>
                <a:ea typeface="Gulim" charset="0"/>
                <a:cs typeface="Gulim" charset="0"/>
              </a:rPr>
              <a:t>Issues</a:t>
            </a:r>
            <a:endParaRPr lang="en-US" altLang="ko-KR" dirty="0">
              <a:latin typeface="Helvetica" charset="0"/>
              <a:ea typeface="Gulim" charset="0"/>
              <a:cs typeface="Gulim" charset="0"/>
            </a:endParaRPr>
          </a:p>
        </p:txBody>
      </p:sp>
      <p:sp>
        <p:nvSpPr>
          <p:cNvPr id="1070083" name="Rectangle 3"/>
          <p:cNvSpPr>
            <a:spLocks noGrp="1" noChangeArrowheads="1"/>
          </p:cNvSpPr>
          <p:nvPr>
            <p:ph type="body" idx="1"/>
          </p:nvPr>
        </p:nvSpPr>
        <p:spPr>
          <a:xfrm>
            <a:off x="152400" y="1066800"/>
            <a:ext cx="8801100" cy="5638800"/>
          </a:xfrm>
        </p:spPr>
        <p:txBody>
          <a:bodyPr/>
          <a:lstStyle/>
          <a:p>
            <a:pPr>
              <a:lnSpc>
                <a:spcPct val="80000"/>
              </a:lnSpc>
              <a:spcBef>
                <a:spcPct val="5000"/>
              </a:spcBef>
            </a:pPr>
            <a:r>
              <a:rPr lang="en-US" altLang="ko-KR" dirty="0">
                <a:latin typeface="Helvetica" charset="0"/>
                <a:ea typeface="Gulim" charset="0"/>
                <a:cs typeface="Gulim" charset="0"/>
              </a:rPr>
              <a:t>What if server crashes? </a:t>
            </a:r>
          </a:p>
          <a:p>
            <a:pPr lvl="1">
              <a:lnSpc>
                <a:spcPct val="80000"/>
              </a:lnSpc>
              <a:spcBef>
                <a:spcPct val="5000"/>
              </a:spcBef>
            </a:pPr>
            <a:r>
              <a:rPr lang="en-US" altLang="ko-KR" dirty="0">
                <a:latin typeface="Helvetica" charset="0"/>
                <a:ea typeface="Gulim" charset="0"/>
                <a:cs typeface="Gulim" charset="0"/>
              </a:rPr>
              <a:t>Can client wait until server comes back up and continue as before?</a:t>
            </a:r>
          </a:p>
          <a:p>
            <a:pPr lvl="1">
              <a:lnSpc>
                <a:spcPct val="80000"/>
              </a:lnSpc>
              <a:spcBef>
                <a:spcPct val="5000"/>
              </a:spcBef>
            </a:pPr>
            <a:r>
              <a:rPr lang="en-US" altLang="ko-KR" dirty="0">
                <a:latin typeface="Helvetica" charset="0"/>
                <a:ea typeface="Gulim" charset="0"/>
                <a:cs typeface="Gulim" charset="0"/>
              </a:rPr>
              <a:t>Any data in server memory but not on disk can be lost</a:t>
            </a:r>
          </a:p>
          <a:p>
            <a:pPr lvl="1">
              <a:lnSpc>
                <a:spcPct val="80000"/>
              </a:lnSpc>
              <a:spcBef>
                <a:spcPct val="5000"/>
              </a:spcBef>
            </a:pPr>
            <a:endParaRPr lang="en-US" altLang="ko-KR" dirty="0">
              <a:latin typeface="Helvetica" charset="0"/>
              <a:ea typeface="Gulim" charset="0"/>
              <a:cs typeface="Gulim" charset="0"/>
            </a:endParaRPr>
          </a:p>
          <a:p>
            <a:pPr>
              <a:lnSpc>
                <a:spcPct val="80000"/>
              </a:lnSpc>
              <a:spcBef>
                <a:spcPct val="5000"/>
              </a:spcBef>
            </a:pPr>
            <a:r>
              <a:rPr lang="en-US" altLang="ko-KR" dirty="0">
                <a:latin typeface="Helvetica" charset="0"/>
                <a:ea typeface="Gulim" charset="0"/>
                <a:cs typeface="Gulim" charset="0"/>
              </a:rPr>
              <a:t>What if server crashes after seek? Then, when client does “read”, it will fail</a:t>
            </a:r>
          </a:p>
          <a:p>
            <a:pPr>
              <a:lnSpc>
                <a:spcPct val="80000"/>
              </a:lnSpc>
              <a:spcBef>
                <a:spcPct val="5000"/>
              </a:spcBef>
            </a:pPr>
            <a:endParaRPr lang="en-US" altLang="ko-KR" dirty="0">
              <a:latin typeface="Helvetica" charset="0"/>
              <a:ea typeface="Gulim" charset="0"/>
              <a:cs typeface="Gulim" charset="0"/>
            </a:endParaRPr>
          </a:p>
          <a:p>
            <a:pPr>
              <a:lnSpc>
                <a:spcPct val="80000"/>
              </a:lnSpc>
              <a:spcBef>
                <a:spcPct val="5000"/>
              </a:spcBef>
            </a:pPr>
            <a:r>
              <a:rPr lang="en-US" altLang="ko-KR" dirty="0">
                <a:latin typeface="Helvetica" charset="0"/>
                <a:ea typeface="Gulim" charset="0"/>
                <a:cs typeface="Gulim" charset="0"/>
              </a:rPr>
              <a:t>Message retries: </a:t>
            </a:r>
            <a:r>
              <a:rPr lang="en-US" altLang="zh-CN" dirty="0">
                <a:latin typeface="Helvetica" charset="0"/>
                <a:ea typeface="Gulim" charset="0"/>
                <a:cs typeface="Gulim" charset="0"/>
              </a:rPr>
              <a:t>recall</a:t>
            </a:r>
            <a:r>
              <a:rPr lang="zh-CN" altLang="en-US" dirty="0">
                <a:latin typeface="Helvetica" charset="0"/>
                <a:ea typeface="Gulim" charset="0"/>
                <a:cs typeface="Gulim" charset="0"/>
              </a:rPr>
              <a:t> </a:t>
            </a:r>
            <a:r>
              <a:rPr lang="en-US" altLang="ko-KR" dirty="0">
                <a:latin typeface="Helvetica" charset="0"/>
                <a:ea typeface="Gulim" charset="0"/>
                <a:cs typeface="Gulim" charset="0"/>
              </a:rPr>
              <a:t>“rm foo</a:t>
            </a:r>
            <a:r>
              <a:rPr lang="en-US" altLang="zh-CN" dirty="0">
                <a:latin typeface="Helvetica" charset="0"/>
                <a:ea typeface="Gulim" charset="0"/>
                <a:cs typeface="Gulim" charset="0"/>
              </a:rPr>
              <a:t>”</a:t>
            </a:r>
            <a:r>
              <a:rPr lang="zh-CN" altLang="en-US" dirty="0">
                <a:latin typeface="Helvetica" charset="0"/>
                <a:ea typeface="Gulim" charset="0"/>
                <a:cs typeface="Gulim" charset="0"/>
              </a:rPr>
              <a:t> </a:t>
            </a:r>
            <a:r>
              <a:rPr lang="en-US" altLang="zh-CN" dirty="0">
                <a:latin typeface="Helvetica" charset="0"/>
                <a:ea typeface="Gulim" charset="0"/>
                <a:cs typeface="Gulim" charset="0"/>
              </a:rPr>
              <a:t>case.</a:t>
            </a:r>
            <a:endParaRPr lang="en-US" altLang="ko-KR" dirty="0">
              <a:latin typeface="Helvetica" charset="0"/>
              <a:ea typeface="Gulim" charset="0"/>
              <a:cs typeface="Gulim" charset="0"/>
            </a:endParaRPr>
          </a:p>
          <a:p>
            <a:pPr marL="457200" lvl="1" indent="0">
              <a:lnSpc>
                <a:spcPct val="80000"/>
              </a:lnSpc>
              <a:spcBef>
                <a:spcPct val="5000"/>
              </a:spcBef>
              <a:buNone/>
            </a:pPr>
            <a:endParaRPr lang="en-US" altLang="ko-KR" dirty="0">
              <a:latin typeface="Helvetica" charset="0"/>
              <a:ea typeface="Gulim" charset="0"/>
              <a:cs typeface="Gulim" charset="0"/>
            </a:endParaRPr>
          </a:p>
          <a:p>
            <a:pPr>
              <a:lnSpc>
                <a:spcPct val="80000"/>
              </a:lnSpc>
              <a:spcBef>
                <a:spcPct val="5000"/>
              </a:spcBef>
            </a:pPr>
            <a:r>
              <a:rPr lang="en-US" altLang="ko-KR" dirty="0">
                <a:latin typeface="Helvetica" charset="0"/>
                <a:ea typeface="Gulim" charset="0"/>
                <a:cs typeface="Gulim" charset="0"/>
              </a:rPr>
              <a:t>What if client crashes?</a:t>
            </a:r>
          </a:p>
          <a:p>
            <a:pPr lvl="1">
              <a:lnSpc>
                <a:spcPct val="80000"/>
              </a:lnSpc>
              <a:spcBef>
                <a:spcPct val="5000"/>
              </a:spcBef>
            </a:pPr>
            <a:r>
              <a:rPr lang="en-US" altLang="ko-KR" dirty="0">
                <a:latin typeface="Helvetica" charset="0"/>
                <a:ea typeface="Gulim" charset="0"/>
                <a:cs typeface="Gulim" charset="0"/>
              </a:rPr>
              <a:t>Might lose modified data in client cache</a:t>
            </a:r>
          </a:p>
        </p:txBody>
      </p:sp>
    </p:spTree>
    <p:extLst>
      <p:ext uri="{BB962C8B-B14F-4D97-AF65-F5344CB8AC3E}">
        <p14:creationId xmlns:p14="http://schemas.microsoft.com/office/powerpoint/2010/main" val="327245208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NFS Server Design Choices</a:t>
            </a:r>
          </a:p>
        </p:txBody>
      </p:sp>
      <p:sp>
        <p:nvSpPr>
          <p:cNvPr id="4" name="Rectangle 3"/>
          <p:cNvSpPr txBox="1">
            <a:spLocks noChangeArrowheads="1"/>
          </p:cNvSpPr>
          <p:nvPr/>
        </p:nvSpPr>
        <p:spPr>
          <a:xfrm>
            <a:off x="158750" y="923538"/>
            <a:ext cx="8826500" cy="5720149"/>
          </a:xfrm>
          <a:prstGeom prst="rect">
            <a:avLst/>
          </a:prstGeom>
        </p:spPr>
        <p:txBody>
          <a:bodyPr/>
          <a:lstStyle>
            <a:lvl1pPr marL="285750" indent="-285750" algn="l" rtl="0" eaLnBrk="1" fontAlgn="base" hangingPunct="1">
              <a:lnSpc>
                <a:spcPct val="90000"/>
              </a:lnSpc>
              <a:spcBef>
                <a:spcPct val="30000"/>
              </a:spcBef>
              <a:spcAft>
                <a:spcPct val="0"/>
              </a:spcAft>
              <a:buSzPct val="100000"/>
              <a:buChar char="•"/>
              <a:defRPr sz="2400">
                <a:solidFill>
                  <a:schemeClr val="tx1"/>
                </a:solidFill>
                <a:latin typeface="Helvetica"/>
                <a:ea typeface="ＭＳ Ｐゴシック" charset="-128"/>
                <a:cs typeface="ＭＳ Ｐゴシック" charset="-128"/>
              </a:defRPr>
            </a:lvl1pPr>
            <a:lvl2pPr marL="685800" indent="-228600" algn="l" rtl="0" eaLnBrk="1" fontAlgn="base" hangingPunct="1">
              <a:lnSpc>
                <a:spcPct val="90000"/>
              </a:lnSpc>
              <a:spcBef>
                <a:spcPct val="30000"/>
              </a:spcBef>
              <a:spcAft>
                <a:spcPct val="0"/>
              </a:spcAft>
              <a:buSzPct val="100000"/>
              <a:buChar char="–"/>
              <a:defRPr sz="2200">
                <a:solidFill>
                  <a:schemeClr val="tx1"/>
                </a:solidFill>
                <a:latin typeface="Helvetica"/>
                <a:ea typeface="ＭＳ Ｐゴシック" charset="-128"/>
              </a:defRPr>
            </a:lvl2pPr>
            <a:lvl3pPr marL="1143000" indent="-22860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3pPr>
            <a:lvl4pPr marL="15430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4pPr>
            <a:lvl5pPr marL="20002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5pPr>
            <a:lvl6pPr marL="24574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6pPr>
            <a:lvl7pPr marL="29146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7pPr>
            <a:lvl8pPr marL="33718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8pPr>
            <a:lvl9pPr marL="38290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9pPr>
          </a:lstStyle>
          <a:p>
            <a:pPr>
              <a:lnSpc>
                <a:spcPct val="80000"/>
              </a:lnSpc>
              <a:spcBef>
                <a:spcPct val="5000"/>
              </a:spcBef>
            </a:pPr>
            <a:r>
              <a:rPr lang="en-US" altLang="ko-KR" b="0" dirty="0">
                <a:latin typeface="Helvetica" charset="0"/>
                <a:ea typeface="Gulim" charset="0"/>
                <a:cs typeface="Gulim" charset="0"/>
              </a:rPr>
              <a:t>NFS servers are </a:t>
            </a:r>
            <a:r>
              <a:rPr lang="en-US" altLang="ko-KR" b="0" dirty="0">
                <a:solidFill>
                  <a:schemeClr val="hlink"/>
                </a:solidFill>
                <a:latin typeface="Helvetica" charset="0"/>
                <a:ea typeface="Gulim" charset="0"/>
                <a:cs typeface="Gulim" charset="0"/>
              </a:rPr>
              <a:t>stateless</a:t>
            </a:r>
            <a:r>
              <a:rPr lang="en-US" altLang="ko-KR" b="0" dirty="0">
                <a:latin typeface="Helvetica" charset="0"/>
                <a:ea typeface="Gulim" charset="0"/>
                <a:cs typeface="Gulim" charset="0"/>
              </a:rPr>
              <a:t>; each request provides all arguments require for execution</a:t>
            </a:r>
          </a:p>
          <a:p>
            <a:pPr lvl="1">
              <a:lnSpc>
                <a:spcPct val="80000"/>
              </a:lnSpc>
              <a:spcBef>
                <a:spcPct val="5000"/>
              </a:spcBef>
            </a:pPr>
            <a:r>
              <a:rPr lang="en-US" altLang="ko-KR" b="0" dirty="0">
                <a:latin typeface="Helvetica" charset="0"/>
                <a:ea typeface="Gulim" charset="0"/>
                <a:cs typeface="Gulim" charset="0"/>
              </a:rPr>
              <a:t>E.g. reads include information for entire operation, such as </a:t>
            </a:r>
            <a:r>
              <a:rPr lang="en-US" altLang="ko-KR" b="0" dirty="0" err="1">
                <a:latin typeface="Courier New" charset="0"/>
                <a:ea typeface="Gulim" charset="0"/>
                <a:cs typeface="Gulim" charset="0"/>
              </a:rPr>
              <a:t>ReadAt</a:t>
            </a:r>
            <a:r>
              <a:rPr lang="en-US" altLang="ko-KR" b="0" dirty="0">
                <a:latin typeface="Courier New" charset="0"/>
                <a:ea typeface="Gulim" charset="0"/>
                <a:cs typeface="Gulim" charset="0"/>
              </a:rPr>
              <a:t>(</a:t>
            </a:r>
            <a:r>
              <a:rPr lang="en-US" altLang="ko-KR" b="0" dirty="0" err="1">
                <a:latin typeface="Courier New" charset="0"/>
                <a:ea typeface="Gulim" charset="0"/>
                <a:cs typeface="Gulim" charset="0"/>
              </a:rPr>
              <a:t>inumber,position</a:t>
            </a:r>
            <a:r>
              <a:rPr lang="en-US" altLang="ko-KR" b="0" dirty="0">
                <a:latin typeface="Courier New" charset="0"/>
                <a:ea typeface="Gulim" charset="0"/>
                <a:cs typeface="Gulim" charset="0"/>
              </a:rPr>
              <a:t>)</a:t>
            </a:r>
            <a:r>
              <a:rPr lang="en-US" altLang="ko-KR" b="0" dirty="0">
                <a:latin typeface="Helvetica" charset="0"/>
                <a:ea typeface="Gulim" charset="0"/>
                <a:cs typeface="Gulim" charset="0"/>
              </a:rPr>
              <a:t>, not </a:t>
            </a:r>
            <a:r>
              <a:rPr lang="en-US" altLang="ko-KR" b="0" dirty="0">
                <a:latin typeface="Courier New" charset="0"/>
                <a:ea typeface="Gulim" charset="0"/>
                <a:cs typeface="Gulim" charset="0"/>
              </a:rPr>
              <a:t>Read(</a:t>
            </a:r>
            <a:r>
              <a:rPr lang="en-US" altLang="ko-KR" b="0" dirty="0" err="1">
                <a:latin typeface="Courier New" charset="0"/>
                <a:ea typeface="Gulim" charset="0"/>
                <a:cs typeface="Gulim" charset="0"/>
              </a:rPr>
              <a:t>openfile</a:t>
            </a:r>
            <a:r>
              <a:rPr lang="en-US" altLang="ko-KR" b="0" dirty="0">
                <a:latin typeface="Courier New" charset="0"/>
                <a:ea typeface="Gulim" charset="0"/>
                <a:cs typeface="Gulim" charset="0"/>
              </a:rPr>
              <a:t>)</a:t>
            </a:r>
          </a:p>
          <a:p>
            <a:pPr lvl="1">
              <a:lnSpc>
                <a:spcPct val="80000"/>
              </a:lnSpc>
              <a:spcBef>
                <a:spcPct val="5000"/>
              </a:spcBef>
            </a:pPr>
            <a:r>
              <a:rPr lang="en-US" altLang="ko-KR" b="0" dirty="0">
                <a:latin typeface="Helvetica" charset="0"/>
                <a:ea typeface="Gulim" charset="0"/>
                <a:cs typeface="Gulim" charset="0"/>
              </a:rPr>
              <a:t>No need to perform network open() or close() on file – each operation stands on its own</a:t>
            </a:r>
          </a:p>
          <a:p>
            <a:pPr lvl="1">
              <a:lnSpc>
                <a:spcPct val="80000"/>
              </a:lnSpc>
              <a:spcBef>
                <a:spcPct val="5000"/>
              </a:spcBef>
            </a:pPr>
            <a:r>
              <a:rPr lang="en-US" altLang="ko-KR" b="0" dirty="0">
                <a:latin typeface="Helvetica" charset="0"/>
                <a:ea typeface="Gulim" charset="0"/>
                <a:cs typeface="Gulim" charset="0"/>
              </a:rPr>
              <a:t>Server keeps no state about client, except as hints to help improve performance (e.g. a cache)</a:t>
            </a:r>
          </a:p>
          <a:p>
            <a:pPr lvl="1">
              <a:lnSpc>
                <a:spcPct val="80000"/>
              </a:lnSpc>
              <a:spcBef>
                <a:spcPct val="5000"/>
              </a:spcBef>
            </a:pPr>
            <a:endParaRPr lang="en-US" altLang="ko-KR" b="0" dirty="0">
              <a:latin typeface="Helvetica" charset="0"/>
              <a:ea typeface="Gulim" charset="0"/>
              <a:cs typeface="Gulim" charset="0"/>
            </a:endParaRPr>
          </a:p>
          <a:p>
            <a:pPr marL="457200" lvl="1" indent="0">
              <a:lnSpc>
                <a:spcPct val="80000"/>
              </a:lnSpc>
              <a:spcBef>
                <a:spcPct val="5000"/>
              </a:spcBef>
              <a:buNone/>
            </a:pPr>
            <a:endParaRPr lang="en-US" altLang="ko-KR" b="0" dirty="0">
              <a:latin typeface="Helvetica" charset="0"/>
              <a:ea typeface="Gulim" charset="0"/>
              <a:cs typeface="Gulim" charset="0"/>
            </a:endParaRPr>
          </a:p>
          <a:p>
            <a:pPr>
              <a:lnSpc>
                <a:spcPct val="80000"/>
              </a:lnSpc>
              <a:spcBef>
                <a:spcPct val="5000"/>
              </a:spcBef>
            </a:pPr>
            <a:r>
              <a:rPr lang="en-US" altLang="ko-KR" b="0" dirty="0">
                <a:solidFill>
                  <a:schemeClr val="hlink"/>
                </a:solidFill>
                <a:latin typeface="Helvetica" charset="0"/>
                <a:ea typeface="Gulim" charset="0"/>
                <a:cs typeface="Gulim" charset="0"/>
              </a:rPr>
              <a:t>Idempotent:</a:t>
            </a:r>
            <a:r>
              <a:rPr lang="en-US" altLang="ko-KR" b="0" dirty="0">
                <a:latin typeface="Helvetica" charset="0"/>
                <a:ea typeface="Gulim" charset="0"/>
                <a:cs typeface="Gulim" charset="0"/>
              </a:rPr>
              <a:t> Performing requests multiple times has same effect as performing it exactly once</a:t>
            </a:r>
          </a:p>
          <a:p>
            <a:pPr lvl="1">
              <a:lnSpc>
                <a:spcPct val="80000"/>
              </a:lnSpc>
              <a:spcBef>
                <a:spcPct val="5000"/>
              </a:spcBef>
            </a:pPr>
            <a:r>
              <a:rPr lang="en-US" altLang="ko-KR" b="0" dirty="0">
                <a:latin typeface="Helvetica" charset="0"/>
                <a:ea typeface="Gulim" charset="0"/>
                <a:cs typeface="Gulim" charset="0"/>
              </a:rPr>
              <a:t>Example: Server crashes between disk I/O and message send, client resend read, server does operation again</a:t>
            </a:r>
          </a:p>
          <a:p>
            <a:pPr lvl="1">
              <a:lnSpc>
                <a:spcPct val="80000"/>
              </a:lnSpc>
              <a:spcBef>
                <a:spcPct val="5000"/>
              </a:spcBef>
            </a:pPr>
            <a:r>
              <a:rPr lang="en-US" altLang="ko-KR" b="0" dirty="0">
                <a:latin typeface="Helvetica" charset="0"/>
                <a:ea typeface="Gulim" charset="0"/>
                <a:cs typeface="Gulim" charset="0"/>
              </a:rPr>
              <a:t>Example: Read and write file blocks: just re-read or re-write file block – no side effects</a:t>
            </a:r>
          </a:p>
          <a:p>
            <a:pPr lvl="1">
              <a:lnSpc>
                <a:spcPct val="80000"/>
              </a:lnSpc>
              <a:spcBef>
                <a:spcPct val="5000"/>
              </a:spcBef>
            </a:pPr>
            <a:r>
              <a:rPr lang="en-US" altLang="ko-KR" b="0" dirty="0">
                <a:latin typeface="Helvetica" charset="0"/>
                <a:ea typeface="Gulim" charset="0"/>
                <a:cs typeface="Gulim" charset="0"/>
              </a:rPr>
              <a:t>Example: What about “remove”?  NFS does operation twice and second time returns an advisory error </a:t>
            </a:r>
          </a:p>
        </p:txBody>
      </p:sp>
    </p:spTree>
    <p:extLst>
      <p:ext uri="{BB962C8B-B14F-4D97-AF65-F5344CB8AC3E}">
        <p14:creationId xmlns:p14="http://schemas.microsoft.com/office/powerpoint/2010/main" val="421420271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ko-KR" dirty="0">
                <a:latin typeface="Helvetica" charset="0"/>
                <a:ea typeface="Gulim" charset="0"/>
                <a:cs typeface="Gulim" charset="0"/>
              </a:rPr>
              <a:t>NFS Failure handling</a:t>
            </a:r>
          </a:p>
        </p:txBody>
      </p:sp>
      <p:sp>
        <p:nvSpPr>
          <p:cNvPr id="1084419" name="Rectangle 3"/>
          <p:cNvSpPr>
            <a:spLocks noGrp="1" noChangeArrowheads="1"/>
          </p:cNvSpPr>
          <p:nvPr>
            <p:ph type="body" idx="1"/>
          </p:nvPr>
        </p:nvSpPr>
        <p:spPr>
          <a:xfrm>
            <a:off x="158750" y="1024551"/>
            <a:ext cx="8826500" cy="5619137"/>
          </a:xfrm>
        </p:spPr>
        <p:txBody>
          <a:bodyPr/>
          <a:lstStyle/>
          <a:p>
            <a:pPr>
              <a:lnSpc>
                <a:spcPct val="80000"/>
              </a:lnSpc>
              <a:spcBef>
                <a:spcPct val="5000"/>
              </a:spcBef>
            </a:pPr>
            <a:r>
              <a:rPr lang="en-US" altLang="ko-KR" dirty="0">
                <a:solidFill>
                  <a:schemeClr val="hlink"/>
                </a:solidFill>
                <a:latin typeface="Helvetica" charset="0"/>
                <a:ea typeface="Gulim" charset="0"/>
                <a:cs typeface="Gulim" charset="0"/>
              </a:rPr>
              <a:t>Stateless </a:t>
            </a:r>
            <a:r>
              <a:rPr lang="en-US" altLang="zh-CN" dirty="0">
                <a:solidFill>
                  <a:schemeClr val="hlink"/>
                </a:solidFill>
                <a:latin typeface="Helvetica" charset="0"/>
                <a:ea typeface="Gulim" charset="0"/>
                <a:cs typeface="Gulim" charset="0"/>
              </a:rPr>
              <a:t>+</a:t>
            </a:r>
            <a:r>
              <a:rPr lang="zh-CN" altLang="en-US" dirty="0">
                <a:solidFill>
                  <a:schemeClr val="hlink"/>
                </a:solidFill>
                <a:latin typeface="Helvetica" charset="0"/>
                <a:ea typeface="Gulim" charset="0"/>
                <a:cs typeface="Gulim" charset="0"/>
              </a:rPr>
              <a:t> </a:t>
            </a:r>
            <a:r>
              <a:rPr lang="en-US" altLang="ko-KR" dirty="0">
                <a:solidFill>
                  <a:schemeClr val="hlink"/>
                </a:solidFill>
                <a:latin typeface="Helvetica" charset="0"/>
                <a:ea typeface="Gulim" charset="0"/>
                <a:cs typeface="Gulim" charset="0"/>
              </a:rPr>
              <a:t>Idempotent:</a:t>
            </a:r>
            <a:r>
              <a:rPr lang="en-US" altLang="ko-KR" dirty="0">
                <a:latin typeface="Helvetica" charset="0"/>
                <a:ea typeface="Gulim" charset="0"/>
                <a:cs typeface="Gulim" charset="0"/>
              </a:rPr>
              <a:t> </a:t>
            </a:r>
          </a:p>
          <a:p>
            <a:pPr lvl="1">
              <a:lnSpc>
                <a:spcPct val="80000"/>
              </a:lnSpc>
              <a:spcBef>
                <a:spcPct val="5000"/>
              </a:spcBef>
            </a:pPr>
            <a:r>
              <a:rPr lang="en-US" altLang="ko-KR" dirty="0">
                <a:latin typeface="Helvetica" charset="0"/>
                <a:ea typeface="Gulim" charset="0"/>
                <a:cs typeface="Gulim" charset="0"/>
              </a:rPr>
              <a:t>If server crashes and restarted, requests can continue where left off (in many cases)</a:t>
            </a:r>
          </a:p>
          <a:p>
            <a:pPr>
              <a:lnSpc>
                <a:spcPct val="80000"/>
              </a:lnSpc>
              <a:spcBef>
                <a:spcPct val="5000"/>
              </a:spcBef>
            </a:pPr>
            <a:endParaRPr lang="en-US" altLang="ko-KR" dirty="0">
              <a:latin typeface="Helvetica" charset="0"/>
              <a:ea typeface="Gulim" charset="0"/>
              <a:cs typeface="Gulim" charset="0"/>
            </a:endParaRPr>
          </a:p>
          <a:p>
            <a:pPr>
              <a:lnSpc>
                <a:spcPct val="80000"/>
              </a:lnSpc>
              <a:spcBef>
                <a:spcPct val="5000"/>
              </a:spcBef>
            </a:pPr>
            <a:r>
              <a:rPr lang="en-US" altLang="ko-KR" dirty="0">
                <a:latin typeface="Helvetica" charset="0"/>
                <a:ea typeface="Gulim" charset="0"/>
                <a:cs typeface="Gulim" charset="0"/>
              </a:rPr>
              <a:t>Failure Model: Transparent to client system</a:t>
            </a:r>
          </a:p>
          <a:p>
            <a:pPr lvl="1">
              <a:lnSpc>
                <a:spcPct val="80000"/>
              </a:lnSpc>
              <a:spcBef>
                <a:spcPct val="5000"/>
              </a:spcBef>
            </a:pPr>
            <a:r>
              <a:rPr lang="en-US" altLang="ko-KR" dirty="0">
                <a:latin typeface="Helvetica" charset="0"/>
                <a:ea typeface="Gulim" charset="0"/>
                <a:cs typeface="Gulim" charset="0"/>
              </a:rPr>
              <a:t>Is this a good idea?  What if you are in the middle of reading a file and server crashes? </a:t>
            </a:r>
          </a:p>
          <a:p>
            <a:pPr lvl="1">
              <a:lnSpc>
                <a:spcPct val="80000"/>
              </a:lnSpc>
              <a:spcBef>
                <a:spcPct val="5000"/>
              </a:spcBef>
            </a:pPr>
            <a:r>
              <a:rPr lang="en-US" altLang="ko-KR" dirty="0">
                <a:latin typeface="Helvetica" charset="0"/>
                <a:ea typeface="Gulim" charset="0"/>
                <a:cs typeface="Gulim" charset="0"/>
              </a:rPr>
              <a:t>Options (NFS Provides both):</a:t>
            </a:r>
          </a:p>
          <a:p>
            <a:pPr lvl="2">
              <a:lnSpc>
                <a:spcPct val="80000"/>
              </a:lnSpc>
              <a:spcBef>
                <a:spcPct val="5000"/>
              </a:spcBef>
            </a:pPr>
            <a:r>
              <a:rPr lang="en-US" altLang="ko-KR" dirty="0">
                <a:latin typeface="Helvetica" charset="0"/>
                <a:ea typeface="Gulim" charset="0"/>
                <a:cs typeface="Gulim" charset="0"/>
              </a:rPr>
              <a:t>Hang until server comes back up (next week?)</a:t>
            </a:r>
          </a:p>
          <a:p>
            <a:pPr lvl="2">
              <a:lnSpc>
                <a:spcPct val="80000"/>
              </a:lnSpc>
              <a:spcBef>
                <a:spcPct val="5000"/>
              </a:spcBef>
            </a:pPr>
            <a:r>
              <a:rPr lang="en-US" altLang="ko-KR" dirty="0">
                <a:latin typeface="Helvetica" charset="0"/>
                <a:ea typeface="Gulim" charset="0"/>
                <a:cs typeface="Gulim" charset="0"/>
              </a:rPr>
              <a:t>Return an error. (Of course, most applications don’t know they are talking over network)</a:t>
            </a:r>
          </a:p>
        </p:txBody>
      </p:sp>
    </p:spTree>
    <p:extLst>
      <p:ext uri="{BB962C8B-B14F-4D97-AF65-F5344CB8AC3E}">
        <p14:creationId xmlns:p14="http://schemas.microsoft.com/office/powerpoint/2010/main" val="151016320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4938C9-DB40-8BAC-79EE-AA8A3A6A42F0}"/>
              </a:ext>
            </a:extLst>
          </p:cNvPr>
          <p:cNvSpPr>
            <a:spLocks noGrp="1"/>
          </p:cNvSpPr>
          <p:nvPr>
            <p:ph type="title"/>
          </p:nvPr>
        </p:nvSpPr>
        <p:spPr/>
        <p:txBody>
          <a:bodyPr/>
          <a:lstStyle/>
          <a:p>
            <a:r>
              <a:rPr kumimoji="1" lang="en-US" altLang="zh-CN" dirty="0"/>
              <a:t>AFS</a:t>
            </a:r>
            <a:r>
              <a:rPr kumimoji="1" lang="zh-CN" altLang="en-US" dirty="0"/>
              <a:t> </a:t>
            </a:r>
            <a:r>
              <a:rPr kumimoji="1" lang="en-US" altLang="zh-CN" dirty="0"/>
              <a:t>Failure</a:t>
            </a:r>
            <a:r>
              <a:rPr kumimoji="1" lang="zh-CN" altLang="en-US" dirty="0"/>
              <a:t> </a:t>
            </a:r>
            <a:r>
              <a:rPr kumimoji="1" lang="en-US" altLang="zh-CN" dirty="0"/>
              <a:t>Handling</a:t>
            </a:r>
            <a:endParaRPr kumimoji="1" lang="zh-CN" altLang="en-US" dirty="0"/>
          </a:p>
        </p:txBody>
      </p:sp>
      <p:sp>
        <p:nvSpPr>
          <p:cNvPr id="3" name="内容占位符 2">
            <a:extLst>
              <a:ext uri="{FF2B5EF4-FFF2-40B4-BE49-F238E27FC236}">
                <a16:creationId xmlns:a16="http://schemas.microsoft.com/office/drawing/2014/main" id="{5EA2AFBE-3C5E-032D-8546-0554F3FCA2DA}"/>
              </a:ext>
            </a:extLst>
          </p:cNvPr>
          <p:cNvSpPr>
            <a:spLocks noGrp="1"/>
          </p:cNvSpPr>
          <p:nvPr>
            <p:ph idx="1"/>
          </p:nvPr>
        </p:nvSpPr>
        <p:spPr/>
        <p:txBody>
          <a:bodyPr/>
          <a:lstStyle/>
          <a:p>
            <a:r>
              <a:rPr lang="en-US" altLang="en-US" dirty="0"/>
              <a:t>What if server crashes? Lose all callback state!</a:t>
            </a:r>
          </a:p>
          <a:p>
            <a:pPr lvl="1"/>
            <a:r>
              <a:rPr lang="en-US" altLang="en-US" dirty="0"/>
              <a:t>Reconstruct callback information from client: go ask everyone “who has which files cached?”</a:t>
            </a:r>
          </a:p>
          <a:p>
            <a:pPr lvl="1"/>
            <a:r>
              <a:rPr lang="zh-CN" altLang="en-US" dirty="0"/>
              <a:t>“</a:t>
            </a:r>
            <a:r>
              <a:rPr lang="en-US" altLang="zh-CN" dirty="0"/>
              <a:t>Soft</a:t>
            </a:r>
            <a:r>
              <a:rPr lang="zh-CN" altLang="en-US" dirty="0"/>
              <a:t> </a:t>
            </a:r>
            <a:r>
              <a:rPr lang="en-US" altLang="zh-CN" dirty="0"/>
              <a:t>state</a:t>
            </a:r>
            <a:r>
              <a:rPr lang="zh-CN" altLang="en-US" dirty="0"/>
              <a:t>”</a:t>
            </a:r>
            <a:endParaRPr lang="en-US" altLang="en-US" dirty="0"/>
          </a:p>
          <a:p>
            <a:endParaRPr lang="en-US" altLang="en-US" dirty="0"/>
          </a:p>
          <a:p>
            <a:r>
              <a:rPr lang="en-US" altLang="en-US" dirty="0"/>
              <a:t>What if client crashes?</a:t>
            </a:r>
          </a:p>
          <a:p>
            <a:pPr lvl="1"/>
            <a:r>
              <a:rPr lang="en-US" altLang="en-US" dirty="0"/>
              <a:t>Must revalidate any cached content it uses since it may have missed callback</a:t>
            </a:r>
          </a:p>
          <a:p>
            <a:endParaRPr kumimoji="1" lang="zh-CN" altLang="en-US" dirty="0"/>
          </a:p>
        </p:txBody>
      </p:sp>
    </p:spTree>
    <p:extLst>
      <p:ext uri="{BB962C8B-B14F-4D97-AF65-F5344CB8AC3E}">
        <p14:creationId xmlns:p14="http://schemas.microsoft.com/office/powerpoint/2010/main" val="245816124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6B2F0E-68AF-DA00-D1F3-C0989F7AD9B7}"/>
              </a:ext>
            </a:extLst>
          </p:cNvPr>
          <p:cNvSpPr>
            <a:spLocks noGrp="1"/>
          </p:cNvSpPr>
          <p:nvPr>
            <p:ph type="title"/>
          </p:nvPr>
        </p:nvSpPr>
        <p:spPr>
          <a:xfrm>
            <a:off x="914400" y="304800"/>
            <a:ext cx="8001000" cy="533400"/>
          </a:xfrm>
        </p:spPr>
        <p:txBody>
          <a:bodyPr/>
          <a:lstStyle/>
          <a:p>
            <a:r>
              <a:rPr kumimoji="1" lang="en-US" altLang="zh-CN" dirty="0"/>
              <a:t>A</a:t>
            </a:r>
            <a:r>
              <a:rPr kumimoji="1" lang="zh-CN" altLang="en-US" dirty="0"/>
              <a:t> </a:t>
            </a:r>
            <a:r>
              <a:rPr kumimoji="1" lang="en-US" altLang="zh-CN" dirty="0"/>
              <a:t>more</a:t>
            </a:r>
            <a:r>
              <a:rPr kumimoji="1" lang="zh-CN" altLang="en-US" dirty="0"/>
              <a:t> </a:t>
            </a:r>
            <a:r>
              <a:rPr kumimoji="1" lang="en-US" altLang="zh-CN" dirty="0"/>
              <a:t>extreme</a:t>
            </a:r>
            <a:r>
              <a:rPr kumimoji="1" lang="zh-CN" altLang="en-US" dirty="0"/>
              <a:t> </a:t>
            </a:r>
            <a:r>
              <a:rPr kumimoji="1" lang="en-US" altLang="zh-CN" dirty="0"/>
              <a:t>case</a:t>
            </a:r>
            <a:r>
              <a:rPr kumimoji="1" lang="zh-CN" altLang="en-US" dirty="0"/>
              <a:t> </a:t>
            </a:r>
            <a:r>
              <a:rPr kumimoji="1" lang="en-US" altLang="zh-CN" dirty="0"/>
              <a:t>of</a:t>
            </a:r>
            <a:r>
              <a:rPr kumimoji="1" lang="zh-CN" altLang="en-US" dirty="0"/>
              <a:t> </a:t>
            </a:r>
            <a:r>
              <a:rPr kumimoji="1" lang="en-US" altLang="zh-CN" dirty="0"/>
              <a:t>AFS</a:t>
            </a:r>
            <a:r>
              <a:rPr kumimoji="1" lang="zh-CN" altLang="en-US" dirty="0"/>
              <a:t> </a:t>
            </a:r>
            <a:r>
              <a:rPr kumimoji="1" lang="en-US" altLang="zh-CN" dirty="0"/>
              <a:t>failure</a:t>
            </a:r>
            <a:r>
              <a:rPr kumimoji="1" lang="zh-CN" altLang="en-US" dirty="0"/>
              <a:t> </a:t>
            </a:r>
            <a:r>
              <a:rPr kumimoji="1" lang="en-US" altLang="zh-CN" dirty="0"/>
              <a:t>handing:</a:t>
            </a:r>
            <a:r>
              <a:rPr kumimoji="1" lang="zh-CN" altLang="en-US" dirty="0"/>
              <a:t> </a:t>
            </a:r>
            <a:r>
              <a:rPr kumimoji="1" lang="en-US" altLang="zh-CN" dirty="0"/>
              <a:t>disconnected</a:t>
            </a:r>
            <a:r>
              <a:rPr kumimoji="1" lang="zh-CN" altLang="en-US" dirty="0"/>
              <a:t> </a:t>
            </a:r>
            <a:r>
              <a:rPr kumimoji="1" lang="en-US" altLang="zh-CN" dirty="0"/>
              <a:t>operation</a:t>
            </a:r>
            <a:r>
              <a:rPr kumimoji="1" lang="zh-CN" altLang="en-US" dirty="0"/>
              <a:t> </a:t>
            </a:r>
            <a:r>
              <a:rPr kumimoji="1" lang="en-US" altLang="zh-CN" dirty="0"/>
              <a:t>(Coda)</a:t>
            </a:r>
            <a:endParaRPr kumimoji="1" lang="zh-CN" altLang="en-US" dirty="0"/>
          </a:p>
        </p:txBody>
      </p:sp>
      <p:sp>
        <p:nvSpPr>
          <p:cNvPr id="3" name="内容占位符 2">
            <a:extLst>
              <a:ext uri="{FF2B5EF4-FFF2-40B4-BE49-F238E27FC236}">
                <a16:creationId xmlns:a16="http://schemas.microsoft.com/office/drawing/2014/main" id="{66D2CCDD-86EA-018B-04E2-0E105DFDF850}"/>
              </a:ext>
            </a:extLst>
          </p:cNvPr>
          <p:cNvSpPr>
            <a:spLocks noGrp="1"/>
          </p:cNvSpPr>
          <p:nvPr>
            <p:ph idx="1"/>
          </p:nvPr>
        </p:nvSpPr>
        <p:spPr>
          <a:xfrm>
            <a:off x="609600" y="1371600"/>
            <a:ext cx="7924800" cy="457200"/>
          </a:xfrm>
        </p:spPr>
        <p:txBody>
          <a:bodyPr/>
          <a:lstStyle/>
          <a:p>
            <a:r>
              <a:rPr kumimoji="1" lang="en-US" altLang="zh-CN" dirty="0"/>
              <a:t>“Optimistic</a:t>
            </a:r>
            <a:r>
              <a:rPr kumimoji="1" lang="zh-CN" altLang="en-US" dirty="0"/>
              <a:t> </a:t>
            </a:r>
            <a:r>
              <a:rPr kumimoji="1" lang="en-US" altLang="zh-CN" dirty="0"/>
              <a:t>Replica</a:t>
            </a:r>
            <a:r>
              <a:rPr kumimoji="1" lang="zh-CN" altLang="en-US" dirty="0"/>
              <a:t> </a:t>
            </a:r>
            <a:r>
              <a:rPr kumimoji="1" lang="en-US" altLang="zh-CN" dirty="0"/>
              <a:t>Control”</a:t>
            </a:r>
          </a:p>
          <a:p>
            <a:endParaRPr kumimoji="1" lang="zh-CN" altLang="en-US" dirty="0"/>
          </a:p>
        </p:txBody>
      </p:sp>
      <p:sp>
        <p:nvSpPr>
          <p:cNvPr id="4" name="内容占位符 2">
            <a:extLst>
              <a:ext uri="{FF2B5EF4-FFF2-40B4-BE49-F238E27FC236}">
                <a16:creationId xmlns:a16="http://schemas.microsoft.com/office/drawing/2014/main" id="{86398041-1CC1-B65D-95DE-FCFF9DB369A8}"/>
              </a:ext>
            </a:extLst>
          </p:cNvPr>
          <p:cNvSpPr txBox="1">
            <a:spLocks/>
          </p:cNvSpPr>
          <p:nvPr/>
        </p:nvSpPr>
        <p:spPr bwMode="auto">
          <a:xfrm>
            <a:off x="990600" y="3844771"/>
            <a:ext cx="7162799" cy="8526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0478" tIns="44445" rIns="90478" bIns="44445" numCol="1" anchor="t" anchorCtr="0" compatLnSpc="1">
            <a:prstTxWarp prst="textNoShape">
              <a:avLst/>
            </a:prstTxWarp>
          </a:bodyPr>
          <a:lstStyle>
            <a:lvl1pPr marL="285750" indent="-285750" algn="l" rtl="0" eaLnBrk="1" fontAlgn="base" hangingPunct="1">
              <a:lnSpc>
                <a:spcPct val="90000"/>
              </a:lnSpc>
              <a:spcBef>
                <a:spcPct val="30000"/>
              </a:spcBef>
              <a:spcAft>
                <a:spcPct val="0"/>
              </a:spcAft>
              <a:buSzPct val="100000"/>
              <a:buChar char="•"/>
              <a:defRPr sz="2400">
                <a:solidFill>
                  <a:schemeClr val="tx1"/>
                </a:solidFill>
                <a:latin typeface="Helvetica"/>
                <a:ea typeface="ＭＳ Ｐゴシック" charset="-128"/>
                <a:cs typeface="ＭＳ Ｐゴシック" charset="-128"/>
              </a:defRPr>
            </a:lvl1pPr>
            <a:lvl2pPr marL="685800" indent="-228600" algn="l" rtl="0" eaLnBrk="1" fontAlgn="base" hangingPunct="1">
              <a:lnSpc>
                <a:spcPct val="90000"/>
              </a:lnSpc>
              <a:spcBef>
                <a:spcPct val="30000"/>
              </a:spcBef>
              <a:spcAft>
                <a:spcPct val="0"/>
              </a:spcAft>
              <a:buSzPct val="100000"/>
              <a:buChar char="–"/>
              <a:defRPr sz="2200">
                <a:solidFill>
                  <a:schemeClr val="tx1"/>
                </a:solidFill>
                <a:latin typeface="Helvetica"/>
                <a:ea typeface="ＭＳ Ｐゴシック" charset="-128"/>
              </a:defRPr>
            </a:lvl2pPr>
            <a:lvl3pPr marL="1143000" indent="-22860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3pPr>
            <a:lvl4pPr marL="15430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4pPr>
            <a:lvl5pPr marL="20002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5pPr>
            <a:lvl6pPr marL="24574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6pPr>
            <a:lvl7pPr marL="29146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7pPr>
            <a:lvl8pPr marL="33718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8pPr>
            <a:lvl9pPr marL="38290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9pPr>
          </a:lstStyle>
          <a:p>
            <a:r>
              <a:rPr kumimoji="1" lang="en-US" altLang="zh-CN" b="0" kern="0" dirty="0"/>
              <a:t>1. Hoarding:</a:t>
            </a:r>
          </a:p>
          <a:p>
            <a:pPr lvl="1"/>
            <a:r>
              <a:rPr kumimoji="1" lang="en-US" altLang="zh-CN" b="0" kern="0" dirty="0"/>
              <a:t>Normal (connected)</a:t>
            </a:r>
            <a:r>
              <a:rPr kumimoji="1" lang="zh-CN" altLang="en-US" b="0" kern="0" dirty="0"/>
              <a:t> </a:t>
            </a:r>
            <a:r>
              <a:rPr kumimoji="1" lang="en-US" altLang="zh-CN" b="0" kern="0" dirty="0"/>
              <a:t>operation mode</a:t>
            </a:r>
          </a:p>
          <a:p>
            <a:r>
              <a:rPr kumimoji="1" lang="en-US" altLang="zh-CN" b="0" kern="0" dirty="0"/>
              <a:t>2. Emulating:</a:t>
            </a:r>
          </a:p>
          <a:p>
            <a:pPr lvl="1"/>
            <a:r>
              <a:rPr kumimoji="1" lang="en-US" altLang="zh-CN" b="0" kern="0" dirty="0"/>
              <a:t>Disconnected operation mode</a:t>
            </a:r>
          </a:p>
          <a:p>
            <a:r>
              <a:rPr kumimoji="1" lang="en-US" altLang="zh-CN" b="0" kern="0" dirty="0"/>
              <a:t>3. Reintegrating</a:t>
            </a:r>
            <a:r>
              <a:rPr kumimoji="1" lang="zh-CN" altLang="en-US" b="0" kern="0" dirty="0"/>
              <a:t> </a:t>
            </a:r>
            <a:r>
              <a:rPr kumimoji="1" lang="en-US" altLang="zh-CN" b="0" kern="0" dirty="0"/>
              <a:t>(Recovery):</a:t>
            </a:r>
          </a:p>
          <a:p>
            <a:pPr lvl="1"/>
            <a:r>
              <a:rPr kumimoji="1" lang="en-US" altLang="zh-CN" b="0" kern="0" dirty="0"/>
              <a:t>Propagates changes and detects inconsistencies</a:t>
            </a:r>
            <a:endParaRPr kumimoji="1" lang="zh-CN" altLang="en-US" b="0" kern="0" dirty="0"/>
          </a:p>
        </p:txBody>
      </p:sp>
      <p:pic>
        <p:nvPicPr>
          <p:cNvPr id="5" name="图片 4">
            <a:extLst>
              <a:ext uri="{FF2B5EF4-FFF2-40B4-BE49-F238E27FC236}">
                <a16:creationId xmlns:a16="http://schemas.microsoft.com/office/drawing/2014/main" id="{F158B996-BCA2-8CFA-35F2-EFA47B9AE1E7}"/>
              </a:ext>
            </a:extLst>
          </p:cNvPr>
          <p:cNvPicPr>
            <a:picLocks noChangeAspect="1"/>
          </p:cNvPicPr>
          <p:nvPr/>
        </p:nvPicPr>
        <p:blipFill>
          <a:blip r:embed="rId2"/>
          <a:stretch>
            <a:fillRect/>
          </a:stretch>
        </p:blipFill>
        <p:spPr>
          <a:xfrm>
            <a:off x="2895600" y="1905000"/>
            <a:ext cx="3505200" cy="1939771"/>
          </a:xfrm>
          <a:prstGeom prst="rect">
            <a:avLst/>
          </a:prstGeom>
        </p:spPr>
      </p:pic>
    </p:spTree>
    <p:extLst>
      <p:ext uri="{BB962C8B-B14F-4D97-AF65-F5344CB8AC3E}">
        <p14:creationId xmlns:p14="http://schemas.microsoft.com/office/powerpoint/2010/main" val="219020698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B4C65B-0930-944F-A320-7C0F0EE32735}"/>
              </a:ext>
            </a:extLst>
          </p:cNvPr>
          <p:cNvSpPr>
            <a:spLocks noGrp="1"/>
          </p:cNvSpPr>
          <p:nvPr>
            <p:ph type="title"/>
          </p:nvPr>
        </p:nvSpPr>
        <p:spPr/>
        <p:txBody>
          <a:bodyPr/>
          <a:lstStyle/>
          <a:p>
            <a:r>
              <a:rPr kumimoji="1" lang="en-US" altLang="zh-CN" dirty="0"/>
              <a:t>Hoarding</a:t>
            </a:r>
            <a:endParaRPr kumimoji="1" lang="zh-CN" altLang="en-US" dirty="0"/>
          </a:p>
        </p:txBody>
      </p:sp>
      <p:sp>
        <p:nvSpPr>
          <p:cNvPr id="3" name="内容占位符 2">
            <a:extLst>
              <a:ext uri="{FF2B5EF4-FFF2-40B4-BE49-F238E27FC236}">
                <a16:creationId xmlns:a16="http://schemas.microsoft.com/office/drawing/2014/main" id="{3753AA44-2890-5C4D-8728-82B17124CEFB}"/>
              </a:ext>
            </a:extLst>
          </p:cNvPr>
          <p:cNvSpPr>
            <a:spLocks noGrp="1"/>
          </p:cNvSpPr>
          <p:nvPr>
            <p:ph idx="1"/>
          </p:nvPr>
        </p:nvSpPr>
        <p:spPr/>
        <p:txBody>
          <a:bodyPr/>
          <a:lstStyle/>
          <a:p>
            <a:r>
              <a:rPr kumimoji="1" lang="en-US" altLang="zh-CN" dirty="0"/>
              <a:t>Hoard useful data for disconnection</a:t>
            </a:r>
          </a:p>
          <a:p>
            <a:endParaRPr kumimoji="1" lang="en-US" altLang="zh-CN" dirty="0"/>
          </a:p>
          <a:p>
            <a:r>
              <a:rPr kumimoji="1" lang="en-US" altLang="zh-CN" dirty="0"/>
              <a:t>Balance the needs of connected and disconnected operation </a:t>
            </a:r>
          </a:p>
          <a:p>
            <a:pPr lvl="1"/>
            <a:r>
              <a:rPr kumimoji="1" lang="en-US" altLang="zh-CN" dirty="0"/>
              <a:t>Cache size is limited </a:t>
            </a:r>
          </a:p>
          <a:p>
            <a:pPr lvl="1"/>
            <a:r>
              <a:rPr kumimoji="1" lang="en-US" altLang="zh-CN" dirty="0"/>
              <a:t>Unpredictable disconnections</a:t>
            </a:r>
          </a:p>
          <a:p>
            <a:endParaRPr kumimoji="1" lang="en-US" altLang="zh-CN" dirty="0"/>
          </a:p>
          <a:p>
            <a:r>
              <a:rPr kumimoji="1" lang="en-US" altLang="zh-CN" dirty="0"/>
              <a:t>Uses user specified preferences + usage patterns to decide on files to keep in hoard</a:t>
            </a:r>
            <a:endParaRPr kumimoji="1" lang="zh-CN" altLang="en-US" dirty="0"/>
          </a:p>
        </p:txBody>
      </p:sp>
    </p:spTree>
    <p:extLst>
      <p:ext uri="{BB962C8B-B14F-4D97-AF65-F5344CB8AC3E}">
        <p14:creationId xmlns:p14="http://schemas.microsoft.com/office/powerpoint/2010/main" val="93053168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8A4BD2-693F-1845-ACB8-75CF68EE5668}"/>
              </a:ext>
            </a:extLst>
          </p:cNvPr>
          <p:cNvSpPr>
            <a:spLocks noGrp="1"/>
          </p:cNvSpPr>
          <p:nvPr>
            <p:ph type="title"/>
          </p:nvPr>
        </p:nvSpPr>
        <p:spPr/>
        <p:txBody>
          <a:bodyPr/>
          <a:lstStyle/>
          <a:p>
            <a:r>
              <a:rPr kumimoji="1" lang="en-US" altLang="zh-CN" dirty="0"/>
              <a:t>Emulation</a:t>
            </a:r>
            <a:endParaRPr kumimoji="1" lang="zh-CN" altLang="en-US" dirty="0"/>
          </a:p>
        </p:txBody>
      </p:sp>
      <p:sp>
        <p:nvSpPr>
          <p:cNvPr id="3" name="内容占位符 2">
            <a:extLst>
              <a:ext uri="{FF2B5EF4-FFF2-40B4-BE49-F238E27FC236}">
                <a16:creationId xmlns:a16="http://schemas.microsoft.com/office/drawing/2014/main" id="{169CFAF8-FDBE-EC48-BC01-439F9CF5F369}"/>
              </a:ext>
            </a:extLst>
          </p:cNvPr>
          <p:cNvSpPr>
            <a:spLocks noGrp="1"/>
          </p:cNvSpPr>
          <p:nvPr>
            <p:ph idx="1"/>
          </p:nvPr>
        </p:nvSpPr>
        <p:spPr/>
        <p:txBody>
          <a:bodyPr/>
          <a:lstStyle/>
          <a:p>
            <a:r>
              <a:rPr kumimoji="1" lang="en-US" altLang="zh-CN" dirty="0"/>
              <a:t>In emulation mode:</a:t>
            </a:r>
          </a:p>
          <a:p>
            <a:pPr lvl="1"/>
            <a:r>
              <a:rPr kumimoji="1" lang="en-US" altLang="zh-CN" dirty="0"/>
              <a:t>Attempts to access files that are not in the client caches appear as failures to application </a:t>
            </a:r>
          </a:p>
          <a:p>
            <a:pPr lvl="1"/>
            <a:r>
              <a:rPr kumimoji="1" lang="en-US" altLang="zh-CN" dirty="0"/>
              <a:t>All changes are written in a persistent log, the </a:t>
            </a:r>
            <a:r>
              <a:rPr kumimoji="1" lang="en-US" altLang="zh-CN" i="1" dirty="0"/>
              <a:t>client modification log </a:t>
            </a:r>
          </a:p>
          <a:p>
            <a:pPr lvl="1"/>
            <a:r>
              <a:rPr kumimoji="1" lang="en-US" altLang="zh-CN" dirty="0"/>
              <a:t>Coda removes from log all obsolete entries like those pertaining to files that have been deleted</a:t>
            </a:r>
            <a:endParaRPr kumimoji="1" lang="zh-CN" altLang="en-US" dirty="0"/>
          </a:p>
        </p:txBody>
      </p:sp>
    </p:spTree>
    <p:extLst>
      <p:ext uri="{BB962C8B-B14F-4D97-AF65-F5344CB8AC3E}">
        <p14:creationId xmlns:p14="http://schemas.microsoft.com/office/powerpoint/2010/main" val="2480879817"/>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E8E7F5-EAF3-B246-9710-929679C6ACF2}"/>
              </a:ext>
            </a:extLst>
          </p:cNvPr>
          <p:cNvSpPr>
            <a:spLocks noGrp="1"/>
          </p:cNvSpPr>
          <p:nvPr>
            <p:ph type="title"/>
          </p:nvPr>
        </p:nvSpPr>
        <p:spPr/>
        <p:txBody>
          <a:bodyPr/>
          <a:lstStyle/>
          <a:p>
            <a:r>
              <a:rPr kumimoji="1" lang="en-US" altLang="zh-CN" dirty="0"/>
              <a:t>Reintegration</a:t>
            </a:r>
            <a:endParaRPr kumimoji="1" lang="zh-CN" altLang="en-US" dirty="0"/>
          </a:p>
        </p:txBody>
      </p:sp>
      <p:sp>
        <p:nvSpPr>
          <p:cNvPr id="3" name="内容占位符 2">
            <a:extLst>
              <a:ext uri="{FF2B5EF4-FFF2-40B4-BE49-F238E27FC236}">
                <a16:creationId xmlns:a16="http://schemas.microsoft.com/office/drawing/2014/main" id="{24D329BE-617D-0B42-9BA2-D5FAB21B9683}"/>
              </a:ext>
            </a:extLst>
          </p:cNvPr>
          <p:cNvSpPr>
            <a:spLocks noGrp="1"/>
          </p:cNvSpPr>
          <p:nvPr>
            <p:ph idx="1"/>
          </p:nvPr>
        </p:nvSpPr>
        <p:spPr/>
        <p:txBody>
          <a:bodyPr/>
          <a:lstStyle/>
          <a:p>
            <a:r>
              <a:rPr kumimoji="1" lang="en-US" altLang="zh-CN" dirty="0"/>
              <a:t>When workstation gets reconnected, Coda initiates a reintegration process</a:t>
            </a:r>
          </a:p>
          <a:p>
            <a:pPr lvl="1"/>
            <a:r>
              <a:rPr kumimoji="1" lang="en-US" altLang="zh-CN" sz="2000" dirty="0"/>
              <a:t>Performed one volume at a time </a:t>
            </a:r>
          </a:p>
          <a:p>
            <a:pPr lvl="1"/>
            <a:r>
              <a:rPr kumimoji="1" lang="en-US" altLang="zh-CN" sz="2000" dirty="0"/>
              <a:t>Ships replay log to all volumes </a:t>
            </a:r>
          </a:p>
          <a:p>
            <a:pPr lvl="1"/>
            <a:r>
              <a:rPr kumimoji="1" lang="en-US" altLang="zh-CN" sz="2000" dirty="0"/>
              <a:t>Each volume performs a log replay algorithm</a:t>
            </a:r>
          </a:p>
          <a:p>
            <a:r>
              <a:rPr kumimoji="1" lang="en-US" altLang="zh-CN" dirty="0"/>
              <a:t>Only care about write/write conflict</a:t>
            </a:r>
          </a:p>
          <a:p>
            <a:pPr lvl="1"/>
            <a:r>
              <a:rPr kumimoji="1" lang="en-US" altLang="zh-CN" sz="2000" dirty="0"/>
              <a:t>Conflict resolution succeeds?</a:t>
            </a:r>
          </a:p>
          <a:p>
            <a:pPr lvl="2"/>
            <a:r>
              <a:rPr kumimoji="1" lang="en-US" altLang="zh-CN" dirty="0"/>
              <a:t>Yes. Free logs, keep going…</a:t>
            </a:r>
          </a:p>
          <a:p>
            <a:pPr lvl="2"/>
            <a:r>
              <a:rPr kumimoji="1" lang="en-US" altLang="zh-CN" dirty="0"/>
              <a:t>No. Save logs to a tar. Ask for help</a:t>
            </a:r>
          </a:p>
          <a:p>
            <a:r>
              <a:rPr kumimoji="1" lang="en-US" altLang="zh-CN" dirty="0"/>
              <a:t>In practice:</a:t>
            </a:r>
          </a:p>
          <a:p>
            <a:pPr lvl="1"/>
            <a:r>
              <a:rPr kumimoji="1" lang="en-US" altLang="zh-CN" sz="2000" dirty="0">
                <a:solidFill>
                  <a:srgbClr val="FF0000"/>
                </a:solidFill>
              </a:rPr>
              <a:t>No Conflict at all! Why?</a:t>
            </a:r>
          </a:p>
          <a:p>
            <a:pPr lvl="1"/>
            <a:r>
              <a:rPr kumimoji="1" lang="en-US" altLang="zh-CN" sz="2000" dirty="0"/>
              <a:t>Over 99% modification by the same person </a:t>
            </a:r>
          </a:p>
          <a:p>
            <a:pPr lvl="1"/>
            <a:r>
              <a:rPr kumimoji="1" lang="en-US" altLang="zh-CN" sz="2000" dirty="0"/>
              <a:t>Two users modify the same object within a day: &lt;0.75%</a:t>
            </a:r>
            <a:endParaRPr kumimoji="1" lang="zh-CN" altLang="en-US" sz="2000" dirty="0"/>
          </a:p>
        </p:txBody>
      </p:sp>
    </p:spTree>
    <p:extLst>
      <p:ext uri="{BB962C8B-B14F-4D97-AF65-F5344CB8AC3E}">
        <p14:creationId xmlns:p14="http://schemas.microsoft.com/office/powerpoint/2010/main" val="77827001"/>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CE304B-FB16-D6DD-E528-4C2ED9431A9A}"/>
              </a:ext>
            </a:extLst>
          </p:cNvPr>
          <p:cNvSpPr>
            <a:spLocks noGrp="1"/>
          </p:cNvSpPr>
          <p:nvPr>
            <p:ph type="title"/>
          </p:nvPr>
        </p:nvSpPr>
        <p:spPr>
          <a:xfrm>
            <a:off x="990600" y="228600"/>
            <a:ext cx="7162800" cy="533400"/>
          </a:xfrm>
        </p:spPr>
        <p:txBody>
          <a:bodyPr/>
          <a:lstStyle/>
          <a:p>
            <a:r>
              <a:rPr kumimoji="1" lang="en-US" altLang="zh-CN" dirty="0"/>
              <a:t>Summary:</a:t>
            </a:r>
            <a:r>
              <a:rPr kumimoji="1" lang="zh-CN" altLang="en-US" dirty="0"/>
              <a:t> </a:t>
            </a:r>
            <a:r>
              <a:rPr kumimoji="1" lang="en-US" altLang="zh-CN" dirty="0"/>
              <a:t>Distributed</a:t>
            </a:r>
            <a:r>
              <a:rPr kumimoji="1" lang="zh-CN" altLang="en-US" dirty="0"/>
              <a:t> </a:t>
            </a:r>
            <a:r>
              <a:rPr kumimoji="1" lang="en-US" altLang="zh-CN" dirty="0"/>
              <a:t>System</a:t>
            </a:r>
            <a:r>
              <a:rPr kumimoji="1" lang="zh-CN" altLang="en-US" dirty="0"/>
              <a:t> </a:t>
            </a:r>
            <a:r>
              <a:rPr kumimoji="1" lang="en-US" altLang="zh-CN" dirty="0"/>
              <a:t>Challenges</a:t>
            </a:r>
            <a:endParaRPr kumimoji="1" lang="zh-CN" altLang="en-US" dirty="0"/>
          </a:p>
        </p:txBody>
      </p:sp>
      <p:sp>
        <p:nvSpPr>
          <p:cNvPr id="3" name="内容占位符 2">
            <a:extLst>
              <a:ext uri="{FF2B5EF4-FFF2-40B4-BE49-F238E27FC236}">
                <a16:creationId xmlns:a16="http://schemas.microsoft.com/office/drawing/2014/main" id="{DB50B861-6D8E-4591-2C71-8BB3C824C9D0}"/>
              </a:ext>
            </a:extLst>
          </p:cNvPr>
          <p:cNvSpPr>
            <a:spLocks noGrp="1"/>
          </p:cNvSpPr>
          <p:nvPr>
            <p:ph idx="1"/>
          </p:nvPr>
        </p:nvSpPr>
        <p:spPr>
          <a:xfrm>
            <a:off x="609600" y="1066800"/>
            <a:ext cx="7924800" cy="5105400"/>
          </a:xfrm>
        </p:spPr>
        <p:txBody>
          <a:bodyPr/>
          <a:lstStyle/>
          <a:p>
            <a:r>
              <a:rPr kumimoji="1" lang="en-US" altLang="zh-CN" dirty="0"/>
              <a:t>Multiple</a:t>
            </a:r>
            <a:r>
              <a:rPr kumimoji="1" lang="zh-CN" altLang="en-US" dirty="0"/>
              <a:t> </a:t>
            </a:r>
            <a:r>
              <a:rPr kumimoji="1" lang="en-US" altLang="zh-CN" dirty="0"/>
              <a:t>processes</a:t>
            </a:r>
          </a:p>
          <a:p>
            <a:r>
              <a:rPr kumimoji="1" lang="en-US" altLang="zh-CN" dirty="0"/>
              <a:t>Multiple</a:t>
            </a:r>
            <a:r>
              <a:rPr kumimoji="1" lang="zh-CN" altLang="en-US" dirty="0"/>
              <a:t> </a:t>
            </a:r>
            <a:r>
              <a:rPr kumimoji="1" lang="en-US" altLang="zh-CN" dirty="0"/>
              <a:t>copies</a:t>
            </a:r>
            <a:r>
              <a:rPr kumimoji="1" lang="zh-CN" altLang="en-US" dirty="0"/>
              <a:t> </a:t>
            </a:r>
            <a:r>
              <a:rPr kumimoji="1" lang="en-US" altLang="zh-CN" dirty="0"/>
              <a:t>of</a:t>
            </a:r>
            <a:r>
              <a:rPr kumimoji="1" lang="zh-CN" altLang="en-US" dirty="0"/>
              <a:t> </a:t>
            </a:r>
            <a:r>
              <a:rPr kumimoji="1" lang="en-US" altLang="zh-CN" dirty="0"/>
              <a:t>data</a:t>
            </a:r>
          </a:p>
          <a:p>
            <a:pPr lvl="1"/>
            <a:r>
              <a:rPr kumimoji="1" lang="en-US" altLang="zh-CN" dirty="0"/>
              <a:t>Cache</a:t>
            </a:r>
            <a:r>
              <a:rPr kumimoji="1" lang="zh-CN" altLang="en-US" dirty="0"/>
              <a:t> </a:t>
            </a:r>
            <a:r>
              <a:rPr kumimoji="1" lang="en-US" altLang="zh-CN" dirty="0"/>
              <a:t>to</a:t>
            </a:r>
            <a:r>
              <a:rPr kumimoji="1" lang="zh-CN" altLang="en-US" dirty="0"/>
              <a:t> </a:t>
            </a:r>
            <a:r>
              <a:rPr kumimoji="1" lang="en-US" altLang="zh-CN" dirty="0"/>
              <a:t>reduce</a:t>
            </a:r>
            <a:r>
              <a:rPr kumimoji="1" lang="zh-CN" altLang="en-US" dirty="0"/>
              <a:t> </a:t>
            </a:r>
            <a:r>
              <a:rPr kumimoji="1" lang="en-US" altLang="zh-CN" dirty="0"/>
              <a:t>traffic</a:t>
            </a:r>
          </a:p>
          <a:p>
            <a:pPr lvl="1"/>
            <a:r>
              <a:rPr kumimoji="1" lang="en-US" altLang="zh-CN" dirty="0"/>
              <a:t>Replication</a:t>
            </a:r>
            <a:r>
              <a:rPr kumimoji="1" lang="zh-CN" altLang="en-US" dirty="0"/>
              <a:t> </a:t>
            </a:r>
            <a:r>
              <a:rPr kumimoji="1" lang="en-US" altLang="zh-CN" dirty="0"/>
              <a:t>to</a:t>
            </a:r>
            <a:r>
              <a:rPr kumimoji="1" lang="zh-CN" altLang="en-US" dirty="0"/>
              <a:t> </a:t>
            </a:r>
            <a:r>
              <a:rPr kumimoji="1" lang="en-US" altLang="zh-CN" dirty="0"/>
              <a:t>improve</a:t>
            </a:r>
            <a:r>
              <a:rPr kumimoji="1" lang="zh-CN" altLang="en-US" dirty="0"/>
              <a:t> </a:t>
            </a:r>
            <a:r>
              <a:rPr kumimoji="1" lang="en-US" altLang="zh-CN" dirty="0"/>
              <a:t>availability</a:t>
            </a:r>
          </a:p>
          <a:p>
            <a:r>
              <a:rPr kumimoji="1" lang="en-US" altLang="zh-CN" dirty="0"/>
              <a:t>Consistency</a:t>
            </a:r>
            <a:r>
              <a:rPr kumimoji="1" lang="zh-CN" altLang="en-US" dirty="0"/>
              <a:t> </a:t>
            </a:r>
            <a:r>
              <a:rPr kumimoji="1" lang="en-US" altLang="zh-CN" dirty="0"/>
              <a:t>issues</a:t>
            </a:r>
            <a:r>
              <a:rPr kumimoji="1" lang="zh-CN" altLang="en-US" dirty="0"/>
              <a:t> </a:t>
            </a:r>
            <a:endParaRPr kumimoji="1" lang="en-US" altLang="zh-CN" dirty="0"/>
          </a:p>
          <a:p>
            <a:pPr lvl="1"/>
            <a:r>
              <a:rPr kumimoji="1" lang="en-US" altLang="zh-CN" dirty="0"/>
              <a:t>Am</a:t>
            </a:r>
            <a:r>
              <a:rPr kumimoji="1" lang="zh-CN" altLang="en-US" dirty="0"/>
              <a:t> </a:t>
            </a:r>
            <a:r>
              <a:rPr kumimoji="1" lang="en-US" altLang="zh-CN" dirty="0"/>
              <a:t>I</a:t>
            </a:r>
            <a:r>
              <a:rPr kumimoji="1" lang="zh-CN" altLang="en-US" dirty="0"/>
              <a:t> </a:t>
            </a:r>
            <a:r>
              <a:rPr kumimoji="1" lang="en-US" altLang="zh-CN" dirty="0"/>
              <a:t>reading</a:t>
            </a:r>
            <a:r>
              <a:rPr kumimoji="1" lang="zh-CN" altLang="en-US" dirty="0"/>
              <a:t> </a:t>
            </a:r>
            <a:r>
              <a:rPr kumimoji="1" lang="en-US" altLang="zh-CN" dirty="0"/>
              <a:t>/</a:t>
            </a:r>
            <a:r>
              <a:rPr kumimoji="1" lang="zh-CN" altLang="en-US" dirty="0"/>
              <a:t> </a:t>
            </a:r>
            <a:r>
              <a:rPr kumimoji="1" lang="en-US" altLang="zh-CN" dirty="0"/>
              <a:t>writing</a:t>
            </a:r>
            <a:r>
              <a:rPr kumimoji="1" lang="zh-CN" altLang="en-US" dirty="0"/>
              <a:t> </a:t>
            </a:r>
            <a:r>
              <a:rPr kumimoji="1" lang="en-US" altLang="zh-CN" dirty="0"/>
              <a:t>stale</a:t>
            </a:r>
            <a:r>
              <a:rPr kumimoji="1" lang="zh-CN" altLang="en-US" dirty="0"/>
              <a:t> </a:t>
            </a:r>
            <a:r>
              <a:rPr kumimoji="1" lang="en-US" altLang="zh-CN" dirty="0"/>
              <a:t>data?</a:t>
            </a:r>
          </a:p>
          <a:p>
            <a:r>
              <a:rPr kumimoji="1" lang="en-US" altLang="zh-CN" dirty="0"/>
              <a:t>Especially:</a:t>
            </a:r>
            <a:r>
              <a:rPr kumimoji="1" lang="zh-CN" altLang="en-US" dirty="0"/>
              <a:t> </a:t>
            </a:r>
            <a:r>
              <a:rPr kumimoji="1" lang="en-US" altLang="zh-CN" dirty="0"/>
              <a:t>Partial</a:t>
            </a:r>
            <a:r>
              <a:rPr kumimoji="1" lang="zh-CN" altLang="en-US" dirty="0"/>
              <a:t> </a:t>
            </a:r>
            <a:r>
              <a:rPr kumimoji="1" lang="en-US" altLang="zh-CN" dirty="0"/>
              <a:t>failures</a:t>
            </a:r>
          </a:p>
          <a:p>
            <a:endParaRPr kumimoji="1" lang="en-US" altLang="zh-CN" dirty="0"/>
          </a:p>
          <a:p>
            <a:r>
              <a:rPr kumimoji="1" lang="en-US" altLang="zh-CN" dirty="0"/>
              <a:t>Distributed</a:t>
            </a:r>
            <a:r>
              <a:rPr kumimoji="1" lang="zh-CN" altLang="en-US" dirty="0"/>
              <a:t> </a:t>
            </a:r>
            <a:r>
              <a:rPr kumimoji="1" lang="en-US" altLang="zh-CN" dirty="0"/>
              <a:t>System</a:t>
            </a:r>
            <a:r>
              <a:rPr kumimoji="1" lang="zh-CN" altLang="en-US" dirty="0"/>
              <a:t> </a:t>
            </a:r>
            <a:r>
              <a:rPr kumimoji="1" lang="en-US" altLang="zh-CN" dirty="0"/>
              <a:t>Theory:</a:t>
            </a:r>
            <a:r>
              <a:rPr kumimoji="1" lang="zh-CN" altLang="en-US" dirty="0"/>
              <a:t> </a:t>
            </a:r>
            <a:r>
              <a:rPr kumimoji="1" lang="en-US" altLang="zh-CN" dirty="0"/>
              <a:t>Full</a:t>
            </a:r>
            <a:r>
              <a:rPr kumimoji="1" lang="zh-CN" altLang="en-US" dirty="0"/>
              <a:t> </a:t>
            </a:r>
            <a:r>
              <a:rPr kumimoji="1" lang="en-US" altLang="zh-CN" dirty="0"/>
              <a:t>of</a:t>
            </a:r>
            <a:r>
              <a:rPr kumimoji="1" lang="zh-CN" altLang="en-US" dirty="0"/>
              <a:t> </a:t>
            </a:r>
            <a:r>
              <a:rPr kumimoji="1" lang="en-US" altLang="zh-CN" dirty="0"/>
              <a:t>Impossibility</a:t>
            </a:r>
            <a:r>
              <a:rPr kumimoji="1" lang="zh-CN" altLang="en-US" dirty="0"/>
              <a:t> </a:t>
            </a:r>
            <a:r>
              <a:rPr kumimoji="1" lang="en-US" altLang="zh-CN" dirty="0"/>
              <a:t>Results!</a:t>
            </a:r>
          </a:p>
          <a:p>
            <a:r>
              <a:rPr kumimoji="1" lang="en-US" altLang="zh-CN" dirty="0"/>
              <a:t>In</a:t>
            </a:r>
            <a:r>
              <a:rPr kumimoji="1" lang="zh-CN" altLang="en-US" dirty="0"/>
              <a:t> </a:t>
            </a:r>
            <a:r>
              <a:rPr kumimoji="1" lang="en-US" altLang="zh-CN" dirty="0"/>
              <a:t>practice:</a:t>
            </a:r>
            <a:r>
              <a:rPr kumimoji="1" lang="zh-CN" altLang="en-US" dirty="0"/>
              <a:t> </a:t>
            </a:r>
            <a:r>
              <a:rPr kumimoji="1" lang="en-US" altLang="zh-CN" dirty="0"/>
              <a:t>how</a:t>
            </a:r>
            <a:r>
              <a:rPr kumimoji="1" lang="zh-CN" altLang="en-US" dirty="0"/>
              <a:t> </a:t>
            </a:r>
            <a:r>
              <a:rPr kumimoji="1" lang="en-US" altLang="zh-CN" dirty="0"/>
              <a:t>to</a:t>
            </a:r>
            <a:r>
              <a:rPr kumimoji="1" lang="zh-CN" altLang="en-US" dirty="0"/>
              <a:t> </a:t>
            </a:r>
            <a:r>
              <a:rPr kumimoji="1" lang="en-US" altLang="zh-CN" dirty="0"/>
              <a:t>make</a:t>
            </a:r>
            <a:r>
              <a:rPr kumimoji="1" lang="zh-CN" altLang="en-US" dirty="0"/>
              <a:t> </a:t>
            </a:r>
            <a:r>
              <a:rPr kumimoji="1" lang="en-US" altLang="zh-CN" dirty="0"/>
              <a:t>it</a:t>
            </a:r>
            <a:r>
              <a:rPr kumimoji="1" lang="zh-CN" altLang="en-US" dirty="0"/>
              <a:t> </a:t>
            </a:r>
            <a:r>
              <a:rPr kumimoji="1" lang="en-US" altLang="zh-CN" dirty="0"/>
              <a:t>“mostly”</a:t>
            </a:r>
            <a:r>
              <a:rPr kumimoji="1" lang="zh-CN" altLang="en-US" dirty="0"/>
              <a:t> </a:t>
            </a:r>
            <a:r>
              <a:rPr kumimoji="1" lang="en-US" altLang="zh-CN" dirty="0"/>
              <a:t>possible</a:t>
            </a:r>
            <a:endParaRPr kumimoji="1" lang="zh-CN" altLang="en-US" dirty="0"/>
          </a:p>
        </p:txBody>
      </p:sp>
    </p:spTree>
    <p:extLst>
      <p:ext uri="{BB962C8B-B14F-4D97-AF65-F5344CB8AC3E}">
        <p14:creationId xmlns:p14="http://schemas.microsoft.com/office/powerpoint/2010/main" val="4249716120"/>
      </p:ext>
    </p:extLst>
  </p:cSld>
  <p:clrMapOvr>
    <a:masterClrMapping/>
  </p:clrMapOvr>
  <p:transition/>
</p:sld>
</file>

<file path=ppt/theme/theme1.xml><?xml version="1.0" encoding="utf-8"?>
<a:theme xmlns:a="http://schemas.openxmlformats.org/drawingml/2006/main" name="iiis-os">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AA"/>
        </a:solidFill>
        <a:ln w="25400" cap="flat" cmpd="sng" algn="ctr">
          <a:solidFill>
            <a:schemeClr val="tx1"/>
          </a:solidFill>
          <a:prstDash val="solid"/>
          <a:round/>
          <a:headEnd type="triangle" w="med" len="med"/>
          <a:tailEnd type="none" w="med" len="med"/>
        </a:ln>
        <a:effectLst/>
      </a:spPr>
      <a:bodyPr rtlCol="0" anchor="ctr"/>
      <a:lstStyle>
        <a:defPPr algn="ctr">
          <a:defRPr b="0" dirty="0" smtClean="0">
            <a:latin typeface="Helvetica"/>
            <a:cs typeface="Helvetica"/>
          </a:defRPr>
        </a:defPPr>
      </a:lstStyle>
    </a:spDef>
    <a:lnDef>
      <a:spPr bwMode="auto">
        <a:solidFill>
          <a:schemeClr val="bg1"/>
        </a:solidFill>
        <a:ln w="38100" cap="flat" cmpd="sng" algn="ctr">
          <a:solidFill>
            <a:schemeClr val="tx1"/>
          </a:solidFill>
          <a:prstDash val="solid"/>
          <a:round/>
          <a:headEnd type="none" w="med" len="med"/>
          <a:tailEnd type="triangle"/>
        </a:ln>
        <a:effectLst/>
      </a:spPr>
      <a:bodyPr/>
      <a:lstStyle/>
    </a:lnDef>
    <a:txDef>
      <a:spPr>
        <a:noFill/>
      </a:spPr>
      <a:bodyPr wrap="none" rtlCol="0">
        <a:spAutoFit/>
      </a:bodyPr>
      <a:lstStyle>
        <a:defPPr>
          <a:defRPr sz="2000" b="0" dirty="0" smtClean="0">
            <a:latin typeface="Helvetica"/>
            <a:cs typeface="Helvetica"/>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iiis-os</Template>
  <TotalTime>96338</TotalTime>
  <Pages>60</Pages>
  <Words>2318</Words>
  <Application>Microsoft Macintosh PowerPoint</Application>
  <PresentationFormat>全屏显示(4:3)</PresentationFormat>
  <Paragraphs>334</Paragraphs>
  <Slides>40</Slides>
  <Notes>15</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40</vt:i4>
      </vt:variant>
    </vt:vector>
  </HeadingPairs>
  <TitlesOfParts>
    <vt:vector size="49" baseType="lpstr">
      <vt:lpstr>굴림</vt:lpstr>
      <vt:lpstr>MS PGothic</vt:lpstr>
      <vt:lpstr>Arial</vt:lpstr>
      <vt:lpstr>Calibri</vt:lpstr>
      <vt:lpstr>Comic Sans MS</vt:lpstr>
      <vt:lpstr>Courier New</vt:lpstr>
      <vt:lpstr>Helvetica</vt:lpstr>
      <vt:lpstr>iiis-os</vt:lpstr>
      <vt:lpstr>Image</vt:lpstr>
      <vt:lpstr> Introduction to Computer Systems   Lecture 13  Distributed Systems</vt:lpstr>
      <vt:lpstr>Agenda</vt:lpstr>
      <vt:lpstr>Distributed systems overview</vt:lpstr>
      <vt:lpstr>Why distributed systems?</vt:lpstr>
      <vt:lpstr>Why do we want distributed systems?</vt:lpstr>
      <vt:lpstr>Examples of distributed systems</vt:lpstr>
      <vt:lpstr>A Single Car is a Distributed System!</vt:lpstr>
      <vt:lpstr>Other examples of distributed systems</vt:lpstr>
      <vt:lpstr>What Is A Distributed System?</vt:lpstr>
      <vt:lpstr>Distributed System Layer</vt:lpstr>
      <vt:lpstr>The Reality of (most) Distributed Systems</vt:lpstr>
      <vt:lpstr>Key challenge: How to make them run in the same direction?</vt:lpstr>
      <vt:lpstr>network file system (NFS) and Andrew file system (afs)</vt:lpstr>
      <vt:lpstr>Distributed File Systems</vt:lpstr>
      <vt:lpstr>Simple Distributed File System</vt:lpstr>
      <vt:lpstr>Use Caching to Reduce Network Load</vt:lpstr>
      <vt:lpstr>NFS Caching</vt:lpstr>
      <vt:lpstr>NFS Cache consistency</vt:lpstr>
      <vt:lpstr>NFS Pros and Cons</vt:lpstr>
      <vt:lpstr>Andrew File System</vt:lpstr>
      <vt:lpstr>AFS Assumptions</vt:lpstr>
      <vt:lpstr>AFS Caching</vt:lpstr>
      <vt:lpstr>Client Caching in AFS</vt:lpstr>
      <vt:lpstr>File access consistency</vt:lpstr>
      <vt:lpstr>File Access Consistency</vt:lpstr>
      <vt:lpstr>Popular Semantics of File Sharing</vt:lpstr>
      <vt:lpstr>Session Semantics in AFS</vt:lpstr>
      <vt:lpstr>Session Semantics</vt:lpstr>
      <vt:lpstr>AFS: Cache Consistency Timeline</vt:lpstr>
      <vt:lpstr>AFS Write Policy</vt:lpstr>
      <vt:lpstr>Failure handling</vt:lpstr>
      <vt:lpstr>NFS Failures Handling: Issues</vt:lpstr>
      <vt:lpstr>NFS Server Design Choices</vt:lpstr>
      <vt:lpstr>NFS Failure handling</vt:lpstr>
      <vt:lpstr>AFS Failure Handling</vt:lpstr>
      <vt:lpstr>A more extreme case of AFS failure handing: disconnected operation (Coda)</vt:lpstr>
      <vt:lpstr>Hoarding</vt:lpstr>
      <vt:lpstr>Emulation</vt:lpstr>
      <vt:lpstr>Reintegration</vt:lpstr>
      <vt:lpstr>Summary: Distributed System Challenges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Wei Xu</cp:lastModifiedBy>
  <cp:revision>1634</cp:revision>
  <cp:lastPrinted>2013-04-25T07:40:13Z</cp:lastPrinted>
  <dcterms:created xsi:type="dcterms:W3CDTF">2011-04-13T03:37:24Z</dcterms:created>
  <dcterms:modified xsi:type="dcterms:W3CDTF">2026-06-04T15:49:41Z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